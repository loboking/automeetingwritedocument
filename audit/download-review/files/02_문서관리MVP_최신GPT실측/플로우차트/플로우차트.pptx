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Lst>
  <p:notesMasterIdLst>
    <p:notesMasterId r:id="rId71"/>
  </p:notesMasterIdLst>
  <p:sldSz cx="9144000" cy="68580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notesMaster" Target="notesMasters/notesMaster1.xml"/><Relationship Id="rId72" Type="http://schemas.openxmlformats.org/officeDocument/2006/relationships/presProps" Target="presProps.xml"/><Relationship Id="rId73" Type="http://schemas.openxmlformats.org/officeDocument/2006/relationships/viewProps" Target="viewProps.xml"/><Relationship Id="rId74" Type="http://schemas.openxmlformats.org/officeDocument/2006/relationships/theme" Target="theme/theme1.xml"/><Relationship Id="rId7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RAND">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46304"/>
          </a:xfrm>
          <a:prstGeom prst="rect">
            <a:avLst/>
          </a:prstGeom>
          <a:solidFill>
            <a:srgbClr val="263F59"/>
          </a:solidFill>
          <a:ln/>
        </p:spPr>
      </p:sp>
      <p:sp>
        <p:nvSpPr>
          <p:cNvPr id="3" name="Text 1"/>
          <p:cNvSpPr/>
          <p:nvPr/>
        </p:nvSpPr>
        <p:spPr>
          <a:xfrm>
            <a:off x="365760" y="6446520"/>
            <a:ext cx="4572000" cy="274320"/>
          </a:xfrm>
          <a:prstGeom prst="rect">
            <a:avLst/>
          </a:prstGeom>
          <a:noFill/>
          <a:ln/>
        </p:spPr>
        <p:txBody>
          <a:bodyPr wrap="square" rtlCol="0" anchor="ctr"/>
          <a:lstStyle/>
          <a:p>
            <a:pPr indent="0" marL="0">
              <a:buNone/>
            </a:pPr>
            <a:r>
              <a:rPr lang="en-US" sz="900" dirty="0">
                <a:solidFill>
                  <a:srgbClr val="9CA3AF"/>
                </a:solidFill>
              </a:rPr>
              <a:t>MeetingAutoDocs</a:t>
            </a:r>
            <a:endParaRPr lang="en-US" sz="9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slideLayout" Target="../slideLayouts/slideLayout2.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63F59"/>
        </a:solidFill>
      </p:bgPr>
    </p:bg>
    <p:spTree>
      <p:nvGrpSpPr>
        <p:cNvPr id="1" name=""/>
        <p:cNvGrpSpPr/>
        <p:nvPr/>
      </p:nvGrpSpPr>
      <p:grpSpPr>
        <a:xfrm>
          <a:off x="0" y="0"/>
          <a:ext cx="0" cy="0"/>
          <a:chOff x="0" y="0"/>
          <a:chExt cx="0" cy="0"/>
        </a:xfrm>
      </p:grpSpPr>
      <p:sp>
        <p:nvSpPr>
          <p:cNvPr id="2" name="Text 0"/>
          <p:cNvSpPr/>
          <p:nvPr/>
        </p:nvSpPr>
        <p:spPr>
          <a:xfrm>
            <a:off x="457200" y="2377440"/>
            <a:ext cx="8229600" cy="1645920"/>
          </a:xfrm>
          <a:prstGeom prst="rect">
            <a:avLst/>
          </a:prstGeom>
          <a:noFill/>
          <a:ln/>
        </p:spPr>
        <p:txBody>
          <a:bodyPr wrap="square" rtlCol="0" anchor="ctr"/>
          <a:lstStyle/>
          <a:p>
            <a:pPr algn="ctr" indent="0" marL="0">
              <a:buNone/>
            </a:pPr>
            <a:r>
              <a:rPr lang="en-US" sz="4000" b="1" dirty="0">
                <a:solidFill>
                  <a:srgbClr val="FFFFFF"/>
                </a:solidFill>
              </a:rPr>
              <a:t>1. 문서 정보</a:t>
            </a:r>
            <a:endParaRPr lang="en-US" sz="4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1. 문서 정보</a:t>
            </a:r>
            <a:endParaRPr lang="en-US" sz="2800" dirty="0"/>
          </a:p>
        </p:txBody>
      </p:sp>
      <p:sp>
        <p:nvSpPr>
          <p:cNvPr id="3" name="Shape 1"/>
          <p:cNvSpPr/>
          <p:nvPr/>
        </p:nvSpPr>
        <p:spPr>
          <a:xfrm>
            <a:off x="457200" y="1078992"/>
            <a:ext cx="2743200" cy="41148"/>
          </a:xfrm>
          <a:prstGeom prst="rect">
            <a:avLst/>
          </a:prstGeom>
          <a:solidFill>
            <a:srgbClr val="263F59"/>
          </a:solidFill>
          <a:ln/>
        </p:spPr>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3388659"/>
                <a:gridCol w="4840941"/>
              </a:tblGrid>
              <a:tr h="0">
                <a:tc>
                  <a:txBody>
                    <a:bodyPr/>
                    <a:lstStyle/>
                    <a:p>
                      <a:pPr indent="0" marL="0">
                        <a:buNone/>
                      </a:pPr>
                      <a:r>
                        <a:rPr lang="en-US" sz="1200" b="1" dirty="0">
                          <a:solidFill>
                            <a:srgbClr val="FFFFFF"/>
                          </a:solidFill>
                        </a:rPr>
                        <a:t>항목</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내용</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r>
              <a:tr h="0">
                <a:tc>
                  <a:txBody>
                    <a:bodyPr/>
                    <a:lstStyle/>
                    <a:p>
                      <a:pPr indent="0" marL="0">
                        <a:buNone/>
                      </a:pPr>
                      <a:r>
                        <a:rPr lang="en-US" sz="1100" b="1" dirty="0">
                          <a:solidFill>
                            <a:srgbClr val="1F2937"/>
                          </a:solidFill>
                        </a:rPr>
                        <a:t>문서명</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플로우차트</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F2937"/>
                          </a:solidFill>
                        </a:rPr>
                        <a:t>버전</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v1.0</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b="1" dirty="0">
                          <a:solidFill>
                            <a:srgbClr val="1F2937"/>
                          </a:solidFill>
                        </a:rPr>
                        <a:t>작성일</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2026-10-06</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F2937"/>
                          </a:solidFill>
                        </a:rPr>
                        <a:t>작성자</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프로세스 </a:t>
                      </a:r>
                      <a:pPr indent="0" marL="0">
                        <a:buNone/>
                      </a:pPr>
                      <a:r>
                        <a:rPr lang="en-US" sz="1100" dirty="0">
                          <a:solidFill>
                            <a:srgbClr val="1F2937"/>
                          </a:solidFill>
                        </a:rPr>
                        <a:t>설계팀</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b="1" dirty="0">
                          <a:solidFill>
                            <a:srgbClr val="1F2937"/>
                          </a:solidFill>
                        </a:rPr>
                        <a:t>승인자</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미정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2. 프로세스 개요</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2.1 프로세스 정보 (1/3)</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이 문서는 회의록 문서 관리 MVP의 사용자 흐름과 내부 처리 흐름을 정리합니다. MVP의 목표 흐름은 사용자가 로그인한 뒤 회의록을 입력하고 문서를 생성하여 Word 또는 PDF로 내려받는 것입니다. 성공 기준으로 명시된 항목은 저장된 섹션의 재사용, 생성 취소 후 이전 응답의 무시, 내려받은 문서에서 표와 다이어그램이 빠지지 않는 것입니다.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2.1 프로세스 정보 (2/3)</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범위에는 로그인, 회의록 입력, 문서 생성, Word 및 PDF 내려받기가 포함됩니다. 생성 중 화면을 나가면 작업이 멈출 수 있다는 우려에 대응하여, 완료된 섹션을 기기에 저장하고 사용자가 돌아오면 이어서 생성하는 방안이 제시되었습니다. 공유 링크와 결제는 이번 범위에서 제외됩니다.</a:t>
            </a:r>
            <a:endParaRPr lang="en-US" sz="1600" dirty="0"/>
          </a:p>
          <a:p>
            <a:pPr indent="0" marL="0">
              <a:spcAft>
                <a:spcPts val="800"/>
              </a:spcAft>
              <a:buNone/>
            </a:pPr>
            <a:r>
              <a:rPr lang="en-US" sz="1600" dirty="0">
                <a:solidFill>
                  <a:srgbClr val="4B5563"/>
                </a:solidFill>
              </a:rPr>
              <a:t>회원가입 및 비밀번호 찾기는 회의에서 처리 방식이 정해지지 않았으므로 상세 흐름을 확정하지 않습니다.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2.1 프로세스 정보 (3/3)</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관련 시스템으로 확인된 것은 사용자의 기기 저장 기능과 Word·PDF 문서 생성·내려받기 기능입니다. 이들이 어떤 저장소, 서버, API, 인증 체계와 연동하는지는 회의에서 정해지지 않았습니다. 아래의 시스템 연동 및 오류 대응 세부안 중 회의에 명시되지 않은 항목은 모두 제안 또는 추정 필요로 표시합니다.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2.1 프로세스 정보</a:t>
            </a:r>
            <a:endParaRPr lang="en-US" sz="2800" dirty="0"/>
          </a:p>
        </p:txBody>
      </p:sp>
      <p:sp>
        <p:nvSpPr>
          <p:cNvPr id="3" name="Shape 1"/>
          <p:cNvSpPr/>
          <p:nvPr/>
        </p:nvSpPr>
        <p:spPr>
          <a:xfrm>
            <a:off x="457200" y="1078992"/>
            <a:ext cx="2743200" cy="41148"/>
          </a:xfrm>
          <a:prstGeom prst="rect">
            <a:avLst/>
          </a:prstGeom>
          <a:solidFill>
            <a:srgbClr val="263F59"/>
          </a:solidFill>
          <a:ln/>
        </p:spPr>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1926077"/>
                <a:gridCol w="6303523"/>
              </a:tblGrid>
              <a:tr h="0">
                <a:tc>
                  <a:txBody>
                    <a:bodyPr/>
                    <a:lstStyle/>
                    <a:p>
                      <a:pPr indent="0" marL="0">
                        <a:buNone/>
                      </a:pPr>
                      <a:r>
                        <a:rPr lang="en-US" sz="1200" b="1" dirty="0">
                          <a:solidFill>
                            <a:srgbClr val="FFFFFF"/>
                          </a:solidFill>
                        </a:rPr>
                        <a:t>항목</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내용</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r>
              <a:tr h="0">
                <a:tc>
                  <a:txBody>
                    <a:bodyPr/>
                    <a:lstStyle/>
                    <a:p>
                      <a:pPr indent="0" marL="0">
                        <a:buNone/>
                      </a:pPr>
                      <a:r>
                        <a:rPr lang="en-US" sz="1100" b="1" dirty="0">
                          <a:solidFill>
                            <a:srgbClr val="1F2937"/>
                          </a:solidFill>
                        </a:rPr>
                        <a:t>프로세스 </a:t>
                      </a:r>
                      <a:pPr indent="0" marL="0">
                        <a:buNone/>
                      </a:pPr>
                      <a:r>
                        <a:rPr lang="en-US" sz="1100" b="1" dirty="0">
                          <a:solidFill>
                            <a:srgbClr val="1F2937"/>
                          </a:solidFill>
                        </a:rPr>
                        <a:t>명</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회의록 </a:t>
                      </a:r>
                      <a:pPr indent="0" marL="0">
                        <a:buNone/>
                      </a:pPr>
                      <a:r>
                        <a:rPr lang="en-US" sz="1100" dirty="0">
                          <a:solidFill>
                            <a:srgbClr val="1F2937"/>
                          </a:solidFill>
                        </a:rPr>
                        <a:t>문서 </a:t>
                      </a:r>
                      <a:pPr indent="0" marL="0">
                        <a:buNone/>
                      </a:pPr>
                      <a:r>
                        <a:rPr lang="en-US" sz="1100" dirty="0">
                          <a:solidFill>
                            <a:srgbClr val="1F2937"/>
                          </a:solidFill>
                        </a:rPr>
                        <a:t>작성·생성·내려받기</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F2937"/>
                          </a:solidFill>
                        </a:rPr>
                        <a:t>프로세스 </a:t>
                      </a:r>
                      <a:pPr indent="0" marL="0">
                        <a:buNone/>
                      </a:pPr>
                      <a:r>
                        <a:rPr lang="en-US" sz="1100" b="1" dirty="0">
                          <a:solidFill>
                            <a:srgbClr val="1F2937"/>
                          </a:solidFill>
                        </a:rPr>
                        <a:t>ID</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P-001</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b="1" dirty="0">
                          <a:solidFill>
                            <a:srgbClr val="1F2937"/>
                          </a:solidFill>
                        </a:rPr>
                        <a:t>목적</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회의록을 </a:t>
                      </a:r>
                      <a:pPr indent="0" marL="0">
                        <a:buNone/>
                      </a:pPr>
                      <a:r>
                        <a:rPr lang="en-US" sz="1100" dirty="0">
                          <a:solidFill>
                            <a:srgbClr val="1F2937"/>
                          </a:solidFill>
                        </a:rPr>
                        <a:t>입력하고 </a:t>
                      </a:r>
                      <a:pPr indent="0" marL="0">
                        <a:buNone/>
                      </a:pPr>
                      <a:r>
                        <a:rPr lang="en-US" sz="1100" dirty="0">
                          <a:solidFill>
                            <a:srgbClr val="1F2937"/>
                          </a:solidFill>
                        </a:rPr>
                        <a:t>문서로 </a:t>
                      </a:r>
                      <a:pPr indent="0" marL="0">
                        <a:buNone/>
                      </a:pPr>
                      <a:r>
                        <a:rPr lang="en-US" sz="1100" dirty="0">
                          <a:solidFill>
                            <a:srgbClr val="1F2937"/>
                          </a:solidFill>
                        </a:rPr>
                        <a:t>생성하여 </a:t>
                      </a:r>
                      <a:pPr indent="0" marL="0">
                        <a:buNone/>
                      </a:pPr>
                      <a:r>
                        <a:rPr lang="en-US" sz="1100" dirty="0">
                          <a:solidFill>
                            <a:srgbClr val="1F2937"/>
                          </a:solidFill>
                        </a:rPr>
                        <a:t>Word </a:t>
                      </a:r>
                      <a:pPr indent="0" marL="0">
                        <a:buNone/>
                      </a:pPr>
                      <a:r>
                        <a:rPr lang="en-US" sz="1100" dirty="0">
                          <a:solidFill>
                            <a:srgbClr val="1F2937"/>
                          </a:solidFill>
                        </a:rPr>
                        <a:t>또는 </a:t>
                      </a:r>
                      <a:pPr indent="0" marL="0">
                        <a:buNone/>
                      </a:pPr>
                      <a:r>
                        <a:rPr lang="en-US" sz="1100" dirty="0">
                          <a:solidFill>
                            <a:srgbClr val="1F2937"/>
                          </a:solidFill>
                        </a:rPr>
                        <a:t>PDF로 </a:t>
                      </a:r>
                      <a:pPr indent="0" marL="0">
                        <a:buNone/>
                      </a:pPr>
                      <a:r>
                        <a:rPr lang="en-US" sz="1100" dirty="0">
                          <a:solidFill>
                            <a:srgbClr val="1F2937"/>
                          </a:solidFill>
                        </a:rPr>
                        <a:t>내려받도록 </a:t>
                      </a:r>
                      <a:pPr indent="0" marL="0">
                        <a:buNone/>
                      </a:pPr>
                      <a:r>
                        <a:rPr lang="en-US" sz="1100" dirty="0">
                          <a:solidFill>
                            <a:srgbClr val="1F2937"/>
                          </a:solidFill>
                        </a:rPr>
                        <a:t>지원합니다.</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F2937"/>
                          </a:solidFill>
                        </a:rPr>
                        <a:t>소유자</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김PM, </a:t>
                      </a:r>
                      <a:pPr indent="0" marL="0">
                        <a:buNone/>
                      </a:pPr>
                      <a:r>
                        <a:rPr lang="en-US" sz="1100" dirty="0">
                          <a:solidFill>
                            <a:srgbClr val="1F2937"/>
                          </a:solidFill>
                        </a:rPr>
                        <a:t>이개발. </a:t>
                      </a:r>
                      <a:pPr indent="0" marL="0">
                        <a:buNone/>
                      </a:pPr>
                      <a:r>
                        <a:rPr lang="en-US" sz="1100" dirty="0">
                          <a:solidFill>
                            <a:srgbClr val="1F2937"/>
                          </a:solidFill>
                        </a:rPr>
                        <a:t>세부 </a:t>
                      </a:r>
                      <a:pPr indent="0" marL="0">
                        <a:buNone/>
                      </a:pPr>
                      <a:r>
                        <a:rPr lang="en-US" sz="1100" dirty="0">
                          <a:solidFill>
                            <a:srgbClr val="1F2937"/>
                          </a:solidFill>
                        </a:rPr>
                        <a:t>단계별 </a:t>
                      </a:r>
                      <a:pPr indent="0" marL="0">
                        <a:buNone/>
                      </a:pPr>
                      <a:r>
                        <a:rPr lang="en-US" sz="1100" dirty="0">
                          <a:solidFill>
                            <a:srgbClr val="1F2937"/>
                          </a:solidFill>
                        </a:rPr>
                        <a:t>담당자 </a:t>
                      </a:r>
                      <a:pPr indent="0" marL="0">
                        <a:buNone/>
                      </a:pPr>
                      <a:r>
                        <a:rPr lang="en-US" sz="1100" dirty="0">
                          <a:solidFill>
                            <a:srgbClr val="1F2937"/>
                          </a:solidFill>
                        </a:rPr>
                        <a:t>배정은 </a:t>
                      </a:r>
                      <a:pPr indent="0" marL="0">
                        <a:buNone/>
                      </a:pPr>
                      <a:r>
                        <a:rPr lang="en-US" sz="1100" dirty="0">
                          <a:solidFill>
                            <a:srgbClr val="1F2937"/>
                          </a:solidFill>
                        </a:rPr>
                        <a:t>추정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b="1" dirty="0">
                          <a:solidFill>
                            <a:srgbClr val="1F2937"/>
                          </a:solidFill>
                        </a:rPr>
                        <a:t>관련 </a:t>
                      </a:r>
                      <a:pPr indent="0" marL="0">
                        <a:buNone/>
                      </a:pPr>
                      <a:r>
                        <a:rPr lang="en-US" sz="1100" b="1" dirty="0">
                          <a:solidFill>
                            <a:srgbClr val="1F2937"/>
                          </a:solidFill>
                        </a:rPr>
                        <a:t>시스템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로그인 </a:t>
                      </a:r>
                      <a:pPr indent="0" marL="0">
                        <a:buNone/>
                      </a:pPr>
                      <a:r>
                        <a:rPr lang="en-US" sz="1100" dirty="0">
                          <a:solidFill>
                            <a:srgbClr val="1F2937"/>
                          </a:solidFill>
                        </a:rPr>
                        <a:t>기능, </a:t>
                      </a:r>
                      <a:pPr indent="0" marL="0">
                        <a:buNone/>
                      </a:pPr>
                      <a:r>
                        <a:rPr lang="en-US" sz="1100" dirty="0">
                          <a:solidFill>
                            <a:srgbClr val="1F2937"/>
                          </a:solidFill>
                        </a:rPr>
                        <a:t>회의록 </a:t>
                      </a:r>
                      <a:pPr indent="0" marL="0">
                        <a:buNone/>
                      </a:pPr>
                      <a:r>
                        <a:rPr lang="en-US" sz="1100" dirty="0">
                          <a:solidFill>
                            <a:srgbClr val="1F2937"/>
                          </a:solidFill>
                        </a:rPr>
                        <a:t>입력 </a:t>
                      </a:r>
                      <a:pPr indent="0" marL="0">
                        <a:buNone/>
                      </a:pPr>
                      <a:r>
                        <a:rPr lang="en-US" sz="1100" dirty="0">
                          <a:solidFill>
                            <a:srgbClr val="1F2937"/>
                          </a:solidFill>
                        </a:rPr>
                        <a:t>화면, </a:t>
                      </a:r>
                      <a:pPr indent="0" marL="0">
                        <a:buNone/>
                      </a:pPr>
                      <a:r>
                        <a:rPr lang="en-US" sz="1100" dirty="0">
                          <a:solidFill>
                            <a:srgbClr val="1F2937"/>
                          </a:solidFill>
                        </a:rPr>
                        <a:t>문서 </a:t>
                      </a:r>
                      <a:pPr indent="0" marL="0">
                        <a:buNone/>
                      </a:pPr>
                      <a:r>
                        <a:rPr lang="en-US" sz="1100" dirty="0">
                          <a:solidFill>
                            <a:srgbClr val="1F2937"/>
                          </a:solidFill>
                        </a:rPr>
                        <a:t>생성 </a:t>
                      </a:r>
                      <a:pPr indent="0" marL="0">
                        <a:buNone/>
                      </a:pPr>
                      <a:r>
                        <a:rPr lang="en-US" sz="1100" dirty="0">
                          <a:solidFill>
                            <a:srgbClr val="1F2937"/>
                          </a:solidFill>
                        </a:rPr>
                        <a:t>기능, </a:t>
                      </a:r>
                      <a:pPr indent="0" marL="0">
                        <a:buNone/>
                      </a:pPr>
                      <a:r>
                        <a:rPr lang="en-US" sz="1100" dirty="0">
                          <a:solidFill>
                            <a:srgbClr val="1F2937"/>
                          </a:solidFill>
                        </a:rPr>
                        <a:t>기기 </a:t>
                      </a:r>
                      <a:pPr indent="0" marL="0">
                        <a:buNone/>
                      </a:pPr>
                      <a:r>
                        <a:rPr lang="en-US" sz="1100" dirty="0">
                          <a:solidFill>
                            <a:srgbClr val="1F2937"/>
                          </a:solidFill>
                        </a:rPr>
                        <a:t>내 </a:t>
                      </a:r>
                      <a:pPr indent="0" marL="0">
                        <a:buNone/>
                      </a:pPr>
                      <a:r>
                        <a:rPr lang="en-US" sz="1100" dirty="0">
                          <a:solidFill>
                            <a:srgbClr val="1F2937"/>
                          </a:solidFill>
                        </a:rPr>
                        <a:t>저장 </a:t>
                      </a:r>
                      <a:pPr indent="0" marL="0">
                        <a:buNone/>
                      </a:pPr>
                      <a:r>
                        <a:rPr lang="en-US" sz="1100" dirty="0">
                          <a:solidFill>
                            <a:srgbClr val="1F2937"/>
                          </a:solidFill>
                        </a:rPr>
                        <a:t>기능, </a:t>
                      </a:r>
                      <a:pPr indent="0" marL="0">
                        <a:buNone/>
                      </a:pPr>
                      <a:r>
                        <a:rPr lang="en-US" sz="1100" dirty="0">
                          <a:solidFill>
                            <a:srgbClr val="1F2937"/>
                          </a:solidFill>
                        </a:rPr>
                        <a:t>Word·PDF </a:t>
                      </a:r>
                      <a:pPr indent="0" marL="0">
                        <a:buNone/>
                      </a:pPr>
                      <a:r>
                        <a:rPr lang="en-US" sz="1100" dirty="0">
                          <a:solidFill>
                            <a:srgbClr val="1F2937"/>
                          </a:solidFill>
                        </a:rPr>
                        <a:t>내려받기 </a:t>
                      </a:r>
                      <a:pPr indent="0" marL="0">
                        <a:buNone/>
                      </a:pPr>
                      <a:r>
                        <a:rPr lang="en-US" sz="1100" dirty="0">
                          <a:solidFill>
                            <a:srgbClr val="1F2937"/>
                          </a:solidFill>
                        </a:rPr>
                        <a:t>기능. </a:t>
                      </a:r>
                      <a:pPr indent="0" marL="0">
                        <a:buNone/>
                      </a:pPr>
                      <a:r>
                        <a:rPr lang="en-US" sz="1100" dirty="0">
                          <a:solidFill>
                            <a:srgbClr val="1F2937"/>
                          </a:solidFill>
                        </a:rPr>
                        <a:t>구체적인 </a:t>
                      </a:r>
                      <a:pPr indent="0" marL="0">
                        <a:buNone/>
                      </a:pPr>
                      <a:r>
                        <a:rPr lang="en-US" sz="1100" dirty="0">
                          <a:solidFill>
                            <a:srgbClr val="1F2937"/>
                          </a:solidFill>
                        </a:rPr>
                        <a:t>시스템 </a:t>
                      </a:r>
                      <a:pPr indent="0" marL="0">
                        <a:buNone/>
                      </a:pPr>
                      <a:r>
                        <a:rPr lang="en-US" sz="1100" dirty="0">
                          <a:solidFill>
                            <a:srgbClr val="1F2937"/>
                          </a:solidFill>
                        </a:rPr>
                        <a:t>구성은 </a:t>
                      </a:r>
                      <a:pPr indent="0" marL="0">
                        <a:buNone/>
                      </a:pPr>
                      <a:r>
                        <a:rPr lang="en-US" sz="1100" dirty="0">
                          <a:solidFill>
                            <a:srgbClr val="1F2937"/>
                          </a:solidFill>
                        </a:rPr>
                        <a:t>추정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F2937"/>
                          </a:solidFill>
                        </a:rPr>
                        <a:t>선행 </a:t>
                      </a:r>
                      <a:pPr indent="0" marL="0">
                        <a:buNone/>
                      </a:pPr>
                      <a:r>
                        <a:rPr lang="en-US" sz="1100" b="1" dirty="0">
                          <a:solidFill>
                            <a:srgbClr val="1F2937"/>
                          </a:solidFill>
                        </a:rPr>
                        <a:t>프로세스</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로그인. </a:t>
                      </a:r>
                      <a:pPr indent="0" marL="0">
                        <a:buNone/>
                      </a:pPr>
                      <a:r>
                        <a:rPr lang="en-US" sz="1100" dirty="0">
                          <a:solidFill>
                            <a:srgbClr val="1F2937"/>
                          </a:solidFill>
                        </a:rPr>
                        <a:t>계정 </a:t>
                      </a:r>
                      <a:pPr indent="0" marL="0">
                        <a:buNone/>
                      </a:pPr>
                      <a:r>
                        <a:rPr lang="en-US" sz="1100" dirty="0">
                          <a:solidFill>
                            <a:srgbClr val="1F2937"/>
                          </a:solidFill>
                        </a:rPr>
                        <a:t>생성 </a:t>
                      </a:r>
                      <a:pPr indent="0" marL="0">
                        <a:buNone/>
                      </a:pPr>
                      <a:r>
                        <a:rPr lang="en-US" sz="1100" dirty="0">
                          <a:solidFill>
                            <a:srgbClr val="1F2937"/>
                          </a:solidFill>
                        </a:rPr>
                        <a:t>및 </a:t>
                      </a:r>
                      <a:pPr indent="0" marL="0">
                        <a:buNone/>
                      </a:pPr>
                      <a:r>
                        <a:rPr lang="en-US" sz="1100" dirty="0">
                          <a:solidFill>
                            <a:srgbClr val="1F2937"/>
                          </a:solidFill>
                        </a:rPr>
                        <a:t>로그인 </a:t>
                      </a:r>
                      <a:pPr indent="0" marL="0">
                        <a:buNone/>
                      </a:pPr>
                      <a:r>
                        <a:rPr lang="en-US" sz="1100" dirty="0">
                          <a:solidFill>
                            <a:srgbClr val="1F2937"/>
                          </a:solidFill>
                        </a:rPr>
                        <a:t>자격 </a:t>
                      </a:r>
                      <a:pPr indent="0" marL="0">
                        <a:buNone/>
                      </a:pPr>
                      <a:r>
                        <a:rPr lang="en-US" sz="1100" dirty="0">
                          <a:solidFill>
                            <a:srgbClr val="1F2937"/>
                          </a:solidFill>
                        </a:rPr>
                        <a:t>증명 </a:t>
                      </a:r>
                      <a:pPr indent="0" marL="0">
                        <a:buNone/>
                      </a:pPr>
                      <a:r>
                        <a:rPr lang="en-US" sz="1100" dirty="0">
                          <a:solidFill>
                            <a:srgbClr val="1F2937"/>
                          </a:solidFill>
                        </a:rPr>
                        <a:t>처리 </a:t>
                      </a:r>
                      <a:pPr indent="0" marL="0">
                        <a:buNone/>
                      </a:pPr>
                      <a:r>
                        <a:rPr lang="en-US" sz="1100" dirty="0">
                          <a:solidFill>
                            <a:srgbClr val="1F2937"/>
                          </a:solidFill>
                        </a:rPr>
                        <a:t>방식은 </a:t>
                      </a:r>
                      <a:pPr indent="0" marL="0">
                        <a:buNone/>
                      </a:pPr>
                      <a:r>
                        <a:rPr lang="en-US" sz="1100" dirty="0">
                          <a:solidFill>
                            <a:srgbClr val="1F2937"/>
                          </a:solidFill>
                        </a:rPr>
                        <a:t>추정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b="1" dirty="0">
                          <a:solidFill>
                            <a:srgbClr val="1F2937"/>
                          </a:solidFill>
                        </a:rPr>
                        <a:t>후행 </a:t>
                      </a:r>
                      <a:pPr indent="0" marL="0">
                        <a:buNone/>
                      </a:pPr>
                      <a:r>
                        <a:rPr lang="en-US" sz="1100" b="1" dirty="0">
                          <a:solidFill>
                            <a:srgbClr val="1F2937"/>
                          </a:solidFill>
                        </a:rPr>
                        <a:t>프로세스</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문서 </a:t>
                      </a:r>
                      <a:pPr indent="0" marL="0">
                        <a:buNone/>
                      </a:pPr>
                      <a:r>
                        <a:rPr lang="en-US" sz="1100" dirty="0">
                          <a:solidFill>
                            <a:srgbClr val="1F2937"/>
                          </a:solidFill>
                        </a:rPr>
                        <a:t>내려받기 </a:t>
                      </a:r>
                      <a:pPr indent="0" marL="0">
                        <a:buNone/>
                      </a:pPr>
                      <a:r>
                        <a:rPr lang="en-US" sz="1100" dirty="0">
                          <a:solidFill>
                            <a:srgbClr val="1F2937"/>
                          </a:solidFill>
                        </a:rPr>
                        <a:t>완료. </a:t>
                      </a:r>
                      <a:pPr indent="0" marL="0">
                        <a:buNone/>
                      </a:pPr>
                      <a:r>
                        <a:rPr lang="en-US" sz="1100" dirty="0">
                          <a:solidFill>
                            <a:srgbClr val="1F2937"/>
                          </a:solidFill>
                        </a:rPr>
                        <a:t>문서 </a:t>
                      </a:r>
                      <a:pPr indent="0" marL="0">
                        <a:buNone/>
                      </a:pPr>
                      <a:r>
                        <a:rPr lang="en-US" sz="1100" dirty="0">
                          <a:solidFill>
                            <a:srgbClr val="1F2937"/>
                          </a:solidFill>
                        </a:rPr>
                        <a:t>보관·공유 </a:t>
                      </a:r>
                      <a:pPr indent="0" marL="0">
                        <a:buNone/>
                      </a:pPr>
                      <a:r>
                        <a:rPr lang="en-US" sz="1100" dirty="0">
                          <a:solidFill>
                            <a:srgbClr val="1F2937"/>
                          </a:solidFill>
                        </a:rPr>
                        <a:t>등 </a:t>
                      </a:r>
                      <a:pPr indent="0" marL="0">
                        <a:buNone/>
                      </a:pPr>
                      <a:r>
                        <a:rPr lang="en-US" sz="1100" dirty="0">
                          <a:solidFill>
                            <a:srgbClr val="1F2937"/>
                          </a:solidFill>
                        </a:rPr>
                        <a:t>후속 </a:t>
                      </a:r>
                      <a:pPr indent="0" marL="0">
                        <a:buNone/>
                      </a:pPr>
                      <a:r>
                        <a:rPr lang="en-US" sz="1100" dirty="0">
                          <a:solidFill>
                            <a:srgbClr val="1F2937"/>
                          </a:solidFill>
                        </a:rPr>
                        <a:t>처리는 </a:t>
                      </a:r>
                      <a:pPr indent="0" marL="0">
                        <a:buNone/>
                      </a:pPr>
                      <a:r>
                        <a:rPr lang="en-US" sz="1100" dirty="0">
                          <a:solidFill>
                            <a:srgbClr val="1F2937"/>
                          </a:solidFill>
                        </a:rPr>
                        <a:t>이번 </a:t>
                      </a:r>
                      <a:pPr indent="0" marL="0">
                        <a:buNone/>
                      </a:pPr>
                      <a:r>
                        <a:rPr lang="en-US" sz="1100" dirty="0">
                          <a:solidFill>
                            <a:srgbClr val="1F2937"/>
                          </a:solidFill>
                        </a:rPr>
                        <a:t>범위에 </a:t>
                      </a:r>
                      <a:pPr indent="0" marL="0">
                        <a:buNone/>
                      </a:pPr>
                      <a:r>
                        <a:rPr lang="en-US" sz="1100" dirty="0">
                          <a:solidFill>
                            <a:srgbClr val="1F2937"/>
                          </a:solidFill>
                        </a:rPr>
                        <a:t>포함되지 </a:t>
                      </a:r>
                      <a:pPr indent="0" marL="0">
                        <a:buNone/>
                      </a:pPr>
                      <a:r>
                        <a:rPr lang="en-US" sz="1100" dirty="0">
                          <a:solidFill>
                            <a:srgbClr val="1F2937"/>
                          </a:solidFill>
                        </a:rPr>
                        <a:t>않거나 </a:t>
                      </a:r>
                      <a:pPr indent="0" marL="0">
                        <a:buNone/>
                      </a:pPr>
                      <a:r>
                        <a:rPr lang="en-US" sz="1100" dirty="0">
                          <a:solidFill>
                            <a:srgbClr val="1F2937"/>
                          </a:solidFill>
                        </a:rPr>
                        <a:t>추정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2.2 프로세스 목표</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 로그인, 회의록 입력, 문서 생성, Word 및 PDF 내려받기를 MVP 범위에 포함합니다.</a:t>
            </a:r>
            <a:endParaRPr lang="en-US" sz="1600" dirty="0"/>
          </a:p>
          <a:p>
            <a:pPr indent="0" marL="0">
              <a:spcAft>
                <a:spcPts val="800"/>
              </a:spcAft>
              <a:buNone/>
            </a:pPr>
            <a:r>
              <a:rPr lang="en-US" sz="1600" dirty="0">
                <a:solidFill>
                  <a:srgbClr val="4B5563"/>
                </a:solidFill>
              </a:rPr>
              <a:t>☑ 완료된 섹션을 기기에 저장하고 돌아왔을 때 이어서 생성하는 흐름을 반영합니다.</a:t>
            </a:r>
            <a:endParaRPr lang="en-US" sz="1600" dirty="0"/>
          </a:p>
          <a:p>
            <a:pPr indent="0" marL="0">
              <a:spcAft>
                <a:spcPts val="800"/>
              </a:spcAft>
              <a:buNone/>
            </a:pPr>
            <a:r>
              <a:rPr lang="en-US" sz="1600" dirty="0">
                <a:solidFill>
                  <a:srgbClr val="4B5563"/>
                </a:solidFill>
              </a:rPr>
              <a:t>☑ 생성 취소 뒤 도착한 이전 응답을 무시하고, 내려받은 문서에 표와 다이어그램이 누락되지 않도록 검증합니다.</a:t>
            </a:r>
            <a:endParaRPr lang="en-US" sz="1600" dirty="0"/>
          </a:p>
          <a:p>
            <a:pPr indent="0" marL="0">
              <a:spcAft>
                <a:spcPts val="800"/>
              </a:spcAft>
              <a:buNone/>
            </a:pPr>
            <a:r>
              <a:rPr lang="en-US" sz="1600" dirty="0">
                <a:solidFill>
                  <a:srgbClr val="4B5563"/>
                </a:solidFill>
              </a:rPr>
              <a:t>☑ 공유 링크와 결제를 이번 범위에서 제외합니다.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프로세스 전반 흐름</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b="1" dirty="0">
                <a:solidFill>
                  <a:srgbClr val="4B5563"/>
                </a:solidFill>
              </a:rPr>
              <a:t>회의에서 확인된 내용:</a:t>
            </a:r>
            <a:pPr indent="0" marL="0">
              <a:spcAft>
                <a:spcPts val="800"/>
              </a:spcAft>
              <a:buNone/>
            </a:pPr>
            <a:r>
              <a:rPr lang="en-US" sz="1600" dirty="0">
                <a:solidFill>
                  <a:srgbClr val="4B5563"/>
                </a:solidFill>
              </a:rPr>
              <a:t> MVP는 4주 동안 제작합니다. 각 업무의 세부 일정과 단계별 예상 처리 시간은 정해지지 않았습니다.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프로세스 전반 흐름</a:t>
            </a:r>
            <a:endParaRPr lang="en-US" sz="2800" dirty="0"/>
          </a:p>
        </p:txBody>
      </p:sp>
      <p:sp>
        <p:nvSpPr>
          <p:cNvPr id="3" name="Shape 1"/>
          <p:cNvSpPr/>
          <p:nvPr/>
        </p:nvSpPr>
        <p:spPr>
          <a:xfrm>
            <a:off x="457200" y="1078992"/>
            <a:ext cx="2743200" cy="41148"/>
          </a:xfrm>
          <a:prstGeom prst="rect">
            <a:avLst/>
          </a:prstGeom>
          <a:solidFill>
            <a:srgbClr val="263F59"/>
          </a:solidFill>
          <a:ln/>
        </p:spPr>
      </p:sp>
      <p:pic>
        <p:nvPicPr>
          <p:cNvPr id="4" name="Image 0" descr="preencoded.png">    </p:cNvPr>
          <p:cNvPicPr>
            <a:picLocks noChangeAspect="1"/>
          </p:cNvPicPr>
          <p:nvPr/>
        </p:nvPicPr>
        <p:blipFill>
          <a:blip r:embed="rId1"/>
          <a:stretch>
            <a:fillRect/>
          </a:stretch>
        </p:blipFill>
        <p:spPr>
          <a:xfrm>
            <a:off x="667162" y="1463040"/>
            <a:ext cx="7809677" cy="4206240"/>
          </a:xfrm>
          <a:prstGeom prst="rect">
            <a:avLst/>
          </a:prstGeom>
        </p:spPr>
      </p:pic>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3. 주요 시나리오 플로우</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3.1 회원가입 플로우 (1/2)</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회의에서 확인된 범위는 로그인 기능입니다. 회원가입의 지원 여부, 가입 화면, 이메일 검증, 비밀번호 규칙 및 계정 생성 절차는 정해지지 않았습니다. 따라서 아래 흐름은 실제 기능이 합의된 것으로 간주하지 않으며, 로그인에 필요한 계정의 생성 경로를 확정하기 위한 확인 항목으로 제시합니다.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3.1 회원가입 플로우 (2/2)</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시작 조건은 사용자가 로그인할 계정을 보유하지 않은 경우로 가정합니다. 종료 조건은 계정 생성 방식이 확정되어 계정을 사용할 수 있게 된 시점으로 둘 수 있으나, 이는 제안이며 회의 결정이 아닙니다. 회원가입을 누가 처리하고 어떤 시스템이 계정을 생성하는지도 추정 필요입니다.</a:t>
            </a:r>
            <a:endParaRPr lang="en-US" sz="1600" dirty="0"/>
          </a:p>
          <a:p>
            <a:pPr indent="0" marL="0">
              <a:spcAft>
                <a:spcPts val="800"/>
              </a:spcAft>
              <a:buNone/>
            </a:pPr>
            <a:r>
              <a:rPr lang="en-US" sz="1600" dirty="0">
                <a:solidFill>
                  <a:srgbClr val="4B5563"/>
                </a:solidFill>
              </a:rPr>
              <a:t>이 흐름을 확정하려면 회원가입을 MVP에서 제공할지, 계정 생성이 별도 절차인지, 필수 입력값과 검증 방식이 무엇인지 확인해야 합니다. 그 전까지는 로그인 실패 시 회원가입 화면으로 유도하는 등 구체적인 동작을 확정하지 않습니다.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3.1 회원가입 플로우</a:t>
            </a:r>
            <a:endParaRPr lang="en-US" sz="2800" dirty="0"/>
          </a:p>
        </p:txBody>
      </p:sp>
      <p:sp>
        <p:nvSpPr>
          <p:cNvPr id="3" name="Shape 1"/>
          <p:cNvSpPr/>
          <p:nvPr/>
        </p:nvSpPr>
        <p:spPr>
          <a:xfrm>
            <a:off x="457200" y="1078992"/>
            <a:ext cx="2743200" cy="41148"/>
          </a:xfrm>
          <a:prstGeom prst="rect">
            <a:avLst/>
          </a:prstGeom>
          <a:solidFill>
            <a:srgbClr val="263F59"/>
          </a:solidFill>
          <a:ln/>
        </p:spPr>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759655"/>
                <a:gridCol w="2025748"/>
                <a:gridCol w="2278966"/>
                <a:gridCol w="1392702"/>
                <a:gridCol w="1012874"/>
                <a:gridCol w="759655"/>
              </a:tblGrid>
              <a:tr h="0">
                <a:tc>
                  <a:txBody>
                    <a:bodyPr/>
                    <a:lstStyle/>
                    <a:p>
                      <a:pPr indent="0" marL="0">
                        <a:buNone/>
                      </a:pPr>
                      <a:r>
                        <a:rPr lang="en-US" sz="1200" b="1" dirty="0">
                          <a:solidFill>
                            <a:srgbClr val="FFFFFF"/>
                          </a:solidFill>
                        </a:rPr>
                        <a:t>단계</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활동</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담당</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입력</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출력</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완료 </a:t>
                      </a:r>
                      <a:pPr indent="0" marL="0">
                        <a:buNone/>
                      </a:pPr>
                      <a:r>
                        <a:rPr lang="en-US" sz="1200" b="1" dirty="0">
                          <a:solidFill>
                            <a:srgbClr val="FFFFFF"/>
                          </a:solidFill>
                        </a:rPr>
                        <a:t>기준</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r>
              <a:tr h="0">
                <a:tc>
                  <a:txBody>
                    <a:bodyPr/>
                    <a:lstStyle/>
                    <a:p>
                      <a:pPr indent="0" marL="0">
                        <a:buNone/>
                      </a:pPr>
                      <a:r>
                        <a:rPr lang="en-US" sz="1100" dirty="0">
                          <a:solidFill>
                            <a:srgbClr val="1F2937"/>
                          </a:solidFill>
                        </a:rPr>
                        <a:t>1</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회원가입 </a:t>
                      </a:r>
                      <a:pPr indent="0" marL="0">
                        <a:buNone/>
                      </a:pPr>
                      <a:r>
                        <a:rPr lang="en-US" sz="1100" dirty="0">
                          <a:solidFill>
                            <a:srgbClr val="1F2937"/>
                          </a:solidFill>
                        </a:rPr>
                        <a:t>제공 </a:t>
                      </a:r>
                      <a:pPr indent="0" marL="0">
                        <a:buNone/>
                      </a:pPr>
                      <a:r>
                        <a:rPr lang="en-US" sz="1100" dirty="0">
                          <a:solidFill>
                            <a:srgbClr val="1F2937"/>
                          </a:solidFill>
                        </a:rPr>
                        <a:t>여부 </a:t>
                      </a:r>
                      <a:pPr indent="0" marL="0">
                        <a:buNone/>
                      </a:pPr>
                      <a:r>
                        <a:rPr lang="en-US" sz="1100" dirty="0">
                          <a:solidFill>
                            <a:srgbClr val="1F2937"/>
                          </a:solidFill>
                        </a:rPr>
                        <a:t>확인</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김PM </a:t>
                      </a:r>
                      <a:pPr indent="0" marL="0">
                        <a:buNone/>
                      </a:pPr>
                      <a:r>
                        <a:rPr lang="en-US" sz="1100" dirty="0">
                          <a:solidFill>
                            <a:srgbClr val="1F2937"/>
                          </a:solidFill>
                        </a:rPr>
                        <a:t>등 </a:t>
                      </a:r>
                      <a:pPr indent="0" marL="0">
                        <a:buNone/>
                      </a:pPr>
                      <a:r>
                        <a:rPr lang="en-US" sz="1100" dirty="0">
                          <a:solidFill>
                            <a:srgbClr val="1F2937"/>
                          </a:solidFill>
                        </a:rPr>
                        <a:t>제품 </a:t>
                      </a:r>
                      <a:pPr indent="0" marL="0">
                        <a:buNone/>
                      </a:pPr>
                      <a:r>
                        <a:rPr lang="en-US" sz="1100" dirty="0">
                          <a:solidFill>
                            <a:srgbClr val="1F2937"/>
                          </a:solidFill>
                        </a:rPr>
                        <a:t>담당자 </a:t>
                      </a:r>
                      <a:pPr indent="0" marL="0">
                        <a:buNone/>
                      </a:pPr>
                      <a:r>
                        <a:rPr lang="en-US" sz="1100" dirty="0">
                          <a:solidFill>
                            <a:srgbClr val="1F2937"/>
                          </a:solidFill>
                        </a:rPr>
                        <a:t>확인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MVP </a:t>
                      </a:r>
                      <a:pPr indent="0" marL="0">
                        <a:buNone/>
                      </a:pPr>
                      <a:r>
                        <a:rPr lang="en-US" sz="1100" dirty="0">
                          <a:solidFill>
                            <a:srgbClr val="1F2937"/>
                          </a:solidFill>
                        </a:rPr>
                        <a:t>범위</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제공 </a:t>
                      </a:r>
                      <a:pPr indent="0" marL="0">
                        <a:buNone/>
                      </a:pPr>
                      <a:r>
                        <a:rPr lang="en-US" sz="1100" dirty="0">
                          <a:solidFill>
                            <a:srgbClr val="1F2937"/>
                          </a:solidFill>
                        </a:rPr>
                        <a:t>여부 </a:t>
                      </a:r>
                      <a:pPr indent="0" marL="0">
                        <a:buNone/>
                      </a:pPr>
                      <a:r>
                        <a:rPr lang="en-US" sz="1100" dirty="0">
                          <a:solidFill>
                            <a:srgbClr val="1F2937"/>
                          </a:solidFill>
                        </a:rPr>
                        <a:t>결정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추정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2</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계정 </a:t>
                      </a:r>
                      <a:pPr indent="0" marL="0">
                        <a:buNone/>
                      </a:pPr>
                      <a:r>
                        <a:rPr lang="en-US" sz="1100" dirty="0">
                          <a:solidFill>
                            <a:srgbClr val="1F2937"/>
                          </a:solidFill>
                        </a:rPr>
                        <a:t>생성 </a:t>
                      </a:r>
                      <a:pPr indent="0" marL="0">
                        <a:buNone/>
                      </a:pPr>
                      <a:r>
                        <a:rPr lang="en-US" sz="1100" dirty="0">
                          <a:solidFill>
                            <a:srgbClr val="1F2937"/>
                          </a:solidFill>
                        </a:rPr>
                        <a:t>방식 </a:t>
                      </a:r>
                      <a:pPr indent="0" marL="0">
                        <a:buNone/>
                      </a:pPr>
                      <a:r>
                        <a:rPr lang="en-US" sz="1100" dirty="0">
                          <a:solidFill>
                            <a:srgbClr val="1F2937"/>
                          </a:solidFill>
                        </a:rPr>
                        <a:t>확인</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김PM·이개발 </a:t>
                      </a:r>
                      <a:pPr indent="0" marL="0">
                        <a:buNone/>
                      </a:pPr>
                      <a:r>
                        <a:rPr lang="en-US" sz="1100" dirty="0">
                          <a:solidFill>
                            <a:srgbClr val="1F2937"/>
                          </a:solidFill>
                        </a:rPr>
                        <a:t>등 </a:t>
                      </a:r>
                      <a:pPr indent="0" marL="0">
                        <a:buNone/>
                      </a:pPr>
                      <a:r>
                        <a:rPr lang="en-US" sz="1100" dirty="0">
                          <a:solidFill>
                            <a:srgbClr val="1F2937"/>
                          </a:solidFill>
                        </a:rPr>
                        <a:t>확인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계정 </a:t>
                      </a:r>
                      <a:pPr indent="0" marL="0">
                        <a:buNone/>
                      </a:pPr>
                      <a:r>
                        <a:rPr lang="en-US" sz="1100" dirty="0">
                          <a:solidFill>
                            <a:srgbClr val="1F2937"/>
                          </a:solidFill>
                        </a:rPr>
                        <a:t>운영 </a:t>
                      </a:r>
                      <a:pPr indent="0" marL="0">
                        <a:buNone/>
                      </a:pPr>
                      <a:r>
                        <a:rPr lang="en-US" sz="1100" dirty="0">
                          <a:solidFill>
                            <a:srgbClr val="1F2937"/>
                          </a:solidFill>
                        </a:rPr>
                        <a:t>정책</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생성 </a:t>
                      </a:r>
                      <a:pPr indent="0" marL="0">
                        <a:buNone/>
                      </a:pPr>
                      <a:r>
                        <a:rPr lang="en-US" sz="1100" dirty="0">
                          <a:solidFill>
                            <a:srgbClr val="1F2937"/>
                          </a:solidFill>
                        </a:rPr>
                        <a:t>절차 </a:t>
                      </a:r>
                      <a:pPr indent="0" marL="0">
                        <a:buNone/>
                      </a:pPr>
                      <a:r>
                        <a:rPr lang="en-US" sz="1100" dirty="0">
                          <a:solidFill>
                            <a:srgbClr val="1F2937"/>
                          </a:solidFill>
                        </a:rPr>
                        <a:t>정의</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추정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3</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가입 </a:t>
                      </a:r>
                      <a:pPr indent="0" marL="0">
                        <a:buNone/>
                      </a:pPr>
                      <a:r>
                        <a:rPr lang="en-US" sz="1100" dirty="0">
                          <a:solidFill>
                            <a:srgbClr val="1F2937"/>
                          </a:solidFill>
                        </a:rPr>
                        <a:t>정보 </a:t>
                      </a:r>
                      <a:pPr indent="0" marL="0">
                        <a:buNone/>
                      </a:pPr>
                      <a:r>
                        <a:rPr lang="en-US" sz="1100" dirty="0">
                          <a:solidFill>
                            <a:srgbClr val="1F2937"/>
                          </a:solidFill>
                        </a:rPr>
                        <a:t>및 </a:t>
                      </a:r>
                      <a:pPr indent="0" marL="0">
                        <a:buNone/>
                      </a:pPr>
                      <a:r>
                        <a:rPr lang="en-US" sz="1100" dirty="0">
                          <a:solidFill>
                            <a:srgbClr val="1F2937"/>
                          </a:solidFill>
                        </a:rPr>
                        <a:t>검증 </a:t>
                      </a:r>
                      <a:pPr indent="0" marL="0">
                        <a:buNone/>
                      </a:pPr>
                      <a:r>
                        <a:rPr lang="en-US" sz="1100" dirty="0">
                          <a:solidFill>
                            <a:srgbClr val="1F2937"/>
                          </a:solidFill>
                        </a:rPr>
                        <a:t>방식 </a:t>
                      </a:r>
                      <a:pPr indent="0" marL="0">
                        <a:buNone/>
                      </a:pPr>
                      <a:r>
                        <a:rPr lang="en-US" sz="1100" dirty="0">
                          <a:solidFill>
                            <a:srgbClr val="1F2937"/>
                          </a:solidFill>
                        </a:rPr>
                        <a:t>정의</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담당자 </a:t>
                      </a:r>
                      <a:pPr indent="0" marL="0">
                        <a:buNone/>
                      </a:pPr>
                      <a:r>
                        <a:rPr lang="en-US" sz="1100" dirty="0">
                          <a:solidFill>
                            <a:srgbClr val="1F2937"/>
                          </a:solidFill>
                        </a:rPr>
                        <a:t>추정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입력 </a:t>
                      </a:r>
                      <a:pPr indent="0" marL="0">
                        <a:buNone/>
                      </a:pPr>
                      <a:r>
                        <a:rPr lang="en-US" sz="1100" dirty="0">
                          <a:solidFill>
                            <a:srgbClr val="1F2937"/>
                          </a:solidFill>
                        </a:rPr>
                        <a:t>항목·검증 </a:t>
                      </a:r>
                      <a:pPr indent="0" marL="0">
                        <a:buNone/>
                      </a:pPr>
                      <a:r>
                        <a:rPr lang="en-US" sz="1100" dirty="0">
                          <a:solidFill>
                            <a:srgbClr val="1F2937"/>
                          </a:solidFill>
                        </a:rPr>
                        <a:t>요건</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가입 </a:t>
                      </a:r>
                      <a:pPr indent="0" marL="0">
                        <a:buNone/>
                      </a:pPr>
                      <a:r>
                        <a:rPr lang="en-US" sz="1100" dirty="0">
                          <a:solidFill>
                            <a:srgbClr val="1F2937"/>
                          </a:solidFill>
                        </a:rPr>
                        <a:t>요건</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추정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4</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실제 </a:t>
                      </a:r>
                      <a:pPr indent="0" marL="0">
                        <a:buNone/>
                      </a:pPr>
                      <a:r>
                        <a:rPr lang="en-US" sz="1100" dirty="0">
                          <a:solidFill>
                            <a:srgbClr val="1F2937"/>
                          </a:solidFill>
                        </a:rPr>
                        <a:t>가입 </a:t>
                      </a:r>
                      <a:pPr indent="0" marL="0">
                        <a:buNone/>
                      </a:pPr>
                      <a:r>
                        <a:rPr lang="en-US" sz="1100" dirty="0">
                          <a:solidFill>
                            <a:srgbClr val="1F2937"/>
                          </a:solidFill>
                        </a:rPr>
                        <a:t>처리</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제공 </a:t>
                      </a:r>
                      <a:pPr indent="0" marL="0">
                        <a:buNone/>
                      </a:pPr>
                      <a:r>
                        <a:rPr lang="en-US" sz="1100" dirty="0">
                          <a:solidFill>
                            <a:srgbClr val="1F2937"/>
                          </a:solidFill>
                        </a:rPr>
                        <a:t>여부 </a:t>
                      </a:r>
                      <a:pPr indent="0" marL="0">
                        <a:buNone/>
                      </a:pPr>
                      <a:r>
                        <a:rPr lang="en-US" sz="1100" dirty="0">
                          <a:solidFill>
                            <a:srgbClr val="1F2937"/>
                          </a:solidFill>
                        </a:rPr>
                        <a:t>결정 </a:t>
                      </a:r>
                      <a:pPr indent="0" marL="0">
                        <a:buNone/>
                      </a:pPr>
                      <a:r>
                        <a:rPr lang="en-US" sz="1100" dirty="0">
                          <a:solidFill>
                            <a:srgbClr val="1F2937"/>
                          </a:solidFill>
                        </a:rPr>
                        <a:t>후 </a:t>
                      </a:r>
                      <a:pPr indent="0" marL="0">
                        <a:buNone/>
                      </a:pPr>
                      <a:r>
                        <a:rPr lang="en-US" sz="1100" dirty="0">
                          <a:solidFill>
                            <a:srgbClr val="1F2937"/>
                          </a:solidFill>
                        </a:rPr>
                        <a:t>담당자 </a:t>
                      </a:r>
                      <a:pPr indent="0" marL="0">
                        <a:buNone/>
                      </a:pPr>
                      <a:r>
                        <a:rPr lang="en-US" sz="1100" dirty="0">
                          <a:solidFill>
                            <a:srgbClr val="1F2937"/>
                          </a:solidFill>
                        </a:rPr>
                        <a:t>배정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확정된 </a:t>
                      </a:r>
                      <a:pPr indent="0" marL="0">
                        <a:buNone/>
                      </a:pPr>
                      <a:r>
                        <a:rPr lang="en-US" sz="1100" dirty="0">
                          <a:solidFill>
                            <a:srgbClr val="1F2937"/>
                          </a:solidFill>
                        </a:rPr>
                        <a:t>가입 </a:t>
                      </a:r>
                      <a:pPr indent="0" marL="0">
                        <a:buNone/>
                      </a:pPr>
                      <a:r>
                        <a:rPr lang="en-US" sz="1100" dirty="0">
                          <a:solidFill>
                            <a:srgbClr val="1F2937"/>
                          </a:solidFill>
                        </a:rPr>
                        <a:t>정보</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계정 </a:t>
                      </a:r>
                      <a:pPr indent="0" marL="0">
                        <a:buNone/>
                      </a:pPr>
                      <a:r>
                        <a:rPr lang="en-US" sz="1100" dirty="0">
                          <a:solidFill>
                            <a:srgbClr val="1F2937"/>
                          </a:solidFill>
                        </a:rPr>
                        <a:t>생성 </a:t>
                      </a:r>
                      <a:pPr indent="0" marL="0">
                        <a:buNone/>
                      </a:pPr>
                      <a:r>
                        <a:rPr lang="en-US" sz="1100" dirty="0">
                          <a:solidFill>
                            <a:srgbClr val="1F2937"/>
                          </a:solidFill>
                        </a:rPr>
                        <a:t>결과</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추정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bl>
          </a:graphicData>
        </a:graphic>
      </p:graphicFrame>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3.1 회원가입 플로우</a:t>
            </a:r>
            <a:endParaRPr lang="en-US" sz="2800" dirty="0"/>
          </a:p>
        </p:txBody>
      </p:sp>
      <p:sp>
        <p:nvSpPr>
          <p:cNvPr id="3" name="Shape 1"/>
          <p:cNvSpPr/>
          <p:nvPr/>
        </p:nvSpPr>
        <p:spPr>
          <a:xfrm>
            <a:off x="457200" y="1078992"/>
            <a:ext cx="2743200" cy="41148"/>
          </a:xfrm>
          <a:prstGeom prst="rect">
            <a:avLst/>
          </a:prstGeom>
          <a:solidFill>
            <a:srgbClr val="263F59"/>
          </a:solidFill>
          <a:ln/>
        </p:spPr>
      </p:sp>
      <p:pic>
        <p:nvPicPr>
          <p:cNvPr id="4" name="Image 0" descr="preencoded.png">    </p:cNvPr>
          <p:cNvPicPr>
            <a:picLocks noChangeAspect="1"/>
          </p:cNvPicPr>
          <p:nvPr/>
        </p:nvPicPr>
        <p:blipFill>
          <a:blip r:embed="rId1"/>
          <a:stretch>
            <a:fillRect/>
          </a:stretch>
        </p:blipFill>
        <p:spPr>
          <a:xfrm>
            <a:off x="1741887" y="1463040"/>
            <a:ext cx="5660227" cy="4206240"/>
          </a:xfrm>
          <a:prstGeom prst="rect">
            <a:avLst/>
          </a:prstGeom>
        </p:spPr>
      </p:pic>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3.1 회원가입 플로우 (1/2)</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b="1" dirty="0">
                <a:solidFill>
                  <a:srgbClr val="4B5563"/>
                </a:solidFill>
              </a:rPr>
              <a:t>상세 설명</a:t>
            </a:r>
            <a:endParaRPr lang="en-US" sz="1600" dirty="0"/>
          </a:p>
          <a:p>
            <a:pPr indent="0" marL="0">
              <a:spcAft>
                <a:spcPts val="800"/>
              </a:spcAft>
              <a:buNone/>
            </a:pPr>
            <a:r>
              <a:rPr lang="en-US" sz="1600" dirty="0">
                <a:solidFill>
                  <a:srgbClr val="4B5563"/>
                </a:solidFill>
              </a:rPr>
              <a:t>1. 회원가입 기능은 회의에서 범위에 포함된다고 확인되지 않았습니다. 로그인 기능이 포함된다는 사실만으로 회원가입 제공 여부나 가입 정책을 확정할 수 없습니다.</a:t>
            </a:r>
            <a:endParaRPr lang="en-US" sz="1600" dirty="0"/>
          </a:p>
          <a:p>
            <a:pPr indent="0" marL="0">
              <a:spcAft>
                <a:spcPts val="800"/>
              </a:spcAft>
              <a:buNone/>
            </a:pPr>
            <a:r>
              <a:rPr lang="en-US" sz="1600" dirty="0">
                <a:solidFill>
                  <a:srgbClr val="4B5563"/>
                </a:solidFill>
              </a:rPr>
              <a:t>2. 가입 입력 항목, 이메일 인증, 비밀번호 조건, 약관 동의 및 계정 저장 방식은 모두 추정 필요입니다. 예시 흐름에 등장하는 구체적인 인증·검증 규칙은 본 문서의 확정 요건으로 사용하지 않습니다.</a:t>
            </a:r>
            <a:endParaRPr lang="en-US" sz="1600" dirty="0"/>
          </a:p>
          <a:p>
            <a:pPr indent="0" marL="0">
              <a:spcAft>
                <a:spcPts val="800"/>
              </a:spcAft>
              <a:buNone/>
            </a:pPr>
            <a:r>
              <a:rPr lang="en-US" sz="1600" dirty="0">
                <a:solidFill>
                  <a:srgbClr val="4B5563"/>
                </a:solidFill>
              </a:rPr>
              <a:t>3. 회원가입을 MVP에서 제공하지 않는다면 사용자가 계정을 어떻게 받는지 별도로 확인해야 합니다. 처리 주체와 안내 방식 역시 미정입니다.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3.1 회원가입 플로우 (2/2)</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4. 계정 생성 실패 시의 재시도나 오류 안내 방식은 정해지지 않았습니다. 제품·개발 담당자가 가입 제공 여부와 운영 방식을 결정한 후 상세 흐름을 갱신해야 합니다.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3.2 로그인 플로우 (1/2)</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로그인은 회의에서 MVP에 포함된 기능입니다. 시작 조건은 사용자가 로그인 화면에 진입하는 것입니다. 종료 조건은 로그인에 성공해 회의록 입력 단계로 진행하거나, 실패 안내를 받고 재시도 또는 종료를 선택하는 경우로 정의할 수 있습니다. 실패 후의 구체적인 동작은 추정 필요입니다.</a:t>
            </a:r>
            <a:endParaRPr lang="en-US" sz="1600" dirty="0"/>
          </a:p>
          <a:p>
            <a:pPr indent="0" marL="0">
              <a:spcAft>
                <a:spcPts val="800"/>
              </a:spcAft>
              <a:buNone/>
            </a:pPr>
            <a:r>
              <a:rPr lang="en-US" sz="1600" dirty="0">
                <a:solidFill>
                  <a:srgbClr val="4B5563"/>
                </a:solidFill>
              </a:rPr>
              <a:t>주요 참여자는 로그인 정보를 입력하는 사용자와 로그인 기능을 제공하는 제품 시스템입니다. 김PM과 이개발이 회의에서 담당자로 제시되었지만, 로그인 화면·인증 처리·장애 대응 단계별 소유자는 구체적으로 배정되지 않았습니다.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3.2 로그인 플로우 (2/2)</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로그인 완료의 확인 기준은 사용자가 회의록 입력 단계에 진입할 수 있는 상태가 되는 것입니다. 인증 방식, 입력 정보, 세션 유지 방식, 인증 오류 메시지 및 계정 잠금 정책은 정해지지 않았으므로 구현 전에 확인이 필요합니다.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3.2 로그인 플로우</a:t>
            </a:r>
            <a:endParaRPr lang="en-US" sz="2800" dirty="0"/>
          </a:p>
        </p:txBody>
      </p:sp>
      <p:sp>
        <p:nvSpPr>
          <p:cNvPr id="3" name="Shape 1"/>
          <p:cNvSpPr/>
          <p:nvPr/>
        </p:nvSpPr>
        <p:spPr>
          <a:xfrm>
            <a:off x="457200" y="1078992"/>
            <a:ext cx="2743200" cy="41148"/>
          </a:xfrm>
          <a:prstGeom prst="rect">
            <a:avLst/>
          </a:prstGeom>
          <a:solidFill>
            <a:srgbClr val="263F59"/>
          </a:solidFill>
          <a:ln/>
        </p:spPr>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567559"/>
                <a:gridCol w="1040524"/>
                <a:gridCol w="1702676"/>
                <a:gridCol w="1986455"/>
                <a:gridCol w="1135117"/>
                <a:gridCol w="1797269"/>
              </a:tblGrid>
              <a:tr h="0">
                <a:tc>
                  <a:txBody>
                    <a:bodyPr/>
                    <a:lstStyle/>
                    <a:p>
                      <a:pPr indent="0" marL="0">
                        <a:buNone/>
                      </a:pPr>
                      <a:r>
                        <a:rPr lang="en-US" sz="1200" b="1" dirty="0">
                          <a:solidFill>
                            <a:srgbClr val="FFFFFF"/>
                          </a:solidFill>
                        </a:rPr>
                        <a:t>단계</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활동</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담당</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입력</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출력</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완료 </a:t>
                      </a:r>
                      <a:pPr indent="0" marL="0">
                        <a:buNone/>
                      </a:pPr>
                      <a:r>
                        <a:rPr lang="en-US" sz="1200" b="1" dirty="0">
                          <a:solidFill>
                            <a:srgbClr val="FFFFFF"/>
                          </a:solidFill>
                        </a:rPr>
                        <a:t>기준</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r>
              <a:tr h="0">
                <a:tc>
                  <a:txBody>
                    <a:bodyPr/>
                    <a:lstStyle/>
                    <a:p>
                      <a:pPr indent="0" marL="0">
                        <a:buNone/>
                      </a:pPr>
                      <a:r>
                        <a:rPr lang="en-US" sz="1100" dirty="0">
                          <a:solidFill>
                            <a:srgbClr val="1F2937"/>
                          </a:solidFill>
                        </a:rPr>
                        <a:t>1</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로그인 </a:t>
                      </a:r>
                      <a:pPr indent="0" marL="0">
                        <a:buNone/>
                      </a:pPr>
                      <a:r>
                        <a:rPr lang="en-US" sz="1100" dirty="0">
                          <a:solidFill>
                            <a:srgbClr val="1F2937"/>
                          </a:solidFill>
                        </a:rPr>
                        <a:t>화면 </a:t>
                      </a:r>
                      <a:pPr indent="0" marL="0">
                        <a:buNone/>
                      </a:pPr>
                      <a:r>
                        <a:rPr lang="en-US" sz="1100" dirty="0">
                          <a:solidFill>
                            <a:srgbClr val="1F2937"/>
                          </a:solidFill>
                        </a:rPr>
                        <a:t>진입</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사용자</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앱 </a:t>
                      </a:r>
                      <a:pPr indent="0" marL="0">
                        <a:buNone/>
                      </a:pPr>
                      <a:r>
                        <a:rPr lang="en-US" sz="1100" dirty="0">
                          <a:solidFill>
                            <a:srgbClr val="1F2937"/>
                          </a:solidFill>
                        </a:rPr>
                        <a:t>또는 </a:t>
                      </a:r>
                      <a:pPr indent="0" marL="0">
                        <a:buNone/>
                      </a:pPr>
                      <a:r>
                        <a:rPr lang="en-US" sz="1100" dirty="0">
                          <a:solidFill>
                            <a:srgbClr val="1F2937"/>
                          </a:solidFill>
                        </a:rPr>
                        <a:t>서비스 </a:t>
                      </a:r>
                      <a:pPr indent="0" marL="0">
                        <a:buNone/>
                      </a:pPr>
                      <a:r>
                        <a:rPr lang="en-US" sz="1100" dirty="0">
                          <a:solidFill>
                            <a:srgbClr val="1F2937"/>
                          </a:solidFill>
                        </a:rPr>
                        <a:t>진입 </a:t>
                      </a:r>
                      <a:pPr indent="0" marL="0">
                        <a:buNone/>
                      </a:pPr>
                      <a:r>
                        <a:rPr lang="en-US" sz="1100" dirty="0">
                          <a:solidFill>
                            <a:srgbClr val="1F2937"/>
                          </a:solidFill>
                        </a:rPr>
                        <a:t>정보</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로그인 </a:t>
                      </a:r>
                      <a:pPr indent="0" marL="0">
                        <a:buNone/>
                      </a:pPr>
                      <a:r>
                        <a:rPr lang="en-US" sz="1100" dirty="0">
                          <a:solidFill>
                            <a:srgbClr val="1F2937"/>
                          </a:solidFill>
                        </a:rPr>
                        <a:t>화면</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화면 </a:t>
                      </a:r>
                      <a:pPr indent="0" marL="0">
                        <a:buNone/>
                      </a:pPr>
                      <a:r>
                        <a:rPr lang="en-US" sz="1100" dirty="0">
                          <a:solidFill>
                            <a:srgbClr val="1F2937"/>
                          </a:solidFill>
                        </a:rPr>
                        <a:t>표시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2</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로그인 </a:t>
                      </a:r>
                      <a:pPr indent="0" marL="0">
                        <a:buNone/>
                      </a:pPr>
                      <a:r>
                        <a:rPr lang="en-US" sz="1100" dirty="0">
                          <a:solidFill>
                            <a:srgbClr val="1F2937"/>
                          </a:solidFill>
                        </a:rPr>
                        <a:t>정보 </a:t>
                      </a:r>
                      <a:pPr indent="0" marL="0">
                        <a:buNone/>
                      </a:pPr>
                      <a:r>
                        <a:rPr lang="en-US" sz="1100" dirty="0">
                          <a:solidFill>
                            <a:srgbClr val="1F2937"/>
                          </a:solidFill>
                        </a:rPr>
                        <a:t>입력</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사용자</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인증 </a:t>
                      </a:r>
                      <a:pPr indent="0" marL="0">
                        <a:buNone/>
                      </a:pPr>
                      <a:r>
                        <a:rPr lang="en-US" sz="1100" dirty="0">
                          <a:solidFill>
                            <a:srgbClr val="1F2937"/>
                          </a:solidFill>
                        </a:rPr>
                        <a:t>정보. </a:t>
                      </a:r>
                      <a:pPr indent="0" marL="0">
                        <a:buNone/>
                      </a:pPr>
                      <a:r>
                        <a:rPr lang="en-US" sz="1100" dirty="0">
                          <a:solidFill>
                            <a:srgbClr val="1F2937"/>
                          </a:solidFill>
                        </a:rPr>
                        <a:t>구체적인 </a:t>
                      </a:r>
                      <a:pPr indent="0" marL="0">
                        <a:buNone/>
                      </a:pPr>
                      <a:r>
                        <a:rPr lang="en-US" sz="1100" dirty="0">
                          <a:solidFill>
                            <a:srgbClr val="1F2937"/>
                          </a:solidFill>
                        </a:rPr>
                        <a:t>항목은 </a:t>
                      </a:r>
                      <a:pPr indent="0" marL="0">
                        <a:buNone/>
                      </a:pPr>
                      <a:r>
                        <a:rPr lang="en-US" sz="1100" dirty="0">
                          <a:solidFill>
                            <a:srgbClr val="1F2937"/>
                          </a:solidFill>
                        </a:rPr>
                        <a:t>추정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입력값</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필수 </a:t>
                      </a:r>
                      <a:pPr indent="0" marL="0">
                        <a:buNone/>
                      </a:pPr>
                      <a:r>
                        <a:rPr lang="en-US" sz="1100" dirty="0">
                          <a:solidFill>
                            <a:srgbClr val="1F2937"/>
                          </a:solidFill>
                        </a:rPr>
                        <a:t>항목 </a:t>
                      </a:r>
                      <a:pPr indent="0" marL="0">
                        <a:buNone/>
                      </a:pPr>
                      <a:r>
                        <a:rPr lang="en-US" sz="1100" dirty="0">
                          <a:solidFill>
                            <a:srgbClr val="1F2937"/>
                          </a:solidFill>
                        </a:rPr>
                        <a:t>입력. </a:t>
                      </a:r>
                      <a:pPr indent="0" marL="0">
                        <a:buNone/>
                      </a:pPr>
                      <a:r>
                        <a:rPr lang="en-US" sz="1100" dirty="0">
                          <a:solidFill>
                            <a:srgbClr val="1F2937"/>
                          </a:solidFill>
                        </a:rPr>
                        <a:t>규칙은 </a:t>
                      </a:r>
                      <a:pPr indent="0" marL="0">
                        <a:buNone/>
                      </a:pPr>
                      <a:r>
                        <a:rPr lang="en-US" sz="1100" dirty="0">
                          <a:solidFill>
                            <a:srgbClr val="1F2937"/>
                          </a:solidFill>
                        </a:rPr>
                        <a:t>추정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3</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로그인 </a:t>
                      </a:r>
                      <a:pPr indent="0" marL="0">
                        <a:buNone/>
                      </a:pPr>
                      <a:r>
                        <a:rPr lang="en-US" sz="1100" dirty="0">
                          <a:solidFill>
                            <a:srgbClr val="1F2937"/>
                          </a:solidFill>
                        </a:rPr>
                        <a:t>요청</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시스템 </a:t>
                      </a:r>
                      <a:pPr indent="0" marL="0">
                        <a:buNone/>
                      </a:pPr>
                      <a:r>
                        <a:rPr lang="en-US" sz="1100" dirty="0">
                          <a:solidFill>
                            <a:srgbClr val="1F2937"/>
                          </a:solidFill>
                        </a:rPr>
                        <a:t>담당 </a:t>
                      </a:r>
                      <a:pPr indent="0" marL="0">
                        <a:buNone/>
                      </a:pPr>
                      <a:r>
                        <a:rPr lang="en-US" sz="1100" dirty="0">
                          <a:solidFill>
                            <a:srgbClr val="1F2937"/>
                          </a:solidFill>
                        </a:rPr>
                        <a:t>추정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입력된 </a:t>
                      </a:r>
                      <a:pPr indent="0" marL="0">
                        <a:buNone/>
                      </a:pPr>
                      <a:r>
                        <a:rPr lang="en-US" sz="1100" dirty="0">
                          <a:solidFill>
                            <a:srgbClr val="1F2937"/>
                          </a:solidFill>
                        </a:rPr>
                        <a:t>인증 </a:t>
                      </a:r>
                      <a:pPr indent="0" marL="0">
                        <a:buNone/>
                      </a:pPr>
                      <a:r>
                        <a:rPr lang="en-US" sz="1100" dirty="0">
                          <a:solidFill>
                            <a:srgbClr val="1F2937"/>
                          </a:solidFill>
                        </a:rPr>
                        <a:t>정보</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인증 </a:t>
                      </a:r>
                      <a:pPr indent="0" marL="0">
                        <a:buNone/>
                      </a:pPr>
                      <a:r>
                        <a:rPr lang="en-US" sz="1100" dirty="0">
                          <a:solidFill>
                            <a:srgbClr val="1F2937"/>
                          </a:solidFill>
                        </a:rPr>
                        <a:t>요청 </a:t>
                      </a:r>
                      <a:pPr indent="0" marL="0">
                        <a:buNone/>
                      </a:pPr>
                      <a:r>
                        <a:rPr lang="en-US" sz="1100" dirty="0">
                          <a:solidFill>
                            <a:srgbClr val="1F2937"/>
                          </a:solidFill>
                        </a:rPr>
                        <a:t>결과</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인증 </a:t>
                      </a:r>
                      <a:pPr indent="0" marL="0">
                        <a:buNone/>
                      </a:pPr>
                      <a:r>
                        <a:rPr lang="en-US" sz="1100" dirty="0">
                          <a:solidFill>
                            <a:srgbClr val="1F2937"/>
                          </a:solidFill>
                        </a:rPr>
                        <a:t>성공 </a:t>
                      </a:r>
                      <a:pPr indent="0" marL="0">
                        <a:buNone/>
                      </a:pPr>
                      <a:r>
                        <a:rPr lang="en-US" sz="1100" dirty="0">
                          <a:solidFill>
                            <a:srgbClr val="1F2937"/>
                          </a:solidFill>
                        </a:rPr>
                        <a:t>또는 </a:t>
                      </a:r>
                      <a:pPr indent="0" marL="0">
                        <a:buNone/>
                      </a:pPr>
                      <a:r>
                        <a:rPr lang="en-US" sz="1100" dirty="0">
                          <a:solidFill>
                            <a:srgbClr val="1F2937"/>
                          </a:solidFill>
                        </a:rPr>
                        <a:t>실패 </a:t>
                      </a:r>
                      <a:pPr indent="0" marL="0">
                        <a:buNone/>
                      </a:pPr>
                      <a:r>
                        <a:rPr lang="en-US" sz="1100" dirty="0">
                          <a:solidFill>
                            <a:srgbClr val="1F2937"/>
                          </a:solidFill>
                        </a:rPr>
                        <a:t>판정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4</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인증 </a:t>
                      </a:r>
                      <a:pPr indent="0" marL="0">
                        <a:buNone/>
                      </a:pPr>
                      <a:r>
                        <a:rPr lang="en-US" sz="1100" dirty="0">
                          <a:solidFill>
                            <a:srgbClr val="1F2937"/>
                          </a:solidFill>
                        </a:rPr>
                        <a:t>결과 </a:t>
                      </a:r>
                      <a:pPr indent="0" marL="0">
                        <a:buNone/>
                      </a:pPr>
                      <a:r>
                        <a:rPr lang="en-US" sz="1100" dirty="0">
                          <a:solidFill>
                            <a:srgbClr val="1F2937"/>
                          </a:solidFill>
                        </a:rPr>
                        <a:t>처리</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이개발 </a:t>
                      </a:r>
                      <a:pPr indent="0" marL="0">
                        <a:buNone/>
                      </a:pPr>
                      <a:r>
                        <a:rPr lang="en-US" sz="1100" dirty="0">
                          <a:solidFill>
                            <a:srgbClr val="1F2937"/>
                          </a:solidFill>
                        </a:rPr>
                        <a:t>등 </a:t>
                      </a:r>
                      <a:pPr indent="0" marL="0">
                        <a:buNone/>
                      </a:pPr>
                      <a:r>
                        <a:rPr lang="en-US" sz="1100" dirty="0">
                          <a:solidFill>
                            <a:srgbClr val="1F2937"/>
                          </a:solidFill>
                        </a:rPr>
                        <a:t>담당자 </a:t>
                      </a:r>
                      <a:pPr indent="0" marL="0">
                        <a:buNone/>
                      </a:pPr>
                      <a:r>
                        <a:rPr lang="en-US" sz="1100" dirty="0">
                          <a:solidFill>
                            <a:srgbClr val="1F2937"/>
                          </a:solidFill>
                        </a:rPr>
                        <a:t>세부 </a:t>
                      </a:r>
                      <a:pPr indent="0" marL="0">
                        <a:buNone/>
                      </a:pPr>
                      <a:r>
                        <a:rPr lang="en-US" sz="1100" dirty="0">
                          <a:solidFill>
                            <a:srgbClr val="1F2937"/>
                          </a:solidFill>
                        </a:rPr>
                        <a:t>배정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인증 </a:t>
                      </a:r>
                      <a:pPr indent="0" marL="0">
                        <a:buNone/>
                      </a:pPr>
                      <a:r>
                        <a:rPr lang="en-US" sz="1100" dirty="0">
                          <a:solidFill>
                            <a:srgbClr val="1F2937"/>
                          </a:solidFill>
                        </a:rPr>
                        <a:t>결과</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성공 </a:t>
                      </a:r>
                      <a:pPr indent="0" marL="0">
                        <a:buNone/>
                      </a:pPr>
                      <a:r>
                        <a:rPr lang="en-US" sz="1100" dirty="0">
                          <a:solidFill>
                            <a:srgbClr val="1F2937"/>
                          </a:solidFill>
                        </a:rPr>
                        <a:t>또는 </a:t>
                      </a:r>
                      <a:pPr indent="0" marL="0">
                        <a:buNone/>
                      </a:pPr>
                      <a:r>
                        <a:rPr lang="en-US" sz="1100" dirty="0">
                          <a:solidFill>
                            <a:srgbClr val="1F2937"/>
                          </a:solidFill>
                        </a:rPr>
                        <a:t>실패 </a:t>
                      </a:r>
                      <a:pPr indent="0" marL="0">
                        <a:buNone/>
                      </a:pPr>
                      <a:r>
                        <a:rPr lang="en-US" sz="1100" dirty="0">
                          <a:solidFill>
                            <a:srgbClr val="1F2937"/>
                          </a:solidFill>
                        </a:rPr>
                        <a:t>상태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상태가 </a:t>
                      </a:r>
                      <a:pPr indent="0" marL="0">
                        <a:buNone/>
                      </a:pPr>
                      <a:r>
                        <a:rPr lang="en-US" sz="1100" dirty="0">
                          <a:solidFill>
                            <a:srgbClr val="1F2937"/>
                          </a:solidFill>
                        </a:rPr>
                        <a:t>사용자에게 </a:t>
                      </a:r>
                      <a:pPr indent="0" marL="0">
                        <a:buNone/>
                      </a:pPr>
                      <a:r>
                        <a:rPr lang="en-US" sz="1100" dirty="0">
                          <a:solidFill>
                            <a:srgbClr val="1F2937"/>
                          </a:solidFill>
                        </a:rPr>
                        <a:t>전달됨</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5</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로그인 </a:t>
                      </a:r>
                      <a:pPr indent="0" marL="0">
                        <a:buNone/>
                      </a:pPr>
                      <a:r>
                        <a:rPr lang="en-US" sz="1100" dirty="0">
                          <a:solidFill>
                            <a:srgbClr val="1F2937"/>
                          </a:solidFill>
                        </a:rPr>
                        <a:t>성공 </a:t>
                      </a:r>
                      <a:pPr indent="0" marL="0">
                        <a:buNone/>
                      </a:pPr>
                      <a:r>
                        <a:rPr lang="en-US" sz="1100" dirty="0">
                          <a:solidFill>
                            <a:srgbClr val="1F2937"/>
                          </a:solidFill>
                        </a:rPr>
                        <a:t>후 </a:t>
                      </a:r>
                      <a:pPr indent="0" marL="0">
                        <a:buNone/>
                      </a:pPr>
                      <a:r>
                        <a:rPr lang="en-US" sz="1100" dirty="0">
                          <a:solidFill>
                            <a:srgbClr val="1F2937"/>
                          </a:solidFill>
                        </a:rPr>
                        <a:t>이동</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시스템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인증 </a:t>
                      </a:r>
                      <a:pPr indent="0" marL="0">
                        <a:buNone/>
                      </a:pPr>
                      <a:r>
                        <a:rPr lang="en-US" sz="1100" dirty="0">
                          <a:solidFill>
                            <a:srgbClr val="1F2937"/>
                          </a:solidFill>
                        </a:rPr>
                        <a:t>성공 </a:t>
                      </a:r>
                      <a:pPr indent="0" marL="0">
                        <a:buNone/>
                      </a:pPr>
                      <a:r>
                        <a:rPr lang="en-US" sz="1100" dirty="0">
                          <a:solidFill>
                            <a:srgbClr val="1F2937"/>
                          </a:solidFill>
                        </a:rPr>
                        <a:t>상태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회의록 </a:t>
                      </a:r>
                      <a:pPr indent="0" marL="0">
                        <a:buNone/>
                      </a:pPr>
                      <a:r>
                        <a:rPr lang="en-US" sz="1100" dirty="0">
                          <a:solidFill>
                            <a:srgbClr val="1F2937"/>
                          </a:solidFill>
                        </a:rPr>
                        <a:t>입력 </a:t>
                      </a:r>
                      <a:pPr indent="0" marL="0">
                        <a:buNone/>
                      </a:pPr>
                      <a:r>
                        <a:rPr lang="en-US" sz="1100" dirty="0">
                          <a:solidFill>
                            <a:srgbClr val="1F2937"/>
                          </a:solidFill>
                        </a:rPr>
                        <a:t>화면</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회의록 </a:t>
                      </a:r>
                      <a:pPr indent="0" marL="0">
                        <a:buNone/>
                      </a:pPr>
                      <a:r>
                        <a:rPr lang="en-US" sz="1100" dirty="0">
                          <a:solidFill>
                            <a:srgbClr val="1F2937"/>
                          </a:solidFill>
                        </a:rPr>
                        <a:t>입력 </a:t>
                      </a:r>
                      <a:pPr indent="0" marL="0">
                        <a:buNone/>
                      </a:pPr>
                      <a:r>
                        <a:rPr lang="en-US" sz="1100" dirty="0">
                          <a:solidFill>
                            <a:srgbClr val="1F2937"/>
                          </a:solidFill>
                        </a:rPr>
                        <a:t>가능</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6</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로그인 </a:t>
                      </a:r>
                      <a:pPr indent="0" marL="0">
                        <a:buNone/>
                      </a:pPr>
                      <a:r>
                        <a:rPr lang="en-US" sz="1100" dirty="0">
                          <a:solidFill>
                            <a:srgbClr val="1F2937"/>
                          </a:solidFill>
                        </a:rPr>
                        <a:t>실패 </a:t>
                      </a:r>
                      <a:pPr indent="0" marL="0">
                        <a:buNone/>
                      </a:pPr>
                      <a:r>
                        <a:rPr lang="en-US" sz="1100" dirty="0">
                          <a:solidFill>
                            <a:srgbClr val="1F2937"/>
                          </a:solidFill>
                        </a:rPr>
                        <a:t>후 </a:t>
                      </a:r>
                      <a:pPr indent="0" marL="0">
                        <a:buNone/>
                      </a:pPr>
                      <a:r>
                        <a:rPr lang="en-US" sz="1100" dirty="0">
                          <a:solidFill>
                            <a:srgbClr val="1F2937"/>
                          </a:solidFill>
                        </a:rPr>
                        <a:t>처리</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시스템·사용자</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실패 </a:t>
                      </a:r>
                      <a:pPr indent="0" marL="0">
                        <a:buNone/>
                      </a:pPr>
                      <a:r>
                        <a:rPr lang="en-US" sz="1100" dirty="0">
                          <a:solidFill>
                            <a:srgbClr val="1F2937"/>
                          </a:solidFill>
                        </a:rPr>
                        <a:t>상태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오류 </a:t>
                      </a:r>
                      <a:pPr indent="0" marL="0">
                        <a:buNone/>
                      </a:pPr>
                      <a:r>
                        <a:rPr lang="en-US" sz="1100" dirty="0">
                          <a:solidFill>
                            <a:srgbClr val="1F2937"/>
                          </a:solidFill>
                        </a:rPr>
                        <a:t>안내 </a:t>
                      </a:r>
                      <a:pPr indent="0" marL="0">
                        <a:buNone/>
                      </a:pPr>
                      <a:r>
                        <a:rPr lang="en-US" sz="1100" dirty="0">
                          <a:solidFill>
                            <a:srgbClr val="1F2937"/>
                          </a:solidFill>
                        </a:rPr>
                        <a:t>또는 </a:t>
                      </a:r>
                      <a:pPr indent="0" marL="0">
                        <a:buNone/>
                      </a:pPr>
                      <a:r>
                        <a:rPr lang="en-US" sz="1100" dirty="0">
                          <a:solidFill>
                            <a:srgbClr val="1F2937"/>
                          </a:solidFill>
                        </a:rPr>
                        <a:t>재시도</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세부 </a:t>
                      </a:r>
                      <a:pPr indent="0" marL="0">
                        <a:buNone/>
                      </a:pPr>
                      <a:r>
                        <a:rPr lang="en-US" sz="1100" dirty="0">
                          <a:solidFill>
                            <a:srgbClr val="1F2937"/>
                          </a:solidFill>
                        </a:rPr>
                        <a:t>기준은 </a:t>
                      </a:r>
                      <a:pPr indent="0" marL="0">
                        <a:buNone/>
                      </a:pPr>
                      <a:r>
                        <a:rPr lang="en-US" sz="1100" dirty="0">
                          <a:solidFill>
                            <a:srgbClr val="1F2937"/>
                          </a:solidFill>
                        </a:rPr>
                        <a:t>추정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bl>
          </a:graphicData>
        </a:graphic>
      </p:graphicFrame>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3.2 로그인 플로우</a:t>
            </a:r>
            <a:endParaRPr lang="en-US" sz="2800" dirty="0"/>
          </a:p>
        </p:txBody>
      </p:sp>
      <p:sp>
        <p:nvSpPr>
          <p:cNvPr id="3" name="Shape 1"/>
          <p:cNvSpPr/>
          <p:nvPr/>
        </p:nvSpPr>
        <p:spPr>
          <a:xfrm>
            <a:off x="457200" y="1078992"/>
            <a:ext cx="2743200" cy="41148"/>
          </a:xfrm>
          <a:prstGeom prst="rect">
            <a:avLst/>
          </a:prstGeom>
          <a:solidFill>
            <a:srgbClr val="263F59"/>
          </a:solidFill>
          <a:ln/>
        </p:spPr>
      </p:sp>
      <p:pic>
        <p:nvPicPr>
          <p:cNvPr id="4" name="Image 0" descr="preencoded.png">    </p:cNvPr>
          <p:cNvPicPr>
            <a:picLocks noChangeAspect="1"/>
          </p:cNvPicPr>
          <p:nvPr/>
        </p:nvPicPr>
        <p:blipFill>
          <a:blip r:embed="rId1"/>
          <a:stretch>
            <a:fillRect/>
          </a:stretch>
        </p:blipFill>
        <p:spPr>
          <a:xfrm>
            <a:off x="794538" y="1463040"/>
            <a:ext cx="7554925" cy="4206240"/>
          </a:xfrm>
          <a:prstGeom prst="rect">
            <a:avLst/>
          </a:prstGeom>
        </p:spPr>
      </p:pic>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3.2 로그인 플로우 (1/2)</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b="1" dirty="0">
                <a:solidFill>
                  <a:srgbClr val="4B5563"/>
                </a:solidFill>
              </a:rPr>
              <a:t>상세 설명</a:t>
            </a:r>
            <a:endParaRPr lang="en-US" sz="1600" dirty="0"/>
          </a:p>
          <a:p>
            <a:pPr indent="0" marL="0">
              <a:spcAft>
                <a:spcPts val="800"/>
              </a:spcAft>
              <a:buNone/>
            </a:pPr>
            <a:r>
              <a:rPr lang="en-US" sz="1600" dirty="0">
                <a:solidFill>
                  <a:srgbClr val="4B5563"/>
                </a:solidFill>
              </a:rPr>
              <a:t>1. 사용자가 로그인 정보를 제출하면 시스템은 인증을 시도합니다. 사용자 이름이나 이메일, 비밀번호 등 구체적인 입력 항목은 회의에서 명시되지 않아 추정 필요입니다.</a:t>
            </a:r>
            <a:endParaRPr lang="en-US" sz="1600" dirty="0"/>
          </a:p>
          <a:p>
            <a:pPr indent="0" marL="0">
              <a:spcAft>
                <a:spcPts val="800"/>
              </a:spcAft>
              <a:buNone/>
            </a:pPr>
            <a:r>
              <a:rPr lang="en-US" sz="1600" dirty="0">
                <a:solidFill>
                  <a:srgbClr val="4B5563"/>
                </a:solidFill>
              </a:rPr>
              <a:t>2. 인증에 성공하면 회의록 입력으로 이동하는 것이 전체 업무 흐름에 부합하는 연결 방식입니다. 로그인 성공 뒤의 화면 이동은 사용자 흐름을 연결한 설계 제안이며, 세부 화면 구성은 확정되지 않았습니다.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3.2 로그인 플로우 (2/2)</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3. 인증 실패 시 재입력을 허용할지, 계정 찾기나 가입 안내를 제공할지는 정해지지 않았습니다. 따라서 다이어그램의 재시도는 필요한 분기를 나타낸 것이며, 화면 동작과 정책은 확인이 필요합니다.</a:t>
            </a:r>
            <a:endParaRPr lang="en-US" sz="1600" dirty="0"/>
          </a:p>
          <a:p>
            <a:pPr indent="0" marL="0">
              <a:spcAft>
                <a:spcPts val="800"/>
              </a:spcAft>
              <a:buNone/>
            </a:pPr>
            <a:r>
              <a:rPr lang="en-US" sz="1600" dirty="0">
                <a:solidFill>
                  <a:srgbClr val="4B5563"/>
                </a:solidFill>
              </a:rPr>
              <a:t>4. 네트워크 오류, 서버 오류, 응답 지연 및 세션 만료에 대한 구체적인 처리 기준은 회의에서 다루지 않았습니다. 이 항목들은 아래 예외 처리 절의 제안으로 구분합니다.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3.3 비밀번호 찾기 플로우 (1/2)</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비밀번호 찾기 기능과 절차는 회의에서 정해지지 않았습니다. 로그인 기능이 MVP에 포함된다는 사실만으로 비밀번호 재설정 기능의 제공 여부, 재설정 수단 또는 본인 확인 방식까지 확정할 수 없습니다.</a:t>
            </a:r>
            <a:endParaRPr lang="en-US" sz="1600" dirty="0"/>
          </a:p>
          <a:p>
            <a:pPr indent="0" marL="0">
              <a:spcAft>
                <a:spcPts val="800"/>
              </a:spcAft>
              <a:buNone/>
            </a:pPr>
            <a:r>
              <a:rPr lang="en-US" sz="1600" dirty="0">
                <a:solidFill>
                  <a:srgbClr val="4B5563"/>
                </a:solidFill>
              </a:rPr>
              <a:t>따라서 시작 조건과 종료 조건은 실제 기능이 제공되는지 결정된 이후 정의해야 합니다. 사용자가 비밀번호를 잊은 경우 로그인 화면에서 어떤 조치를 할 수 있는지, 담당 시스템이 무엇인지 모두 추정 필요입니다.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3.3 비밀번호 찾기 플로우 (2/2)</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이 흐름은 개발 요건이 아니라 확인 항목을 명확히 하기 위한 것입니다. MVP에서 제공하기로 결정한다면 본인 확인 방법, 요청 제한, 오류 안내, 재설정 완료 조건을 별도로 정해야 합니다.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3.3 비밀번호 찾기 플로우</a:t>
            </a:r>
            <a:endParaRPr lang="en-US" sz="2800" dirty="0"/>
          </a:p>
        </p:txBody>
      </p:sp>
      <p:sp>
        <p:nvSpPr>
          <p:cNvPr id="3" name="Shape 1"/>
          <p:cNvSpPr/>
          <p:nvPr/>
        </p:nvSpPr>
        <p:spPr>
          <a:xfrm>
            <a:off x="457200" y="1078992"/>
            <a:ext cx="2743200" cy="41148"/>
          </a:xfrm>
          <a:prstGeom prst="rect">
            <a:avLst/>
          </a:prstGeom>
          <a:solidFill>
            <a:srgbClr val="263F59"/>
          </a:solidFill>
          <a:ln/>
        </p:spPr>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685800"/>
                <a:gridCol w="1943100"/>
                <a:gridCol w="2057400"/>
                <a:gridCol w="1943100"/>
                <a:gridCol w="914400"/>
                <a:gridCol w="685800"/>
              </a:tblGrid>
              <a:tr h="0">
                <a:tc>
                  <a:txBody>
                    <a:bodyPr/>
                    <a:lstStyle/>
                    <a:p>
                      <a:pPr indent="0" marL="0">
                        <a:buNone/>
                      </a:pPr>
                      <a:r>
                        <a:rPr lang="en-US" sz="1200" b="1" dirty="0">
                          <a:solidFill>
                            <a:srgbClr val="FFFFFF"/>
                          </a:solidFill>
                        </a:rPr>
                        <a:t>단계</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활동</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담당</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입력</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출력</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완료 </a:t>
                      </a:r>
                      <a:pPr indent="0" marL="0">
                        <a:buNone/>
                      </a:pPr>
                      <a:r>
                        <a:rPr lang="en-US" sz="1200" b="1" dirty="0">
                          <a:solidFill>
                            <a:srgbClr val="FFFFFF"/>
                          </a:solidFill>
                        </a:rPr>
                        <a:t>기준</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r>
              <a:tr h="0">
                <a:tc>
                  <a:txBody>
                    <a:bodyPr/>
                    <a:lstStyle/>
                    <a:p>
                      <a:pPr indent="0" marL="0">
                        <a:buNone/>
                      </a:pPr>
                      <a:r>
                        <a:rPr lang="en-US" sz="1100" dirty="0">
                          <a:solidFill>
                            <a:srgbClr val="1F2937"/>
                          </a:solidFill>
                        </a:rPr>
                        <a:t>1</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비밀번호 </a:t>
                      </a:r>
                      <a:pPr indent="0" marL="0">
                        <a:buNone/>
                      </a:pPr>
                      <a:r>
                        <a:rPr lang="en-US" sz="1100" dirty="0">
                          <a:solidFill>
                            <a:srgbClr val="1F2937"/>
                          </a:solidFill>
                        </a:rPr>
                        <a:t>찾기 </a:t>
                      </a:r>
                      <a:pPr indent="0" marL="0">
                        <a:buNone/>
                      </a:pPr>
                      <a:r>
                        <a:rPr lang="en-US" sz="1100" dirty="0">
                          <a:solidFill>
                            <a:srgbClr val="1F2937"/>
                          </a:solidFill>
                        </a:rPr>
                        <a:t>제공 </a:t>
                      </a:r>
                      <a:pPr indent="0" marL="0">
                        <a:buNone/>
                      </a:pPr>
                      <a:r>
                        <a:rPr lang="en-US" sz="1100" dirty="0">
                          <a:solidFill>
                            <a:srgbClr val="1F2937"/>
                          </a:solidFill>
                        </a:rPr>
                        <a:t>여부 </a:t>
                      </a:r>
                      <a:pPr indent="0" marL="0">
                        <a:buNone/>
                      </a:pPr>
                      <a:r>
                        <a:rPr lang="en-US" sz="1100" dirty="0">
                          <a:solidFill>
                            <a:srgbClr val="1F2937"/>
                          </a:solidFill>
                        </a:rPr>
                        <a:t>확인</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김PM </a:t>
                      </a:r>
                      <a:pPr indent="0" marL="0">
                        <a:buNone/>
                      </a:pPr>
                      <a:r>
                        <a:rPr lang="en-US" sz="1100" dirty="0">
                          <a:solidFill>
                            <a:srgbClr val="1F2937"/>
                          </a:solidFill>
                        </a:rPr>
                        <a:t>등 </a:t>
                      </a:r>
                      <a:pPr indent="0" marL="0">
                        <a:buNone/>
                      </a:pPr>
                      <a:r>
                        <a:rPr lang="en-US" sz="1100" dirty="0">
                          <a:solidFill>
                            <a:srgbClr val="1F2937"/>
                          </a:solidFill>
                        </a:rPr>
                        <a:t>제품 </a:t>
                      </a:r>
                      <a:pPr indent="0" marL="0">
                        <a:buNone/>
                      </a:pPr>
                      <a:r>
                        <a:rPr lang="en-US" sz="1100" dirty="0">
                          <a:solidFill>
                            <a:srgbClr val="1F2937"/>
                          </a:solidFill>
                        </a:rPr>
                        <a:t>담당자 </a:t>
                      </a:r>
                      <a:pPr indent="0" marL="0">
                        <a:buNone/>
                      </a:pPr>
                      <a:r>
                        <a:rPr lang="en-US" sz="1100" dirty="0">
                          <a:solidFill>
                            <a:srgbClr val="1F2937"/>
                          </a:solidFill>
                        </a:rPr>
                        <a:t>확인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MVP </a:t>
                      </a:r>
                      <a:pPr indent="0" marL="0">
                        <a:buNone/>
                      </a:pPr>
                      <a:r>
                        <a:rPr lang="en-US" sz="1100" dirty="0">
                          <a:solidFill>
                            <a:srgbClr val="1F2937"/>
                          </a:solidFill>
                        </a:rPr>
                        <a:t>범위</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제공 </a:t>
                      </a:r>
                      <a:pPr indent="0" marL="0">
                        <a:buNone/>
                      </a:pPr>
                      <a:r>
                        <a:rPr lang="en-US" sz="1100" dirty="0">
                          <a:solidFill>
                            <a:srgbClr val="1F2937"/>
                          </a:solidFill>
                        </a:rPr>
                        <a:t>여부 </a:t>
                      </a:r>
                      <a:pPr indent="0" marL="0">
                        <a:buNone/>
                      </a:pPr>
                      <a:r>
                        <a:rPr lang="en-US" sz="1100" dirty="0">
                          <a:solidFill>
                            <a:srgbClr val="1F2937"/>
                          </a:solidFill>
                        </a:rPr>
                        <a:t>결정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추정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2</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본인 </a:t>
                      </a:r>
                      <a:pPr indent="0" marL="0">
                        <a:buNone/>
                      </a:pPr>
                      <a:r>
                        <a:rPr lang="en-US" sz="1100" dirty="0">
                          <a:solidFill>
                            <a:srgbClr val="1F2937"/>
                          </a:solidFill>
                        </a:rPr>
                        <a:t>확인 </a:t>
                      </a:r>
                      <a:pPr indent="0" marL="0">
                        <a:buNone/>
                      </a:pPr>
                      <a:r>
                        <a:rPr lang="en-US" sz="1100" dirty="0">
                          <a:solidFill>
                            <a:srgbClr val="1F2937"/>
                          </a:solidFill>
                        </a:rPr>
                        <a:t>및 </a:t>
                      </a:r>
                      <a:pPr indent="0" marL="0">
                        <a:buNone/>
                      </a:pPr>
                      <a:r>
                        <a:rPr lang="en-US" sz="1100" dirty="0">
                          <a:solidFill>
                            <a:srgbClr val="1F2937"/>
                          </a:solidFill>
                        </a:rPr>
                        <a:t>재설정 </a:t>
                      </a:r>
                      <a:pPr indent="0" marL="0">
                        <a:buNone/>
                      </a:pPr>
                      <a:r>
                        <a:rPr lang="en-US" sz="1100" dirty="0">
                          <a:solidFill>
                            <a:srgbClr val="1F2937"/>
                          </a:solidFill>
                        </a:rPr>
                        <a:t>방식 </a:t>
                      </a:r>
                      <a:pPr indent="0" marL="0">
                        <a:buNone/>
                      </a:pPr>
                      <a:r>
                        <a:rPr lang="en-US" sz="1100" dirty="0">
                          <a:solidFill>
                            <a:srgbClr val="1F2937"/>
                          </a:solidFill>
                        </a:rPr>
                        <a:t>정의</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담당자 </a:t>
                      </a:r>
                      <a:pPr indent="0" marL="0">
                        <a:buNone/>
                      </a:pPr>
                      <a:r>
                        <a:rPr lang="en-US" sz="1100" dirty="0">
                          <a:solidFill>
                            <a:srgbClr val="1F2937"/>
                          </a:solidFill>
                        </a:rPr>
                        <a:t>추정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계정 </a:t>
                      </a:r>
                      <a:pPr indent="0" marL="0">
                        <a:buNone/>
                      </a:pPr>
                      <a:r>
                        <a:rPr lang="en-US" sz="1100" dirty="0">
                          <a:solidFill>
                            <a:srgbClr val="1F2937"/>
                          </a:solidFill>
                        </a:rPr>
                        <a:t>식별 </a:t>
                      </a:r>
                      <a:pPr indent="0" marL="0">
                        <a:buNone/>
                      </a:pPr>
                      <a:r>
                        <a:rPr lang="en-US" sz="1100" dirty="0">
                          <a:solidFill>
                            <a:srgbClr val="1F2937"/>
                          </a:solidFill>
                        </a:rPr>
                        <a:t>정보 </a:t>
                      </a:r>
                      <a:pPr indent="0" marL="0">
                        <a:buNone/>
                      </a:pPr>
                      <a:r>
                        <a:rPr lang="en-US" sz="1100" dirty="0">
                          <a:solidFill>
                            <a:srgbClr val="1F2937"/>
                          </a:solidFill>
                        </a:rPr>
                        <a:t>등</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재설정 </a:t>
                      </a:r>
                      <a:pPr indent="0" marL="0">
                        <a:buNone/>
                      </a:pPr>
                      <a:r>
                        <a:rPr lang="en-US" sz="1100" dirty="0">
                          <a:solidFill>
                            <a:srgbClr val="1F2937"/>
                          </a:solidFill>
                        </a:rPr>
                        <a:t>절차</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추정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3</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비밀번호 </a:t>
                      </a:r>
                      <a:pPr indent="0" marL="0">
                        <a:buNone/>
                      </a:pPr>
                      <a:r>
                        <a:rPr lang="en-US" sz="1100" dirty="0">
                          <a:solidFill>
                            <a:srgbClr val="1F2937"/>
                          </a:solidFill>
                        </a:rPr>
                        <a:t>재설정 </a:t>
                      </a:r>
                      <a:pPr indent="0" marL="0">
                        <a:buNone/>
                      </a:pPr>
                      <a:r>
                        <a:rPr lang="en-US" sz="1100" dirty="0">
                          <a:solidFill>
                            <a:srgbClr val="1F2937"/>
                          </a:solidFill>
                        </a:rPr>
                        <a:t>요청 </a:t>
                      </a:r>
                      <a:pPr indent="0" marL="0">
                        <a:buNone/>
                      </a:pPr>
                      <a:r>
                        <a:rPr lang="en-US" sz="1100" dirty="0">
                          <a:solidFill>
                            <a:srgbClr val="1F2937"/>
                          </a:solidFill>
                        </a:rPr>
                        <a:t>처리</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제공 </a:t>
                      </a:r>
                      <a:pPr indent="0" marL="0">
                        <a:buNone/>
                      </a:pPr>
                      <a:r>
                        <a:rPr lang="en-US" sz="1100" dirty="0">
                          <a:solidFill>
                            <a:srgbClr val="1F2937"/>
                          </a:solidFill>
                        </a:rPr>
                        <a:t>결정 </a:t>
                      </a:r>
                      <a:pPr indent="0" marL="0">
                        <a:buNone/>
                      </a:pPr>
                      <a:r>
                        <a:rPr lang="en-US" sz="1100" dirty="0">
                          <a:solidFill>
                            <a:srgbClr val="1F2937"/>
                          </a:solidFill>
                        </a:rPr>
                        <a:t>후 </a:t>
                      </a:r>
                      <a:pPr indent="0" marL="0">
                        <a:buNone/>
                      </a:pPr>
                      <a:r>
                        <a:rPr lang="en-US" sz="1100" dirty="0">
                          <a:solidFill>
                            <a:srgbClr val="1F2937"/>
                          </a:solidFill>
                        </a:rPr>
                        <a:t>담당자 </a:t>
                      </a:r>
                      <a:pPr indent="0" marL="0">
                        <a:buNone/>
                      </a:pPr>
                      <a:r>
                        <a:rPr lang="en-US" sz="1100" dirty="0">
                          <a:solidFill>
                            <a:srgbClr val="1F2937"/>
                          </a:solidFill>
                        </a:rPr>
                        <a:t>배정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확정된 </a:t>
                      </a:r>
                      <a:pPr indent="0" marL="0">
                        <a:buNone/>
                      </a:pPr>
                      <a:r>
                        <a:rPr lang="en-US" sz="1100" dirty="0">
                          <a:solidFill>
                            <a:srgbClr val="1F2937"/>
                          </a:solidFill>
                        </a:rPr>
                        <a:t>요청 </a:t>
                      </a:r>
                      <a:pPr indent="0" marL="0">
                        <a:buNone/>
                      </a:pPr>
                      <a:r>
                        <a:rPr lang="en-US" sz="1100" dirty="0">
                          <a:solidFill>
                            <a:srgbClr val="1F2937"/>
                          </a:solidFill>
                        </a:rPr>
                        <a:t>정보</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요청 </a:t>
                      </a:r>
                      <a:pPr indent="0" marL="0">
                        <a:buNone/>
                      </a:pPr>
                      <a:r>
                        <a:rPr lang="en-US" sz="1100" dirty="0">
                          <a:solidFill>
                            <a:srgbClr val="1F2937"/>
                          </a:solidFill>
                        </a:rPr>
                        <a:t>결과</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추정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4</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재설정 </a:t>
                      </a:r>
                      <a:pPr indent="0" marL="0">
                        <a:buNone/>
                      </a:pPr>
                      <a:r>
                        <a:rPr lang="en-US" sz="1100" dirty="0">
                          <a:solidFill>
                            <a:srgbClr val="1F2937"/>
                          </a:solidFill>
                        </a:rPr>
                        <a:t>완료 </a:t>
                      </a:r>
                      <a:pPr indent="0" marL="0">
                        <a:buNone/>
                      </a:pPr>
                      <a:r>
                        <a:rPr lang="en-US" sz="1100" dirty="0">
                          <a:solidFill>
                            <a:srgbClr val="1F2937"/>
                          </a:solidFill>
                        </a:rPr>
                        <a:t>확인</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사용자·시스템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본인 </a:t>
                      </a:r>
                      <a:pPr indent="0" marL="0">
                        <a:buNone/>
                      </a:pPr>
                      <a:r>
                        <a:rPr lang="en-US" sz="1100" dirty="0">
                          <a:solidFill>
                            <a:srgbClr val="1F2937"/>
                          </a:solidFill>
                        </a:rPr>
                        <a:t>확인 </a:t>
                      </a:r>
                      <a:pPr indent="0" marL="0">
                        <a:buNone/>
                      </a:pPr>
                      <a:r>
                        <a:rPr lang="en-US" sz="1100" dirty="0">
                          <a:solidFill>
                            <a:srgbClr val="1F2937"/>
                          </a:solidFill>
                        </a:rPr>
                        <a:t>결과와 </a:t>
                      </a:r>
                      <a:pPr indent="0" marL="0">
                        <a:buNone/>
                      </a:pPr>
                      <a:r>
                        <a:rPr lang="en-US" sz="1100" dirty="0">
                          <a:solidFill>
                            <a:srgbClr val="1F2937"/>
                          </a:solidFill>
                        </a:rPr>
                        <a:t>새 </a:t>
                      </a:r>
                      <a:pPr indent="0" marL="0">
                        <a:buNone/>
                      </a:pPr>
                      <a:r>
                        <a:rPr lang="en-US" sz="1100" dirty="0">
                          <a:solidFill>
                            <a:srgbClr val="1F2937"/>
                          </a:solidFill>
                        </a:rPr>
                        <a:t>인증 </a:t>
                      </a:r>
                      <a:pPr indent="0" marL="0">
                        <a:buNone/>
                      </a:pPr>
                      <a:r>
                        <a:rPr lang="en-US" sz="1100" dirty="0">
                          <a:solidFill>
                            <a:srgbClr val="1F2937"/>
                          </a:solidFill>
                        </a:rPr>
                        <a:t>정보</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재설정 </a:t>
                      </a:r>
                      <a:pPr indent="0" marL="0">
                        <a:buNone/>
                      </a:pPr>
                      <a:r>
                        <a:rPr lang="en-US" sz="1100" dirty="0">
                          <a:solidFill>
                            <a:srgbClr val="1F2937"/>
                          </a:solidFill>
                        </a:rPr>
                        <a:t>결과</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추정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bl>
          </a:graphicData>
        </a:graphic>
      </p:graphicFrame>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3.3 비밀번호 찾기 플로우</a:t>
            </a:r>
            <a:endParaRPr lang="en-US" sz="2800" dirty="0"/>
          </a:p>
        </p:txBody>
      </p:sp>
      <p:sp>
        <p:nvSpPr>
          <p:cNvPr id="3" name="Shape 1"/>
          <p:cNvSpPr/>
          <p:nvPr/>
        </p:nvSpPr>
        <p:spPr>
          <a:xfrm>
            <a:off x="457200" y="1078992"/>
            <a:ext cx="2743200" cy="41148"/>
          </a:xfrm>
          <a:prstGeom prst="rect">
            <a:avLst/>
          </a:prstGeom>
          <a:solidFill>
            <a:srgbClr val="263F59"/>
          </a:solidFill>
          <a:ln/>
        </p:spPr>
      </p:sp>
      <p:pic>
        <p:nvPicPr>
          <p:cNvPr id="4" name="Image 0" descr="preencoded.png">    </p:cNvPr>
          <p:cNvPicPr>
            <a:picLocks noChangeAspect="1"/>
          </p:cNvPicPr>
          <p:nvPr/>
        </p:nvPicPr>
        <p:blipFill>
          <a:blip r:embed="rId1"/>
          <a:stretch>
            <a:fillRect/>
          </a:stretch>
        </p:blipFill>
        <p:spPr>
          <a:xfrm>
            <a:off x="852620" y="1463040"/>
            <a:ext cx="7438760" cy="4206240"/>
          </a:xfrm>
          <a:prstGeom prst="rect">
            <a:avLst/>
          </a:prstGeom>
        </p:spPr>
      </p:pic>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3.3 비밀번호 찾기 플로우 (1/2)</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b="1" dirty="0">
                <a:solidFill>
                  <a:srgbClr val="4B5563"/>
                </a:solidFill>
              </a:rPr>
              <a:t>상세 설명</a:t>
            </a:r>
            <a:endParaRPr lang="en-US" sz="1600" dirty="0"/>
          </a:p>
          <a:p>
            <a:pPr indent="0" marL="0">
              <a:spcAft>
                <a:spcPts val="800"/>
              </a:spcAft>
              <a:buNone/>
            </a:pPr>
            <a:r>
              <a:rPr lang="en-US" sz="1600" dirty="0">
                <a:solidFill>
                  <a:srgbClr val="4B5563"/>
                </a:solidFill>
              </a:rPr>
              <a:t>1. 비밀번호 찾기는 회의에서 기능 제공 여부가 확인되지 않았습니다. 따라서 이 기능이 MVP의 확정 범위라고 표현하지 않습니다.</a:t>
            </a:r>
            <a:endParaRPr lang="en-US" sz="1600" dirty="0"/>
          </a:p>
          <a:p>
            <a:pPr indent="0" marL="0">
              <a:spcAft>
                <a:spcPts val="800"/>
              </a:spcAft>
              <a:buNone/>
            </a:pPr>
            <a:r>
              <a:rPr lang="en-US" sz="1600" dirty="0">
                <a:solidFill>
                  <a:srgbClr val="4B5563"/>
                </a:solidFill>
              </a:rPr>
              <a:t>2. 이메일이나 문자 메시지를 통한 본인 확인, 임시 비밀번호 발급, 재설정 링크 제공 등의 방식은 모두 미정입니다. 어느 방식을 채택할지는 제품 및 보안 요구사항 확인 후 결정해야 합니다.</a:t>
            </a:r>
            <a:endParaRPr lang="en-US" sz="1600" dirty="0"/>
          </a:p>
          <a:p>
            <a:pPr indent="0" marL="0">
              <a:spcAft>
                <a:spcPts val="800"/>
              </a:spcAft>
              <a:buNone/>
            </a:pPr>
            <a:r>
              <a:rPr lang="en-US" sz="1600" dirty="0">
                <a:solidFill>
                  <a:srgbClr val="4B5563"/>
                </a:solidFill>
              </a:rPr>
              <a:t>3. 본인 확인 실패, 재설정 요청 실패, 재설정 정보 만료 등에 대한 오류 문구와 복구 경로도 정해지지 않았습니다.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3.3 비밀번호 찾기 플로우 (2/2)</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4. 비밀번호 찾기 미지원이 확정되더라도 사용자가 로그인할 수 있는 대체 경로가 필요한지 확인해야 합니다. 대체 경로의 제공 여부는 회의 근거가 없으므로 추정 필요입니다.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4. 예외 처리 플로우</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4.1 예외 시나리오</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회의에서 구체적인 오류 원인, 발생 빈도, 오류 메시지 및 재시도 횟수는 정해지지 않았습니다. 따라서 빈도는 임의로 높음·중간·낮음으로 표시하지 않고 </a:t>
            </a:r>
            <a:pPr indent="0" marL="0">
              <a:spcAft>
                <a:spcPts val="800"/>
              </a:spcAft>
              <a:buNone/>
            </a:pPr>
            <a:r>
              <a:rPr lang="en-US" sz="1600" b="1" dirty="0">
                <a:solidFill>
                  <a:srgbClr val="4B5563"/>
                </a:solidFill>
              </a:rPr>
              <a:t>미정</a:t>
            </a:r>
            <a:pPr indent="0" marL="0">
              <a:spcAft>
                <a:spcPts val="800"/>
              </a:spcAft>
              <a:buNone/>
            </a:pPr>
            <a:r>
              <a:rPr lang="en-US" sz="1600" dirty="0">
                <a:solidFill>
                  <a:srgbClr val="4B5563"/>
                </a:solidFill>
              </a:rPr>
              <a:t>으로 구분합니다. 성공 기준과 직접 관련된 생성 취소, 화면 이탈, 저장된 섹션 재사용, 이전 응답 무시, 표·다이어그램 누락은 우선 검증할 예외·검증 항목입니다.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4.1 예외 시나리오</a:t>
            </a:r>
            <a:endParaRPr lang="en-US" sz="2800" dirty="0"/>
          </a:p>
        </p:txBody>
      </p:sp>
      <p:sp>
        <p:nvSpPr>
          <p:cNvPr id="3" name="Shape 1"/>
          <p:cNvSpPr/>
          <p:nvPr/>
        </p:nvSpPr>
        <p:spPr>
          <a:xfrm>
            <a:off x="457200" y="1078992"/>
            <a:ext cx="2743200" cy="41148"/>
          </a:xfrm>
          <a:prstGeom prst="rect">
            <a:avLst/>
          </a:prstGeom>
          <a:solidFill>
            <a:srgbClr val="263F59"/>
          </a:solidFill>
          <a:ln/>
        </p:spPr>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1185062"/>
                <a:gridCol w="2106778"/>
                <a:gridCol w="395021"/>
                <a:gridCol w="1843430"/>
                <a:gridCol w="1119226"/>
                <a:gridCol w="1580083"/>
              </a:tblGrid>
              <a:tr h="0">
                <a:tc>
                  <a:txBody>
                    <a:bodyPr/>
                    <a:lstStyle/>
                    <a:p>
                      <a:pPr indent="0" marL="0">
                        <a:buNone/>
                      </a:pPr>
                      <a:r>
                        <a:rPr lang="en-US" sz="1200" b="1" dirty="0">
                          <a:solidFill>
                            <a:srgbClr val="FFFFFF"/>
                          </a:solidFill>
                        </a:rPr>
                        <a:t>예외 </a:t>
                      </a:r>
                      <a:pPr indent="0" marL="0">
                        <a:buNone/>
                      </a:pPr>
                      <a:r>
                        <a:rPr lang="en-US" sz="1200" b="1" dirty="0">
                          <a:solidFill>
                            <a:srgbClr val="FFFFFF"/>
                          </a:solidFill>
                        </a:rPr>
                        <a:t>상황</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원인</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빈도</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처리 </a:t>
                      </a:r>
                      <a:pPr indent="0" marL="0">
                        <a:buNone/>
                      </a:pPr>
                      <a:r>
                        <a:rPr lang="en-US" sz="1200" b="1" dirty="0">
                          <a:solidFill>
                            <a:srgbClr val="FFFFFF"/>
                          </a:solidFill>
                        </a:rPr>
                        <a:t>방법</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사용자 </a:t>
                      </a:r>
                      <a:pPr indent="0" marL="0">
                        <a:buNone/>
                      </a:pPr>
                      <a:r>
                        <a:rPr lang="en-US" sz="1200" b="1" dirty="0">
                          <a:solidFill>
                            <a:srgbClr val="FFFFFF"/>
                          </a:solidFill>
                        </a:rPr>
                        <a:t>피드백</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복구 </a:t>
                      </a:r>
                      <a:pPr indent="0" marL="0">
                        <a:buNone/>
                      </a:pPr>
                      <a:r>
                        <a:rPr lang="en-US" sz="1200" b="1" dirty="0">
                          <a:solidFill>
                            <a:srgbClr val="FFFFFF"/>
                          </a:solidFill>
                        </a:rPr>
                        <a:t>절차</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r>
              <a:tr h="0">
                <a:tc>
                  <a:txBody>
                    <a:bodyPr/>
                    <a:lstStyle/>
                    <a:p>
                      <a:pPr indent="0" marL="0">
                        <a:buNone/>
                      </a:pPr>
                      <a:r>
                        <a:rPr lang="en-US" sz="1100" dirty="0">
                          <a:solidFill>
                            <a:srgbClr val="1F2937"/>
                          </a:solidFill>
                        </a:rPr>
                        <a:t>로그인 </a:t>
                      </a:r>
                      <a:pPr indent="0" marL="0">
                        <a:buNone/>
                      </a:pPr>
                      <a:r>
                        <a:rPr lang="en-US" sz="1100" dirty="0">
                          <a:solidFill>
                            <a:srgbClr val="1F2937"/>
                          </a:solidFill>
                        </a:rPr>
                        <a:t>실패</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입력값 </a:t>
                      </a:r>
                      <a:pPr indent="0" marL="0">
                        <a:buNone/>
                      </a:pPr>
                      <a:r>
                        <a:rPr lang="en-US" sz="1100" dirty="0">
                          <a:solidFill>
                            <a:srgbClr val="1F2937"/>
                          </a:solidFill>
                        </a:rPr>
                        <a:t>오류 </a:t>
                      </a:r>
                      <a:pPr indent="0" marL="0">
                        <a:buNone/>
                      </a:pPr>
                      <a:r>
                        <a:rPr lang="en-US" sz="1100" dirty="0">
                          <a:solidFill>
                            <a:srgbClr val="1F2937"/>
                          </a:solidFill>
                        </a:rPr>
                        <a:t>또는 </a:t>
                      </a:r>
                      <a:pPr indent="0" marL="0">
                        <a:buNone/>
                      </a:pPr>
                      <a:r>
                        <a:rPr lang="en-US" sz="1100" dirty="0">
                          <a:solidFill>
                            <a:srgbClr val="1F2937"/>
                          </a:solidFill>
                        </a:rPr>
                        <a:t>인증 </a:t>
                      </a:r>
                      <a:pPr indent="0" marL="0">
                        <a:buNone/>
                      </a:pPr>
                      <a:r>
                        <a:rPr lang="en-US" sz="1100" dirty="0">
                          <a:solidFill>
                            <a:srgbClr val="1F2937"/>
                          </a:solidFill>
                        </a:rPr>
                        <a:t>처리 </a:t>
                      </a:r>
                      <a:pPr indent="0" marL="0">
                        <a:buNone/>
                      </a:pPr>
                      <a:r>
                        <a:rPr lang="en-US" sz="1100" dirty="0">
                          <a:solidFill>
                            <a:srgbClr val="1F2937"/>
                          </a:solidFill>
                        </a:rPr>
                        <a:t>문제. </a:t>
                      </a:r>
                      <a:pPr indent="0" marL="0">
                        <a:buNone/>
                      </a:pPr>
                      <a:r>
                        <a:rPr lang="en-US" sz="1100" dirty="0">
                          <a:solidFill>
                            <a:srgbClr val="1F2937"/>
                          </a:solidFill>
                        </a:rPr>
                        <a:t>세부 </a:t>
                      </a:r>
                      <a:pPr indent="0" marL="0">
                        <a:buNone/>
                      </a:pPr>
                      <a:r>
                        <a:rPr lang="en-US" sz="1100" dirty="0">
                          <a:solidFill>
                            <a:srgbClr val="1F2937"/>
                          </a:solidFill>
                        </a:rPr>
                        <a:t>원인은 </a:t>
                      </a:r>
                      <a:pPr indent="0" marL="0">
                        <a:buNone/>
                      </a:pPr>
                      <a:r>
                        <a:rPr lang="en-US" sz="1100" dirty="0">
                          <a:solidFill>
                            <a:srgbClr val="1F2937"/>
                          </a:solidFill>
                        </a:rPr>
                        <a:t>추정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미정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실패 </a:t>
                      </a:r>
                      <a:pPr indent="0" marL="0">
                        <a:buNone/>
                      </a:pPr>
                      <a:r>
                        <a:rPr lang="en-US" sz="1100" dirty="0">
                          <a:solidFill>
                            <a:srgbClr val="1F2937"/>
                          </a:solidFill>
                        </a:rPr>
                        <a:t>상태 </a:t>
                      </a:r>
                      <a:pPr indent="0" marL="0">
                        <a:buNone/>
                      </a:pPr>
                      <a:r>
                        <a:rPr lang="en-US" sz="1100" dirty="0">
                          <a:solidFill>
                            <a:srgbClr val="1F2937"/>
                          </a:solidFill>
                        </a:rPr>
                        <a:t>처리. </a:t>
                      </a:r>
                      <a:pPr indent="0" marL="0">
                        <a:buNone/>
                      </a:pPr>
                      <a:r>
                        <a:rPr lang="en-US" sz="1100" dirty="0">
                          <a:solidFill>
                            <a:srgbClr val="1F2937"/>
                          </a:solidFill>
                        </a:rPr>
                        <a:t>구체적인 </a:t>
                      </a:r>
                      <a:pPr indent="0" marL="0">
                        <a:buNone/>
                      </a:pPr>
                      <a:r>
                        <a:rPr lang="en-US" sz="1100" dirty="0">
                          <a:solidFill>
                            <a:srgbClr val="1F2937"/>
                          </a:solidFill>
                        </a:rPr>
                        <a:t>방식은 </a:t>
                      </a:r>
                      <a:pPr indent="0" marL="0">
                        <a:buNone/>
                      </a:pPr>
                      <a:r>
                        <a:rPr lang="en-US" sz="1100" dirty="0">
                          <a:solidFill>
                            <a:srgbClr val="1F2937"/>
                          </a:solidFill>
                        </a:rPr>
                        <a:t>추정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메시지 </a:t>
                      </a:r>
                      <a:pPr indent="0" marL="0">
                        <a:buNone/>
                      </a:pPr>
                      <a:r>
                        <a:rPr lang="en-US" sz="1100" dirty="0">
                          <a:solidFill>
                            <a:srgbClr val="1F2937"/>
                          </a:solidFill>
                        </a:rPr>
                        <a:t>내용 </a:t>
                      </a:r>
                      <a:pPr indent="0" marL="0">
                        <a:buNone/>
                      </a:pPr>
                      <a:r>
                        <a:rPr lang="en-US" sz="1100" dirty="0">
                          <a:solidFill>
                            <a:srgbClr val="1F2937"/>
                          </a:solidFill>
                        </a:rPr>
                        <a:t>추정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재입력·기타 </a:t>
                      </a:r>
                      <a:pPr indent="0" marL="0">
                        <a:buNone/>
                      </a:pPr>
                      <a:r>
                        <a:rPr lang="en-US" sz="1100" dirty="0">
                          <a:solidFill>
                            <a:srgbClr val="1F2937"/>
                          </a:solidFill>
                        </a:rPr>
                        <a:t>조치 </a:t>
                      </a:r>
                      <a:pPr indent="0" marL="0">
                        <a:buNone/>
                      </a:pPr>
                      <a:r>
                        <a:rPr lang="en-US" sz="1100" dirty="0">
                          <a:solidFill>
                            <a:srgbClr val="1F2937"/>
                          </a:solidFill>
                        </a:rPr>
                        <a:t>여부 </a:t>
                      </a:r>
                      <a:pPr indent="0" marL="0">
                        <a:buNone/>
                      </a:pPr>
                      <a:r>
                        <a:rPr lang="en-US" sz="1100" dirty="0">
                          <a:solidFill>
                            <a:srgbClr val="1F2937"/>
                          </a:solidFill>
                        </a:rPr>
                        <a:t>추정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로그인 </a:t>
                      </a:r>
                      <a:pPr indent="0" marL="0">
                        <a:buNone/>
                      </a:pPr>
                      <a:r>
                        <a:rPr lang="en-US" sz="1100" dirty="0">
                          <a:solidFill>
                            <a:srgbClr val="1F2937"/>
                          </a:solidFill>
                        </a:rPr>
                        <a:t>요청 </a:t>
                      </a:r>
                      <a:pPr indent="0" marL="0">
                        <a:buNone/>
                      </a:pPr>
                      <a:r>
                        <a:rPr lang="en-US" sz="1100" dirty="0">
                          <a:solidFill>
                            <a:srgbClr val="1F2937"/>
                          </a:solidFill>
                        </a:rPr>
                        <a:t>오류</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네트워크 </a:t>
                      </a:r>
                      <a:pPr indent="0" marL="0">
                        <a:buNone/>
                      </a:pPr>
                      <a:r>
                        <a:rPr lang="en-US" sz="1100" dirty="0">
                          <a:solidFill>
                            <a:srgbClr val="1F2937"/>
                          </a:solidFill>
                        </a:rPr>
                        <a:t>또는 </a:t>
                      </a:r>
                      <a:pPr indent="0" marL="0">
                        <a:buNone/>
                      </a:pPr>
                      <a:r>
                        <a:rPr lang="en-US" sz="1100" dirty="0">
                          <a:solidFill>
                            <a:srgbClr val="1F2937"/>
                          </a:solidFill>
                        </a:rPr>
                        <a:t>시스템 </a:t>
                      </a:r>
                      <a:pPr indent="0" marL="0">
                        <a:buNone/>
                      </a:pPr>
                      <a:r>
                        <a:rPr lang="en-US" sz="1100" dirty="0">
                          <a:solidFill>
                            <a:srgbClr val="1F2937"/>
                          </a:solidFill>
                        </a:rPr>
                        <a:t>오류 </a:t>
                      </a:r>
                      <a:pPr indent="0" marL="0">
                        <a:buNone/>
                      </a:pPr>
                      <a:r>
                        <a:rPr lang="en-US" sz="1100" dirty="0">
                          <a:solidFill>
                            <a:srgbClr val="1F2937"/>
                          </a:solidFill>
                        </a:rPr>
                        <a:t>가능성 </a:t>
                      </a:r>
                      <a:pPr indent="0" marL="0">
                        <a:buNone/>
                      </a:pPr>
                      <a:r>
                        <a:rPr lang="en-US" sz="1100" dirty="0">
                          <a:solidFill>
                            <a:srgbClr val="1F2937"/>
                          </a:solidFill>
                        </a:rPr>
                        <a:t>(가정)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미정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오류 </a:t>
                      </a:r>
                      <a:pPr indent="0" marL="0">
                        <a:buNone/>
                      </a:pPr>
                      <a:r>
                        <a:rPr lang="en-US" sz="1100" dirty="0">
                          <a:solidFill>
                            <a:srgbClr val="1F2937"/>
                          </a:solidFill>
                        </a:rPr>
                        <a:t>처리·재시도 </a:t>
                      </a:r>
                      <a:pPr indent="0" marL="0">
                        <a:buNone/>
                      </a:pPr>
                      <a:r>
                        <a:rPr lang="en-US" sz="1100" dirty="0">
                          <a:solidFill>
                            <a:srgbClr val="1F2937"/>
                          </a:solidFill>
                        </a:rPr>
                        <a:t>정책 </a:t>
                      </a:r>
                      <a:pPr indent="0" marL="0">
                        <a:buNone/>
                      </a:pPr>
                      <a:r>
                        <a:rPr lang="en-US" sz="1100" dirty="0">
                          <a:solidFill>
                            <a:srgbClr val="1F2937"/>
                          </a:solidFill>
                        </a:rPr>
                        <a:t>추정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메시지 </a:t>
                      </a:r>
                      <a:pPr indent="0" marL="0">
                        <a:buNone/>
                      </a:pPr>
                      <a:r>
                        <a:rPr lang="en-US" sz="1100" dirty="0">
                          <a:solidFill>
                            <a:srgbClr val="1F2937"/>
                          </a:solidFill>
                        </a:rPr>
                        <a:t>내용 </a:t>
                      </a:r>
                      <a:pPr indent="0" marL="0">
                        <a:buNone/>
                      </a:pPr>
                      <a:r>
                        <a:rPr lang="en-US" sz="1100" dirty="0">
                          <a:solidFill>
                            <a:srgbClr val="1F2937"/>
                          </a:solidFill>
                        </a:rPr>
                        <a:t>추정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재시도 </a:t>
                      </a:r>
                      <a:pPr indent="0" marL="0">
                        <a:buNone/>
                      </a:pPr>
                      <a:r>
                        <a:rPr lang="en-US" sz="1100" dirty="0">
                          <a:solidFill>
                            <a:srgbClr val="1F2937"/>
                          </a:solidFill>
                        </a:rPr>
                        <a:t>가능 </a:t>
                      </a:r>
                      <a:pPr indent="0" marL="0">
                        <a:buNone/>
                      </a:pPr>
                      <a:r>
                        <a:rPr lang="en-US" sz="1100" dirty="0">
                          <a:solidFill>
                            <a:srgbClr val="1F2937"/>
                          </a:solidFill>
                        </a:rPr>
                        <a:t>여부 </a:t>
                      </a:r>
                      <a:pPr indent="0" marL="0">
                        <a:buNone/>
                      </a:pPr>
                      <a:r>
                        <a:rPr lang="en-US" sz="1100" dirty="0">
                          <a:solidFill>
                            <a:srgbClr val="1F2937"/>
                          </a:solidFill>
                        </a:rPr>
                        <a:t>추정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생성 </a:t>
                      </a:r>
                      <a:pPr indent="0" marL="0">
                        <a:buNone/>
                      </a:pPr>
                      <a:r>
                        <a:rPr lang="en-US" sz="1100" dirty="0">
                          <a:solidFill>
                            <a:srgbClr val="1F2937"/>
                          </a:solidFill>
                        </a:rPr>
                        <a:t>중 </a:t>
                      </a:r>
                      <a:pPr indent="0" marL="0">
                        <a:buNone/>
                      </a:pPr>
                      <a:r>
                        <a:rPr lang="en-US" sz="1100" dirty="0">
                          <a:solidFill>
                            <a:srgbClr val="1F2937"/>
                          </a:solidFill>
                        </a:rPr>
                        <a:t>화면 </a:t>
                      </a:r>
                      <a:pPr indent="0" marL="0">
                        <a:buNone/>
                      </a:pPr>
                      <a:r>
                        <a:rPr lang="en-US" sz="1100" dirty="0">
                          <a:solidFill>
                            <a:srgbClr val="1F2937"/>
                          </a:solidFill>
                        </a:rPr>
                        <a:t>이탈</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화면을 </a:t>
                      </a:r>
                      <a:pPr indent="0" marL="0">
                        <a:buNone/>
                      </a:pPr>
                      <a:r>
                        <a:rPr lang="en-US" sz="1100" dirty="0">
                          <a:solidFill>
                            <a:srgbClr val="1F2937"/>
                          </a:solidFill>
                        </a:rPr>
                        <a:t>나가면 </a:t>
                      </a:r>
                      <a:pPr indent="0" marL="0">
                        <a:buNone/>
                      </a:pPr>
                      <a:r>
                        <a:rPr lang="en-US" sz="1100" dirty="0">
                          <a:solidFill>
                            <a:srgbClr val="1F2937"/>
                          </a:solidFill>
                        </a:rPr>
                        <a:t>생성이 </a:t>
                      </a:r>
                      <a:pPr indent="0" marL="0">
                        <a:buNone/>
                      </a:pPr>
                      <a:r>
                        <a:rPr lang="en-US" sz="1100" dirty="0">
                          <a:solidFill>
                            <a:srgbClr val="1F2937"/>
                          </a:solidFill>
                        </a:rPr>
                        <a:t>멈출 </a:t>
                      </a:r>
                      <a:pPr indent="0" marL="0">
                        <a:buNone/>
                      </a:pPr>
                      <a:r>
                        <a:rPr lang="en-US" sz="1100" dirty="0">
                          <a:solidFill>
                            <a:srgbClr val="1F2937"/>
                          </a:solidFill>
                        </a:rPr>
                        <a:t>수 </a:t>
                      </a:r>
                      <a:pPr indent="0" marL="0">
                        <a:buNone/>
                      </a:pPr>
                      <a:r>
                        <a:rPr lang="en-US" sz="1100" dirty="0">
                          <a:solidFill>
                            <a:srgbClr val="1F2937"/>
                          </a:solidFill>
                        </a:rPr>
                        <a:t>있다는 </a:t>
                      </a:r>
                      <a:pPr indent="0" marL="0">
                        <a:buNone/>
                      </a:pPr>
                      <a:r>
                        <a:rPr lang="en-US" sz="1100" dirty="0">
                          <a:solidFill>
                            <a:srgbClr val="1F2937"/>
                          </a:solidFill>
                        </a:rPr>
                        <a:t>우려가 </a:t>
                      </a:r>
                      <a:pPr indent="0" marL="0">
                        <a:buNone/>
                      </a:pPr>
                      <a:r>
                        <a:rPr lang="en-US" sz="1100" dirty="0">
                          <a:solidFill>
                            <a:srgbClr val="1F2937"/>
                          </a:solidFill>
                        </a:rPr>
                        <a:t>제기됨</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미정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완료된 </a:t>
                      </a:r>
                      <a:pPr indent="0" marL="0">
                        <a:buNone/>
                      </a:pPr>
                      <a:r>
                        <a:rPr lang="en-US" sz="1100" dirty="0">
                          <a:solidFill>
                            <a:srgbClr val="1F2937"/>
                          </a:solidFill>
                        </a:rPr>
                        <a:t>섹션을 </a:t>
                      </a:r>
                      <a:pPr indent="0" marL="0">
                        <a:buNone/>
                      </a:pPr>
                      <a:r>
                        <a:rPr lang="en-US" sz="1100" dirty="0">
                          <a:solidFill>
                            <a:srgbClr val="1F2937"/>
                          </a:solidFill>
                        </a:rPr>
                        <a:t>기기에 </a:t>
                      </a:r>
                      <a:pPr indent="0" marL="0">
                        <a:buNone/>
                      </a:pPr>
                      <a:r>
                        <a:rPr lang="en-US" sz="1100" dirty="0">
                          <a:solidFill>
                            <a:srgbClr val="1F2937"/>
                          </a:solidFill>
                        </a:rPr>
                        <a:t>저장하고 </a:t>
                      </a:r>
                      <a:pPr indent="0" marL="0">
                        <a:buNone/>
                      </a:pPr>
                      <a:r>
                        <a:rPr lang="en-US" sz="1100" dirty="0">
                          <a:solidFill>
                            <a:srgbClr val="1F2937"/>
                          </a:solidFill>
                        </a:rPr>
                        <a:t>복귀 </a:t>
                      </a:r>
                      <a:pPr indent="0" marL="0">
                        <a:buNone/>
                      </a:pPr>
                      <a:r>
                        <a:rPr lang="en-US" sz="1100" dirty="0">
                          <a:solidFill>
                            <a:srgbClr val="1F2937"/>
                          </a:solidFill>
                        </a:rPr>
                        <a:t>시 </a:t>
                      </a:r>
                      <a:pPr indent="0" marL="0">
                        <a:buNone/>
                      </a:pPr>
                      <a:r>
                        <a:rPr lang="en-US" sz="1100" dirty="0">
                          <a:solidFill>
                            <a:srgbClr val="1F2937"/>
                          </a:solidFill>
                        </a:rPr>
                        <a:t>이어서 </a:t>
                      </a:r>
                      <a:pPr indent="0" marL="0">
                        <a:buNone/>
                      </a:pPr>
                      <a:r>
                        <a:rPr lang="en-US" sz="1100" dirty="0">
                          <a:solidFill>
                            <a:srgbClr val="1F2937"/>
                          </a:solidFill>
                        </a:rPr>
                        <a:t>생성</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안내 </a:t>
                      </a:r>
                      <a:pPr indent="0" marL="0">
                        <a:buNone/>
                      </a:pPr>
                      <a:r>
                        <a:rPr lang="en-US" sz="1100" dirty="0">
                          <a:solidFill>
                            <a:srgbClr val="1F2937"/>
                          </a:solidFill>
                        </a:rPr>
                        <a:t>문구 </a:t>
                      </a:r>
                      <a:pPr indent="0" marL="0">
                        <a:buNone/>
                      </a:pPr>
                      <a:r>
                        <a:rPr lang="en-US" sz="1100" dirty="0">
                          <a:solidFill>
                            <a:srgbClr val="1F2937"/>
                          </a:solidFill>
                        </a:rPr>
                        <a:t>추정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저장된 </a:t>
                      </a:r>
                      <a:pPr indent="0" marL="0">
                        <a:buNone/>
                      </a:pPr>
                      <a:r>
                        <a:rPr lang="en-US" sz="1100" dirty="0">
                          <a:solidFill>
                            <a:srgbClr val="1F2937"/>
                          </a:solidFill>
                        </a:rPr>
                        <a:t>섹션을 </a:t>
                      </a:r>
                      <a:pPr indent="0" marL="0">
                        <a:buNone/>
                      </a:pPr>
                      <a:r>
                        <a:rPr lang="en-US" sz="1100" dirty="0">
                          <a:solidFill>
                            <a:srgbClr val="1F2937"/>
                          </a:solidFill>
                        </a:rPr>
                        <a:t>재사용해 </a:t>
                      </a:r>
                      <a:pPr indent="0" marL="0">
                        <a:buNone/>
                      </a:pPr>
                      <a:r>
                        <a:rPr lang="en-US" sz="1100" dirty="0">
                          <a:solidFill>
                            <a:srgbClr val="1F2937"/>
                          </a:solidFill>
                        </a:rPr>
                        <a:t>이어서 </a:t>
                      </a:r>
                      <a:pPr indent="0" marL="0">
                        <a:buNone/>
                      </a:pPr>
                      <a:r>
                        <a:rPr lang="en-US" sz="1100" dirty="0">
                          <a:solidFill>
                            <a:srgbClr val="1F2937"/>
                          </a:solidFill>
                        </a:rPr>
                        <a:t>생성</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기기 </a:t>
                      </a:r>
                      <a:pPr indent="0" marL="0">
                        <a:buNone/>
                      </a:pPr>
                      <a:r>
                        <a:rPr lang="en-US" sz="1100" dirty="0">
                          <a:solidFill>
                            <a:srgbClr val="1F2937"/>
                          </a:solidFill>
                        </a:rPr>
                        <a:t>저장 </a:t>
                      </a:r>
                      <a:pPr indent="0" marL="0">
                        <a:buNone/>
                      </a:pPr>
                      <a:r>
                        <a:rPr lang="en-US" sz="1100" dirty="0">
                          <a:solidFill>
                            <a:srgbClr val="1F2937"/>
                          </a:solidFill>
                        </a:rPr>
                        <a:t>실패</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저장 </a:t>
                      </a:r>
                      <a:pPr indent="0" marL="0">
                        <a:buNone/>
                      </a:pPr>
                      <a:r>
                        <a:rPr lang="en-US" sz="1100" dirty="0">
                          <a:solidFill>
                            <a:srgbClr val="1F2937"/>
                          </a:solidFill>
                        </a:rPr>
                        <a:t>실패 </a:t>
                      </a:r>
                      <a:pPr indent="0" marL="0">
                        <a:buNone/>
                      </a:pPr>
                      <a:r>
                        <a:rPr lang="en-US" sz="1100" dirty="0">
                          <a:solidFill>
                            <a:srgbClr val="1F2937"/>
                          </a:solidFill>
                        </a:rPr>
                        <a:t>가능성에 </a:t>
                      </a:r>
                      <a:pPr indent="0" marL="0">
                        <a:buNone/>
                      </a:pPr>
                      <a:r>
                        <a:rPr lang="en-US" sz="1100" dirty="0">
                          <a:solidFill>
                            <a:srgbClr val="1F2937"/>
                          </a:solidFill>
                        </a:rPr>
                        <a:t>대한 </a:t>
                      </a:r>
                      <a:pPr indent="0" marL="0">
                        <a:buNone/>
                      </a:pPr>
                      <a:r>
                        <a:rPr lang="en-US" sz="1100" dirty="0">
                          <a:solidFill>
                            <a:srgbClr val="1F2937"/>
                          </a:solidFill>
                        </a:rPr>
                        <a:t>세부 </a:t>
                      </a:r>
                      <a:pPr indent="0" marL="0">
                        <a:buNone/>
                      </a:pPr>
                      <a:r>
                        <a:rPr lang="en-US" sz="1100" dirty="0">
                          <a:solidFill>
                            <a:srgbClr val="1F2937"/>
                          </a:solidFill>
                        </a:rPr>
                        <a:t>처리는 </a:t>
                      </a:r>
                      <a:pPr indent="0" marL="0">
                        <a:buNone/>
                      </a:pPr>
                      <a:r>
                        <a:rPr lang="en-US" sz="1100" dirty="0">
                          <a:solidFill>
                            <a:srgbClr val="1F2937"/>
                          </a:solidFill>
                        </a:rPr>
                        <a:t>미정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미정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저장 </a:t>
                      </a:r>
                      <a:pPr indent="0" marL="0">
                        <a:buNone/>
                      </a:pPr>
                      <a:r>
                        <a:rPr lang="en-US" sz="1100" dirty="0">
                          <a:solidFill>
                            <a:srgbClr val="1F2937"/>
                          </a:solidFill>
                        </a:rPr>
                        <a:t>확인·실패 </a:t>
                      </a:r>
                      <a:pPr indent="0" marL="0">
                        <a:buNone/>
                      </a:pPr>
                      <a:r>
                        <a:rPr lang="en-US" sz="1100" dirty="0">
                          <a:solidFill>
                            <a:srgbClr val="1F2937"/>
                          </a:solidFill>
                        </a:rPr>
                        <a:t>복구 </a:t>
                      </a:r>
                      <a:pPr indent="0" marL="0">
                        <a:buNone/>
                      </a:pPr>
                      <a:r>
                        <a:rPr lang="en-US" sz="1100" dirty="0">
                          <a:solidFill>
                            <a:srgbClr val="1F2937"/>
                          </a:solidFill>
                        </a:rPr>
                        <a:t>방식 </a:t>
                      </a:r>
                      <a:pPr indent="0" marL="0">
                        <a:buNone/>
                      </a:pPr>
                      <a:r>
                        <a:rPr lang="en-US" sz="1100" dirty="0">
                          <a:solidFill>
                            <a:srgbClr val="1F2937"/>
                          </a:solidFill>
                        </a:rPr>
                        <a:t>추정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메시지 </a:t>
                      </a:r>
                      <a:pPr indent="0" marL="0">
                        <a:buNone/>
                      </a:pPr>
                      <a:r>
                        <a:rPr lang="en-US" sz="1100" dirty="0">
                          <a:solidFill>
                            <a:srgbClr val="1F2937"/>
                          </a:solidFill>
                        </a:rPr>
                        <a:t>내용 </a:t>
                      </a:r>
                      <a:pPr indent="0" marL="0">
                        <a:buNone/>
                      </a:pPr>
                      <a:r>
                        <a:rPr lang="en-US" sz="1100" dirty="0">
                          <a:solidFill>
                            <a:srgbClr val="1F2937"/>
                          </a:solidFill>
                        </a:rPr>
                        <a:t>추정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재생성 </a:t>
                      </a:r>
                      <a:pPr indent="0" marL="0">
                        <a:buNone/>
                      </a:pPr>
                      <a:r>
                        <a:rPr lang="en-US" sz="1100" dirty="0">
                          <a:solidFill>
                            <a:srgbClr val="1F2937"/>
                          </a:solidFill>
                        </a:rPr>
                        <a:t>또는 </a:t>
                      </a:r>
                      <a:pPr indent="0" marL="0">
                        <a:buNone/>
                      </a:pPr>
                      <a:r>
                        <a:rPr lang="en-US" sz="1100" dirty="0">
                          <a:solidFill>
                            <a:srgbClr val="1F2937"/>
                          </a:solidFill>
                        </a:rPr>
                        <a:t>재시도 </a:t>
                      </a:r>
                      <a:pPr indent="0" marL="0">
                        <a:buNone/>
                      </a:pPr>
                      <a:r>
                        <a:rPr lang="en-US" sz="1100" dirty="0">
                          <a:solidFill>
                            <a:srgbClr val="1F2937"/>
                          </a:solidFill>
                        </a:rPr>
                        <a:t>방식 </a:t>
                      </a:r>
                      <a:pPr indent="0" marL="0">
                        <a:buNone/>
                      </a:pPr>
                      <a:r>
                        <a:rPr lang="en-US" sz="1100" dirty="0">
                          <a:solidFill>
                            <a:srgbClr val="1F2937"/>
                          </a:solidFill>
                        </a:rPr>
                        <a:t>추정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생성 </a:t>
                      </a:r>
                      <a:pPr indent="0" marL="0">
                        <a:buNone/>
                      </a:pPr>
                      <a:r>
                        <a:rPr lang="en-US" sz="1100" dirty="0">
                          <a:solidFill>
                            <a:srgbClr val="1F2937"/>
                          </a:solidFill>
                        </a:rPr>
                        <a:t>취소 </a:t>
                      </a:r>
                      <a:pPr indent="0" marL="0">
                        <a:buNone/>
                      </a:pPr>
                      <a:r>
                        <a:rPr lang="en-US" sz="1100" dirty="0">
                          <a:solidFill>
                            <a:srgbClr val="1F2937"/>
                          </a:solidFill>
                        </a:rPr>
                        <a:t>후 </a:t>
                      </a:r>
                      <a:pPr indent="0" marL="0">
                        <a:buNone/>
                      </a:pPr>
                      <a:r>
                        <a:rPr lang="en-US" sz="1100" dirty="0">
                          <a:solidFill>
                            <a:srgbClr val="1F2937"/>
                          </a:solidFill>
                        </a:rPr>
                        <a:t>이전 </a:t>
                      </a:r>
                      <a:pPr indent="0" marL="0">
                        <a:buNone/>
                      </a:pPr>
                      <a:r>
                        <a:rPr lang="en-US" sz="1100" dirty="0">
                          <a:solidFill>
                            <a:srgbClr val="1F2937"/>
                          </a:solidFill>
                        </a:rPr>
                        <a:t>응답 </a:t>
                      </a:r>
                      <a:pPr indent="0" marL="0">
                        <a:buNone/>
                      </a:pPr>
                      <a:r>
                        <a:rPr lang="en-US" sz="1100" dirty="0">
                          <a:solidFill>
                            <a:srgbClr val="1F2937"/>
                          </a:solidFill>
                        </a:rPr>
                        <a:t>도착</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취소 </a:t>
                      </a:r>
                      <a:pPr indent="0" marL="0">
                        <a:buNone/>
                      </a:pPr>
                      <a:r>
                        <a:rPr lang="en-US" sz="1100" dirty="0">
                          <a:solidFill>
                            <a:srgbClr val="1F2937"/>
                          </a:solidFill>
                        </a:rPr>
                        <a:t>이전 </a:t>
                      </a:r>
                      <a:pPr indent="0" marL="0">
                        <a:buNone/>
                      </a:pPr>
                      <a:r>
                        <a:rPr lang="en-US" sz="1100" dirty="0">
                          <a:solidFill>
                            <a:srgbClr val="1F2937"/>
                          </a:solidFill>
                        </a:rPr>
                        <a:t>요청의 </a:t>
                      </a:r>
                      <a:pPr indent="0" marL="0">
                        <a:buNone/>
                      </a:pPr>
                      <a:r>
                        <a:rPr lang="en-US" sz="1100" dirty="0">
                          <a:solidFill>
                            <a:srgbClr val="1F2937"/>
                          </a:solidFill>
                        </a:rPr>
                        <a:t>응답이 </a:t>
                      </a:r>
                      <a:pPr indent="0" marL="0">
                        <a:buNone/>
                      </a:pPr>
                      <a:r>
                        <a:rPr lang="en-US" sz="1100" dirty="0">
                          <a:solidFill>
                            <a:srgbClr val="1F2937"/>
                          </a:solidFill>
                        </a:rPr>
                        <a:t>취소 </a:t>
                      </a:r>
                      <a:pPr indent="0" marL="0">
                        <a:buNone/>
                      </a:pPr>
                      <a:r>
                        <a:rPr lang="en-US" sz="1100" dirty="0">
                          <a:solidFill>
                            <a:srgbClr val="1F2937"/>
                          </a:solidFill>
                        </a:rPr>
                        <a:t>뒤 </a:t>
                      </a:r>
                      <a:pPr indent="0" marL="0">
                        <a:buNone/>
                      </a:pPr>
                      <a:r>
                        <a:rPr lang="en-US" sz="1100" dirty="0">
                          <a:solidFill>
                            <a:srgbClr val="1F2937"/>
                          </a:solidFill>
                        </a:rPr>
                        <a:t>도착할 </a:t>
                      </a:r>
                      <a:pPr indent="0" marL="0">
                        <a:buNone/>
                      </a:pPr>
                      <a:r>
                        <a:rPr lang="en-US" sz="1100" dirty="0">
                          <a:solidFill>
                            <a:srgbClr val="1F2937"/>
                          </a:solidFill>
                        </a:rPr>
                        <a:t>수 </a:t>
                      </a:r>
                      <a:pPr indent="0" marL="0">
                        <a:buNone/>
                      </a:pPr>
                      <a:r>
                        <a:rPr lang="en-US" sz="1100" dirty="0">
                          <a:solidFill>
                            <a:srgbClr val="1F2937"/>
                          </a:solidFill>
                        </a:rPr>
                        <a:t>있음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미정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이전 </a:t>
                      </a:r>
                      <a:pPr indent="0" marL="0">
                        <a:buNone/>
                      </a:pPr>
                      <a:r>
                        <a:rPr lang="en-US" sz="1100" dirty="0">
                          <a:solidFill>
                            <a:srgbClr val="1F2937"/>
                          </a:solidFill>
                        </a:rPr>
                        <a:t>응답을 </a:t>
                      </a:r>
                      <a:pPr indent="0" marL="0">
                        <a:buNone/>
                      </a:pPr>
                      <a:r>
                        <a:rPr lang="en-US" sz="1100" dirty="0">
                          <a:solidFill>
                            <a:srgbClr val="1F2937"/>
                          </a:solidFill>
                        </a:rPr>
                        <a:t>무시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취소 </a:t>
                      </a:r>
                      <a:pPr indent="0" marL="0">
                        <a:buNone/>
                      </a:pPr>
                      <a:r>
                        <a:rPr lang="en-US" sz="1100" dirty="0">
                          <a:solidFill>
                            <a:srgbClr val="1F2937"/>
                          </a:solidFill>
                        </a:rPr>
                        <a:t>상태 </a:t>
                      </a:r>
                      <a:pPr indent="0" marL="0">
                        <a:buNone/>
                      </a:pPr>
                      <a:r>
                        <a:rPr lang="en-US" sz="1100" dirty="0">
                          <a:solidFill>
                            <a:srgbClr val="1F2937"/>
                          </a:solidFill>
                        </a:rPr>
                        <a:t>표시 </a:t>
                      </a:r>
                      <a:pPr indent="0" marL="0">
                        <a:buNone/>
                      </a:pPr>
                      <a:r>
                        <a:rPr lang="en-US" sz="1100" dirty="0">
                          <a:solidFill>
                            <a:srgbClr val="1F2937"/>
                          </a:solidFill>
                        </a:rPr>
                        <a:t>방식 </a:t>
                      </a:r>
                      <a:pPr indent="0" marL="0">
                        <a:buNone/>
                      </a:pPr>
                      <a:r>
                        <a:rPr lang="en-US" sz="1100" dirty="0">
                          <a:solidFill>
                            <a:srgbClr val="1F2937"/>
                          </a:solidFill>
                        </a:rPr>
                        <a:t>추정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현재 </a:t>
                      </a:r>
                      <a:pPr indent="0" marL="0">
                        <a:buNone/>
                      </a:pPr>
                      <a:r>
                        <a:rPr lang="en-US" sz="1100" dirty="0">
                          <a:solidFill>
                            <a:srgbClr val="1F2937"/>
                          </a:solidFill>
                        </a:rPr>
                        <a:t>생성 </a:t>
                      </a:r>
                      <a:pPr indent="0" marL="0">
                        <a:buNone/>
                      </a:pPr>
                      <a:r>
                        <a:rPr lang="en-US" sz="1100" dirty="0">
                          <a:solidFill>
                            <a:srgbClr val="1F2937"/>
                          </a:solidFill>
                        </a:rPr>
                        <a:t>상태와 </a:t>
                      </a:r>
                      <a:pPr indent="0" marL="0">
                        <a:buNone/>
                      </a:pPr>
                      <a:r>
                        <a:rPr lang="en-US" sz="1100" dirty="0">
                          <a:solidFill>
                            <a:srgbClr val="1F2937"/>
                          </a:solidFill>
                        </a:rPr>
                        <a:t>저장 </a:t>
                      </a:r>
                      <a:pPr indent="0" marL="0">
                        <a:buNone/>
                      </a:pPr>
                      <a:r>
                        <a:rPr lang="en-US" sz="1100" dirty="0">
                          <a:solidFill>
                            <a:srgbClr val="1F2937"/>
                          </a:solidFill>
                        </a:rPr>
                        <a:t>섹션을 </a:t>
                      </a:r>
                      <a:pPr indent="0" marL="0">
                        <a:buNone/>
                      </a:pPr>
                      <a:r>
                        <a:rPr lang="en-US" sz="1100" dirty="0">
                          <a:solidFill>
                            <a:srgbClr val="1F2937"/>
                          </a:solidFill>
                        </a:rPr>
                        <a:t>기준으로 </a:t>
                      </a:r>
                      <a:pPr indent="0" marL="0">
                        <a:buNone/>
                      </a:pPr>
                      <a:r>
                        <a:rPr lang="en-US" sz="1100" dirty="0">
                          <a:solidFill>
                            <a:srgbClr val="1F2937"/>
                          </a:solidFill>
                        </a:rPr>
                        <a:t>처리</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문서 </a:t>
                      </a:r>
                      <a:pPr indent="0" marL="0">
                        <a:buNone/>
                      </a:pPr>
                      <a:r>
                        <a:rPr lang="en-US" sz="1100" dirty="0">
                          <a:solidFill>
                            <a:srgbClr val="1F2937"/>
                          </a:solidFill>
                        </a:rPr>
                        <a:t>생성 </a:t>
                      </a:r>
                      <a:pPr indent="0" marL="0">
                        <a:buNone/>
                      </a:pPr>
                      <a:r>
                        <a:rPr lang="en-US" sz="1100" dirty="0">
                          <a:solidFill>
                            <a:srgbClr val="1F2937"/>
                          </a:solidFill>
                        </a:rPr>
                        <a:t>오류</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오류 </a:t>
                      </a:r>
                      <a:pPr indent="0" marL="0">
                        <a:buNone/>
                      </a:pPr>
                      <a:r>
                        <a:rPr lang="en-US" sz="1100" dirty="0">
                          <a:solidFill>
                            <a:srgbClr val="1F2937"/>
                          </a:solidFill>
                        </a:rPr>
                        <a:t>원인 </a:t>
                      </a:r>
                      <a:pPr indent="0" marL="0">
                        <a:buNone/>
                      </a:pPr>
                      <a:r>
                        <a:rPr lang="en-US" sz="1100" dirty="0">
                          <a:solidFill>
                            <a:srgbClr val="1F2937"/>
                          </a:solidFill>
                        </a:rPr>
                        <a:t>및 </a:t>
                      </a:r>
                      <a:pPr indent="0" marL="0">
                        <a:buNone/>
                      </a:pPr>
                      <a:r>
                        <a:rPr lang="en-US" sz="1100" dirty="0">
                          <a:solidFill>
                            <a:srgbClr val="1F2937"/>
                          </a:solidFill>
                        </a:rPr>
                        <a:t>세부 </a:t>
                      </a:r>
                      <a:pPr indent="0" marL="0">
                        <a:buNone/>
                      </a:pPr>
                      <a:r>
                        <a:rPr lang="en-US" sz="1100" dirty="0">
                          <a:solidFill>
                            <a:srgbClr val="1F2937"/>
                          </a:solidFill>
                        </a:rPr>
                        <a:t>대응 </a:t>
                      </a:r>
                      <a:pPr indent="0" marL="0">
                        <a:buNone/>
                      </a:pPr>
                      <a:r>
                        <a:rPr lang="en-US" sz="1100" dirty="0">
                          <a:solidFill>
                            <a:srgbClr val="1F2937"/>
                          </a:solidFill>
                        </a:rPr>
                        <a:t>미정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미정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오류 </a:t>
                      </a:r>
                      <a:pPr indent="0" marL="0">
                        <a:buNone/>
                      </a:pPr>
                      <a:r>
                        <a:rPr lang="en-US" sz="1100" dirty="0">
                          <a:solidFill>
                            <a:srgbClr val="1F2937"/>
                          </a:solidFill>
                        </a:rPr>
                        <a:t>분류·재시도 </a:t>
                      </a:r>
                      <a:pPr indent="0" marL="0">
                        <a:buNone/>
                      </a:pPr>
                      <a:r>
                        <a:rPr lang="en-US" sz="1100" dirty="0">
                          <a:solidFill>
                            <a:srgbClr val="1F2937"/>
                          </a:solidFill>
                        </a:rPr>
                        <a:t>범위 </a:t>
                      </a:r>
                      <a:pPr indent="0" marL="0">
                        <a:buNone/>
                      </a:pPr>
                      <a:r>
                        <a:rPr lang="en-US" sz="1100" dirty="0">
                          <a:solidFill>
                            <a:srgbClr val="1F2937"/>
                          </a:solidFill>
                        </a:rPr>
                        <a:t>추정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메시지 </a:t>
                      </a:r>
                      <a:pPr indent="0" marL="0">
                        <a:buNone/>
                      </a:pPr>
                      <a:r>
                        <a:rPr lang="en-US" sz="1100" dirty="0">
                          <a:solidFill>
                            <a:srgbClr val="1F2937"/>
                          </a:solidFill>
                        </a:rPr>
                        <a:t>내용 </a:t>
                      </a:r>
                      <a:pPr indent="0" marL="0">
                        <a:buNone/>
                      </a:pPr>
                      <a:r>
                        <a:rPr lang="en-US" sz="1100" dirty="0">
                          <a:solidFill>
                            <a:srgbClr val="1F2937"/>
                          </a:solidFill>
                        </a:rPr>
                        <a:t>추정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저장된 </a:t>
                      </a:r>
                      <a:pPr indent="0" marL="0">
                        <a:buNone/>
                      </a:pPr>
                      <a:r>
                        <a:rPr lang="en-US" sz="1100" dirty="0">
                          <a:solidFill>
                            <a:srgbClr val="1F2937"/>
                          </a:solidFill>
                        </a:rPr>
                        <a:t>섹션 </a:t>
                      </a:r>
                      <a:pPr indent="0" marL="0">
                        <a:buNone/>
                      </a:pPr>
                      <a:r>
                        <a:rPr lang="en-US" sz="1100" dirty="0">
                          <a:solidFill>
                            <a:srgbClr val="1F2937"/>
                          </a:solidFill>
                        </a:rPr>
                        <a:t>재사용 </a:t>
                      </a:r>
                      <a:pPr indent="0" marL="0">
                        <a:buNone/>
                      </a:pPr>
                      <a:r>
                        <a:rPr lang="en-US" sz="1100" dirty="0">
                          <a:solidFill>
                            <a:srgbClr val="1F2937"/>
                          </a:solidFill>
                        </a:rPr>
                        <a:t>여부를 </a:t>
                      </a:r>
                      <a:pPr indent="0" marL="0">
                        <a:buNone/>
                      </a:pPr>
                      <a:r>
                        <a:rPr lang="en-US" sz="1100" dirty="0">
                          <a:solidFill>
                            <a:srgbClr val="1F2937"/>
                          </a:solidFill>
                        </a:rPr>
                        <a:t>포함해 </a:t>
                      </a:r>
                      <a:pPr indent="0" marL="0">
                        <a:buNone/>
                      </a:pPr>
                      <a:r>
                        <a:rPr lang="en-US" sz="1100" dirty="0">
                          <a:solidFill>
                            <a:srgbClr val="1F2937"/>
                          </a:solidFill>
                        </a:rPr>
                        <a:t>설계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내려받은 </a:t>
                      </a:r>
                      <a:pPr indent="0" marL="0">
                        <a:buNone/>
                      </a:pPr>
                      <a:r>
                        <a:rPr lang="en-US" sz="1100" dirty="0">
                          <a:solidFill>
                            <a:srgbClr val="1F2937"/>
                          </a:solidFill>
                        </a:rPr>
                        <a:t>문서에서 </a:t>
                      </a:r>
                      <a:pPr indent="0" marL="0">
                        <a:buNone/>
                      </a:pPr>
                      <a:r>
                        <a:rPr lang="en-US" sz="1100" dirty="0">
                          <a:solidFill>
                            <a:srgbClr val="1F2937"/>
                          </a:solidFill>
                        </a:rPr>
                        <a:t>표 </a:t>
                      </a:r>
                      <a:pPr indent="0" marL="0">
                        <a:buNone/>
                      </a:pPr>
                      <a:r>
                        <a:rPr lang="en-US" sz="1100" dirty="0">
                          <a:solidFill>
                            <a:srgbClr val="1F2937"/>
                          </a:solidFill>
                        </a:rPr>
                        <a:t>누락</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내보내기 </a:t>
                      </a:r>
                      <a:pPr indent="0" marL="0">
                        <a:buNone/>
                      </a:pPr>
                      <a:r>
                        <a:rPr lang="en-US" sz="1100" dirty="0">
                          <a:solidFill>
                            <a:srgbClr val="1F2937"/>
                          </a:solidFill>
                        </a:rPr>
                        <a:t>결과 </a:t>
                      </a:r>
                      <a:pPr indent="0" marL="0">
                        <a:buNone/>
                      </a:pPr>
                      <a:r>
                        <a:rPr lang="en-US" sz="1100" dirty="0">
                          <a:solidFill>
                            <a:srgbClr val="1F2937"/>
                          </a:solidFill>
                        </a:rPr>
                        <a:t>검증 </a:t>
                      </a:r>
                      <a:pPr indent="0" marL="0">
                        <a:buNone/>
                      </a:pPr>
                      <a:r>
                        <a:rPr lang="en-US" sz="1100" dirty="0">
                          <a:solidFill>
                            <a:srgbClr val="1F2937"/>
                          </a:solidFill>
                        </a:rPr>
                        <a:t>중 </a:t>
                      </a:r>
                      <a:pPr indent="0" marL="0">
                        <a:buNone/>
                      </a:pPr>
                      <a:r>
                        <a:rPr lang="en-US" sz="1100" dirty="0">
                          <a:solidFill>
                            <a:srgbClr val="1F2937"/>
                          </a:solidFill>
                        </a:rPr>
                        <a:t>발견 </a:t>
                      </a:r>
                      <a:pPr indent="0" marL="0">
                        <a:buNone/>
                      </a:pPr>
                      <a:r>
                        <a:rPr lang="en-US" sz="1100" dirty="0">
                          <a:solidFill>
                            <a:srgbClr val="1F2937"/>
                          </a:solidFill>
                        </a:rPr>
                        <a:t>가능</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미정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누락 </a:t>
                      </a:r>
                      <a:pPr indent="0" marL="0">
                        <a:buNone/>
                      </a:pPr>
                      <a:r>
                        <a:rPr lang="en-US" sz="1100" dirty="0">
                          <a:solidFill>
                            <a:srgbClr val="1F2937"/>
                          </a:solidFill>
                        </a:rPr>
                        <a:t>여부 </a:t>
                      </a:r>
                      <a:pPr indent="0" marL="0">
                        <a:buNone/>
                      </a:pPr>
                      <a:r>
                        <a:rPr lang="en-US" sz="1100" dirty="0">
                          <a:solidFill>
                            <a:srgbClr val="1F2937"/>
                          </a:solidFill>
                        </a:rPr>
                        <a:t>확인 </a:t>
                      </a:r>
                      <a:pPr indent="0" marL="0">
                        <a:buNone/>
                      </a:pPr>
                      <a:r>
                        <a:rPr lang="en-US" sz="1100" dirty="0">
                          <a:solidFill>
                            <a:srgbClr val="1F2937"/>
                          </a:solidFill>
                        </a:rPr>
                        <a:t>후 </a:t>
                      </a:r>
                      <a:pPr indent="0" marL="0">
                        <a:buNone/>
                      </a:pPr>
                      <a:r>
                        <a:rPr lang="en-US" sz="1100" dirty="0">
                          <a:solidFill>
                            <a:srgbClr val="1F2937"/>
                          </a:solidFill>
                        </a:rPr>
                        <a:t>수정. </a:t>
                      </a:r>
                      <a:pPr indent="0" marL="0">
                        <a:buNone/>
                      </a:pPr>
                      <a:r>
                        <a:rPr lang="en-US" sz="1100" dirty="0">
                          <a:solidFill>
                            <a:srgbClr val="1F2937"/>
                          </a:solidFill>
                        </a:rPr>
                        <a:t>수정 </a:t>
                      </a:r>
                      <a:pPr indent="0" marL="0">
                        <a:buNone/>
                      </a:pPr>
                      <a:r>
                        <a:rPr lang="en-US" sz="1100" dirty="0">
                          <a:solidFill>
                            <a:srgbClr val="1F2937"/>
                          </a:solidFill>
                        </a:rPr>
                        <a:t>절차는 </a:t>
                      </a:r>
                      <a:pPr indent="0" marL="0">
                        <a:buNone/>
                      </a:pPr>
                      <a:r>
                        <a:rPr lang="en-US" sz="1100" dirty="0">
                          <a:solidFill>
                            <a:srgbClr val="1F2937"/>
                          </a:solidFill>
                        </a:rPr>
                        <a:t>추정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메시지 </a:t>
                      </a:r>
                      <a:pPr indent="0" marL="0">
                        <a:buNone/>
                      </a:pPr>
                      <a:r>
                        <a:rPr lang="en-US" sz="1100" dirty="0">
                          <a:solidFill>
                            <a:srgbClr val="1F2937"/>
                          </a:solidFill>
                        </a:rPr>
                        <a:t>내용 </a:t>
                      </a:r>
                      <a:pPr indent="0" marL="0">
                        <a:buNone/>
                      </a:pPr>
                      <a:r>
                        <a:rPr lang="en-US" sz="1100" dirty="0">
                          <a:solidFill>
                            <a:srgbClr val="1F2937"/>
                          </a:solidFill>
                        </a:rPr>
                        <a:t>추정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수정 </a:t>
                      </a:r>
                      <a:pPr indent="0" marL="0">
                        <a:buNone/>
                      </a:pPr>
                      <a:r>
                        <a:rPr lang="en-US" sz="1100" dirty="0">
                          <a:solidFill>
                            <a:srgbClr val="1F2937"/>
                          </a:solidFill>
                        </a:rPr>
                        <a:t>후 </a:t>
                      </a:r>
                      <a:pPr indent="0" marL="0">
                        <a:buNone/>
                      </a:pPr>
                      <a:r>
                        <a:rPr lang="en-US" sz="1100" dirty="0">
                          <a:solidFill>
                            <a:srgbClr val="1F2937"/>
                          </a:solidFill>
                        </a:rPr>
                        <a:t>다시 </a:t>
                      </a:r>
                      <a:pPr indent="0" marL="0">
                        <a:buNone/>
                      </a:pPr>
                      <a:r>
                        <a:rPr lang="en-US" sz="1100" dirty="0">
                          <a:solidFill>
                            <a:srgbClr val="1F2937"/>
                          </a:solidFill>
                        </a:rPr>
                        <a:t>내려받아 </a:t>
                      </a:r>
                      <a:pPr indent="0" marL="0">
                        <a:buNone/>
                      </a:pPr>
                      <a:r>
                        <a:rPr lang="en-US" sz="1100" dirty="0">
                          <a:solidFill>
                            <a:srgbClr val="1F2937"/>
                          </a:solidFill>
                        </a:rPr>
                        <a:t>검증</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내려받은 </a:t>
                      </a:r>
                      <a:pPr indent="0" marL="0">
                        <a:buNone/>
                      </a:pPr>
                      <a:r>
                        <a:rPr lang="en-US" sz="1100" dirty="0">
                          <a:solidFill>
                            <a:srgbClr val="1F2937"/>
                          </a:solidFill>
                        </a:rPr>
                        <a:t>문서에서 </a:t>
                      </a:r>
                      <a:pPr indent="0" marL="0">
                        <a:buNone/>
                      </a:pPr>
                      <a:r>
                        <a:rPr lang="en-US" sz="1100" dirty="0">
                          <a:solidFill>
                            <a:srgbClr val="1F2937"/>
                          </a:solidFill>
                        </a:rPr>
                        <a:t>다이어그램 </a:t>
                      </a:r>
                      <a:pPr indent="0" marL="0">
                        <a:buNone/>
                      </a:pPr>
                      <a:r>
                        <a:rPr lang="en-US" sz="1100" dirty="0">
                          <a:solidFill>
                            <a:srgbClr val="1F2937"/>
                          </a:solidFill>
                        </a:rPr>
                        <a:t>누락</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내보내기 </a:t>
                      </a:r>
                      <a:pPr indent="0" marL="0">
                        <a:buNone/>
                      </a:pPr>
                      <a:r>
                        <a:rPr lang="en-US" sz="1100" dirty="0">
                          <a:solidFill>
                            <a:srgbClr val="1F2937"/>
                          </a:solidFill>
                        </a:rPr>
                        <a:t>결과 </a:t>
                      </a:r>
                      <a:pPr indent="0" marL="0">
                        <a:buNone/>
                      </a:pPr>
                      <a:r>
                        <a:rPr lang="en-US" sz="1100" dirty="0">
                          <a:solidFill>
                            <a:srgbClr val="1F2937"/>
                          </a:solidFill>
                        </a:rPr>
                        <a:t>검증 </a:t>
                      </a:r>
                      <a:pPr indent="0" marL="0">
                        <a:buNone/>
                      </a:pPr>
                      <a:r>
                        <a:rPr lang="en-US" sz="1100" dirty="0">
                          <a:solidFill>
                            <a:srgbClr val="1F2937"/>
                          </a:solidFill>
                        </a:rPr>
                        <a:t>중 </a:t>
                      </a:r>
                      <a:pPr indent="0" marL="0">
                        <a:buNone/>
                      </a:pPr>
                      <a:r>
                        <a:rPr lang="en-US" sz="1100" dirty="0">
                          <a:solidFill>
                            <a:srgbClr val="1F2937"/>
                          </a:solidFill>
                        </a:rPr>
                        <a:t>발견 </a:t>
                      </a:r>
                      <a:pPr indent="0" marL="0">
                        <a:buNone/>
                      </a:pPr>
                      <a:r>
                        <a:rPr lang="en-US" sz="1100" dirty="0">
                          <a:solidFill>
                            <a:srgbClr val="1F2937"/>
                          </a:solidFill>
                        </a:rPr>
                        <a:t>가능</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미정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누락 </a:t>
                      </a:r>
                      <a:pPr indent="0" marL="0">
                        <a:buNone/>
                      </a:pPr>
                      <a:r>
                        <a:rPr lang="en-US" sz="1100" dirty="0">
                          <a:solidFill>
                            <a:srgbClr val="1F2937"/>
                          </a:solidFill>
                        </a:rPr>
                        <a:t>여부 </a:t>
                      </a:r>
                      <a:pPr indent="0" marL="0">
                        <a:buNone/>
                      </a:pPr>
                      <a:r>
                        <a:rPr lang="en-US" sz="1100" dirty="0">
                          <a:solidFill>
                            <a:srgbClr val="1F2937"/>
                          </a:solidFill>
                        </a:rPr>
                        <a:t>확인 </a:t>
                      </a:r>
                      <a:pPr indent="0" marL="0">
                        <a:buNone/>
                      </a:pPr>
                      <a:r>
                        <a:rPr lang="en-US" sz="1100" dirty="0">
                          <a:solidFill>
                            <a:srgbClr val="1F2937"/>
                          </a:solidFill>
                        </a:rPr>
                        <a:t>후 </a:t>
                      </a:r>
                      <a:pPr indent="0" marL="0">
                        <a:buNone/>
                      </a:pPr>
                      <a:r>
                        <a:rPr lang="en-US" sz="1100" dirty="0">
                          <a:solidFill>
                            <a:srgbClr val="1F2937"/>
                          </a:solidFill>
                        </a:rPr>
                        <a:t>수정. </a:t>
                      </a:r>
                      <a:pPr indent="0" marL="0">
                        <a:buNone/>
                      </a:pPr>
                      <a:r>
                        <a:rPr lang="en-US" sz="1100" dirty="0">
                          <a:solidFill>
                            <a:srgbClr val="1F2937"/>
                          </a:solidFill>
                        </a:rPr>
                        <a:t>수정 </a:t>
                      </a:r>
                      <a:pPr indent="0" marL="0">
                        <a:buNone/>
                      </a:pPr>
                      <a:r>
                        <a:rPr lang="en-US" sz="1100" dirty="0">
                          <a:solidFill>
                            <a:srgbClr val="1F2937"/>
                          </a:solidFill>
                        </a:rPr>
                        <a:t>절차는 </a:t>
                      </a:r>
                      <a:pPr indent="0" marL="0">
                        <a:buNone/>
                      </a:pPr>
                      <a:r>
                        <a:rPr lang="en-US" sz="1100" dirty="0">
                          <a:solidFill>
                            <a:srgbClr val="1F2937"/>
                          </a:solidFill>
                        </a:rPr>
                        <a:t>추정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메시지 </a:t>
                      </a:r>
                      <a:pPr indent="0" marL="0">
                        <a:buNone/>
                      </a:pPr>
                      <a:r>
                        <a:rPr lang="en-US" sz="1100" dirty="0">
                          <a:solidFill>
                            <a:srgbClr val="1F2937"/>
                          </a:solidFill>
                        </a:rPr>
                        <a:t>내용 </a:t>
                      </a:r>
                      <a:pPr indent="0" marL="0">
                        <a:buNone/>
                      </a:pPr>
                      <a:r>
                        <a:rPr lang="en-US" sz="1100" dirty="0">
                          <a:solidFill>
                            <a:srgbClr val="1F2937"/>
                          </a:solidFill>
                        </a:rPr>
                        <a:t>추정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수정 </a:t>
                      </a:r>
                      <a:pPr indent="0" marL="0">
                        <a:buNone/>
                      </a:pPr>
                      <a:r>
                        <a:rPr lang="en-US" sz="1100" dirty="0">
                          <a:solidFill>
                            <a:srgbClr val="1F2937"/>
                          </a:solidFill>
                        </a:rPr>
                        <a:t>후 </a:t>
                      </a:r>
                      <a:pPr indent="0" marL="0">
                        <a:buNone/>
                      </a:pPr>
                      <a:r>
                        <a:rPr lang="en-US" sz="1100" dirty="0">
                          <a:solidFill>
                            <a:srgbClr val="1F2937"/>
                          </a:solidFill>
                        </a:rPr>
                        <a:t>다시 </a:t>
                      </a:r>
                      <a:pPr indent="0" marL="0">
                        <a:buNone/>
                      </a:pPr>
                      <a:r>
                        <a:rPr lang="en-US" sz="1100" dirty="0">
                          <a:solidFill>
                            <a:srgbClr val="1F2937"/>
                          </a:solidFill>
                        </a:rPr>
                        <a:t>내려받아 </a:t>
                      </a:r>
                      <a:pPr indent="0" marL="0">
                        <a:buNone/>
                      </a:pPr>
                      <a:r>
                        <a:rPr lang="en-US" sz="1100" dirty="0">
                          <a:solidFill>
                            <a:srgbClr val="1F2937"/>
                          </a:solidFill>
                        </a:rPr>
                        <a:t>검증</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내려받기 </a:t>
                      </a:r>
                      <a:pPr indent="0" marL="0">
                        <a:buNone/>
                      </a:pPr>
                      <a:r>
                        <a:rPr lang="en-US" sz="1100" dirty="0">
                          <a:solidFill>
                            <a:srgbClr val="1F2937"/>
                          </a:solidFill>
                        </a:rPr>
                        <a:t>실패</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저장 </a:t>
                      </a:r>
                      <a:pPr indent="0" marL="0">
                        <a:buNone/>
                      </a:pPr>
                      <a:r>
                        <a:rPr lang="en-US" sz="1100" dirty="0">
                          <a:solidFill>
                            <a:srgbClr val="1F2937"/>
                          </a:solidFill>
                        </a:rPr>
                        <a:t>또는 </a:t>
                      </a:r>
                      <a:pPr indent="0" marL="0">
                        <a:buNone/>
                      </a:pPr>
                      <a:r>
                        <a:rPr lang="en-US" sz="1100" dirty="0">
                          <a:solidFill>
                            <a:srgbClr val="1F2937"/>
                          </a:solidFill>
                        </a:rPr>
                        <a:t>전송 </a:t>
                      </a:r>
                      <a:pPr indent="0" marL="0">
                        <a:buNone/>
                      </a:pPr>
                      <a:r>
                        <a:rPr lang="en-US" sz="1100" dirty="0">
                          <a:solidFill>
                            <a:srgbClr val="1F2937"/>
                          </a:solidFill>
                        </a:rPr>
                        <a:t>실패 </a:t>
                      </a:r>
                      <a:pPr indent="0" marL="0">
                        <a:buNone/>
                      </a:pPr>
                      <a:r>
                        <a:rPr lang="en-US" sz="1100" dirty="0">
                          <a:solidFill>
                            <a:srgbClr val="1F2937"/>
                          </a:solidFill>
                        </a:rPr>
                        <a:t>가능성 </a:t>
                      </a:r>
                      <a:pPr indent="0" marL="0">
                        <a:buNone/>
                      </a:pPr>
                      <a:r>
                        <a:rPr lang="en-US" sz="1100" dirty="0">
                          <a:solidFill>
                            <a:srgbClr val="1F2937"/>
                          </a:solidFill>
                        </a:rPr>
                        <a:t>(가정)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미정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실패 </a:t>
                      </a:r>
                      <a:pPr indent="0" marL="0">
                        <a:buNone/>
                      </a:pPr>
                      <a:r>
                        <a:rPr lang="en-US" sz="1100" dirty="0">
                          <a:solidFill>
                            <a:srgbClr val="1F2937"/>
                          </a:solidFill>
                        </a:rPr>
                        <a:t>감지 </a:t>
                      </a:r>
                      <a:pPr indent="0" marL="0">
                        <a:buNone/>
                      </a:pPr>
                      <a:r>
                        <a:rPr lang="en-US" sz="1100" dirty="0">
                          <a:solidFill>
                            <a:srgbClr val="1F2937"/>
                          </a:solidFill>
                        </a:rPr>
                        <a:t>및 </a:t>
                      </a:r>
                      <a:pPr indent="0" marL="0">
                        <a:buNone/>
                      </a:pPr>
                      <a:r>
                        <a:rPr lang="en-US" sz="1100" dirty="0">
                          <a:solidFill>
                            <a:srgbClr val="1F2937"/>
                          </a:solidFill>
                        </a:rPr>
                        <a:t>재시도 </a:t>
                      </a:r>
                      <a:pPr indent="0" marL="0">
                        <a:buNone/>
                      </a:pPr>
                      <a:r>
                        <a:rPr lang="en-US" sz="1100" dirty="0">
                          <a:solidFill>
                            <a:srgbClr val="1F2937"/>
                          </a:solidFill>
                        </a:rPr>
                        <a:t>방식 </a:t>
                      </a:r>
                      <a:pPr indent="0" marL="0">
                        <a:buNone/>
                      </a:pPr>
                      <a:r>
                        <a:rPr lang="en-US" sz="1100" dirty="0">
                          <a:solidFill>
                            <a:srgbClr val="1F2937"/>
                          </a:solidFill>
                        </a:rPr>
                        <a:t>추정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메시지 </a:t>
                      </a:r>
                      <a:pPr indent="0" marL="0">
                        <a:buNone/>
                      </a:pPr>
                      <a:r>
                        <a:rPr lang="en-US" sz="1100" dirty="0">
                          <a:solidFill>
                            <a:srgbClr val="1F2937"/>
                          </a:solidFill>
                        </a:rPr>
                        <a:t>내용 </a:t>
                      </a:r>
                      <a:pPr indent="0" marL="0">
                        <a:buNone/>
                      </a:pPr>
                      <a:r>
                        <a:rPr lang="en-US" sz="1100" dirty="0">
                          <a:solidFill>
                            <a:srgbClr val="1F2937"/>
                          </a:solidFill>
                        </a:rPr>
                        <a:t>추정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Word </a:t>
                      </a:r>
                      <a:pPr indent="0" marL="0">
                        <a:buNone/>
                      </a:pPr>
                      <a:r>
                        <a:rPr lang="en-US" sz="1100" dirty="0">
                          <a:solidFill>
                            <a:srgbClr val="1F2937"/>
                          </a:solidFill>
                        </a:rPr>
                        <a:t>또는 </a:t>
                      </a:r>
                      <a:pPr indent="0" marL="0">
                        <a:buNone/>
                      </a:pPr>
                      <a:r>
                        <a:rPr lang="en-US" sz="1100" dirty="0">
                          <a:solidFill>
                            <a:srgbClr val="1F2937"/>
                          </a:solidFill>
                        </a:rPr>
                        <a:t>PDF별 </a:t>
                      </a:r>
                      <a:pPr indent="0" marL="0">
                        <a:buNone/>
                      </a:pPr>
                      <a:r>
                        <a:rPr lang="en-US" sz="1100" dirty="0">
                          <a:solidFill>
                            <a:srgbClr val="1F2937"/>
                          </a:solidFill>
                        </a:rPr>
                        <a:t>복구 </a:t>
                      </a:r>
                      <a:pPr indent="0" marL="0">
                        <a:buNone/>
                      </a:pPr>
                      <a:r>
                        <a:rPr lang="en-US" sz="1100" dirty="0">
                          <a:solidFill>
                            <a:srgbClr val="1F2937"/>
                          </a:solidFill>
                        </a:rPr>
                        <a:t>절차 </a:t>
                      </a:r>
                      <a:pPr indent="0" marL="0">
                        <a:buNone/>
                      </a:pPr>
                      <a:r>
                        <a:rPr lang="en-US" sz="1100" dirty="0">
                          <a:solidFill>
                            <a:srgbClr val="1F2937"/>
                          </a:solidFill>
                        </a:rPr>
                        <a:t>추정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4.1 예외 시나리오 (1/2)</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b="1" dirty="0">
                <a:solidFill>
                  <a:srgbClr val="4B5563"/>
                </a:solidFill>
              </a:rPr>
              <a:t>상세 설명</a:t>
            </a:r>
            <a:endParaRPr lang="en-US" sz="1600" dirty="0"/>
          </a:p>
          <a:p>
            <a:pPr indent="0" marL="0">
              <a:spcAft>
                <a:spcPts val="800"/>
              </a:spcAft>
              <a:buNone/>
            </a:pPr>
            <a:r>
              <a:rPr lang="en-US" sz="1600" dirty="0">
                <a:solidFill>
                  <a:srgbClr val="4B5563"/>
                </a:solidFill>
              </a:rPr>
              <a:t>1. 이탈 후 생성이 멈출 수 있다는 점은 회의에서 제기된 위험입니다. 대응 방향으로 완료된 섹션을 기기에 저장하고 사용자가 돌아오면 생성 작업을 이어가는 방안이 제시되었습니다.</a:t>
            </a:r>
            <a:endParaRPr lang="en-US" sz="1600" dirty="0"/>
          </a:p>
          <a:p>
            <a:pPr indent="0" marL="0">
              <a:spcAft>
                <a:spcPts val="800"/>
              </a:spcAft>
              <a:buNone/>
            </a:pPr>
            <a:r>
              <a:rPr lang="en-US" sz="1600" dirty="0">
                <a:solidFill>
                  <a:srgbClr val="4B5563"/>
                </a:solidFill>
              </a:rPr>
              <a:t>2. 취소 후 이전 응답을 무시하는 것은 명시된 성공 기준입니다. 따라서 취소가 발생한 작업과 이후 새로 시작된 작업의 응답을 구별하고, 취소 이전 응답이 현재 문서 결과를 덮어쓰지 않도록 검증해야 합니다. 구체적인 구현 방식은 추정 필요입니다.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4.1 예외 시나리오 (2/2)</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3. 표와 다이어그램의 누락 없음은 내려받기 결과의 성공 기준입니다. Word와 PDF 각각에서 확인하는 구체적인 검사 방법, 누락 발견 시 사용자 안내 및 자동 복구 여부는 정해지지 않았습니다.</a:t>
            </a:r>
            <a:endParaRPr lang="en-US" sz="1600" dirty="0"/>
          </a:p>
          <a:p>
            <a:pPr indent="0" marL="0">
              <a:spcAft>
                <a:spcPts val="800"/>
              </a:spcAft>
              <a:buNone/>
            </a:pPr>
            <a:r>
              <a:rPr lang="en-US" sz="1600" dirty="0">
                <a:solidFill>
                  <a:srgbClr val="4B5563"/>
                </a:solidFill>
              </a:rPr>
              <a:t>4. 저장 실패, 네트워크 장애, 로그인 오류 및 문서 생성 실패에 대한 빈도나 재시도 정책은 회의 근거가 없습니다. 오류 분류와 복구 방식은 임의로 확정하지 않고 제품·개발 담당자의 확인 항목으로 남깁니다.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4.2 네트워크 및 작업 오류 처리 제안</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다음 흐름은 회의에서 확정된 구현이 아니라 </a:t>
            </a:r>
            <a:pPr indent="0" marL="0">
              <a:spcAft>
                <a:spcPts val="800"/>
              </a:spcAft>
              <a:buNone/>
            </a:pPr>
            <a:r>
              <a:rPr lang="en-US" sz="1600" b="1" dirty="0">
                <a:solidFill>
                  <a:srgbClr val="4B5563"/>
                </a:solidFill>
              </a:rPr>
              <a:t>제안</a:t>
            </a:r>
            <a:pPr indent="0" marL="0">
              <a:spcAft>
                <a:spcPts val="800"/>
              </a:spcAft>
              <a:buNone/>
            </a:pPr>
            <a:r>
              <a:rPr lang="en-US" sz="1600" dirty="0">
                <a:solidFill>
                  <a:srgbClr val="4B5563"/>
                </a:solidFill>
              </a:rPr>
              <a:t>입니다. 재시도 횟수, 제한 시간, 오류별 메시지, 자동 재시도 여부는 정해지지 않았으므로 임의의 수치를 두지 않습니다.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4.2 네트워크 및 작업 오류 처리 제안</a:t>
            </a:r>
            <a:endParaRPr lang="en-US" sz="2800" dirty="0"/>
          </a:p>
        </p:txBody>
      </p:sp>
      <p:sp>
        <p:nvSpPr>
          <p:cNvPr id="3" name="Shape 1"/>
          <p:cNvSpPr/>
          <p:nvPr/>
        </p:nvSpPr>
        <p:spPr>
          <a:xfrm>
            <a:off x="457200" y="1078992"/>
            <a:ext cx="2743200" cy="41148"/>
          </a:xfrm>
          <a:prstGeom prst="rect">
            <a:avLst/>
          </a:prstGeom>
          <a:solidFill>
            <a:srgbClr val="263F59"/>
          </a:solidFill>
          <a:ln/>
        </p:spPr>
      </p:sp>
      <p:pic>
        <p:nvPicPr>
          <p:cNvPr id="4" name="Image 0" descr="preencoded.png">    </p:cNvPr>
          <p:cNvPicPr>
            <a:picLocks noChangeAspect="1"/>
          </p:cNvPicPr>
          <p:nvPr/>
        </p:nvPicPr>
        <p:blipFill>
          <a:blip r:embed="rId1"/>
          <a:stretch>
            <a:fillRect/>
          </a:stretch>
        </p:blipFill>
        <p:spPr>
          <a:xfrm>
            <a:off x="640080" y="1463040"/>
            <a:ext cx="7863840" cy="4206240"/>
          </a:xfrm>
          <a:prstGeom prst="rect">
            <a:avLst/>
          </a:prstGeom>
        </p:spPr>
      </p:pic>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4.2 네트워크 및 작업 오류 처리 제안 (1/2)</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b="1" dirty="0">
                <a:solidFill>
                  <a:srgbClr val="4B5563"/>
                </a:solidFill>
              </a:rPr>
              <a:t>상세 설명</a:t>
            </a:r>
            <a:endParaRPr lang="en-US" sz="1600" dirty="0"/>
          </a:p>
          <a:p>
            <a:pPr indent="0" marL="0">
              <a:spcAft>
                <a:spcPts val="800"/>
              </a:spcAft>
              <a:buNone/>
            </a:pPr>
            <a:r>
              <a:rPr lang="en-US" sz="1600" dirty="0">
                <a:solidFill>
                  <a:srgbClr val="4B5563"/>
                </a:solidFill>
              </a:rPr>
              <a:t>1. 응답이 정상적으로 도착하면 요청의 종류에 따라 인증, 생성 또는 내려받기 결과를 처리합니다. 시스템의 구체적인 구성과 오류 반환 형식은 정해지지 않았습니다.</a:t>
            </a:r>
            <a:endParaRPr lang="en-US" sz="1600" dirty="0"/>
          </a:p>
          <a:p>
            <a:pPr indent="0" marL="0">
              <a:spcAft>
                <a:spcPts val="800"/>
              </a:spcAft>
              <a:buNone/>
            </a:pPr>
            <a:r>
              <a:rPr lang="en-US" sz="1600" dirty="0">
                <a:solidFill>
                  <a:srgbClr val="4B5563"/>
                </a:solidFill>
              </a:rPr>
              <a:t>2. 취소 후 이전 응답은 무시해야 한다는 성공 기준을 네트워크 오류 처리와 연결했습니다. 취소한 요청의 응답이 늦게 도착해도 현재 작업을 되돌리거나 저장된 최신 섹션을 덮어쓰지 않도록 해야 합니다.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4.2 네트워크 및 작업 오류 처리 제안 (2/2)</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3. 네트워크 단절과 시간 초과를 어떻게 구분하고, 어느 요청을 재시도할 수 있게 할지는 미정입니다. 오류 메시지, 재시도 횟수, 자동 재시도 여부도 담당자 확인이 필요합니다.</a:t>
            </a:r>
            <a:endParaRPr lang="en-US" sz="1600" dirty="0"/>
          </a:p>
          <a:p>
            <a:pPr indent="0" marL="0">
              <a:spcAft>
                <a:spcPts val="800"/>
              </a:spcAft>
              <a:buNone/>
            </a:pPr>
            <a:r>
              <a:rPr lang="en-US" sz="1600" dirty="0">
                <a:solidFill>
                  <a:srgbClr val="4B5563"/>
                </a:solidFill>
              </a:rPr>
              <a:t>4. 작업 상태를 보존할 수 있는지와 기기 저장 실패 시의 복구 경로도 확인 대상입니다. 이 흐름은 장애 대응을 설계할 때 논의할 기준이며, 회의에서 합의한 오류 정책은 아닙니다.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4.3 오류 코드 매핑</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회의에서는 오류 코드나 HTTP 상태 코드가 정해지지 않았습니다. 아래 표는 확정된 코드표가 아니라 구현 전 확인이 필요한 항목을 나타냅니다.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4.3 오류 코드 매핑</a:t>
            </a:r>
            <a:endParaRPr lang="en-US" sz="2800" dirty="0"/>
          </a:p>
        </p:txBody>
      </p:sp>
      <p:sp>
        <p:nvSpPr>
          <p:cNvPr id="3" name="Shape 1"/>
          <p:cNvSpPr/>
          <p:nvPr/>
        </p:nvSpPr>
        <p:spPr>
          <a:xfrm>
            <a:off x="457200" y="1078992"/>
            <a:ext cx="2743200" cy="41148"/>
          </a:xfrm>
          <a:prstGeom prst="rect">
            <a:avLst/>
          </a:prstGeom>
          <a:solidFill>
            <a:srgbClr val="263F59"/>
          </a:solidFill>
          <a:ln/>
        </p:spPr>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987552"/>
                <a:gridCol w="2139696"/>
                <a:gridCol w="1728216"/>
                <a:gridCol w="1481328"/>
                <a:gridCol w="1892808"/>
              </a:tblGrid>
              <a:tr h="0">
                <a:tc>
                  <a:txBody>
                    <a:bodyPr/>
                    <a:lstStyle/>
                    <a:p>
                      <a:pPr indent="0" marL="0">
                        <a:buNone/>
                      </a:pPr>
                      <a:r>
                        <a:rPr lang="en-US" sz="1200" b="1" dirty="0">
                          <a:solidFill>
                            <a:srgbClr val="FFFFFF"/>
                          </a:solidFill>
                        </a:rPr>
                        <a:t>오류 </a:t>
                      </a:r>
                      <a:pPr indent="0" marL="0">
                        <a:buNone/>
                      </a:pPr>
                      <a:r>
                        <a:rPr lang="en-US" sz="1200" b="1" dirty="0">
                          <a:solidFill>
                            <a:srgbClr val="FFFFFF"/>
                          </a:solidFill>
                        </a:rPr>
                        <a:t>항목</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오류 </a:t>
                      </a:r>
                      <a:pPr indent="0" marL="0">
                        <a:buNone/>
                      </a:pPr>
                      <a:r>
                        <a:rPr lang="en-US" sz="1200" b="1" dirty="0">
                          <a:solidFill>
                            <a:srgbClr val="FFFFFF"/>
                          </a:solidFill>
                        </a:rPr>
                        <a:t>코드·상태</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설명</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사용자 </a:t>
                      </a:r>
                      <a:pPr indent="0" marL="0">
                        <a:buNone/>
                      </a:pPr>
                      <a:r>
                        <a:rPr lang="en-US" sz="1200" b="1" dirty="0">
                          <a:solidFill>
                            <a:srgbClr val="FFFFFF"/>
                          </a:solidFill>
                        </a:rPr>
                        <a:t>메시지</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조치</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r>
              <a:tr h="0">
                <a:tc>
                  <a:txBody>
                    <a:bodyPr/>
                    <a:lstStyle/>
                    <a:p>
                      <a:pPr indent="0" marL="0">
                        <a:buNone/>
                      </a:pPr>
                      <a:r>
                        <a:rPr lang="en-US" sz="1100" dirty="0">
                          <a:solidFill>
                            <a:srgbClr val="1F2937"/>
                          </a:solidFill>
                        </a:rPr>
                        <a:t>로그인 </a:t>
                      </a:r>
                      <a:pPr indent="0" marL="0">
                        <a:buNone/>
                      </a:pPr>
                      <a:r>
                        <a:rPr lang="en-US" sz="1100" dirty="0">
                          <a:solidFill>
                            <a:srgbClr val="1F2937"/>
                          </a:solidFill>
                        </a:rPr>
                        <a:t>실패</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추정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인증 </a:t>
                      </a:r>
                      <a:pPr indent="0" marL="0">
                        <a:buNone/>
                      </a:pPr>
                      <a:r>
                        <a:rPr lang="en-US" sz="1100" dirty="0">
                          <a:solidFill>
                            <a:srgbClr val="1F2937"/>
                          </a:solidFill>
                        </a:rPr>
                        <a:t>실패 </a:t>
                      </a:r>
                      <a:pPr indent="0" marL="0">
                        <a:buNone/>
                      </a:pPr>
                      <a:r>
                        <a:rPr lang="en-US" sz="1100" dirty="0">
                          <a:solidFill>
                            <a:srgbClr val="1F2937"/>
                          </a:solidFill>
                        </a:rPr>
                        <a:t>원인 </a:t>
                      </a:r>
                      <a:pPr indent="0" marL="0">
                        <a:buNone/>
                      </a:pPr>
                      <a:r>
                        <a:rPr lang="en-US" sz="1100" dirty="0">
                          <a:solidFill>
                            <a:srgbClr val="1F2937"/>
                          </a:solidFill>
                        </a:rPr>
                        <a:t>구분 </a:t>
                      </a:r>
                      <a:pPr indent="0" marL="0">
                        <a:buNone/>
                      </a:pPr>
                      <a:r>
                        <a:rPr lang="en-US" sz="1100" dirty="0">
                          <a:solidFill>
                            <a:srgbClr val="1F2937"/>
                          </a:solidFill>
                        </a:rPr>
                        <a:t>미정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추정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재입력 </a:t>
                      </a:r>
                      <a:pPr indent="0" marL="0">
                        <a:buNone/>
                      </a:pPr>
                      <a:r>
                        <a:rPr lang="en-US" sz="1100" dirty="0">
                          <a:solidFill>
                            <a:srgbClr val="1F2937"/>
                          </a:solidFill>
                        </a:rPr>
                        <a:t>등 </a:t>
                      </a:r>
                      <a:pPr indent="0" marL="0">
                        <a:buNone/>
                      </a:pPr>
                      <a:r>
                        <a:rPr lang="en-US" sz="1100" dirty="0">
                          <a:solidFill>
                            <a:srgbClr val="1F2937"/>
                          </a:solidFill>
                        </a:rPr>
                        <a:t>처리 </a:t>
                      </a:r>
                      <a:pPr indent="0" marL="0">
                        <a:buNone/>
                      </a:pPr>
                      <a:r>
                        <a:rPr lang="en-US" sz="1100" dirty="0">
                          <a:solidFill>
                            <a:srgbClr val="1F2937"/>
                          </a:solidFill>
                        </a:rPr>
                        <a:t>방식 </a:t>
                      </a:r>
                      <a:pPr indent="0" marL="0">
                        <a:buNone/>
                      </a:pPr>
                      <a:r>
                        <a:rPr lang="en-US" sz="1100" dirty="0">
                          <a:solidFill>
                            <a:srgbClr val="1F2937"/>
                          </a:solidFill>
                        </a:rPr>
                        <a:t>추정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생성 </a:t>
                      </a:r>
                      <a:pPr indent="0" marL="0">
                        <a:buNone/>
                      </a:pPr>
                      <a:r>
                        <a:rPr lang="en-US" sz="1100" dirty="0">
                          <a:solidFill>
                            <a:srgbClr val="1F2937"/>
                          </a:solidFill>
                        </a:rPr>
                        <a:t>실패</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추정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문서 </a:t>
                      </a:r>
                      <a:pPr indent="0" marL="0">
                        <a:buNone/>
                      </a:pPr>
                      <a:r>
                        <a:rPr lang="en-US" sz="1100" dirty="0">
                          <a:solidFill>
                            <a:srgbClr val="1F2937"/>
                          </a:solidFill>
                        </a:rPr>
                        <a:t>생성 </a:t>
                      </a:r>
                      <a:pPr indent="0" marL="0">
                        <a:buNone/>
                      </a:pPr>
                      <a:r>
                        <a:rPr lang="en-US" sz="1100" dirty="0">
                          <a:solidFill>
                            <a:srgbClr val="1F2937"/>
                          </a:solidFill>
                        </a:rPr>
                        <a:t>과정의 </a:t>
                      </a:r>
                      <a:pPr indent="0" marL="0">
                        <a:buNone/>
                      </a:pPr>
                      <a:r>
                        <a:rPr lang="en-US" sz="1100" dirty="0">
                          <a:solidFill>
                            <a:srgbClr val="1F2937"/>
                          </a:solidFill>
                        </a:rPr>
                        <a:t>오류</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추정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저장된 </a:t>
                      </a:r>
                      <a:pPr indent="0" marL="0">
                        <a:buNone/>
                      </a:pPr>
                      <a:r>
                        <a:rPr lang="en-US" sz="1100" dirty="0">
                          <a:solidFill>
                            <a:srgbClr val="1F2937"/>
                          </a:solidFill>
                        </a:rPr>
                        <a:t>섹션 </a:t>
                      </a:r>
                      <a:pPr indent="0" marL="0">
                        <a:buNone/>
                      </a:pPr>
                      <a:r>
                        <a:rPr lang="en-US" sz="1100" dirty="0">
                          <a:solidFill>
                            <a:srgbClr val="1F2937"/>
                          </a:solidFill>
                        </a:rPr>
                        <a:t>재사용·재시도 </a:t>
                      </a:r>
                      <a:pPr indent="0" marL="0">
                        <a:buNone/>
                      </a:pPr>
                      <a:r>
                        <a:rPr lang="en-US" sz="1100" dirty="0">
                          <a:solidFill>
                            <a:srgbClr val="1F2937"/>
                          </a:solidFill>
                        </a:rPr>
                        <a:t>방식 </a:t>
                      </a:r>
                      <a:pPr indent="0" marL="0">
                        <a:buNone/>
                      </a:pPr>
                      <a:r>
                        <a:rPr lang="en-US" sz="1100" dirty="0">
                          <a:solidFill>
                            <a:srgbClr val="1F2937"/>
                          </a:solidFill>
                        </a:rPr>
                        <a:t>추정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기기 </a:t>
                      </a:r>
                      <a:pPr indent="0" marL="0">
                        <a:buNone/>
                      </a:pPr>
                      <a:r>
                        <a:rPr lang="en-US" sz="1100" dirty="0">
                          <a:solidFill>
                            <a:srgbClr val="1F2937"/>
                          </a:solidFill>
                        </a:rPr>
                        <a:t>저장 </a:t>
                      </a:r>
                      <a:pPr indent="0" marL="0">
                        <a:buNone/>
                      </a:pPr>
                      <a:r>
                        <a:rPr lang="en-US" sz="1100" dirty="0">
                          <a:solidFill>
                            <a:srgbClr val="1F2937"/>
                          </a:solidFill>
                        </a:rPr>
                        <a:t>실패</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추정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완료된 </a:t>
                      </a:r>
                      <a:pPr indent="0" marL="0">
                        <a:buNone/>
                      </a:pPr>
                      <a:r>
                        <a:rPr lang="en-US" sz="1100" dirty="0">
                          <a:solidFill>
                            <a:srgbClr val="1F2937"/>
                          </a:solidFill>
                        </a:rPr>
                        <a:t>섹션의 </a:t>
                      </a:r>
                      <a:pPr indent="0" marL="0">
                        <a:buNone/>
                      </a:pPr>
                      <a:r>
                        <a:rPr lang="en-US" sz="1100" dirty="0">
                          <a:solidFill>
                            <a:srgbClr val="1F2937"/>
                          </a:solidFill>
                        </a:rPr>
                        <a:t>기기 </a:t>
                      </a:r>
                      <a:pPr indent="0" marL="0">
                        <a:buNone/>
                      </a:pPr>
                      <a:r>
                        <a:rPr lang="en-US" sz="1100" dirty="0">
                          <a:solidFill>
                            <a:srgbClr val="1F2937"/>
                          </a:solidFill>
                        </a:rPr>
                        <a:t>저장 </a:t>
                      </a:r>
                      <a:pPr indent="0" marL="0">
                        <a:buNone/>
                      </a:pPr>
                      <a:r>
                        <a:rPr lang="en-US" sz="1100" dirty="0">
                          <a:solidFill>
                            <a:srgbClr val="1F2937"/>
                          </a:solidFill>
                        </a:rPr>
                        <a:t>실패</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추정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복구·재시도 </a:t>
                      </a:r>
                      <a:pPr indent="0" marL="0">
                        <a:buNone/>
                      </a:pPr>
                      <a:r>
                        <a:rPr lang="en-US" sz="1100" dirty="0">
                          <a:solidFill>
                            <a:srgbClr val="1F2937"/>
                          </a:solidFill>
                        </a:rPr>
                        <a:t>방식 </a:t>
                      </a:r>
                      <a:pPr indent="0" marL="0">
                        <a:buNone/>
                      </a:pPr>
                      <a:r>
                        <a:rPr lang="en-US" sz="1100" dirty="0">
                          <a:solidFill>
                            <a:srgbClr val="1F2937"/>
                          </a:solidFill>
                        </a:rPr>
                        <a:t>추정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취소 </a:t>
                      </a:r>
                      <a:pPr indent="0" marL="0">
                        <a:buNone/>
                      </a:pPr>
                      <a:r>
                        <a:rPr lang="en-US" sz="1100" dirty="0">
                          <a:solidFill>
                            <a:srgbClr val="1F2937"/>
                          </a:solidFill>
                        </a:rPr>
                        <a:t>후 </a:t>
                      </a:r>
                      <a:pPr indent="0" marL="0">
                        <a:buNone/>
                      </a:pPr>
                      <a:r>
                        <a:rPr lang="en-US" sz="1100" dirty="0">
                          <a:solidFill>
                            <a:srgbClr val="1F2937"/>
                          </a:solidFill>
                        </a:rPr>
                        <a:t>이전 </a:t>
                      </a:r>
                      <a:pPr indent="0" marL="0">
                        <a:buNone/>
                      </a:pPr>
                      <a:r>
                        <a:rPr lang="en-US" sz="1100" dirty="0">
                          <a:solidFill>
                            <a:srgbClr val="1F2937"/>
                          </a:solidFill>
                        </a:rPr>
                        <a:t>응답</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회의의 </a:t>
                      </a:r>
                      <a:pPr indent="0" marL="0">
                        <a:buNone/>
                      </a:pPr>
                      <a:r>
                        <a:rPr lang="en-US" sz="1100" dirty="0">
                          <a:solidFill>
                            <a:srgbClr val="1F2937"/>
                          </a:solidFill>
                        </a:rPr>
                        <a:t>성공 </a:t>
                      </a:r>
                      <a:pPr indent="0" marL="0">
                        <a:buNone/>
                      </a:pPr>
                      <a:r>
                        <a:rPr lang="en-US" sz="1100" dirty="0">
                          <a:solidFill>
                            <a:srgbClr val="1F2937"/>
                          </a:solidFill>
                        </a:rPr>
                        <a:t>기준에 </a:t>
                      </a:r>
                      <a:pPr indent="0" marL="0">
                        <a:buNone/>
                      </a:pPr>
                      <a:r>
                        <a:rPr lang="en-US" sz="1100" dirty="0">
                          <a:solidFill>
                            <a:srgbClr val="1F2937"/>
                          </a:solidFill>
                        </a:rPr>
                        <a:t>따른 </a:t>
                      </a:r>
                      <a:pPr indent="0" marL="0">
                        <a:buNone/>
                      </a:pPr>
                      <a:r>
                        <a:rPr lang="en-US" sz="1100" dirty="0">
                          <a:solidFill>
                            <a:srgbClr val="1F2937"/>
                          </a:solidFill>
                        </a:rPr>
                        <a:t>상태 </a:t>
                      </a:r>
                      <a:pPr indent="0" marL="0">
                        <a:buNone/>
                      </a:pPr>
                      <a:r>
                        <a:rPr lang="en-US" sz="1100" dirty="0">
                          <a:solidFill>
                            <a:srgbClr val="1F2937"/>
                          </a:solidFill>
                        </a:rPr>
                        <a:t>처리. </a:t>
                      </a:r>
                      <a:pPr indent="0" marL="0">
                        <a:buNone/>
                      </a:pPr>
                      <a:r>
                        <a:rPr lang="en-US" sz="1100" dirty="0">
                          <a:solidFill>
                            <a:srgbClr val="1F2937"/>
                          </a:solidFill>
                        </a:rPr>
                        <a:t>코드 </a:t>
                      </a:r>
                      <a:pPr indent="0" marL="0">
                        <a:buNone/>
                      </a:pPr>
                      <a:r>
                        <a:rPr lang="en-US" sz="1100" dirty="0">
                          <a:solidFill>
                            <a:srgbClr val="1F2937"/>
                          </a:solidFill>
                        </a:rPr>
                        <a:t>미정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취소 </a:t>
                      </a:r>
                      <a:pPr indent="0" marL="0">
                        <a:buNone/>
                      </a:pPr>
                      <a:r>
                        <a:rPr lang="en-US" sz="1100" dirty="0">
                          <a:solidFill>
                            <a:srgbClr val="1F2937"/>
                          </a:solidFill>
                        </a:rPr>
                        <a:t>이후 </a:t>
                      </a:r>
                      <a:pPr indent="0" marL="0">
                        <a:buNone/>
                      </a:pPr>
                      <a:r>
                        <a:rPr lang="en-US" sz="1100" dirty="0">
                          <a:solidFill>
                            <a:srgbClr val="1F2937"/>
                          </a:solidFill>
                        </a:rPr>
                        <a:t>도착한 </a:t>
                      </a:r>
                      <a:pPr indent="0" marL="0">
                        <a:buNone/>
                      </a:pPr>
                      <a:r>
                        <a:rPr lang="en-US" sz="1100" dirty="0">
                          <a:solidFill>
                            <a:srgbClr val="1F2937"/>
                          </a:solidFill>
                        </a:rPr>
                        <a:t>이전 </a:t>
                      </a:r>
                      <a:pPr indent="0" marL="0">
                        <a:buNone/>
                      </a:pPr>
                      <a:r>
                        <a:rPr lang="en-US" sz="1100" dirty="0">
                          <a:solidFill>
                            <a:srgbClr val="1F2937"/>
                          </a:solidFill>
                        </a:rPr>
                        <a:t>응답</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별도 </a:t>
                      </a:r>
                      <a:pPr indent="0" marL="0">
                        <a:buNone/>
                      </a:pPr>
                      <a:r>
                        <a:rPr lang="en-US" sz="1100" dirty="0">
                          <a:solidFill>
                            <a:srgbClr val="1F2937"/>
                          </a:solidFill>
                        </a:rPr>
                        <a:t>메시지 </a:t>
                      </a:r>
                      <a:pPr indent="0" marL="0">
                        <a:buNone/>
                      </a:pPr>
                      <a:r>
                        <a:rPr lang="en-US" sz="1100" dirty="0">
                          <a:solidFill>
                            <a:srgbClr val="1F2937"/>
                          </a:solidFill>
                        </a:rPr>
                        <a:t>필요 </a:t>
                      </a:r>
                      <a:pPr indent="0" marL="0">
                        <a:buNone/>
                      </a:pPr>
                      <a:r>
                        <a:rPr lang="en-US" sz="1100" dirty="0">
                          <a:solidFill>
                            <a:srgbClr val="1F2937"/>
                          </a:solidFill>
                        </a:rPr>
                        <a:t>여부 </a:t>
                      </a:r>
                      <a:pPr indent="0" marL="0">
                        <a:buNone/>
                      </a:pPr>
                      <a:r>
                        <a:rPr lang="en-US" sz="1100" dirty="0">
                          <a:solidFill>
                            <a:srgbClr val="1F2937"/>
                          </a:solidFill>
                        </a:rPr>
                        <a:t>추정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이전 </a:t>
                      </a:r>
                      <a:pPr indent="0" marL="0">
                        <a:buNone/>
                      </a:pPr>
                      <a:r>
                        <a:rPr lang="en-US" sz="1100" dirty="0">
                          <a:solidFill>
                            <a:srgbClr val="1F2937"/>
                          </a:solidFill>
                        </a:rPr>
                        <a:t>응답 </a:t>
                      </a:r>
                      <a:pPr indent="0" marL="0">
                        <a:buNone/>
                      </a:pPr>
                      <a:r>
                        <a:rPr lang="en-US" sz="1100" dirty="0">
                          <a:solidFill>
                            <a:srgbClr val="1F2937"/>
                          </a:solidFill>
                        </a:rPr>
                        <a:t>무시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Word </a:t>
                      </a:r>
                      <a:pPr indent="0" marL="0">
                        <a:buNone/>
                      </a:pPr>
                      <a:r>
                        <a:rPr lang="en-US" sz="1100" dirty="0">
                          <a:solidFill>
                            <a:srgbClr val="1F2937"/>
                          </a:solidFill>
                        </a:rPr>
                        <a:t>내려받기 </a:t>
                      </a:r>
                      <a:pPr indent="0" marL="0">
                        <a:buNone/>
                      </a:pPr>
                      <a:r>
                        <a:rPr lang="en-US" sz="1100" dirty="0">
                          <a:solidFill>
                            <a:srgbClr val="1F2937"/>
                          </a:solidFill>
                        </a:rPr>
                        <a:t>실패</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추정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Word </a:t>
                      </a:r>
                      <a:pPr indent="0" marL="0">
                        <a:buNone/>
                      </a:pPr>
                      <a:r>
                        <a:rPr lang="en-US" sz="1100" dirty="0">
                          <a:solidFill>
                            <a:srgbClr val="1F2937"/>
                          </a:solidFill>
                        </a:rPr>
                        <a:t>결과 </a:t>
                      </a:r>
                      <a:pPr indent="0" marL="0">
                        <a:buNone/>
                      </a:pPr>
                      <a:r>
                        <a:rPr lang="en-US" sz="1100" dirty="0">
                          <a:solidFill>
                            <a:srgbClr val="1F2937"/>
                          </a:solidFill>
                        </a:rPr>
                        <a:t>생성 </a:t>
                      </a:r>
                      <a:pPr indent="0" marL="0">
                        <a:buNone/>
                      </a:pPr>
                      <a:r>
                        <a:rPr lang="en-US" sz="1100" dirty="0">
                          <a:solidFill>
                            <a:srgbClr val="1F2937"/>
                          </a:solidFill>
                        </a:rPr>
                        <a:t>또는 </a:t>
                      </a:r>
                      <a:pPr indent="0" marL="0">
                        <a:buNone/>
                      </a:pPr>
                      <a:r>
                        <a:rPr lang="en-US" sz="1100" dirty="0">
                          <a:solidFill>
                            <a:srgbClr val="1F2937"/>
                          </a:solidFill>
                        </a:rPr>
                        <a:t>내려받기 </a:t>
                      </a:r>
                      <a:pPr indent="0" marL="0">
                        <a:buNone/>
                      </a:pPr>
                      <a:r>
                        <a:rPr lang="en-US" sz="1100" dirty="0">
                          <a:solidFill>
                            <a:srgbClr val="1F2937"/>
                          </a:solidFill>
                        </a:rPr>
                        <a:t>실패</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추정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재시도·복구 </a:t>
                      </a:r>
                      <a:pPr indent="0" marL="0">
                        <a:buNone/>
                      </a:pPr>
                      <a:r>
                        <a:rPr lang="en-US" sz="1100" dirty="0">
                          <a:solidFill>
                            <a:srgbClr val="1F2937"/>
                          </a:solidFill>
                        </a:rPr>
                        <a:t>방식 </a:t>
                      </a:r>
                      <a:pPr indent="0" marL="0">
                        <a:buNone/>
                      </a:pPr>
                      <a:r>
                        <a:rPr lang="en-US" sz="1100" dirty="0">
                          <a:solidFill>
                            <a:srgbClr val="1F2937"/>
                          </a:solidFill>
                        </a:rPr>
                        <a:t>추정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PDF </a:t>
                      </a:r>
                      <a:pPr indent="0" marL="0">
                        <a:buNone/>
                      </a:pPr>
                      <a:r>
                        <a:rPr lang="en-US" sz="1100" dirty="0">
                          <a:solidFill>
                            <a:srgbClr val="1F2937"/>
                          </a:solidFill>
                        </a:rPr>
                        <a:t>내려받기 </a:t>
                      </a:r>
                      <a:pPr indent="0" marL="0">
                        <a:buNone/>
                      </a:pPr>
                      <a:r>
                        <a:rPr lang="en-US" sz="1100" dirty="0">
                          <a:solidFill>
                            <a:srgbClr val="1F2937"/>
                          </a:solidFill>
                        </a:rPr>
                        <a:t>실패</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추정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PDF </a:t>
                      </a:r>
                      <a:pPr indent="0" marL="0">
                        <a:buNone/>
                      </a:pPr>
                      <a:r>
                        <a:rPr lang="en-US" sz="1100" dirty="0">
                          <a:solidFill>
                            <a:srgbClr val="1F2937"/>
                          </a:solidFill>
                        </a:rPr>
                        <a:t>결과 </a:t>
                      </a:r>
                      <a:pPr indent="0" marL="0">
                        <a:buNone/>
                      </a:pPr>
                      <a:r>
                        <a:rPr lang="en-US" sz="1100" dirty="0">
                          <a:solidFill>
                            <a:srgbClr val="1F2937"/>
                          </a:solidFill>
                        </a:rPr>
                        <a:t>생성 </a:t>
                      </a:r>
                      <a:pPr indent="0" marL="0">
                        <a:buNone/>
                      </a:pPr>
                      <a:r>
                        <a:rPr lang="en-US" sz="1100" dirty="0">
                          <a:solidFill>
                            <a:srgbClr val="1F2937"/>
                          </a:solidFill>
                        </a:rPr>
                        <a:t>또는 </a:t>
                      </a:r>
                      <a:pPr indent="0" marL="0">
                        <a:buNone/>
                      </a:pPr>
                      <a:r>
                        <a:rPr lang="en-US" sz="1100" dirty="0">
                          <a:solidFill>
                            <a:srgbClr val="1F2937"/>
                          </a:solidFill>
                        </a:rPr>
                        <a:t>내려받기 </a:t>
                      </a:r>
                      <a:pPr indent="0" marL="0">
                        <a:buNone/>
                      </a:pPr>
                      <a:r>
                        <a:rPr lang="en-US" sz="1100" dirty="0">
                          <a:solidFill>
                            <a:srgbClr val="1F2937"/>
                          </a:solidFill>
                        </a:rPr>
                        <a:t>실패</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추정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재시도·복구 </a:t>
                      </a:r>
                      <a:pPr indent="0" marL="0">
                        <a:buNone/>
                      </a:pPr>
                      <a:r>
                        <a:rPr lang="en-US" sz="1100" dirty="0">
                          <a:solidFill>
                            <a:srgbClr val="1F2937"/>
                          </a:solidFill>
                        </a:rPr>
                        <a:t>방식 </a:t>
                      </a:r>
                      <a:pPr indent="0" marL="0">
                        <a:buNone/>
                      </a:pPr>
                      <a:r>
                        <a:rPr lang="en-US" sz="1100" dirty="0">
                          <a:solidFill>
                            <a:srgbClr val="1F2937"/>
                          </a:solidFill>
                        </a:rPr>
                        <a:t>추정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표·다이어그램 </a:t>
                      </a:r>
                      <a:pPr indent="0" marL="0">
                        <a:buNone/>
                      </a:pPr>
                      <a:r>
                        <a:rPr lang="en-US" sz="1100" dirty="0">
                          <a:solidFill>
                            <a:srgbClr val="1F2937"/>
                          </a:solidFill>
                        </a:rPr>
                        <a:t>누락</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추정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내려받기 </a:t>
                      </a:r>
                      <a:pPr indent="0" marL="0">
                        <a:buNone/>
                      </a:pPr>
                      <a:r>
                        <a:rPr lang="en-US" sz="1100" dirty="0">
                          <a:solidFill>
                            <a:srgbClr val="1F2937"/>
                          </a:solidFill>
                        </a:rPr>
                        <a:t>결과에 </a:t>
                      </a:r>
                      <a:pPr indent="0" marL="0">
                        <a:buNone/>
                      </a:pPr>
                      <a:r>
                        <a:rPr lang="en-US" sz="1100" dirty="0">
                          <a:solidFill>
                            <a:srgbClr val="1F2937"/>
                          </a:solidFill>
                        </a:rPr>
                        <a:t>필수 </a:t>
                      </a:r>
                      <a:pPr indent="0" marL="0">
                        <a:buNone/>
                      </a:pPr>
                      <a:r>
                        <a:rPr lang="en-US" sz="1100" dirty="0">
                          <a:solidFill>
                            <a:srgbClr val="1F2937"/>
                          </a:solidFill>
                        </a:rPr>
                        <a:t>요소 </a:t>
                      </a:r>
                      <a:pPr indent="0" marL="0">
                        <a:buNone/>
                      </a:pPr>
                      <a:r>
                        <a:rPr lang="en-US" sz="1100" dirty="0">
                          <a:solidFill>
                            <a:srgbClr val="1F2937"/>
                          </a:solidFill>
                        </a:rPr>
                        <a:t>누락</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추정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수정 </a:t>
                      </a:r>
                      <a:pPr indent="0" marL="0">
                        <a:buNone/>
                      </a:pPr>
                      <a:r>
                        <a:rPr lang="en-US" sz="1100" dirty="0">
                          <a:solidFill>
                            <a:srgbClr val="1F2937"/>
                          </a:solidFill>
                        </a:rPr>
                        <a:t>후 </a:t>
                      </a:r>
                      <a:pPr indent="0" marL="0">
                        <a:buNone/>
                      </a:pPr>
                      <a:r>
                        <a:rPr lang="en-US" sz="1100" dirty="0">
                          <a:solidFill>
                            <a:srgbClr val="1F2937"/>
                          </a:solidFill>
                        </a:rPr>
                        <a:t>재검증 </a:t>
                      </a:r>
                      <a:pPr indent="0" marL="0">
                        <a:buNone/>
                      </a:pPr>
                      <a:r>
                        <a:rPr lang="en-US" sz="1100" dirty="0">
                          <a:solidFill>
                            <a:srgbClr val="1F2937"/>
                          </a:solidFill>
                        </a:rPr>
                        <a:t>방식 </a:t>
                      </a:r>
                      <a:pPr indent="0" marL="0">
                        <a:buNone/>
                      </a:pPr>
                      <a:r>
                        <a:rPr lang="en-US" sz="1100" dirty="0">
                          <a:solidFill>
                            <a:srgbClr val="1F2937"/>
                          </a:solidFill>
                        </a:rPr>
                        <a:t>추정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5. 시스템 간 연동 플로우</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5.1 로그인 및 문서 생성 연동 (1/2)</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회의에서 확인된 연동 요구는 로그인 이후 회의록 입력·문서 생성이 이어지고, 완료된 섹션이 기기에 저장되며, 사용자가 돌아오면 이어서 생성하는 것입니다. 통신 프로토콜, 데이터 형식, 로그인 인증 방식, 서버 구성 및 API 경로는 정해지지 않았습니다. 따라서 아래 연동 구조는 기능 간 관계를 나타내며 실제 기술 구성을 확정하지 않습니다.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5.1 로그인 및 문서 생성 연동 (2/2)</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장애의 영향 범위는 구현 구조에 따라 달라집니다. 예를 들어 로그인에 실패하면 문서 작업을 시작할 수 없을 수 있고, 기기 저장에 실패하면 재방문 후 이어서 생성하는 흐름에 영향을 줄 수 있습니다. 이러한 영향은 흐름상의 가정이며, 시스템이 실제로 어떻게 동작하는지 검증이 필요합니다.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5.1 로그인 및 문서 생성 연동</a:t>
            </a:r>
            <a:endParaRPr lang="en-US" sz="2800" dirty="0"/>
          </a:p>
        </p:txBody>
      </p:sp>
      <p:sp>
        <p:nvSpPr>
          <p:cNvPr id="3" name="Shape 1"/>
          <p:cNvSpPr/>
          <p:nvPr/>
        </p:nvSpPr>
        <p:spPr>
          <a:xfrm>
            <a:off x="457200" y="1078992"/>
            <a:ext cx="2743200" cy="41148"/>
          </a:xfrm>
          <a:prstGeom prst="rect">
            <a:avLst/>
          </a:prstGeom>
          <a:solidFill>
            <a:srgbClr val="263F59"/>
          </a:solidFill>
          <a:ln/>
        </p:spPr>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1899138"/>
                <a:gridCol w="2004646"/>
                <a:gridCol w="1266092"/>
                <a:gridCol w="3059723"/>
              </a:tblGrid>
              <a:tr h="0">
                <a:tc>
                  <a:txBody>
                    <a:bodyPr/>
                    <a:lstStyle/>
                    <a:p>
                      <a:pPr indent="0" marL="0">
                        <a:buNone/>
                      </a:pPr>
                      <a:r>
                        <a:rPr lang="en-US" sz="1200" b="1" dirty="0">
                          <a:solidFill>
                            <a:srgbClr val="FFFFFF"/>
                          </a:solidFill>
                        </a:rPr>
                        <a:t>연동 </a:t>
                      </a:r>
                      <a:pPr indent="0" marL="0">
                        <a:buNone/>
                      </a:pPr>
                      <a:r>
                        <a:rPr lang="en-US" sz="1200" b="1" dirty="0">
                          <a:solidFill>
                            <a:srgbClr val="FFFFFF"/>
                          </a:solidFill>
                        </a:rPr>
                        <a:t>구간</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주고받는 </a:t>
                      </a:r>
                      <a:pPr indent="0" marL="0">
                        <a:buNone/>
                      </a:pPr>
                      <a:r>
                        <a:rPr lang="en-US" sz="1200" b="1" dirty="0">
                          <a:solidFill>
                            <a:srgbClr val="FFFFFF"/>
                          </a:solidFill>
                        </a:rPr>
                        <a:t>정보</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목적</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확정 </a:t>
                      </a:r>
                      <a:pPr indent="0" marL="0">
                        <a:buNone/>
                      </a:pPr>
                      <a:r>
                        <a:rPr lang="en-US" sz="1200" b="1" dirty="0">
                          <a:solidFill>
                            <a:srgbClr val="FFFFFF"/>
                          </a:solidFill>
                        </a:rPr>
                        <a:t>여부</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r>
              <a:tr h="0">
                <a:tc>
                  <a:txBody>
                    <a:bodyPr/>
                    <a:lstStyle/>
                    <a:p>
                      <a:pPr indent="0" marL="0">
                        <a:buNone/>
                      </a:pPr>
                      <a:r>
                        <a:rPr lang="en-US" sz="1100" dirty="0">
                          <a:solidFill>
                            <a:srgbClr val="1F2937"/>
                          </a:solidFill>
                        </a:rPr>
                        <a:t>사용자와 </a:t>
                      </a:r>
                      <a:pPr indent="0" marL="0">
                        <a:buNone/>
                      </a:pPr>
                      <a:r>
                        <a:rPr lang="en-US" sz="1100" dirty="0">
                          <a:solidFill>
                            <a:srgbClr val="1F2937"/>
                          </a:solidFill>
                        </a:rPr>
                        <a:t>로그인 </a:t>
                      </a:r>
                      <a:pPr indent="0" marL="0">
                        <a:buNone/>
                      </a:pPr>
                      <a:r>
                        <a:rPr lang="en-US" sz="1100" dirty="0">
                          <a:solidFill>
                            <a:srgbClr val="1F2937"/>
                          </a:solidFill>
                        </a:rPr>
                        <a:t>기능</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로그인 </a:t>
                      </a:r>
                      <a:pPr indent="0" marL="0">
                        <a:buNone/>
                      </a:pPr>
                      <a:r>
                        <a:rPr lang="en-US" sz="1100" dirty="0">
                          <a:solidFill>
                            <a:srgbClr val="1F2937"/>
                          </a:solidFill>
                        </a:rPr>
                        <a:t>입력 </a:t>
                      </a:r>
                      <a:pPr indent="0" marL="0">
                        <a:buNone/>
                      </a:pPr>
                      <a:r>
                        <a:rPr lang="en-US" sz="1100" dirty="0">
                          <a:solidFill>
                            <a:srgbClr val="1F2937"/>
                          </a:solidFill>
                        </a:rPr>
                        <a:t>정보와 </a:t>
                      </a:r>
                      <a:pPr indent="0" marL="0">
                        <a:buNone/>
                      </a:pPr>
                      <a:r>
                        <a:rPr lang="en-US" sz="1100" dirty="0">
                          <a:solidFill>
                            <a:srgbClr val="1F2937"/>
                          </a:solidFill>
                        </a:rPr>
                        <a:t>인증 </a:t>
                      </a:r>
                      <a:pPr indent="0" marL="0">
                        <a:buNone/>
                      </a:pPr>
                      <a:r>
                        <a:rPr lang="en-US" sz="1100" dirty="0">
                          <a:solidFill>
                            <a:srgbClr val="1F2937"/>
                          </a:solidFill>
                        </a:rPr>
                        <a:t>결과</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로그인 </a:t>
                      </a:r>
                      <a:pPr indent="0" marL="0">
                        <a:buNone/>
                      </a:pPr>
                      <a:r>
                        <a:rPr lang="en-US" sz="1100" dirty="0">
                          <a:solidFill>
                            <a:srgbClr val="1F2937"/>
                          </a:solidFill>
                        </a:rPr>
                        <a:t>처리</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기능 </a:t>
                      </a:r>
                      <a:pPr indent="0" marL="0">
                        <a:buNone/>
                      </a:pPr>
                      <a:r>
                        <a:rPr lang="en-US" sz="1100" dirty="0">
                          <a:solidFill>
                            <a:srgbClr val="1F2937"/>
                          </a:solidFill>
                        </a:rPr>
                        <a:t>포함 </a:t>
                      </a:r>
                      <a:pPr indent="0" marL="0">
                        <a:buNone/>
                      </a:pPr>
                      <a:r>
                        <a:rPr lang="en-US" sz="1100" dirty="0">
                          <a:solidFill>
                            <a:srgbClr val="1F2937"/>
                          </a:solidFill>
                        </a:rPr>
                        <a:t>확인, </a:t>
                      </a:r>
                      <a:pPr indent="0" marL="0">
                        <a:buNone/>
                      </a:pPr>
                      <a:r>
                        <a:rPr lang="en-US" sz="1100" dirty="0">
                          <a:solidFill>
                            <a:srgbClr val="1F2937"/>
                          </a:solidFill>
                        </a:rPr>
                        <a:t>세부 </a:t>
                      </a:r>
                      <a:pPr indent="0" marL="0">
                        <a:buNone/>
                      </a:pPr>
                      <a:r>
                        <a:rPr lang="en-US" sz="1100" dirty="0">
                          <a:solidFill>
                            <a:srgbClr val="1F2937"/>
                          </a:solidFill>
                        </a:rPr>
                        <a:t>규격 </a:t>
                      </a:r>
                      <a:pPr indent="0" marL="0">
                        <a:buNone/>
                      </a:pPr>
                      <a:r>
                        <a:rPr lang="en-US" sz="1100" dirty="0">
                          <a:solidFill>
                            <a:srgbClr val="1F2937"/>
                          </a:solidFill>
                        </a:rPr>
                        <a:t>미정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사용자와 </a:t>
                      </a:r>
                      <a:pPr indent="0" marL="0">
                        <a:buNone/>
                      </a:pPr>
                      <a:r>
                        <a:rPr lang="en-US" sz="1100" dirty="0">
                          <a:solidFill>
                            <a:srgbClr val="1F2937"/>
                          </a:solidFill>
                        </a:rPr>
                        <a:t>회의록 </a:t>
                      </a:r>
                      <a:pPr indent="0" marL="0">
                        <a:buNone/>
                      </a:pPr>
                      <a:r>
                        <a:rPr lang="en-US" sz="1100" dirty="0">
                          <a:solidFill>
                            <a:srgbClr val="1F2937"/>
                          </a:solidFill>
                        </a:rPr>
                        <a:t>입력 </a:t>
                      </a:r>
                      <a:pPr indent="0" marL="0">
                        <a:buNone/>
                      </a:pPr>
                      <a:r>
                        <a:rPr lang="en-US" sz="1100" dirty="0">
                          <a:solidFill>
                            <a:srgbClr val="1F2937"/>
                          </a:solidFill>
                        </a:rPr>
                        <a:t>기능</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회의록 </a:t>
                      </a:r>
                      <a:pPr indent="0" marL="0">
                        <a:buNone/>
                      </a:pPr>
                      <a:r>
                        <a:rPr lang="en-US" sz="1100" dirty="0">
                          <a:solidFill>
                            <a:srgbClr val="1F2937"/>
                          </a:solidFill>
                        </a:rPr>
                        <a:t>내용</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문서 </a:t>
                      </a:r>
                      <a:pPr indent="0" marL="0">
                        <a:buNone/>
                      </a:pPr>
                      <a:r>
                        <a:rPr lang="en-US" sz="1100" dirty="0">
                          <a:solidFill>
                            <a:srgbClr val="1F2937"/>
                          </a:solidFill>
                        </a:rPr>
                        <a:t>원본 </a:t>
                      </a:r>
                      <a:pPr indent="0" marL="0">
                        <a:buNone/>
                      </a:pPr>
                      <a:r>
                        <a:rPr lang="en-US" sz="1100" dirty="0">
                          <a:solidFill>
                            <a:srgbClr val="1F2937"/>
                          </a:solidFill>
                        </a:rPr>
                        <a:t>입력</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기능 </a:t>
                      </a:r>
                      <a:pPr indent="0" marL="0">
                        <a:buNone/>
                      </a:pPr>
                      <a:r>
                        <a:rPr lang="en-US" sz="1100" dirty="0">
                          <a:solidFill>
                            <a:srgbClr val="1F2937"/>
                          </a:solidFill>
                        </a:rPr>
                        <a:t>포함 </a:t>
                      </a:r>
                      <a:pPr indent="0" marL="0">
                        <a:buNone/>
                      </a:pPr>
                      <a:r>
                        <a:rPr lang="en-US" sz="1100" dirty="0">
                          <a:solidFill>
                            <a:srgbClr val="1F2937"/>
                          </a:solidFill>
                        </a:rPr>
                        <a:t>확인, </a:t>
                      </a:r>
                      <a:pPr indent="0" marL="0">
                        <a:buNone/>
                      </a:pPr>
                      <a:r>
                        <a:rPr lang="en-US" sz="1100" dirty="0">
                          <a:solidFill>
                            <a:srgbClr val="1F2937"/>
                          </a:solidFill>
                        </a:rPr>
                        <a:t>입력 </a:t>
                      </a:r>
                      <a:pPr indent="0" marL="0">
                        <a:buNone/>
                      </a:pPr>
                      <a:r>
                        <a:rPr lang="en-US" sz="1100" dirty="0">
                          <a:solidFill>
                            <a:srgbClr val="1F2937"/>
                          </a:solidFill>
                        </a:rPr>
                        <a:t>형식 </a:t>
                      </a:r>
                      <a:pPr indent="0" marL="0">
                        <a:buNone/>
                      </a:pPr>
                      <a:r>
                        <a:rPr lang="en-US" sz="1100" dirty="0">
                          <a:solidFill>
                            <a:srgbClr val="1F2937"/>
                          </a:solidFill>
                        </a:rPr>
                        <a:t>미정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문서 </a:t>
                      </a:r>
                      <a:pPr indent="0" marL="0">
                        <a:buNone/>
                      </a:pPr>
                      <a:r>
                        <a:rPr lang="en-US" sz="1100" dirty="0">
                          <a:solidFill>
                            <a:srgbClr val="1F2937"/>
                          </a:solidFill>
                        </a:rPr>
                        <a:t>생성 </a:t>
                      </a:r>
                      <a:pPr indent="0" marL="0">
                        <a:buNone/>
                      </a:pPr>
                      <a:r>
                        <a:rPr lang="en-US" sz="1100" dirty="0">
                          <a:solidFill>
                            <a:srgbClr val="1F2937"/>
                          </a:solidFill>
                        </a:rPr>
                        <a:t>기능과 </a:t>
                      </a:r>
                      <a:pPr indent="0" marL="0">
                        <a:buNone/>
                      </a:pPr>
                      <a:r>
                        <a:rPr lang="en-US" sz="1100" dirty="0">
                          <a:solidFill>
                            <a:srgbClr val="1F2937"/>
                          </a:solidFill>
                        </a:rPr>
                        <a:t>기기 </a:t>
                      </a:r>
                      <a:pPr indent="0" marL="0">
                        <a:buNone/>
                      </a:pPr>
                      <a:r>
                        <a:rPr lang="en-US" sz="1100" dirty="0">
                          <a:solidFill>
                            <a:srgbClr val="1F2937"/>
                          </a:solidFill>
                        </a:rPr>
                        <a:t>저장 </a:t>
                      </a:r>
                      <a:pPr indent="0" marL="0">
                        <a:buNone/>
                      </a:pPr>
                      <a:r>
                        <a:rPr lang="en-US" sz="1100" dirty="0">
                          <a:solidFill>
                            <a:srgbClr val="1F2937"/>
                          </a:solidFill>
                        </a:rPr>
                        <a:t>기능</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완료된 </a:t>
                      </a:r>
                      <a:pPr indent="0" marL="0">
                        <a:buNone/>
                      </a:pPr>
                      <a:r>
                        <a:rPr lang="en-US" sz="1100" dirty="0">
                          <a:solidFill>
                            <a:srgbClr val="1F2937"/>
                          </a:solidFill>
                        </a:rPr>
                        <a:t>섹션</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이탈 </a:t>
                      </a:r>
                      <a:pPr indent="0" marL="0">
                        <a:buNone/>
                      </a:pPr>
                      <a:r>
                        <a:rPr lang="en-US" sz="1100" dirty="0">
                          <a:solidFill>
                            <a:srgbClr val="1F2937"/>
                          </a:solidFill>
                        </a:rPr>
                        <a:t>후 </a:t>
                      </a:r>
                      <a:pPr indent="0" marL="0">
                        <a:buNone/>
                      </a:pPr>
                      <a:r>
                        <a:rPr lang="en-US" sz="1100" dirty="0">
                          <a:solidFill>
                            <a:srgbClr val="1F2937"/>
                          </a:solidFill>
                        </a:rPr>
                        <a:t>작업 </a:t>
                      </a:r>
                      <a:pPr indent="0" marL="0">
                        <a:buNone/>
                      </a:pPr>
                      <a:r>
                        <a:rPr lang="en-US" sz="1100" dirty="0">
                          <a:solidFill>
                            <a:srgbClr val="1F2937"/>
                          </a:solidFill>
                        </a:rPr>
                        <a:t>이어가기</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기기 </a:t>
                      </a:r>
                      <a:pPr indent="0" marL="0">
                        <a:buNone/>
                      </a:pPr>
                      <a:r>
                        <a:rPr lang="en-US" sz="1100" dirty="0">
                          <a:solidFill>
                            <a:srgbClr val="1F2937"/>
                          </a:solidFill>
                        </a:rPr>
                        <a:t>저장 </a:t>
                      </a:r>
                      <a:pPr indent="0" marL="0">
                        <a:buNone/>
                      </a:pPr>
                      <a:r>
                        <a:rPr lang="en-US" sz="1100" dirty="0">
                          <a:solidFill>
                            <a:srgbClr val="1F2937"/>
                          </a:solidFill>
                        </a:rPr>
                        <a:t>방향 </a:t>
                      </a:r>
                      <a:pPr indent="0" marL="0">
                        <a:buNone/>
                      </a:pPr>
                      <a:r>
                        <a:rPr lang="en-US" sz="1100" dirty="0">
                          <a:solidFill>
                            <a:srgbClr val="1F2937"/>
                          </a:solidFill>
                        </a:rPr>
                        <a:t>확인, </a:t>
                      </a:r>
                      <a:pPr indent="0" marL="0">
                        <a:buNone/>
                      </a:pPr>
                      <a:r>
                        <a:rPr lang="en-US" sz="1100" dirty="0">
                          <a:solidFill>
                            <a:srgbClr val="1F2937"/>
                          </a:solidFill>
                        </a:rPr>
                        <a:t>데이터 </a:t>
                      </a:r>
                      <a:pPr indent="0" marL="0">
                        <a:buNone/>
                      </a:pPr>
                      <a:r>
                        <a:rPr lang="en-US" sz="1100" dirty="0">
                          <a:solidFill>
                            <a:srgbClr val="1F2937"/>
                          </a:solidFill>
                        </a:rPr>
                        <a:t>구조 </a:t>
                      </a:r>
                      <a:pPr indent="0" marL="0">
                        <a:buNone/>
                      </a:pPr>
                      <a:r>
                        <a:rPr lang="en-US" sz="1100" dirty="0">
                          <a:solidFill>
                            <a:srgbClr val="1F2937"/>
                          </a:solidFill>
                        </a:rPr>
                        <a:t>미정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문서 </a:t>
                      </a:r>
                      <a:pPr indent="0" marL="0">
                        <a:buNone/>
                      </a:pPr>
                      <a:r>
                        <a:rPr lang="en-US" sz="1100" dirty="0">
                          <a:solidFill>
                            <a:srgbClr val="1F2937"/>
                          </a:solidFill>
                        </a:rPr>
                        <a:t>생성 </a:t>
                      </a:r>
                      <a:pPr indent="0" marL="0">
                        <a:buNone/>
                      </a:pPr>
                      <a:r>
                        <a:rPr lang="en-US" sz="1100" dirty="0">
                          <a:solidFill>
                            <a:srgbClr val="1F2937"/>
                          </a:solidFill>
                        </a:rPr>
                        <a:t>기능과 </a:t>
                      </a:r>
                      <a:pPr indent="0" marL="0">
                        <a:buNone/>
                      </a:pPr>
                      <a:r>
                        <a:rPr lang="en-US" sz="1100" dirty="0">
                          <a:solidFill>
                            <a:srgbClr val="1F2937"/>
                          </a:solidFill>
                        </a:rPr>
                        <a:t>내려받기 </a:t>
                      </a:r>
                      <a:pPr indent="0" marL="0">
                        <a:buNone/>
                      </a:pPr>
                      <a:r>
                        <a:rPr lang="en-US" sz="1100" dirty="0">
                          <a:solidFill>
                            <a:srgbClr val="1F2937"/>
                          </a:solidFill>
                        </a:rPr>
                        <a:t>기능</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생성된 </a:t>
                      </a:r>
                      <a:pPr indent="0" marL="0">
                        <a:buNone/>
                      </a:pPr>
                      <a:r>
                        <a:rPr lang="en-US" sz="1100" dirty="0">
                          <a:solidFill>
                            <a:srgbClr val="1F2937"/>
                          </a:solidFill>
                        </a:rPr>
                        <a:t>문서와 </a:t>
                      </a:r>
                      <a:pPr indent="0" marL="0">
                        <a:buNone/>
                      </a:pPr>
                      <a:r>
                        <a:rPr lang="en-US" sz="1100" dirty="0">
                          <a:solidFill>
                            <a:srgbClr val="1F2937"/>
                          </a:solidFill>
                        </a:rPr>
                        <a:t>Word·PDF </a:t>
                      </a:r>
                      <a:pPr indent="0" marL="0">
                        <a:buNone/>
                      </a:pPr>
                      <a:r>
                        <a:rPr lang="en-US" sz="1100" dirty="0">
                          <a:solidFill>
                            <a:srgbClr val="1F2937"/>
                          </a:solidFill>
                        </a:rPr>
                        <a:t>결과</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문서 </a:t>
                      </a:r>
                      <a:pPr indent="0" marL="0">
                        <a:buNone/>
                      </a:pPr>
                      <a:r>
                        <a:rPr lang="en-US" sz="1100" dirty="0">
                          <a:solidFill>
                            <a:srgbClr val="1F2937"/>
                          </a:solidFill>
                        </a:rPr>
                        <a:t>내려받기</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Word·PDF </a:t>
                      </a:r>
                      <a:pPr indent="0" marL="0">
                        <a:buNone/>
                      </a:pPr>
                      <a:r>
                        <a:rPr lang="en-US" sz="1100" dirty="0">
                          <a:solidFill>
                            <a:srgbClr val="1F2937"/>
                          </a:solidFill>
                        </a:rPr>
                        <a:t>내려받기 </a:t>
                      </a:r>
                      <a:pPr indent="0" marL="0">
                        <a:buNone/>
                      </a:pPr>
                      <a:r>
                        <a:rPr lang="en-US" sz="1100" dirty="0">
                          <a:solidFill>
                            <a:srgbClr val="1F2937"/>
                          </a:solidFill>
                        </a:rPr>
                        <a:t>포함 </a:t>
                      </a:r>
                      <a:pPr indent="0" marL="0">
                        <a:buNone/>
                      </a:pPr>
                      <a:r>
                        <a:rPr lang="en-US" sz="1100" dirty="0">
                          <a:solidFill>
                            <a:srgbClr val="1F2937"/>
                          </a:solidFill>
                        </a:rPr>
                        <a:t>확인, </a:t>
                      </a:r>
                      <a:pPr indent="0" marL="0">
                        <a:buNone/>
                      </a:pPr>
                      <a:r>
                        <a:rPr lang="en-US" sz="1100" dirty="0">
                          <a:solidFill>
                            <a:srgbClr val="1F2937"/>
                          </a:solidFill>
                        </a:rPr>
                        <a:t>형식 </a:t>
                      </a:r>
                      <a:pPr indent="0" marL="0">
                        <a:buNone/>
                      </a:pPr>
                      <a:r>
                        <a:rPr lang="en-US" sz="1100" dirty="0">
                          <a:solidFill>
                            <a:srgbClr val="1F2937"/>
                          </a:solidFill>
                        </a:rPr>
                        <a:t>규격 </a:t>
                      </a:r>
                      <a:pPr indent="0" marL="0">
                        <a:buNone/>
                      </a:pPr>
                      <a:r>
                        <a:rPr lang="en-US" sz="1100" dirty="0">
                          <a:solidFill>
                            <a:srgbClr val="1F2937"/>
                          </a:solidFill>
                        </a:rPr>
                        <a:t>미정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bl>
          </a:graphicData>
        </a:graphic>
      </p:graphicFrame>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5.1 로그인 및 문서 생성 연동</a:t>
            </a:r>
            <a:endParaRPr lang="en-US" sz="2800" dirty="0"/>
          </a:p>
        </p:txBody>
      </p:sp>
      <p:sp>
        <p:nvSpPr>
          <p:cNvPr id="3" name="Shape 1"/>
          <p:cNvSpPr/>
          <p:nvPr/>
        </p:nvSpPr>
        <p:spPr>
          <a:xfrm>
            <a:off x="457200" y="1078992"/>
            <a:ext cx="2743200" cy="41148"/>
          </a:xfrm>
          <a:prstGeom prst="rect">
            <a:avLst/>
          </a:prstGeom>
          <a:solidFill>
            <a:srgbClr val="263F59"/>
          </a:solidFill>
          <a:ln/>
        </p:spPr>
      </p:sp>
      <p:pic>
        <p:nvPicPr>
          <p:cNvPr id="4" name="Image 0" descr="preencoded.png">    </p:cNvPr>
          <p:cNvPicPr>
            <a:picLocks noChangeAspect="1"/>
          </p:cNvPicPr>
          <p:nvPr/>
        </p:nvPicPr>
        <p:blipFill>
          <a:blip r:embed="rId1"/>
          <a:stretch>
            <a:fillRect/>
          </a:stretch>
        </p:blipFill>
        <p:spPr>
          <a:xfrm>
            <a:off x="640080" y="1463040"/>
            <a:ext cx="7863840" cy="4206240"/>
          </a:xfrm>
          <a:prstGeom prst="rect">
            <a:avLst/>
          </a:prstGeom>
        </p:spPr>
      </p:pic>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5.1 로그인 및 문서 생성 연동 (1/2)</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b="1" dirty="0">
                <a:solidFill>
                  <a:srgbClr val="4B5563"/>
                </a:solidFill>
              </a:rPr>
              <a:t>상세 설명</a:t>
            </a:r>
            <a:endParaRPr lang="en-US" sz="1600" dirty="0"/>
          </a:p>
          <a:p>
            <a:pPr indent="0" marL="0">
              <a:spcAft>
                <a:spcPts val="800"/>
              </a:spcAft>
              <a:buNone/>
            </a:pPr>
            <a:r>
              <a:rPr lang="en-US" sz="1600" dirty="0">
                <a:solidFill>
                  <a:srgbClr val="4B5563"/>
                </a:solidFill>
              </a:rPr>
              <a:t>1. 로그인 기능과 이후 문서 기능의 연결 순서는 전체 시나리오를 정리한 것입니다. 로그인 정보의 보관 방식, 인증 토큰의 사용 여부 및 만료 방식은 회의에서 언급되지 않았습니다.</a:t>
            </a:r>
            <a:endParaRPr lang="en-US" sz="1600" dirty="0"/>
          </a:p>
          <a:p>
            <a:pPr indent="0" marL="0">
              <a:spcAft>
                <a:spcPts val="800"/>
              </a:spcAft>
              <a:buNone/>
            </a:pPr>
            <a:r>
              <a:rPr lang="en-US" sz="1600" dirty="0">
                <a:solidFill>
                  <a:srgbClr val="4B5563"/>
                </a:solidFill>
              </a:rPr>
              <a:t>2. 회의록 입력에서 생성 기능으로 어떤 데이터가 전달되는지, 입력값이 어떻게 저장되는지는 미정입니다. 따라서 특정 API 경로나 데이터 형식이 확정된 것으로 기술하지 않습니다.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5.1 로그인 및 문서 생성 연동 (2/2)</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3. 완료된 섹션을 기기에 저장하고 복귀 후 재사용하는 흐름은 회의에서 제시되었습니다. 다만 저장 위치, 저장 시점, 삭제 시점, 다른 기기와의 동기화 여부는 정해지지 않았습니다.</a:t>
            </a:r>
            <a:endParaRPr lang="en-US" sz="1600" dirty="0"/>
          </a:p>
          <a:p>
            <a:pPr indent="0" marL="0">
              <a:spcAft>
                <a:spcPts val="800"/>
              </a:spcAft>
              <a:buNone/>
            </a:pPr>
            <a:r>
              <a:rPr lang="en-US" sz="1600" dirty="0">
                <a:solidFill>
                  <a:srgbClr val="4B5563"/>
                </a:solidFill>
              </a:rPr>
              <a:t>4. 문서 생성 결과를 Word와 PDF로 내려받는 과정에서 표와 다이어그램이 빠지지 않아야 합니다. 형식별 변환 방식과 검증 주체는 미정이며, 내려받기 결과 검증 절차를 별도로 설계해야 합니다.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5.2 데이터 연동 흐름</a:t>
            </a:r>
            <a:endParaRPr lang="en-US" sz="2800" dirty="0"/>
          </a:p>
        </p:txBody>
      </p:sp>
      <p:sp>
        <p:nvSpPr>
          <p:cNvPr id="3" name="Shape 1"/>
          <p:cNvSpPr/>
          <p:nvPr/>
        </p:nvSpPr>
        <p:spPr>
          <a:xfrm>
            <a:off x="457200" y="1078992"/>
            <a:ext cx="2743200" cy="41148"/>
          </a:xfrm>
          <a:prstGeom prst="rect">
            <a:avLst/>
          </a:prstGeom>
          <a:solidFill>
            <a:srgbClr val="263F59"/>
          </a:solidFill>
          <a:ln/>
        </p:spPr>
      </p:sp>
      <p:pic>
        <p:nvPicPr>
          <p:cNvPr id="4" name="Image 0" descr="preencoded.png">    </p:cNvPr>
          <p:cNvPicPr>
            <a:picLocks noChangeAspect="1"/>
          </p:cNvPicPr>
          <p:nvPr/>
        </p:nvPicPr>
        <p:blipFill>
          <a:blip r:embed="rId1"/>
          <a:stretch>
            <a:fillRect/>
          </a:stretch>
        </p:blipFill>
        <p:spPr>
          <a:xfrm>
            <a:off x="640080" y="1463040"/>
            <a:ext cx="7863840" cy="1080634"/>
          </a:xfrm>
          <a:prstGeom prst="rect">
            <a:avLst/>
          </a:prstGeom>
        </p:spPr>
      </p:pic>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6. 비즈니스 로직 플로우</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6.1 데이터 처리 플로우 (1/2)</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데이터 수집 대상은 사용자가 입력하는 회의록 내용입니다. 입력 화면의 필수 항목, 허용 형식, 길이 제한, 누락 검사 및 중복 처리 규칙은 회의에서 정해지지 않았습니다. 따라서 입력 단계의 세부 검증 규칙은 추정 필요입니다.</a:t>
            </a:r>
            <a:endParaRPr lang="en-US" sz="1600" dirty="0"/>
          </a:p>
          <a:p>
            <a:pPr indent="0" marL="0">
              <a:spcAft>
                <a:spcPts val="800"/>
              </a:spcAft>
              <a:buNone/>
            </a:pPr>
            <a:r>
              <a:rPr lang="en-US" sz="1600" dirty="0">
                <a:solidFill>
                  <a:srgbClr val="4B5563"/>
                </a:solidFill>
              </a:rPr>
              <a:t>회의에서 확인된 내용 처리 원칙은 원문 내용을 바꾸지 않는 것입니다. 표지, 목차, 표 스타일을 통일하되 내용 자체는 변경하지 않는다는 점이 명시되었습니다. 문서 생성 기능은 이 원칙을 지켜야 하지만, 원문 보존을 시스템에서 어떤 방식으로 검증할지는 미정입니다.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6.1 데이터 처리 플로우 (2/2)</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생성 중에는 완료된 섹션을 기기에 저장하고, 복귀 시 그 섹션을 재사용해 이어서 생성합니다. Word와 PDF 내려받기 결과는 표와 다이어그램의 누락 여부를 확인해야 합니다. 생성 데이터의 영구 저장, 서버 보관, 버전 관리 및 삭제 정책은 회의에서 정해지지 않았습니다.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6.1 데이터 처리 플로우</a:t>
            </a:r>
            <a:endParaRPr lang="en-US" sz="2800" dirty="0"/>
          </a:p>
        </p:txBody>
      </p:sp>
      <p:sp>
        <p:nvSpPr>
          <p:cNvPr id="3" name="Shape 1"/>
          <p:cNvSpPr/>
          <p:nvPr/>
        </p:nvSpPr>
        <p:spPr>
          <a:xfrm>
            <a:off x="457200" y="1078992"/>
            <a:ext cx="2743200" cy="41148"/>
          </a:xfrm>
          <a:prstGeom prst="rect">
            <a:avLst/>
          </a:prstGeom>
          <a:solidFill>
            <a:srgbClr val="263F59"/>
          </a:solidFill>
          <a:ln/>
        </p:spPr>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617220"/>
                <a:gridCol w="891540"/>
                <a:gridCol w="1920240"/>
                <a:gridCol w="822960"/>
                <a:gridCol w="2331720"/>
                <a:gridCol w="1645920"/>
              </a:tblGrid>
              <a:tr h="0">
                <a:tc>
                  <a:txBody>
                    <a:bodyPr/>
                    <a:lstStyle/>
                    <a:p>
                      <a:pPr indent="0" marL="0">
                        <a:buNone/>
                      </a:pPr>
                      <a:r>
                        <a:rPr lang="en-US" sz="1200" b="1" dirty="0">
                          <a:solidFill>
                            <a:srgbClr val="FFFFFF"/>
                          </a:solidFill>
                        </a:rPr>
                        <a:t>처리 </a:t>
                      </a:r>
                      <a:pPr indent="0" marL="0">
                        <a:buNone/>
                      </a:pPr>
                      <a:r>
                        <a:rPr lang="en-US" sz="1200" b="1" dirty="0">
                          <a:solidFill>
                            <a:srgbClr val="FFFFFF"/>
                          </a:solidFill>
                        </a:rPr>
                        <a:t>단계</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입력</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처리</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출력</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담당</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완료 </a:t>
                      </a:r>
                      <a:pPr indent="0" marL="0">
                        <a:buNone/>
                      </a:pPr>
                      <a:r>
                        <a:rPr lang="en-US" sz="1200" b="1" dirty="0">
                          <a:solidFill>
                            <a:srgbClr val="FFFFFF"/>
                          </a:solidFill>
                        </a:rPr>
                        <a:t>기준</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r>
              <a:tr h="0">
                <a:tc>
                  <a:txBody>
                    <a:bodyPr/>
                    <a:lstStyle/>
                    <a:p>
                      <a:pPr indent="0" marL="0">
                        <a:buNone/>
                      </a:pPr>
                      <a:r>
                        <a:rPr lang="en-US" sz="1100" dirty="0">
                          <a:solidFill>
                            <a:srgbClr val="1F2937"/>
                          </a:solidFill>
                        </a:rPr>
                        <a:t>회의록 </a:t>
                      </a:r>
                      <a:pPr indent="0" marL="0">
                        <a:buNone/>
                      </a:pPr>
                      <a:r>
                        <a:rPr lang="en-US" sz="1100" dirty="0">
                          <a:solidFill>
                            <a:srgbClr val="1F2937"/>
                          </a:solidFill>
                        </a:rPr>
                        <a:t>입력</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회의록 </a:t>
                      </a:r>
                      <a:pPr indent="0" marL="0">
                        <a:buNone/>
                      </a:pPr>
                      <a:r>
                        <a:rPr lang="en-US" sz="1100" dirty="0">
                          <a:solidFill>
                            <a:srgbClr val="1F2937"/>
                          </a:solidFill>
                        </a:rPr>
                        <a:t>내용</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사용자 </a:t>
                      </a:r>
                      <a:pPr indent="0" marL="0">
                        <a:buNone/>
                      </a:pPr>
                      <a:r>
                        <a:rPr lang="en-US" sz="1100" dirty="0">
                          <a:solidFill>
                            <a:srgbClr val="1F2937"/>
                          </a:solidFill>
                        </a:rPr>
                        <a:t>입력 </a:t>
                      </a:r>
                      <a:pPr indent="0" marL="0">
                        <a:buNone/>
                      </a:pPr>
                      <a:r>
                        <a:rPr lang="en-US" sz="1100" dirty="0">
                          <a:solidFill>
                            <a:srgbClr val="1F2937"/>
                          </a:solidFill>
                        </a:rPr>
                        <a:t>수집</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입력된 </a:t>
                      </a:r>
                      <a:pPr indent="0" marL="0">
                        <a:buNone/>
                      </a:pPr>
                      <a:r>
                        <a:rPr lang="en-US" sz="1100" dirty="0">
                          <a:solidFill>
                            <a:srgbClr val="1F2937"/>
                          </a:solidFill>
                        </a:rPr>
                        <a:t>원문</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사용자</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완료 </a:t>
                      </a:r>
                      <a:pPr indent="0" marL="0">
                        <a:buNone/>
                      </a:pPr>
                      <a:r>
                        <a:rPr lang="en-US" sz="1100" dirty="0">
                          <a:solidFill>
                            <a:srgbClr val="1F2937"/>
                          </a:solidFill>
                        </a:rPr>
                        <a:t>기준·필수 </a:t>
                      </a:r>
                      <a:pPr indent="0" marL="0">
                        <a:buNone/>
                      </a:pPr>
                      <a:r>
                        <a:rPr lang="en-US" sz="1100" dirty="0">
                          <a:solidFill>
                            <a:srgbClr val="1F2937"/>
                          </a:solidFill>
                        </a:rPr>
                        <a:t>항목 </a:t>
                      </a:r>
                      <a:pPr indent="0" marL="0">
                        <a:buNone/>
                      </a:pPr>
                      <a:r>
                        <a:rPr lang="en-US" sz="1100" dirty="0">
                          <a:solidFill>
                            <a:srgbClr val="1F2937"/>
                          </a:solidFill>
                        </a:rPr>
                        <a:t>추정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입력 </a:t>
                      </a:r>
                      <a:pPr indent="0" marL="0">
                        <a:buNone/>
                      </a:pPr>
                      <a:r>
                        <a:rPr lang="en-US" sz="1100" dirty="0">
                          <a:solidFill>
                            <a:srgbClr val="1F2937"/>
                          </a:solidFill>
                        </a:rPr>
                        <a:t>확인</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입력된 </a:t>
                      </a:r>
                      <a:pPr indent="0" marL="0">
                        <a:buNone/>
                      </a:pPr>
                      <a:r>
                        <a:rPr lang="en-US" sz="1100" dirty="0">
                          <a:solidFill>
                            <a:srgbClr val="1F2937"/>
                          </a:solidFill>
                        </a:rPr>
                        <a:t>원문</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누락·형식 </a:t>
                      </a:r>
                      <a:pPr indent="0" marL="0">
                        <a:buNone/>
                      </a:pPr>
                      <a:r>
                        <a:rPr lang="en-US" sz="1100" dirty="0">
                          <a:solidFill>
                            <a:srgbClr val="1F2937"/>
                          </a:solidFill>
                        </a:rPr>
                        <a:t>확인. </a:t>
                      </a:r>
                      <a:pPr indent="0" marL="0">
                        <a:buNone/>
                      </a:pPr>
                      <a:r>
                        <a:rPr lang="en-US" sz="1100" dirty="0">
                          <a:solidFill>
                            <a:srgbClr val="1F2937"/>
                          </a:solidFill>
                        </a:rPr>
                        <a:t>규칙 </a:t>
                      </a:r>
                      <a:pPr indent="0" marL="0">
                        <a:buNone/>
                      </a:pPr>
                      <a:r>
                        <a:rPr lang="en-US" sz="1100" dirty="0">
                          <a:solidFill>
                            <a:srgbClr val="1F2937"/>
                          </a:solidFill>
                        </a:rPr>
                        <a:t>추정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확인된 </a:t>
                      </a:r>
                      <a:pPr indent="0" marL="0">
                        <a:buNone/>
                      </a:pPr>
                      <a:r>
                        <a:rPr lang="en-US" sz="1100" dirty="0">
                          <a:solidFill>
                            <a:srgbClr val="1F2937"/>
                          </a:solidFill>
                        </a:rPr>
                        <a:t>입력 </a:t>
                      </a:r>
                      <a:pPr indent="0" marL="0">
                        <a:buNone/>
                      </a:pPr>
                      <a:r>
                        <a:rPr lang="en-US" sz="1100" dirty="0">
                          <a:solidFill>
                            <a:srgbClr val="1F2937"/>
                          </a:solidFill>
                        </a:rPr>
                        <a:t>또는 </a:t>
                      </a:r>
                      <a:pPr indent="0" marL="0">
                        <a:buNone/>
                      </a:pPr>
                      <a:r>
                        <a:rPr lang="en-US" sz="1100" dirty="0">
                          <a:solidFill>
                            <a:srgbClr val="1F2937"/>
                          </a:solidFill>
                        </a:rPr>
                        <a:t>오류</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시스템 </a:t>
                      </a:r>
                      <a:pPr indent="0" marL="0">
                        <a:buNone/>
                      </a:pPr>
                      <a:r>
                        <a:rPr lang="en-US" sz="1100" dirty="0">
                          <a:solidFill>
                            <a:srgbClr val="1F2937"/>
                          </a:solidFill>
                        </a:rPr>
                        <a:t>담당 </a:t>
                      </a:r>
                      <a:pPr indent="0" marL="0">
                        <a:buNone/>
                      </a:pPr>
                      <a:r>
                        <a:rPr lang="en-US" sz="1100" dirty="0">
                          <a:solidFill>
                            <a:srgbClr val="1F2937"/>
                          </a:solidFill>
                        </a:rPr>
                        <a:t>추정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검증 </a:t>
                      </a:r>
                      <a:pPr indent="0" marL="0">
                        <a:buNone/>
                      </a:pPr>
                      <a:r>
                        <a:rPr lang="en-US" sz="1100" dirty="0">
                          <a:solidFill>
                            <a:srgbClr val="1F2937"/>
                          </a:solidFill>
                        </a:rPr>
                        <a:t>규칙 </a:t>
                      </a:r>
                      <a:pPr indent="0" marL="0">
                        <a:buNone/>
                      </a:pPr>
                      <a:r>
                        <a:rPr lang="en-US" sz="1100" dirty="0">
                          <a:solidFill>
                            <a:srgbClr val="1F2937"/>
                          </a:solidFill>
                        </a:rPr>
                        <a:t>추정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섹션 </a:t>
                      </a:r>
                      <a:pPr indent="0" marL="0">
                        <a:buNone/>
                      </a:pPr>
                      <a:r>
                        <a:rPr lang="en-US" sz="1100" dirty="0">
                          <a:solidFill>
                            <a:srgbClr val="1F2937"/>
                          </a:solidFill>
                        </a:rPr>
                        <a:t>생성</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확인된 </a:t>
                      </a:r>
                      <a:pPr indent="0" marL="0">
                        <a:buNone/>
                      </a:pPr>
                      <a:r>
                        <a:rPr lang="en-US" sz="1100" dirty="0">
                          <a:solidFill>
                            <a:srgbClr val="1F2937"/>
                          </a:solidFill>
                        </a:rPr>
                        <a:t>회의록 </a:t>
                      </a:r>
                      <a:pPr indent="0" marL="0">
                        <a:buNone/>
                      </a:pPr>
                      <a:r>
                        <a:rPr lang="en-US" sz="1100" dirty="0">
                          <a:solidFill>
                            <a:srgbClr val="1F2937"/>
                          </a:solidFill>
                        </a:rPr>
                        <a:t>내용</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문서 </a:t>
                      </a:r>
                      <a:pPr indent="0" marL="0">
                        <a:buNone/>
                      </a:pPr>
                      <a:r>
                        <a:rPr lang="en-US" sz="1100" dirty="0">
                          <a:solidFill>
                            <a:srgbClr val="1F2937"/>
                          </a:solidFill>
                        </a:rPr>
                        <a:t>섹션 </a:t>
                      </a:r>
                      <a:pPr indent="0" marL="0">
                        <a:buNone/>
                      </a:pPr>
                      <a:r>
                        <a:rPr lang="en-US" sz="1100" dirty="0">
                          <a:solidFill>
                            <a:srgbClr val="1F2937"/>
                          </a:solidFill>
                        </a:rPr>
                        <a:t>생성</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생성된 </a:t>
                      </a:r>
                      <a:pPr indent="0" marL="0">
                        <a:buNone/>
                      </a:pPr>
                      <a:r>
                        <a:rPr lang="en-US" sz="1100" dirty="0">
                          <a:solidFill>
                            <a:srgbClr val="1F2937"/>
                          </a:solidFill>
                        </a:rPr>
                        <a:t>섹션</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시스템 </a:t>
                      </a:r>
                      <a:pPr indent="0" marL="0">
                        <a:buNone/>
                      </a:pPr>
                      <a:r>
                        <a:rPr lang="en-US" sz="1100" dirty="0">
                          <a:solidFill>
                            <a:srgbClr val="1F2937"/>
                          </a:solidFill>
                        </a:rPr>
                        <a:t>담당 </a:t>
                      </a:r>
                      <a:pPr indent="0" marL="0">
                        <a:buNone/>
                      </a:pPr>
                      <a:r>
                        <a:rPr lang="en-US" sz="1100" dirty="0">
                          <a:solidFill>
                            <a:srgbClr val="1F2937"/>
                          </a:solidFill>
                        </a:rPr>
                        <a:t>추정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섹션 </a:t>
                      </a:r>
                      <a:pPr indent="0" marL="0">
                        <a:buNone/>
                      </a:pPr>
                      <a:r>
                        <a:rPr lang="en-US" sz="1100" dirty="0">
                          <a:solidFill>
                            <a:srgbClr val="1F2937"/>
                          </a:solidFill>
                        </a:rPr>
                        <a:t>완료 </a:t>
                      </a:r>
                      <a:pPr indent="0" marL="0">
                        <a:buNone/>
                      </a:pPr>
                      <a:r>
                        <a:rPr lang="en-US" sz="1100" dirty="0">
                          <a:solidFill>
                            <a:srgbClr val="1F2937"/>
                          </a:solidFill>
                        </a:rPr>
                        <a:t>조건 </a:t>
                      </a:r>
                      <a:pPr indent="0" marL="0">
                        <a:buNone/>
                      </a:pPr>
                      <a:r>
                        <a:rPr lang="en-US" sz="1100" dirty="0">
                          <a:solidFill>
                            <a:srgbClr val="1F2937"/>
                          </a:solidFill>
                        </a:rPr>
                        <a:t>추정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기기 </a:t>
                      </a:r>
                      <a:pPr indent="0" marL="0">
                        <a:buNone/>
                      </a:pPr>
                      <a:r>
                        <a:rPr lang="en-US" sz="1100" dirty="0">
                          <a:solidFill>
                            <a:srgbClr val="1F2937"/>
                          </a:solidFill>
                        </a:rPr>
                        <a:t>저장</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완료된 </a:t>
                      </a:r>
                      <a:pPr indent="0" marL="0">
                        <a:buNone/>
                      </a:pPr>
                      <a:r>
                        <a:rPr lang="en-US" sz="1100" dirty="0">
                          <a:solidFill>
                            <a:srgbClr val="1F2937"/>
                          </a:solidFill>
                        </a:rPr>
                        <a:t>섹션</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기기에 </a:t>
                      </a:r>
                      <a:pPr indent="0" marL="0">
                        <a:buNone/>
                      </a:pPr>
                      <a:r>
                        <a:rPr lang="en-US" sz="1100" dirty="0">
                          <a:solidFill>
                            <a:srgbClr val="1F2937"/>
                          </a:solidFill>
                        </a:rPr>
                        <a:t>저장</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저장된 </a:t>
                      </a:r>
                      <a:pPr indent="0" marL="0">
                        <a:buNone/>
                      </a:pPr>
                      <a:r>
                        <a:rPr lang="en-US" sz="1100" dirty="0">
                          <a:solidFill>
                            <a:srgbClr val="1F2937"/>
                          </a:solidFill>
                        </a:rPr>
                        <a:t>섹션</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이개발 </a:t>
                      </a:r>
                      <a:pPr indent="0" marL="0">
                        <a:buNone/>
                      </a:pPr>
                      <a:r>
                        <a:rPr lang="en-US" sz="1100" dirty="0">
                          <a:solidFill>
                            <a:srgbClr val="1F2937"/>
                          </a:solidFill>
                        </a:rPr>
                        <a:t>등 </a:t>
                      </a:r>
                      <a:pPr indent="0" marL="0">
                        <a:buNone/>
                      </a:pPr>
                      <a:r>
                        <a:rPr lang="en-US" sz="1100" dirty="0">
                          <a:solidFill>
                            <a:srgbClr val="1F2937"/>
                          </a:solidFill>
                        </a:rPr>
                        <a:t>세부 </a:t>
                      </a:r>
                      <a:pPr indent="0" marL="0">
                        <a:buNone/>
                      </a:pPr>
                      <a:r>
                        <a:rPr lang="en-US" sz="1100" dirty="0">
                          <a:solidFill>
                            <a:srgbClr val="1F2937"/>
                          </a:solidFill>
                        </a:rPr>
                        <a:t>배정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재사용 </a:t>
                      </a:r>
                      <a:pPr indent="0" marL="0">
                        <a:buNone/>
                      </a:pPr>
                      <a:r>
                        <a:rPr lang="en-US" sz="1100" dirty="0">
                          <a:solidFill>
                            <a:srgbClr val="1F2937"/>
                          </a:solidFill>
                        </a:rPr>
                        <a:t>가능하게 </a:t>
                      </a:r>
                      <a:pPr indent="0" marL="0">
                        <a:buNone/>
                      </a:pPr>
                      <a:r>
                        <a:rPr lang="en-US" sz="1100" dirty="0">
                          <a:solidFill>
                            <a:srgbClr val="1F2937"/>
                          </a:solidFill>
                        </a:rPr>
                        <a:t>저장. </a:t>
                      </a:r>
                      <a:pPr indent="0" marL="0">
                        <a:buNone/>
                      </a:pPr>
                      <a:r>
                        <a:rPr lang="en-US" sz="1100" dirty="0">
                          <a:solidFill>
                            <a:srgbClr val="1F2937"/>
                          </a:solidFill>
                        </a:rPr>
                        <a:t>저장 </a:t>
                      </a:r>
                      <a:pPr indent="0" marL="0">
                        <a:buNone/>
                      </a:pPr>
                      <a:r>
                        <a:rPr lang="en-US" sz="1100" dirty="0">
                          <a:solidFill>
                            <a:srgbClr val="1F2937"/>
                          </a:solidFill>
                        </a:rPr>
                        <a:t>방식 </a:t>
                      </a:r>
                      <a:pPr indent="0" marL="0">
                        <a:buNone/>
                      </a:pPr>
                      <a:r>
                        <a:rPr lang="en-US" sz="1100" dirty="0">
                          <a:solidFill>
                            <a:srgbClr val="1F2937"/>
                          </a:solidFill>
                        </a:rPr>
                        <a:t>추정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이어서 </a:t>
                      </a:r>
                      <a:pPr indent="0" marL="0">
                        <a:buNone/>
                      </a:pPr>
                      <a:r>
                        <a:rPr lang="en-US" sz="1100" dirty="0">
                          <a:solidFill>
                            <a:srgbClr val="1F2937"/>
                          </a:solidFill>
                        </a:rPr>
                        <a:t>생성</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저장된 </a:t>
                      </a:r>
                      <a:pPr indent="0" marL="0">
                        <a:buNone/>
                      </a:pPr>
                      <a:r>
                        <a:rPr lang="en-US" sz="1100" dirty="0">
                          <a:solidFill>
                            <a:srgbClr val="1F2937"/>
                          </a:solidFill>
                        </a:rPr>
                        <a:t>섹션과 </a:t>
                      </a:r>
                      <a:pPr indent="0" marL="0">
                        <a:buNone/>
                      </a:pPr>
                      <a:r>
                        <a:rPr lang="en-US" sz="1100" dirty="0">
                          <a:solidFill>
                            <a:srgbClr val="1F2937"/>
                          </a:solidFill>
                        </a:rPr>
                        <a:t>남은 </a:t>
                      </a:r>
                      <a:pPr indent="0" marL="0">
                        <a:buNone/>
                      </a:pPr>
                      <a:r>
                        <a:rPr lang="en-US" sz="1100" dirty="0">
                          <a:solidFill>
                            <a:srgbClr val="1F2937"/>
                          </a:solidFill>
                        </a:rPr>
                        <a:t>작업</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저장된 </a:t>
                      </a:r>
                      <a:pPr indent="0" marL="0">
                        <a:buNone/>
                      </a:pPr>
                      <a:r>
                        <a:rPr lang="en-US" sz="1100" dirty="0">
                          <a:solidFill>
                            <a:srgbClr val="1F2937"/>
                          </a:solidFill>
                        </a:rPr>
                        <a:t>섹션을 </a:t>
                      </a:r>
                      <a:pPr indent="0" marL="0">
                        <a:buNone/>
                      </a:pPr>
                      <a:r>
                        <a:rPr lang="en-US" sz="1100" dirty="0">
                          <a:solidFill>
                            <a:srgbClr val="1F2937"/>
                          </a:solidFill>
                        </a:rPr>
                        <a:t>재사용해 </a:t>
                      </a:r>
                      <a:pPr indent="0" marL="0">
                        <a:buNone/>
                      </a:pPr>
                      <a:r>
                        <a:rPr lang="en-US" sz="1100" dirty="0">
                          <a:solidFill>
                            <a:srgbClr val="1F2937"/>
                          </a:solidFill>
                        </a:rPr>
                        <a:t>생성 </a:t>
                      </a:r>
                      <a:pPr indent="0" marL="0">
                        <a:buNone/>
                      </a:pPr>
                      <a:r>
                        <a:rPr lang="en-US" sz="1100" dirty="0">
                          <a:solidFill>
                            <a:srgbClr val="1F2937"/>
                          </a:solidFill>
                        </a:rPr>
                        <a:t>지속</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이어서 </a:t>
                      </a:r>
                      <a:pPr indent="0" marL="0">
                        <a:buNone/>
                      </a:pPr>
                      <a:r>
                        <a:rPr lang="en-US" sz="1100" dirty="0">
                          <a:solidFill>
                            <a:srgbClr val="1F2937"/>
                          </a:solidFill>
                        </a:rPr>
                        <a:t>생성된 </a:t>
                      </a:r>
                      <a:pPr indent="0" marL="0">
                        <a:buNone/>
                      </a:pPr>
                      <a:r>
                        <a:rPr lang="en-US" sz="1100" dirty="0">
                          <a:solidFill>
                            <a:srgbClr val="1F2937"/>
                          </a:solidFill>
                        </a:rPr>
                        <a:t>문서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시스템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이전 </a:t>
                      </a:r>
                      <a:pPr indent="0" marL="0">
                        <a:buNone/>
                      </a:pPr>
                      <a:r>
                        <a:rPr lang="en-US" sz="1100" dirty="0">
                          <a:solidFill>
                            <a:srgbClr val="1F2937"/>
                          </a:solidFill>
                        </a:rPr>
                        <a:t>섹션이 </a:t>
                      </a:r>
                      <a:pPr indent="0" marL="0">
                        <a:buNone/>
                      </a:pPr>
                      <a:r>
                        <a:rPr lang="en-US" sz="1100" dirty="0">
                          <a:solidFill>
                            <a:srgbClr val="1F2937"/>
                          </a:solidFill>
                        </a:rPr>
                        <a:t>재사용되고 </a:t>
                      </a:r>
                      <a:pPr indent="0" marL="0">
                        <a:buNone/>
                      </a:pPr>
                      <a:r>
                        <a:rPr lang="en-US" sz="1100" dirty="0">
                          <a:solidFill>
                            <a:srgbClr val="1F2937"/>
                          </a:solidFill>
                        </a:rPr>
                        <a:t>후속 </a:t>
                      </a:r>
                      <a:pPr indent="0" marL="0">
                        <a:buNone/>
                      </a:pPr>
                      <a:r>
                        <a:rPr lang="en-US" sz="1100" dirty="0">
                          <a:solidFill>
                            <a:srgbClr val="1F2937"/>
                          </a:solidFill>
                        </a:rPr>
                        <a:t>생성 </a:t>
                      </a:r>
                      <a:pPr indent="0" marL="0">
                        <a:buNone/>
                      </a:pPr>
                      <a:r>
                        <a:rPr lang="en-US" sz="1100" dirty="0">
                          <a:solidFill>
                            <a:srgbClr val="1F2937"/>
                          </a:solidFill>
                        </a:rPr>
                        <a:t>완료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서식 </a:t>
                      </a:r>
                      <a:pPr indent="0" marL="0">
                        <a:buNone/>
                      </a:pPr>
                      <a:r>
                        <a:rPr lang="en-US" sz="1100" dirty="0">
                          <a:solidFill>
                            <a:srgbClr val="1F2937"/>
                          </a:solidFill>
                        </a:rPr>
                        <a:t>적용</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생성 </a:t>
                      </a:r>
                      <a:pPr indent="0" marL="0">
                        <a:buNone/>
                      </a:pPr>
                      <a:r>
                        <a:rPr lang="en-US" sz="1100" dirty="0">
                          <a:solidFill>
                            <a:srgbClr val="1F2937"/>
                          </a:solidFill>
                        </a:rPr>
                        <a:t>문서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표지·목차·표 </a:t>
                      </a:r>
                      <a:pPr indent="0" marL="0">
                        <a:buNone/>
                      </a:pPr>
                      <a:r>
                        <a:rPr lang="en-US" sz="1100" dirty="0">
                          <a:solidFill>
                            <a:srgbClr val="1F2937"/>
                          </a:solidFill>
                        </a:rPr>
                        <a:t>스타일 </a:t>
                      </a:r>
                      <a:pPr indent="0" marL="0">
                        <a:buNone/>
                      </a:pPr>
                      <a:r>
                        <a:rPr lang="en-US" sz="1100" dirty="0">
                          <a:solidFill>
                            <a:srgbClr val="1F2937"/>
                          </a:solidFill>
                        </a:rPr>
                        <a:t>통일. </a:t>
                      </a:r>
                      <a:pPr indent="0" marL="0">
                        <a:buNone/>
                      </a:pPr>
                      <a:r>
                        <a:rPr lang="en-US" sz="1100" dirty="0">
                          <a:solidFill>
                            <a:srgbClr val="1F2937"/>
                          </a:solidFill>
                        </a:rPr>
                        <a:t>내용 </a:t>
                      </a:r>
                      <a:pPr indent="0" marL="0">
                        <a:buNone/>
                      </a:pPr>
                      <a:r>
                        <a:rPr lang="en-US" sz="1100" dirty="0">
                          <a:solidFill>
                            <a:srgbClr val="1F2937"/>
                          </a:solidFill>
                        </a:rPr>
                        <a:t>변경 </a:t>
                      </a:r>
                      <a:pPr indent="0" marL="0">
                        <a:buNone/>
                      </a:pPr>
                      <a:r>
                        <a:rPr lang="en-US" sz="1100" dirty="0">
                          <a:solidFill>
                            <a:srgbClr val="1F2937"/>
                          </a:solidFill>
                        </a:rPr>
                        <a:t>금지</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서식이 </a:t>
                      </a:r>
                      <a:pPr indent="0" marL="0">
                        <a:buNone/>
                      </a:pPr>
                      <a:r>
                        <a:rPr lang="en-US" sz="1100" dirty="0">
                          <a:solidFill>
                            <a:srgbClr val="1F2937"/>
                          </a:solidFill>
                        </a:rPr>
                        <a:t>적용된 </a:t>
                      </a:r>
                      <a:pPr indent="0" marL="0">
                        <a:buNone/>
                      </a:pPr>
                      <a:r>
                        <a:rPr lang="en-US" sz="1100" dirty="0">
                          <a:solidFill>
                            <a:srgbClr val="1F2937"/>
                          </a:solidFill>
                        </a:rPr>
                        <a:t>문서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박디자인이 </a:t>
                      </a:r>
                      <a:pPr indent="0" marL="0">
                        <a:buNone/>
                      </a:pPr>
                      <a:r>
                        <a:rPr lang="en-US" sz="1100" dirty="0">
                          <a:solidFill>
                            <a:srgbClr val="1F2937"/>
                          </a:solidFill>
                        </a:rPr>
                        <a:t>제안한 </a:t>
                      </a:r>
                      <a:pPr indent="0" marL="0">
                        <a:buNone/>
                      </a:pPr>
                      <a:r>
                        <a:rPr lang="en-US" sz="1100" dirty="0">
                          <a:solidFill>
                            <a:srgbClr val="1F2937"/>
                          </a:solidFill>
                        </a:rPr>
                        <a:t>스타일 </a:t>
                      </a:r>
                      <a:pPr indent="0" marL="0">
                        <a:buNone/>
                      </a:pPr>
                      <a:r>
                        <a:rPr lang="en-US" sz="1100" dirty="0">
                          <a:solidFill>
                            <a:srgbClr val="1F2937"/>
                          </a:solidFill>
                        </a:rPr>
                        <a:t>범위. </a:t>
                      </a:r>
                      <a:pPr indent="0" marL="0">
                        <a:buNone/>
                      </a:pPr>
                      <a:r>
                        <a:rPr lang="en-US" sz="1100" dirty="0">
                          <a:solidFill>
                            <a:srgbClr val="1F2937"/>
                          </a:solidFill>
                        </a:rPr>
                        <a:t>실제 </a:t>
                      </a:r>
                      <a:pPr indent="0" marL="0">
                        <a:buNone/>
                      </a:pPr>
                      <a:r>
                        <a:rPr lang="en-US" sz="1100" dirty="0">
                          <a:solidFill>
                            <a:srgbClr val="1F2937"/>
                          </a:solidFill>
                        </a:rPr>
                        <a:t>수행자 </a:t>
                      </a:r>
                      <a:pPr indent="0" marL="0">
                        <a:buNone/>
                      </a:pPr>
                      <a:r>
                        <a:rPr lang="en-US" sz="1100" dirty="0">
                          <a:solidFill>
                            <a:srgbClr val="1F2937"/>
                          </a:solidFill>
                        </a:rPr>
                        <a:t>배정은 </a:t>
                      </a:r>
                      <a:pPr indent="0" marL="0">
                        <a:buNone/>
                      </a:pPr>
                      <a:r>
                        <a:rPr lang="en-US" sz="1100" dirty="0">
                          <a:solidFill>
                            <a:srgbClr val="1F2937"/>
                          </a:solidFill>
                        </a:rPr>
                        <a:t>추정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서식 </a:t>
                      </a:r>
                      <a:pPr indent="0" marL="0">
                        <a:buNone/>
                      </a:pPr>
                      <a:r>
                        <a:rPr lang="en-US" sz="1100" dirty="0">
                          <a:solidFill>
                            <a:srgbClr val="1F2937"/>
                          </a:solidFill>
                        </a:rPr>
                        <a:t>적용 </a:t>
                      </a:r>
                      <a:pPr indent="0" marL="0">
                        <a:buNone/>
                      </a:pPr>
                      <a:r>
                        <a:rPr lang="en-US" sz="1100" dirty="0">
                          <a:solidFill>
                            <a:srgbClr val="1F2937"/>
                          </a:solidFill>
                        </a:rPr>
                        <a:t>및 </a:t>
                      </a:r>
                      <a:pPr indent="0" marL="0">
                        <a:buNone/>
                      </a:pPr>
                      <a:r>
                        <a:rPr lang="en-US" sz="1100" dirty="0">
                          <a:solidFill>
                            <a:srgbClr val="1F2937"/>
                          </a:solidFill>
                        </a:rPr>
                        <a:t>내용 </a:t>
                      </a:r>
                      <a:pPr indent="0" marL="0">
                        <a:buNone/>
                      </a:pPr>
                      <a:r>
                        <a:rPr lang="en-US" sz="1100" dirty="0">
                          <a:solidFill>
                            <a:srgbClr val="1F2937"/>
                          </a:solidFill>
                        </a:rPr>
                        <a:t>보존 </a:t>
                      </a:r>
                      <a:pPr indent="0" marL="0">
                        <a:buNone/>
                      </a:pPr>
                      <a:r>
                        <a:rPr lang="en-US" sz="1100" dirty="0">
                          <a:solidFill>
                            <a:srgbClr val="1F2937"/>
                          </a:solidFill>
                        </a:rPr>
                        <a:t>확인</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내려받기 </a:t>
                      </a:r>
                      <a:pPr indent="0" marL="0">
                        <a:buNone/>
                      </a:pPr>
                      <a:r>
                        <a:rPr lang="en-US" sz="1100" dirty="0">
                          <a:solidFill>
                            <a:srgbClr val="1F2937"/>
                          </a:solidFill>
                        </a:rPr>
                        <a:t>및 </a:t>
                      </a:r>
                      <a:pPr indent="0" marL="0">
                        <a:buNone/>
                      </a:pPr>
                      <a:r>
                        <a:rPr lang="en-US" sz="1100" dirty="0">
                          <a:solidFill>
                            <a:srgbClr val="1F2937"/>
                          </a:solidFill>
                        </a:rPr>
                        <a:t>확인</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서식 </a:t>
                      </a:r>
                      <a:pPr indent="0" marL="0">
                        <a:buNone/>
                      </a:pPr>
                      <a:r>
                        <a:rPr lang="en-US" sz="1100" dirty="0">
                          <a:solidFill>
                            <a:srgbClr val="1F2937"/>
                          </a:solidFill>
                        </a:rPr>
                        <a:t>적용 </a:t>
                      </a:r>
                      <a:pPr indent="0" marL="0">
                        <a:buNone/>
                      </a:pPr>
                      <a:r>
                        <a:rPr lang="en-US" sz="1100" dirty="0">
                          <a:solidFill>
                            <a:srgbClr val="1F2937"/>
                          </a:solidFill>
                        </a:rPr>
                        <a:t>문서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Word </a:t>
                      </a:r>
                      <a:pPr indent="0" marL="0">
                        <a:buNone/>
                      </a:pPr>
                      <a:r>
                        <a:rPr lang="en-US" sz="1100" dirty="0">
                          <a:solidFill>
                            <a:srgbClr val="1F2937"/>
                          </a:solidFill>
                        </a:rPr>
                        <a:t>또는 </a:t>
                      </a:r>
                      <a:pPr indent="0" marL="0">
                        <a:buNone/>
                      </a:pPr>
                      <a:r>
                        <a:rPr lang="en-US" sz="1100" dirty="0">
                          <a:solidFill>
                            <a:srgbClr val="1F2937"/>
                          </a:solidFill>
                        </a:rPr>
                        <a:t>PDF로 </a:t>
                      </a:r>
                      <a:pPr indent="0" marL="0">
                        <a:buNone/>
                      </a:pPr>
                      <a:r>
                        <a:rPr lang="en-US" sz="1100" dirty="0">
                          <a:solidFill>
                            <a:srgbClr val="1F2937"/>
                          </a:solidFill>
                        </a:rPr>
                        <a:t>내려받고 </a:t>
                      </a:r>
                      <a:pPr indent="0" marL="0">
                        <a:buNone/>
                      </a:pPr>
                      <a:r>
                        <a:rPr lang="en-US" sz="1100" dirty="0">
                          <a:solidFill>
                            <a:srgbClr val="1F2937"/>
                          </a:solidFill>
                        </a:rPr>
                        <a:t>표·다이어그램 </a:t>
                      </a:r>
                      <a:pPr indent="0" marL="0">
                        <a:buNone/>
                      </a:pPr>
                      <a:r>
                        <a:rPr lang="en-US" sz="1100" dirty="0">
                          <a:solidFill>
                            <a:srgbClr val="1F2937"/>
                          </a:solidFill>
                        </a:rPr>
                        <a:t>확인</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내려받은 </a:t>
                      </a:r>
                      <a:pPr indent="0" marL="0">
                        <a:buNone/>
                      </a:pPr>
                      <a:r>
                        <a:rPr lang="en-US" sz="1100" dirty="0">
                          <a:solidFill>
                            <a:srgbClr val="1F2937"/>
                          </a:solidFill>
                        </a:rPr>
                        <a:t>문서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담당자 </a:t>
                      </a:r>
                      <a:pPr indent="0" marL="0">
                        <a:buNone/>
                      </a:pPr>
                      <a:r>
                        <a:rPr lang="en-US" sz="1100" dirty="0">
                          <a:solidFill>
                            <a:srgbClr val="1F2937"/>
                          </a:solidFill>
                        </a:rPr>
                        <a:t>추정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표와 </a:t>
                      </a:r>
                      <a:pPr indent="0" marL="0">
                        <a:buNone/>
                      </a:pPr>
                      <a:r>
                        <a:rPr lang="en-US" sz="1100" dirty="0">
                          <a:solidFill>
                            <a:srgbClr val="1F2937"/>
                          </a:solidFill>
                        </a:rPr>
                        <a:t>다이어그램 </a:t>
                      </a:r>
                      <a:pPr indent="0" marL="0">
                        <a:buNone/>
                      </a:pPr>
                      <a:r>
                        <a:rPr lang="en-US" sz="1100" dirty="0">
                          <a:solidFill>
                            <a:srgbClr val="1F2937"/>
                          </a:solidFill>
                        </a:rPr>
                        <a:t>누락 </a:t>
                      </a:r>
                      <a:pPr indent="0" marL="0">
                        <a:buNone/>
                      </a:pPr>
                      <a:r>
                        <a:rPr lang="en-US" sz="1100" dirty="0">
                          <a:solidFill>
                            <a:srgbClr val="1F2937"/>
                          </a:solidFill>
                        </a:rPr>
                        <a:t>없음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6.1 데이터 처리 플로우</a:t>
            </a:r>
            <a:endParaRPr lang="en-US" sz="2800" dirty="0"/>
          </a:p>
        </p:txBody>
      </p:sp>
      <p:sp>
        <p:nvSpPr>
          <p:cNvPr id="3" name="Shape 1"/>
          <p:cNvSpPr/>
          <p:nvPr/>
        </p:nvSpPr>
        <p:spPr>
          <a:xfrm>
            <a:off x="457200" y="1078992"/>
            <a:ext cx="2743200" cy="41148"/>
          </a:xfrm>
          <a:prstGeom prst="rect">
            <a:avLst/>
          </a:prstGeom>
          <a:solidFill>
            <a:srgbClr val="263F59"/>
          </a:solidFill>
          <a:ln/>
        </p:spPr>
      </p:sp>
      <p:pic>
        <p:nvPicPr>
          <p:cNvPr id="4" name="Image 0" descr="preencoded.png">    </p:cNvPr>
          <p:cNvPicPr>
            <a:picLocks noChangeAspect="1"/>
          </p:cNvPicPr>
          <p:nvPr/>
        </p:nvPicPr>
        <p:blipFill>
          <a:blip r:embed="rId1"/>
          <a:stretch>
            <a:fillRect/>
          </a:stretch>
        </p:blipFill>
        <p:spPr>
          <a:xfrm>
            <a:off x="640080" y="1463040"/>
            <a:ext cx="7863840" cy="1346752"/>
          </a:xfrm>
          <a:prstGeom prst="rect">
            <a:avLst/>
          </a:prstGeom>
        </p:spPr>
      </p:pic>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6.2 상태 전이 다이어그램</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다음 상태는 회의록 작성부터 내려받기까지의 작업 상태를 정리한 </a:t>
            </a:r>
            <a:pPr indent="0" marL="0">
              <a:spcAft>
                <a:spcPts val="800"/>
              </a:spcAft>
              <a:buNone/>
            </a:pPr>
            <a:r>
              <a:rPr lang="en-US" sz="1600" b="1" dirty="0">
                <a:solidFill>
                  <a:srgbClr val="4B5563"/>
                </a:solidFill>
              </a:rPr>
              <a:t>설계 제안</a:t>
            </a:r>
            <a:pPr indent="0" marL="0">
              <a:spcAft>
                <a:spcPts val="800"/>
              </a:spcAft>
              <a:buNone/>
            </a:pPr>
            <a:r>
              <a:rPr lang="en-US" sz="1600" dirty="0">
                <a:solidFill>
                  <a:srgbClr val="4B5563"/>
                </a:solidFill>
              </a:rPr>
              <a:t>입니다. 상태 이름은 문서 흐름을 명확히 하기 위한 것이며, 실제 시스템의 저장 상태나 화면 문구로 합의된 것은 아닙니다.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6.2 상태 전이 다이어그램</a:t>
            </a:r>
            <a:endParaRPr lang="en-US" sz="2800" dirty="0"/>
          </a:p>
        </p:txBody>
      </p:sp>
      <p:sp>
        <p:nvSpPr>
          <p:cNvPr id="3" name="Shape 1"/>
          <p:cNvSpPr/>
          <p:nvPr/>
        </p:nvSpPr>
        <p:spPr>
          <a:xfrm>
            <a:off x="457200" y="1078992"/>
            <a:ext cx="2743200" cy="41148"/>
          </a:xfrm>
          <a:prstGeom prst="rect">
            <a:avLst/>
          </a:prstGeom>
          <a:solidFill>
            <a:srgbClr val="263F59"/>
          </a:solidFill>
          <a:ln/>
        </p:spPr>
      </p:sp>
      <p:pic>
        <p:nvPicPr>
          <p:cNvPr id="4" name="Image 0" descr="preencoded.png">    </p:cNvPr>
          <p:cNvPicPr>
            <a:picLocks noChangeAspect="1"/>
          </p:cNvPicPr>
          <p:nvPr/>
        </p:nvPicPr>
        <p:blipFill>
          <a:blip r:embed="rId1"/>
          <a:stretch>
            <a:fillRect/>
          </a:stretch>
        </p:blipFill>
        <p:spPr>
          <a:xfrm>
            <a:off x="640080" y="1463040"/>
            <a:ext cx="7863840" cy="4206240"/>
          </a:xfrm>
          <a:prstGeom prst="rect">
            <a:avLst/>
          </a:prstGeom>
        </p:spPr>
      </p:pic>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6.2 상태 전이 다이어그램</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b="1" dirty="0">
                <a:solidFill>
                  <a:srgbClr val="4B5563"/>
                </a:solidFill>
              </a:rPr>
              <a:t>상태별 완료 조건</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6.2 상태 전이 다이어그램</a:t>
            </a:r>
            <a:endParaRPr lang="en-US" sz="2800" dirty="0"/>
          </a:p>
        </p:txBody>
      </p:sp>
      <p:sp>
        <p:nvSpPr>
          <p:cNvPr id="3" name="Shape 1"/>
          <p:cNvSpPr/>
          <p:nvPr/>
        </p:nvSpPr>
        <p:spPr>
          <a:xfrm>
            <a:off x="457200" y="1078992"/>
            <a:ext cx="2743200" cy="41148"/>
          </a:xfrm>
          <a:prstGeom prst="rect">
            <a:avLst/>
          </a:prstGeom>
          <a:solidFill>
            <a:srgbClr val="263F59"/>
          </a:solidFill>
          <a:ln/>
        </p:spPr>
      </p:sp>
      <p:graphicFrame>
        <p:nvGraphicFramePr>
          <p:cNvPr id="58"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1028700"/>
                <a:gridCol w="4114800"/>
                <a:gridCol w="3086100"/>
              </a:tblGrid>
              <a:tr h="0">
                <a:tc>
                  <a:txBody>
                    <a:bodyPr/>
                    <a:lstStyle/>
                    <a:p>
                      <a:pPr indent="0" marL="0">
                        <a:buNone/>
                      </a:pPr>
                      <a:r>
                        <a:rPr lang="en-US" sz="1200" b="1" dirty="0">
                          <a:solidFill>
                            <a:srgbClr val="FFFFFF"/>
                          </a:solidFill>
                        </a:rPr>
                        <a:t>상태</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의미</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다음 </a:t>
                      </a:r>
                      <a:pPr indent="0" marL="0">
                        <a:buNone/>
                      </a:pPr>
                      <a:r>
                        <a:rPr lang="en-US" sz="1200" b="1" dirty="0">
                          <a:solidFill>
                            <a:srgbClr val="FFFFFF"/>
                          </a:solidFill>
                        </a:rPr>
                        <a:t>상태로 </a:t>
                      </a:r>
                      <a:pPr indent="0" marL="0">
                        <a:buNone/>
                      </a:pPr>
                      <a:r>
                        <a:rPr lang="en-US" sz="1200" b="1" dirty="0">
                          <a:solidFill>
                            <a:srgbClr val="FFFFFF"/>
                          </a:solidFill>
                        </a:rPr>
                        <a:t>넘어가는 </a:t>
                      </a:r>
                      <a:pPr indent="0" marL="0">
                        <a:buNone/>
                      </a:pPr>
                      <a:r>
                        <a:rPr lang="en-US" sz="1200" b="1" dirty="0">
                          <a:solidFill>
                            <a:srgbClr val="FFFFFF"/>
                          </a:solidFill>
                        </a:rPr>
                        <a:t>조건</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r>
              <a:tr h="0">
                <a:tc>
                  <a:txBody>
                    <a:bodyPr/>
                    <a:lstStyle/>
                    <a:p>
                      <a:pPr indent="0" marL="0">
                        <a:buNone/>
                      </a:pPr>
                      <a:r>
                        <a:rPr lang="en-US" sz="1100" dirty="0">
                          <a:solidFill>
                            <a:srgbClr val="1F2937"/>
                          </a:solidFill>
                        </a:rPr>
                        <a:t>로그인대기</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사용자 </a:t>
                      </a:r>
                      <a:pPr indent="0" marL="0">
                        <a:buNone/>
                      </a:pPr>
                      <a:r>
                        <a:rPr lang="en-US" sz="1100" dirty="0">
                          <a:solidFill>
                            <a:srgbClr val="1F2937"/>
                          </a:solidFill>
                        </a:rPr>
                        <a:t>인증 </a:t>
                      </a:r>
                      <a:pPr indent="0" marL="0">
                        <a:buNone/>
                      </a:pPr>
                      <a:r>
                        <a:rPr lang="en-US" sz="1100" dirty="0">
                          <a:solidFill>
                            <a:srgbClr val="1F2937"/>
                          </a:solidFill>
                        </a:rPr>
                        <a:t>전 </a:t>
                      </a:r>
                      <a:pPr indent="0" marL="0">
                        <a:buNone/>
                      </a:pPr>
                      <a:r>
                        <a:rPr lang="en-US" sz="1100" dirty="0">
                          <a:solidFill>
                            <a:srgbClr val="1F2937"/>
                          </a:solidFill>
                        </a:rPr>
                        <a:t>또는 </a:t>
                      </a:r>
                      <a:pPr indent="0" marL="0">
                        <a:buNone/>
                      </a:pPr>
                      <a:r>
                        <a:rPr lang="en-US" sz="1100" dirty="0">
                          <a:solidFill>
                            <a:srgbClr val="1F2937"/>
                          </a:solidFill>
                        </a:rPr>
                        <a:t>인증 </a:t>
                      </a:r>
                      <a:pPr indent="0" marL="0">
                        <a:buNone/>
                      </a:pPr>
                      <a:r>
                        <a:rPr lang="en-US" sz="1100" dirty="0">
                          <a:solidFill>
                            <a:srgbClr val="1F2937"/>
                          </a:solidFill>
                        </a:rPr>
                        <a:t>실패 </a:t>
                      </a:r>
                      <a:pPr indent="0" marL="0">
                        <a:buNone/>
                      </a:pPr>
                      <a:r>
                        <a:rPr lang="en-US" sz="1100" dirty="0">
                          <a:solidFill>
                            <a:srgbClr val="1F2937"/>
                          </a:solidFill>
                        </a:rPr>
                        <a:t>상태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로그인 </a:t>
                      </a:r>
                      <a:pPr indent="0" marL="0">
                        <a:buNone/>
                      </a:pPr>
                      <a:r>
                        <a:rPr lang="en-US" sz="1100" dirty="0">
                          <a:solidFill>
                            <a:srgbClr val="1F2937"/>
                          </a:solidFill>
                        </a:rPr>
                        <a:t>성공 </a:t>
                      </a:r>
                      <a:pPr indent="0" marL="0">
                        <a:buNone/>
                      </a:pPr>
                      <a:r>
                        <a:rPr lang="en-US" sz="1100" dirty="0">
                          <a:solidFill>
                            <a:srgbClr val="1F2937"/>
                          </a:solidFill>
                        </a:rPr>
                        <a:t>시 </a:t>
                      </a:r>
                      <a:pPr indent="0" marL="0">
                        <a:buNone/>
                      </a:pPr>
                      <a:r>
                        <a:rPr lang="en-US" sz="1100" dirty="0">
                          <a:solidFill>
                            <a:srgbClr val="1F2937"/>
                          </a:solidFill>
                        </a:rPr>
                        <a:t>회의록 </a:t>
                      </a:r>
                      <a:pPr indent="0" marL="0">
                        <a:buNone/>
                      </a:pPr>
                      <a:r>
                        <a:rPr lang="en-US" sz="1100" dirty="0">
                          <a:solidFill>
                            <a:srgbClr val="1F2937"/>
                          </a:solidFill>
                        </a:rPr>
                        <a:t>입력</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회의록입력</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사용자가 </a:t>
                      </a:r>
                      <a:pPr indent="0" marL="0">
                        <a:buNone/>
                      </a:pPr>
                      <a:r>
                        <a:rPr lang="en-US" sz="1100" dirty="0">
                          <a:solidFill>
                            <a:srgbClr val="1F2937"/>
                          </a:solidFill>
                        </a:rPr>
                        <a:t>회의록 </a:t>
                      </a:r>
                      <a:pPr indent="0" marL="0">
                        <a:buNone/>
                      </a:pPr>
                      <a:r>
                        <a:rPr lang="en-US" sz="1100" dirty="0">
                          <a:solidFill>
                            <a:srgbClr val="1F2937"/>
                          </a:solidFill>
                        </a:rPr>
                        <a:t>내용을 </a:t>
                      </a:r>
                      <a:pPr indent="0" marL="0">
                        <a:buNone/>
                      </a:pPr>
                      <a:r>
                        <a:rPr lang="en-US" sz="1100" dirty="0">
                          <a:solidFill>
                            <a:srgbClr val="1F2937"/>
                          </a:solidFill>
                        </a:rPr>
                        <a:t>입력하는 </a:t>
                      </a:r>
                      <a:pPr indent="0" marL="0">
                        <a:buNone/>
                      </a:pPr>
                      <a:r>
                        <a:rPr lang="en-US" sz="1100" dirty="0">
                          <a:solidFill>
                            <a:srgbClr val="1F2937"/>
                          </a:solidFill>
                        </a:rPr>
                        <a:t>상태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입력 </a:t>
                      </a:r>
                      <a:pPr indent="0" marL="0">
                        <a:buNone/>
                      </a:pPr>
                      <a:r>
                        <a:rPr lang="en-US" sz="1100" dirty="0">
                          <a:solidFill>
                            <a:srgbClr val="1F2937"/>
                          </a:solidFill>
                        </a:rPr>
                        <a:t>완료 </a:t>
                      </a:r>
                      <a:pPr indent="0" marL="0">
                        <a:buNone/>
                      </a:pPr>
                      <a:r>
                        <a:rPr lang="en-US" sz="1100" dirty="0">
                          <a:solidFill>
                            <a:srgbClr val="1F2937"/>
                          </a:solidFill>
                        </a:rPr>
                        <a:t>후 </a:t>
                      </a:r>
                      <a:pPr indent="0" marL="0">
                        <a:buNone/>
                      </a:pPr>
                      <a:r>
                        <a:rPr lang="en-US" sz="1100" dirty="0">
                          <a:solidFill>
                            <a:srgbClr val="1F2937"/>
                          </a:solidFill>
                        </a:rPr>
                        <a:t>문서 </a:t>
                      </a:r>
                      <a:pPr indent="0" marL="0">
                        <a:buNone/>
                      </a:pPr>
                      <a:r>
                        <a:rPr lang="en-US" sz="1100" dirty="0">
                          <a:solidFill>
                            <a:srgbClr val="1F2937"/>
                          </a:solidFill>
                        </a:rPr>
                        <a:t>생성 </a:t>
                      </a:r>
                      <a:pPr indent="0" marL="0">
                        <a:buNone/>
                      </a:pPr>
                      <a:r>
                        <a:rPr lang="en-US" sz="1100" dirty="0">
                          <a:solidFill>
                            <a:srgbClr val="1F2937"/>
                          </a:solidFill>
                        </a:rPr>
                        <a:t>시작</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문서생성중</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문서 </a:t>
                      </a:r>
                      <a:pPr indent="0" marL="0">
                        <a:buNone/>
                      </a:pPr>
                      <a:r>
                        <a:rPr lang="en-US" sz="1100" dirty="0">
                          <a:solidFill>
                            <a:srgbClr val="1F2937"/>
                          </a:solidFill>
                        </a:rPr>
                        <a:t>섹션을 </a:t>
                      </a:r>
                      <a:pPr indent="0" marL="0">
                        <a:buNone/>
                      </a:pPr>
                      <a:r>
                        <a:rPr lang="en-US" sz="1100" dirty="0">
                          <a:solidFill>
                            <a:srgbClr val="1F2937"/>
                          </a:solidFill>
                        </a:rPr>
                        <a:t>생성하는 </a:t>
                      </a:r>
                      <a:pPr indent="0" marL="0">
                        <a:buNone/>
                      </a:pPr>
                      <a:r>
                        <a:rPr lang="en-US" sz="1100" dirty="0">
                          <a:solidFill>
                            <a:srgbClr val="1F2937"/>
                          </a:solidFill>
                        </a:rPr>
                        <a:t>상태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섹션 </a:t>
                      </a:r>
                      <a:pPr indent="0" marL="0">
                        <a:buNone/>
                      </a:pPr>
                      <a:r>
                        <a:rPr lang="en-US" sz="1100" dirty="0">
                          <a:solidFill>
                            <a:srgbClr val="1F2937"/>
                          </a:solidFill>
                        </a:rPr>
                        <a:t>생성 </a:t>
                      </a:r>
                      <a:pPr indent="0" marL="0">
                        <a:buNone/>
                      </a:pPr>
                      <a:r>
                        <a:rPr lang="en-US" sz="1100" dirty="0">
                          <a:solidFill>
                            <a:srgbClr val="1F2937"/>
                          </a:solidFill>
                        </a:rPr>
                        <a:t>완료, </a:t>
                      </a:r>
                      <a:pPr indent="0" marL="0">
                        <a:buNone/>
                      </a:pPr>
                      <a:r>
                        <a:rPr lang="en-US" sz="1100" dirty="0">
                          <a:solidFill>
                            <a:srgbClr val="1F2937"/>
                          </a:solidFill>
                        </a:rPr>
                        <a:t>화면 </a:t>
                      </a:r>
                      <a:pPr indent="0" marL="0">
                        <a:buNone/>
                      </a:pPr>
                      <a:r>
                        <a:rPr lang="en-US" sz="1100" dirty="0">
                          <a:solidFill>
                            <a:srgbClr val="1F2937"/>
                          </a:solidFill>
                        </a:rPr>
                        <a:t>이탈 </a:t>
                      </a:r>
                      <a:pPr indent="0" marL="0">
                        <a:buNone/>
                      </a:pPr>
                      <a:r>
                        <a:rPr lang="en-US" sz="1100" dirty="0">
                          <a:solidFill>
                            <a:srgbClr val="1F2937"/>
                          </a:solidFill>
                        </a:rPr>
                        <a:t>또는 </a:t>
                      </a:r>
                      <a:pPr indent="0" marL="0">
                        <a:buNone/>
                      </a:pPr>
                      <a:r>
                        <a:rPr lang="en-US" sz="1100" dirty="0">
                          <a:solidFill>
                            <a:srgbClr val="1F2937"/>
                          </a:solidFill>
                        </a:rPr>
                        <a:t>취소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섹션저장완료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완료된 </a:t>
                      </a:r>
                      <a:pPr indent="0" marL="0">
                        <a:buNone/>
                      </a:pPr>
                      <a:r>
                        <a:rPr lang="en-US" sz="1100" dirty="0">
                          <a:solidFill>
                            <a:srgbClr val="1F2937"/>
                          </a:solidFill>
                        </a:rPr>
                        <a:t>섹션이 </a:t>
                      </a:r>
                      <a:pPr indent="0" marL="0">
                        <a:buNone/>
                      </a:pPr>
                      <a:r>
                        <a:rPr lang="en-US" sz="1100" dirty="0">
                          <a:solidFill>
                            <a:srgbClr val="1F2937"/>
                          </a:solidFill>
                        </a:rPr>
                        <a:t>기기에 </a:t>
                      </a:r>
                      <a:pPr indent="0" marL="0">
                        <a:buNone/>
                      </a:pPr>
                      <a:r>
                        <a:rPr lang="en-US" sz="1100" dirty="0">
                          <a:solidFill>
                            <a:srgbClr val="1F2937"/>
                          </a:solidFill>
                        </a:rPr>
                        <a:t>저장된 </a:t>
                      </a:r>
                      <a:pPr indent="0" marL="0">
                        <a:buNone/>
                      </a:pPr>
                      <a:r>
                        <a:rPr lang="en-US" sz="1100" dirty="0">
                          <a:solidFill>
                            <a:srgbClr val="1F2937"/>
                          </a:solidFill>
                        </a:rPr>
                        <a:t>상태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다음 </a:t>
                      </a:r>
                      <a:pPr indent="0" marL="0">
                        <a:buNone/>
                      </a:pPr>
                      <a:r>
                        <a:rPr lang="en-US" sz="1100" dirty="0">
                          <a:solidFill>
                            <a:srgbClr val="1F2937"/>
                          </a:solidFill>
                        </a:rPr>
                        <a:t>섹션 </a:t>
                      </a:r>
                      <a:pPr indent="0" marL="0">
                        <a:buNone/>
                      </a:pPr>
                      <a:r>
                        <a:rPr lang="en-US" sz="1100" dirty="0">
                          <a:solidFill>
                            <a:srgbClr val="1F2937"/>
                          </a:solidFill>
                        </a:rPr>
                        <a:t>생성 </a:t>
                      </a:r>
                      <a:pPr indent="0" marL="0">
                        <a:buNone/>
                      </a:pPr>
                      <a:r>
                        <a:rPr lang="en-US" sz="1100" dirty="0">
                          <a:solidFill>
                            <a:srgbClr val="1F2937"/>
                          </a:solidFill>
                        </a:rPr>
                        <a:t>또는 </a:t>
                      </a:r>
                      <a:pPr indent="0" marL="0">
                        <a:buNone/>
                      </a:pPr>
                      <a:r>
                        <a:rPr lang="en-US" sz="1100" dirty="0">
                          <a:solidFill>
                            <a:srgbClr val="1F2937"/>
                          </a:solidFill>
                        </a:rPr>
                        <a:t>작업 </a:t>
                      </a:r>
                      <a:pPr indent="0" marL="0">
                        <a:buNone/>
                      </a:pPr>
                      <a:r>
                        <a:rPr lang="en-US" sz="1100" dirty="0">
                          <a:solidFill>
                            <a:srgbClr val="1F2937"/>
                          </a:solidFill>
                        </a:rPr>
                        <a:t>완료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화면이탈중단</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화면 </a:t>
                      </a:r>
                      <a:pPr indent="0" marL="0">
                        <a:buNone/>
                      </a:pPr>
                      <a:r>
                        <a:rPr lang="en-US" sz="1100" dirty="0">
                          <a:solidFill>
                            <a:srgbClr val="1F2937"/>
                          </a:solidFill>
                        </a:rPr>
                        <a:t>이탈로 </a:t>
                      </a:r>
                      <a:pPr indent="0" marL="0">
                        <a:buNone/>
                      </a:pPr>
                      <a:r>
                        <a:rPr lang="en-US" sz="1100" dirty="0">
                          <a:solidFill>
                            <a:srgbClr val="1F2937"/>
                          </a:solidFill>
                        </a:rPr>
                        <a:t>생성 </a:t>
                      </a:r>
                      <a:pPr indent="0" marL="0">
                        <a:buNone/>
                      </a:pPr>
                      <a:r>
                        <a:rPr lang="en-US" sz="1100" dirty="0">
                          <a:solidFill>
                            <a:srgbClr val="1F2937"/>
                          </a:solidFill>
                        </a:rPr>
                        <a:t>작업이 </a:t>
                      </a:r>
                      <a:pPr indent="0" marL="0">
                        <a:buNone/>
                      </a:pPr>
                      <a:r>
                        <a:rPr lang="en-US" sz="1100" dirty="0">
                          <a:solidFill>
                            <a:srgbClr val="1F2937"/>
                          </a:solidFill>
                        </a:rPr>
                        <a:t>중단된 </a:t>
                      </a:r>
                      <a:pPr indent="0" marL="0">
                        <a:buNone/>
                      </a:pPr>
                      <a:r>
                        <a:rPr lang="en-US" sz="1100" dirty="0">
                          <a:solidFill>
                            <a:srgbClr val="1F2937"/>
                          </a:solidFill>
                        </a:rPr>
                        <a:t>상태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사용자가 </a:t>
                      </a:r>
                      <a:pPr indent="0" marL="0">
                        <a:buNone/>
                      </a:pPr>
                      <a:r>
                        <a:rPr lang="en-US" sz="1100" dirty="0">
                          <a:solidFill>
                            <a:srgbClr val="1F2937"/>
                          </a:solidFill>
                        </a:rPr>
                        <a:t>돌아와 </a:t>
                      </a:r>
                      <a:pPr indent="0" marL="0">
                        <a:buNone/>
                      </a:pPr>
                      <a:r>
                        <a:rPr lang="en-US" sz="1100" dirty="0">
                          <a:solidFill>
                            <a:srgbClr val="1F2937"/>
                          </a:solidFill>
                        </a:rPr>
                        <a:t>작업 </a:t>
                      </a:r>
                      <a:pPr indent="0" marL="0">
                        <a:buNone/>
                      </a:pPr>
                      <a:r>
                        <a:rPr lang="en-US" sz="1100" dirty="0">
                          <a:solidFill>
                            <a:srgbClr val="1F2937"/>
                          </a:solidFill>
                        </a:rPr>
                        <a:t>재개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이어서생성중</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저장된 </a:t>
                      </a:r>
                      <a:pPr indent="0" marL="0">
                        <a:buNone/>
                      </a:pPr>
                      <a:r>
                        <a:rPr lang="en-US" sz="1100" dirty="0">
                          <a:solidFill>
                            <a:srgbClr val="1F2937"/>
                          </a:solidFill>
                        </a:rPr>
                        <a:t>섹션을 </a:t>
                      </a:r>
                      <a:pPr indent="0" marL="0">
                        <a:buNone/>
                      </a:pPr>
                      <a:r>
                        <a:rPr lang="en-US" sz="1100" dirty="0">
                          <a:solidFill>
                            <a:srgbClr val="1F2937"/>
                          </a:solidFill>
                        </a:rPr>
                        <a:t>재사용하여 </a:t>
                      </a:r>
                      <a:pPr indent="0" marL="0">
                        <a:buNone/>
                      </a:pPr>
                      <a:r>
                        <a:rPr lang="en-US" sz="1100" dirty="0">
                          <a:solidFill>
                            <a:srgbClr val="1F2937"/>
                          </a:solidFill>
                        </a:rPr>
                        <a:t>생성을 </a:t>
                      </a:r>
                      <a:pPr indent="0" marL="0">
                        <a:buNone/>
                      </a:pPr>
                      <a:r>
                        <a:rPr lang="en-US" sz="1100" dirty="0">
                          <a:solidFill>
                            <a:srgbClr val="1F2937"/>
                          </a:solidFill>
                        </a:rPr>
                        <a:t>이어가는 </a:t>
                      </a:r>
                      <a:pPr indent="0" marL="0">
                        <a:buNone/>
                      </a:pPr>
                      <a:r>
                        <a:rPr lang="en-US" sz="1100" dirty="0">
                          <a:solidFill>
                            <a:srgbClr val="1F2937"/>
                          </a:solidFill>
                        </a:rPr>
                        <a:t>상태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나머지 </a:t>
                      </a:r>
                      <a:pPr indent="0" marL="0">
                        <a:buNone/>
                      </a:pPr>
                      <a:r>
                        <a:rPr lang="en-US" sz="1100" dirty="0">
                          <a:solidFill>
                            <a:srgbClr val="1F2937"/>
                          </a:solidFill>
                        </a:rPr>
                        <a:t>생성 </a:t>
                      </a:r>
                      <a:pPr indent="0" marL="0">
                        <a:buNone/>
                      </a:pPr>
                      <a:r>
                        <a:rPr lang="en-US" sz="1100" dirty="0">
                          <a:solidFill>
                            <a:srgbClr val="1F2937"/>
                          </a:solidFill>
                        </a:rPr>
                        <a:t>완료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생성취소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사용자가 </a:t>
                      </a:r>
                      <a:pPr indent="0" marL="0">
                        <a:buNone/>
                      </a:pPr>
                      <a:r>
                        <a:rPr lang="en-US" sz="1100" dirty="0">
                          <a:solidFill>
                            <a:srgbClr val="1F2937"/>
                          </a:solidFill>
                        </a:rPr>
                        <a:t>생성 </a:t>
                      </a:r>
                      <a:pPr indent="0" marL="0">
                        <a:buNone/>
                      </a:pPr>
                      <a:r>
                        <a:rPr lang="en-US" sz="1100" dirty="0">
                          <a:solidFill>
                            <a:srgbClr val="1F2937"/>
                          </a:solidFill>
                        </a:rPr>
                        <a:t>작업을 </a:t>
                      </a:r>
                      <a:pPr indent="0" marL="0">
                        <a:buNone/>
                      </a:pPr>
                      <a:r>
                        <a:rPr lang="en-US" sz="1100" dirty="0">
                          <a:solidFill>
                            <a:srgbClr val="1F2937"/>
                          </a:solidFill>
                        </a:rPr>
                        <a:t>취소한 </a:t>
                      </a:r>
                      <a:pPr indent="0" marL="0">
                        <a:buNone/>
                      </a:pPr>
                      <a:r>
                        <a:rPr lang="en-US" sz="1100" dirty="0">
                          <a:solidFill>
                            <a:srgbClr val="1F2937"/>
                          </a:solidFill>
                        </a:rPr>
                        <a:t>상태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취소 </a:t>
                      </a:r>
                      <a:pPr indent="0" marL="0">
                        <a:buNone/>
                      </a:pPr>
                      <a:r>
                        <a:rPr lang="en-US" sz="1100" dirty="0">
                          <a:solidFill>
                            <a:srgbClr val="1F2937"/>
                          </a:solidFill>
                        </a:rPr>
                        <a:t>이전 </a:t>
                      </a:r>
                      <a:pPr indent="0" marL="0">
                        <a:buNone/>
                      </a:pPr>
                      <a:r>
                        <a:rPr lang="en-US" sz="1100" dirty="0">
                          <a:solidFill>
                            <a:srgbClr val="1F2937"/>
                          </a:solidFill>
                        </a:rPr>
                        <a:t>응답이 </a:t>
                      </a:r>
                      <a:pPr indent="0" marL="0">
                        <a:buNone/>
                      </a:pPr>
                      <a:r>
                        <a:rPr lang="en-US" sz="1100" dirty="0">
                          <a:solidFill>
                            <a:srgbClr val="1F2937"/>
                          </a:solidFill>
                        </a:rPr>
                        <a:t>결과에 </a:t>
                      </a:r>
                      <a:pPr indent="0" marL="0">
                        <a:buNone/>
                      </a:pPr>
                      <a:r>
                        <a:rPr lang="en-US" sz="1100" dirty="0">
                          <a:solidFill>
                            <a:srgbClr val="1F2937"/>
                          </a:solidFill>
                        </a:rPr>
                        <a:t>반영되지 </a:t>
                      </a:r>
                      <a:pPr indent="0" marL="0">
                        <a:buNone/>
                      </a:pPr>
                      <a:r>
                        <a:rPr lang="en-US" sz="1100" dirty="0">
                          <a:solidFill>
                            <a:srgbClr val="1F2937"/>
                          </a:solidFill>
                        </a:rPr>
                        <a:t>않음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문서생성완료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전체 </a:t>
                      </a:r>
                      <a:pPr indent="0" marL="0">
                        <a:buNone/>
                      </a:pPr>
                      <a:r>
                        <a:rPr lang="en-US" sz="1100" dirty="0">
                          <a:solidFill>
                            <a:srgbClr val="1F2937"/>
                          </a:solidFill>
                        </a:rPr>
                        <a:t>문서 </a:t>
                      </a:r>
                      <a:pPr indent="0" marL="0">
                        <a:buNone/>
                      </a:pPr>
                      <a:r>
                        <a:rPr lang="en-US" sz="1100" dirty="0">
                          <a:solidFill>
                            <a:srgbClr val="1F2937"/>
                          </a:solidFill>
                        </a:rPr>
                        <a:t>생성이 </a:t>
                      </a:r>
                      <a:pPr indent="0" marL="0">
                        <a:buNone/>
                      </a:pPr>
                      <a:r>
                        <a:rPr lang="en-US" sz="1100" dirty="0">
                          <a:solidFill>
                            <a:srgbClr val="1F2937"/>
                          </a:solidFill>
                        </a:rPr>
                        <a:t>끝난 </a:t>
                      </a:r>
                      <a:pPr indent="0" marL="0">
                        <a:buNone/>
                      </a:pPr>
                      <a:r>
                        <a:rPr lang="en-US" sz="1100" dirty="0">
                          <a:solidFill>
                            <a:srgbClr val="1F2937"/>
                          </a:solidFill>
                        </a:rPr>
                        <a:t>상태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서식 </a:t>
                      </a:r>
                      <a:pPr indent="0" marL="0">
                        <a:buNone/>
                      </a:pPr>
                      <a:r>
                        <a:rPr lang="en-US" sz="1100" dirty="0">
                          <a:solidFill>
                            <a:srgbClr val="1F2937"/>
                          </a:solidFill>
                        </a:rPr>
                        <a:t>적용</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서식적용완료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표지·목차·표 </a:t>
                      </a:r>
                      <a:pPr indent="0" marL="0">
                        <a:buNone/>
                      </a:pPr>
                      <a:r>
                        <a:rPr lang="en-US" sz="1100" dirty="0">
                          <a:solidFill>
                            <a:srgbClr val="1F2937"/>
                          </a:solidFill>
                        </a:rPr>
                        <a:t>스타일이 </a:t>
                      </a:r>
                      <a:pPr indent="0" marL="0">
                        <a:buNone/>
                      </a:pPr>
                      <a:r>
                        <a:rPr lang="en-US" sz="1100" dirty="0">
                          <a:solidFill>
                            <a:srgbClr val="1F2937"/>
                          </a:solidFill>
                        </a:rPr>
                        <a:t>적용된 </a:t>
                      </a:r>
                      <a:pPr indent="0" marL="0">
                        <a:buNone/>
                      </a:pPr>
                      <a:r>
                        <a:rPr lang="en-US" sz="1100" dirty="0">
                          <a:solidFill>
                            <a:srgbClr val="1F2937"/>
                          </a:solidFill>
                        </a:rPr>
                        <a:t>상태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내려받기 </a:t>
                      </a:r>
                      <a:pPr indent="0" marL="0">
                        <a:buNone/>
                      </a:pPr>
                      <a:r>
                        <a:rPr lang="en-US" sz="1100" dirty="0">
                          <a:solidFill>
                            <a:srgbClr val="1F2937"/>
                          </a:solidFill>
                        </a:rPr>
                        <a:t>진행</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내려받기검증중</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Word </a:t>
                      </a:r>
                      <a:pPr indent="0" marL="0">
                        <a:buNone/>
                      </a:pPr>
                      <a:r>
                        <a:rPr lang="en-US" sz="1100" dirty="0">
                          <a:solidFill>
                            <a:srgbClr val="1F2937"/>
                          </a:solidFill>
                        </a:rPr>
                        <a:t>또는 </a:t>
                      </a:r>
                      <a:pPr indent="0" marL="0">
                        <a:buNone/>
                      </a:pPr>
                      <a:r>
                        <a:rPr lang="en-US" sz="1100" dirty="0">
                          <a:solidFill>
                            <a:srgbClr val="1F2937"/>
                          </a:solidFill>
                        </a:rPr>
                        <a:t>PDF </a:t>
                      </a:r>
                      <a:pPr indent="0" marL="0">
                        <a:buNone/>
                      </a:pPr>
                      <a:r>
                        <a:rPr lang="en-US" sz="1100" dirty="0">
                          <a:solidFill>
                            <a:srgbClr val="1F2937"/>
                          </a:solidFill>
                        </a:rPr>
                        <a:t>결과를 </a:t>
                      </a:r>
                      <a:pPr indent="0" marL="0">
                        <a:buNone/>
                      </a:pPr>
                      <a:r>
                        <a:rPr lang="en-US" sz="1100" dirty="0">
                          <a:solidFill>
                            <a:srgbClr val="1F2937"/>
                          </a:solidFill>
                        </a:rPr>
                        <a:t>확인하는 </a:t>
                      </a:r>
                      <a:pPr indent="0" marL="0">
                        <a:buNone/>
                      </a:pPr>
                      <a:r>
                        <a:rPr lang="en-US" sz="1100" dirty="0">
                          <a:solidFill>
                            <a:srgbClr val="1F2937"/>
                          </a:solidFill>
                        </a:rPr>
                        <a:t>상태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표와 </a:t>
                      </a:r>
                      <a:pPr indent="0" marL="0">
                        <a:buNone/>
                      </a:pPr>
                      <a:r>
                        <a:rPr lang="en-US" sz="1100" dirty="0">
                          <a:solidFill>
                            <a:srgbClr val="1F2937"/>
                          </a:solidFill>
                        </a:rPr>
                        <a:t>다이어그램 </a:t>
                      </a:r>
                      <a:pPr indent="0" marL="0">
                        <a:buNone/>
                      </a:pPr>
                      <a:r>
                        <a:rPr lang="en-US" sz="1100" dirty="0">
                          <a:solidFill>
                            <a:srgbClr val="1F2937"/>
                          </a:solidFill>
                        </a:rPr>
                        <a:t>누락 </a:t>
                      </a:r>
                      <a:pPr indent="0" marL="0">
                        <a:buNone/>
                      </a:pPr>
                      <a:r>
                        <a:rPr lang="en-US" sz="1100" dirty="0">
                          <a:solidFill>
                            <a:srgbClr val="1F2937"/>
                          </a:solidFill>
                        </a:rPr>
                        <a:t>여부 </a:t>
                      </a:r>
                      <a:pPr indent="0" marL="0">
                        <a:buNone/>
                      </a:pPr>
                      <a:r>
                        <a:rPr lang="en-US" sz="1100" dirty="0">
                          <a:solidFill>
                            <a:srgbClr val="1F2937"/>
                          </a:solidFill>
                        </a:rPr>
                        <a:t>확인</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내려받기완료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표와 </a:t>
                      </a:r>
                      <a:pPr indent="0" marL="0">
                        <a:buNone/>
                      </a:pPr>
                      <a:r>
                        <a:rPr lang="en-US" sz="1100" dirty="0">
                          <a:solidFill>
                            <a:srgbClr val="1F2937"/>
                          </a:solidFill>
                        </a:rPr>
                        <a:t>다이어그램이 </a:t>
                      </a:r>
                      <a:pPr indent="0" marL="0">
                        <a:buNone/>
                      </a:pPr>
                      <a:r>
                        <a:rPr lang="en-US" sz="1100" dirty="0">
                          <a:solidFill>
                            <a:srgbClr val="1F2937"/>
                          </a:solidFill>
                        </a:rPr>
                        <a:t>누락되지 </a:t>
                      </a:r>
                      <a:pPr indent="0" marL="0">
                        <a:buNone/>
                      </a:pPr>
                      <a:r>
                        <a:rPr lang="en-US" sz="1100" dirty="0">
                          <a:solidFill>
                            <a:srgbClr val="1F2937"/>
                          </a:solidFill>
                        </a:rPr>
                        <a:t>않은 </a:t>
                      </a:r>
                      <a:pPr indent="0" marL="0">
                        <a:buNone/>
                      </a:pPr>
                      <a:r>
                        <a:rPr lang="en-US" sz="1100" dirty="0">
                          <a:solidFill>
                            <a:srgbClr val="1F2937"/>
                          </a:solidFill>
                        </a:rPr>
                        <a:t>결과가 </a:t>
                      </a:r>
                      <a:pPr indent="0" marL="0">
                        <a:buNone/>
                      </a:pPr>
                      <a:r>
                        <a:rPr lang="en-US" sz="1100" dirty="0">
                          <a:solidFill>
                            <a:srgbClr val="1F2937"/>
                          </a:solidFill>
                        </a:rPr>
                        <a:t>준비된 </a:t>
                      </a:r>
                      <a:pPr indent="0" marL="0">
                        <a:buNone/>
                      </a:pPr>
                      <a:r>
                        <a:rPr lang="en-US" sz="1100" dirty="0">
                          <a:solidFill>
                            <a:srgbClr val="1F2937"/>
                          </a:solidFill>
                        </a:rPr>
                        <a:t>상태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처리 </a:t>
                      </a:r>
                      <a:pPr indent="0" marL="0">
                        <a:buNone/>
                      </a:pPr>
                      <a:r>
                        <a:rPr lang="en-US" sz="1100" dirty="0">
                          <a:solidFill>
                            <a:srgbClr val="1F2937"/>
                          </a:solidFill>
                        </a:rPr>
                        <a:t>종료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6.3 서식 적용 및 내려받기 플로우 (1/2)</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서식 적용 범위는 내용 자체를 바꾸지 않고 표지, 목차, 표 스타일을 통일하는 것입니다. 다이어그램은 내려받기 결과에서 누락되지 않아야 하지만, 다이어그램의 시각적 서식까지 통일하는지는 회의에서 정해지지 않았습니다.</a:t>
            </a:r>
            <a:endParaRPr lang="en-US" sz="1600" dirty="0"/>
          </a:p>
          <a:p>
            <a:pPr indent="0" marL="0">
              <a:spcAft>
                <a:spcPts val="800"/>
              </a:spcAft>
              <a:buNone/>
            </a:pPr>
            <a:r>
              <a:rPr lang="en-US" sz="1600" dirty="0">
                <a:solidFill>
                  <a:srgbClr val="4B5563"/>
                </a:solidFill>
              </a:rPr>
              <a:t>내려받기 형식은 Word와 PDF입니다. 사용자가 어느 형식을 먼저 선택하는지, 두 형식을 한 번에 받을 수 있는지, 변환 실패 시 어떤 안내를 할지는 미정입니다. 아래 흐름은 사용자가 형식을 선택해 내려받는 절차를 제안합니다.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6.3 서식 적용 및 내려받기 플로우 (2/2)</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완료 기준은 내려받기가 끝나고 표와 다이어그램이 결과물에 누락 없이 포함되는 것입니다. Word와 PDF를 각각 검증할지, 자동 검사와 수동 확인 중 어떤 방식을 쓸지는 추정 필요입니다.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6.3 서식 적용 및 내려받기 플로우</a:t>
            </a:r>
            <a:endParaRPr lang="en-US" sz="2800" dirty="0"/>
          </a:p>
        </p:txBody>
      </p:sp>
      <p:sp>
        <p:nvSpPr>
          <p:cNvPr id="3" name="Shape 1"/>
          <p:cNvSpPr/>
          <p:nvPr/>
        </p:nvSpPr>
        <p:spPr>
          <a:xfrm>
            <a:off x="457200" y="1078992"/>
            <a:ext cx="2743200" cy="41148"/>
          </a:xfrm>
          <a:prstGeom prst="rect">
            <a:avLst/>
          </a:prstGeom>
          <a:solidFill>
            <a:srgbClr val="263F59"/>
          </a:solidFill>
          <a:ln/>
        </p:spPr>
      </p:sp>
      <p:pic>
        <p:nvPicPr>
          <p:cNvPr id="4" name="Image 0" descr="preencoded.png">    </p:cNvPr>
          <p:cNvPicPr>
            <a:picLocks noChangeAspect="1"/>
          </p:cNvPicPr>
          <p:nvPr/>
        </p:nvPicPr>
        <p:blipFill>
          <a:blip r:embed="rId1"/>
          <a:stretch>
            <a:fillRect/>
          </a:stretch>
        </p:blipFill>
        <p:spPr>
          <a:xfrm>
            <a:off x="881844" y="1463040"/>
            <a:ext cx="7380312" cy="4206240"/>
          </a:xfrm>
          <a:prstGeom prst="rect">
            <a:avLst/>
          </a:prstGeom>
        </p:spPr>
      </p:pic>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6.3 서식 적용 및 내려받기 플로우 (1/2)</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b="1" dirty="0">
                <a:solidFill>
                  <a:srgbClr val="4B5563"/>
                </a:solidFill>
              </a:rPr>
              <a:t>상세 설명</a:t>
            </a:r>
            <a:endParaRPr lang="en-US" sz="1600" dirty="0"/>
          </a:p>
          <a:p>
            <a:pPr indent="0" marL="0">
              <a:spcAft>
                <a:spcPts val="800"/>
              </a:spcAft>
              <a:buNone/>
            </a:pPr>
            <a:r>
              <a:rPr lang="en-US" sz="1600" dirty="0">
                <a:solidFill>
                  <a:srgbClr val="4B5563"/>
                </a:solidFill>
              </a:rPr>
              <a:t>1. 생성된 문서에 표지, 목차, 표 스타일을 적용합니다. 이 과정에서 회의록의 실제 내용을 변경하지 않는 것이 원칙입니다.</a:t>
            </a:r>
            <a:endParaRPr lang="en-US" sz="1600" dirty="0"/>
          </a:p>
          <a:p>
            <a:pPr indent="0" marL="0">
              <a:spcAft>
                <a:spcPts val="800"/>
              </a:spcAft>
              <a:buNone/>
            </a:pPr>
            <a:r>
              <a:rPr lang="en-US" sz="1600" dirty="0">
                <a:solidFill>
                  <a:srgbClr val="4B5563"/>
                </a:solidFill>
              </a:rPr>
              <a:t>2. 사용자는 Word 또는 PDF 형식으로 내려받습니다. 두 형식을 제공한다는 점은 회의에서 확인되었으나, 변환 방식과 화면에서의 선택 절차는 정해지지 않았습니다.</a:t>
            </a:r>
            <a:endParaRPr lang="en-US" sz="1600" dirty="0"/>
          </a:p>
          <a:p>
            <a:pPr indent="0" marL="0">
              <a:spcAft>
                <a:spcPts val="800"/>
              </a:spcAft>
              <a:buNone/>
            </a:pPr>
            <a:r>
              <a:rPr lang="en-US" sz="1600" dirty="0">
                <a:solidFill>
                  <a:srgbClr val="4B5563"/>
                </a:solidFill>
              </a:rPr>
              <a:t>3. 내려받은 결과에서 표와 다이어그램이 빠지지 않았는지 확인해야 합니다. 이는 성공 기준에 포함된 항목이며, 형식별 검증 절차는 추가 설계가 필요합니다.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6.3 서식 적용 및 내려받기 플로우 (2/2)</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4. 결과에 요소가 누락되거나 내려받기에 실패한 경우의 수정·재시도 방법은 미정입니다. 실제 구현에서는 원인 확인, 재처리 가능 범위, 사용자 안내를 별도로 정해야 합니다.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7. 성능 및 볼륨 고려사항</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회의에서는 성능 수치, 동시 사용자 수, 일일 처리량 또는 사용자 수 목표가 정해지지 않았습니다. 예산과 사용자 수 목표는 미정입니다. 아래 수치는 임의로 보완하지 않고 확인 필요 항목으로 기록합니다.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7. 성능 및 볼륨 고려사항</a:t>
            </a:r>
            <a:endParaRPr lang="en-US" sz="2800" dirty="0"/>
          </a:p>
        </p:txBody>
      </p:sp>
      <p:sp>
        <p:nvSpPr>
          <p:cNvPr id="3" name="Shape 1"/>
          <p:cNvSpPr/>
          <p:nvPr/>
        </p:nvSpPr>
        <p:spPr>
          <a:xfrm>
            <a:off x="457200" y="1078992"/>
            <a:ext cx="2743200" cy="41148"/>
          </a:xfrm>
          <a:prstGeom prst="rect">
            <a:avLst/>
          </a:prstGeom>
          <a:solidFill>
            <a:srgbClr val="263F59"/>
          </a:solidFill>
          <a:ln/>
        </p:spPr>
      </p:sp>
      <p:graphicFrame>
        <p:nvGraphicFramePr>
          <p:cNvPr id="65"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1371600"/>
                <a:gridCol w="3526971"/>
                <a:gridCol w="3331029"/>
              </a:tblGrid>
              <a:tr h="0">
                <a:tc>
                  <a:txBody>
                    <a:bodyPr/>
                    <a:lstStyle/>
                    <a:p>
                      <a:pPr indent="0" marL="0">
                        <a:buNone/>
                      </a:pPr>
                      <a:r>
                        <a:rPr lang="en-US" sz="1200" b="1" dirty="0">
                          <a:solidFill>
                            <a:srgbClr val="FFFFFF"/>
                          </a:solidFill>
                        </a:rPr>
                        <a:t>항목</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내용</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대응 </a:t>
                      </a:r>
                      <a:pPr indent="0" marL="0">
                        <a:buNone/>
                      </a:pPr>
                      <a:r>
                        <a:rPr lang="en-US" sz="1200" b="1" dirty="0">
                          <a:solidFill>
                            <a:srgbClr val="FFFFFF"/>
                          </a:solidFill>
                        </a:rPr>
                        <a:t>방안</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r>
              <a:tr h="0">
                <a:tc>
                  <a:txBody>
                    <a:bodyPr/>
                    <a:lstStyle/>
                    <a:p>
                      <a:pPr indent="0" marL="0">
                        <a:buNone/>
                      </a:pPr>
                      <a:r>
                        <a:rPr lang="en-US" sz="1100" dirty="0">
                          <a:solidFill>
                            <a:srgbClr val="1F2937"/>
                          </a:solidFill>
                        </a:rPr>
                        <a:t>동시 </a:t>
                      </a:r>
                      <a:pPr indent="0" marL="0">
                        <a:buNone/>
                      </a:pPr>
                      <a:r>
                        <a:rPr lang="en-US" sz="1100" dirty="0">
                          <a:solidFill>
                            <a:srgbClr val="1F2937"/>
                          </a:solidFill>
                        </a:rPr>
                        <a:t>요청량</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미정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사용자 </a:t>
                      </a:r>
                      <a:pPr indent="0" marL="0">
                        <a:buNone/>
                      </a:pPr>
                      <a:r>
                        <a:rPr lang="en-US" sz="1100" dirty="0">
                          <a:solidFill>
                            <a:srgbClr val="1F2937"/>
                          </a:solidFill>
                        </a:rPr>
                        <a:t>수와 </a:t>
                      </a:r>
                      <a:pPr indent="0" marL="0">
                        <a:buNone/>
                      </a:pPr>
                      <a:r>
                        <a:rPr lang="en-US" sz="1100" dirty="0">
                          <a:solidFill>
                            <a:srgbClr val="1F2937"/>
                          </a:solidFill>
                        </a:rPr>
                        <a:t>예상 </a:t>
                      </a:r>
                      <a:pPr indent="0" marL="0">
                        <a:buNone/>
                      </a:pPr>
                      <a:r>
                        <a:rPr lang="en-US" sz="1100" dirty="0">
                          <a:solidFill>
                            <a:srgbClr val="1F2937"/>
                          </a:solidFill>
                        </a:rPr>
                        <a:t>작업량을 </a:t>
                      </a:r>
                      <a:pPr indent="0" marL="0">
                        <a:buNone/>
                      </a:pPr>
                      <a:r>
                        <a:rPr lang="en-US" sz="1100" dirty="0">
                          <a:solidFill>
                            <a:srgbClr val="1F2937"/>
                          </a:solidFill>
                        </a:rPr>
                        <a:t>확인한 </a:t>
                      </a:r>
                      <a:pPr indent="0" marL="0">
                        <a:buNone/>
                      </a:pPr>
                      <a:r>
                        <a:rPr lang="en-US" sz="1100" dirty="0">
                          <a:solidFill>
                            <a:srgbClr val="1F2937"/>
                          </a:solidFill>
                        </a:rPr>
                        <a:t>뒤 </a:t>
                      </a:r>
                      <a:pPr indent="0" marL="0">
                        <a:buNone/>
                      </a:pPr>
                      <a:r>
                        <a:rPr lang="en-US" sz="1100" dirty="0">
                          <a:solidFill>
                            <a:srgbClr val="1F2937"/>
                          </a:solidFill>
                        </a:rPr>
                        <a:t>산정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응답 </a:t>
                      </a:r>
                      <a:pPr indent="0" marL="0">
                        <a:buNone/>
                      </a:pPr>
                      <a:r>
                        <a:rPr lang="en-US" sz="1100" dirty="0">
                          <a:solidFill>
                            <a:srgbClr val="1F2937"/>
                          </a:solidFill>
                        </a:rPr>
                        <a:t>시간</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미정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문서 </a:t>
                      </a:r>
                      <a:pPr indent="0" marL="0">
                        <a:buNone/>
                      </a:pPr>
                      <a:r>
                        <a:rPr lang="en-US" sz="1100" dirty="0">
                          <a:solidFill>
                            <a:srgbClr val="1F2937"/>
                          </a:solidFill>
                        </a:rPr>
                        <a:t>생성·내려받기 </a:t>
                      </a:r>
                      <a:pPr indent="0" marL="0">
                        <a:buNone/>
                      </a:pPr>
                      <a:r>
                        <a:rPr lang="en-US" sz="1100" dirty="0">
                          <a:solidFill>
                            <a:srgbClr val="1F2937"/>
                          </a:solidFill>
                        </a:rPr>
                        <a:t>목표 </a:t>
                      </a:r>
                      <a:pPr indent="0" marL="0">
                        <a:buNone/>
                      </a:pPr>
                      <a:r>
                        <a:rPr lang="en-US" sz="1100" dirty="0">
                          <a:solidFill>
                            <a:srgbClr val="1F2937"/>
                          </a:solidFill>
                        </a:rPr>
                        <a:t>시간과 </a:t>
                      </a:r>
                      <a:pPr indent="0" marL="0">
                        <a:buNone/>
                      </a:pPr>
                      <a:r>
                        <a:rPr lang="en-US" sz="1100" dirty="0">
                          <a:solidFill>
                            <a:srgbClr val="1F2937"/>
                          </a:solidFill>
                        </a:rPr>
                        <a:t>측정 </a:t>
                      </a:r>
                      <a:pPr indent="0" marL="0">
                        <a:buNone/>
                      </a:pPr>
                      <a:r>
                        <a:rPr lang="en-US" sz="1100" dirty="0">
                          <a:solidFill>
                            <a:srgbClr val="1F2937"/>
                          </a:solidFill>
                        </a:rPr>
                        <a:t>기준 </a:t>
                      </a:r>
                      <a:pPr indent="0" marL="0">
                        <a:buNone/>
                      </a:pPr>
                      <a:r>
                        <a:rPr lang="en-US" sz="1100" dirty="0">
                          <a:solidFill>
                            <a:srgbClr val="1F2937"/>
                          </a:solidFill>
                        </a:rPr>
                        <a:t>정의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데이터 </a:t>
                      </a:r>
                      <a:pPr indent="0" marL="0">
                        <a:buNone/>
                      </a:pPr>
                      <a:r>
                        <a:rPr lang="en-US" sz="1100" dirty="0">
                          <a:solidFill>
                            <a:srgbClr val="1F2937"/>
                          </a:solidFill>
                        </a:rPr>
                        <a:t>규모</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미정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회의록 </a:t>
                      </a:r>
                      <a:pPr indent="0" marL="0">
                        <a:buNone/>
                      </a:pPr>
                      <a:r>
                        <a:rPr lang="en-US" sz="1100" dirty="0">
                          <a:solidFill>
                            <a:srgbClr val="1F2937"/>
                          </a:solidFill>
                        </a:rPr>
                        <a:t>분량, </a:t>
                      </a:r>
                      <a:pPr indent="0" marL="0">
                        <a:buNone/>
                      </a:pPr>
                      <a:r>
                        <a:rPr lang="en-US" sz="1100" dirty="0">
                          <a:solidFill>
                            <a:srgbClr val="1F2937"/>
                          </a:solidFill>
                        </a:rPr>
                        <a:t>생성 </a:t>
                      </a:r>
                      <a:pPr indent="0" marL="0">
                        <a:buNone/>
                      </a:pPr>
                      <a:r>
                        <a:rPr lang="en-US" sz="1100" dirty="0">
                          <a:solidFill>
                            <a:srgbClr val="1F2937"/>
                          </a:solidFill>
                        </a:rPr>
                        <a:t>섹션 </a:t>
                      </a:r>
                      <a:pPr indent="0" marL="0">
                        <a:buNone/>
                      </a:pPr>
                      <a:r>
                        <a:rPr lang="en-US" sz="1100" dirty="0">
                          <a:solidFill>
                            <a:srgbClr val="1F2937"/>
                          </a:solidFill>
                        </a:rPr>
                        <a:t>수, </a:t>
                      </a:r>
                      <a:pPr indent="0" marL="0">
                        <a:buNone/>
                      </a:pPr>
                      <a:r>
                        <a:rPr lang="en-US" sz="1100" dirty="0">
                          <a:solidFill>
                            <a:srgbClr val="1F2937"/>
                          </a:solidFill>
                        </a:rPr>
                        <a:t>기기 </a:t>
                      </a:r>
                      <a:pPr indent="0" marL="0">
                        <a:buNone/>
                      </a:pPr>
                      <a:r>
                        <a:rPr lang="en-US" sz="1100" dirty="0">
                          <a:solidFill>
                            <a:srgbClr val="1F2937"/>
                          </a:solidFill>
                        </a:rPr>
                        <a:t>저장 </a:t>
                      </a:r>
                      <a:pPr indent="0" marL="0">
                        <a:buNone/>
                      </a:pPr>
                      <a:r>
                        <a:rPr lang="en-US" sz="1100" dirty="0">
                          <a:solidFill>
                            <a:srgbClr val="1F2937"/>
                          </a:solidFill>
                        </a:rPr>
                        <a:t>용량 </a:t>
                      </a:r>
                      <a:pPr indent="0" marL="0">
                        <a:buNone/>
                      </a:pPr>
                      <a:r>
                        <a:rPr lang="en-US" sz="1100" dirty="0">
                          <a:solidFill>
                            <a:srgbClr val="1F2937"/>
                          </a:solidFill>
                        </a:rPr>
                        <a:t>영향 </a:t>
                      </a:r>
                      <a:pPr indent="0" marL="0">
                        <a:buNone/>
                      </a:pPr>
                      <a:r>
                        <a:rPr lang="en-US" sz="1100" dirty="0">
                          <a:solidFill>
                            <a:srgbClr val="1F2937"/>
                          </a:solidFill>
                        </a:rPr>
                        <a:t>확인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화면 </a:t>
                      </a:r>
                      <a:pPr indent="0" marL="0">
                        <a:buNone/>
                      </a:pPr>
                      <a:r>
                        <a:rPr lang="en-US" sz="1100" dirty="0">
                          <a:solidFill>
                            <a:srgbClr val="1F2937"/>
                          </a:solidFill>
                        </a:rPr>
                        <a:t>이탈 </a:t>
                      </a:r>
                      <a:pPr indent="0" marL="0">
                        <a:buNone/>
                      </a:pPr>
                      <a:r>
                        <a:rPr lang="en-US" sz="1100" dirty="0">
                          <a:solidFill>
                            <a:srgbClr val="1F2937"/>
                          </a:solidFill>
                        </a:rPr>
                        <a:t>후 </a:t>
                      </a:r>
                      <a:pPr indent="0" marL="0">
                        <a:buNone/>
                      </a:pPr>
                      <a:r>
                        <a:rPr lang="en-US" sz="1100" dirty="0">
                          <a:solidFill>
                            <a:srgbClr val="1F2937"/>
                          </a:solidFill>
                        </a:rPr>
                        <a:t>재개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완료된 </a:t>
                      </a:r>
                      <a:pPr indent="0" marL="0">
                        <a:buNone/>
                      </a:pPr>
                      <a:r>
                        <a:rPr lang="en-US" sz="1100" dirty="0">
                          <a:solidFill>
                            <a:srgbClr val="1F2937"/>
                          </a:solidFill>
                        </a:rPr>
                        <a:t>섹션을 </a:t>
                      </a:r>
                      <a:pPr indent="0" marL="0">
                        <a:buNone/>
                      </a:pPr>
                      <a:r>
                        <a:rPr lang="en-US" sz="1100" dirty="0">
                          <a:solidFill>
                            <a:srgbClr val="1F2937"/>
                          </a:solidFill>
                        </a:rPr>
                        <a:t>기기에 </a:t>
                      </a:r>
                      <a:pPr indent="0" marL="0">
                        <a:buNone/>
                      </a:pPr>
                      <a:r>
                        <a:rPr lang="en-US" sz="1100" dirty="0">
                          <a:solidFill>
                            <a:srgbClr val="1F2937"/>
                          </a:solidFill>
                        </a:rPr>
                        <a:t>저장하고 </a:t>
                      </a:r>
                      <a:pPr indent="0" marL="0">
                        <a:buNone/>
                      </a:pPr>
                      <a:r>
                        <a:rPr lang="en-US" sz="1100" dirty="0">
                          <a:solidFill>
                            <a:srgbClr val="1F2937"/>
                          </a:solidFill>
                        </a:rPr>
                        <a:t>돌아오면 </a:t>
                      </a:r>
                      <a:pPr indent="0" marL="0">
                        <a:buNone/>
                      </a:pPr>
                      <a:r>
                        <a:rPr lang="en-US" sz="1100" dirty="0">
                          <a:solidFill>
                            <a:srgbClr val="1F2937"/>
                          </a:solidFill>
                        </a:rPr>
                        <a:t>이어서 </a:t>
                      </a:r>
                      <a:pPr indent="0" marL="0">
                        <a:buNone/>
                      </a:pPr>
                      <a:r>
                        <a:rPr lang="en-US" sz="1100" dirty="0">
                          <a:solidFill>
                            <a:srgbClr val="1F2937"/>
                          </a:solidFill>
                        </a:rPr>
                        <a:t>생성하는 </a:t>
                      </a:r>
                      <a:pPr indent="0" marL="0">
                        <a:buNone/>
                      </a:pPr>
                      <a:r>
                        <a:rPr lang="en-US" sz="1100" dirty="0">
                          <a:solidFill>
                            <a:srgbClr val="1F2937"/>
                          </a:solidFill>
                        </a:rPr>
                        <a:t>방향 </a:t>
                      </a:r>
                      <a:pPr indent="0" marL="0">
                        <a:buNone/>
                      </a:pPr>
                      <a:r>
                        <a:rPr lang="en-US" sz="1100" dirty="0">
                          <a:solidFill>
                            <a:srgbClr val="1F2937"/>
                          </a:solidFill>
                        </a:rPr>
                        <a:t>확인</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저장 </a:t>
                      </a:r>
                      <a:pPr indent="0" marL="0">
                        <a:buNone/>
                      </a:pPr>
                      <a:r>
                        <a:rPr lang="en-US" sz="1100" dirty="0">
                          <a:solidFill>
                            <a:srgbClr val="1F2937"/>
                          </a:solidFill>
                        </a:rPr>
                        <a:t>성공 </a:t>
                      </a:r>
                      <a:pPr indent="0" marL="0">
                        <a:buNone/>
                      </a:pPr>
                      <a:r>
                        <a:rPr lang="en-US" sz="1100" dirty="0">
                          <a:solidFill>
                            <a:srgbClr val="1F2937"/>
                          </a:solidFill>
                        </a:rPr>
                        <a:t>여부와 </a:t>
                      </a:r>
                      <a:pPr indent="0" marL="0">
                        <a:buNone/>
                      </a:pPr>
                      <a:r>
                        <a:rPr lang="en-US" sz="1100" dirty="0">
                          <a:solidFill>
                            <a:srgbClr val="1F2937"/>
                          </a:solidFill>
                        </a:rPr>
                        <a:t>복귀 </a:t>
                      </a:r>
                      <a:pPr indent="0" marL="0">
                        <a:buNone/>
                      </a:pPr>
                      <a:r>
                        <a:rPr lang="en-US" sz="1100" dirty="0">
                          <a:solidFill>
                            <a:srgbClr val="1F2937"/>
                          </a:solidFill>
                        </a:rPr>
                        <a:t>후 </a:t>
                      </a:r>
                      <a:pPr indent="0" marL="0">
                        <a:buNone/>
                      </a:pPr>
                      <a:r>
                        <a:rPr lang="en-US" sz="1100" dirty="0">
                          <a:solidFill>
                            <a:srgbClr val="1F2937"/>
                          </a:solidFill>
                        </a:rPr>
                        <a:t>재사용 </a:t>
                      </a:r>
                      <a:pPr indent="0" marL="0">
                        <a:buNone/>
                      </a:pPr>
                      <a:r>
                        <a:rPr lang="en-US" sz="1100" dirty="0">
                          <a:solidFill>
                            <a:srgbClr val="1F2937"/>
                          </a:solidFill>
                        </a:rPr>
                        <a:t>여부를 </a:t>
                      </a:r>
                      <a:pPr indent="0" marL="0">
                        <a:buNone/>
                      </a:pPr>
                      <a:r>
                        <a:rPr lang="en-US" sz="1100" dirty="0">
                          <a:solidFill>
                            <a:srgbClr val="1F2937"/>
                          </a:solidFill>
                        </a:rPr>
                        <a:t>검증</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Word·PDF </a:t>
                      </a:r>
                      <a:pPr indent="0" marL="0">
                        <a:buNone/>
                      </a:pPr>
                      <a:r>
                        <a:rPr lang="en-US" sz="1100" dirty="0">
                          <a:solidFill>
                            <a:srgbClr val="1F2937"/>
                          </a:solidFill>
                        </a:rPr>
                        <a:t>결과 </a:t>
                      </a:r>
                      <a:pPr indent="0" marL="0">
                        <a:buNone/>
                      </a:pPr>
                      <a:r>
                        <a:rPr lang="en-US" sz="1100" dirty="0">
                          <a:solidFill>
                            <a:srgbClr val="1F2937"/>
                          </a:solidFill>
                        </a:rPr>
                        <a:t>품질</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표와 </a:t>
                      </a:r>
                      <a:pPr indent="0" marL="0">
                        <a:buNone/>
                      </a:pPr>
                      <a:r>
                        <a:rPr lang="en-US" sz="1100" dirty="0">
                          <a:solidFill>
                            <a:srgbClr val="1F2937"/>
                          </a:solidFill>
                        </a:rPr>
                        <a:t>다이어그램 </a:t>
                      </a:r>
                      <a:pPr indent="0" marL="0">
                        <a:buNone/>
                      </a:pPr>
                      <a:r>
                        <a:rPr lang="en-US" sz="1100" dirty="0">
                          <a:solidFill>
                            <a:srgbClr val="1F2937"/>
                          </a:solidFill>
                        </a:rPr>
                        <a:t>누락 </a:t>
                      </a:r>
                      <a:pPr indent="0" marL="0">
                        <a:buNone/>
                      </a:pPr>
                      <a:r>
                        <a:rPr lang="en-US" sz="1100" dirty="0">
                          <a:solidFill>
                            <a:srgbClr val="1F2937"/>
                          </a:solidFill>
                        </a:rPr>
                        <a:t>없음이 </a:t>
                      </a:r>
                      <a:pPr indent="0" marL="0">
                        <a:buNone/>
                      </a:pPr>
                      <a:r>
                        <a:rPr lang="en-US" sz="1100" dirty="0">
                          <a:solidFill>
                            <a:srgbClr val="1F2937"/>
                          </a:solidFill>
                        </a:rPr>
                        <a:t>성공 </a:t>
                      </a:r>
                      <a:pPr indent="0" marL="0">
                        <a:buNone/>
                      </a:pPr>
                      <a:r>
                        <a:rPr lang="en-US" sz="1100" dirty="0">
                          <a:solidFill>
                            <a:srgbClr val="1F2937"/>
                          </a:solidFill>
                        </a:rPr>
                        <a:t>기준</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두 </a:t>
                      </a:r>
                      <a:pPr indent="0" marL="0">
                        <a:buNone/>
                      </a:pPr>
                      <a:r>
                        <a:rPr lang="en-US" sz="1100" dirty="0">
                          <a:solidFill>
                            <a:srgbClr val="1F2937"/>
                          </a:solidFill>
                        </a:rPr>
                        <a:t>형식의 </a:t>
                      </a:r>
                      <a:pPr indent="0" marL="0">
                        <a:buNone/>
                      </a:pPr>
                      <a:r>
                        <a:rPr lang="en-US" sz="1100" dirty="0">
                          <a:solidFill>
                            <a:srgbClr val="1F2937"/>
                          </a:solidFill>
                        </a:rPr>
                        <a:t>누락 </a:t>
                      </a:r>
                      <a:pPr indent="0" marL="0">
                        <a:buNone/>
                      </a:pPr>
                      <a:r>
                        <a:rPr lang="en-US" sz="1100" dirty="0">
                          <a:solidFill>
                            <a:srgbClr val="1F2937"/>
                          </a:solidFill>
                        </a:rPr>
                        <a:t>여부 </a:t>
                      </a:r>
                      <a:pPr indent="0" marL="0">
                        <a:buNone/>
                      </a:pPr>
                      <a:r>
                        <a:rPr lang="en-US" sz="1100" dirty="0">
                          <a:solidFill>
                            <a:srgbClr val="1F2937"/>
                          </a:solidFill>
                        </a:rPr>
                        <a:t>검증 </a:t>
                      </a:r>
                      <a:pPr indent="0" marL="0">
                        <a:buNone/>
                      </a:pPr>
                      <a:r>
                        <a:rPr lang="en-US" sz="1100" dirty="0">
                          <a:solidFill>
                            <a:srgbClr val="1F2937"/>
                          </a:solidFill>
                        </a:rPr>
                        <a:t>방법 </a:t>
                      </a:r>
                      <a:pPr indent="0" marL="0">
                        <a:buNone/>
                      </a:pPr>
                      <a:r>
                        <a:rPr lang="en-US" sz="1100" dirty="0">
                          <a:solidFill>
                            <a:srgbClr val="1F2937"/>
                          </a:solidFill>
                        </a:rPr>
                        <a:t>정의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예산</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미정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추정 </a:t>
                      </a:r>
                      <a:pPr indent="0" marL="0">
                        <a:buNone/>
                      </a:pPr>
                      <a:r>
                        <a:rPr lang="en-US" sz="1100" dirty="0">
                          <a:solidFill>
                            <a:srgbClr val="1F2937"/>
                          </a:solidFill>
                        </a:rPr>
                        <a:t>및 </a:t>
                      </a:r>
                      <a:pPr indent="0" marL="0">
                        <a:buNone/>
                      </a:pPr>
                      <a:r>
                        <a:rPr lang="en-US" sz="1100" dirty="0">
                          <a:solidFill>
                            <a:srgbClr val="1F2937"/>
                          </a:solidFill>
                        </a:rPr>
                        <a:t>확정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사용자 </a:t>
                      </a:r>
                      <a:pPr indent="0" marL="0">
                        <a:buNone/>
                      </a:pPr>
                      <a:r>
                        <a:rPr lang="en-US" sz="1100" dirty="0">
                          <a:solidFill>
                            <a:srgbClr val="1F2937"/>
                          </a:solidFill>
                        </a:rPr>
                        <a:t>수 </a:t>
                      </a:r>
                      <a:pPr indent="0" marL="0">
                        <a:buNone/>
                      </a:pPr>
                      <a:r>
                        <a:rPr lang="en-US" sz="1100" dirty="0">
                          <a:solidFill>
                            <a:srgbClr val="1F2937"/>
                          </a:solidFill>
                        </a:rPr>
                        <a:t>목표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미정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추정 </a:t>
                      </a:r>
                      <a:pPr indent="0" marL="0">
                        <a:buNone/>
                      </a:pPr>
                      <a:r>
                        <a:rPr lang="en-US" sz="1100" dirty="0">
                          <a:solidFill>
                            <a:srgbClr val="1F2937"/>
                          </a:solidFill>
                        </a:rPr>
                        <a:t>및 </a:t>
                      </a:r>
                      <a:pPr indent="0" marL="0">
                        <a:buNone/>
                      </a:pPr>
                      <a:r>
                        <a:rPr lang="en-US" sz="1100" dirty="0">
                          <a:solidFill>
                            <a:srgbClr val="1F2937"/>
                          </a:solidFill>
                        </a:rPr>
                        <a:t>확정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제작 </a:t>
                      </a:r>
                      <a:pPr indent="0" marL="0">
                        <a:buNone/>
                      </a:pPr>
                      <a:r>
                        <a:rPr lang="en-US" sz="1100" dirty="0">
                          <a:solidFill>
                            <a:srgbClr val="1F2937"/>
                          </a:solidFill>
                        </a:rPr>
                        <a:t>기간</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4주</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세부 </a:t>
                      </a:r>
                      <a:pPr indent="0" marL="0">
                        <a:buNone/>
                      </a:pPr>
                      <a:r>
                        <a:rPr lang="en-US" sz="1100" dirty="0">
                          <a:solidFill>
                            <a:srgbClr val="1F2937"/>
                          </a:solidFill>
                        </a:rPr>
                        <a:t>작업 </a:t>
                      </a:r>
                      <a:pPr indent="0" marL="0">
                        <a:buNone/>
                      </a:pPr>
                      <a:r>
                        <a:rPr lang="en-US" sz="1100" dirty="0">
                          <a:solidFill>
                            <a:srgbClr val="1F2937"/>
                          </a:solidFill>
                        </a:rPr>
                        <a:t>일정 </a:t>
                      </a:r>
                      <a:pPr indent="0" marL="0">
                        <a:buNone/>
                      </a:pPr>
                      <a:r>
                        <a:rPr lang="en-US" sz="1100" dirty="0">
                          <a:solidFill>
                            <a:srgbClr val="1F2937"/>
                          </a:solidFill>
                        </a:rPr>
                        <a:t>및 </a:t>
                      </a:r>
                      <a:pPr indent="0" marL="0">
                        <a:buNone/>
                      </a:pPr>
                      <a:r>
                        <a:rPr lang="en-US" sz="1100" dirty="0">
                          <a:solidFill>
                            <a:srgbClr val="1F2937"/>
                          </a:solidFill>
                        </a:rPr>
                        <a:t>검증·승인 </a:t>
                      </a:r>
                      <a:pPr indent="0" marL="0">
                        <a:buNone/>
                      </a:pPr>
                      <a:r>
                        <a:rPr lang="en-US" sz="1100" dirty="0">
                          <a:solidFill>
                            <a:srgbClr val="1F2937"/>
                          </a:solidFill>
                        </a:rPr>
                        <a:t>시점은 </a:t>
                      </a:r>
                      <a:pPr indent="0" marL="0">
                        <a:buNone/>
                      </a:pPr>
                      <a:r>
                        <a:rPr lang="en-US" sz="1100" dirty="0">
                          <a:solidFill>
                            <a:srgbClr val="1F2937"/>
                          </a:solidFill>
                        </a:rPr>
                        <a:t>추정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bl>
          </a:graphicData>
        </a:graphic>
      </p:graphicFrame>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7. 성능 및 볼륨 고려사항</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b="1" dirty="0">
                <a:solidFill>
                  <a:srgbClr val="4B5563"/>
                </a:solidFill>
              </a:rPr>
              <a:t>일정 관련 확인 사항:</a:t>
            </a:r>
            <a:pPr indent="0" marL="0">
              <a:spcAft>
                <a:spcPts val="800"/>
              </a:spcAft>
              <a:buNone/>
            </a:pPr>
            <a:r>
              <a:rPr lang="en-US" sz="1600" dirty="0">
                <a:solidFill>
                  <a:srgbClr val="4B5563"/>
                </a:solidFill>
              </a:rPr>
              <a:t> 회의에서 MVP 제작 기간은 4주로 제시되었지만, 시작일·종료일, 작업 단계별 기간, 검증 및 승인 일정은 제공되지 않았습니다. 따라서 단계별 일정이나 승인 완료 시점을 확정할 수 없습니다. 세부 일정을 작성할 때는 구현 이후 검증과 승인이 끝난 다음에 후속 단계가 시작되도록 순서를 정해야 합니다.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8. 확인이 필요한 항목 (1/2)</a:t>
            </a:r>
            <a:endParaRPr lang="en-US" sz="2800" dirty="0"/>
          </a:p>
        </p:txBody>
      </p:sp>
      <p:sp>
        <p:nvSpPr>
          <p:cNvPr id="3" name="Shape 1"/>
          <p:cNvSpPr/>
          <p:nvPr/>
        </p:nvSpPr>
        <p:spPr>
          <a:xfrm>
            <a:off x="457200" y="1078992"/>
            <a:ext cx="2743200" cy="41148"/>
          </a:xfrm>
          <a:prstGeom prst="rect">
            <a:avLst/>
          </a:prstGeom>
          <a:solidFill>
            <a:srgbClr val="263F59"/>
          </a:solidFill>
          <a:ln/>
        </p:spPr>
      </p:sp>
      <p:graphicFrame>
        <p:nvGraphicFramePr>
          <p:cNvPr id="67"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1645920"/>
                <a:gridCol w="6583680"/>
              </a:tblGrid>
              <a:tr h="0">
                <a:tc>
                  <a:txBody>
                    <a:bodyPr/>
                    <a:lstStyle/>
                    <a:p>
                      <a:pPr indent="0" marL="0">
                        <a:buNone/>
                      </a:pPr>
                      <a:r>
                        <a:rPr lang="en-US" sz="1200" b="1" dirty="0">
                          <a:solidFill>
                            <a:srgbClr val="FFFFFF"/>
                          </a:solidFill>
                        </a:rPr>
                        <a:t>구분</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확인 </a:t>
                      </a:r>
                      <a:pPr indent="0" marL="0">
                        <a:buNone/>
                      </a:pPr>
                      <a:r>
                        <a:rPr lang="en-US" sz="1200" b="1" dirty="0">
                          <a:solidFill>
                            <a:srgbClr val="FFFFFF"/>
                          </a:solidFill>
                        </a:rPr>
                        <a:t>항목</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r>
              <a:tr h="0">
                <a:tc>
                  <a:txBody>
                    <a:bodyPr/>
                    <a:lstStyle/>
                    <a:p>
                      <a:pPr indent="0" marL="0">
                        <a:buNone/>
                      </a:pPr>
                      <a:r>
                        <a:rPr lang="en-US" sz="1100" dirty="0">
                          <a:solidFill>
                            <a:srgbClr val="1F2937"/>
                          </a:solidFill>
                        </a:rPr>
                        <a:t>계정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로그인 </a:t>
                      </a:r>
                      <a:pPr indent="0" marL="0">
                        <a:buNone/>
                      </a:pPr>
                      <a:r>
                        <a:rPr lang="en-US" sz="1100" dirty="0">
                          <a:solidFill>
                            <a:srgbClr val="1F2937"/>
                          </a:solidFill>
                        </a:rPr>
                        <a:t>입력 </a:t>
                      </a:r>
                      <a:pPr indent="0" marL="0">
                        <a:buNone/>
                      </a:pPr>
                      <a:r>
                        <a:rPr lang="en-US" sz="1100" dirty="0">
                          <a:solidFill>
                            <a:srgbClr val="1F2937"/>
                          </a:solidFill>
                        </a:rPr>
                        <a:t>항목, </a:t>
                      </a:r>
                      <a:pPr indent="0" marL="0">
                        <a:buNone/>
                      </a:pPr>
                      <a:r>
                        <a:rPr lang="en-US" sz="1100" dirty="0">
                          <a:solidFill>
                            <a:srgbClr val="1F2937"/>
                          </a:solidFill>
                        </a:rPr>
                        <a:t>인증 </a:t>
                      </a:r>
                      <a:pPr indent="0" marL="0">
                        <a:buNone/>
                      </a:pPr>
                      <a:r>
                        <a:rPr lang="en-US" sz="1100" dirty="0">
                          <a:solidFill>
                            <a:srgbClr val="1F2937"/>
                          </a:solidFill>
                        </a:rPr>
                        <a:t>방식, </a:t>
                      </a:r>
                      <a:pPr indent="0" marL="0">
                        <a:buNone/>
                      </a:pPr>
                      <a:r>
                        <a:rPr lang="en-US" sz="1100" dirty="0">
                          <a:solidFill>
                            <a:srgbClr val="1F2937"/>
                          </a:solidFill>
                        </a:rPr>
                        <a:t>실패 </a:t>
                      </a:r>
                      <a:pPr indent="0" marL="0">
                        <a:buNone/>
                      </a:pPr>
                      <a:r>
                        <a:rPr lang="en-US" sz="1100" dirty="0">
                          <a:solidFill>
                            <a:srgbClr val="1F2937"/>
                          </a:solidFill>
                        </a:rPr>
                        <a:t>처리 </a:t>
                      </a:r>
                      <a:pPr indent="0" marL="0">
                        <a:buNone/>
                      </a:pPr>
                      <a:r>
                        <a:rPr lang="en-US" sz="1100" dirty="0">
                          <a:solidFill>
                            <a:srgbClr val="1F2937"/>
                          </a:solidFill>
                        </a:rPr>
                        <a:t>방식</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회원가입</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MVP </a:t>
                      </a:r>
                      <a:pPr indent="0" marL="0">
                        <a:buNone/>
                      </a:pPr>
                      <a:r>
                        <a:rPr lang="en-US" sz="1100" dirty="0">
                          <a:solidFill>
                            <a:srgbClr val="1F2937"/>
                          </a:solidFill>
                        </a:rPr>
                        <a:t>제공 </a:t>
                      </a:r>
                      <a:pPr indent="0" marL="0">
                        <a:buNone/>
                      </a:pPr>
                      <a:r>
                        <a:rPr lang="en-US" sz="1100" dirty="0">
                          <a:solidFill>
                            <a:srgbClr val="1F2937"/>
                          </a:solidFill>
                        </a:rPr>
                        <a:t>여부와 </a:t>
                      </a:r>
                      <a:pPr indent="0" marL="0">
                        <a:buNone/>
                      </a:pPr>
                      <a:r>
                        <a:rPr lang="en-US" sz="1100" dirty="0">
                          <a:solidFill>
                            <a:srgbClr val="1F2937"/>
                          </a:solidFill>
                        </a:rPr>
                        <a:t>계정 </a:t>
                      </a:r>
                      <a:pPr indent="0" marL="0">
                        <a:buNone/>
                      </a:pPr>
                      <a:r>
                        <a:rPr lang="en-US" sz="1100" dirty="0">
                          <a:solidFill>
                            <a:srgbClr val="1F2937"/>
                          </a:solidFill>
                        </a:rPr>
                        <a:t>생성 </a:t>
                      </a:r>
                      <a:pPr indent="0" marL="0">
                        <a:buNone/>
                      </a:pPr>
                      <a:r>
                        <a:rPr lang="en-US" sz="1100" dirty="0">
                          <a:solidFill>
                            <a:srgbClr val="1F2937"/>
                          </a:solidFill>
                        </a:rPr>
                        <a:t>경로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비밀번호 </a:t>
                      </a:r>
                      <a:pPr indent="0" marL="0">
                        <a:buNone/>
                      </a:pPr>
                      <a:r>
                        <a:rPr lang="en-US" sz="1100" dirty="0">
                          <a:solidFill>
                            <a:srgbClr val="1F2937"/>
                          </a:solidFill>
                        </a:rPr>
                        <a:t>찾기</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제공 </a:t>
                      </a:r>
                      <a:pPr indent="0" marL="0">
                        <a:buNone/>
                      </a:pPr>
                      <a:r>
                        <a:rPr lang="en-US" sz="1100" dirty="0">
                          <a:solidFill>
                            <a:srgbClr val="1F2937"/>
                          </a:solidFill>
                        </a:rPr>
                        <a:t>여부와 </a:t>
                      </a:r>
                      <a:pPr indent="0" marL="0">
                        <a:buNone/>
                      </a:pPr>
                      <a:r>
                        <a:rPr lang="en-US" sz="1100" dirty="0">
                          <a:solidFill>
                            <a:srgbClr val="1F2937"/>
                          </a:solidFill>
                        </a:rPr>
                        <a:t>본인 </a:t>
                      </a:r>
                      <a:pPr indent="0" marL="0">
                        <a:buNone/>
                      </a:pPr>
                      <a:r>
                        <a:rPr lang="en-US" sz="1100" dirty="0">
                          <a:solidFill>
                            <a:srgbClr val="1F2937"/>
                          </a:solidFill>
                        </a:rPr>
                        <a:t>확인·재설정 </a:t>
                      </a:r>
                      <a:pPr indent="0" marL="0">
                        <a:buNone/>
                      </a:pPr>
                      <a:r>
                        <a:rPr lang="en-US" sz="1100" dirty="0">
                          <a:solidFill>
                            <a:srgbClr val="1F2937"/>
                          </a:solidFill>
                        </a:rPr>
                        <a:t>방식</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회의록 </a:t>
                      </a:r>
                      <a:pPr indent="0" marL="0">
                        <a:buNone/>
                      </a:pPr>
                      <a:r>
                        <a:rPr lang="en-US" sz="1100" dirty="0">
                          <a:solidFill>
                            <a:srgbClr val="1F2937"/>
                          </a:solidFill>
                        </a:rPr>
                        <a:t>입력</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입력 </a:t>
                      </a:r>
                      <a:pPr indent="0" marL="0">
                        <a:buNone/>
                      </a:pPr>
                      <a:r>
                        <a:rPr lang="en-US" sz="1100" dirty="0">
                          <a:solidFill>
                            <a:srgbClr val="1F2937"/>
                          </a:solidFill>
                        </a:rPr>
                        <a:t>형식, </a:t>
                      </a:r>
                      <a:pPr indent="0" marL="0">
                        <a:buNone/>
                      </a:pPr>
                      <a:r>
                        <a:rPr lang="en-US" sz="1100" dirty="0">
                          <a:solidFill>
                            <a:srgbClr val="1F2937"/>
                          </a:solidFill>
                        </a:rPr>
                        <a:t>필수 </a:t>
                      </a:r>
                      <a:pPr indent="0" marL="0">
                        <a:buNone/>
                      </a:pPr>
                      <a:r>
                        <a:rPr lang="en-US" sz="1100" dirty="0">
                          <a:solidFill>
                            <a:srgbClr val="1F2937"/>
                          </a:solidFill>
                        </a:rPr>
                        <a:t>항목, </a:t>
                      </a:r>
                      <a:pPr indent="0" marL="0">
                        <a:buNone/>
                      </a:pPr>
                      <a:r>
                        <a:rPr lang="en-US" sz="1100" dirty="0">
                          <a:solidFill>
                            <a:srgbClr val="1F2937"/>
                          </a:solidFill>
                        </a:rPr>
                        <a:t>검증 </a:t>
                      </a:r>
                      <a:pPr indent="0" marL="0">
                        <a:buNone/>
                      </a:pPr>
                      <a:r>
                        <a:rPr lang="en-US" sz="1100" dirty="0">
                          <a:solidFill>
                            <a:srgbClr val="1F2937"/>
                          </a:solidFill>
                        </a:rPr>
                        <a:t>규칙</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기기 </a:t>
                      </a:r>
                      <a:pPr indent="0" marL="0">
                        <a:buNone/>
                      </a:pPr>
                      <a:r>
                        <a:rPr lang="en-US" sz="1100" dirty="0">
                          <a:solidFill>
                            <a:srgbClr val="1F2937"/>
                          </a:solidFill>
                        </a:rPr>
                        <a:t>저장</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저장 </a:t>
                      </a:r>
                      <a:pPr indent="0" marL="0">
                        <a:buNone/>
                      </a:pPr>
                      <a:r>
                        <a:rPr lang="en-US" sz="1100" dirty="0">
                          <a:solidFill>
                            <a:srgbClr val="1F2937"/>
                          </a:solidFill>
                        </a:rPr>
                        <a:t>대상, </a:t>
                      </a:r>
                      <a:pPr indent="0" marL="0">
                        <a:buNone/>
                      </a:pPr>
                      <a:r>
                        <a:rPr lang="en-US" sz="1100" dirty="0">
                          <a:solidFill>
                            <a:srgbClr val="1F2937"/>
                          </a:solidFill>
                        </a:rPr>
                        <a:t>저장 </a:t>
                      </a:r>
                      <a:pPr indent="0" marL="0">
                        <a:buNone/>
                      </a:pPr>
                      <a:r>
                        <a:rPr lang="en-US" sz="1100" dirty="0">
                          <a:solidFill>
                            <a:srgbClr val="1F2937"/>
                          </a:solidFill>
                        </a:rPr>
                        <a:t>시점, </a:t>
                      </a:r>
                      <a:pPr indent="0" marL="0">
                        <a:buNone/>
                      </a:pPr>
                      <a:r>
                        <a:rPr lang="en-US" sz="1100" dirty="0">
                          <a:solidFill>
                            <a:srgbClr val="1F2937"/>
                          </a:solidFill>
                        </a:rPr>
                        <a:t>저장 </a:t>
                      </a:r>
                      <a:pPr indent="0" marL="0">
                        <a:buNone/>
                      </a:pPr>
                      <a:r>
                        <a:rPr lang="en-US" sz="1100" dirty="0">
                          <a:solidFill>
                            <a:srgbClr val="1F2937"/>
                          </a:solidFill>
                        </a:rPr>
                        <a:t>실패 </a:t>
                      </a:r>
                      <a:pPr indent="0" marL="0">
                        <a:buNone/>
                      </a:pPr>
                      <a:r>
                        <a:rPr lang="en-US" sz="1100" dirty="0">
                          <a:solidFill>
                            <a:srgbClr val="1F2937"/>
                          </a:solidFill>
                        </a:rPr>
                        <a:t>처리, </a:t>
                      </a:r>
                      <a:pPr indent="0" marL="0">
                        <a:buNone/>
                      </a:pPr>
                      <a:r>
                        <a:rPr lang="en-US" sz="1100" dirty="0">
                          <a:solidFill>
                            <a:srgbClr val="1F2937"/>
                          </a:solidFill>
                        </a:rPr>
                        <a:t>삭제·보관 </a:t>
                      </a:r>
                      <a:pPr indent="0" marL="0">
                        <a:buNone/>
                      </a:pPr>
                      <a:r>
                        <a:rPr lang="en-US" sz="1100" dirty="0">
                          <a:solidFill>
                            <a:srgbClr val="1F2937"/>
                          </a:solidFill>
                        </a:rPr>
                        <a:t>기준</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생성 </a:t>
                      </a:r>
                      <a:pPr indent="0" marL="0">
                        <a:buNone/>
                      </a:pPr>
                      <a:r>
                        <a:rPr lang="en-US" sz="1100" dirty="0">
                          <a:solidFill>
                            <a:srgbClr val="1F2937"/>
                          </a:solidFill>
                        </a:rPr>
                        <a:t>재개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이어서 </a:t>
                      </a:r>
                      <a:pPr indent="0" marL="0">
                        <a:buNone/>
                      </a:pPr>
                      <a:r>
                        <a:rPr lang="en-US" sz="1100" dirty="0">
                          <a:solidFill>
                            <a:srgbClr val="1F2937"/>
                          </a:solidFill>
                        </a:rPr>
                        <a:t>생성할 </a:t>
                      </a:r>
                      <a:pPr indent="0" marL="0">
                        <a:buNone/>
                      </a:pPr>
                      <a:r>
                        <a:rPr lang="en-US" sz="1100" dirty="0">
                          <a:solidFill>
                            <a:srgbClr val="1F2937"/>
                          </a:solidFill>
                        </a:rPr>
                        <a:t>범위와 </a:t>
                      </a:r>
                      <a:pPr indent="0" marL="0">
                        <a:buNone/>
                      </a:pPr>
                      <a:r>
                        <a:rPr lang="en-US" sz="1100" dirty="0">
                          <a:solidFill>
                            <a:srgbClr val="1F2937"/>
                          </a:solidFill>
                        </a:rPr>
                        <a:t>재개 </a:t>
                      </a:r>
                      <a:pPr indent="0" marL="0">
                        <a:buNone/>
                      </a:pPr>
                      <a:r>
                        <a:rPr lang="en-US" sz="1100" dirty="0">
                          <a:solidFill>
                            <a:srgbClr val="1F2937"/>
                          </a:solidFill>
                        </a:rPr>
                        <a:t>실패 </a:t>
                      </a:r>
                      <a:pPr indent="0" marL="0">
                        <a:buNone/>
                      </a:pPr>
                      <a:r>
                        <a:rPr lang="en-US" sz="1100" dirty="0">
                          <a:solidFill>
                            <a:srgbClr val="1F2937"/>
                          </a:solidFill>
                        </a:rPr>
                        <a:t>시 </a:t>
                      </a:r>
                      <a:pPr indent="0" marL="0">
                        <a:buNone/>
                      </a:pPr>
                      <a:r>
                        <a:rPr lang="en-US" sz="1100" dirty="0">
                          <a:solidFill>
                            <a:srgbClr val="1F2937"/>
                          </a:solidFill>
                        </a:rPr>
                        <a:t>처리 </a:t>
                      </a:r>
                      <a:pPr indent="0" marL="0">
                        <a:buNone/>
                      </a:pPr>
                      <a:r>
                        <a:rPr lang="en-US" sz="1100" dirty="0">
                          <a:solidFill>
                            <a:srgbClr val="1F2937"/>
                          </a:solidFill>
                        </a:rPr>
                        <a:t>방식</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생성 </a:t>
                      </a:r>
                      <a:pPr indent="0" marL="0">
                        <a:buNone/>
                      </a:pPr>
                      <a:r>
                        <a:rPr lang="en-US" sz="1100" dirty="0">
                          <a:solidFill>
                            <a:srgbClr val="1F2937"/>
                          </a:solidFill>
                        </a:rPr>
                        <a:t>취소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취소 </a:t>
                      </a:r>
                      <a:pPr indent="0" marL="0">
                        <a:buNone/>
                      </a:pPr>
                      <a:r>
                        <a:rPr lang="en-US" sz="1100" dirty="0">
                          <a:solidFill>
                            <a:srgbClr val="1F2937"/>
                          </a:solidFill>
                        </a:rPr>
                        <a:t>상태 </a:t>
                      </a:r>
                      <a:pPr indent="0" marL="0">
                        <a:buNone/>
                      </a:pPr>
                      <a:r>
                        <a:rPr lang="en-US" sz="1100" dirty="0">
                          <a:solidFill>
                            <a:srgbClr val="1F2937"/>
                          </a:solidFill>
                        </a:rPr>
                        <a:t>정의 </a:t>
                      </a:r>
                      <a:pPr indent="0" marL="0">
                        <a:buNone/>
                      </a:pPr>
                      <a:r>
                        <a:rPr lang="en-US" sz="1100" dirty="0">
                          <a:solidFill>
                            <a:srgbClr val="1F2937"/>
                          </a:solidFill>
                        </a:rPr>
                        <a:t>및 </a:t>
                      </a:r>
                      <a:pPr indent="0" marL="0">
                        <a:buNone/>
                      </a:pPr>
                      <a:r>
                        <a:rPr lang="en-US" sz="1100" dirty="0">
                          <a:solidFill>
                            <a:srgbClr val="1F2937"/>
                          </a:solidFill>
                        </a:rPr>
                        <a:t>이전 </a:t>
                      </a:r>
                      <a:pPr indent="0" marL="0">
                        <a:buNone/>
                      </a:pPr>
                      <a:r>
                        <a:rPr lang="en-US" sz="1100" dirty="0">
                          <a:solidFill>
                            <a:srgbClr val="1F2937"/>
                          </a:solidFill>
                        </a:rPr>
                        <a:t>응답을 </a:t>
                      </a:r>
                      <a:pPr indent="0" marL="0">
                        <a:buNone/>
                      </a:pPr>
                      <a:r>
                        <a:rPr lang="en-US" sz="1100" dirty="0">
                          <a:solidFill>
                            <a:srgbClr val="1F2937"/>
                          </a:solidFill>
                        </a:rPr>
                        <a:t>무시하는 </a:t>
                      </a:r>
                      <a:pPr indent="0" marL="0">
                        <a:buNone/>
                      </a:pPr>
                      <a:r>
                        <a:rPr lang="en-US" sz="1100" dirty="0">
                          <a:solidFill>
                            <a:srgbClr val="1F2937"/>
                          </a:solidFill>
                        </a:rPr>
                        <a:t>구현·검증 </a:t>
                      </a:r>
                      <a:pPr indent="0" marL="0">
                        <a:buNone/>
                      </a:pPr>
                      <a:r>
                        <a:rPr lang="en-US" sz="1100" dirty="0">
                          <a:solidFill>
                            <a:srgbClr val="1F2937"/>
                          </a:solidFill>
                        </a:rPr>
                        <a:t>방식</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서식</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표지·목차·표 </a:t>
                      </a:r>
                      <a:pPr indent="0" marL="0">
                        <a:buNone/>
                      </a:pPr>
                      <a:r>
                        <a:rPr lang="en-US" sz="1100" dirty="0">
                          <a:solidFill>
                            <a:srgbClr val="1F2937"/>
                          </a:solidFill>
                        </a:rPr>
                        <a:t>스타일의 </a:t>
                      </a:r>
                      <a:pPr indent="0" marL="0">
                        <a:buNone/>
                      </a:pPr>
                      <a:r>
                        <a:rPr lang="en-US" sz="1100" dirty="0">
                          <a:solidFill>
                            <a:srgbClr val="1F2937"/>
                          </a:solidFill>
                        </a:rPr>
                        <a:t>구체적인 </a:t>
                      </a:r>
                      <a:pPr indent="0" marL="0">
                        <a:buNone/>
                      </a:pPr>
                      <a:r>
                        <a:rPr lang="en-US" sz="1100" dirty="0">
                          <a:solidFill>
                            <a:srgbClr val="1F2937"/>
                          </a:solidFill>
                        </a:rPr>
                        <a:t>적용 </a:t>
                      </a:r>
                      <a:pPr indent="0" marL="0">
                        <a:buNone/>
                      </a:pPr>
                      <a:r>
                        <a:rPr lang="en-US" sz="1100" dirty="0">
                          <a:solidFill>
                            <a:srgbClr val="1F2937"/>
                          </a:solidFill>
                        </a:rPr>
                        <a:t>기준</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내용 </a:t>
                      </a:r>
                      <a:pPr indent="0" marL="0">
                        <a:buNone/>
                      </a:pPr>
                      <a:r>
                        <a:rPr lang="en-US" sz="1100" dirty="0">
                          <a:solidFill>
                            <a:srgbClr val="1F2937"/>
                          </a:solidFill>
                        </a:rPr>
                        <a:t>보존</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서식 </a:t>
                      </a:r>
                      <a:pPr indent="0" marL="0">
                        <a:buNone/>
                      </a:pPr>
                      <a:r>
                        <a:rPr lang="en-US" sz="1100" dirty="0">
                          <a:solidFill>
                            <a:srgbClr val="1F2937"/>
                          </a:solidFill>
                        </a:rPr>
                        <a:t>적용 </a:t>
                      </a:r>
                      <a:pPr indent="0" marL="0">
                        <a:buNone/>
                      </a:pPr>
                      <a:r>
                        <a:rPr lang="en-US" sz="1100" dirty="0">
                          <a:solidFill>
                            <a:srgbClr val="1F2937"/>
                          </a:solidFill>
                        </a:rPr>
                        <a:t>전후 </a:t>
                      </a:r>
                      <a:pPr indent="0" marL="0">
                        <a:buNone/>
                      </a:pPr>
                      <a:r>
                        <a:rPr lang="en-US" sz="1100" dirty="0">
                          <a:solidFill>
                            <a:srgbClr val="1F2937"/>
                          </a:solidFill>
                        </a:rPr>
                        <a:t>내용이 </a:t>
                      </a:r>
                      <a:pPr indent="0" marL="0">
                        <a:buNone/>
                      </a:pPr>
                      <a:r>
                        <a:rPr lang="en-US" sz="1100" dirty="0">
                          <a:solidFill>
                            <a:srgbClr val="1F2937"/>
                          </a:solidFill>
                        </a:rPr>
                        <a:t>바뀌지 </a:t>
                      </a:r>
                      <a:pPr indent="0" marL="0">
                        <a:buNone/>
                      </a:pPr>
                      <a:r>
                        <a:rPr lang="en-US" sz="1100" dirty="0">
                          <a:solidFill>
                            <a:srgbClr val="1F2937"/>
                          </a:solidFill>
                        </a:rPr>
                        <a:t>않았음을 </a:t>
                      </a:r>
                      <a:pPr indent="0" marL="0">
                        <a:buNone/>
                      </a:pPr>
                      <a:r>
                        <a:rPr lang="en-US" sz="1100" dirty="0">
                          <a:solidFill>
                            <a:srgbClr val="1F2937"/>
                          </a:solidFill>
                        </a:rPr>
                        <a:t>확인하는 </a:t>
                      </a:r>
                      <a:pPr indent="0" marL="0">
                        <a:buNone/>
                      </a:pPr>
                      <a:r>
                        <a:rPr lang="en-US" sz="1100" dirty="0">
                          <a:solidFill>
                            <a:srgbClr val="1F2937"/>
                          </a:solidFill>
                        </a:rPr>
                        <a:t>방법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Word·PDF</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형식별 </a:t>
                      </a:r>
                      <a:pPr indent="0" marL="0">
                        <a:buNone/>
                      </a:pPr>
                      <a:r>
                        <a:rPr lang="en-US" sz="1100" dirty="0">
                          <a:solidFill>
                            <a:srgbClr val="1F2937"/>
                          </a:solidFill>
                        </a:rPr>
                        <a:t>생성·내려받기 </a:t>
                      </a:r>
                      <a:pPr indent="0" marL="0">
                        <a:buNone/>
                      </a:pPr>
                      <a:r>
                        <a:rPr lang="en-US" sz="1100" dirty="0">
                          <a:solidFill>
                            <a:srgbClr val="1F2937"/>
                          </a:solidFill>
                        </a:rPr>
                        <a:t>방식과 </a:t>
                      </a:r>
                      <a:pPr indent="0" marL="0">
                        <a:buNone/>
                      </a:pPr>
                      <a:r>
                        <a:rPr lang="en-US" sz="1100" dirty="0">
                          <a:solidFill>
                            <a:srgbClr val="1F2937"/>
                          </a:solidFill>
                        </a:rPr>
                        <a:t>변환 </a:t>
                      </a:r>
                      <a:pPr indent="0" marL="0">
                        <a:buNone/>
                      </a:pPr>
                      <a:r>
                        <a:rPr lang="en-US" sz="1100" dirty="0">
                          <a:solidFill>
                            <a:srgbClr val="1F2937"/>
                          </a:solidFill>
                        </a:rPr>
                        <a:t>실패 </a:t>
                      </a:r>
                      <a:pPr indent="0" marL="0">
                        <a:buNone/>
                      </a:pPr>
                      <a:r>
                        <a:rPr lang="en-US" sz="1100" dirty="0">
                          <a:solidFill>
                            <a:srgbClr val="1F2937"/>
                          </a:solidFill>
                        </a:rPr>
                        <a:t>처리</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누락 </a:t>
                      </a:r>
                      <a:pPr indent="0" marL="0">
                        <a:buNone/>
                      </a:pPr>
                      <a:r>
                        <a:rPr lang="en-US" sz="1100" dirty="0">
                          <a:solidFill>
                            <a:srgbClr val="1F2937"/>
                          </a:solidFill>
                        </a:rPr>
                        <a:t>검증</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표와 </a:t>
                      </a:r>
                      <a:pPr indent="0" marL="0">
                        <a:buNone/>
                      </a:pPr>
                      <a:r>
                        <a:rPr lang="en-US" sz="1100" dirty="0">
                          <a:solidFill>
                            <a:srgbClr val="1F2937"/>
                          </a:solidFill>
                        </a:rPr>
                        <a:t>다이어그램 </a:t>
                      </a:r>
                      <a:pPr indent="0" marL="0">
                        <a:buNone/>
                      </a:pPr>
                      <a:r>
                        <a:rPr lang="en-US" sz="1100" dirty="0">
                          <a:solidFill>
                            <a:srgbClr val="1F2937"/>
                          </a:solidFill>
                        </a:rPr>
                        <a:t>누락 </a:t>
                      </a:r>
                      <a:pPr indent="0" marL="0">
                        <a:buNone/>
                      </a:pPr>
                      <a:r>
                        <a:rPr lang="en-US" sz="1100" dirty="0">
                          <a:solidFill>
                            <a:srgbClr val="1F2937"/>
                          </a:solidFill>
                        </a:rPr>
                        <a:t>여부를 </a:t>
                      </a:r>
                      <a:pPr indent="0" marL="0">
                        <a:buNone/>
                      </a:pPr>
                      <a:r>
                        <a:rPr lang="en-US" sz="1100" dirty="0">
                          <a:solidFill>
                            <a:srgbClr val="1F2937"/>
                          </a:solidFill>
                        </a:rPr>
                        <a:t>확인하는 </a:t>
                      </a:r>
                      <a:pPr indent="0" marL="0">
                        <a:buNone/>
                      </a:pPr>
                      <a:r>
                        <a:rPr lang="en-US" sz="1100" dirty="0">
                          <a:solidFill>
                            <a:srgbClr val="1F2937"/>
                          </a:solidFill>
                        </a:rPr>
                        <a:t>방법과 </a:t>
                      </a:r>
                      <a:pPr indent="0" marL="0">
                        <a:buNone/>
                      </a:pPr>
                      <a:r>
                        <a:rPr lang="en-US" sz="1100" dirty="0">
                          <a:solidFill>
                            <a:srgbClr val="1F2937"/>
                          </a:solidFill>
                        </a:rPr>
                        <a:t>담당자</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8. 확인이 필요한 항목 (2/2)</a:t>
            </a:r>
            <a:endParaRPr lang="en-US" sz="2800" dirty="0"/>
          </a:p>
        </p:txBody>
      </p:sp>
      <p:sp>
        <p:nvSpPr>
          <p:cNvPr id="3" name="Shape 1"/>
          <p:cNvSpPr/>
          <p:nvPr/>
        </p:nvSpPr>
        <p:spPr>
          <a:xfrm>
            <a:off x="457200" y="1078992"/>
            <a:ext cx="2743200" cy="41148"/>
          </a:xfrm>
          <a:prstGeom prst="rect">
            <a:avLst/>
          </a:prstGeom>
          <a:solidFill>
            <a:srgbClr val="263F59"/>
          </a:solidFill>
          <a:ln/>
        </p:spPr>
      </p:sp>
      <p:graphicFrame>
        <p:nvGraphicFramePr>
          <p:cNvPr id="68"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1732547"/>
                <a:gridCol w="6497053"/>
              </a:tblGrid>
              <a:tr h="0">
                <a:tc>
                  <a:txBody>
                    <a:bodyPr/>
                    <a:lstStyle/>
                    <a:p>
                      <a:pPr indent="0" marL="0">
                        <a:buNone/>
                      </a:pPr>
                      <a:r>
                        <a:rPr lang="en-US" sz="1200" b="1" dirty="0">
                          <a:solidFill>
                            <a:srgbClr val="FFFFFF"/>
                          </a:solidFill>
                        </a:rPr>
                        <a:t>구분</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확인 </a:t>
                      </a:r>
                      <a:pPr indent="0" marL="0">
                        <a:buNone/>
                      </a:pPr>
                      <a:r>
                        <a:rPr lang="en-US" sz="1200" b="1" dirty="0">
                          <a:solidFill>
                            <a:srgbClr val="FFFFFF"/>
                          </a:solidFill>
                        </a:rPr>
                        <a:t>항목</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r>
              <a:tr h="0">
                <a:tc>
                  <a:txBody>
                    <a:bodyPr/>
                    <a:lstStyle/>
                    <a:p>
                      <a:pPr indent="0" marL="0">
                        <a:buNone/>
                      </a:pPr>
                      <a:r>
                        <a:rPr lang="en-US" sz="1100" dirty="0">
                          <a:solidFill>
                            <a:srgbClr val="1F2937"/>
                          </a:solidFill>
                        </a:rPr>
                        <a:t>예외 </a:t>
                      </a:r>
                      <a:pPr indent="0" marL="0">
                        <a:buNone/>
                      </a:pPr>
                      <a:r>
                        <a:rPr lang="en-US" sz="1100" dirty="0">
                          <a:solidFill>
                            <a:srgbClr val="1F2937"/>
                          </a:solidFill>
                        </a:rPr>
                        <a:t>처리</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오류 </a:t>
                      </a:r>
                      <a:pPr indent="0" marL="0">
                        <a:buNone/>
                      </a:pPr>
                      <a:r>
                        <a:rPr lang="en-US" sz="1100" dirty="0">
                          <a:solidFill>
                            <a:srgbClr val="1F2937"/>
                          </a:solidFill>
                        </a:rPr>
                        <a:t>분류, </a:t>
                      </a:r>
                      <a:pPr indent="0" marL="0">
                        <a:buNone/>
                      </a:pPr>
                      <a:r>
                        <a:rPr lang="en-US" sz="1100" dirty="0">
                          <a:solidFill>
                            <a:srgbClr val="1F2937"/>
                          </a:solidFill>
                        </a:rPr>
                        <a:t>사용자 </a:t>
                      </a:r>
                      <a:pPr indent="0" marL="0">
                        <a:buNone/>
                      </a:pPr>
                      <a:r>
                        <a:rPr lang="en-US" sz="1100" dirty="0">
                          <a:solidFill>
                            <a:srgbClr val="1F2937"/>
                          </a:solidFill>
                        </a:rPr>
                        <a:t>안내, </a:t>
                      </a:r>
                      <a:pPr indent="0" marL="0">
                        <a:buNone/>
                      </a:pPr>
                      <a:r>
                        <a:rPr lang="en-US" sz="1100" dirty="0">
                          <a:solidFill>
                            <a:srgbClr val="1F2937"/>
                          </a:solidFill>
                        </a:rPr>
                        <a:t>재시도 </a:t>
                      </a:r>
                      <a:pPr indent="0" marL="0">
                        <a:buNone/>
                      </a:pPr>
                      <a:r>
                        <a:rPr lang="en-US" sz="1100" dirty="0">
                          <a:solidFill>
                            <a:srgbClr val="1F2937"/>
                          </a:solidFill>
                        </a:rPr>
                        <a:t>정책</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일정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4주 </a:t>
                      </a:r>
                      <a:pPr indent="0" marL="0">
                        <a:buNone/>
                      </a:pPr>
                      <a:r>
                        <a:rPr lang="en-US" sz="1100" dirty="0">
                          <a:solidFill>
                            <a:srgbClr val="1F2937"/>
                          </a:solidFill>
                        </a:rPr>
                        <a:t>내 </a:t>
                      </a:r>
                      <a:pPr indent="0" marL="0">
                        <a:buNone/>
                      </a:pPr>
                      <a:r>
                        <a:rPr lang="en-US" sz="1100" dirty="0">
                          <a:solidFill>
                            <a:srgbClr val="1F2937"/>
                          </a:solidFill>
                        </a:rPr>
                        <a:t>작업 </a:t>
                      </a:r>
                      <a:pPr indent="0" marL="0">
                        <a:buNone/>
                      </a:pPr>
                      <a:r>
                        <a:rPr lang="en-US" sz="1100" dirty="0">
                          <a:solidFill>
                            <a:srgbClr val="1F2937"/>
                          </a:solidFill>
                        </a:rPr>
                        <a:t>단계, </a:t>
                      </a:r>
                      <a:pPr indent="0" marL="0">
                        <a:buNone/>
                      </a:pPr>
                      <a:r>
                        <a:rPr lang="en-US" sz="1100" dirty="0">
                          <a:solidFill>
                            <a:srgbClr val="1F2937"/>
                          </a:solidFill>
                        </a:rPr>
                        <a:t>검증·승인 </a:t>
                      </a:r>
                      <a:pPr indent="0" marL="0">
                        <a:buNone/>
                      </a:pPr>
                      <a:r>
                        <a:rPr lang="en-US" sz="1100" dirty="0">
                          <a:solidFill>
                            <a:srgbClr val="1F2937"/>
                          </a:solidFill>
                        </a:rPr>
                        <a:t>시점, </a:t>
                      </a:r>
                      <a:pPr indent="0" marL="0">
                        <a:buNone/>
                      </a:pPr>
                      <a:r>
                        <a:rPr lang="en-US" sz="1100" dirty="0">
                          <a:solidFill>
                            <a:srgbClr val="1F2937"/>
                          </a:solidFill>
                        </a:rPr>
                        <a:t>일정 </a:t>
                      </a:r>
                      <a:pPr indent="0" marL="0">
                        <a:buNone/>
                      </a:pPr>
                      <a:r>
                        <a:rPr lang="en-US" sz="1100" dirty="0">
                          <a:solidFill>
                            <a:srgbClr val="1F2937"/>
                          </a:solidFill>
                        </a:rPr>
                        <a:t>산정 </a:t>
                      </a:r>
                      <a:pPr indent="0" marL="0">
                        <a:buNone/>
                      </a:pPr>
                      <a:r>
                        <a:rPr lang="en-US" sz="1100" dirty="0">
                          <a:solidFill>
                            <a:srgbClr val="1F2937"/>
                          </a:solidFill>
                        </a:rPr>
                        <a:t>기준</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예산·사용자 </a:t>
                      </a:r>
                      <a:pPr indent="0" marL="0">
                        <a:buNone/>
                      </a:pPr>
                      <a:r>
                        <a:rPr lang="en-US" sz="1100" dirty="0">
                          <a:solidFill>
                            <a:srgbClr val="1F2937"/>
                          </a:solidFill>
                        </a:rPr>
                        <a:t>수</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모두 </a:t>
                      </a:r>
                      <a:pPr indent="0" marL="0">
                        <a:buNone/>
                      </a:pPr>
                      <a:r>
                        <a:rPr lang="en-US" sz="1100" dirty="0">
                          <a:solidFill>
                            <a:srgbClr val="1F2937"/>
                          </a:solidFill>
                        </a:rPr>
                        <a:t>미정. </a:t>
                      </a:r>
                      <a:pPr indent="0" marL="0">
                        <a:buNone/>
                      </a:pPr>
                      <a:r>
                        <a:rPr lang="en-US" sz="1100" dirty="0">
                          <a:solidFill>
                            <a:srgbClr val="1F2937"/>
                          </a:solidFill>
                        </a:rPr>
                        <a:t>추정 </a:t>
                      </a:r>
                      <a:pPr indent="0" marL="0">
                        <a:buNone/>
                      </a:pPr>
                      <a:r>
                        <a:rPr lang="en-US" sz="1100" dirty="0">
                          <a:solidFill>
                            <a:srgbClr val="1F2937"/>
                          </a:solidFill>
                        </a:rPr>
                        <a:t>및 </a:t>
                      </a:r>
                      <a:pPr indent="0" marL="0">
                        <a:buNone/>
                      </a:pPr>
                      <a:r>
                        <a:rPr lang="en-US" sz="1100" dirty="0">
                          <a:solidFill>
                            <a:srgbClr val="1F2937"/>
                          </a:solidFill>
                        </a:rPr>
                        <a:t>확정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9. 작성 완료 후 확인사항 (1/2)</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 문서 작성, 로그인, 회원가입 확인, 비밀번호 찾기 확인, 예외 처리, 시스템 연동, 데이터 처리, 상태 전이 및 내려받기 흐름을 Mermaid로 시각화했습니다.</a:t>
            </a:r>
            <a:endParaRPr lang="en-US" sz="1600" dirty="0"/>
          </a:p>
          <a:p>
            <a:pPr indent="0" marL="0">
              <a:spcAft>
                <a:spcPts val="800"/>
              </a:spcAft>
              <a:buNone/>
            </a:pPr>
            <a:r>
              <a:rPr lang="en-US" sz="1600" dirty="0">
                <a:solidFill>
                  <a:srgbClr val="4B5563"/>
                </a:solidFill>
              </a:rPr>
              <a:t>☑ 각 흐름의 입력·출력·분기와 완료 조건을 가능한 범위에서 구분했습니다.</a:t>
            </a:r>
            <a:endParaRPr lang="en-US" sz="1600" dirty="0"/>
          </a:p>
          <a:p>
            <a:pPr indent="0" marL="0">
              <a:spcAft>
                <a:spcPts val="800"/>
              </a:spcAft>
              <a:buNone/>
            </a:pPr>
            <a:r>
              <a:rPr lang="en-US" sz="1600" dirty="0">
                <a:solidFill>
                  <a:srgbClr val="4B5563"/>
                </a:solidFill>
              </a:rPr>
              <a:t>☑ 회의에서 확인되지 않은 정책·수치·시스템 구성은 추정 필요 또는 제안으로 표시했습니다.</a:t>
            </a:r>
            <a:endParaRPr lang="en-US" sz="1600" dirty="0"/>
          </a:p>
          <a:p>
            <a:pPr indent="0" marL="0">
              <a:spcAft>
                <a:spcPts val="800"/>
              </a:spcAft>
              <a:buNone/>
            </a:pPr>
            <a:r>
              <a:rPr lang="en-US" sz="1600" dirty="0">
                <a:solidFill>
                  <a:srgbClr val="4B5563"/>
                </a:solidFill>
              </a:rPr>
              <a:t>☑ 화면 이탈 후 섹션 저장·재사용, 취소 후 이전 응답 무시, 표와 다이어그램 누락 없음이라는 성공 기준을 반영했습니다.</a:t>
            </a:r>
            <a:endParaRPr lang="en-US" sz="1600" dirty="0"/>
          </a:p>
          <a:p>
            <a:pPr indent="0" marL="0">
              <a:spcAft>
                <a:spcPts val="800"/>
              </a:spcAft>
              <a:buNone/>
            </a:pPr>
            <a:r>
              <a:rPr lang="en-US" sz="1600" dirty="0">
                <a:solidFill>
                  <a:srgbClr val="4B5563"/>
                </a:solidFill>
              </a:rPr>
              <a:t>☑ 공유 링크와 결제를 이번 범위에서 제외했습니다.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9. 작성 완료 후 확인사항 (2/2)</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 단계별 처리 시간은 회의에서 정해지지 않아 추정 필요로 남겼습니다.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69</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69</Slides>
  <Notes>69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69</vt:i4>
      </vt:variant>
    </vt:vector>
  </HeadingPairs>
  <TitlesOfParts>
    <vt:vector size="7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2026-10-06T12:42:38Z</dcterms:created>
  <dcterms:modified xsi:type="dcterms:W3CDTF">2026-10-06T12:42:38Z</dcterms:modified>
</cp:coreProperties>
</file>