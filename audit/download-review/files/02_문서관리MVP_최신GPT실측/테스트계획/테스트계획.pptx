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Lst>
  <p:notesMasterIdLst>
    <p:notesMasterId r:id="rId71"/>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notesMaster" Target="notesMasters/notesMaster1.xml"/><Relationship Id="rId72" Type="http://schemas.openxmlformats.org/officeDocument/2006/relationships/presProps" Target="presProps.xml"/><Relationship Id="rId73" Type="http://schemas.openxmlformats.org/officeDocument/2006/relationships/viewProps" Target="viewProps.xml"/><Relationship Id="rId74" Type="http://schemas.openxmlformats.org/officeDocument/2006/relationships/theme" Target="theme/theme1.xml"/><Relationship Id="rId7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RAND">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46304"/>
          </a:xfrm>
          <a:prstGeom prst="rect">
            <a:avLst/>
          </a:prstGeom>
          <a:solidFill>
            <a:srgbClr val="263F59"/>
          </a:solidFill>
          <a:ln/>
        </p:spPr>
      </p:sp>
      <p:sp>
        <p:nvSpPr>
          <p:cNvPr id="3" name="Text 1"/>
          <p:cNvSpPr/>
          <p:nvPr/>
        </p:nvSpPr>
        <p:spPr>
          <a:xfrm>
            <a:off x="365760" y="6446520"/>
            <a:ext cx="4572000" cy="274320"/>
          </a:xfrm>
          <a:prstGeom prst="rect">
            <a:avLst/>
          </a:prstGeom>
          <a:noFill/>
          <a:ln/>
        </p:spPr>
        <p:txBody>
          <a:bodyPr wrap="square" rtlCol="0" anchor="ctr"/>
          <a:lstStyle/>
          <a:p>
            <a:pPr indent="0" marL="0">
              <a:buNone/>
            </a:pPr>
            <a:r>
              <a:rPr lang="en-US" sz="900" dirty="0">
                <a:solidFill>
                  <a:srgbClr val="9CA3AF"/>
                </a:solidFill>
              </a:rPr>
              <a:t>MeetingAutoDocs</a:t>
            </a:r>
            <a:endParaRPr lang="en-US" sz="9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3F59"/>
        </a:solidFill>
      </p:bgPr>
    </p:bg>
    <p:spTree>
      <p:nvGrpSpPr>
        <p:cNvPr id="1" name=""/>
        <p:cNvGrpSpPr/>
        <p:nvPr/>
      </p:nvGrpSpPr>
      <p:grpSpPr>
        <a:xfrm>
          <a:off x="0" y="0"/>
          <a:ext cx="0" cy="0"/>
          <a:chOff x="0" y="0"/>
          <a:chExt cx="0" cy="0"/>
        </a:xfrm>
      </p:grpSpPr>
      <p:sp>
        <p:nvSpPr>
          <p:cNvPr id="2" name="Text 0"/>
          <p:cNvSpPr/>
          <p:nvPr/>
        </p:nvSpPr>
        <p:spPr>
          <a:xfrm>
            <a:off x="457200" y="2377440"/>
            <a:ext cx="8229600" cy="1645920"/>
          </a:xfrm>
          <a:prstGeom prst="rect">
            <a:avLst/>
          </a:prstGeom>
          <a:noFill/>
          <a:ln/>
        </p:spPr>
        <p:txBody>
          <a:bodyPr wrap="square" rtlCol="0" anchor="ctr"/>
          <a:lstStyle/>
          <a:p>
            <a:pPr algn="ctr" indent="0" marL="0">
              <a:buNone/>
            </a:pPr>
            <a:r>
              <a:rPr lang="en-US" sz="4000" b="1" dirty="0">
                <a:solidFill>
                  <a:srgbClr val="FFFFFF"/>
                </a:solidFill>
              </a:rPr>
              <a:t>1. 문서 정보</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 문서 정보</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556951"/>
                <a:gridCol w="6672649"/>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내용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b="1" dirty="0">
                          <a:solidFill>
                            <a:srgbClr val="1F2937"/>
                          </a:solidFill>
                        </a:rPr>
                        <a:t>문서명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테스트 </a:t>
                      </a:r>
                      <a:pPr indent="0" marL="0">
                        <a:buNone/>
                      </a:pPr>
                      <a:r>
                        <a:rPr lang="en-US" sz="1100" dirty="0">
                          <a:solidFill>
                            <a:srgbClr val="1F2937"/>
                          </a:solidFill>
                        </a:rPr>
                        <a:t>계획서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버전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v1.0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작성일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2026-10-06</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작성자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QA </a:t>
                      </a:r>
                      <a:pPr indent="0" marL="0">
                        <a:buNone/>
                      </a:pPr>
                      <a:r>
                        <a:rPr lang="en-US" sz="1100" dirty="0">
                          <a:solidFill>
                            <a:srgbClr val="1F2937"/>
                          </a:solidFill>
                        </a:rPr>
                        <a:t>리드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승인자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개발팀장, </a:t>
                      </a:r>
                      <a:pPr indent="0" marL="0">
                        <a:buNone/>
                      </a:pPr>
                      <a:r>
                        <a:rPr lang="en-US" sz="1100" dirty="0">
                          <a:solidFill>
                            <a:srgbClr val="1F2937"/>
                          </a:solidFill>
                        </a:rPr>
                        <a:t>PO </a:t>
                      </a:r>
                      <a:pPr indent="0" marL="0">
                        <a:buNone/>
                      </a:pPr>
                      <a:r>
                        <a:rPr lang="en-US" sz="1100" dirty="0">
                          <a:solidFill>
                            <a:srgbClr val="1F2937"/>
                          </a:solidFill>
                        </a:rPr>
                        <a:t>— </a:t>
                      </a:r>
                      <a:pPr indent="0" marL="0">
                        <a:buNone/>
                      </a:pPr>
                      <a:r>
                        <a:rPr lang="en-US" sz="1100" dirty="0">
                          <a:solidFill>
                            <a:srgbClr val="1F2937"/>
                          </a:solidFill>
                        </a:rPr>
                        <a:t>승인 </a:t>
                      </a:r>
                      <a:pPr indent="0" marL="0">
                        <a:buNone/>
                      </a:pPr>
                      <a:r>
                        <a:rPr lang="en-US" sz="1100" dirty="0">
                          <a:solidFill>
                            <a:srgbClr val="1F2937"/>
                          </a:solidFill>
                        </a:rPr>
                        <a:t>여부와 </a:t>
                      </a:r>
                      <a:pPr indent="0" marL="0">
                        <a:buNone/>
                      </a:pPr>
                      <a:r>
                        <a:rPr lang="en-US" sz="1100" dirty="0">
                          <a:solidFill>
                            <a:srgbClr val="1F2937"/>
                          </a:solidFill>
                        </a:rPr>
                        <a:t>실제 </a:t>
                      </a:r>
                      <a:pPr indent="0" marL="0">
                        <a:buNone/>
                      </a:pPr>
                      <a:r>
                        <a:rPr lang="en-US" sz="1100" dirty="0">
                          <a:solidFill>
                            <a:srgbClr val="1F2937"/>
                          </a:solidFill>
                        </a:rPr>
                        <a:t>승인자 </a:t>
                      </a:r>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 문서 정보</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문서 작성 원칙:</a:t>
            </a:r>
            <a:pPr indent="0" marL="0">
              <a:spcAft>
                <a:spcPts val="800"/>
              </a:spcAft>
              <a:buNone/>
            </a:pPr>
            <a:r>
              <a:rPr lang="en-US" sz="1600" dirty="0">
                <a:solidFill>
                  <a:srgbClr val="4B5563"/>
                </a:solidFill>
              </a:rPr>
              <a:t> 이 계획서에서 회의로 확인된 내용은 확정 사실로, 테스트 방법·도구·측정 기준 등 회의에서 정하지 않은 내용은 제안 또는 추정 필요로 표시했습니다. 제안 수치는 합의된 제품 요구사항이 아니며, 실행 전 김PM·이개발 및 관련 이해관계자의 확인이 필요합니다.</a:t>
            </a:r>
            <a:endParaRPr lang="en-US" sz="1600" dirty="0"/>
          </a:p>
          <a:p>
            <a:pPr indent="0" marL="0">
              <a:spcAft>
                <a:spcPts val="800"/>
              </a:spcAft>
              <a:buNone/>
            </a:pPr>
            <a:r>
              <a:rPr lang="en-US" sz="1600" b="1" dirty="0">
                <a:solidFill>
                  <a:srgbClr val="4B5563"/>
                </a:solidFill>
              </a:rPr>
              <a:t>변경 이력</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 문서 정보</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949569"/>
                <a:gridCol w="1582615"/>
                <a:gridCol w="3798277"/>
                <a:gridCol w="949569"/>
                <a:gridCol w="949569"/>
              </a:tblGrid>
              <a:tr h="0">
                <a:tc>
                  <a:txBody>
                    <a:bodyPr/>
                    <a:lstStyle/>
                    <a:p>
                      <a:pPr indent="0" marL="0">
                        <a:buNone/>
                      </a:pPr>
                      <a:r>
                        <a:rPr lang="en-US" sz="1200" b="1" dirty="0">
                          <a:solidFill>
                            <a:srgbClr val="FFFFFF"/>
                          </a:solidFill>
                        </a:rPr>
                        <a:t>버전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날짜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변경 </a:t>
                      </a:r>
                      <a:pPr indent="0" marL="0">
                        <a:buNone/>
                      </a:pPr>
                      <a:r>
                        <a:rPr lang="en-US" sz="1200" b="1" dirty="0">
                          <a:solidFill>
                            <a:srgbClr val="FFFFFF"/>
                          </a:solidFill>
                        </a:rPr>
                        <a:t>내용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작성자</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승인자</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v1.0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2026-10-06</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회의 </a:t>
                      </a:r>
                      <a:pPr indent="0" marL="0">
                        <a:buNone/>
                      </a:pPr>
                      <a:r>
                        <a:rPr lang="en-US" sz="1100" dirty="0">
                          <a:solidFill>
                            <a:srgbClr val="1F2937"/>
                          </a:solidFill>
                        </a:rPr>
                        <a:t>내용을 </a:t>
                      </a:r>
                      <a:pPr indent="0" marL="0">
                        <a:buNone/>
                      </a:pPr>
                      <a:r>
                        <a:rPr lang="en-US" sz="1100" dirty="0">
                          <a:solidFill>
                            <a:srgbClr val="1F2937"/>
                          </a:solidFill>
                        </a:rPr>
                        <a:t>바탕으로 </a:t>
                      </a:r>
                      <a:pPr indent="0" marL="0">
                        <a:buNone/>
                      </a:pPr>
                      <a:r>
                        <a:rPr lang="en-US" sz="1100" dirty="0">
                          <a:solidFill>
                            <a:srgbClr val="1F2937"/>
                          </a:solidFill>
                        </a:rPr>
                        <a:t>테스트 </a:t>
                      </a:r>
                      <a:pPr indent="0" marL="0">
                        <a:buNone/>
                      </a:pPr>
                      <a:r>
                        <a:rPr lang="en-US" sz="1100" dirty="0">
                          <a:solidFill>
                            <a:srgbClr val="1F2937"/>
                          </a:solidFill>
                        </a:rPr>
                        <a:t>계획 </a:t>
                      </a:r>
                      <a:pPr indent="0" marL="0">
                        <a:buNone/>
                      </a:pPr>
                      <a:r>
                        <a:rPr lang="en-US" sz="1100" dirty="0">
                          <a:solidFill>
                            <a:srgbClr val="1F2937"/>
                          </a:solidFill>
                        </a:rPr>
                        <a:t>초안 </a:t>
                      </a:r>
                      <a:pPr indent="0" marL="0">
                        <a:buNone/>
                      </a:pPr>
                      <a:r>
                        <a:rPr lang="en-US" sz="1100" dirty="0">
                          <a:solidFill>
                            <a:srgbClr val="1F2937"/>
                          </a:solidFill>
                        </a:rPr>
                        <a:t>작성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QA </a:t>
                      </a:r>
                      <a:pPr indent="0" marL="0">
                        <a:buNone/>
                      </a:pPr>
                      <a:r>
                        <a:rPr lang="en-US" sz="1100" dirty="0">
                          <a:solidFill>
                            <a:srgbClr val="1F2937"/>
                          </a:solidFill>
                        </a:rPr>
                        <a:t>리드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 테스트 개요</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2.1 프로젝트 정보 (1/3)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회의록 문서 관리 MVP의 목표는 사용자가 로그인하고 회의록을 입력한 뒤 문서를 생성하여 Word와 PDF로 내려받을 수 있도록 하는 것입니다. 개발 기간은 4주로 제시되었으나, 정확한 개발 시작일과 종료일은 확인되지 않았습니다. 이에 따라 테스트 기간은 개발 일정과 기능 배포 계획을 확인한 뒤 확정해야 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2.1 프로젝트 정보 (2/3)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생성 도중 화면을 벗어나 작업이 멈출 수 있다는 위험이 제기되었습니다. 이를 고려한 설계로 완료된 섹션을 기기에 저장하고, 사용자가 돌아오면 저장된 섹션을 재사용해 이어서 생성하는 방식이 제시되었습니다. 성공 기준으로는 저장된 섹션 재사용, 취소 후 이전 응답 무시, Word와 PDF 다운로드에서 표와 다이어그램이 누락되지 않는 것이 확인되었습니다.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2.1 프로젝트 정보 (3/3)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문서 서식은 내용 자체를 바꾸지 않고 표지·목차·표 스타일을 통일하는 방향입니다. 공유 링크와 결제는 이번 범위에서 제외하기로 했습니다. 김PM과 이개발이 담당자로 제시되었지만, 각 테스트 활동의 담당 배정, QA 인원, 테스트 환경, 예산 및 사용자 수 목표는 정해지지 않았습니다. 해당 항목은 착수 전 확인이 필요합니다.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2.1 프로젝트 정보</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789043"/>
                <a:gridCol w="6440557"/>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내용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b="1" dirty="0">
                          <a:solidFill>
                            <a:srgbClr val="1F2937"/>
                          </a:solidFill>
                        </a:rPr>
                        <a:t>프로젝트명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회의록 </a:t>
                      </a:r>
                      <a:pPr indent="0" marL="0">
                        <a:buNone/>
                      </a:pPr>
                      <a:r>
                        <a:rPr lang="en-US" sz="1100" dirty="0">
                          <a:solidFill>
                            <a:srgbClr val="1F2937"/>
                          </a:solidFill>
                        </a:rPr>
                        <a:t>문서 </a:t>
                      </a:r>
                      <a:pPr indent="0" marL="0">
                        <a:buNone/>
                      </a:pPr>
                      <a:r>
                        <a:rPr lang="en-US" sz="1100" dirty="0">
                          <a:solidFill>
                            <a:srgbClr val="1F2937"/>
                          </a:solidFill>
                        </a:rPr>
                        <a:t>관리 </a:t>
                      </a:r>
                      <a:pPr indent="0" marL="0">
                        <a:buNone/>
                      </a:pPr>
                      <a:r>
                        <a:rPr lang="en-US" sz="1100" dirty="0">
                          <a:solidFill>
                            <a:srgbClr val="1F2937"/>
                          </a:solidFill>
                        </a:rPr>
                        <a:t>MVP</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테스트 </a:t>
                      </a:r>
                      <a:pPr indent="0" marL="0">
                        <a:buNone/>
                      </a:pPr>
                      <a:r>
                        <a:rPr lang="en-US" sz="1100" b="1" dirty="0">
                          <a:solidFill>
                            <a:srgbClr val="1F2937"/>
                          </a:solidFill>
                        </a:rPr>
                        <a:t>기간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시작일·종료일 </a:t>
                      </a:r>
                      <a:pPr indent="0" marL="0">
                        <a:buNone/>
                      </a:pPr>
                      <a:r>
                        <a:rPr lang="en-US" sz="1100" dirty="0">
                          <a:solidFill>
                            <a:srgbClr val="1F2937"/>
                          </a:solidFill>
                        </a:rPr>
                        <a:t>미정. </a:t>
                      </a:r>
                      <a:pPr indent="0" marL="0">
                        <a:buNone/>
                      </a:pPr>
                      <a:r>
                        <a:rPr lang="en-US" sz="1100" dirty="0">
                          <a:solidFill>
                            <a:srgbClr val="1F2937"/>
                          </a:solidFill>
                        </a:rPr>
                        <a:t>개발 </a:t>
                      </a:r>
                      <a:pPr indent="0" marL="0">
                        <a:buNone/>
                      </a:pPr>
                      <a:r>
                        <a:rPr lang="en-US" sz="1100" dirty="0">
                          <a:solidFill>
                            <a:srgbClr val="1F2937"/>
                          </a:solidFill>
                        </a:rPr>
                        <a:t>기간은 </a:t>
                      </a:r>
                      <a:pPr indent="0" marL="0">
                        <a:buNone/>
                      </a:pPr>
                      <a:r>
                        <a:rPr lang="en-US" sz="1100" dirty="0">
                          <a:solidFill>
                            <a:srgbClr val="1F2937"/>
                          </a:solidFill>
                        </a:rPr>
                        <a:t>4주로 </a:t>
                      </a:r>
                      <a:pPr indent="0" marL="0">
                        <a:buNone/>
                      </a:pPr>
                      <a:r>
                        <a:rPr lang="en-US" sz="1100" dirty="0">
                          <a:solidFill>
                            <a:srgbClr val="1F2937"/>
                          </a:solidFill>
                        </a:rPr>
                        <a:t>제시되었으나, </a:t>
                      </a:r>
                      <a:pPr indent="0" marL="0">
                        <a:buNone/>
                      </a:pPr>
                      <a:r>
                        <a:rPr lang="en-US" sz="1100" dirty="0">
                          <a:solidFill>
                            <a:srgbClr val="1F2937"/>
                          </a:solidFill>
                        </a:rPr>
                        <a:t>테스트가 </a:t>
                      </a:r>
                      <a:pPr indent="0" marL="0">
                        <a:buNone/>
                      </a:pPr>
                      <a:r>
                        <a:rPr lang="en-US" sz="1100" dirty="0">
                          <a:solidFill>
                            <a:srgbClr val="1F2937"/>
                          </a:solidFill>
                        </a:rPr>
                        <a:t>개발 </a:t>
                      </a:r>
                      <a:pPr indent="0" marL="0">
                        <a:buNone/>
                      </a:pPr>
                      <a:r>
                        <a:rPr lang="en-US" sz="1100" dirty="0">
                          <a:solidFill>
                            <a:srgbClr val="1F2937"/>
                          </a:solidFill>
                        </a:rPr>
                        <a:t>기간에 </a:t>
                      </a:r>
                      <a:pPr indent="0" marL="0">
                        <a:buNone/>
                      </a:pPr>
                      <a:r>
                        <a:rPr lang="en-US" sz="1100" dirty="0">
                          <a:solidFill>
                            <a:srgbClr val="1F2937"/>
                          </a:solidFill>
                        </a:rPr>
                        <a:t>포함되는지는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테스트 </a:t>
                      </a:r>
                      <a:pPr indent="0" marL="0">
                        <a:buNone/>
                      </a:pPr>
                      <a:r>
                        <a:rPr lang="en-US" sz="1100" b="1" dirty="0">
                          <a:solidFill>
                            <a:srgbClr val="1F2937"/>
                          </a:solidFill>
                        </a:rPr>
                        <a:t>환경</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 </a:t>
                      </a:r>
                      <a:pPr indent="0" marL="0">
                        <a:buNone/>
                      </a:pPr>
                      <a:r>
                        <a:rPr lang="en-US" sz="1100" dirty="0">
                          <a:solidFill>
                            <a:srgbClr val="1F2937"/>
                          </a:solidFill>
                        </a:rPr>
                        <a:t>Staging </a:t>
                      </a:r>
                      <a:pPr indent="0" marL="0">
                        <a:buNone/>
                      </a:pPr>
                      <a:r>
                        <a:rPr lang="en-US" sz="1100" dirty="0">
                          <a:solidFill>
                            <a:srgbClr val="1F2937"/>
                          </a:solidFill>
                        </a:rPr>
                        <a:t>환경 </a:t>
                      </a:r>
                      <a:pPr indent="0" marL="0">
                        <a:buNone/>
                      </a:pPr>
                      <a:r>
                        <a:rPr lang="en-US" sz="1100" dirty="0">
                          <a:solidFill>
                            <a:srgbClr val="1F2937"/>
                          </a:solidFill>
                        </a:rPr>
                        <a:t>사용은 </a:t>
                      </a:r>
                      <a:pPr indent="0" marL="0">
                        <a:buNone/>
                      </a:pPr>
                      <a:r>
                        <a:rPr lang="en-US" sz="1100" dirty="0">
                          <a:solidFill>
                            <a:srgbClr val="1F2937"/>
                          </a:solidFill>
                        </a:rPr>
                        <a:t>제안이며, </a:t>
                      </a:r>
                      <a:pPr indent="0" marL="0">
                        <a:buNone/>
                      </a:pPr>
                      <a:r>
                        <a:rPr lang="en-US" sz="1100" dirty="0">
                          <a:solidFill>
                            <a:srgbClr val="1F2937"/>
                          </a:solidFill>
                        </a:rPr>
                        <a:t>실제 </a:t>
                      </a:r>
                      <a:pPr indent="0" marL="0">
                        <a:buNone/>
                      </a:pPr>
                      <a:r>
                        <a:rPr lang="en-US" sz="1100" dirty="0">
                          <a:solidFill>
                            <a:srgbClr val="1F2937"/>
                          </a:solidFill>
                        </a:rPr>
                        <a:t>환경과 </a:t>
                      </a:r>
                      <a:pPr indent="0" marL="0">
                        <a:buNone/>
                      </a:pPr>
                      <a:r>
                        <a:rPr lang="en-US" sz="1100" dirty="0">
                          <a:solidFill>
                            <a:srgbClr val="1F2937"/>
                          </a:solidFill>
                        </a:rPr>
                        <a:t>접근 </a:t>
                      </a:r>
                      <a:pPr indent="0" marL="0">
                        <a:buNone/>
                      </a:pPr>
                      <a:r>
                        <a:rPr lang="en-US" sz="1100" dirty="0">
                          <a:solidFill>
                            <a:srgbClr val="1F2937"/>
                          </a:solidFill>
                        </a:rPr>
                        <a:t>주소 </a:t>
                      </a:r>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테스트 </a:t>
                      </a:r>
                      <a:pPr indent="0" marL="0">
                        <a:buNone/>
                      </a:pPr>
                      <a:r>
                        <a:rPr lang="en-US" sz="1100" b="1" dirty="0">
                          <a:solidFill>
                            <a:srgbClr val="1F2937"/>
                          </a:solidFill>
                        </a:rPr>
                        <a:t>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QA </a:t>
                      </a:r>
                      <a:pPr indent="0" marL="0">
                        <a:buNone/>
                      </a:pPr>
                      <a:r>
                        <a:rPr lang="en-US" sz="1100" dirty="0">
                          <a:solidFill>
                            <a:srgbClr val="1F2937"/>
                          </a:solidFill>
                        </a:rPr>
                        <a:t>팀 </a:t>
                      </a:r>
                      <a:pPr indent="0" marL="0">
                        <a:buNone/>
                      </a:pPr>
                      <a:r>
                        <a:rPr lang="en-US" sz="1100" dirty="0">
                          <a:solidFill>
                            <a:srgbClr val="1F2937"/>
                          </a:solidFill>
                        </a:rPr>
                        <a:t>인원 </a:t>
                      </a:r>
                      <a:pPr indent="0" marL="0">
                        <a:buNone/>
                      </a:pPr>
                      <a:r>
                        <a:rPr lang="en-US" sz="1100" dirty="0">
                          <a:solidFill>
                            <a:srgbClr val="1F2937"/>
                          </a:solidFill>
                        </a:rPr>
                        <a:t>미정. </a:t>
                      </a:r>
                      <a:pPr indent="0" marL="0">
                        <a:buNone/>
                      </a:pPr>
                      <a:r>
                        <a:rPr lang="en-US" sz="1100" dirty="0">
                          <a:solidFill>
                            <a:srgbClr val="1F2937"/>
                          </a:solidFill>
                        </a:rPr>
                        <a:t>김PM·이개발은 </a:t>
                      </a:r>
                      <a:pPr indent="0" marL="0">
                        <a:buNone/>
                      </a:pPr>
                      <a:r>
                        <a:rPr lang="en-US" sz="1100" dirty="0">
                          <a:solidFill>
                            <a:srgbClr val="1F2937"/>
                          </a:solidFill>
                        </a:rPr>
                        <a:t>회의에서 </a:t>
                      </a:r>
                      <a:pPr indent="0" marL="0">
                        <a:buNone/>
                      </a:pPr>
                      <a:r>
                        <a:rPr lang="en-US" sz="1100" dirty="0">
                          <a:solidFill>
                            <a:srgbClr val="1F2937"/>
                          </a:solidFill>
                        </a:rPr>
                        <a:t>담당자로 </a:t>
                      </a:r>
                      <a:pPr indent="0" marL="0">
                        <a:buNone/>
                      </a:pPr>
                      <a:r>
                        <a:rPr lang="en-US" sz="1100" dirty="0">
                          <a:solidFill>
                            <a:srgbClr val="1F2937"/>
                          </a:solidFill>
                        </a:rPr>
                        <a:t>제시됨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2.2 테스트 목표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아래 측정 기준은 테스트 가능성을 높이기 위한 제안이며, 회의에서 합의된 제품 목표와 구분합니다.</a:t>
            </a:r>
            <a:endParaRPr lang="en-US" sz="1600" dirty="0"/>
          </a:p>
          <a:p>
            <a:pPr indent="0" marL="0">
              <a:spcAft>
                <a:spcPts val="800"/>
              </a:spcAft>
              <a:buNone/>
            </a:pPr>
            <a:r>
              <a:rPr lang="en-US" sz="1600" dirty="0">
                <a:solidFill>
                  <a:srgbClr val="4B5563"/>
                </a:solidFill>
              </a:rPr>
              <a:t>☐ 로그인, 회의록 입력, 문서 생성, Word·PDF 내려받기 등 확정된 범위의 기능을 검증한다.</a:t>
            </a:r>
            <a:endParaRPr lang="en-US" sz="1600" dirty="0"/>
          </a:p>
          <a:p>
            <a:pPr indent="0" marL="0">
              <a:spcAft>
                <a:spcPts val="800"/>
              </a:spcAft>
              <a:buNone/>
            </a:pPr>
            <a:r>
              <a:rPr lang="en-US" sz="1600" dirty="0">
                <a:solidFill>
                  <a:srgbClr val="4B5563"/>
                </a:solidFill>
              </a:rPr>
              <a:t>☐ 완료된 섹션을 기기에 저장하고 재방문 시 재사용하는 성공 기준을 검증한다.</a:t>
            </a:r>
            <a:endParaRPr lang="en-US" sz="1600" dirty="0"/>
          </a:p>
          <a:p>
            <a:pPr indent="0" marL="0">
              <a:spcAft>
                <a:spcPts val="800"/>
              </a:spcAft>
              <a:buNone/>
            </a:pPr>
            <a:r>
              <a:rPr lang="en-US" sz="1600" dirty="0">
                <a:solidFill>
                  <a:srgbClr val="4B5563"/>
                </a:solidFill>
              </a:rPr>
              <a:t>☐ 생성 취소 후 이전 요청의 응답이 화면이나 저장 결과에 반영되지 않는지 검증한다.</a:t>
            </a:r>
            <a:endParaRPr lang="en-US" sz="1600" dirty="0"/>
          </a:p>
          <a:p>
            <a:pPr indent="0" marL="0">
              <a:spcAft>
                <a:spcPts val="800"/>
              </a:spcAft>
              <a:buNone/>
            </a:pPr>
            <a:r>
              <a:rPr lang="en-US" sz="1600" dirty="0">
                <a:solidFill>
                  <a:srgbClr val="4B5563"/>
                </a:solidFill>
              </a:rPr>
              <a:t>☐ 내려받은 Word와 PDF에서 표와 다이어그램이 누락되지 않는지 검증한다.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2.2 테스트 목표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표지·목차·표 서식이 두 내려받기 형식에서 확인한 합의 규칙에 맞는지 검증한다. 구체적인 서식 규칙은 추정 필요다.</a:t>
            </a:r>
            <a:endParaRPr lang="en-US" sz="1600" dirty="0"/>
          </a:p>
          <a:p>
            <a:pPr indent="0" marL="0">
              <a:spcAft>
                <a:spcPts val="800"/>
              </a:spcAft>
              <a:buNone/>
            </a:pPr>
            <a:r>
              <a:rPr lang="en-US" sz="1600" dirty="0">
                <a:solidFill>
                  <a:srgbClr val="4B5563"/>
                </a:solidFill>
              </a:rPr>
              <a:t>☐ 제안: 배포 차단 수준의 결함 0건을 퇴수 기준으로 삼는다. 결함 등급과 허용 기준은 이해관계자 확인 필요다.</a:t>
            </a:r>
            <a:endParaRPr lang="en-US" sz="1600" dirty="0"/>
          </a:p>
          <a:p>
            <a:pPr indent="0" marL="0">
              <a:spcAft>
                <a:spcPts val="800"/>
              </a:spcAft>
              <a:buNone/>
            </a:pPr>
            <a:r>
              <a:rPr lang="en-US" sz="1600" dirty="0">
                <a:solidFill>
                  <a:srgbClr val="4B5563"/>
                </a:solidFill>
              </a:rPr>
              <a:t>☐ 코드 커버리지, 응답 시간, 동시 사용자 수 등 수치 목표는 회의에서 정하지 않았다. 수치 목표 설정은 추정 필요다.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 테스트 전략</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3.1 테스트 접근 방식 (1/3)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4주 MVP 일정에 맞춰 개발과 테스트를 병행하는 점진적 접근을 제안합니다. 다만 회의에서 개발 방법론이나 스프린트 구조를 정하지 않았으므로, 애자일 방식이나 특정 스프린트 운영을 확정 사실로 간주하지 않습니다. 개발 방식과 배포 주기는 김PM·이개발과 확인합니다.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3.1 테스트 접근 방식 (2/3)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기능이 준비되는 대로 단위·통합 검증을 진행하고, 기능 단위 배포 후 핵심 사용자 흐름을 검증합니다. 특히 기기 내 저장 및 재사용, 취소 이후 응답 처리, Word·PDF 출력은 성공 기준에 직접 연결되므로 우선순위를 높입니다. 회의에서 화면 이탈 시 생성이 멈출 수 있다는 우려가 제기된 만큼, 중단·복귀 시나리오를 일반 성공 경로와 함께 검증합니다.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3.1 테스트 접근 방식 (3/3)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자동화 도구와 자동화 비율은 회의에서 정하지 않았습니다. 따라서 자동화 비율을 임의의 확정 목표로 두지 않습니다. 제안으로는 반복 실행 가치가 높은 핵심 경로부터 자동화하고, 생성 문서의 시각적·구조적 검사는 자동 검사와 사람 검토를 병행하는 것입니다. 도구와 자동화 범위는 기술 스택 및 파일 생성 방식 확인 후 확정합니다.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3.1 테스트 접근 방식</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789043"/>
                <a:gridCol w="6440557"/>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내용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b="1" dirty="0">
                          <a:solidFill>
                            <a:srgbClr val="1F2937"/>
                          </a:solidFill>
                        </a:rPr>
                        <a:t>방법론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개발 </a:t>
                      </a:r>
                      <a:pPr indent="0" marL="0">
                        <a:buNone/>
                      </a:pPr>
                      <a:r>
                        <a:rPr lang="en-US" sz="1100" dirty="0">
                          <a:solidFill>
                            <a:srgbClr val="1F2937"/>
                          </a:solidFill>
                        </a:rPr>
                        <a:t>일정에 </a:t>
                      </a:r>
                      <a:pPr indent="0" marL="0">
                        <a:buNone/>
                      </a:pPr>
                      <a:r>
                        <a:rPr lang="en-US" sz="1100" dirty="0">
                          <a:solidFill>
                            <a:srgbClr val="1F2937"/>
                          </a:solidFill>
                        </a:rPr>
                        <a:t>맞춘 </a:t>
                      </a:r>
                      <a:pPr indent="0" marL="0">
                        <a:buNone/>
                      </a:pPr>
                      <a:r>
                        <a:rPr lang="en-US" sz="1100" dirty="0">
                          <a:solidFill>
                            <a:srgbClr val="1F2937"/>
                          </a:solidFill>
                        </a:rPr>
                        <a:t>단계적·위험 </a:t>
                      </a:r>
                      <a:pPr indent="0" marL="0">
                        <a:buNone/>
                      </a:pPr>
                      <a:r>
                        <a:rPr lang="en-US" sz="1100" dirty="0">
                          <a:solidFill>
                            <a:srgbClr val="1F2937"/>
                          </a:solidFill>
                        </a:rPr>
                        <a:t>기반 </a:t>
                      </a:r>
                      <a:pPr indent="0" marL="0">
                        <a:buNone/>
                      </a:pPr>
                      <a:r>
                        <a:rPr lang="en-US" sz="1100" dirty="0">
                          <a:solidFill>
                            <a:srgbClr val="1F2937"/>
                          </a:solidFill>
                        </a:rPr>
                        <a:t>테스트 </a:t>
                      </a:r>
                      <a:pPr indent="0" marL="0">
                        <a:buNone/>
                      </a:pPr>
                      <a:r>
                        <a:rPr lang="en-US" sz="1100" dirty="0">
                          <a:solidFill>
                            <a:srgbClr val="1F2937"/>
                          </a:solidFill>
                        </a:rPr>
                        <a:t>제안. </a:t>
                      </a:r>
                      <a:pPr indent="0" marL="0">
                        <a:buNone/>
                      </a:pPr>
                      <a:r>
                        <a:rPr lang="en-US" sz="1100" dirty="0">
                          <a:solidFill>
                            <a:srgbClr val="1F2937"/>
                          </a:solidFill>
                        </a:rPr>
                        <a:t>실제 </a:t>
                      </a:r>
                      <a:pPr indent="0" marL="0">
                        <a:buNone/>
                      </a:pPr>
                      <a:r>
                        <a:rPr lang="en-US" sz="1100" dirty="0">
                          <a:solidFill>
                            <a:srgbClr val="1F2937"/>
                          </a:solidFill>
                        </a:rPr>
                        <a:t>개발 </a:t>
                      </a:r>
                      <a:pPr indent="0" marL="0">
                        <a:buNone/>
                      </a:pPr>
                      <a:r>
                        <a:rPr lang="en-US" sz="1100" dirty="0">
                          <a:solidFill>
                            <a:srgbClr val="1F2937"/>
                          </a:solidFill>
                        </a:rPr>
                        <a:t>방법론은 </a:t>
                      </a:r>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테스트 </a:t>
                      </a:r>
                      <a:pPr indent="0" marL="0">
                        <a:buNone/>
                      </a:pPr>
                      <a:r>
                        <a:rPr lang="en-US" sz="1100" b="1" dirty="0">
                          <a:solidFill>
                            <a:srgbClr val="1F2937"/>
                          </a:solidFill>
                        </a:rPr>
                        <a:t>주기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기능 </a:t>
                      </a:r>
                      <a:pPr indent="0" marL="0">
                        <a:buNone/>
                      </a:pPr>
                      <a:r>
                        <a:rPr lang="en-US" sz="1100" dirty="0">
                          <a:solidFill>
                            <a:srgbClr val="1F2937"/>
                          </a:solidFill>
                        </a:rPr>
                        <a:t>구현·배포 </a:t>
                      </a:r>
                      <a:pPr indent="0" marL="0">
                        <a:buNone/>
                      </a:pPr>
                      <a:r>
                        <a:rPr lang="en-US" sz="1100" dirty="0">
                          <a:solidFill>
                            <a:srgbClr val="1F2937"/>
                          </a:solidFill>
                        </a:rPr>
                        <a:t>시 </a:t>
                      </a:r>
                      <a:pPr indent="0" marL="0">
                        <a:buNone/>
                      </a:pPr>
                      <a:r>
                        <a:rPr lang="en-US" sz="1100" dirty="0">
                          <a:solidFill>
                            <a:srgbClr val="1F2937"/>
                          </a:solidFill>
                        </a:rPr>
                        <a:t>검증, </a:t>
                      </a:r>
                      <a:pPr indent="0" marL="0">
                        <a:buNone/>
                      </a:pPr>
                      <a:r>
                        <a:rPr lang="en-US" sz="1100" dirty="0">
                          <a:solidFill>
                            <a:srgbClr val="1F2937"/>
                          </a:solidFill>
                        </a:rPr>
                        <a:t>변경 </a:t>
                      </a:r>
                      <a:pPr indent="0" marL="0">
                        <a:buNone/>
                      </a:pPr>
                      <a:r>
                        <a:rPr lang="en-US" sz="1100" dirty="0">
                          <a:solidFill>
                            <a:srgbClr val="1F2937"/>
                          </a:solidFill>
                        </a:rPr>
                        <a:t>후 </a:t>
                      </a:r>
                      <a:pPr indent="0" marL="0">
                        <a:buNone/>
                      </a:pPr>
                      <a:r>
                        <a:rPr lang="en-US" sz="1100" dirty="0">
                          <a:solidFill>
                            <a:srgbClr val="1F2937"/>
                          </a:solidFill>
                        </a:rPr>
                        <a:t>관련 </a:t>
                      </a:r>
                      <a:pPr indent="0" marL="0">
                        <a:buNone/>
                      </a:pPr>
                      <a:r>
                        <a:rPr lang="en-US" sz="1100" dirty="0">
                          <a:solidFill>
                            <a:srgbClr val="1F2937"/>
                          </a:solidFill>
                        </a:rPr>
                        <a:t>회귀 </a:t>
                      </a:r>
                      <a:pPr indent="0" marL="0">
                        <a:buNone/>
                      </a:pPr>
                      <a:r>
                        <a:rPr lang="en-US" sz="1100" dirty="0">
                          <a:solidFill>
                            <a:srgbClr val="1F2937"/>
                          </a:solidFill>
                        </a:rPr>
                        <a:t>테스트, </a:t>
                      </a:r>
                      <a:pPr indent="0" marL="0">
                        <a:buNone/>
                      </a:pPr>
                      <a:r>
                        <a:rPr lang="en-US" sz="1100" dirty="0">
                          <a:solidFill>
                            <a:srgbClr val="1F2937"/>
                          </a:solidFill>
                        </a:rPr>
                        <a:t>배포 </a:t>
                      </a:r>
                      <a:pPr indent="0" marL="0">
                        <a:buNone/>
                      </a:pPr>
                      <a:r>
                        <a:rPr lang="en-US" sz="1100" dirty="0">
                          <a:solidFill>
                            <a:srgbClr val="1F2937"/>
                          </a:solidFill>
                        </a:rPr>
                        <a:t>전 </a:t>
                      </a:r>
                      <a:pPr indent="0" marL="0">
                        <a:buNone/>
                      </a:pPr>
                      <a:r>
                        <a:rPr lang="en-US" sz="1100" dirty="0">
                          <a:solidFill>
                            <a:srgbClr val="1F2937"/>
                          </a:solidFill>
                        </a:rPr>
                        <a:t>전체 </a:t>
                      </a:r>
                      <a:pPr indent="0" marL="0">
                        <a:buNone/>
                      </a:pPr>
                      <a:r>
                        <a:rPr lang="en-US" sz="1100" dirty="0">
                          <a:solidFill>
                            <a:srgbClr val="1F2937"/>
                          </a:solidFill>
                        </a:rPr>
                        <a:t>핵심 </a:t>
                      </a:r>
                      <a:pPr indent="0" marL="0">
                        <a:buNone/>
                      </a:pPr>
                      <a:r>
                        <a:rPr lang="en-US" sz="1100" dirty="0">
                          <a:solidFill>
                            <a:srgbClr val="1F2937"/>
                          </a:solidFill>
                        </a:rPr>
                        <a:t>흐름 </a:t>
                      </a:r>
                      <a:pPr indent="0" marL="0">
                        <a:buNone/>
                      </a:pPr>
                      <a:r>
                        <a:rPr lang="en-US" sz="1100" dirty="0">
                          <a:solidFill>
                            <a:srgbClr val="1F2937"/>
                          </a:solidFill>
                        </a:rPr>
                        <a:t>검증 </a:t>
                      </a:r>
                      <a:pPr indent="0" marL="0">
                        <a:buNone/>
                      </a:pPr>
                      <a:r>
                        <a:rPr lang="en-US" sz="1100" dirty="0">
                          <a:solidFill>
                            <a:srgbClr val="1F2937"/>
                          </a:solidFill>
                        </a:rPr>
                        <a:t>제안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자동화 </a:t>
                      </a:r>
                      <a:pPr indent="0" marL="0">
                        <a:buNone/>
                      </a:pPr>
                      <a:r>
                        <a:rPr lang="en-US" sz="1100" b="1" dirty="0">
                          <a:solidFill>
                            <a:srgbClr val="1F2937"/>
                          </a:solidFill>
                        </a:rPr>
                        <a:t>비율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 </a:t>
                      </a:r>
                      <a:pPr indent="0" marL="0">
                        <a:buNone/>
                      </a:pPr>
                      <a:r>
                        <a:rPr lang="en-US" sz="1100" dirty="0">
                          <a:solidFill>
                            <a:srgbClr val="1F2937"/>
                          </a:solidFill>
                        </a:rPr>
                        <a:t>기능과 </a:t>
                      </a:r>
                      <a:pPr indent="0" marL="0">
                        <a:buNone/>
                      </a:pPr>
                      <a:r>
                        <a:rPr lang="en-US" sz="1100" dirty="0">
                          <a:solidFill>
                            <a:srgbClr val="1F2937"/>
                          </a:solidFill>
                        </a:rPr>
                        <a:t>도구 </a:t>
                      </a:r>
                      <a:pPr indent="0" marL="0">
                        <a:buNone/>
                      </a:pPr>
                      <a:r>
                        <a:rPr lang="en-US" sz="1100" dirty="0">
                          <a:solidFill>
                            <a:srgbClr val="1F2937"/>
                          </a:solidFill>
                        </a:rPr>
                        <a:t>확인 </a:t>
                      </a:r>
                      <a:pPr indent="0" marL="0">
                        <a:buNone/>
                      </a:pPr>
                      <a:r>
                        <a:rPr lang="en-US" sz="1100" dirty="0">
                          <a:solidFill>
                            <a:srgbClr val="1F2937"/>
                          </a:solidFill>
                        </a:rPr>
                        <a:t>후 </a:t>
                      </a:r>
                      <a:pPr indent="0" marL="0">
                        <a:buNone/>
                      </a:pPr>
                      <a:r>
                        <a:rPr lang="en-US" sz="1100" dirty="0">
                          <a:solidFill>
                            <a:srgbClr val="1F2937"/>
                          </a:solidFill>
                        </a:rPr>
                        <a:t>테스트팀과 </a:t>
                      </a:r>
                      <a:pPr indent="0" marL="0">
                        <a:buNone/>
                      </a:pPr>
                      <a:r>
                        <a:rPr lang="en-US" sz="1100" dirty="0">
                          <a:solidFill>
                            <a:srgbClr val="1F2937"/>
                          </a:solidFill>
                        </a:rPr>
                        <a:t>개발팀이 </a:t>
                      </a:r>
                      <a:pPr indent="0" marL="0">
                        <a:buNone/>
                      </a:pPr>
                      <a:r>
                        <a:rPr lang="en-US" sz="1100" dirty="0">
                          <a:solidFill>
                            <a:srgbClr val="1F2937"/>
                          </a:solidFill>
                        </a:rPr>
                        <a:t>정할 </a:t>
                      </a:r>
                      <a:pPr indent="0" marL="0">
                        <a:buNone/>
                      </a:pPr>
                      <a:r>
                        <a:rPr lang="en-US" sz="1100" dirty="0">
                          <a:solidFill>
                            <a:srgbClr val="1F2937"/>
                          </a:solidFill>
                        </a:rPr>
                        <a:t>사항</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테스트 </a:t>
                      </a:r>
                      <a:pPr indent="0" marL="0">
                        <a:buNone/>
                      </a:pPr>
                      <a:r>
                        <a:rPr lang="en-US" sz="1100" b="1" dirty="0">
                          <a:solidFill>
                            <a:srgbClr val="1F2937"/>
                          </a:solidFill>
                        </a:rPr>
                        <a:t>환경</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미정. </a:t>
                      </a:r>
                      <a:pPr indent="0" marL="0">
                        <a:buNone/>
                      </a:pPr>
                      <a:r>
                        <a:rPr lang="en-US" sz="1100" dirty="0">
                          <a:solidFill>
                            <a:srgbClr val="1F2937"/>
                          </a:solidFill>
                        </a:rPr>
                        <a:t>별도 </a:t>
                      </a:r>
                      <a:pPr indent="0" marL="0">
                        <a:buNone/>
                      </a:pPr>
                      <a:r>
                        <a:rPr lang="en-US" sz="1100" dirty="0">
                          <a:solidFill>
                            <a:srgbClr val="1F2937"/>
                          </a:solidFill>
                        </a:rPr>
                        <a:t>검증 </a:t>
                      </a:r>
                      <a:pPr indent="0" marL="0">
                        <a:buNone/>
                      </a:pPr>
                      <a:r>
                        <a:rPr lang="en-US" sz="1100" dirty="0">
                          <a:solidFill>
                            <a:srgbClr val="1F2937"/>
                          </a:solidFill>
                        </a:rPr>
                        <a:t>환경이 </a:t>
                      </a:r>
                      <a:pPr indent="0" marL="0">
                        <a:buNone/>
                      </a:pPr>
                      <a:r>
                        <a:rPr lang="en-US" sz="1100" dirty="0">
                          <a:solidFill>
                            <a:srgbClr val="1F2937"/>
                          </a:solidFill>
                        </a:rPr>
                        <a:t>준비되면 </a:t>
                      </a:r>
                      <a:pPr indent="0" marL="0">
                        <a:buNone/>
                      </a:pPr>
                      <a:r>
                        <a:rPr lang="en-US" sz="1100" dirty="0">
                          <a:solidFill>
                            <a:srgbClr val="1F2937"/>
                          </a:solidFill>
                        </a:rPr>
                        <a:t>이를 </a:t>
                      </a:r>
                      <a:pPr indent="0" marL="0">
                        <a:buNone/>
                      </a:pPr>
                      <a:r>
                        <a:rPr lang="en-US" sz="1100" dirty="0">
                          <a:solidFill>
                            <a:srgbClr val="1F2937"/>
                          </a:solidFill>
                        </a:rPr>
                        <a:t>사용하되, </a:t>
                      </a:r>
                      <a:pPr indent="0" marL="0">
                        <a:buNone/>
                      </a:pPr>
                      <a:r>
                        <a:rPr lang="en-US" sz="1100" dirty="0">
                          <a:solidFill>
                            <a:srgbClr val="1F2937"/>
                          </a:solidFill>
                        </a:rPr>
                        <a:t>환경 </a:t>
                      </a:r>
                      <a:pPr indent="0" marL="0">
                        <a:buNone/>
                      </a:pPr>
                      <a:r>
                        <a:rPr lang="en-US" sz="1100" dirty="0">
                          <a:solidFill>
                            <a:srgbClr val="1F2937"/>
                          </a:solidFill>
                        </a:rPr>
                        <a:t>구성과 </a:t>
                      </a:r>
                      <a:pPr indent="0" marL="0">
                        <a:buNone/>
                      </a:pPr>
                      <a:r>
                        <a:rPr lang="en-US" sz="1100" dirty="0">
                          <a:solidFill>
                            <a:srgbClr val="1F2937"/>
                          </a:solidFill>
                        </a:rPr>
                        <a:t>운영 </a:t>
                      </a:r>
                      <a:pPr indent="0" marL="0">
                        <a:buNone/>
                      </a:pPr>
                      <a:r>
                        <a:rPr lang="en-US" sz="1100" dirty="0">
                          <a:solidFill>
                            <a:srgbClr val="1F2937"/>
                          </a:solidFill>
                        </a:rPr>
                        <a:t>환경 </a:t>
                      </a:r>
                      <a:pPr indent="0" marL="0">
                        <a:buNone/>
                      </a:pPr>
                      <a:r>
                        <a:rPr lang="en-US" sz="1100" dirty="0">
                          <a:solidFill>
                            <a:srgbClr val="1F2937"/>
                          </a:solidFill>
                        </a:rPr>
                        <a:t>간 </a:t>
                      </a:r>
                      <a:pPr indent="0" marL="0">
                        <a:buNone/>
                      </a:pPr>
                      <a:r>
                        <a:rPr lang="en-US" sz="1100" dirty="0">
                          <a:solidFill>
                            <a:srgbClr val="1F2937"/>
                          </a:solidFill>
                        </a:rPr>
                        <a:t>차이는 </a:t>
                      </a:r>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우선순위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1순위: </a:t>
                      </a:r>
                      <a:pPr indent="0" marL="0">
                        <a:buNone/>
                      </a:pPr>
                      <a:r>
                        <a:rPr lang="en-US" sz="1100" dirty="0">
                          <a:solidFill>
                            <a:srgbClr val="1F2937"/>
                          </a:solidFill>
                        </a:rPr>
                        <a:t>기기 </a:t>
                      </a:r>
                      <a:pPr indent="0" marL="0">
                        <a:buNone/>
                      </a:pPr>
                      <a:r>
                        <a:rPr lang="en-US" sz="1100" dirty="0">
                          <a:solidFill>
                            <a:srgbClr val="1F2937"/>
                          </a:solidFill>
                        </a:rPr>
                        <a:t>저장·재사용, </a:t>
                      </a:r>
                      <a:pPr indent="0" marL="0">
                        <a:buNone/>
                      </a:pPr>
                      <a:r>
                        <a:rPr lang="en-US" sz="1100" dirty="0">
                          <a:solidFill>
                            <a:srgbClr val="1F2937"/>
                          </a:solidFill>
                        </a:rPr>
                        <a:t>취소 </a:t>
                      </a:r>
                      <a:pPr indent="0" marL="0">
                        <a:buNone/>
                      </a:pPr>
                      <a:r>
                        <a:rPr lang="en-US" sz="1100" dirty="0">
                          <a:solidFill>
                            <a:srgbClr val="1F2937"/>
                          </a:solidFill>
                        </a:rPr>
                        <a:t>후 </a:t>
                      </a:r>
                      <a:pPr indent="0" marL="0">
                        <a:buNone/>
                      </a:pPr>
                      <a:r>
                        <a:rPr lang="en-US" sz="1100" dirty="0">
                          <a:solidFill>
                            <a:srgbClr val="1F2937"/>
                          </a:solidFill>
                        </a:rPr>
                        <a:t>이전 </a:t>
                      </a:r>
                      <a:pPr indent="0" marL="0">
                        <a:buNone/>
                      </a:pPr>
                      <a:r>
                        <a:rPr lang="en-US" sz="1100" dirty="0">
                          <a:solidFill>
                            <a:srgbClr val="1F2937"/>
                          </a:solidFill>
                        </a:rPr>
                        <a:t>응답 </a:t>
                      </a:r>
                      <a:pPr indent="0" marL="0">
                        <a:buNone/>
                      </a:pPr>
                      <a:r>
                        <a:rPr lang="en-US" sz="1100" dirty="0">
                          <a:solidFill>
                            <a:srgbClr val="1F2937"/>
                          </a:solidFill>
                        </a:rPr>
                        <a:t>무시, </a:t>
                      </a:r>
                      <a:pPr indent="0" marL="0">
                        <a:buNone/>
                      </a:pPr>
                      <a:r>
                        <a:rPr lang="en-US" sz="1100" dirty="0">
                          <a:solidFill>
                            <a:srgbClr val="1F2937"/>
                          </a:solidFill>
                        </a:rPr>
                        <a:t>Word·PDF </a:t>
                      </a:r>
                      <a:pPr indent="0" marL="0">
                        <a:buNone/>
                      </a:pPr>
                      <a:r>
                        <a:rPr lang="en-US" sz="1100" dirty="0">
                          <a:solidFill>
                            <a:srgbClr val="1F2937"/>
                          </a:solidFill>
                        </a:rPr>
                        <a:t>표·다이어그램 </a:t>
                      </a:r>
                      <a:pPr indent="0" marL="0">
                        <a:buNone/>
                      </a:pPr>
                      <a:r>
                        <a:rPr lang="en-US" sz="1100" dirty="0">
                          <a:solidFill>
                            <a:srgbClr val="1F2937"/>
                          </a:solidFill>
                        </a:rPr>
                        <a:t>보존. </a:t>
                      </a:r>
                      <a:pPr indent="0" marL="0">
                        <a:buNone/>
                      </a:pPr>
                      <a:r>
                        <a:rPr lang="en-US" sz="1100" dirty="0">
                          <a:solidFill>
                            <a:srgbClr val="1F2937"/>
                          </a:solidFill>
                        </a:rPr>
                        <a:t>2순위: </a:t>
                      </a:r>
                      <a:pPr indent="0" marL="0">
                        <a:buNone/>
                      </a:pPr>
                      <a:r>
                        <a:rPr lang="en-US" sz="1100" dirty="0">
                          <a:solidFill>
                            <a:srgbClr val="1F2937"/>
                          </a:solidFill>
                        </a:rPr>
                        <a:t>로그인·입력·생성. </a:t>
                      </a:r>
                      <a:pPr indent="0" marL="0">
                        <a:buNone/>
                      </a:pPr>
                      <a:r>
                        <a:rPr lang="en-US" sz="1100" dirty="0">
                          <a:solidFill>
                            <a:srgbClr val="1F2937"/>
                          </a:solidFill>
                        </a:rPr>
                        <a:t>3순위: </a:t>
                      </a:r>
                      <a:pPr indent="0" marL="0">
                        <a:buNone/>
                      </a:pPr>
                      <a:r>
                        <a:rPr lang="en-US" sz="1100" dirty="0">
                          <a:solidFill>
                            <a:srgbClr val="1F2937"/>
                          </a:solidFill>
                        </a:rPr>
                        <a:t>서식 </a:t>
                      </a:r>
                      <a:pPr indent="0" marL="0">
                        <a:buNone/>
                      </a:pPr>
                      <a:r>
                        <a:rPr lang="en-US" sz="1100" dirty="0">
                          <a:solidFill>
                            <a:srgbClr val="1F2937"/>
                          </a:solidFill>
                        </a:rPr>
                        <a:t>일관성 </a:t>
                      </a:r>
                      <a:pPr indent="0" marL="0">
                        <a:buNone/>
                      </a:pPr>
                      <a:r>
                        <a:rPr lang="en-US" sz="1100" dirty="0">
                          <a:solidFill>
                            <a:srgbClr val="1F2937"/>
                          </a:solidFill>
                        </a:rPr>
                        <a:t>및 </a:t>
                      </a:r>
                      <a:pPr indent="0" marL="0">
                        <a:buNone/>
                      </a:pPr>
                      <a:r>
                        <a:rPr lang="en-US" sz="1100" dirty="0">
                          <a:solidFill>
                            <a:srgbClr val="1F2937"/>
                          </a:solidFill>
                        </a:rPr>
                        <a:t>비정상 </a:t>
                      </a:r>
                      <a:pPr indent="0" marL="0">
                        <a:buNone/>
                      </a:pPr>
                      <a:r>
                        <a:rPr lang="en-US" sz="1100" dirty="0">
                          <a:solidFill>
                            <a:srgbClr val="1F2937"/>
                          </a:solidFill>
                        </a:rPr>
                        <a:t>입력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3.2 테스트 유형별 전략</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아래 도구는 제품 기술 스택을 확인하지 못한 상태에서 제시한 선택지입니다. 실제 적용 도구는 저장 방식, 생성 서비스, API 구성과 개발 언어를 확인한 뒤 선정합니다.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3.2 테스트 유형별 전략</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613386"/>
                <a:gridCol w="1840159"/>
                <a:gridCol w="1840159"/>
                <a:gridCol w="1380119"/>
                <a:gridCol w="868964"/>
                <a:gridCol w="1686812"/>
              </a:tblGrid>
              <a:tr h="0">
                <a:tc>
                  <a:txBody>
                    <a:bodyPr/>
                    <a:lstStyle/>
                    <a:p>
                      <a:pPr indent="0" marL="0">
                        <a:buNone/>
                      </a:pPr>
                      <a:r>
                        <a:rPr lang="en-US" sz="1200" b="1" dirty="0">
                          <a:solidFill>
                            <a:srgbClr val="FFFFFF"/>
                          </a:solidFill>
                        </a:rPr>
                        <a:t>테스트 </a:t>
                      </a:r>
                      <a:pPr indent="0" marL="0">
                        <a:buNone/>
                      </a:pPr>
                      <a:r>
                        <a:rPr lang="en-US" sz="1200" b="1" dirty="0">
                          <a:solidFill>
                            <a:srgbClr val="FFFFFF"/>
                          </a:solidFill>
                        </a:rPr>
                        <a:t>유형</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목적 </a:t>
                      </a:r>
                      <a:pPr indent="0" marL="0">
                        <a:buNone/>
                      </a:pPr>
                      <a:r>
                        <a:rPr lang="en-US" sz="1200" b="1" dirty="0">
                          <a:solidFill>
                            <a:srgbClr val="FFFFFF"/>
                          </a:solidFill>
                        </a:rPr>
                        <a:t>및 </a:t>
                      </a:r>
                      <a:pPr indent="0" marL="0">
                        <a:buNone/>
                      </a:pPr>
                      <a:r>
                        <a:rPr lang="en-US" sz="1200" b="1" dirty="0">
                          <a:solidFill>
                            <a:srgbClr val="FFFFFF"/>
                          </a:solidFill>
                        </a:rPr>
                        <a:t>주요 </a:t>
                      </a:r>
                      <a:pPr indent="0" marL="0">
                        <a:buNone/>
                      </a:pPr>
                      <a:r>
                        <a:rPr lang="en-US" sz="1200" b="1" dirty="0">
                          <a:solidFill>
                            <a:srgbClr val="FFFFFF"/>
                          </a:solidFill>
                        </a:rPr>
                        <a:t>검증</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도구 </a:t>
                      </a:r>
                      <a:pPr indent="0" marL="0">
                        <a:buNone/>
                      </a:pPr>
                      <a:r>
                        <a:rPr lang="en-US" sz="1200" b="1" dirty="0">
                          <a:solidFill>
                            <a:srgbClr val="FFFFFF"/>
                          </a:solidFill>
                        </a:rPr>
                        <a:t>제안</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책임자</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주기</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자동화</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b="1" dirty="0">
                          <a:solidFill>
                            <a:srgbClr val="1F2937"/>
                          </a:solidFill>
                        </a:rPr>
                        <a:t>단위 </a:t>
                      </a:r>
                      <a:pPr indent="0" marL="0">
                        <a:buNone/>
                      </a:pPr>
                      <a:r>
                        <a:rPr lang="en-US" sz="1100" b="1" dirty="0">
                          <a:solidFill>
                            <a:srgbClr val="1F2937"/>
                          </a:solidFill>
                        </a:rPr>
                        <a:t>테스트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섹션 </a:t>
                      </a:r>
                      <a:pPr indent="0" marL="0">
                        <a:buNone/>
                      </a:pPr>
                      <a:r>
                        <a:rPr lang="en-US" sz="1100" dirty="0">
                          <a:solidFill>
                            <a:srgbClr val="1F2937"/>
                          </a:solidFill>
                        </a:rPr>
                        <a:t>저장·불러오기, </a:t>
                      </a:r>
                      <a:pPr indent="0" marL="0">
                        <a:buNone/>
                      </a:pPr>
                      <a:r>
                        <a:rPr lang="en-US" sz="1100" dirty="0">
                          <a:solidFill>
                            <a:srgbClr val="1F2937"/>
                          </a:solidFill>
                        </a:rPr>
                        <a:t>취소 </a:t>
                      </a:r>
                      <a:pPr indent="0" marL="0">
                        <a:buNone/>
                      </a:pPr>
                      <a:r>
                        <a:rPr lang="en-US" sz="1100" dirty="0">
                          <a:solidFill>
                            <a:srgbClr val="1F2937"/>
                          </a:solidFill>
                        </a:rPr>
                        <a:t>상태 </a:t>
                      </a:r>
                      <a:pPr indent="0" marL="0">
                        <a:buNone/>
                      </a:pPr>
                      <a:r>
                        <a:rPr lang="en-US" sz="1100" dirty="0">
                          <a:solidFill>
                            <a:srgbClr val="1F2937"/>
                          </a:solidFill>
                        </a:rPr>
                        <a:t>처리, </a:t>
                      </a:r>
                      <a:pPr indent="0" marL="0">
                        <a:buNone/>
                      </a:pPr>
                      <a:r>
                        <a:rPr lang="en-US" sz="1100" dirty="0">
                          <a:solidFill>
                            <a:srgbClr val="1F2937"/>
                          </a:solidFill>
                        </a:rPr>
                        <a:t>문서 </a:t>
                      </a:r>
                      <a:pPr indent="0" marL="0">
                        <a:buNone/>
                      </a:pPr>
                      <a:r>
                        <a:rPr lang="en-US" sz="1100" dirty="0">
                          <a:solidFill>
                            <a:srgbClr val="1F2937"/>
                          </a:solidFill>
                        </a:rPr>
                        <a:t>변환 </a:t>
                      </a:r>
                      <a:pPr indent="0" marL="0">
                        <a:buNone/>
                      </a:pPr>
                      <a:r>
                        <a:rPr lang="en-US" sz="1100" dirty="0">
                          <a:solidFill>
                            <a:srgbClr val="1F2937"/>
                          </a:solidFill>
                        </a:rPr>
                        <a:t>보조 </a:t>
                      </a:r>
                      <a:pPr indent="0" marL="0">
                        <a:buNone/>
                      </a:pPr>
                      <a:r>
                        <a:rPr lang="en-US" sz="1100" dirty="0">
                          <a:solidFill>
                            <a:srgbClr val="1F2937"/>
                          </a:solidFill>
                        </a:rPr>
                        <a:t>로직의 </a:t>
                      </a:r>
                      <a:pPr indent="0" marL="0">
                        <a:buNone/>
                      </a:pPr>
                      <a:r>
                        <a:rPr lang="en-US" sz="1100" dirty="0">
                          <a:solidFill>
                            <a:srgbClr val="1F2937"/>
                          </a:solidFill>
                        </a:rPr>
                        <a:t>개별 </a:t>
                      </a:r>
                      <a:pPr indent="0" marL="0">
                        <a:buNone/>
                      </a:pPr>
                      <a:r>
                        <a:rPr lang="en-US" sz="1100" dirty="0">
                          <a:solidFill>
                            <a:srgbClr val="1F2937"/>
                          </a:solidFill>
                        </a:rPr>
                        <a:t>동작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개발 </a:t>
                      </a:r>
                      <a:pPr indent="0" marL="0">
                        <a:buNone/>
                      </a:pPr>
                      <a:r>
                        <a:rPr lang="en-US" sz="1100" dirty="0">
                          <a:solidFill>
                            <a:srgbClr val="1F2937"/>
                          </a:solidFill>
                        </a:rPr>
                        <a:t>언어에 </a:t>
                      </a:r>
                      <a:pPr indent="0" marL="0">
                        <a:buNone/>
                      </a:pPr>
                      <a:r>
                        <a:rPr lang="en-US" sz="1100" dirty="0">
                          <a:solidFill>
                            <a:srgbClr val="1F2937"/>
                          </a:solidFill>
                        </a:rPr>
                        <a:t>맞는 </a:t>
                      </a:r>
                      <a:pPr indent="0" marL="0">
                        <a:buNone/>
                      </a:pPr>
                      <a:r>
                        <a:rPr lang="en-US" sz="1100" dirty="0">
                          <a:solidFill>
                            <a:srgbClr val="1F2937"/>
                          </a:solidFill>
                        </a:rPr>
                        <a:t>단위 </a:t>
                      </a:r>
                      <a:pPr indent="0" marL="0">
                        <a:buNone/>
                      </a:pPr>
                      <a:r>
                        <a:rPr lang="en-US" sz="1100" dirty="0">
                          <a:solidFill>
                            <a:srgbClr val="1F2937"/>
                          </a:solidFill>
                        </a:rPr>
                        <a:t>테스트 </a:t>
                      </a:r>
                      <a:pPr indent="0" marL="0">
                        <a:buNone/>
                      </a:pPr>
                      <a:r>
                        <a:rPr lang="en-US" sz="1100" dirty="0">
                          <a:solidFill>
                            <a:srgbClr val="1F2937"/>
                          </a:solidFill>
                        </a:rPr>
                        <a:t>도구. </a:t>
                      </a:r>
                      <a:pPr indent="0" marL="0">
                        <a:buNone/>
                      </a:pPr>
                      <a:r>
                        <a:rPr lang="en-US" sz="1100" dirty="0">
                          <a:solidFill>
                            <a:srgbClr val="1F2937"/>
                          </a:solidFill>
                        </a:rPr>
                        <a:t>예: </a:t>
                      </a:r>
                      <a:pPr indent="0" marL="0">
                        <a:buNone/>
                      </a:pPr>
                      <a:r>
                        <a:rPr lang="en-US" sz="1100" dirty="0">
                          <a:solidFill>
                            <a:srgbClr val="1F2937"/>
                          </a:solidFill>
                        </a:rPr>
                        <a:t>Jest </a:t>
                      </a:r>
                      <a:pPr indent="0" marL="0">
                        <a:buNone/>
                      </a:pPr>
                      <a:r>
                        <a:rPr lang="en-US" sz="1100" dirty="0">
                          <a:solidFill>
                            <a:srgbClr val="1F2937"/>
                          </a:solidFill>
                        </a:rPr>
                        <a:t>또는 </a:t>
                      </a:r>
                      <a:pPr indent="0" marL="0">
                        <a:buNone/>
                      </a:pPr>
                      <a:r>
                        <a:rPr lang="en-US" sz="1100" dirty="0">
                          <a:solidFill>
                            <a:srgbClr val="1F2937"/>
                          </a:solidFill>
                        </a:rPr>
                        <a:t>Vitest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개발팀, </a:t>
                      </a:r>
                      <a:pPr indent="0" marL="0">
                        <a:buNone/>
                      </a:pPr>
                      <a:r>
                        <a:rPr lang="en-US" sz="1100" dirty="0">
                          <a:solidFill>
                            <a:srgbClr val="1F2937"/>
                          </a:solidFill>
                        </a:rPr>
                        <a:t>세부 </a:t>
                      </a:r>
                      <a:pPr indent="0" marL="0">
                        <a:buNone/>
                      </a:pPr>
                      <a:r>
                        <a:rPr lang="en-US" sz="1100" dirty="0">
                          <a:solidFill>
                            <a:srgbClr val="1F2937"/>
                          </a:solidFill>
                        </a:rPr>
                        <a:t>담당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코드 </a:t>
                      </a:r>
                      <a:pPr indent="0" marL="0">
                        <a:buNone/>
                      </a:pPr>
                      <a:r>
                        <a:rPr lang="en-US" sz="1100" dirty="0">
                          <a:solidFill>
                            <a:srgbClr val="1F2937"/>
                          </a:solidFill>
                        </a:rPr>
                        <a:t>변경 </a:t>
                      </a:r>
                      <a:pPr indent="0" marL="0">
                        <a:buNone/>
                      </a:pPr>
                      <a:r>
                        <a:rPr lang="en-US" sz="1100" dirty="0">
                          <a:solidFill>
                            <a:srgbClr val="1F2937"/>
                          </a:solidFill>
                        </a:rPr>
                        <a:t>때마다 </a:t>
                      </a:r>
                      <a:pPr indent="0" marL="0">
                        <a:buNone/>
                      </a:pPr>
                      <a:r>
                        <a:rPr lang="en-US" sz="1100" dirty="0">
                          <a:solidFill>
                            <a:srgbClr val="1F2937"/>
                          </a:solidFill>
                        </a:rPr>
                        <a:t>제안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반복 </a:t>
                      </a:r>
                      <a:pPr indent="0" marL="0">
                        <a:buNone/>
                      </a:pPr>
                      <a:r>
                        <a:rPr lang="en-US" sz="1100" dirty="0">
                          <a:solidFill>
                            <a:srgbClr val="1F2937"/>
                          </a:solidFill>
                        </a:rPr>
                        <a:t>검증 </a:t>
                      </a:r>
                      <a:pPr indent="0" marL="0">
                        <a:buNone/>
                      </a:pPr>
                      <a:r>
                        <a:rPr lang="en-US" sz="1100" dirty="0">
                          <a:solidFill>
                            <a:srgbClr val="1F2937"/>
                          </a:solidFill>
                        </a:rPr>
                        <a:t>가능한 </a:t>
                      </a:r>
                      <a:pPr indent="0" marL="0">
                        <a:buNone/>
                      </a:pPr>
                      <a:r>
                        <a:rPr lang="en-US" sz="1100" dirty="0">
                          <a:solidFill>
                            <a:srgbClr val="1F2937"/>
                          </a:solidFill>
                        </a:rPr>
                        <a:t>로직부터 </a:t>
                      </a:r>
                      <a:pPr indent="0" marL="0">
                        <a:buNone/>
                      </a:pPr>
                      <a:r>
                        <a:rPr lang="en-US" sz="1100" dirty="0">
                          <a:solidFill>
                            <a:srgbClr val="1F2937"/>
                          </a:solidFill>
                        </a:rPr>
                        <a:t>자동화 </a:t>
                      </a:r>
                      <a:pPr indent="0" marL="0">
                        <a:buNone/>
                      </a:pPr>
                      <a:r>
                        <a:rPr lang="en-US" sz="1100" dirty="0">
                          <a:solidFill>
                            <a:srgbClr val="1F2937"/>
                          </a:solidFill>
                        </a:rPr>
                        <a:t>제안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통합 </a:t>
                      </a:r>
                      <a:pPr indent="0" marL="0">
                        <a:buNone/>
                      </a:pPr>
                      <a:r>
                        <a:rPr lang="en-US" sz="1100" b="1" dirty="0">
                          <a:solidFill>
                            <a:srgbClr val="1F2937"/>
                          </a:solidFill>
                        </a:rPr>
                        <a:t>테스트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입력·생성·기기 </a:t>
                      </a:r>
                      <a:pPr indent="0" marL="0">
                        <a:buNone/>
                      </a:pPr>
                      <a:r>
                        <a:rPr lang="en-US" sz="1100" dirty="0">
                          <a:solidFill>
                            <a:srgbClr val="1F2937"/>
                          </a:solidFill>
                        </a:rPr>
                        <a:t>저장·복귀·내려받기 </a:t>
                      </a:r>
                      <a:pPr indent="0" marL="0">
                        <a:buNone/>
                      </a:pPr>
                      <a:r>
                        <a:rPr lang="en-US" sz="1100" dirty="0">
                          <a:solidFill>
                            <a:srgbClr val="1F2937"/>
                          </a:solidFill>
                        </a:rPr>
                        <a:t>모듈 </a:t>
                      </a:r>
                      <a:pPr indent="0" marL="0">
                        <a:buNone/>
                      </a:pPr>
                      <a:r>
                        <a:rPr lang="en-US" sz="1100" dirty="0">
                          <a:solidFill>
                            <a:srgbClr val="1F2937"/>
                          </a:solidFill>
                        </a:rPr>
                        <a:t>간 </a:t>
                      </a:r>
                      <a:pPr indent="0" marL="0">
                        <a:buNone/>
                      </a:pPr>
                      <a:r>
                        <a:rPr lang="en-US" sz="1100" dirty="0">
                          <a:solidFill>
                            <a:srgbClr val="1F2937"/>
                          </a:solidFill>
                        </a:rPr>
                        <a:t>연동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실제 </a:t>
                      </a:r>
                      <a:pPr indent="0" marL="0">
                        <a:buNone/>
                      </a:pPr>
                      <a:r>
                        <a:rPr lang="en-US" sz="1100" dirty="0">
                          <a:solidFill>
                            <a:srgbClr val="1F2937"/>
                          </a:solidFill>
                        </a:rPr>
                        <a:t>기술 </a:t>
                      </a:r>
                      <a:pPr indent="0" marL="0">
                        <a:buNone/>
                      </a:pPr>
                      <a:r>
                        <a:rPr lang="en-US" sz="1100" dirty="0">
                          <a:solidFill>
                            <a:srgbClr val="1F2937"/>
                          </a:solidFill>
                        </a:rPr>
                        <a:t>스택에 </a:t>
                      </a:r>
                      <a:pPr indent="0" marL="0">
                        <a:buNone/>
                      </a:pPr>
                      <a:r>
                        <a:rPr lang="en-US" sz="1100" dirty="0">
                          <a:solidFill>
                            <a:srgbClr val="1F2937"/>
                          </a:solidFill>
                        </a:rPr>
                        <a:t>맞는 </a:t>
                      </a:r>
                      <a:pPr indent="0" marL="0">
                        <a:buNone/>
                      </a:pPr>
                      <a:r>
                        <a:rPr lang="en-US" sz="1100" dirty="0">
                          <a:solidFill>
                            <a:srgbClr val="1F2937"/>
                          </a:solidFill>
                        </a:rPr>
                        <a:t>통합 </a:t>
                      </a:r>
                      <a:pPr indent="0" marL="0">
                        <a:buNone/>
                      </a:pPr>
                      <a:r>
                        <a:rPr lang="en-US" sz="1100" dirty="0">
                          <a:solidFill>
                            <a:srgbClr val="1F2937"/>
                          </a:solidFill>
                        </a:rPr>
                        <a:t>테스트 </a:t>
                      </a:r>
                      <a:pPr indent="0" marL="0">
                        <a:buNone/>
                      </a:pPr>
                      <a:r>
                        <a:rPr lang="en-US" sz="1100" dirty="0">
                          <a:solidFill>
                            <a:srgbClr val="1F2937"/>
                          </a:solidFill>
                        </a:rPr>
                        <a:t>도구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이개발 </a:t>
                      </a:r>
                      <a:pPr indent="0" marL="0">
                        <a:buNone/>
                      </a:pPr>
                      <a:r>
                        <a:rPr lang="en-US" sz="1100" dirty="0">
                          <a:solidFill>
                            <a:srgbClr val="1F2937"/>
                          </a:solidFill>
                        </a:rPr>
                        <a:t>및 </a:t>
                      </a:r>
                      <a:pPr indent="0" marL="0">
                        <a:buNone/>
                      </a:pPr>
                      <a:r>
                        <a:rPr lang="en-US" sz="1100" dirty="0">
                          <a:solidFill>
                            <a:srgbClr val="1F2937"/>
                          </a:solidFill>
                        </a:rPr>
                        <a:t>개발팀, </a:t>
                      </a:r>
                      <a:pPr indent="0" marL="0">
                        <a:buNone/>
                      </a:pPr>
                      <a:r>
                        <a:rPr lang="en-US" sz="1100" dirty="0">
                          <a:solidFill>
                            <a:srgbClr val="1F2937"/>
                          </a:solidFill>
                        </a:rPr>
                        <a:t>세부 </a:t>
                      </a:r>
                      <a:pPr indent="0" marL="0">
                        <a:buNone/>
                      </a:pPr>
                      <a:r>
                        <a:rPr lang="en-US" sz="1100" dirty="0">
                          <a:solidFill>
                            <a:srgbClr val="1F2937"/>
                          </a:solidFill>
                        </a:rPr>
                        <a:t>담당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기능 </a:t>
                      </a:r>
                      <a:pPr indent="0" marL="0">
                        <a:buNone/>
                      </a:pPr>
                      <a:r>
                        <a:rPr lang="en-US" sz="1100" dirty="0">
                          <a:solidFill>
                            <a:srgbClr val="1F2937"/>
                          </a:solidFill>
                        </a:rPr>
                        <a:t>연동 </a:t>
                      </a:r>
                      <a:pPr indent="0" marL="0">
                        <a:buNone/>
                      </a:pPr>
                      <a:r>
                        <a:rPr lang="en-US" sz="1100" dirty="0">
                          <a:solidFill>
                            <a:srgbClr val="1F2937"/>
                          </a:solidFill>
                        </a:rPr>
                        <a:t>시와 </a:t>
                      </a:r>
                      <a:pPr indent="0" marL="0">
                        <a:buNone/>
                      </a:pPr>
                      <a:r>
                        <a:rPr lang="en-US" sz="1100" dirty="0">
                          <a:solidFill>
                            <a:srgbClr val="1F2937"/>
                          </a:solidFill>
                        </a:rPr>
                        <a:t>수정 </a:t>
                      </a:r>
                      <a:pPr indent="0" marL="0">
                        <a:buNone/>
                      </a:pPr>
                      <a:r>
                        <a:rPr lang="en-US" sz="1100" dirty="0">
                          <a:solidFill>
                            <a:srgbClr val="1F2937"/>
                          </a:solidFill>
                        </a:rPr>
                        <a:t>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핵심 </a:t>
                      </a:r>
                      <a:pPr indent="0" marL="0">
                        <a:buNone/>
                      </a:pPr>
                      <a:r>
                        <a:rPr lang="en-US" sz="1100" dirty="0">
                          <a:solidFill>
                            <a:srgbClr val="1F2937"/>
                          </a:solidFill>
                        </a:rPr>
                        <a:t>연동 </a:t>
                      </a:r>
                      <a:pPr indent="0" marL="0">
                        <a:buNone/>
                      </a:pPr>
                      <a:r>
                        <a:rPr lang="en-US" sz="1100" dirty="0">
                          <a:solidFill>
                            <a:srgbClr val="1F2937"/>
                          </a:solidFill>
                        </a:rPr>
                        <a:t>경로 </a:t>
                      </a:r>
                      <a:pPr indent="0" marL="0">
                        <a:buNone/>
                      </a:pPr>
                      <a:r>
                        <a:rPr lang="en-US" sz="1100" dirty="0">
                          <a:solidFill>
                            <a:srgbClr val="1F2937"/>
                          </a:solidFill>
                        </a:rPr>
                        <a:t>자동화 </a:t>
                      </a:r>
                      <a:pPr indent="0" marL="0">
                        <a:buNone/>
                      </a:pPr>
                      <a:r>
                        <a:rPr lang="en-US" sz="1100" dirty="0">
                          <a:solidFill>
                            <a:srgbClr val="1F2937"/>
                          </a:solidFill>
                        </a:rPr>
                        <a:t>제안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API </a:t>
                      </a:r>
                      <a:pPr indent="0" marL="0">
                        <a:buNone/>
                      </a:pPr>
                      <a:r>
                        <a:rPr lang="en-US" sz="1100" b="1" dirty="0">
                          <a:solidFill>
                            <a:srgbClr val="1F2937"/>
                          </a:solidFill>
                        </a:rPr>
                        <a:t>테스트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로그인, </a:t>
                      </a:r>
                      <a:pPr indent="0" marL="0">
                        <a:buNone/>
                      </a:pPr>
                      <a:r>
                        <a:rPr lang="en-US" sz="1100" dirty="0">
                          <a:solidFill>
                            <a:srgbClr val="1F2937"/>
                          </a:solidFill>
                        </a:rPr>
                        <a:t>생성 </a:t>
                      </a:r>
                      <a:pPr indent="0" marL="0">
                        <a:buNone/>
                      </a:pPr>
                      <a:r>
                        <a:rPr lang="en-US" sz="1100" dirty="0">
                          <a:solidFill>
                            <a:srgbClr val="1F2937"/>
                          </a:solidFill>
                        </a:rPr>
                        <a:t>요청, </a:t>
                      </a:r>
                      <a:pPr indent="0" marL="0">
                        <a:buNone/>
                      </a:pPr>
                      <a:r>
                        <a:rPr lang="en-US" sz="1100" dirty="0">
                          <a:solidFill>
                            <a:srgbClr val="1F2937"/>
                          </a:solidFill>
                        </a:rPr>
                        <a:t>취소 </a:t>
                      </a:r>
                      <a:pPr indent="0" marL="0">
                        <a:buNone/>
                      </a:pPr>
                      <a:r>
                        <a:rPr lang="en-US" sz="1100" dirty="0">
                          <a:solidFill>
                            <a:srgbClr val="1F2937"/>
                          </a:solidFill>
                        </a:rPr>
                        <a:t>요청 </a:t>
                      </a:r>
                      <a:pPr indent="0" marL="0">
                        <a:buNone/>
                      </a:pPr>
                      <a:r>
                        <a:rPr lang="en-US" sz="1100" dirty="0">
                          <a:solidFill>
                            <a:srgbClr val="1F2937"/>
                          </a:solidFill>
                        </a:rPr>
                        <a:t>등 </a:t>
                      </a:r>
                      <a:pPr indent="0" marL="0">
                        <a:buNone/>
                      </a:pPr>
                      <a:r>
                        <a:rPr lang="en-US" sz="1100" dirty="0">
                          <a:solidFill>
                            <a:srgbClr val="1F2937"/>
                          </a:solidFill>
                        </a:rPr>
                        <a:t>API가 </a:t>
                      </a:r>
                      <a:pPr indent="0" marL="0">
                        <a:buNone/>
                      </a:pPr>
                      <a:r>
                        <a:rPr lang="en-US" sz="1100" dirty="0">
                          <a:solidFill>
                            <a:srgbClr val="1F2937"/>
                          </a:solidFill>
                        </a:rPr>
                        <a:t>있는 </a:t>
                      </a:r>
                      <a:pPr indent="0" marL="0">
                        <a:buNone/>
                      </a:pPr>
                      <a:r>
                        <a:rPr lang="en-US" sz="1100" dirty="0">
                          <a:solidFill>
                            <a:srgbClr val="1F2937"/>
                          </a:solidFill>
                        </a:rPr>
                        <a:t>경우 </a:t>
                      </a:r>
                      <a:pPr indent="0" marL="0">
                        <a:buNone/>
                      </a:pPr>
                      <a:r>
                        <a:rPr lang="en-US" sz="1100" dirty="0">
                          <a:solidFill>
                            <a:srgbClr val="1F2937"/>
                          </a:solidFill>
                        </a:rPr>
                        <a:t>요청·응답과 </a:t>
                      </a:r>
                      <a:pPr indent="0" marL="0">
                        <a:buNone/>
                      </a:pPr>
                      <a:r>
                        <a:rPr lang="en-US" sz="1100" dirty="0">
                          <a:solidFill>
                            <a:srgbClr val="1F2937"/>
                          </a:solidFill>
                        </a:rPr>
                        <a:t>오류 </a:t>
                      </a:r>
                      <a:pPr indent="0" marL="0">
                        <a:buNone/>
                      </a:pPr>
                      <a:r>
                        <a:rPr lang="en-US" sz="1100" dirty="0">
                          <a:solidFill>
                            <a:srgbClr val="1F2937"/>
                          </a:solidFill>
                        </a:rPr>
                        <a:t>처리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Postman </a:t>
                      </a:r>
                      <a:pPr indent="0" marL="0">
                        <a:buNone/>
                      </a:pPr>
                      <a:r>
                        <a:rPr lang="en-US" sz="1100" dirty="0">
                          <a:solidFill>
                            <a:srgbClr val="1F2937"/>
                          </a:solidFill>
                        </a:rPr>
                        <a:t>또는 </a:t>
                      </a:r>
                      <a:pPr indent="0" marL="0">
                        <a:buNone/>
                      </a:pPr>
                      <a:r>
                        <a:rPr lang="en-US" sz="1100" dirty="0">
                          <a:solidFill>
                            <a:srgbClr val="1F2937"/>
                          </a:solidFill>
                        </a:rPr>
                        <a:t>자동 </a:t>
                      </a:r>
                      <a:pPr indent="0" marL="0">
                        <a:buNone/>
                      </a:pPr>
                      <a:r>
                        <a:rPr lang="en-US" sz="1100" dirty="0">
                          <a:solidFill>
                            <a:srgbClr val="1F2937"/>
                          </a:solidFill>
                        </a:rPr>
                        <a:t>실행 </a:t>
                      </a:r>
                      <a:pPr indent="0" marL="0">
                        <a:buNone/>
                      </a:pPr>
                      <a:r>
                        <a:rPr lang="en-US" sz="1100" dirty="0">
                          <a:solidFill>
                            <a:srgbClr val="1F2937"/>
                          </a:solidFill>
                        </a:rPr>
                        <a:t>가능한 </a:t>
                      </a:r>
                      <a:pPr indent="0" marL="0">
                        <a:buNone/>
                      </a:pPr>
                      <a:r>
                        <a:rPr lang="en-US" sz="1100" dirty="0">
                          <a:solidFill>
                            <a:srgbClr val="1F2937"/>
                          </a:solidFill>
                        </a:rPr>
                        <a:t>동등 </a:t>
                      </a:r>
                      <a:pPr indent="0" marL="0">
                        <a:buNone/>
                      </a:pPr>
                      <a:r>
                        <a:rPr lang="en-US" sz="1100" dirty="0">
                          <a:solidFill>
                            <a:srgbClr val="1F2937"/>
                          </a:solidFill>
                        </a:rPr>
                        <a:t>도구 </a:t>
                      </a:r>
                      <a:pPr indent="0" marL="0">
                        <a:buNone/>
                      </a:pPr>
                      <a:r>
                        <a:rPr lang="en-US" sz="1100" dirty="0">
                          <a:solidFill>
                            <a:srgbClr val="1F2937"/>
                          </a:solidFill>
                        </a:rPr>
                        <a:t>제안. </a:t>
                      </a:r>
                      <a:pPr indent="0" marL="0">
                        <a:buNone/>
                      </a:pPr>
                      <a:r>
                        <a:rPr lang="en-US" sz="1100" dirty="0">
                          <a:solidFill>
                            <a:srgbClr val="1F2937"/>
                          </a:solidFill>
                        </a:rPr>
                        <a:t>API </a:t>
                      </a:r>
                      <a:pPr indent="0" marL="0">
                        <a:buNone/>
                      </a:pPr>
                      <a:r>
                        <a:rPr lang="en-US" sz="1100" dirty="0">
                          <a:solidFill>
                            <a:srgbClr val="1F2937"/>
                          </a:solidFill>
                        </a:rPr>
                        <a:t>제공 </a:t>
                      </a:r>
                      <a:pPr indent="0" marL="0">
                        <a:buNone/>
                      </a:pPr>
                      <a:r>
                        <a:rPr lang="en-US" sz="1100" dirty="0">
                          <a:solidFill>
                            <a:srgbClr val="1F2937"/>
                          </a:solidFill>
                        </a:rPr>
                        <a:t>여부 </a:t>
                      </a:r>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QA </a:t>
                      </a:r>
                      <a:pPr indent="0" marL="0">
                        <a:buNone/>
                      </a:pPr>
                      <a:r>
                        <a:rPr lang="en-US" sz="1100" dirty="0">
                          <a:solidFill>
                            <a:srgbClr val="1F2937"/>
                          </a:solidFill>
                        </a:rPr>
                        <a:t>및 </a:t>
                      </a:r>
                      <a:pPr indent="0" marL="0">
                        <a:buNone/>
                      </a:pPr>
                      <a:r>
                        <a:rPr lang="en-US" sz="1100" dirty="0">
                          <a:solidFill>
                            <a:srgbClr val="1F2937"/>
                          </a:solidFill>
                        </a:rPr>
                        <a:t>개발팀, </a:t>
                      </a:r>
                      <a:pPr indent="0" marL="0">
                        <a:buNone/>
                      </a:pPr>
                      <a:r>
                        <a:rPr lang="en-US" sz="1100" dirty="0">
                          <a:solidFill>
                            <a:srgbClr val="1F2937"/>
                          </a:solidFill>
                        </a:rPr>
                        <a:t>담당 </a:t>
                      </a:r>
                      <a:pPr indent="0" marL="0">
                        <a:buNone/>
                      </a:pPr>
                      <a:r>
                        <a:rPr lang="en-US" sz="1100" dirty="0">
                          <a:solidFill>
                            <a:srgbClr val="1F2937"/>
                          </a:solidFill>
                        </a:rPr>
                        <a:t>확정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API </a:t>
                      </a:r>
                      <a:pPr indent="0" marL="0">
                        <a:buNone/>
                      </a:pPr>
                      <a:r>
                        <a:rPr lang="en-US" sz="1100" dirty="0">
                          <a:solidFill>
                            <a:srgbClr val="1F2937"/>
                          </a:solidFill>
                        </a:rPr>
                        <a:t>변경 </a:t>
                      </a:r>
                      <a:pPr indent="0" marL="0">
                        <a:buNone/>
                      </a:pPr>
                      <a:r>
                        <a:rPr lang="en-US" sz="1100" dirty="0">
                          <a:solidFill>
                            <a:srgbClr val="1F2937"/>
                          </a:solidFill>
                        </a:rPr>
                        <a:t>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반복 </a:t>
                      </a:r>
                      <a:pPr indent="0" marL="0">
                        <a:buNone/>
                      </a:pPr>
                      <a:r>
                        <a:rPr lang="en-US" sz="1100" dirty="0">
                          <a:solidFill>
                            <a:srgbClr val="1F2937"/>
                          </a:solidFill>
                        </a:rPr>
                        <a:t>가능한 </a:t>
                      </a:r>
                      <a:pPr indent="0" marL="0">
                        <a:buNone/>
                      </a:pPr>
                      <a:r>
                        <a:rPr lang="en-US" sz="1100" dirty="0">
                          <a:solidFill>
                            <a:srgbClr val="1F2937"/>
                          </a:solidFill>
                        </a:rPr>
                        <a:t>핵심 </a:t>
                      </a:r>
                      <a:pPr indent="0" marL="0">
                        <a:buNone/>
                      </a:pPr>
                      <a:r>
                        <a:rPr lang="en-US" sz="1100" dirty="0">
                          <a:solidFill>
                            <a:srgbClr val="1F2937"/>
                          </a:solidFill>
                        </a:rPr>
                        <a:t>API </a:t>
                      </a:r>
                      <a:pPr indent="0" marL="0">
                        <a:buNone/>
                      </a:pPr>
                      <a:r>
                        <a:rPr lang="en-US" sz="1100" dirty="0">
                          <a:solidFill>
                            <a:srgbClr val="1F2937"/>
                          </a:solidFill>
                        </a:rPr>
                        <a:t>검증 </a:t>
                      </a:r>
                      <a:pPr indent="0" marL="0">
                        <a:buNone/>
                      </a:pPr>
                      <a:r>
                        <a:rPr lang="en-US" sz="1100" dirty="0">
                          <a:solidFill>
                            <a:srgbClr val="1F2937"/>
                          </a:solidFill>
                        </a:rPr>
                        <a:t>자동화 </a:t>
                      </a:r>
                      <a:pPr indent="0" marL="0">
                        <a:buNone/>
                      </a:pPr>
                      <a:r>
                        <a:rPr lang="en-US" sz="1100" dirty="0">
                          <a:solidFill>
                            <a:srgbClr val="1F2937"/>
                          </a:solidFill>
                        </a:rPr>
                        <a:t>제안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E2E </a:t>
                      </a:r>
                      <a:pPr indent="0" marL="0">
                        <a:buNone/>
                      </a:pPr>
                      <a:r>
                        <a:rPr lang="en-US" sz="1100" b="1" dirty="0">
                          <a:solidFill>
                            <a:srgbClr val="1F2937"/>
                          </a:solidFill>
                        </a:rPr>
                        <a:t>테스트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로그인부터 </a:t>
                      </a:r>
                      <a:pPr indent="0" marL="0">
                        <a:buNone/>
                      </a:pPr>
                      <a:r>
                        <a:rPr lang="en-US" sz="1100" dirty="0">
                          <a:solidFill>
                            <a:srgbClr val="1F2937"/>
                          </a:solidFill>
                        </a:rPr>
                        <a:t>입력, </a:t>
                      </a:r>
                      <a:pPr indent="0" marL="0">
                        <a:buNone/>
                      </a:pPr>
                      <a:r>
                        <a:rPr lang="en-US" sz="1100" dirty="0">
                          <a:solidFill>
                            <a:srgbClr val="1F2937"/>
                          </a:solidFill>
                        </a:rPr>
                        <a:t>생성, </a:t>
                      </a:r>
                      <a:pPr indent="0" marL="0">
                        <a:buNone/>
                      </a:pPr>
                      <a:r>
                        <a:rPr lang="en-US" sz="1100" dirty="0">
                          <a:solidFill>
                            <a:srgbClr val="1F2937"/>
                          </a:solidFill>
                        </a:rPr>
                        <a:t>중단·복귀, </a:t>
                      </a:r>
                      <a:pPr indent="0" marL="0">
                        <a:buNone/>
                      </a:pPr>
                      <a:r>
                        <a:rPr lang="en-US" sz="1100" dirty="0">
                          <a:solidFill>
                            <a:srgbClr val="1F2937"/>
                          </a:solidFill>
                        </a:rPr>
                        <a:t>Word·PDF </a:t>
                      </a:r>
                      <a:pPr indent="0" marL="0">
                        <a:buNone/>
                      </a:pPr>
                      <a:r>
                        <a:rPr lang="en-US" sz="1100" dirty="0">
                          <a:solidFill>
                            <a:srgbClr val="1F2937"/>
                          </a:solidFill>
                        </a:rPr>
                        <a:t>내려받기까지 </a:t>
                      </a:r>
                      <a:pPr indent="0" marL="0">
                        <a:buNone/>
                      </a:pPr>
                      <a:r>
                        <a:rPr lang="en-US" sz="1100" dirty="0">
                          <a:solidFill>
                            <a:srgbClr val="1F2937"/>
                          </a:solidFill>
                        </a:rPr>
                        <a:t>사용자 </a:t>
                      </a:r>
                      <a:pPr indent="0" marL="0">
                        <a:buNone/>
                      </a:pPr>
                      <a:r>
                        <a:rPr lang="en-US" sz="1100" dirty="0">
                          <a:solidFill>
                            <a:srgbClr val="1F2937"/>
                          </a:solidFill>
                        </a:rPr>
                        <a:t>흐름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Playwright </a:t>
                      </a:r>
                      <a:pPr indent="0" marL="0">
                        <a:buNone/>
                      </a:pPr>
                      <a:r>
                        <a:rPr lang="en-US" sz="1100" dirty="0">
                          <a:solidFill>
                            <a:srgbClr val="1F2937"/>
                          </a:solidFill>
                        </a:rPr>
                        <a:t>또는 </a:t>
                      </a:r>
                      <a:pPr indent="0" marL="0">
                        <a:buNone/>
                      </a:pPr>
                      <a:r>
                        <a:rPr lang="en-US" sz="1100" dirty="0">
                          <a:solidFill>
                            <a:srgbClr val="1F2937"/>
                          </a:solidFill>
                        </a:rPr>
                        <a:t>Cypress </a:t>
                      </a:r>
                      <a:pPr indent="0" marL="0">
                        <a:buNone/>
                      </a:pPr>
                      <a:r>
                        <a:rPr lang="en-US" sz="1100" dirty="0">
                          <a:solidFill>
                            <a:srgbClr val="1F2937"/>
                          </a:solidFill>
                        </a:rPr>
                        <a:t>제안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QA </a:t>
                      </a:r>
                      <a:pPr indent="0" marL="0">
                        <a:buNone/>
                      </a:pPr>
                      <a:r>
                        <a:rPr lang="en-US" sz="1100" dirty="0">
                          <a:solidFill>
                            <a:srgbClr val="1F2937"/>
                          </a:solidFill>
                        </a:rPr>
                        <a:t>담당자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기능 </a:t>
                      </a:r>
                      <a:pPr indent="0" marL="0">
                        <a:buNone/>
                      </a:pPr>
                      <a:r>
                        <a:rPr lang="en-US" sz="1100" dirty="0">
                          <a:solidFill>
                            <a:srgbClr val="1F2937"/>
                          </a:solidFill>
                        </a:rPr>
                        <a:t>배포 </a:t>
                      </a:r>
                      <a:pPr indent="0" marL="0">
                        <a:buNone/>
                      </a:pPr>
                      <a:r>
                        <a:rPr lang="en-US" sz="1100" dirty="0">
                          <a:solidFill>
                            <a:srgbClr val="1F2937"/>
                          </a:solidFill>
                        </a:rPr>
                        <a:t>및 </a:t>
                      </a:r>
                      <a:pPr indent="0" marL="0">
                        <a:buNone/>
                      </a:pPr>
                      <a:r>
                        <a:rPr lang="en-US" sz="1100" dirty="0">
                          <a:solidFill>
                            <a:srgbClr val="1F2937"/>
                          </a:solidFill>
                        </a:rPr>
                        <a:t>릴리스 </a:t>
                      </a:r>
                      <a:pPr indent="0" marL="0">
                        <a:buNone/>
                      </a:pPr>
                      <a:r>
                        <a:rPr lang="en-US" sz="1100" dirty="0">
                          <a:solidFill>
                            <a:srgbClr val="1F2937"/>
                          </a:solidFill>
                        </a:rPr>
                        <a:t>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우선순위 </a:t>
                      </a:r>
                      <a:pPr indent="0" marL="0">
                        <a:buNone/>
                      </a:pPr>
                      <a:r>
                        <a:rPr lang="en-US" sz="1100" dirty="0">
                          <a:solidFill>
                            <a:srgbClr val="1F2937"/>
                          </a:solidFill>
                        </a:rPr>
                        <a:t>높은 </a:t>
                      </a:r>
                      <a:pPr indent="0" marL="0">
                        <a:buNone/>
                      </a:pPr>
                      <a:r>
                        <a:rPr lang="en-US" sz="1100" dirty="0">
                          <a:solidFill>
                            <a:srgbClr val="1F2937"/>
                          </a:solidFill>
                        </a:rPr>
                        <a:t>흐름을 </a:t>
                      </a:r>
                      <a:pPr indent="0" marL="0">
                        <a:buNone/>
                      </a:pPr>
                      <a:r>
                        <a:rPr lang="en-US" sz="1100" dirty="0">
                          <a:solidFill>
                            <a:srgbClr val="1F2937"/>
                          </a:solidFill>
                        </a:rPr>
                        <a:t>자동화하고 </a:t>
                      </a:r>
                      <a:pPr indent="0" marL="0">
                        <a:buNone/>
                      </a:pPr>
                      <a:r>
                        <a:rPr lang="en-US" sz="1100" dirty="0">
                          <a:solidFill>
                            <a:srgbClr val="1F2937"/>
                          </a:solidFill>
                        </a:rPr>
                        <a:t>파일 </a:t>
                      </a:r>
                      <a:pPr indent="0" marL="0">
                        <a:buNone/>
                      </a:pPr>
                      <a:r>
                        <a:rPr lang="en-US" sz="1100" dirty="0">
                          <a:solidFill>
                            <a:srgbClr val="1F2937"/>
                          </a:solidFill>
                        </a:rPr>
                        <a:t>검사는 </a:t>
                      </a:r>
                      <a:pPr indent="0" marL="0">
                        <a:buNone/>
                      </a:pPr>
                      <a:r>
                        <a:rPr lang="en-US" sz="1100" dirty="0">
                          <a:solidFill>
                            <a:srgbClr val="1F2937"/>
                          </a:solidFill>
                        </a:rPr>
                        <a:t>별도 </a:t>
                      </a:r>
                      <a:pPr indent="0" marL="0">
                        <a:buNone/>
                      </a:pPr>
                      <a:r>
                        <a:rPr lang="en-US" sz="1100" dirty="0">
                          <a:solidFill>
                            <a:srgbClr val="1F2937"/>
                          </a:solidFill>
                        </a:rPr>
                        <a:t>확인 </a:t>
                      </a:r>
                      <a:pPr indent="0" marL="0">
                        <a:buNone/>
                      </a:pPr>
                      <a:r>
                        <a:rPr lang="en-US" sz="1100" dirty="0">
                          <a:solidFill>
                            <a:srgbClr val="1F2937"/>
                          </a:solidFill>
                        </a:rPr>
                        <a:t>제안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성능 </a:t>
                      </a:r>
                      <a:pPr indent="0" marL="0">
                        <a:buNone/>
                      </a:pPr>
                      <a:r>
                        <a:rPr lang="en-US" sz="1100" b="1" dirty="0">
                          <a:solidFill>
                            <a:srgbClr val="1F2937"/>
                          </a:solidFill>
                        </a:rPr>
                        <a:t>테스트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문서 </a:t>
                      </a:r>
                      <a:pPr indent="0" marL="0">
                        <a:buNone/>
                      </a:pPr>
                      <a:r>
                        <a:rPr lang="en-US" sz="1100" dirty="0">
                          <a:solidFill>
                            <a:srgbClr val="1F2937"/>
                          </a:solidFill>
                        </a:rPr>
                        <a:t>생성·저장·내려받기 </a:t>
                      </a:r>
                      <a:pPr indent="0" marL="0">
                        <a:buNone/>
                      </a:pPr>
                      <a:r>
                        <a:rPr lang="en-US" sz="1100" dirty="0">
                          <a:solidFill>
                            <a:srgbClr val="1F2937"/>
                          </a:solidFill>
                        </a:rPr>
                        <a:t>지연과 </a:t>
                      </a:r>
                      <a:pPr indent="0" marL="0">
                        <a:buNone/>
                      </a:pPr>
                      <a:r>
                        <a:rPr lang="en-US" sz="1100" dirty="0">
                          <a:solidFill>
                            <a:srgbClr val="1F2937"/>
                          </a:solidFill>
                        </a:rPr>
                        <a:t>자원 </a:t>
                      </a:r>
                      <a:pPr indent="0" marL="0">
                        <a:buNone/>
                      </a:pPr>
                      <a:r>
                        <a:rPr lang="en-US" sz="1100" dirty="0">
                          <a:solidFill>
                            <a:srgbClr val="1F2937"/>
                          </a:solidFill>
                        </a:rPr>
                        <a:t>사용 </a:t>
                      </a:r>
                      <a:pPr indent="0" marL="0">
                        <a:buNone/>
                      </a:pPr>
                      <a:r>
                        <a:rPr lang="en-US" sz="1100" dirty="0">
                          <a:solidFill>
                            <a:srgbClr val="1F2937"/>
                          </a:solidFill>
                        </a:rPr>
                        <a:t>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k6 </a:t>
                      </a:r>
                      <a:pPr indent="0" marL="0">
                        <a:buNone/>
                      </a:pPr>
                      <a:r>
                        <a:rPr lang="en-US" sz="1100" dirty="0">
                          <a:solidFill>
                            <a:srgbClr val="1F2937"/>
                          </a:solidFill>
                        </a:rPr>
                        <a:t>등 </a:t>
                      </a:r>
                      <a:pPr indent="0" marL="0">
                        <a:buNone/>
                      </a:pPr>
                      <a:r>
                        <a:rPr lang="en-US" sz="1100" dirty="0">
                          <a:solidFill>
                            <a:srgbClr val="1F2937"/>
                          </a:solidFill>
                        </a:rPr>
                        <a:t>부하 </a:t>
                      </a:r>
                      <a:pPr indent="0" marL="0">
                        <a:buNone/>
                      </a:pPr>
                      <a:r>
                        <a:rPr lang="en-US" sz="1100" dirty="0">
                          <a:solidFill>
                            <a:srgbClr val="1F2937"/>
                          </a:solidFill>
                        </a:rPr>
                        <a:t>도구 </a:t>
                      </a:r>
                      <a:pPr indent="0" marL="0">
                        <a:buNone/>
                      </a:pPr>
                      <a:r>
                        <a:rPr lang="en-US" sz="1100" dirty="0">
                          <a:solidFill>
                            <a:srgbClr val="1F2937"/>
                          </a:solidFill>
                        </a:rPr>
                        <a:t>제안. </a:t>
                      </a:r>
                      <a:pPr indent="0" marL="0">
                        <a:buNone/>
                      </a:pPr>
                      <a:r>
                        <a:rPr lang="en-US" sz="1100" dirty="0">
                          <a:solidFill>
                            <a:srgbClr val="1F2937"/>
                          </a:solidFill>
                        </a:rPr>
                        <a:t>목표와 </a:t>
                      </a:r>
                      <a:pPr indent="0" marL="0">
                        <a:buNone/>
                      </a:pPr>
                      <a:r>
                        <a:rPr lang="en-US" sz="1100" dirty="0">
                          <a:solidFill>
                            <a:srgbClr val="1F2937"/>
                          </a:solidFill>
                        </a:rPr>
                        <a:t>예상 </a:t>
                      </a:r>
                      <a:pPr indent="0" marL="0">
                        <a:buNone/>
                      </a:pPr>
                      <a:r>
                        <a:rPr lang="en-US" sz="1100" dirty="0">
                          <a:solidFill>
                            <a:srgbClr val="1F2937"/>
                          </a:solidFill>
                        </a:rPr>
                        <a:t>사용자 </a:t>
                      </a:r>
                      <a:pPr indent="0" marL="0">
                        <a:buNone/>
                      </a:pPr>
                      <a:r>
                        <a:rPr lang="en-US" sz="1100" dirty="0">
                          <a:solidFill>
                            <a:srgbClr val="1F2937"/>
                          </a:solidFill>
                        </a:rPr>
                        <a:t>규모는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QA </a:t>
                      </a:r>
                      <a:pPr indent="0" marL="0">
                        <a:buNone/>
                      </a:pPr>
                      <a:r>
                        <a:rPr lang="en-US" sz="1100" dirty="0">
                          <a:solidFill>
                            <a:srgbClr val="1F2937"/>
                          </a:solidFill>
                        </a:rPr>
                        <a:t>및 </a:t>
                      </a:r>
                      <a:pPr indent="0" marL="0">
                        <a:buNone/>
                      </a:pPr>
                      <a:r>
                        <a:rPr lang="en-US" sz="1100" dirty="0">
                          <a:solidFill>
                            <a:srgbClr val="1F2937"/>
                          </a:solidFill>
                        </a:rPr>
                        <a:t>개발팀, </a:t>
                      </a:r>
                      <a:pPr indent="0" marL="0">
                        <a:buNone/>
                      </a:pPr>
                      <a:r>
                        <a:rPr lang="en-US" sz="1100" dirty="0">
                          <a:solidFill>
                            <a:srgbClr val="1F2937"/>
                          </a:solidFill>
                        </a:rPr>
                        <a:t>담당 </a:t>
                      </a:r>
                      <a:pPr indent="0" marL="0">
                        <a:buNone/>
                      </a:pPr>
                      <a:r>
                        <a:rPr lang="en-US" sz="1100" dirty="0">
                          <a:solidFill>
                            <a:srgbClr val="1F2937"/>
                          </a:solidFill>
                        </a:rPr>
                        <a:t>확정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릴리스 </a:t>
                      </a:r>
                      <a:pPr indent="0" marL="0">
                        <a:buNone/>
                      </a:pPr>
                      <a:r>
                        <a:rPr lang="en-US" sz="1100" dirty="0">
                          <a:solidFill>
                            <a:srgbClr val="1F2937"/>
                          </a:solidFill>
                        </a:rPr>
                        <a:t>전 </a:t>
                      </a:r>
                      <a:pPr indent="0" marL="0">
                        <a:buNone/>
                      </a:pPr>
                      <a:r>
                        <a:rPr lang="en-US" sz="1100" dirty="0">
                          <a:solidFill>
                            <a:srgbClr val="1F2937"/>
                          </a:solidFill>
                        </a:rPr>
                        <a:t>제안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목표 </a:t>
                      </a:r>
                      <a:pPr indent="0" marL="0">
                        <a:buNone/>
                      </a:pPr>
                      <a:r>
                        <a:rPr lang="en-US" sz="1100" dirty="0">
                          <a:solidFill>
                            <a:srgbClr val="1F2937"/>
                          </a:solidFill>
                        </a:rPr>
                        <a:t>확정 </a:t>
                      </a:r>
                      <a:pPr indent="0" marL="0">
                        <a:buNone/>
                      </a:pPr>
                      <a:r>
                        <a:rPr lang="en-US" sz="1100" dirty="0">
                          <a:solidFill>
                            <a:srgbClr val="1F2937"/>
                          </a:solidFill>
                        </a:rPr>
                        <a:t>후 </a:t>
                      </a:r>
                      <a:pPr indent="0" marL="0">
                        <a:buNone/>
                      </a:pPr>
                      <a:r>
                        <a:rPr lang="en-US" sz="1100" dirty="0">
                          <a:solidFill>
                            <a:srgbClr val="1F2937"/>
                          </a:solidFill>
                        </a:rPr>
                        <a:t>반복 </a:t>
                      </a:r>
                      <a:pPr indent="0" marL="0">
                        <a:buNone/>
                      </a:pPr>
                      <a:r>
                        <a:rPr lang="en-US" sz="1100" dirty="0">
                          <a:solidFill>
                            <a:srgbClr val="1F2937"/>
                          </a:solidFill>
                        </a:rPr>
                        <a:t>시나리오 </a:t>
                      </a:r>
                      <a:pPr indent="0" marL="0">
                        <a:buNone/>
                      </a:pPr>
                      <a:r>
                        <a:rPr lang="en-US" sz="1100" dirty="0">
                          <a:solidFill>
                            <a:srgbClr val="1F2937"/>
                          </a:solidFill>
                        </a:rPr>
                        <a:t>자동화 </a:t>
                      </a:r>
                      <a:pPr indent="0" marL="0">
                        <a:buNone/>
                      </a:pPr>
                      <a:r>
                        <a:rPr lang="en-US" sz="1100" dirty="0">
                          <a:solidFill>
                            <a:srgbClr val="1F2937"/>
                          </a:solidFill>
                        </a:rPr>
                        <a:t>제안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보안 </a:t>
                      </a:r>
                      <a:pPr indent="0" marL="0">
                        <a:buNone/>
                      </a:pPr>
                      <a:r>
                        <a:rPr lang="en-US" sz="1100" b="1" dirty="0">
                          <a:solidFill>
                            <a:srgbClr val="1F2937"/>
                          </a:solidFill>
                        </a:rPr>
                        <a:t>테스트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인증·세션, </a:t>
                      </a:r>
                      <a:pPr indent="0" marL="0">
                        <a:buNone/>
                      </a:pPr>
                      <a:r>
                        <a:rPr lang="en-US" sz="1100" dirty="0">
                          <a:solidFill>
                            <a:srgbClr val="1F2937"/>
                          </a:solidFill>
                        </a:rPr>
                        <a:t>입력값 </a:t>
                      </a:r>
                      <a:pPr indent="0" marL="0">
                        <a:buNone/>
                      </a:pPr>
                      <a:r>
                        <a:rPr lang="en-US" sz="1100" dirty="0">
                          <a:solidFill>
                            <a:srgbClr val="1F2937"/>
                          </a:solidFill>
                        </a:rPr>
                        <a:t>처리, </a:t>
                      </a:r>
                      <a:pPr indent="0" marL="0">
                        <a:buNone/>
                      </a:pPr>
                      <a:r>
                        <a:rPr lang="en-US" sz="1100" dirty="0">
                          <a:solidFill>
                            <a:srgbClr val="1F2937"/>
                          </a:solidFill>
                        </a:rPr>
                        <a:t>내려받기 </a:t>
                      </a:r>
                      <a:pPr indent="0" marL="0">
                        <a:buNone/>
                      </a:pPr>
                      <a:r>
                        <a:rPr lang="en-US" sz="1100" dirty="0">
                          <a:solidFill>
                            <a:srgbClr val="1F2937"/>
                          </a:solidFill>
                        </a:rPr>
                        <a:t>접근 </a:t>
                      </a:r>
                      <a:pPr indent="0" marL="0">
                        <a:buNone/>
                      </a:pPr>
                      <a:r>
                        <a:rPr lang="en-US" sz="1100" dirty="0">
                          <a:solidFill>
                            <a:srgbClr val="1F2937"/>
                          </a:solidFill>
                        </a:rPr>
                        <a:t>통제, </a:t>
                      </a:r>
                      <a:pPr indent="0" marL="0">
                        <a:buNone/>
                      </a:pPr>
                      <a:r>
                        <a:rPr lang="en-US" sz="1100" dirty="0">
                          <a:solidFill>
                            <a:srgbClr val="1F2937"/>
                          </a:solidFill>
                        </a:rPr>
                        <a:t>기기 </a:t>
                      </a:r>
                      <a:pPr indent="0" marL="0">
                        <a:buNone/>
                      </a:pPr>
                      <a:r>
                        <a:rPr lang="en-US" sz="1100" dirty="0">
                          <a:solidFill>
                            <a:srgbClr val="1F2937"/>
                          </a:solidFill>
                        </a:rPr>
                        <a:t>저장 </a:t>
                      </a:r>
                      <a:pPr indent="0" marL="0">
                        <a:buNone/>
                      </a:pPr>
                      <a:r>
                        <a:rPr lang="en-US" sz="1100" dirty="0">
                          <a:solidFill>
                            <a:srgbClr val="1F2937"/>
                          </a:solidFill>
                        </a:rPr>
                        <a:t>데이터 </a:t>
                      </a:r>
                      <a:pPr indent="0" marL="0">
                        <a:buNone/>
                      </a:pPr>
                      <a:r>
                        <a:rPr lang="en-US" sz="1100" dirty="0">
                          <a:solidFill>
                            <a:srgbClr val="1F2937"/>
                          </a:solidFill>
                        </a:rPr>
                        <a:t>노출 </a:t>
                      </a:r>
                      <a:pPr indent="0" marL="0">
                        <a:buNone/>
                      </a:pPr>
                      <a:r>
                        <a:rPr lang="en-US" sz="1100" dirty="0">
                          <a:solidFill>
                            <a:srgbClr val="1F2937"/>
                          </a:solidFill>
                        </a:rPr>
                        <a:t>위험 </a:t>
                      </a:r>
                      <a:pPr indent="0" marL="0">
                        <a:buNone/>
                      </a:pPr>
                      <a:r>
                        <a:rPr lang="en-US" sz="1100" dirty="0">
                          <a:solidFill>
                            <a:srgbClr val="1F2937"/>
                          </a:solidFill>
                        </a:rPr>
                        <a:t>점검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OWASP </a:t>
                      </a:r>
                      <a:pPr indent="0" marL="0">
                        <a:buNone/>
                      </a:pPr>
                      <a:r>
                        <a:rPr lang="en-US" sz="1100" dirty="0">
                          <a:solidFill>
                            <a:srgbClr val="1F2937"/>
                          </a:solidFill>
                        </a:rPr>
                        <a:t>ZAP </a:t>
                      </a:r>
                      <a:pPr indent="0" marL="0">
                        <a:buNone/>
                      </a:pPr>
                      <a:r>
                        <a:rPr lang="en-US" sz="1100" dirty="0">
                          <a:solidFill>
                            <a:srgbClr val="1F2937"/>
                          </a:solidFill>
                        </a:rPr>
                        <a:t>및 </a:t>
                      </a:r>
                      <a:pPr indent="0" marL="0">
                        <a:buNone/>
                      </a:pPr>
                      <a:r>
                        <a:rPr lang="en-US" sz="1100" dirty="0">
                          <a:solidFill>
                            <a:srgbClr val="1F2937"/>
                          </a:solidFill>
                        </a:rPr>
                        <a:t>수동 </a:t>
                      </a:r>
                      <a:pPr indent="0" marL="0">
                        <a:buNone/>
                      </a:pPr>
                      <a:r>
                        <a:rPr lang="en-US" sz="1100" dirty="0">
                          <a:solidFill>
                            <a:srgbClr val="1F2937"/>
                          </a:solidFill>
                        </a:rPr>
                        <a:t>점검 </a:t>
                      </a:r>
                      <a:pPr indent="0" marL="0">
                        <a:buNone/>
                      </a:pPr>
                      <a:r>
                        <a:rPr lang="en-US" sz="1100" dirty="0">
                          <a:solidFill>
                            <a:srgbClr val="1F2937"/>
                          </a:solidFill>
                        </a:rPr>
                        <a:t>제안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담당 </a:t>
                      </a:r>
                      <a:pPr indent="0" marL="0">
                        <a:buNone/>
                      </a:pPr>
                      <a:r>
                        <a:rPr lang="en-US" sz="1100" dirty="0">
                          <a:solidFill>
                            <a:srgbClr val="1F2937"/>
                          </a:solidFill>
                        </a:rPr>
                        <a:t>미정. </a:t>
                      </a:r>
                      <a:pPr indent="0" marL="0">
                        <a:buNone/>
                      </a:pPr>
                      <a:r>
                        <a:rPr lang="en-US" sz="1100" dirty="0">
                          <a:solidFill>
                            <a:srgbClr val="1F2937"/>
                          </a:solidFill>
                        </a:rPr>
                        <a:t>보안 </a:t>
                      </a:r>
                      <a:pPr indent="0" marL="0">
                        <a:buNone/>
                      </a:pPr>
                      <a:r>
                        <a:rPr lang="en-US" sz="1100" dirty="0">
                          <a:solidFill>
                            <a:srgbClr val="1F2937"/>
                          </a:solidFill>
                        </a:rPr>
                        <a:t>담당자 </a:t>
                      </a:r>
                      <a:pPr indent="0" marL="0">
                        <a:buNone/>
                      </a:pPr>
                      <a:r>
                        <a:rPr lang="en-US" sz="1100" dirty="0">
                          <a:solidFill>
                            <a:srgbClr val="1F2937"/>
                          </a:solidFill>
                        </a:rPr>
                        <a:t>배정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인증·저장·배포 </a:t>
                      </a:r>
                      <a:pPr indent="0" marL="0">
                        <a:buNone/>
                      </a:pPr>
                      <a:r>
                        <a:rPr lang="en-US" sz="1100" dirty="0">
                          <a:solidFill>
                            <a:srgbClr val="1F2937"/>
                          </a:solidFill>
                        </a:rPr>
                        <a:t>전 </a:t>
                      </a:r>
                      <a:pPr indent="0" marL="0">
                        <a:buNone/>
                      </a:pPr>
                      <a:r>
                        <a:rPr lang="en-US" sz="1100" dirty="0">
                          <a:solidFill>
                            <a:srgbClr val="1F2937"/>
                          </a:solidFill>
                        </a:rPr>
                        <a:t>변경 </a:t>
                      </a:r>
                      <a:pPr indent="0" marL="0">
                        <a:buNone/>
                      </a:pPr>
                      <a:r>
                        <a:rPr lang="en-US" sz="1100" dirty="0">
                          <a:solidFill>
                            <a:srgbClr val="1F2937"/>
                          </a:solidFill>
                        </a:rPr>
                        <a:t>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자동 </a:t>
                      </a:r>
                      <a:pPr indent="0" marL="0">
                        <a:buNone/>
                      </a:pPr>
                      <a:r>
                        <a:rPr lang="en-US" sz="1100" dirty="0">
                          <a:solidFill>
                            <a:srgbClr val="1F2937"/>
                          </a:solidFill>
                        </a:rPr>
                        <a:t>검사와 </a:t>
                      </a:r>
                      <a:pPr indent="0" marL="0">
                        <a:buNone/>
                      </a:pPr>
                      <a:r>
                        <a:rPr lang="en-US" sz="1100" dirty="0">
                          <a:solidFill>
                            <a:srgbClr val="1F2937"/>
                          </a:solidFill>
                        </a:rPr>
                        <a:t>사람 </a:t>
                      </a:r>
                      <a:pPr indent="0" marL="0">
                        <a:buNone/>
                      </a:pPr>
                      <a:r>
                        <a:rPr lang="en-US" sz="1100" dirty="0">
                          <a:solidFill>
                            <a:srgbClr val="1F2937"/>
                          </a:solidFill>
                        </a:rPr>
                        <a:t>검토 </a:t>
                      </a:r>
                      <a:pPr indent="0" marL="0">
                        <a:buNone/>
                      </a:pPr>
                      <a:r>
                        <a:rPr lang="en-US" sz="1100" dirty="0">
                          <a:solidFill>
                            <a:srgbClr val="1F2937"/>
                          </a:solidFill>
                        </a:rPr>
                        <a:t>병행 </a:t>
                      </a:r>
                      <a:pPr indent="0" marL="0">
                        <a:buNone/>
                      </a:pPr>
                      <a:r>
                        <a:rPr lang="en-US" sz="1100" dirty="0">
                          <a:solidFill>
                            <a:srgbClr val="1F2937"/>
                          </a:solidFill>
                        </a:rPr>
                        <a:t>제안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호환성 </a:t>
                      </a:r>
                      <a:pPr indent="0" marL="0">
                        <a:buNone/>
                      </a:pPr>
                      <a:r>
                        <a:rPr lang="en-US" sz="1100" b="1" dirty="0">
                          <a:solidFill>
                            <a:srgbClr val="1F2937"/>
                          </a:solidFill>
                        </a:rPr>
                        <a:t>테스트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지원 </a:t>
                      </a:r>
                      <a:pPr indent="0" marL="0">
                        <a:buNone/>
                      </a:pPr>
                      <a:r>
                        <a:rPr lang="en-US" sz="1100" dirty="0">
                          <a:solidFill>
                            <a:srgbClr val="1F2937"/>
                          </a:solidFill>
                        </a:rPr>
                        <a:t>대상으로 </a:t>
                      </a:r>
                      <a:pPr indent="0" marL="0">
                        <a:buNone/>
                      </a:pPr>
                      <a:r>
                        <a:rPr lang="en-US" sz="1100" dirty="0">
                          <a:solidFill>
                            <a:srgbClr val="1F2937"/>
                          </a:solidFill>
                        </a:rPr>
                        <a:t>정한 </a:t>
                      </a:r>
                      <a:pPr indent="0" marL="0">
                        <a:buNone/>
                      </a:pPr>
                      <a:r>
                        <a:rPr lang="en-US" sz="1100" dirty="0">
                          <a:solidFill>
                            <a:srgbClr val="1F2937"/>
                          </a:solidFill>
                        </a:rPr>
                        <a:t>브라우저·운영체제·기기에서 </a:t>
                      </a:r>
                      <a:pPr indent="0" marL="0">
                        <a:buNone/>
                      </a:pPr>
                      <a:r>
                        <a:rPr lang="en-US" sz="1100" dirty="0">
                          <a:solidFill>
                            <a:srgbClr val="1F2937"/>
                          </a:solidFill>
                        </a:rPr>
                        <a:t>입력, </a:t>
                      </a:r>
                      <a:pPr indent="0" marL="0">
                        <a:buNone/>
                      </a:pPr>
                      <a:r>
                        <a:rPr lang="en-US" sz="1100" dirty="0">
                          <a:solidFill>
                            <a:srgbClr val="1F2937"/>
                          </a:solidFill>
                        </a:rPr>
                        <a:t>생성, </a:t>
                      </a:r>
                      <a:pPr indent="0" marL="0">
                        <a:buNone/>
                      </a:pPr>
                      <a:r>
                        <a:rPr lang="en-US" sz="1100" dirty="0">
                          <a:solidFill>
                            <a:srgbClr val="1F2937"/>
                          </a:solidFill>
                        </a:rPr>
                        <a:t>파일 </a:t>
                      </a:r>
                      <a:pPr indent="0" marL="0">
                        <a:buNone/>
                      </a:pPr>
                      <a:r>
                        <a:rPr lang="en-US" sz="1100" dirty="0">
                          <a:solidFill>
                            <a:srgbClr val="1F2937"/>
                          </a:solidFill>
                        </a:rPr>
                        <a:t>내려받기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실제 </a:t>
                      </a:r>
                      <a:pPr indent="0" marL="0">
                        <a:buNone/>
                      </a:pPr>
                      <a:r>
                        <a:rPr lang="en-US" sz="1100" dirty="0">
                          <a:solidFill>
                            <a:srgbClr val="1F2937"/>
                          </a:solidFill>
                        </a:rPr>
                        <a:t>기기 </a:t>
                      </a:r>
                      <a:pPr indent="0" marL="0">
                        <a:buNone/>
                      </a:pPr>
                      <a:r>
                        <a:rPr lang="en-US" sz="1100" dirty="0">
                          <a:solidFill>
                            <a:srgbClr val="1F2937"/>
                          </a:solidFill>
                        </a:rPr>
                        <a:t>및 </a:t>
                      </a:r>
                      <a:pPr indent="0" marL="0">
                        <a:buNone/>
                      </a:pPr>
                      <a:r>
                        <a:rPr lang="en-US" sz="1100" dirty="0">
                          <a:solidFill>
                            <a:srgbClr val="1F2937"/>
                          </a:solidFill>
                        </a:rPr>
                        <a:t>브라우저 </a:t>
                      </a:r>
                      <a:pPr indent="0" marL="0">
                        <a:buNone/>
                      </a:pPr>
                      <a:r>
                        <a:rPr lang="en-US" sz="1100" dirty="0">
                          <a:solidFill>
                            <a:srgbClr val="1F2937"/>
                          </a:solidFill>
                        </a:rPr>
                        <a:t>시험 </a:t>
                      </a:r>
                      <a:pPr indent="0" marL="0">
                        <a:buNone/>
                      </a:pPr>
                      <a:r>
                        <a:rPr lang="en-US" sz="1100" dirty="0">
                          <a:solidFill>
                            <a:srgbClr val="1F2937"/>
                          </a:solidFill>
                        </a:rPr>
                        <a:t>환경. </a:t>
                      </a:r>
                      <a:pPr indent="0" marL="0">
                        <a:buNone/>
                      </a:pPr>
                      <a:r>
                        <a:rPr lang="en-US" sz="1100" dirty="0">
                          <a:solidFill>
                            <a:srgbClr val="1F2937"/>
                          </a:solidFill>
                        </a:rPr>
                        <a:t>BrowserStack은 </a:t>
                      </a:r>
                      <a:pPr indent="0" marL="0">
                        <a:buNone/>
                      </a:pPr>
                      <a:r>
                        <a:rPr lang="en-US" sz="1100" dirty="0">
                          <a:solidFill>
                            <a:srgbClr val="1F2937"/>
                          </a:solidFill>
                        </a:rPr>
                        <a:t>선택지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QA </a:t>
                      </a:r>
                      <a:pPr indent="0" marL="0">
                        <a:buNone/>
                      </a:pPr>
                      <a:r>
                        <a:rPr lang="en-US" sz="1100" dirty="0">
                          <a:solidFill>
                            <a:srgbClr val="1F2937"/>
                          </a:solidFill>
                        </a:rPr>
                        <a:t>담당자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배포 </a:t>
                      </a:r>
                      <a:pPr indent="0" marL="0">
                        <a:buNone/>
                      </a:pPr>
                      <a:r>
                        <a:rPr lang="en-US" sz="1100" dirty="0">
                          <a:solidFill>
                            <a:srgbClr val="1F2937"/>
                          </a:solidFill>
                        </a:rPr>
                        <a:t>전 </a:t>
                      </a:r>
                      <a:pPr indent="0" marL="0">
                        <a:buNone/>
                      </a:pPr>
                      <a:r>
                        <a:rPr lang="en-US" sz="1100" dirty="0">
                          <a:solidFill>
                            <a:srgbClr val="1F2937"/>
                          </a:solidFill>
                        </a:rPr>
                        <a:t>및 </a:t>
                      </a:r>
                      <a:pPr indent="0" marL="0">
                        <a:buNone/>
                      </a:pPr>
                      <a:r>
                        <a:rPr lang="en-US" sz="1100" dirty="0">
                          <a:solidFill>
                            <a:srgbClr val="1F2937"/>
                          </a:solidFill>
                        </a:rPr>
                        <a:t>지원 </a:t>
                      </a:r>
                      <a:pPr indent="0" marL="0">
                        <a:buNone/>
                      </a:pPr>
                      <a:r>
                        <a:rPr lang="en-US" sz="1100" dirty="0">
                          <a:solidFill>
                            <a:srgbClr val="1F2937"/>
                          </a:solidFill>
                        </a:rPr>
                        <a:t>범위 </a:t>
                      </a:r>
                      <a:pPr indent="0" marL="0">
                        <a:buNone/>
                      </a:pPr>
                      <a:r>
                        <a:rPr lang="en-US" sz="1100" dirty="0">
                          <a:solidFill>
                            <a:srgbClr val="1F2937"/>
                          </a:solidFill>
                        </a:rPr>
                        <a:t>변경 </a:t>
                      </a:r>
                      <a:pPr indent="0" marL="0">
                        <a:buNone/>
                      </a:pPr>
                      <a:r>
                        <a:rPr lang="en-US" sz="1100" dirty="0">
                          <a:solidFill>
                            <a:srgbClr val="1F2937"/>
                          </a:solidFill>
                        </a:rPr>
                        <a:t>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환경 </a:t>
                      </a:r>
                      <a:pPr indent="0" marL="0">
                        <a:buNone/>
                      </a:pPr>
                      <a:r>
                        <a:rPr lang="en-US" sz="1100" dirty="0">
                          <a:solidFill>
                            <a:srgbClr val="1F2937"/>
                          </a:solidFill>
                        </a:rPr>
                        <a:t>선정 </a:t>
                      </a:r>
                      <a:pPr indent="0" marL="0">
                        <a:buNone/>
                      </a:pPr>
                      <a:r>
                        <a:rPr lang="en-US" sz="1100" dirty="0">
                          <a:solidFill>
                            <a:srgbClr val="1F2937"/>
                          </a:solidFill>
                        </a:rPr>
                        <a:t>뒤 </a:t>
                      </a:r>
                      <a:pPr indent="0" marL="0">
                        <a:buNone/>
                      </a:pPr>
                      <a:r>
                        <a:rPr lang="en-US" sz="1100" dirty="0">
                          <a:solidFill>
                            <a:srgbClr val="1F2937"/>
                          </a:solidFill>
                        </a:rPr>
                        <a:t>반복 </a:t>
                      </a:r>
                      <a:pPr indent="0" marL="0">
                        <a:buNone/>
                      </a:pPr>
                      <a:r>
                        <a:rPr lang="en-US" sz="1100" dirty="0">
                          <a:solidFill>
                            <a:srgbClr val="1F2937"/>
                          </a:solidFill>
                        </a:rPr>
                        <a:t>경로 </a:t>
                      </a:r>
                      <a:pPr indent="0" marL="0">
                        <a:buNone/>
                      </a:pPr>
                      <a:r>
                        <a:rPr lang="en-US" sz="1100" dirty="0">
                          <a:solidFill>
                            <a:srgbClr val="1F2937"/>
                          </a:solidFill>
                        </a:rPr>
                        <a:t>자동화 </a:t>
                      </a:r>
                      <a:pPr indent="0" marL="0">
                        <a:buNone/>
                      </a:pPr>
                      <a:r>
                        <a:rPr lang="en-US" sz="1100" dirty="0">
                          <a:solidFill>
                            <a:srgbClr val="1F2937"/>
                          </a:solidFill>
                        </a:rPr>
                        <a:t>검토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문서 </a:t>
                      </a:r>
                      <a:pPr indent="0" marL="0">
                        <a:buNone/>
                      </a:pPr>
                      <a:r>
                        <a:rPr lang="en-US" sz="1100" b="1" dirty="0">
                          <a:solidFill>
                            <a:srgbClr val="1F2937"/>
                          </a:solidFill>
                        </a:rPr>
                        <a:t>출력 </a:t>
                      </a:r>
                      <a:pPr indent="0" marL="0">
                        <a:buNone/>
                      </a:pPr>
                      <a:r>
                        <a:rPr lang="en-US" sz="1100" b="1" dirty="0">
                          <a:solidFill>
                            <a:srgbClr val="1F2937"/>
                          </a:solidFill>
                        </a:rPr>
                        <a:t>검증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Word와 </a:t>
                      </a:r>
                      <a:pPr indent="0" marL="0">
                        <a:buNone/>
                      </a:pPr>
                      <a:r>
                        <a:rPr lang="en-US" sz="1100" dirty="0">
                          <a:solidFill>
                            <a:srgbClr val="1F2937"/>
                          </a:solidFill>
                        </a:rPr>
                        <a:t>PDF의 </a:t>
                      </a:r>
                      <a:pPr indent="0" marL="0">
                        <a:buNone/>
                      </a:pPr>
                      <a:r>
                        <a:rPr lang="en-US" sz="1100" dirty="0">
                          <a:solidFill>
                            <a:srgbClr val="1F2937"/>
                          </a:solidFill>
                        </a:rPr>
                        <a:t>표·다이어그램 </a:t>
                      </a:r>
                      <a:pPr indent="0" marL="0">
                        <a:buNone/>
                      </a:pPr>
                      <a:r>
                        <a:rPr lang="en-US" sz="1100" dirty="0">
                          <a:solidFill>
                            <a:srgbClr val="1F2937"/>
                          </a:solidFill>
                        </a:rPr>
                        <a:t>누락, </a:t>
                      </a:r>
                      <a:pPr indent="0" marL="0">
                        <a:buNone/>
                      </a:pPr>
                      <a:r>
                        <a:rPr lang="en-US" sz="1100" dirty="0">
                          <a:solidFill>
                            <a:srgbClr val="1F2937"/>
                          </a:solidFill>
                        </a:rPr>
                        <a:t>표지·목차·표 </a:t>
                      </a:r>
                      <a:pPr indent="0" marL="0">
                        <a:buNone/>
                      </a:pPr>
                      <a:r>
                        <a:rPr lang="en-US" sz="1100" dirty="0">
                          <a:solidFill>
                            <a:srgbClr val="1F2937"/>
                          </a:solidFill>
                        </a:rPr>
                        <a:t>스타일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Word·PDF </a:t>
                      </a:r>
                      <a:pPr indent="0" marL="0">
                        <a:buNone/>
                      </a:pPr>
                      <a:r>
                        <a:rPr lang="en-US" sz="1100" dirty="0">
                          <a:solidFill>
                            <a:srgbClr val="1F2937"/>
                          </a:solidFill>
                        </a:rPr>
                        <a:t>열람 </a:t>
                      </a:r>
                      <a:pPr indent="0" marL="0">
                        <a:buNone/>
                      </a:pPr>
                      <a:r>
                        <a:rPr lang="en-US" sz="1100" dirty="0">
                          <a:solidFill>
                            <a:srgbClr val="1F2937"/>
                          </a:solidFill>
                        </a:rPr>
                        <a:t>도구, </a:t>
                      </a:r>
                      <a:pPr indent="0" marL="0">
                        <a:buNone/>
                      </a:pPr>
                      <a:r>
                        <a:rPr lang="en-US" sz="1100" dirty="0">
                          <a:solidFill>
                            <a:srgbClr val="1F2937"/>
                          </a:solidFill>
                        </a:rPr>
                        <a:t>문서 </a:t>
                      </a:r>
                      <a:pPr indent="0" marL="0">
                        <a:buNone/>
                      </a:pPr>
                      <a:r>
                        <a:rPr lang="en-US" sz="1100" dirty="0">
                          <a:solidFill>
                            <a:srgbClr val="1F2937"/>
                          </a:solidFill>
                        </a:rPr>
                        <a:t>비교 </a:t>
                      </a:r>
                      <a:pPr indent="0" marL="0">
                        <a:buNone/>
                      </a:pPr>
                      <a:r>
                        <a:rPr lang="en-US" sz="1100" dirty="0">
                          <a:solidFill>
                            <a:srgbClr val="1F2937"/>
                          </a:solidFill>
                        </a:rPr>
                        <a:t>및 </a:t>
                      </a:r>
                      <a:pPr indent="0" marL="0">
                        <a:buNone/>
                      </a:pPr>
                      <a:r>
                        <a:rPr lang="en-US" sz="1100" dirty="0">
                          <a:solidFill>
                            <a:srgbClr val="1F2937"/>
                          </a:solidFill>
                        </a:rPr>
                        <a:t>화면 </a:t>
                      </a:r>
                      <a:pPr indent="0" marL="0">
                        <a:buNone/>
                      </a:pPr>
                      <a:r>
                        <a:rPr lang="en-US" sz="1100" dirty="0">
                          <a:solidFill>
                            <a:srgbClr val="1F2937"/>
                          </a:solidFill>
                        </a:rPr>
                        <a:t>캡처 </a:t>
                      </a:r>
                      <a:pPr indent="0" marL="0">
                        <a:buNone/>
                      </a:pPr>
                      <a:r>
                        <a:rPr lang="en-US" sz="1100" dirty="0">
                          <a:solidFill>
                            <a:srgbClr val="1F2937"/>
                          </a:solidFill>
                        </a:rPr>
                        <a:t>도구 </a:t>
                      </a:r>
                      <a:pPr indent="0" marL="0">
                        <a:buNone/>
                      </a:pPr>
                      <a:r>
                        <a:rPr lang="en-US" sz="1100" dirty="0">
                          <a:solidFill>
                            <a:srgbClr val="1F2937"/>
                          </a:solidFill>
                        </a:rPr>
                        <a:t>제안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QA </a:t>
                      </a:r>
                      <a:pPr indent="0" marL="0">
                        <a:buNone/>
                      </a:pPr>
                      <a:r>
                        <a:rPr lang="en-US" sz="1100" dirty="0">
                          <a:solidFill>
                            <a:srgbClr val="1F2937"/>
                          </a:solidFill>
                        </a:rPr>
                        <a:t>담당자 </a:t>
                      </a:r>
                      <a:pPr indent="0" marL="0">
                        <a:buNone/>
                      </a:pPr>
                      <a:r>
                        <a:rPr lang="en-US" sz="1100" dirty="0">
                          <a:solidFill>
                            <a:srgbClr val="1F2937"/>
                          </a:solidFill>
                        </a:rPr>
                        <a:t>미정, </a:t>
                      </a:r>
                      <a:pPr indent="0" marL="0">
                        <a:buNone/>
                      </a:pPr>
                      <a:r>
                        <a:rPr lang="en-US" sz="1100" dirty="0">
                          <a:solidFill>
                            <a:srgbClr val="1F2937"/>
                          </a:solidFill>
                        </a:rPr>
                        <a:t>서식 </a:t>
                      </a:r>
                      <a:pPr indent="0" marL="0">
                        <a:buNone/>
                      </a:pPr>
                      <a:r>
                        <a:rPr lang="en-US" sz="1100" dirty="0">
                          <a:solidFill>
                            <a:srgbClr val="1F2937"/>
                          </a:solidFill>
                        </a:rPr>
                        <a:t>기준은 </a:t>
                      </a:r>
                      <a:pPr indent="0" marL="0">
                        <a:buNone/>
                      </a:pPr>
                      <a:r>
                        <a:rPr lang="en-US" sz="1100" dirty="0">
                          <a:solidFill>
                            <a:srgbClr val="1F2937"/>
                          </a:solidFill>
                        </a:rPr>
                        <a:t>디자인 </a:t>
                      </a:r>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템플릿 </a:t>
                      </a:r>
                      <a:pPr indent="0" marL="0">
                        <a:buNone/>
                      </a:pPr>
                      <a:r>
                        <a:rPr lang="en-US" sz="1100" dirty="0">
                          <a:solidFill>
                            <a:srgbClr val="1F2937"/>
                          </a:solidFill>
                        </a:rPr>
                        <a:t>변경 </a:t>
                      </a:r>
                      <a:pPr indent="0" marL="0">
                        <a:buNone/>
                      </a:pPr>
                      <a:r>
                        <a:rPr lang="en-US" sz="1100" dirty="0">
                          <a:solidFill>
                            <a:srgbClr val="1F2937"/>
                          </a:solidFill>
                        </a:rPr>
                        <a:t>및 </a:t>
                      </a:r>
                      <a:pPr indent="0" marL="0">
                        <a:buNone/>
                      </a:pPr>
                      <a:r>
                        <a:rPr lang="en-US" sz="1100" dirty="0">
                          <a:solidFill>
                            <a:srgbClr val="1F2937"/>
                          </a:solidFill>
                        </a:rPr>
                        <a:t>릴리스 </a:t>
                      </a:r>
                      <a:pPr indent="0" marL="0">
                        <a:buNone/>
                      </a:pPr>
                      <a:r>
                        <a:rPr lang="en-US" sz="1100" dirty="0">
                          <a:solidFill>
                            <a:srgbClr val="1F2937"/>
                          </a:solidFill>
                        </a:rPr>
                        <a:t>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구조 </a:t>
                      </a:r>
                      <a:pPr indent="0" marL="0">
                        <a:buNone/>
                      </a:pPr>
                      <a:r>
                        <a:rPr lang="en-US" sz="1100" dirty="0">
                          <a:solidFill>
                            <a:srgbClr val="1F2937"/>
                          </a:solidFill>
                        </a:rPr>
                        <a:t>검사 </a:t>
                      </a:r>
                      <a:pPr indent="0" marL="0">
                        <a:buNone/>
                      </a:pPr>
                      <a:r>
                        <a:rPr lang="en-US" sz="1100" dirty="0">
                          <a:solidFill>
                            <a:srgbClr val="1F2937"/>
                          </a:solidFill>
                        </a:rPr>
                        <a:t>가능 </a:t>
                      </a:r>
                      <a:pPr indent="0" marL="0">
                        <a:buNone/>
                      </a:pPr>
                      <a:r>
                        <a:rPr lang="en-US" sz="1100" dirty="0">
                          <a:solidFill>
                            <a:srgbClr val="1F2937"/>
                          </a:solidFill>
                        </a:rPr>
                        <a:t>여부 </a:t>
                      </a:r>
                      <a:pPr indent="0" marL="0">
                        <a:buNone/>
                      </a:pPr>
                      <a:r>
                        <a:rPr lang="en-US" sz="1100" dirty="0">
                          <a:solidFill>
                            <a:srgbClr val="1F2937"/>
                          </a:solidFill>
                        </a:rPr>
                        <a:t>확인 </a:t>
                      </a:r>
                      <a:pPr indent="0" marL="0">
                        <a:buNone/>
                      </a:pPr>
                      <a:r>
                        <a:rPr lang="en-US" sz="1100" dirty="0">
                          <a:solidFill>
                            <a:srgbClr val="1F2937"/>
                          </a:solidFill>
                        </a:rPr>
                        <a:t>후 </a:t>
                      </a:r>
                      <a:pPr indent="0" marL="0">
                        <a:buNone/>
                      </a:pPr>
                      <a:r>
                        <a:rPr lang="en-US" sz="1100" dirty="0">
                          <a:solidFill>
                            <a:srgbClr val="1F2937"/>
                          </a:solidFill>
                        </a:rPr>
                        <a:t>자동화, </a:t>
                      </a:r>
                      <a:pPr indent="0" marL="0">
                        <a:buNone/>
                      </a:pPr>
                      <a:r>
                        <a:rPr lang="en-US" sz="1100" dirty="0">
                          <a:solidFill>
                            <a:srgbClr val="1F2937"/>
                          </a:solidFill>
                        </a:rPr>
                        <a:t>시각 </a:t>
                      </a:r>
                      <a:pPr indent="0" marL="0">
                        <a:buNone/>
                      </a:pPr>
                      <a:r>
                        <a:rPr lang="en-US" sz="1100" dirty="0">
                          <a:solidFill>
                            <a:srgbClr val="1F2937"/>
                          </a:solidFill>
                        </a:rPr>
                        <a:t>검수 </a:t>
                      </a:r>
                      <a:pPr indent="0" marL="0">
                        <a:buNone/>
                      </a:pPr>
                      <a:r>
                        <a:rPr lang="en-US" sz="1100" dirty="0">
                          <a:solidFill>
                            <a:srgbClr val="1F2937"/>
                          </a:solidFill>
                        </a:rPr>
                        <a:t>병행</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복구·취소 </a:t>
                      </a:r>
                      <a:pPr indent="0" marL="0">
                        <a:buNone/>
                      </a:pPr>
                      <a:r>
                        <a:rPr lang="en-US" sz="1100" b="1" dirty="0">
                          <a:solidFill>
                            <a:srgbClr val="1F2937"/>
                          </a:solidFill>
                        </a:rPr>
                        <a:t>검증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화면 </a:t>
                      </a:r>
                      <a:pPr indent="0" marL="0">
                        <a:buNone/>
                      </a:pPr>
                      <a:r>
                        <a:rPr lang="en-US" sz="1100" dirty="0">
                          <a:solidFill>
                            <a:srgbClr val="1F2937"/>
                          </a:solidFill>
                        </a:rPr>
                        <a:t>이탈·복귀, </a:t>
                      </a:r>
                      <a:pPr indent="0" marL="0">
                        <a:buNone/>
                      </a:pPr>
                      <a:r>
                        <a:rPr lang="en-US" sz="1100" dirty="0">
                          <a:solidFill>
                            <a:srgbClr val="1F2937"/>
                          </a:solidFill>
                        </a:rPr>
                        <a:t>재시도, </a:t>
                      </a:r>
                      <a:pPr indent="0" marL="0">
                        <a:buNone/>
                      </a:pPr>
                      <a:r>
                        <a:rPr lang="en-US" sz="1100" dirty="0">
                          <a:solidFill>
                            <a:srgbClr val="1F2937"/>
                          </a:solidFill>
                        </a:rPr>
                        <a:t>취소 </a:t>
                      </a:r>
                      <a:pPr indent="0" marL="0">
                        <a:buNone/>
                      </a:pPr>
                      <a:r>
                        <a:rPr lang="en-US" sz="1100" dirty="0">
                          <a:solidFill>
                            <a:srgbClr val="1F2937"/>
                          </a:solidFill>
                        </a:rPr>
                        <a:t>후 </a:t>
                      </a:r>
                      <a:pPr indent="0" marL="0">
                        <a:buNone/>
                      </a:pPr>
                      <a:r>
                        <a:rPr lang="en-US" sz="1100" dirty="0">
                          <a:solidFill>
                            <a:srgbClr val="1F2937"/>
                          </a:solidFill>
                        </a:rPr>
                        <a:t>늦게 </a:t>
                      </a:r>
                      <a:pPr indent="0" marL="0">
                        <a:buNone/>
                      </a:pPr>
                      <a:r>
                        <a:rPr lang="en-US" sz="1100" dirty="0">
                          <a:solidFill>
                            <a:srgbClr val="1F2937"/>
                          </a:solidFill>
                        </a:rPr>
                        <a:t>도착한 </a:t>
                      </a:r>
                      <a:pPr indent="0" marL="0">
                        <a:buNone/>
                      </a:pPr>
                      <a:r>
                        <a:rPr lang="en-US" sz="1100" dirty="0">
                          <a:solidFill>
                            <a:srgbClr val="1F2937"/>
                          </a:solidFill>
                        </a:rPr>
                        <a:t>이전 </a:t>
                      </a:r>
                      <a:pPr indent="0" marL="0">
                        <a:buNone/>
                      </a:pPr>
                      <a:r>
                        <a:rPr lang="en-US" sz="1100" dirty="0">
                          <a:solidFill>
                            <a:srgbClr val="1F2937"/>
                          </a:solidFill>
                        </a:rPr>
                        <a:t>응답의 </a:t>
                      </a:r>
                      <a:pPr indent="0" marL="0">
                        <a:buNone/>
                      </a:pPr>
                      <a:r>
                        <a:rPr lang="en-US" sz="1100" dirty="0">
                          <a:solidFill>
                            <a:srgbClr val="1F2937"/>
                          </a:solidFill>
                        </a:rPr>
                        <a:t>무시 </a:t>
                      </a:r>
                      <a:pPr indent="0" marL="0">
                        <a:buNone/>
                      </a:pPr>
                      <a:r>
                        <a:rPr lang="en-US" sz="1100" dirty="0">
                          <a:solidFill>
                            <a:srgbClr val="1F2937"/>
                          </a:solidFill>
                        </a:rPr>
                        <a:t>여부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브라우저 </a:t>
                      </a:r>
                      <a:pPr indent="0" marL="0">
                        <a:buNone/>
                      </a:pPr>
                      <a:r>
                        <a:rPr lang="en-US" sz="1100" dirty="0">
                          <a:solidFill>
                            <a:srgbClr val="1F2937"/>
                          </a:solidFill>
                        </a:rPr>
                        <a:t>개발자 </a:t>
                      </a:r>
                      <a:pPr indent="0" marL="0">
                        <a:buNone/>
                      </a:pPr>
                      <a:r>
                        <a:rPr lang="en-US" sz="1100" dirty="0">
                          <a:solidFill>
                            <a:srgbClr val="1F2937"/>
                          </a:solidFill>
                        </a:rPr>
                        <a:t>도구 </a:t>
                      </a:r>
                      <a:pPr indent="0" marL="0">
                        <a:buNone/>
                      </a:pPr>
                      <a:r>
                        <a:rPr lang="en-US" sz="1100" dirty="0">
                          <a:solidFill>
                            <a:srgbClr val="1F2937"/>
                          </a:solidFill>
                        </a:rPr>
                        <a:t>및 </a:t>
                      </a:r>
                      <a:pPr indent="0" marL="0">
                        <a:buNone/>
                      </a:pPr>
                      <a:r>
                        <a:rPr lang="en-US" sz="1100" dirty="0">
                          <a:solidFill>
                            <a:srgbClr val="1F2937"/>
                          </a:solidFill>
                        </a:rPr>
                        <a:t>자동화 </a:t>
                      </a:r>
                      <a:pPr indent="0" marL="0">
                        <a:buNone/>
                      </a:pPr>
                      <a:r>
                        <a:rPr lang="en-US" sz="1100" dirty="0">
                          <a:solidFill>
                            <a:srgbClr val="1F2937"/>
                          </a:solidFill>
                        </a:rPr>
                        <a:t>도구 </a:t>
                      </a:r>
                      <a:pPr indent="0" marL="0">
                        <a:buNone/>
                      </a:pPr>
                      <a:r>
                        <a:rPr lang="en-US" sz="1100" dirty="0">
                          <a:solidFill>
                            <a:srgbClr val="1F2937"/>
                          </a:solidFill>
                        </a:rPr>
                        <a:t>제안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QA </a:t>
                      </a:r>
                      <a:pPr indent="0" marL="0">
                        <a:buNone/>
                      </a:pPr>
                      <a:r>
                        <a:rPr lang="en-US" sz="1100" dirty="0">
                          <a:solidFill>
                            <a:srgbClr val="1F2937"/>
                          </a:solidFill>
                        </a:rPr>
                        <a:t>및 </a:t>
                      </a:r>
                      <a:pPr indent="0" marL="0">
                        <a:buNone/>
                      </a:pPr>
                      <a:r>
                        <a:rPr lang="en-US" sz="1100" dirty="0">
                          <a:solidFill>
                            <a:srgbClr val="1F2937"/>
                          </a:solidFill>
                        </a:rPr>
                        <a:t>개발팀, </a:t>
                      </a:r>
                      <a:pPr indent="0" marL="0">
                        <a:buNone/>
                      </a:pPr>
                      <a:r>
                        <a:rPr lang="en-US" sz="1100" dirty="0">
                          <a:solidFill>
                            <a:srgbClr val="1F2937"/>
                          </a:solidFill>
                        </a:rPr>
                        <a:t>담당 </a:t>
                      </a:r>
                      <a:pPr indent="0" marL="0">
                        <a:buNone/>
                      </a:pPr>
                      <a:r>
                        <a:rPr lang="en-US" sz="1100" dirty="0">
                          <a:solidFill>
                            <a:srgbClr val="1F2937"/>
                          </a:solidFill>
                        </a:rPr>
                        <a:t>확정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생성 </a:t>
                      </a:r>
                      <a:pPr indent="0" marL="0">
                        <a:buNone/>
                      </a:pPr>
                      <a:r>
                        <a:rPr lang="en-US" sz="1100" dirty="0">
                          <a:solidFill>
                            <a:srgbClr val="1F2937"/>
                          </a:solidFill>
                        </a:rPr>
                        <a:t>기능 </a:t>
                      </a:r>
                      <a:pPr indent="0" marL="0">
                        <a:buNone/>
                      </a:pPr>
                      <a:r>
                        <a:rPr lang="en-US" sz="1100" dirty="0">
                          <a:solidFill>
                            <a:srgbClr val="1F2937"/>
                          </a:solidFill>
                        </a:rPr>
                        <a:t>변경 </a:t>
                      </a:r>
                      <a:pPr indent="0" marL="0">
                        <a:buNone/>
                      </a:pPr>
                      <a:r>
                        <a:rPr lang="en-US" sz="1100" dirty="0">
                          <a:solidFill>
                            <a:srgbClr val="1F2937"/>
                          </a:solidFill>
                        </a:rPr>
                        <a:t>시마다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경쟁 </a:t>
                      </a:r>
                      <a:pPr indent="0" marL="0">
                        <a:buNone/>
                      </a:pPr>
                      <a:r>
                        <a:rPr lang="en-US" sz="1100" dirty="0">
                          <a:solidFill>
                            <a:srgbClr val="1F2937"/>
                          </a:solidFill>
                        </a:rPr>
                        <a:t>상태를 </a:t>
                      </a:r>
                      <a:pPr indent="0" marL="0">
                        <a:buNone/>
                      </a:pPr>
                      <a:r>
                        <a:rPr lang="en-US" sz="1100" dirty="0">
                          <a:solidFill>
                            <a:srgbClr val="1F2937"/>
                          </a:solidFill>
                        </a:rPr>
                        <a:t>재현할 </a:t>
                      </a:r>
                      <a:pPr indent="0" marL="0">
                        <a:buNone/>
                      </a:pPr>
                      <a:r>
                        <a:rPr lang="en-US" sz="1100" dirty="0">
                          <a:solidFill>
                            <a:srgbClr val="1F2937"/>
                          </a:solidFill>
                        </a:rPr>
                        <a:t>수 </a:t>
                      </a:r>
                      <a:pPr indent="0" marL="0">
                        <a:buNone/>
                      </a:pPr>
                      <a:r>
                        <a:rPr lang="en-US" sz="1100" dirty="0">
                          <a:solidFill>
                            <a:srgbClr val="1F2937"/>
                          </a:solidFill>
                        </a:rPr>
                        <a:t>있는 </a:t>
                      </a:r>
                      <a:pPr indent="0" marL="0">
                        <a:buNone/>
                      </a:pPr>
                      <a:r>
                        <a:rPr lang="en-US" sz="1100" dirty="0">
                          <a:solidFill>
                            <a:srgbClr val="1F2937"/>
                          </a:solidFill>
                        </a:rPr>
                        <a:t>자동 </a:t>
                      </a:r>
                      <a:pPr indent="0" marL="0">
                        <a:buNone/>
                      </a:pPr>
                      <a:r>
                        <a:rPr lang="en-US" sz="1100" dirty="0">
                          <a:solidFill>
                            <a:srgbClr val="1F2937"/>
                          </a:solidFill>
                        </a:rPr>
                        <a:t>시나리오 </a:t>
                      </a:r>
                      <a:pPr indent="0" marL="0">
                        <a:buNone/>
                      </a:pPr>
                      <a:r>
                        <a:rPr lang="en-US" sz="1100" dirty="0">
                          <a:solidFill>
                            <a:srgbClr val="1F2937"/>
                          </a:solidFill>
                        </a:rPr>
                        <a:t>제안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 테스트 범위</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4.1 테스트 대상</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우선순위는 테스트 실행 순서를 정하기 위한 제안입니다. 회의에서 P0·P1 등의 우선순위 체계를 합의한 것은 아닙니다.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4.1 테스트 대상 (1/2)</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214203"/>
                <a:gridCol w="4047344"/>
                <a:gridCol w="944380"/>
                <a:gridCol w="2023672"/>
              </a:tblGrid>
              <a:tr h="0">
                <a:tc>
                  <a:txBody>
                    <a:bodyPr/>
                    <a:lstStyle/>
                    <a:p>
                      <a:pPr indent="0" marL="0">
                        <a:buNone/>
                      </a:pPr>
                      <a:r>
                        <a:rPr lang="en-US" sz="1200" b="1" dirty="0">
                          <a:solidFill>
                            <a:srgbClr val="FFFFFF"/>
                          </a:solidFill>
                        </a:rPr>
                        <a:t>기능 </a:t>
                      </a:r>
                      <a:pPr indent="0" marL="0">
                        <a:buNone/>
                      </a:pPr>
                      <a:r>
                        <a:rPr lang="en-US" sz="1200" b="1" dirty="0">
                          <a:solidFill>
                            <a:srgbClr val="FFFFFF"/>
                          </a:solidFill>
                        </a:rPr>
                        <a:t>영역</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상세 </a:t>
                      </a:r>
                      <a:pPr indent="0" marL="0">
                        <a:buNone/>
                      </a:pPr>
                      <a:r>
                        <a:rPr lang="en-US" sz="1200" b="1" dirty="0">
                          <a:solidFill>
                            <a:srgbClr val="FFFFFF"/>
                          </a:solidFill>
                        </a:rPr>
                        <a:t>기능</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우선순위 </a:t>
                      </a:r>
                      <a:pPr indent="0" marL="0">
                        <a:buNone/>
                      </a:pPr>
                      <a:r>
                        <a:rPr lang="en-US" sz="1200" b="1" dirty="0">
                          <a:solidFill>
                            <a:srgbClr val="FFFFFF"/>
                          </a:solidFill>
                        </a:rPr>
                        <a:t>제안</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테스트 </a:t>
                      </a:r>
                      <a:pPr indent="0" marL="0">
                        <a:buNone/>
                      </a:pPr>
                      <a:r>
                        <a:rPr lang="en-US" sz="1200" b="1" dirty="0">
                          <a:solidFill>
                            <a:srgbClr val="FFFFFF"/>
                          </a:solidFill>
                        </a:rPr>
                        <a:t>유형</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인증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로그인 </a:t>
                      </a:r>
                      <a:pPr indent="0" marL="0">
                        <a:buNone/>
                      </a:pPr>
                      <a:r>
                        <a:rPr lang="en-US" sz="1100" dirty="0">
                          <a:solidFill>
                            <a:srgbClr val="1F2937"/>
                          </a:solidFill>
                        </a:rPr>
                        <a:t>및 </a:t>
                      </a:r>
                      <a:pPr indent="0" marL="0">
                        <a:buNone/>
                      </a:pPr>
                      <a:r>
                        <a:rPr lang="en-US" sz="1100" dirty="0">
                          <a:solidFill>
                            <a:srgbClr val="1F2937"/>
                          </a:solidFill>
                        </a:rPr>
                        <a:t>유효한 </a:t>
                      </a:r>
                      <a:pPr indent="0" marL="0">
                        <a:buNone/>
                      </a:pPr>
                      <a:r>
                        <a:rPr lang="en-US" sz="1100" dirty="0">
                          <a:solidFill>
                            <a:srgbClr val="1F2937"/>
                          </a:solidFill>
                        </a:rPr>
                        <a:t>자격 </a:t>
                      </a:r>
                      <a:pPr indent="0" marL="0">
                        <a:buNone/>
                      </a:pPr>
                      <a:r>
                        <a:rPr lang="en-US" sz="1100" dirty="0">
                          <a:solidFill>
                            <a:srgbClr val="1F2937"/>
                          </a:solidFill>
                        </a:rPr>
                        <a:t>정보 </a:t>
                      </a:r>
                      <a:pPr indent="0" marL="0">
                        <a:buNone/>
                      </a:pPr>
                      <a:r>
                        <a:rPr lang="en-US" sz="1100" dirty="0">
                          <a:solidFill>
                            <a:srgbClr val="1F2937"/>
                          </a:solidFill>
                        </a:rPr>
                        <a:t>처리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단위, </a:t>
                      </a:r>
                      <a:pPr indent="0" marL="0">
                        <a:buNone/>
                      </a:pPr>
                      <a:r>
                        <a:rPr lang="en-US" sz="1100" dirty="0">
                          <a:solidFill>
                            <a:srgbClr val="1F2937"/>
                          </a:solidFill>
                        </a:rPr>
                        <a:t>통합, </a:t>
                      </a:r>
                      <a:pPr indent="0" marL="0">
                        <a:buNone/>
                      </a:pPr>
                      <a:r>
                        <a:rPr lang="en-US" sz="1100" dirty="0">
                          <a:solidFill>
                            <a:srgbClr val="1F2937"/>
                          </a:solidFill>
                        </a:rPr>
                        <a:t>E2E, </a:t>
                      </a:r>
                      <a:pPr indent="0" marL="0">
                        <a:buNone/>
                      </a:pPr>
                      <a:r>
                        <a:rPr lang="en-US" sz="1100" dirty="0">
                          <a:solidFill>
                            <a:srgbClr val="1F2937"/>
                          </a:solidFill>
                        </a:rPr>
                        <a:t>보안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인증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잘못된 </a:t>
                      </a:r>
                      <a:pPr indent="0" marL="0">
                        <a:buNone/>
                      </a:pPr>
                      <a:r>
                        <a:rPr lang="en-US" sz="1100" dirty="0">
                          <a:solidFill>
                            <a:srgbClr val="1F2937"/>
                          </a:solidFill>
                        </a:rPr>
                        <a:t>입력과 </a:t>
                      </a:r>
                      <a:pPr indent="0" marL="0">
                        <a:buNone/>
                      </a:pPr>
                      <a:r>
                        <a:rPr lang="en-US" sz="1100" dirty="0">
                          <a:solidFill>
                            <a:srgbClr val="1F2937"/>
                          </a:solidFill>
                        </a:rPr>
                        <a:t>인증 </a:t>
                      </a:r>
                      <a:pPr indent="0" marL="0">
                        <a:buNone/>
                      </a:pPr>
                      <a:r>
                        <a:rPr lang="en-US" sz="1100" dirty="0">
                          <a:solidFill>
                            <a:srgbClr val="1F2937"/>
                          </a:solidFill>
                        </a:rPr>
                        <a:t>실패 </a:t>
                      </a:r>
                      <a:pPr indent="0" marL="0">
                        <a:buNone/>
                      </a:pPr>
                      <a:r>
                        <a:rPr lang="en-US" sz="1100" dirty="0">
                          <a:solidFill>
                            <a:srgbClr val="1F2937"/>
                          </a:solidFill>
                        </a:rPr>
                        <a:t>처리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단위, </a:t>
                      </a:r>
                      <a:pPr indent="0" marL="0">
                        <a:buNone/>
                      </a:pPr>
                      <a:r>
                        <a:rPr lang="en-US" sz="1100" dirty="0">
                          <a:solidFill>
                            <a:srgbClr val="1F2937"/>
                          </a:solidFill>
                        </a:rPr>
                        <a:t>통합, </a:t>
                      </a:r>
                      <a:pPr indent="0" marL="0">
                        <a:buNone/>
                      </a:pPr>
                      <a:r>
                        <a:rPr lang="en-US" sz="1100" dirty="0">
                          <a:solidFill>
                            <a:srgbClr val="1F2937"/>
                          </a:solidFill>
                        </a:rPr>
                        <a:t>E2E, </a:t>
                      </a:r>
                      <a:pPr indent="0" marL="0">
                        <a:buNone/>
                      </a:pPr>
                      <a:r>
                        <a:rPr lang="en-US" sz="1100" dirty="0">
                          <a:solidFill>
                            <a:srgbClr val="1F2937"/>
                          </a:solidFill>
                        </a:rPr>
                        <a:t>보안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회의록 </a:t>
                      </a:r>
                      <a:pPr indent="0" marL="0">
                        <a:buNone/>
                      </a:pPr>
                      <a:r>
                        <a:rPr lang="en-US" sz="1100" dirty="0">
                          <a:solidFill>
                            <a:srgbClr val="1F2937"/>
                          </a:solidFill>
                        </a:rPr>
                        <a:t>입력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회의록 </a:t>
                      </a:r>
                      <a:pPr indent="0" marL="0">
                        <a:buNone/>
                      </a:pPr>
                      <a:r>
                        <a:rPr lang="en-US" sz="1100" dirty="0">
                          <a:solidFill>
                            <a:srgbClr val="1F2937"/>
                          </a:solidFill>
                        </a:rPr>
                        <a:t>입력과 </a:t>
                      </a:r>
                      <a:pPr indent="0" marL="0">
                        <a:buNone/>
                      </a:pPr>
                      <a:r>
                        <a:rPr lang="en-US" sz="1100" dirty="0">
                          <a:solidFill>
                            <a:srgbClr val="1F2937"/>
                          </a:solidFill>
                        </a:rPr>
                        <a:t>화면 </a:t>
                      </a:r>
                      <a:pPr indent="0" marL="0">
                        <a:buNone/>
                      </a:pPr>
                      <a:r>
                        <a:rPr lang="en-US" sz="1100" dirty="0">
                          <a:solidFill>
                            <a:srgbClr val="1F2937"/>
                          </a:solidFill>
                        </a:rPr>
                        <a:t>표시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단위, </a:t>
                      </a:r>
                      <a:pPr indent="0" marL="0">
                        <a:buNone/>
                      </a:pPr>
                      <a:r>
                        <a:rPr lang="en-US" sz="1100" dirty="0">
                          <a:solidFill>
                            <a:srgbClr val="1F2937"/>
                          </a:solidFill>
                        </a:rPr>
                        <a:t>통합, </a:t>
                      </a:r>
                      <a:pPr indent="0" marL="0">
                        <a:buNone/>
                      </a:pPr>
                      <a:r>
                        <a:rPr lang="en-US" sz="1100" dirty="0">
                          <a:solidFill>
                            <a:srgbClr val="1F2937"/>
                          </a:solidFill>
                        </a:rPr>
                        <a:t>E2E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문서 </a:t>
                      </a:r>
                      <a:pPr indent="0" marL="0">
                        <a:buNone/>
                      </a:pPr>
                      <a:r>
                        <a:rPr lang="en-US" sz="1100" dirty="0">
                          <a:solidFill>
                            <a:srgbClr val="1F2937"/>
                          </a:solidFill>
                        </a:rPr>
                        <a:t>생성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입력 </a:t>
                      </a:r>
                      <a:pPr indent="0" marL="0">
                        <a:buNone/>
                      </a:pPr>
                      <a:r>
                        <a:rPr lang="en-US" sz="1100" dirty="0">
                          <a:solidFill>
                            <a:srgbClr val="1F2937"/>
                          </a:solidFill>
                        </a:rPr>
                        <a:t>내용을 </a:t>
                      </a:r>
                      <a:pPr indent="0" marL="0">
                        <a:buNone/>
                      </a:pPr>
                      <a:r>
                        <a:rPr lang="en-US" sz="1100" dirty="0">
                          <a:solidFill>
                            <a:srgbClr val="1F2937"/>
                          </a:solidFill>
                        </a:rPr>
                        <a:t>바탕으로 </a:t>
                      </a:r>
                      <a:pPr indent="0" marL="0">
                        <a:buNone/>
                      </a:pPr>
                      <a:r>
                        <a:rPr lang="en-US" sz="1100" dirty="0">
                          <a:solidFill>
                            <a:srgbClr val="1F2937"/>
                          </a:solidFill>
                        </a:rPr>
                        <a:t>문서 </a:t>
                      </a:r>
                      <a:pPr indent="0" marL="0">
                        <a:buNone/>
                      </a:pPr>
                      <a:r>
                        <a:rPr lang="en-US" sz="1100" dirty="0">
                          <a:solidFill>
                            <a:srgbClr val="1F2937"/>
                          </a:solidFill>
                        </a:rPr>
                        <a:t>생성 </a:t>
                      </a:r>
                      <a:pPr indent="0" marL="0">
                        <a:buNone/>
                      </a:pPr>
                      <a:r>
                        <a:rPr lang="en-US" sz="1100" dirty="0">
                          <a:solidFill>
                            <a:srgbClr val="1F2937"/>
                          </a:solidFill>
                        </a:rPr>
                        <a:t>시작·완료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단위, </a:t>
                      </a:r>
                      <a:pPr indent="0" marL="0">
                        <a:buNone/>
                      </a:pPr>
                      <a:r>
                        <a:rPr lang="en-US" sz="1100" dirty="0">
                          <a:solidFill>
                            <a:srgbClr val="1F2937"/>
                          </a:solidFill>
                        </a:rPr>
                        <a:t>통합, </a:t>
                      </a:r>
                      <a:pPr indent="0" marL="0">
                        <a:buNone/>
                      </a:pPr>
                      <a:r>
                        <a:rPr lang="en-US" sz="1100" dirty="0">
                          <a:solidFill>
                            <a:srgbClr val="1F2937"/>
                          </a:solidFill>
                        </a:rPr>
                        <a:t>E2E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섹션 </a:t>
                      </a:r>
                      <a:pPr indent="0" marL="0">
                        <a:buNone/>
                      </a:pPr>
                      <a:r>
                        <a:rPr lang="en-US" sz="1100" dirty="0">
                          <a:solidFill>
                            <a:srgbClr val="1F2937"/>
                          </a:solidFill>
                        </a:rPr>
                        <a:t>저장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완료된 </a:t>
                      </a:r>
                      <a:pPr indent="0" marL="0">
                        <a:buNone/>
                      </a:pPr>
                      <a:r>
                        <a:rPr lang="en-US" sz="1100" dirty="0">
                          <a:solidFill>
                            <a:srgbClr val="1F2937"/>
                          </a:solidFill>
                        </a:rPr>
                        <a:t>섹션을 </a:t>
                      </a:r>
                      <a:pPr indent="0" marL="0">
                        <a:buNone/>
                      </a:pPr>
                      <a:r>
                        <a:rPr lang="en-US" sz="1100" dirty="0">
                          <a:solidFill>
                            <a:srgbClr val="1F2937"/>
                          </a:solidFill>
                        </a:rPr>
                        <a:t>기기에 </a:t>
                      </a:r>
                      <a:pPr indent="0" marL="0">
                        <a:buNone/>
                      </a:pPr>
                      <a:r>
                        <a:rPr lang="en-US" sz="1100" dirty="0">
                          <a:solidFill>
                            <a:srgbClr val="1F2937"/>
                          </a:solidFill>
                        </a:rPr>
                        <a:t>저장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최우선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단위, </a:t>
                      </a:r>
                      <a:pPr indent="0" marL="0">
                        <a:buNone/>
                      </a:pPr>
                      <a:r>
                        <a:rPr lang="en-US" sz="1100" dirty="0">
                          <a:solidFill>
                            <a:srgbClr val="1F2937"/>
                          </a:solidFill>
                        </a:rPr>
                        <a:t>통합, </a:t>
                      </a:r>
                      <a:pPr indent="0" marL="0">
                        <a:buNone/>
                      </a:pPr>
                      <a:r>
                        <a:rPr lang="en-US" sz="1100" dirty="0">
                          <a:solidFill>
                            <a:srgbClr val="1F2937"/>
                          </a:solidFill>
                        </a:rPr>
                        <a:t>E2E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생성 </a:t>
                      </a:r>
                      <a:pPr indent="0" marL="0">
                        <a:buNone/>
                      </a:pPr>
                      <a:r>
                        <a:rPr lang="en-US" sz="1100" dirty="0">
                          <a:solidFill>
                            <a:srgbClr val="1F2937"/>
                          </a:solidFill>
                        </a:rPr>
                        <a:t>재개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재방문 </a:t>
                      </a:r>
                      <a:pPr indent="0" marL="0">
                        <a:buNone/>
                      </a:pPr>
                      <a:r>
                        <a:rPr lang="en-US" sz="1100" dirty="0">
                          <a:solidFill>
                            <a:srgbClr val="1F2937"/>
                          </a:solidFill>
                        </a:rPr>
                        <a:t>후 </a:t>
                      </a:r>
                      <a:pPr indent="0" marL="0">
                        <a:buNone/>
                      </a:pPr>
                      <a:r>
                        <a:rPr lang="en-US" sz="1100" dirty="0">
                          <a:solidFill>
                            <a:srgbClr val="1F2937"/>
                          </a:solidFill>
                        </a:rPr>
                        <a:t>저장된 </a:t>
                      </a:r>
                      <a:pPr indent="0" marL="0">
                        <a:buNone/>
                      </a:pPr>
                      <a:r>
                        <a:rPr lang="en-US" sz="1100" dirty="0">
                          <a:solidFill>
                            <a:srgbClr val="1F2937"/>
                          </a:solidFill>
                        </a:rPr>
                        <a:t>섹션을 </a:t>
                      </a:r>
                      <a:pPr indent="0" marL="0">
                        <a:buNone/>
                      </a:pPr>
                      <a:r>
                        <a:rPr lang="en-US" sz="1100" dirty="0">
                          <a:solidFill>
                            <a:srgbClr val="1F2937"/>
                          </a:solidFill>
                        </a:rPr>
                        <a:t>재사용해 </a:t>
                      </a:r>
                      <a:pPr indent="0" marL="0">
                        <a:buNone/>
                      </a:pPr>
                      <a:r>
                        <a:rPr lang="en-US" sz="1100" dirty="0">
                          <a:solidFill>
                            <a:srgbClr val="1F2937"/>
                          </a:solidFill>
                        </a:rPr>
                        <a:t>이어서 </a:t>
                      </a:r>
                      <a:pPr indent="0" marL="0">
                        <a:buNone/>
                      </a:pPr>
                      <a:r>
                        <a:rPr lang="en-US" sz="1100" dirty="0">
                          <a:solidFill>
                            <a:srgbClr val="1F2937"/>
                          </a:solidFill>
                        </a:rPr>
                        <a:t>생성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최우선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통합, </a:t>
                      </a:r>
                      <a:pPr indent="0" marL="0">
                        <a:buNone/>
                      </a:pPr>
                      <a:r>
                        <a:rPr lang="en-US" sz="1100" dirty="0">
                          <a:solidFill>
                            <a:srgbClr val="1F2937"/>
                          </a:solidFill>
                        </a:rPr>
                        <a:t>E2E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생성 </a:t>
                      </a:r>
                      <a:pPr indent="0" marL="0">
                        <a:buNone/>
                      </a:pPr>
                      <a:r>
                        <a:rPr lang="en-US" sz="1100" dirty="0">
                          <a:solidFill>
                            <a:srgbClr val="1F2937"/>
                          </a:solidFill>
                        </a:rPr>
                        <a:t>중단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화면을 </a:t>
                      </a:r>
                      <a:pPr indent="0" marL="0">
                        <a:buNone/>
                      </a:pPr>
                      <a:r>
                        <a:rPr lang="en-US" sz="1100" dirty="0">
                          <a:solidFill>
                            <a:srgbClr val="1F2937"/>
                          </a:solidFill>
                        </a:rPr>
                        <a:t>벗어나는 </a:t>
                      </a:r>
                      <a:pPr indent="0" marL="0">
                        <a:buNone/>
                      </a:pPr>
                      <a:r>
                        <a:rPr lang="en-US" sz="1100" dirty="0">
                          <a:solidFill>
                            <a:srgbClr val="1F2937"/>
                          </a:solidFill>
                        </a:rPr>
                        <a:t>상황에서 </a:t>
                      </a:r>
                      <a:pPr indent="0" marL="0">
                        <a:buNone/>
                      </a:pPr>
                      <a:r>
                        <a:rPr lang="en-US" sz="1100" dirty="0">
                          <a:solidFill>
                            <a:srgbClr val="1F2937"/>
                          </a:solidFill>
                        </a:rPr>
                        <a:t>동작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최우선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통합, </a:t>
                      </a:r>
                      <a:pPr indent="0" marL="0">
                        <a:buNone/>
                      </a:pPr>
                      <a:r>
                        <a:rPr lang="en-US" sz="1100" dirty="0">
                          <a:solidFill>
                            <a:srgbClr val="1F2937"/>
                          </a:solidFill>
                        </a:rPr>
                        <a:t>E2E, </a:t>
                      </a:r>
                      <a:pPr indent="0" marL="0">
                        <a:buNone/>
                      </a:pPr>
                      <a:r>
                        <a:rPr lang="en-US" sz="1100" dirty="0">
                          <a:solidFill>
                            <a:srgbClr val="1F2937"/>
                          </a:solidFill>
                        </a:rPr>
                        <a:t>호환성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생성 </a:t>
                      </a:r>
                      <a:pPr indent="0" marL="0">
                        <a:buNone/>
                      </a:pPr>
                      <a:r>
                        <a:rPr lang="en-US" sz="1100" dirty="0">
                          <a:solidFill>
                            <a:srgbClr val="1F2937"/>
                          </a:solidFill>
                        </a:rPr>
                        <a:t>취소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사용자의 </a:t>
                      </a:r>
                      <a:pPr indent="0" marL="0">
                        <a:buNone/>
                      </a:pPr>
                      <a:r>
                        <a:rPr lang="en-US" sz="1100" dirty="0">
                          <a:solidFill>
                            <a:srgbClr val="1F2937"/>
                          </a:solidFill>
                        </a:rPr>
                        <a:t>취소 </a:t>
                      </a:r>
                      <a:pPr indent="0" marL="0">
                        <a:buNone/>
                      </a:pPr>
                      <a:r>
                        <a:rPr lang="en-US" sz="1100" dirty="0">
                          <a:solidFill>
                            <a:srgbClr val="1F2937"/>
                          </a:solidFill>
                        </a:rPr>
                        <a:t>동작 </a:t>
                      </a:r>
                      <a:pPr indent="0" marL="0">
                        <a:buNone/>
                      </a:pPr>
                      <a:r>
                        <a:rPr lang="en-US" sz="1100" dirty="0">
                          <a:solidFill>
                            <a:srgbClr val="1F2937"/>
                          </a:solidFill>
                        </a:rPr>
                        <a:t>반영</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최우선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단위, </a:t>
                      </a:r>
                      <a:pPr indent="0" marL="0">
                        <a:buNone/>
                      </a:pPr>
                      <a:r>
                        <a:rPr lang="en-US" sz="1100" dirty="0">
                          <a:solidFill>
                            <a:srgbClr val="1F2937"/>
                          </a:solidFill>
                        </a:rPr>
                        <a:t>통합, </a:t>
                      </a:r>
                      <a:pPr indent="0" marL="0">
                        <a:buNone/>
                      </a:pPr>
                      <a:r>
                        <a:rPr lang="en-US" sz="1100" dirty="0">
                          <a:solidFill>
                            <a:srgbClr val="1F2937"/>
                          </a:solidFill>
                        </a:rPr>
                        <a:t>E2E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이전 </a:t>
                      </a:r>
                      <a:pPr indent="0" marL="0">
                        <a:buNone/>
                      </a:pPr>
                      <a:r>
                        <a:rPr lang="en-US" sz="1100" dirty="0">
                          <a:solidFill>
                            <a:srgbClr val="1F2937"/>
                          </a:solidFill>
                        </a:rPr>
                        <a:t>응답 </a:t>
                      </a:r>
                      <a:pPr indent="0" marL="0">
                        <a:buNone/>
                      </a:pPr>
                      <a:r>
                        <a:rPr lang="en-US" sz="1100" dirty="0">
                          <a:solidFill>
                            <a:srgbClr val="1F2937"/>
                          </a:solidFill>
                        </a:rPr>
                        <a:t>처리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취소 </a:t>
                      </a:r>
                      <a:pPr indent="0" marL="0">
                        <a:buNone/>
                      </a:pPr>
                      <a:r>
                        <a:rPr lang="en-US" sz="1100" dirty="0">
                          <a:solidFill>
                            <a:srgbClr val="1F2937"/>
                          </a:solidFill>
                        </a:rPr>
                        <a:t>후 </a:t>
                      </a:r>
                      <a:pPr indent="0" marL="0">
                        <a:buNone/>
                      </a:pPr>
                      <a:r>
                        <a:rPr lang="en-US" sz="1100" dirty="0">
                          <a:solidFill>
                            <a:srgbClr val="1F2937"/>
                          </a:solidFill>
                        </a:rPr>
                        <a:t>늦게 </a:t>
                      </a:r>
                      <a:pPr indent="0" marL="0">
                        <a:buNone/>
                      </a:pPr>
                      <a:r>
                        <a:rPr lang="en-US" sz="1100" dirty="0">
                          <a:solidFill>
                            <a:srgbClr val="1F2937"/>
                          </a:solidFill>
                        </a:rPr>
                        <a:t>도착한 </a:t>
                      </a:r>
                      <a:pPr indent="0" marL="0">
                        <a:buNone/>
                      </a:pPr>
                      <a:r>
                        <a:rPr lang="en-US" sz="1100" dirty="0">
                          <a:solidFill>
                            <a:srgbClr val="1F2937"/>
                          </a:solidFill>
                        </a:rPr>
                        <a:t>이전 </a:t>
                      </a:r>
                      <a:pPr indent="0" marL="0">
                        <a:buNone/>
                      </a:pPr>
                      <a:r>
                        <a:rPr lang="en-US" sz="1100" dirty="0">
                          <a:solidFill>
                            <a:srgbClr val="1F2937"/>
                          </a:solidFill>
                        </a:rPr>
                        <a:t>응답이 </a:t>
                      </a:r>
                      <a:pPr indent="0" marL="0">
                        <a:buNone/>
                      </a:pPr>
                      <a:r>
                        <a:rPr lang="en-US" sz="1100" dirty="0">
                          <a:solidFill>
                            <a:srgbClr val="1F2937"/>
                          </a:solidFill>
                        </a:rPr>
                        <a:t>반영되지 </a:t>
                      </a:r>
                      <a:pPr indent="0" marL="0">
                        <a:buNone/>
                      </a:pPr>
                      <a:r>
                        <a:rPr lang="en-US" sz="1100" dirty="0">
                          <a:solidFill>
                            <a:srgbClr val="1F2937"/>
                          </a:solidFill>
                        </a:rPr>
                        <a:t>않는지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최우선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단위, </a:t>
                      </a:r>
                      <a:pPr indent="0" marL="0">
                        <a:buNone/>
                      </a:pPr>
                      <a:r>
                        <a:rPr lang="en-US" sz="1100" dirty="0">
                          <a:solidFill>
                            <a:srgbClr val="1F2937"/>
                          </a:solidFill>
                        </a:rPr>
                        <a:t>통합, </a:t>
                      </a:r>
                      <a:pPr indent="0" marL="0">
                        <a:buNone/>
                      </a:pPr>
                      <a:r>
                        <a:rPr lang="en-US" sz="1100" dirty="0">
                          <a:solidFill>
                            <a:srgbClr val="1F2937"/>
                          </a:solidFill>
                        </a:rPr>
                        <a:t>E2E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Word </a:t>
                      </a:r>
                      <a:pPr indent="0" marL="0">
                        <a:buNone/>
                      </a:pPr>
                      <a:r>
                        <a:rPr lang="en-US" sz="1100" dirty="0">
                          <a:solidFill>
                            <a:srgbClr val="1F2937"/>
                          </a:solidFill>
                        </a:rPr>
                        <a:t>내려받기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생성된 </a:t>
                      </a:r>
                      <a:pPr indent="0" marL="0">
                        <a:buNone/>
                      </a:pPr>
                      <a:r>
                        <a:rPr lang="en-US" sz="1100" dirty="0">
                          <a:solidFill>
                            <a:srgbClr val="1F2937"/>
                          </a:solidFill>
                        </a:rPr>
                        <a:t>문서 </a:t>
                      </a:r>
                      <a:pPr indent="0" marL="0">
                        <a:buNone/>
                      </a:pPr>
                      <a:r>
                        <a:rPr lang="en-US" sz="1100" dirty="0">
                          <a:solidFill>
                            <a:srgbClr val="1F2937"/>
                          </a:solidFill>
                        </a:rPr>
                        <a:t>내려받기 </a:t>
                      </a:r>
                      <a:pPr indent="0" marL="0">
                        <a:buNone/>
                      </a:pPr>
                      <a:r>
                        <a:rPr lang="en-US" sz="1100" dirty="0">
                          <a:solidFill>
                            <a:srgbClr val="1F2937"/>
                          </a:solidFill>
                        </a:rPr>
                        <a:t>및 </a:t>
                      </a:r>
                      <a:pPr indent="0" marL="0">
                        <a:buNone/>
                      </a:pPr>
                      <a:r>
                        <a:rPr lang="en-US" sz="1100" dirty="0">
                          <a:solidFill>
                            <a:srgbClr val="1F2937"/>
                          </a:solidFill>
                        </a:rPr>
                        <a:t>열기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통합, </a:t>
                      </a:r>
                      <a:pPr indent="0" marL="0">
                        <a:buNone/>
                      </a:pPr>
                      <a:r>
                        <a:rPr lang="en-US" sz="1100" dirty="0">
                          <a:solidFill>
                            <a:srgbClr val="1F2937"/>
                          </a:solidFill>
                        </a:rPr>
                        <a:t>E2E, </a:t>
                      </a:r>
                      <a:pPr indent="0" marL="0">
                        <a:buNone/>
                      </a:pPr>
                      <a:r>
                        <a:rPr lang="en-US" sz="1100" dirty="0">
                          <a:solidFill>
                            <a:srgbClr val="1F2937"/>
                          </a:solidFill>
                        </a:rPr>
                        <a:t>문서 </a:t>
                      </a:r>
                      <a:pPr indent="0" marL="0">
                        <a:buNone/>
                      </a:pPr>
                      <a:r>
                        <a:rPr lang="en-US" sz="1100" dirty="0">
                          <a:solidFill>
                            <a:srgbClr val="1F2937"/>
                          </a:solidFill>
                        </a:rPr>
                        <a:t>출력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PDF </a:t>
                      </a:r>
                      <a:pPr indent="0" marL="0">
                        <a:buNone/>
                      </a:pPr>
                      <a:r>
                        <a:rPr lang="en-US" sz="1100" dirty="0">
                          <a:solidFill>
                            <a:srgbClr val="1F2937"/>
                          </a:solidFill>
                        </a:rPr>
                        <a:t>내려받기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생성된 </a:t>
                      </a:r>
                      <a:pPr indent="0" marL="0">
                        <a:buNone/>
                      </a:pPr>
                      <a:r>
                        <a:rPr lang="en-US" sz="1100" dirty="0">
                          <a:solidFill>
                            <a:srgbClr val="1F2937"/>
                          </a:solidFill>
                        </a:rPr>
                        <a:t>문서 </a:t>
                      </a:r>
                      <a:pPr indent="0" marL="0">
                        <a:buNone/>
                      </a:pPr>
                      <a:r>
                        <a:rPr lang="en-US" sz="1100" dirty="0">
                          <a:solidFill>
                            <a:srgbClr val="1F2937"/>
                          </a:solidFill>
                        </a:rPr>
                        <a:t>내려받기 </a:t>
                      </a:r>
                      <a:pPr indent="0" marL="0">
                        <a:buNone/>
                      </a:pPr>
                      <a:r>
                        <a:rPr lang="en-US" sz="1100" dirty="0">
                          <a:solidFill>
                            <a:srgbClr val="1F2937"/>
                          </a:solidFill>
                        </a:rPr>
                        <a:t>및 </a:t>
                      </a:r>
                      <a:pPr indent="0" marL="0">
                        <a:buNone/>
                      </a:pPr>
                      <a:r>
                        <a:rPr lang="en-US" sz="1100" dirty="0">
                          <a:solidFill>
                            <a:srgbClr val="1F2937"/>
                          </a:solidFill>
                        </a:rPr>
                        <a:t>열기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통합, </a:t>
                      </a:r>
                      <a:pPr indent="0" marL="0">
                        <a:buNone/>
                      </a:pPr>
                      <a:r>
                        <a:rPr lang="en-US" sz="1100" dirty="0">
                          <a:solidFill>
                            <a:srgbClr val="1F2937"/>
                          </a:solidFill>
                        </a:rPr>
                        <a:t>E2E, </a:t>
                      </a:r>
                      <a:pPr indent="0" marL="0">
                        <a:buNone/>
                      </a:pPr>
                      <a:r>
                        <a:rPr lang="en-US" sz="1100" dirty="0">
                          <a:solidFill>
                            <a:srgbClr val="1F2937"/>
                          </a:solidFill>
                        </a:rPr>
                        <a:t>문서 </a:t>
                      </a:r>
                      <a:pPr indent="0" marL="0">
                        <a:buNone/>
                      </a:pPr>
                      <a:r>
                        <a:rPr lang="en-US" sz="1100" dirty="0">
                          <a:solidFill>
                            <a:srgbClr val="1F2937"/>
                          </a:solidFill>
                        </a:rPr>
                        <a:t>출력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4.1 테스트 대상 (2/2)</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045029"/>
                <a:gridCol w="4702629"/>
                <a:gridCol w="914400"/>
                <a:gridCol w="1567543"/>
              </a:tblGrid>
              <a:tr h="0">
                <a:tc>
                  <a:txBody>
                    <a:bodyPr/>
                    <a:lstStyle/>
                    <a:p>
                      <a:pPr indent="0" marL="0">
                        <a:buNone/>
                      </a:pPr>
                      <a:r>
                        <a:rPr lang="en-US" sz="1200" b="1" dirty="0">
                          <a:solidFill>
                            <a:srgbClr val="FFFFFF"/>
                          </a:solidFill>
                        </a:rPr>
                        <a:t>기능 </a:t>
                      </a:r>
                      <a:pPr indent="0" marL="0">
                        <a:buNone/>
                      </a:pPr>
                      <a:r>
                        <a:rPr lang="en-US" sz="1200" b="1" dirty="0">
                          <a:solidFill>
                            <a:srgbClr val="FFFFFF"/>
                          </a:solidFill>
                        </a:rPr>
                        <a:t>영역</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상세 </a:t>
                      </a:r>
                      <a:pPr indent="0" marL="0">
                        <a:buNone/>
                      </a:pPr>
                      <a:r>
                        <a:rPr lang="en-US" sz="1200" b="1" dirty="0">
                          <a:solidFill>
                            <a:srgbClr val="FFFFFF"/>
                          </a:solidFill>
                        </a:rPr>
                        <a:t>기능</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우선순위 </a:t>
                      </a:r>
                      <a:pPr indent="0" marL="0">
                        <a:buNone/>
                      </a:pPr>
                      <a:r>
                        <a:rPr lang="en-US" sz="1200" b="1" dirty="0">
                          <a:solidFill>
                            <a:srgbClr val="FFFFFF"/>
                          </a:solidFill>
                        </a:rPr>
                        <a:t>제안</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테스트 </a:t>
                      </a:r>
                      <a:pPr indent="0" marL="0">
                        <a:buNone/>
                      </a:pPr>
                      <a:r>
                        <a:rPr lang="en-US" sz="1200" b="1" dirty="0">
                          <a:solidFill>
                            <a:srgbClr val="FFFFFF"/>
                          </a:solidFill>
                        </a:rPr>
                        <a:t>유형</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표·다이어그램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Word와 </a:t>
                      </a:r>
                      <a:pPr indent="0" marL="0">
                        <a:buNone/>
                      </a:pPr>
                      <a:r>
                        <a:rPr lang="en-US" sz="1100" dirty="0">
                          <a:solidFill>
                            <a:srgbClr val="1F2937"/>
                          </a:solidFill>
                        </a:rPr>
                        <a:t>PDF에서 </a:t>
                      </a:r>
                      <a:pPr indent="0" marL="0">
                        <a:buNone/>
                      </a:pPr>
                      <a:r>
                        <a:rPr lang="en-US" sz="1100" dirty="0">
                          <a:solidFill>
                            <a:srgbClr val="1F2937"/>
                          </a:solidFill>
                        </a:rPr>
                        <a:t>표·다이어그램 </a:t>
                      </a:r>
                      <a:pPr indent="0" marL="0">
                        <a:buNone/>
                      </a:pPr>
                      <a:r>
                        <a:rPr lang="en-US" sz="1100" dirty="0">
                          <a:solidFill>
                            <a:srgbClr val="1F2937"/>
                          </a:solidFill>
                        </a:rPr>
                        <a:t>누락 </a:t>
                      </a:r>
                      <a:pPr indent="0" marL="0">
                        <a:buNone/>
                      </a:pPr>
                      <a:r>
                        <a:rPr lang="en-US" sz="1100" dirty="0">
                          <a:solidFill>
                            <a:srgbClr val="1F2937"/>
                          </a:solidFill>
                        </a:rPr>
                        <a:t>여부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최우선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E2E, </a:t>
                      </a:r>
                      <a:pPr indent="0" marL="0">
                        <a:buNone/>
                      </a:pPr>
                      <a:r>
                        <a:rPr lang="en-US" sz="1100" dirty="0">
                          <a:solidFill>
                            <a:srgbClr val="1F2937"/>
                          </a:solidFill>
                        </a:rPr>
                        <a:t>문서 </a:t>
                      </a:r>
                      <a:pPr indent="0" marL="0">
                        <a:buNone/>
                      </a:pPr>
                      <a:r>
                        <a:rPr lang="en-US" sz="1100" dirty="0">
                          <a:solidFill>
                            <a:srgbClr val="1F2937"/>
                          </a:solidFill>
                        </a:rPr>
                        <a:t>출력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서식 </a:t>
                      </a:r>
                      <a:pPr indent="0" marL="0">
                        <a:buNone/>
                      </a:pPr>
                      <a:r>
                        <a:rPr lang="en-US" sz="1100" dirty="0">
                          <a:solidFill>
                            <a:srgbClr val="1F2937"/>
                          </a:solidFill>
                        </a:rPr>
                        <a:t>통일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표지·목차·표 </a:t>
                      </a:r>
                      <a:pPr indent="0" marL="0">
                        <a:buNone/>
                      </a:pPr>
                      <a:r>
                        <a:rPr lang="en-US" sz="1100" dirty="0">
                          <a:solidFill>
                            <a:srgbClr val="1F2937"/>
                          </a:solidFill>
                        </a:rPr>
                        <a:t>스타일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문서 </a:t>
                      </a:r>
                      <a:pPr indent="0" marL="0">
                        <a:buNone/>
                      </a:pPr>
                      <a:r>
                        <a:rPr lang="en-US" sz="1100" dirty="0">
                          <a:solidFill>
                            <a:srgbClr val="1F2937"/>
                          </a:solidFill>
                        </a:rPr>
                        <a:t>출력, </a:t>
                      </a:r>
                      <a:pPr indent="0" marL="0">
                        <a:buNone/>
                      </a:pPr>
                      <a:r>
                        <a:rPr lang="en-US" sz="1100" dirty="0">
                          <a:solidFill>
                            <a:srgbClr val="1F2937"/>
                          </a:solidFill>
                        </a:rPr>
                        <a:t>사람 </a:t>
                      </a:r>
                      <a:pPr indent="0" marL="0">
                        <a:buNone/>
                      </a:pPr>
                      <a:r>
                        <a:rPr lang="en-US" sz="1100" dirty="0">
                          <a:solidFill>
                            <a:srgbClr val="1F2937"/>
                          </a:solidFill>
                        </a:rPr>
                        <a:t>검토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내용 </a:t>
                      </a:r>
                      <a:pPr indent="0" marL="0">
                        <a:buNone/>
                      </a:pPr>
                      <a:r>
                        <a:rPr lang="en-US" sz="1100" dirty="0">
                          <a:solidFill>
                            <a:srgbClr val="1F2937"/>
                          </a:solidFill>
                        </a:rPr>
                        <a:t>보존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서식 </a:t>
                      </a:r>
                      <a:pPr indent="0" marL="0">
                        <a:buNone/>
                      </a:pPr>
                      <a:r>
                        <a:rPr lang="en-US" sz="1100" dirty="0">
                          <a:solidFill>
                            <a:srgbClr val="1F2937"/>
                          </a:solidFill>
                        </a:rPr>
                        <a:t>적용 </a:t>
                      </a:r>
                      <a:pPr indent="0" marL="0">
                        <a:buNone/>
                      </a:pPr>
                      <a:r>
                        <a:rPr lang="en-US" sz="1100" dirty="0">
                          <a:solidFill>
                            <a:srgbClr val="1F2937"/>
                          </a:solidFill>
                        </a:rPr>
                        <a:t>과정에서 </a:t>
                      </a:r>
                      <a:pPr indent="0" marL="0">
                        <a:buNone/>
                      </a:pPr>
                      <a:r>
                        <a:rPr lang="en-US" sz="1100" dirty="0">
                          <a:solidFill>
                            <a:srgbClr val="1F2937"/>
                          </a:solidFill>
                        </a:rPr>
                        <a:t>원문 </a:t>
                      </a:r>
                      <a:pPr indent="0" marL="0">
                        <a:buNone/>
                      </a:pPr>
                      <a:r>
                        <a:rPr lang="en-US" sz="1100" dirty="0">
                          <a:solidFill>
                            <a:srgbClr val="1F2937"/>
                          </a:solidFill>
                        </a:rPr>
                        <a:t>내용이 </a:t>
                      </a:r>
                      <a:pPr indent="0" marL="0">
                        <a:buNone/>
                      </a:pPr>
                      <a:r>
                        <a:rPr lang="en-US" sz="1100" dirty="0">
                          <a:solidFill>
                            <a:srgbClr val="1F2937"/>
                          </a:solidFill>
                        </a:rPr>
                        <a:t>바뀌지 </a:t>
                      </a:r>
                      <a:pPr indent="0" marL="0">
                        <a:buNone/>
                      </a:pPr>
                      <a:r>
                        <a:rPr lang="en-US" sz="1100" dirty="0">
                          <a:solidFill>
                            <a:srgbClr val="1F2937"/>
                          </a:solidFill>
                        </a:rPr>
                        <a:t>않는지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통합, </a:t>
                      </a:r>
                      <a:pPr indent="0" marL="0">
                        <a:buNone/>
                      </a:pPr>
                      <a:r>
                        <a:rPr lang="en-US" sz="1100" dirty="0">
                          <a:solidFill>
                            <a:srgbClr val="1F2937"/>
                          </a:solidFill>
                        </a:rPr>
                        <a:t>문서 </a:t>
                      </a:r>
                      <a:pPr indent="0" marL="0">
                        <a:buNone/>
                      </a:pPr>
                      <a:r>
                        <a:rPr lang="en-US" sz="1100" dirty="0">
                          <a:solidFill>
                            <a:srgbClr val="1F2937"/>
                          </a:solidFill>
                        </a:rPr>
                        <a:t>출력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범위 </a:t>
                      </a:r>
                      <a:pPr indent="0" marL="0">
                        <a:buNone/>
                      </a:pPr>
                      <a:r>
                        <a:rPr lang="en-US" sz="1100" dirty="0">
                          <a:solidFill>
                            <a:srgbClr val="1F2937"/>
                          </a:solidFill>
                        </a:rPr>
                        <a:t>제외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공유 </a:t>
                      </a:r>
                      <a:pPr indent="0" marL="0">
                        <a:buNone/>
                      </a:pPr>
                      <a:r>
                        <a:rPr lang="en-US" sz="1100" dirty="0">
                          <a:solidFill>
                            <a:srgbClr val="1F2937"/>
                          </a:solidFill>
                        </a:rPr>
                        <a:t>링크 </a:t>
                      </a:r>
                      <a:pPr indent="0" marL="0">
                        <a:buNone/>
                      </a:pPr>
                      <a:r>
                        <a:rPr lang="en-US" sz="1100" dirty="0">
                          <a:solidFill>
                            <a:srgbClr val="1F2937"/>
                          </a:solidFill>
                        </a:rPr>
                        <a:t>및 </a:t>
                      </a:r>
                      <a:pPr indent="0" marL="0">
                        <a:buNone/>
                      </a:pPr>
                      <a:r>
                        <a:rPr lang="en-US" sz="1100" dirty="0">
                          <a:solidFill>
                            <a:srgbClr val="1F2937"/>
                          </a:solidFill>
                        </a:rPr>
                        <a:t>결제 </a:t>
                      </a:r>
                      <a:pPr indent="0" marL="0">
                        <a:buNone/>
                      </a:pPr>
                      <a:r>
                        <a:rPr lang="en-US" sz="1100" dirty="0">
                          <a:solidFill>
                            <a:srgbClr val="1F2937"/>
                          </a:solidFill>
                        </a:rPr>
                        <a:t>기능이 </a:t>
                      </a:r>
                      <a:pPr indent="0" marL="0">
                        <a:buNone/>
                      </a:pPr>
                      <a:r>
                        <a:rPr lang="en-US" sz="1100" dirty="0">
                          <a:solidFill>
                            <a:srgbClr val="1F2937"/>
                          </a:solidFill>
                        </a:rPr>
                        <a:t>이번 </a:t>
                      </a:r>
                      <a:pPr indent="0" marL="0">
                        <a:buNone/>
                      </a:pPr>
                      <a:r>
                        <a:rPr lang="en-US" sz="1100" dirty="0">
                          <a:solidFill>
                            <a:srgbClr val="1F2937"/>
                          </a:solidFill>
                        </a:rPr>
                        <a:t>MVP의 </a:t>
                      </a:r>
                      <a:pPr indent="0" marL="0">
                        <a:buNone/>
                      </a:pPr>
                      <a:r>
                        <a:rPr lang="en-US" sz="1100" dirty="0">
                          <a:solidFill>
                            <a:srgbClr val="1F2937"/>
                          </a:solidFill>
                        </a:rPr>
                        <a:t>시험 </a:t>
                      </a:r>
                      <a:pPr indent="0" marL="0">
                        <a:buNone/>
                      </a:pPr>
                      <a:r>
                        <a:rPr lang="en-US" sz="1100" dirty="0">
                          <a:solidFill>
                            <a:srgbClr val="1F2937"/>
                          </a:solidFill>
                        </a:rPr>
                        <a:t>범위에 </a:t>
                      </a:r>
                      <a:pPr indent="0" marL="0">
                        <a:buNone/>
                      </a:pPr>
                      <a:r>
                        <a:rPr lang="en-US" sz="1100" dirty="0">
                          <a:solidFill>
                            <a:srgbClr val="1F2937"/>
                          </a:solidFill>
                        </a:rPr>
                        <a:t>포함되지 </a:t>
                      </a:r>
                      <a:pPr indent="0" marL="0">
                        <a:buNone/>
                      </a:pPr>
                      <a:r>
                        <a:rPr lang="en-US" sz="1100" dirty="0">
                          <a:solidFill>
                            <a:srgbClr val="1F2937"/>
                          </a:solidFill>
                        </a:rPr>
                        <a:t>않도록 </a:t>
                      </a:r>
                      <a:pPr indent="0" marL="0">
                        <a:buNone/>
                      </a:pPr>
                      <a:r>
                        <a:rPr lang="en-US" sz="1100" dirty="0">
                          <a:solidFill>
                            <a:srgbClr val="1F2937"/>
                          </a:solidFill>
                        </a:rPr>
                        <a:t>관리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범위 </a:t>
                      </a:r>
                      <a:pPr indent="0" marL="0">
                        <a:buNone/>
                      </a:pPr>
                      <a:r>
                        <a:rPr lang="en-US" sz="1100" dirty="0">
                          <a:solidFill>
                            <a:srgbClr val="1F2937"/>
                          </a:solidFill>
                        </a:rPr>
                        <a:t>관리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요구사항 </a:t>
                      </a:r>
                      <a:pPr indent="0" marL="0">
                        <a:buNone/>
                      </a:pPr>
                      <a:r>
                        <a:rPr lang="en-US" sz="1100" dirty="0">
                          <a:solidFill>
                            <a:srgbClr val="1F2937"/>
                          </a:solidFill>
                        </a:rPr>
                        <a:t>검토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4.2 제외 범위</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공유 링크 기능. 이번 범위에서 제외하기로 한 사항입니다.</a:t>
            </a:r>
            <a:endParaRPr lang="en-US" sz="1600" dirty="0"/>
          </a:p>
          <a:p>
            <a:pPr indent="0" marL="0">
              <a:spcAft>
                <a:spcPts val="800"/>
              </a:spcAft>
              <a:buNone/>
            </a:pPr>
            <a:r>
              <a:rPr lang="en-US" sz="1600" dirty="0">
                <a:solidFill>
                  <a:srgbClr val="4B5563"/>
                </a:solidFill>
              </a:rPr>
              <a:t>☐ 결제 기능. 이번 범위에서 제외하기로 한 사항입니다.</a:t>
            </a:r>
            <a:endParaRPr lang="en-US" sz="1600" dirty="0"/>
          </a:p>
          <a:p>
            <a:pPr indent="0" marL="0">
              <a:spcAft>
                <a:spcPts val="800"/>
              </a:spcAft>
              <a:buNone/>
            </a:pPr>
            <a:r>
              <a:rPr lang="en-US" sz="1600" dirty="0">
                <a:solidFill>
                  <a:srgbClr val="4B5563"/>
                </a:solidFill>
              </a:rPr>
              <a:t>☐ 예산과 사용자 수 목표에 대한 성능 용량 승인. 회의에서 미정으로 확인되었으므로 목표 확정 전 수치 판정은 불가합니다.</a:t>
            </a:r>
            <a:endParaRPr lang="en-US" sz="1600" dirty="0"/>
          </a:p>
          <a:p>
            <a:pPr indent="0" marL="0">
              <a:spcAft>
                <a:spcPts val="800"/>
              </a:spcAft>
              <a:buNone/>
            </a:pPr>
            <a:r>
              <a:rPr lang="en-US" sz="1600" dirty="0">
                <a:solidFill>
                  <a:srgbClr val="4B5563"/>
                </a:solidFill>
              </a:rPr>
              <a:t>☐ 회의에서 언급되지 않은 회원 가입, 비밀번호 찾기, 프로필 관리, 회원 탈퇴 등의 기능. 기능 존재 여부와 요구사항을 추정해 포함하지 않습니다.</a:t>
            </a:r>
            <a:endParaRPr lang="en-US" sz="1600" dirty="0"/>
          </a:p>
          <a:p>
            <a:pPr indent="0" marL="0">
              <a:spcAft>
                <a:spcPts val="800"/>
              </a:spcAft>
              <a:buNone/>
            </a:pPr>
            <a:r>
              <a:rPr lang="en-US" sz="1600" dirty="0">
                <a:solidFill>
                  <a:srgbClr val="4B5563"/>
                </a:solidFill>
              </a:rPr>
              <a:t>☐ 제3자 서비스 내부 구현과 운영 환경의 백업·복구 절차. 관련 연동 또는 요구사항 여부가 확인되지 않아 이번 시험 범위에서 제외하는 것을 제안합니다.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4.3 테스트 배제 사항</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지원 브라우저·운영체제·기기가 정의되지 않은 상태에서 모든 조합을 대상으로 하는 호환성 검증. 지원 범위 확정 전 대상 선정은 추정 필요입니다.</a:t>
            </a:r>
            <a:endParaRPr lang="en-US" sz="1600" dirty="0"/>
          </a:p>
          <a:p>
            <a:pPr indent="0" marL="0">
              <a:spcAft>
                <a:spcPts val="800"/>
              </a:spcAft>
              <a:buNone/>
            </a:pPr>
            <a:r>
              <a:rPr lang="en-US" sz="1600" dirty="0">
                <a:solidFill>
                  <a:srgbClr val="4B5563"/>
                </a:solidFill>
              </a:rPr>
              <a:t>☐ 운영 데이터 사용 시험. 테스트 데이터와 개인정보 처리 방식이 확인되지 않아 사용 여부를 확정하지 않습니다.</a:t>
            </a:r>
            <a:endParaRPr lang="en-US" sz="1600" dirty="0"/>
          </a:p>
          <a:p>
            <a:pPr indent="0" marL="0">
              <a:spcAft>
                <a:spcPts val="800"/>
              </a:spcAft>
              <a:buNone/>
            </a:pPr>
            <a:r>
              <a:rPr lang="en-US" sz="1600" dirty="0">
                <a:solidFill>
                  <a:srgbClr val="4B5563"/>
                </a:solidFill>
              </a:rPr>
              <a:t>☐ 정해지지 않은 처리량·응답 시간 목표에 대한 합격 판정. 기준 수립 전에는 측정 결과만 기록하는 것을 제안합니다.</a:t>
            </a:r>
            <a:endParaRPr lang="en-US" sz="1600" dirty="0"/>
          </a:p>
          <a:p>
            <a:pPr indent="0" marL="0">
              <a:spcAft>
                <a:spcPts val="800"/>
              </a:spcAft>
              <a:buNone/>
            </a:pPr>
            <a:r>
              <a:rPr lang="en-US" sz="1600" dirty="0">
                <a:solidFill>
                  <a:srgbClr val="4B5563"/>
                </a:solidFill>
              </a:rPr>
              <a:t>☐ 외부 서비스 장애가 발생한 경우의 원인 규명과 복구 책임. 외부 서비스 사용 여부 및 계약 조건 확인 필요입니다.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5. 테스트 환경</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5.1 환경 구성</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회의에서 환경, 주소, 관리자, 데이터 정책은 정하지 않았습니다. 아래 표는 필요한 환경 항목을 정리한 제안이며, 실제 생성·접속 전 담당자와 구성을 확인해야 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5.1 환경 구성</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968188"/>
                <a:gridCol w="2057400"/>
                <a:gridCol w="726141"/>
                <a:gridCol w="2904565"/>
                <a:gridCol w="1573306"/>
              </a:tblGrid>
              <a:tr h="0">
                <a:tc>
                  <a:txBody>
                    <a:bodyPr/>
                    <a:lstStyle/>
                    <a:p>
                      <a:pPr indent="0" marL="0">
                        <a:buNone/>
                      </a:pPr>
                      <a:r>
                        <a:rPr lang="en-US" sz="1200" b="1" dirty="0">
                          <a:solidFill>
                            <a:srgbClr val="FFFFFF"/>
                          </a:solidFill>
                        </a:rPr>
                        <a:t>환경</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용도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주소</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데이터</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관리자</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개발자 </a:t>
                      </a:r>
                      <a:pPr indent="0" marL="0">
                        <a:buNone/>
                      </a:pPr>
                      <a:r>
                        <a:rPr lang="en-US" sz="1100" dirty="0">
                          <a:solidFill>
                            <a:srgbClr val="1F2937"/>
                          </a:solidFill>
                        </a:rPr>
                        <a:t>환경</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단위·기초 </a:t>
                      </a:r>
                      <a:pPr indent="0" marL="0">
                        <a:buNone/>
                      </a:pPr>
                      <a:r>
                        <a:rPr lang="en-US" sz="1100" dirty="0">
                          <a:solidFill>
                            <a:srgbClr val="1F2937"/>
                          </a:solidFill>
                        </a:rPr>
                        <a:t>기능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가상 </a:t>
                      </a:r>
                      <a:pPr indent="0" marL="0">
                        <a:buNone/>
                      </a:pPr>
                      <a:r>
                        <a:rPr lang="en-US" sz="1100" dirty="0">
                          <a:solidFill>
                            <a:srgbClr val="1F2937"/>
                          </a:solidFill>
                        </a:rPr>
                        <a:t>데이터 </a:t>
                      </a:r>
                      <a:pPr indent="0" marL="0">
                        <a:buNone/>
                      </a:pPr>
                      <a:r>
                        <a:rPr lang="en-US" sz="1100" dirty="0">
                          <a:solidFill>
                            <a:srgbClr val="1F2937"/>
                          </a:solidFill>
                        </a:rPr>
                        <a:t>권장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개발팀 </a:t>
                      </a:r>
                      <a:pPr indent="0" marL="0">
                        <a:buNone/>
                      </a:pPr>
                      <a:r>
                        <a:rPr lang="en-US" sz="1100" dirty="0">
                          <a:solidFill>
                            <a:srgbClr val="1F2937"/>
                          </a:solidFill>
                        </a:rPr>
                        <a:t>담당자 </a:t>
                      </a:r>
                      <a:pPr indent="0" marL="0">
                        <a:buNone/>
                      </a:pPr>
                      <a:r>
                        <a:rPr lang="en-US" sz="1100" dirty="0">
                          <a:solidFill>
                            <a:srgbClr val="1F2937"/>
                          </a:solidFill>
                        </a:rPr>
                        <a:t>지정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통합 </a:t>
                      </a:r>
                      <a:pPr indent="0" marL="0">
                        <a:buNone/>
                      </a:pPr>
                      <a:r>
                        <a:rPr lang="en-US" sz="1100" dirty="0">
                          <a:solidFill>
                            <a:srgbClr val="1F2937"/>
                          </a:solidFill>
                        </a:rPr>
                        <a:t>검증 </a:t>
                      </a:r>
                      <a:pPr indent="0" marL="0">
                        <a:buNone/>
                      </a:pPr>
                      <a:r>
                        <a:rPr lang="en-US" sz="1100" dirty="0">
                          <a:solidFill>
                            <a:srgbClr val="1F2937"/>
                          </a:solidFill>
                        </a:rPr>
                        <a:t>환경</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모듈 </a:t>
                      </a:r>
                      <a:pPr indent="0" marL="0">
                        <a:buNone/>
                      </a:pPr>
                      <a:r>
                        <a:rPr lang="en-US" sz="1100" dirty="0">
                          <a:solidFill>
                            <a:srgbClr val="1F2937"/>
                          </a:solidFill>
                        </a:rPr>
                        <a:t>연동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전용 </a:t>
                      </a:r>
                      <a:pPr indent="0" marL="0">
                        <a:buNone/>
                      </a:pPr>
                      <a:r>
                        <a:rPr lang="en-US" sz="1100" dirty="0">
                          <a:solidFill>
                            <a:srgbClr val="1F2937"/>
                          </a:solidFill>
                        </a:rPr>
                        <a:t>테스트 </a:t>
                      </a:r>
                      <a:pPr indent="0" marL="0">
                        <a:buNone/>
                      </a:pPr>
                      <a:r>
                        <a:rPr lang="en-US" sz="1100" dirty="0">
                          <a:solidFill>
                            <a:srgbClr val="1F2937"/>
                          </a:solidFill>
                        </a:rPr>
                        <a:t>데이터 </a:t>
                      </a:r>
                      <a:pPr indent="0" marL="0">
                        <a:buNone/>
                      </a:pPr>
                      <a:r>
                        <a:rPr lang="en-US" sz="1100" dirty="0">
                          <a:solidFill>
                            <a:srgbClr val="1F2937"/>
                          </a:solidFill>
                        </a:rPr>
                        <a:t>권장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담당자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사전 </a:t>
                      </a:r>
                      <a:pPr indent="0" marL="0">
                        <a:buNone/>
                      </a:pPr>
                      <a:r>
                        <a:rPr lang="en-US" sz="1100" dirty="0">
                          <a:solidFill>
                            <a:srgbClr val="1F2937"/>
                          </a:solidFill>
                        </a:rPr>
                        <a:t>검증 </a:t>
                      </a:r>
                      <a:pPr indent="0" marL="0">
                        <a:buNone/>
                      </a:pPr>
                      <a:r>
                        <a:rPr lang="en-US" sz="1100" dirty="0">
                          <a:solidFill>
                            <a:srgbClr val="1F2937"/>
                          </a:solidFill>
                        </a:rPr>
                        <a:t>환경</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QA </a:t>
                      </a:r>
                      <a:pPr indent="0" marL="0">
                        <a:buNone/>
                      </a:pPr>
                      <a:r>
                        <a:rPr lang="en-US" sz="1100" dirty="0">
                          <a:solidFill>
                            <a:srgbClr val="1F2937"/>
                          </a:solidFill>
                        </a:rPr>
                        <a:t>기능·회귀·문서 </a:t>
                      </a:r>
                      <a:pPr indent="0" marL="0">
                        <a:buNone/>
                      </a:pPr>
                      <a:r>
                        <a:rPr lang="en-US" sz="1100" dirty="0">
                          <a:solidFill>
                            <a:srgbClr val="1F2937"/>
                          </a:solidFill>
                        </a:rPr>
                        <a:t>출력 </a:t>
                      </a:r>
                      <a:pPr indent="0" marL="0">
                        <a:buNone/>
                      </a:pPr>
                      <a:r>
                        <a:rPr lang="en-US" sz="1100" dirty="0">
                          <a:solidFill>
                            <a:srgbClr val="1F2937"/>
                          </a:solidFill>
                        </a:rPr>
                        <a:t>검증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테스트 </a:t>
                      </a:r>
                      <a:pPr indent="0" marL="0">
                        <a:buNone/>
                      </a:pPr>
                      <a:r>
                        <a:rPr lang="en-US" sz="1100" dirty="0">
                          <a:solidFill>
                            <a:srgbClr val="1F2937"/>
                          </a:solidFill>
                        </a:rPr>
                        <a:t>데이터, </a:t>
                      </a:r>
                      <a:pPr indent="0" marL="0">
                        <a:buNone/>
                      </a:pPr>
                      <a:r>
                        <a:rPr lang="en-US" sz="1100" dirty="0">
                          <a:solidFill>
                            <a:srgbClr val="1F2937"/>
                          </a:solidFill>
                        </a:rPr>
                        <a:t>운영 </a:t>
                      </a:r>
                      <a:pPr indent="0" marL="0">
                        <a:buNone/>
                      </a:pPr>
                      <a:r>
                        <a:rPr lang="en-US" sz="1100" dirty="0">
                          <a:solidFill>
                            <a:srgbClr val="1F2937"/>
                          </a:solidFill>
                        </a:rPr>
                        <a:t>데이터 </a:t>
                      </a:r>
                      <a:pPr indent="0" marL="0">
                        <a:buNone/>
                      </a:pPr>
                      <a:r>
                        <a:rPr lang="en-US" sz="1100" dirty="0">
                          <a:solidFill>
                            <a:srgbClr val="1F2937"/>
                          </a:solidFill>
                        </a:rPr>
                        <a:t>사용 </a:t>
                      </a:r>
                      <a:pPr indent="0" marL="0">
                        <a:buNone/>
                      </a:pPr>
                      <a:r>
                        <a:rPr lang="en-US" sz="1100" dirty="0">
                          <a:solidFill>
                            <a:srgbClr val="1F2937"/>
                          </a:solidFill>
                        </a:rPr>
                        <a:t>금지 </a:t>
                      </a:r>
                      <a:pPr indent="0" marL="0">
                        <a:buNone/>
                      </a:pPr>
                      <a:r>
                        <a:rPr lang="en-US" sz="1100" dirty="0">
                          <a:solidFill>
                            <a:srgbClr val="1F2937"/>
                          </a:solidFill>
                        </a:rPr>
                        <a:t>권장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담당자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운영 </a:t>
                      </a:r>
                      <a:pPr indent="0" marL="0">
                        <a:buNone/>
                      </a:pPr>
                      <a:r>
                        <a:rPr lang="en-US" sz="1100" dirty="0">
                          <a:solidFill>
                            <a:srgbClr val="1F2937"/>
                          </a:solidFill>
                        </a:rPr>
                        <a:t>환경</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별도 </a:t>
                      </a:r>
                      <a:pPr indent="0" marL="0">
                        <a:buNone/>
                      </a:pPr>
                      <a:r>
                        <a:rPr lang="en-US" sz="1100" dirty="0">
                          <a:solidFill>
                            <a:srgbClr val="1F2937"/>
                          </a:solidFill>
                        </a:rPr>
                        <a:t>승인된 </a:t>
                      </a:r>
                      <a:pPr indent="0" marL="0">
                        <a:buNone/>
                      </a:pPr>
                      <a:r>
                        <a:rPr lang="en-US" sz="1100" dirty="0">
                          <a:solidFill>
                            <a:srgbClr val="1F2937"/>
                          </a:solidFill>
                        </a:rPr>
                        <a:t>운영 </a:t>
                      </a:r>
                      <a:pPr indent="0" marL="0">
                        <a:buNone/>
                      </a:pPr>
                      <a:r>
                        <a:rPr lang="en-US" sz="1100" dirty="0">
                          <a:solidFill>
                            <a:srgbClr val="1F2937"/>
                          </a:solidFill>
                        </a:rPr>
                        <a:t>점검만 </a:t>
                      </a:r>
                      <a:pPr indent="0" marL="0">
                        <a:buNone/>
                      </a:pPr>
                      <a:r>
                        <a:rPr lang="en-US" sz="1100" dirty="0">
                          <a:solidFill>
                            <a:srgbClr val="1F2937"/>
                          </a:solidFill>
                        </a:rPr>
                        <a:t>수행</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운영 </a:t>
                      </a:r>
                      <a:pPr indent="0" marL="0">
                        <a:buNone/>
                      </a:pPr>
                      <a:r>
                        <a:rPr lang="en-US" sz="1100" dirty="0">
                          <a:solidFill>
                            <a:srgbClr val="1F2937"/>
                          </a:solidFill>
                        </a:rPr>
                        <a:t>데이터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운영 </a:t>
                      </a:r>
                      <a:pPr indent="0" marL="0">
                        <a:buNone/>
                      </a:pPr>
                      <a:r>
                        <a:rPr lang="en-US" sz="1100" dirty="0">
                          <a:solidFill>
                            <a:srgbClr val="1F2937"/>
                          </a:solidFill>
                        </a:rPr>
                        <a:t>담당자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5.2 테스트 데이터</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아래 데이터 수량은 테스트 준비를 위한 제안이며 회의에서 정한 요구사항이 아닙니다. 실제 수량은 입력 길이 제한, 섹션 수, 파일 생성 방식, 지원 문서 구조를 확인한 뒤 조정합니다.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5.2 테스트 데이터</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961901"/>
                <a:gridCol w="3847605"/>
                <a:gridCol w="1389413"/>
                <a:gridCol w="2030681"/>
              </a:tblGrid>
              <a:tr h="0">
                <a:tc>
                  <a:txBody>
                    <a:bodyPr/>
                    <a:lstStyle/>
                    <a:p>
                      <a:pPr indent="0" marL="0">
                        <a:buNone/>
                      </a:pPr>
                      <a:r>
                        <a:rPr lang="en-US" sz="1200" b="1" dirty="0">
                          <a:solidFill>
                            <a:srgbClr val="FFFFFF"/>
                          </a:solidFill>
                        </a:rPr>
                        <a:t>데이터 </a:t>
                      </a:r>
                      <a:pPr indent="0" marL="0">
                        <a:buNone/>
                      </a:pPr>
                      <a:r>
                        <a:rPr lang="en-US" sz="1200" b="1" dirty="0">
                          <a:solidFill>
                            <a:srgbClr val="FFFFFF"/>
                          </a:solidFill>
                        </a:rPr>
                        <a:t>유형</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설명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준비 </a:t>
                      </a:r>
                      <a:pPr indent="0" marL="0">
                        <a:buNone/>
                      </a:pPr>
                      <a:r>
                        <a:rPr lang="en-US" sz="1200" b="1" dirty="0">
                          <a:solidFill>
                            <a:srgbClr val="FFFFFF"/>
                          </a:solidFill>
                        </a:rPr>
                        <a:t>수량 </a:t>
                      </a:r>
                      <a:pPr indent="0" marL="0">
                        <a:buNone/>
                      </a:pPr>
                      <a:r>
                        <a:rPr lang="en-US" sz="1200" b="1" dirty="0">
                          <a:solidFill>
                            <a:srgbClr val="FFFFFF"/>
                          </a:solidFill>
                        </a:rPr>
                        <a:t>제안</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준비 </a:t>
                      </a:r>
                      <a:pPr indent="0" marL="0">
                        <a:buNone/>
                      </a:pPr>
                      <a:r>
                        <a:rPr lang="en-US" sz="1200" b="1" dirty="0">
                          <a:solidFill>
                            <a:srgbClr val="FFFFFF"/>
                          </a:solidFill>
                        </a:rPr>
                        <a:t>방법</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정상 </a:t>
                      </a:r>
                      <a:pPr indent="0" marL="0">
                        <a:buNone/>
                      </a:pPr>
                      <a:r>
                        <a:rPr lang="en-US" sz="1100" dirty="0">
                          <a:solidFill>
                            <a:srgbClr val="1F2937"/>
                          </a:solidFill>
                        </a:rPr>
                        <a:t>데이터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짧은 </a:t>
                      </a:r>
                      <a:pPr indent="0" marL="0">
                        <a:buNone/>
                      </a:pPr>
                      <a:r>
                        <a:rPr lang="en-US" sz="1100" dirty="0">
                          <a:solidFill>
                            <a:srgbClr val="1F2937"/>
                          </a:solidFill>
                        </a:rPr>
                        <a:t>회의록, </a:t>
                      </a:r>
                      <a:pPr indent="0" marL="0">
                        <a:buNone/>
                      </a:pPr>
                      <a:r>
                        <a:rPr lang="en-US" sz="1100" dirty="0">
                          <a:solidFill>
                            <a:srgbClr val="1F2937"/>
                          </a:solidFill>
                        </a:rPr>
                        <a:t>여러 </a:t>
                      </a:r>
                      <a:pPr indent="0" marL="0">
                        <a:buNone/>
                      </a:pPr>
                      <a:r>
                        <a:rPr lang="en-US" sz="1100" dirty="0">
                          <a:solidFill>
                            <a:srgbClr val="1F2937"/>
                          </a:solidFill>
                        </a:rPr>
                        <a:t>섹션이 </a:t>
                      </a:r>
                      <a:pPr indent="0" marL="0">
                        <a:buNone/>
                      </a:pPr>
                      <a:r>
                        <a:rPr lang="en-US" sz="1100" dirty="0">
                          <a:solidFill>
                            <a:srgbClr val="1F2937"/>
                          </a:solidFill>
                        </a:rPr>
                        <a:t>있는 </a:t>
                      </a:r>
                      <a:pPr indent="0" marL="0">
                        <a:buNone/>
                      </a:pPr>
                      <a:r>
                        <a:rPr lang="en-US" sz="1100" dirty="0">
                          <a:solidFill>
                            <a:srgbClr val="1F2937"/>
                          </a:solidFill>
                        </a:rPr>
                        <a:t>회의록, </a:t>
                      </a:r>
                      <a:pPr indent="0" marL="0">
                        <a:buNone/>
                      </a:pPr>
                      <a:r>
                        <a:rPr lang="en-US" sz="1100" dirty="0">
                          <a:solidFill>
                            <a:srgbClr val="1F2937"/>
                          </a:solidFill>
                        </a:rPr>
                        <a:t>표·다이어그램이 </a:t>
                      </a:r>
                      <a:pPr indent="0" marL="0">
                        <a:buNone/>
                      </a:pPr>
                      <a:r>
                        <a:rPr lang="en-US" sz="1100" dirty="0">
                          <a:solidFill>
                            <a:srgbClr val="1F2937"/>
                          </a:solidFill>
                        </a:rPr>
                        <a:t>포함된 </a:t>
                      </a:r>
                      <a:pPr indent="0" marL="0">
                        <a:buNone/>
                      </a:pPr>
                      <a:r>
                        <a:rPr lang="en-US" sz="1100" dirty="0">
                          <a:solidFill>
                            <a:srgbClr val="1F2937"/>
                          </a:solidFill>
                        </a:rPr>
                        <a:t>회의록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10세트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테스트 </a:t>
                      </a:r>
                      <a:pPr indent="0" marL="0">
                        <a:buNone/>
                      </a:pPr>
                      <a:r>
                        <a:rPr lang="en-US" sz="1100" dirty="0">
                          <a:solidFill>
                            <a:srgbClr val="1F2937"/>
                          </a:solidFill>
                        </a:rPr>
                        <a:t>시나리오에 </a:t>
                      </a:r>
                      <a:pPr indent="0" marL="0">
                        <a:buNone/>
                      </a:pPr>
                      <a:r>
                        <a:rPr lang="en-US" sz="1100" dirty="0">
                          <a:solidFill>
                            <a:srgbClr val="1F2937"/>
                          </a:solidFill>
                        </a:rPr>
                        <a:t>맞춰 </a:t>
                      </a:r>
                      <a:pPr indent="0" marL="0">
                        <a:buNone/>
                      </a:pPr>
                      <a:r>
                        <a:rPr lang="en-US" sz="1100" dirty="0">
                          <a:solidFill>
                            <a:srgbClr val="1F2937"/>
                          </a:solidFill>
                        </a:rPr>
                        <a:t>작성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경계 </a:t>
                      </a:r>
                      <a:pPr indent="0" marL="0">
                        <a:buNone/>
                      </a:pPr>
                      <a:r>
                        <a:rPr lang="en-US" sz="1100" dirty="0">
                          <a:solidFill>
                            <a:srgbClr val="1F2937"/>
                          </a:solidFill>
                        </a:rPr>
                        <a:t>데이터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빈 </a:t>
                      </a:r>
                      <a:pPr indent="0" marL="0">
                        <a:buNone/>
                      </a:pPr>
                      <a:r>
                        <a:rPr lang="en-US" sz="1100" dirty="0">
                          <a:solidFill>
                            <a:srgbClr val="1F2937"/>
                          </a:solidFill>
                        </a:rPr>
                        <a:t>입력, </a:t>
                      </a:r>
                      <a:pPr indent="0" marL="0">
                        <a:buNone/>
                      </a:pPr>
                      <a:r>
                        <a:rPr lang="en-US" sz="1100" dirty="0">
                          <a:solidFill>
                            <a:srgbClr val="1F2937"/>
                          </a:solidFill>
                        </a:rPr>
                        <a:t>최소 </a:t>
                      </a:r>
                      <a:pPr indent="0" marL="0">
                        <a:buNone/>
                      </a:pPr>
                      <a:r>
                        <a:rPr lang="en-US" sz="1100" dirty="0">
                          <a:solidFill>
                            <a:srgbClr val="1F2937"/>
                          </a:solidFill>
                        </a:rPr>
                        <a:t>입력, </a:t>
                      </a:r>
                      <a:pPr indent="0" marL="0">
                        <a:buNone/>
                      </a:pPr>
                      <a:r>
                        <a:rPr lang="en-US" sz="1100" dirty="0">
                          <a:solidFill>
                            <a:srgbClr val="1F2937"/>
                          </a:solidFill>
                        </a:rPr>
                        <a:t>긴 </a:t>
                      </a:r>
                      <a:pPr indent="0" marL="0">
                        <a:buNone/>
                      </a:pPr>
                      <a:r>
                        <a:rPr lang="en-US" sz="1100" dirty="0">
                          <a:solidFill>
                            <a:srgbClr val="1F2937"/>
                          </a:solidFill>
                        </a:rPr>
                        <a:t>입력, </a:t>
                      </a:r>
                      <a:pPr indent="0" marL="0">
                        <a:buNone/>
                      </a:pPr>
                      <a:r>
                        <a:rPr lang="en-US" sz="1100" dirty="0">
                          <a:solidFill>
                            <a:srgbClr val="1F2937"/>
                          </a:solidFill>
                        </a:rPr>
                        <a:t>섹션 </a:t>
                      </a:r>
                      <a:pPr indent="0" marL="0">
                        <a:buNone/>
                      </a:pPr>
                      <a:r>
                        <a:rPr lang="en-US" sz="1100" dirty="0">
                          <a:solidFill>
                            <a:srgbClr val="1F2937"/>
                          </a:solidFill>
                        </a:rPr>
                        <a:t>경계 </a:t>
                      </a:r>
                      <a:pPr indent="0" marL="0">
                        <a:buNone/>
                      </a:pPr>
                      <a:r>
                        <a:rPr lang="en-US" sz="1100" dirty="0">
                          <a:solidFill>
                            <a:srgbClr val="1F2937"/>
                          </a:solidFill>
                        </a:rPr>
                        <a:t>및 </a:t>
                      </a:r>
                      <a:pPr indent="0" marL="0">
                        <a:buNone/>
                      </a:pPr>
                      <a:r>
                        <a:rPr lang="en-US" sz="1100" dirty="0">
                          <a:solidFill>
                            <a:srgbClr val="1F2937"/>
                          </a:solidFill>
                        </a:rPr>
                        <a:t>특수문자 </a:t>
                      </a:r>
                      <a:pPr indent="0" marL="0">
                        <a:buNone/>
                      </a:pPr>
                      <a:r>
                        <a:rPr lang="en-US" sz="1100" dirty="0">
                          <a:solidFill>
                            <a:srgbClr val="1F2937"/>
                          </a:solidFill>
                        </a:rPr>
                        <a:t>포함 </a:t>
                      </a:r>
                      <a:pPr indent="0" marL="0">
                        <a:buNone/>
                      </a:pPr>
                      <a:r>
                        <a:rPr lang="en-US" sz="1100" dirty="0">
                          <a:solidFill>
                            <a:srgbClr val="1F2937"/>
                          </a:solidFill>
                        </a:rPr>
                        <a:t>입력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8세트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제한값 </a:t>
                      </a:r>
                      <a:pPr indent="0" marL="0">
                        <a:buNone/>
                      </a:pPr>
                      <a:r>
                        <a:rPr lang="en-US" sz="1100" dirty="0">
                          <a:solidFill>
                            <a:srgbClr val="1F2937"/>
                          </a:solidFill>
                        </a:rPr>
                        <a:t>확인 </a:t>
                      </a:r>
                      <a:pPr indent="0" marL="0">
                        <a:buNone/>
                      </a:pPr>
                      <a:r>
                        <a:rPr lang="en-US" sz="1100" dirty="0">
                          <a:solidFill>
                            <a:srgbClr val="1F2937"/>
                          </a:solidFill>
                        </a:rPr>
                        <a:t>후 </a:t>
                      </a:r>
                      <a:pPr indent="0" marL="0">
                        <a:buNone/>
                      </a:pPr>
                      <a:r>
                        <a:rPr lang="en-US" sz="1100" dirty="0">
                          <a:solidFill>
                            <a:srgbClr val="1F2937"/>
                          </a:solidFill>
                        </a:rPr>
                        <a:t>생성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예외 </a:t>
                      </a:r>
                      <a:pPr indent="0" marL="0">
                        <a:buNone/>
                      </a:pPr>
                      <a:r>
                        <a:rPr lang="en-US" sz="1100" dirty="0">
                          <a:solidFill>
                            <a:srgbClr val="1F2937"/>
                          </a:solidFill>
                        </a:rPr>
                        <a:t>데이터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중복 </a:t>
                      </a:r>
                      <a:pPr indent="0" marL="0">
                        <a:buNone/>
                      </a:pPr>
                      <a:r>
                        <a:rPr lang="en-US" sz="1100" dirty="0">
                          <a:solidFill>
                            <a:srgbClr val="1F2937"/>
                          </a:solidFill>
                        </a:rPr>
                        <a:t>취소, </a:t>
                      </a:r>
                      <a:pPr indent="0" marL="0">
                        <a:buNone/>
                      </a:pPr>
                      <a:r>
                        <a:rPr lang="en-US" sz="1100" dirty="0">
                          <a:solidFill>
                            <a:srgbClr val="1F2937"/>
                          </a:solidFill>
                        </a:rPr>
                        <a:t>네트워크 </a:t>
                      </a:r>
                      <a:pPr indent="0" marL="0">
                        <a:buNone/>
                      </a:pPr>
                      <a:r>
                        <a:rPr lang="en-US" sz="1100" dirty="0">
                          <a:solidFill>
                            <a:srgbClr val="1F2937"/>
                          </a:solidFill>
                        </a:rPr>
                        <a:t>중단, </a:t>
                      </a:r>
                      <a:pPr indent="0" marL="0">
                        <a:buNone/>
                      </a:pPr>
                      <a:r>
                        <a:rPr lang="en-US" sz="1100" dirty="0">
                          <a:solidFill>
                            <a:srgbClr val="1F2937"/>
                          </a:solidFill>
                        </a:rPr>
                        <a:t>지연 </a:t>
                      </a:r>
                      <a:pPr indent="0" marL="0">
                        <a:buNone/>
                      </a:pPr>
                      <a:r>
                        <a:rPr lang="en-US" sz="1100" dirty="0">
                          <a:solidFill>
                            <a:srgbClr val="1F2937"/>
                          </a:solidFill>
                        </a:rPr>
                        <a:t>응답, </a:t>
                      </a:r>
                      <a:pPr indent="0" marL="0">
                        <a:buNone/>
                      </a:pPr>
                      <a:r>
                        <a:rPr lang="en-US" sz="1100" dirty="0">
                          <a:solidFill>
                            <a:srgbClr val="1F2937"/>
                          </a:solidFill>
                        </a:rPr>
                        <a:t>저장 </a:t>
                      </a:r>
                      <a:pPr indent="0" marL="0">
                        <a:buNone/>
                      </a:pPr>
                      <a:r>
                        <a:rPr lang="en-US" sz="1100" dirty="0">
                          <a:solidFill>
                            <a:srgbClr val="1F2937"/>
                          </a:solidFill>
                        </a:rPr>
                        <a:t>실패, </a:t>
                      </a:r>
                      <a:pPr indent="0" marL="0">
                        <a:buNone/>
                      </a:pPr>
                      <a:r>
                        <a:rPr lang="en-US" sz="1100" dirty="0">
                          <a:solidFill>
                            <a:srgbClr val="1F2937"/>
                          </a:solidFill>
                        </a:rPr>
                        <a:t>복귀 </a:t>
                      </a:r>
                      <a:pPr indent="0" marL="0">
                        <a:buNone/>
                      </a:pPr>
                      <a:r>
                        <a:rPr lang="en-US" sz="1100" dirty="0">
                          <a:solidFill>
                            <a:srgbClr val="1F2937"/>
                          </a:solidFill>
                        </a:rPr>
                        <a:t>시도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8세트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수동 </a:t>
                      </a:r>
                      <a:pPr indent="0" marL="0">
                        <a:buNone/>
                      </a:pPr>
                      <a:r>
                        <a:rPr lang="en-US" sz="1100" dirty="0">
                          <a:solidFill>
                            <a:srgbClr val="1F2937"/>
                          </a:solidFill>
                        </a:rPr>
                        <a:t>조작 </a:t>
                      </a:r>
                      <a:pPr indent="0" marL="0">
                        <a:buNone/>
                      </a:pPr>
                      <a:r>
                        <a:rPr lang="en-US" sz="1100" dirty="0">
                          <a:solidFill>
                            <a:srgbClr val="1F2937"/>
                          </a:solidFill>
                        </a:rPr>
                        <a:t>및 </a:t>
                      </a:r>
                      <a:pPr indent="0" marL="0">
                        <a:buNone/>
                      </a:pPr>
                      <a:r>
                        <a:rPr lang="en-US" sz="1100" dirty="0">
                          <a:solidFill>
                            <a:srgbClr val="1F2937"/>
                          </a:solidFill>
                        </a:rPr>
                        <a:t>자동화 </a:t>
                      </a:r>
                      <a:pPr indent="0" marL="0">
                        <a:buNone/>
                      </a:pPr>
                      <a:r>
                        <a:rPr lang="en-US" sz="1100" dirty="0">
                          <a:solidFill>
                            <a:srgbClr val="1F2937"/>
                          </a:solidFill>
                        </a:rPr>
                        <a:t>시나리오 </a:t>
                      </a:r>
                      <a:pPr indent="0" marL="0">
                        <a:buNone/>
                      </a:pPr>
                      <a:r>
                        <a:rPr lang="en-US" sz="1100" dirty="0">
                          <a:solidFill>
                            <a:srgbClr val="1F2937"/>
                          </a:solidFill>
                        </a:rPr>
                        <a:t>구성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문서 </a:t>
                      </a:r>
                      <a:pPr indent="0" marL="0">
                        <a:buNone/>
                      </a:pPr>
                      <a:r>
                        <a:rPr lang="en-US" sz="1100" dirty="0">
                          <a:solidFill>
                            <a:srgbClr val="1F2937"/>
                          </a:solidFill>
                        </a:rPr>
                        <a:t>출력 </a:t>
                      </a:r>
                      <a:pPr indent="0" marL="0">
                        <a:buNone/>
                      </a:pPr>
                      <a:r>
                        <a:rPr lang="en-US" sz="1100" dirty="0">
                          <a:solidFill>
                            <a:srgbClr val="1F2937"/>
                          </a:solidFill>
                        </a:rPr>
                        <a:t>데이터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표·다이어그램·목차·표지·긴 </a:t>
                      </a:r>
                      <a:pPr indent="0" marL="0">
                        <a:buNone/>
                      </a:pPr>
                      <a:r>
                        <a:rPr lang="en-US" sz="1100" dirty="0">
                          <a:solidFill>
                            <a:srgbClr val="1F2937"/>
                          </a:solidFill>
                        </a:rPr>
                        <a:t>문단이 </a:t>
                      </a:r>
                      <a:pPr indent="0" marL="0">
                        <a:buNone/>
                      </a:pPr>
                      <a:r>
                        <a:rPr lang="en-US" sz="1100" dirty="0">
                          <a:solidFill>
                            <a:srgbClr val="1F2937"/>
                          </a:solidFill>
                        </a:rPr>
                        <a:t>포함된 </a:t>
                      </a:r>
                      <a:pPr indent="0" marL="0">
                        <a:buNone/>
                      </a:pPr>
                      <a:r>
                        <a:rPr lang="en-US" sz="1100" dirty="0">
                          <a:solidFill>
                            <a:srgbClr val="1F2937"/>
                          </a:solidFill>
                        </a:rPr>
                        <a:t>문서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형식별 </a:t>
                      </a:r>
                      <a:pPr indent="0" marL="0">
                        <a:buNone/>
                      </a:pPr>
                      <a:r>
                        <a:rPr lang="en-US" sz="1100" dirty="0">
                          <a:solidFill>
                            <a:srgbClr val="1F2937"/>
                          </a:solidFill>
                        </a:rPr>
                        <a:t>최소 </a:t>
                      </a:r>
                      <a:pPr indent="0" marL="0">
                        <a:buNone/>
                      </a:pPr>
                      <a:r>
                        <a:rPr lang="en-US" sz="1100" dirty="0">
                          <a:solidFill>
                            <a:srgbClr val="1F2937"/>
                          </a:solidFill>
                        </a:rPr>
                        <a:t>5세트 </a:t>
                      </a:r>
                      <a:pPr indent="0" marL="0">
                        <a:buNone/>
                      </a:pPr>
                      <a:r>
                        <a:rPr lang="en-US" sz="1100" dirty="0">
                          <a:solidFill>
                            <a:srgbClr val="1F2937"/>
                          </a:solidFill>
                        </a:rPr>
                        <a:t>제안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기준 </a:t>
                      </a:r>
                      <a:pPr indent="0" marL="0">
                        <a:buNone/>
                      </a:pPr>
                      <a:r>
                        <a:rPr lang="en-US" sz="1100" dirty="0">
                          <a:solidFill>
                            <a:srgbClr val="1F2937"/>
                          </a:solidFill>
                        </a:rPr>
                        <a:t>문서와 </a:t>
                      </a:r>
                      <a:pPr indent="0" marL="0">
                        <a:buNone/>
                      </a:pPr>
                      <a:r>
                        <a:rPr lang="en-US" sz="1100" dirty="0">
                          <a:solidFill>
                            <a:srgbClr val="1F2937"/>
                          </a:solidFill>
                        </a:rPr>
                        <a:t>내려받은 </a:t>
                      </a:r>
                      <a:pPr indent="0" marL="0">
                        <a:buNone/>
                      </a:pPr>
                      <a:r>
                        <a:rPr lang="en-US" sz="1100" dirty="0">
                          <a:solidFill>
                            <a:srgbClr val="1F2937"/>
                          </a:solidFill>
                        </a:rPr>
                        <a:t>파일 </a:t>
                      </a:r>
                      <a:pPr indent="0" marL="0">
                        <a:buNone/>
                      </a:pPr>
                      <a:r>
                        <a:rPr lang="en-US" sz="1100" dirty="0">
                          <a:solidFill>
                            <a:srgbClr val="1F2937"/>
                          </a:solidFill>
                        </a:rPr>
                        <a:t>비교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사용자 </a:t>
                      </a:r>
                      <a:pPr indent="0" marL="0">
                        <a:buNone/>
                      </a:pPr>
                      <a:r>
                        <a:rPr lang="en-US" sz="1100" dirty="0">
                          <a:solidFill>
                            <a:srgbClr val="1F2937"/>
                          </a:solidFill>
                        </a:rPr>
                        <a:t>데이터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정상 </a:t>
                      </a:r>
                      <a:pPr indent="0" marL="0">
                        <a:buNone/>
                      </a:pPr>
                      <a:r>
                        <a:rPr lang="en-US" sz="1100" dirty="0">
                          <a:solidFill>
                            <a:srgbClr val="1F2937"/>
                          </a:solidFill>
                        </a:rPr>
                        <a:t>계정, </a:t>
                      </a:r>
                      <a:pPr indent="0" marL="0">
                        <a:buNone/>
                      </a:pPr>
                      <a:r>
                        <a:rPr lang="en-US" sz="1100" dirty="0">
                          <a:solidFill>
                            <a:srgbClr val="1F2937"/>
                          </a:solidFill>
                        </a:rPr>
                        <a:t>인증 </a:t>
                      </a:r>
                      <a:pPr indent="0" marL="0">
                        <a:buNone/>
                      </a:pPr>
                      <a:r>
                        <a:rPr lang="en-US" sz="1100" dirty="0">
                          <a:solidFill>
                            <a:srgbClr val="1F2937"/>
                          </a:solidFill>
                        </a:rPr>
                        <a:t>실패 </a:t>
                      </a:r>
                      <a:pPr indent="0" marL="0">
                        <a:buNone/>
                      </a:pPr>
                      <a:r>
                        <a:rPr lang="en-US" sz="1100" dirty="0">
                          <a:solidFill>
                            <a:srgbClr val="1F2937"/>
                          </a:solidFill>
                        </a:rPr>
                        <a:t>계정, </a:t>
                      </a:r>
                      <a:pPr indent="0" marL="0">
                        <a:buNone/>
                      </a:pPr>
                      <a:r>
                        <a:rPr lang="en-US" sz="1100" dirty="0">
                          <a:solidFill>
                            <a:srgbClr val="1F2937"/>
                          </a:solidFill>
                        </a:rPr>
                        <a:t>세션 </a:t>
                      </a:r>
                      <a:pPr indent="0" marL="0">
                        <a:buNone/>
                      </a:pPr>
                      <a:r>
                        <a:rPr lang="en-US" sz="1100" dirty="0">
                          <a:solidFill>
                            <a:srgbClr val="1F2937"/>
                          </a:solidFill>
                        </a:rPr>
                        <a:t>만료 </a:t>
                      </a:r>
                      <a:pPr indent="0" marL="0">
                        <a:buNone/>
                      </a:pPr>
                      <a:r>
                        <a:rPr lang="en-US" sz="1100" dirty="0">
                          <a:solidFill>
                            <a:srgbClr val="1F2937"/>
                          </a:solidFill>
                        </a:rPr>
                        <a:t>대상</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최소 </a:t>
                      </a:r>
                      <a:pPr indent="0" marL="0">
                        <a:buNone/>
                      </a:pPr>
                      <a:r>
                        <a:rPr lang="en-US" sz="1100" dirty="0">
                          <a:solidFill>
                            <a:srgbClr val="1F2937"/>
                          </a:solidFill>
                        </a:rPr>
                        <a:t>3계정 </a:t>
                      </a:r>
                      <a:pPr indent="0" marL="0">
                        <a:buNone/>
                      </a:pPr>
                      <a:r>
                        <a:rPr lang="en-US" sz="1100" dirty="0">
                          <a:solidFill>
                            <a:srgbClr val="1F2937"/>
                          </a:solidFill>
                        </a:rPr>
                        <a:t>제안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개인 </a:t>
                      </a:r>
                      <a:pPr indent="0" marL="0">
                        <a:buNone/>
                      </a:pPr>
                      <a:r>
                        <a:rPr lang="en-US" sz="1100" dirty="0">
                          <a:solidFill>
                            <a:srgbClr val="1F2937"/>
                          </a:solidFill>
                        </a:rPr>
                        <a:t>정보가 </a:t>
                      </a:r>
                      <a:pPr indent="0" marL="0">
                        <a:buNone/>
                      </a:pPr>
                      <a:r>
                        <a:rPr lang="en-US" sz="1100" dirty="0">
                          <a:solidFill>
                            <a:srgbClr val="1F2937"/>
                          </a:solidFill>
                        </a:rPr>
                        <a:t>없는 </a:t>
                      </a:r>
                      <a:pPr indent="0" marL="0">
                        <a:buNone/>
                      </a:pPr>
                      <a:r>
                        <a:rPr lang="en-US" sz="1100" dirty="0">
                          <a:solidFill>
                            <a:srgbClr val="1F2937"/>
                          </a:solidFill>
                        </a:rPr>
                        <a:t>시험 </a:t>
                      </a:r>
                      <a:pPr indent="0" marL="0">
                        <a:buNone/>
                      </a:pPr>
                      <a:r>
                        <a:rPr lang="en-US" sz="1100" dirty="0">
                          <a:solidFill>
                            <a:srgbClr val="1F2937"/>
                          </a:solidFill>
                        </a:rPr>
                        <a:t>계정 </a:t>
                      </a:r>
                      <a:pPr indent="0" marL="0">
                        <a:buNone/>
                      </a:pPr>
                      <a:r>
                        <a:rPr lang="en-US" sz="1100" dirty="0">
                          <a:solidFill>
                            <a:srgbClr val="1F2937"/>
                          </a:solidFill>
                        </a:rPr>
                        <a:t>생성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5.3 테스트 장비</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장비 수량과 운영체제는 회의에서 정해지지 않았습니다. 지원 범위를 확인한 뒤 장비를 선정하며, 아래는 최소 검증 구성을 위한 제안입니다.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5.3 테스트 장비</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392702"/>
                <a:gridCol w="2785403"/>
                <a:gridCol w="1899138"/>
                <a:gridCol w="2152357"/>
              </a:tblGrid>
              <a:tr h="0">
                <a:tc>
                  <a:txBody>
                    <a:bodyPr/>
                    <a:lstStyle/>
                    <a:p>
                      <a:pPr indent="0" marL="0">
                        <a:buNone/>
                      </a:pPr>
                      <a:r>
                        <a:rPr lang="en-US" sz="1200" b="1" dirty="0">
                          <a:solidFill>
                            <a:srgbClr val="FFFFFF"/>
                          </a:solidFill>
                        </a:rPr>
                        <a:t>장비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사양·구성</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수량 </a:t>
                      </a:r>
                      <a:pPr indent="0" marL="0">
                        <a:buNone/>
                      </a:pPr>
                      <a:r>
                        <a:rPr lang="en-US" sz="1200" b="1" dirty="0">
                          <a:solidFill>
                            <a:srgbClr val="FFFFFF"/>
                          </a:solidFill>
                        </a:rPr>
                        <a:t>제안</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용도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데스크톱 </a:t>
                      </a:r>
                      <a:pPr indent="0" marL="0">
                        <a:buNone/>
                      </a:pPr>
                      <a:r>
                        <a:rPr lang="en-US" sz="1100" dirty="0">
                          <a:solidFill>
                            <a:srgbClr val="1F2937"/>
                          </a:solidFill>
                        </a:rPr>
                        <a:t>또는 </a:t>
                      </a:r>
                      <a:pPr indent="0" marL="0">
                        <a:buNone/>
                      </a:pPr>
                      <a:r>
                        <a:rPr lang="en-US" sz="1100" dirty="0">
                          <a:solidFill>
                            <a:srgbClr val="1F2937"/>
                          </a:solidFill>
                        </a:rPr>
                        <a:t>노트북</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지원 </a:t>
                      </a:r>
                      <a:pPr indent="0" marL="0">
                        <a:buNone/>
                      </a:pPr>
                      <a:r>
                        <a:rPr lang="en-US" sz="1100" dirty="0">
                          <a:solidFill>
                            <a:srgbClr val="1F2937"/>
                          </a:solidFill>
                        </a:rPr>
                        <a:t>대상으로 </a:t>
                      </a:r>
                      <a:pPr indent="0" marL="0">
                        <a:buNone/>
                      </a:pPr>
                      <a:r>
                        <a:rPr lang="en-US" sz="1100" dirty="0">
                          <a:solidFill>
                            <a:srgbClr val="1F2937"/>
                          </a:solidFill>
                        </a:rPr>
                        <a:t>확정한 </a:t>
                      </a:r>
                      <a:pPr indent="0" marL="0">
                        <a:buNone/>
                      </a:pPr>
                      <a:r>
                        <a:rPr lang="en-US" sz="1100" dirty="0">
                          <a:solidFill>
                            <a:srgbClr val="1F2937"/>
                          </a:solidFill>
                        </a:rPr>
                        <a:t>브라우저 </a:t>
                      </a:r>
                      <a:pPr indent="0" marL="0">
                        <a:buNone/>
                      </a:pPr>
                      <a:r>
                        <a:rPr lang="en-US" sz="1100" dirty="0">
                          <a:solidFill>
                            <a:srgbClr val="1F2937"/>
                          </a:solidFill>
                        </a:rPr>
                        <a:t>설치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1대 </a:t>
                      </a:r>
                      <a:pPr indent="0" marL="0">
                        <a:buNone/>
                      </a:pPr>
                      <a:r>
                        <a:rPr lang="en-US" sz="1100" dirty="0">
                          <a:solidFill>
                            <a:srgbClr val="1F2937"/>
                          </a:solidFill>
                        </a:rPr>
                        <a:t>이상</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로그인·입력·생성·내려받기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모바일 </a:t>
                      </a:r>
                      <a:pPr indent="0" marL="0">
                        <a:buNone/>
                      </a:pPr>
                      <a:r>
                        <a:rPr lang="en-US" sz="1100" dirty="0">
                          <a:solidFill>
                            <a:srgbClr val="1F2937"/>
                          </a:solidFill>
                        </a:rPr>
                        <a:t>기기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지원 </a:t>
                      </a:r>
                      <a:pPr indent="0" marL="0">
                        <a:buNone/>
                      </a:pPr>
                      <a:r>
                        <a:rPr lang="en-US" sz="1100" dirty="0">
                          <a:solidFill>
                            <a:srgbClr val="1F2937"/>
                          </a:solidFill>
                        </a:rPr>
                        <a:t>대상으로 </a:t>
                      </a:r>
                      <a:pPr indent="0" marL="0">
                        <a:buNone/>
                      </a:pPr>
                      <a:r>
                        <a:rPr lang="en-US" sz="1100" dirty="0">
                          <a:solidFill>
                            <a:srgbClr val="1F2937"/>
                          </a:solidFill>
                        </a:rPr>
                        <a:t>확정한 </a:t>
                      </a:r>
                      <a:pPr indent="0" marL="0">
                        <a:buNone/>
                      </a:pPr>
                      <a:r>
                        <a:rPr lang="en-US" sz="1100" dirty="0">
                          <a:solidFill>
                            <a:srgbClr val="1F2937"/>
                          </a:solidFill>
                        </a:rPr>
                        <a:t>운영체제와 </a:t>
                      </a:r>
                      <a:pPr indent="0" marL="0">
                        <a:buNone/>
                      </a:pPr>
                      <a:r>
                        <a:rPr lang="en-US" sz="1100" dirty="0">
                          <a:solidFill>
                            <a:srgbClr val="1F2937"/>
                          </a:solidFill>
                        </a:rPr>
                        <a:t>브라우저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각 </a:t>
                      </a:r>
                      <a:pPr indent="0" marL="0">
                        <a:buNone/>
                      </a:pPr>
                      <a:r>
                        <a:rPr lang="en-US" sz="1100" dirty="0">
                          <a:solidFill>
                            <a:srgbClr val="1F2937"/>
                          </a:solidFill>
                        </a:rPr>
                        <a:t>운영체제 </a:t>
                      </a:r>
                      <a:pPr indent="0" marL="0">
                        <a:buNone/>
                      </a:pPr>
                      <a:r>
                        <a:rPr lang="en-US" sz="1100" dirty="0">
                          <a:solidFill>
                            <a:srgbClr val="1F2937"/>
                          </a:solidFill>
                        </a:rPr>
                        <a:t>1대 </a:t>
                      </a:r>
                      <a:pPr indent="0" marL="0">
                        <a:buNone/>
                      </a:pPr>
                      <a:r>
                        <a:rPr lang="en-US" sz="1100" dirty="0">
                          <a:solidFill>
                            <a:srgbClr val="1F2937"/>
                          </a:solidFill>
                        </a:rPr>
                        <a:t>이상 </a:t>
                      </a:r>
                      <a:pPr indent="0" marL="0">
                        <a:buNone/>
                      </a:pPr>
                      <a:r>
                        <a:rPr lang="en-US" sz="1100" dirty="0">
                          <a:solidFill>
                            <a:srgbClr val="1F2937"/>
                          </a:solidFill>
                        </a:rPr>
                        <a:t>제안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기기 </a:t>
                      </a:r>
                      <a:pPr indent="0" marL="0">
                        <a:buNone/>
                      </a:pPr>
                      <a:r>
                        <a:rPr lang="en-US" sz="1100" dirty="0">
                          <a:solidFill>
                            <a:srgbClr val="1F2937"/>
                          </a:solidFill>
                        </a:rPr>
                        <a:t>저장·화면 </a:t>
                      </a:r>
                      <a:pPr indent="0" marL="0">
                        <a:buNone/>
                      </a:pPr>
                      <a:r>
                        <a:rPr lang="en-US" sz="1100" dirty="0">
                          <a:solidFill>
                            <a:srgbClr val="1F2937"/>
                          </a:solidFill>
                        </a:rPr>
                        <a:t>이탈·복귀 </a:t>
                      </a:r>
                      <a:pPr indent="0" marL="0">
                        <a:buNone/>
                      </a:pPr>
                      <a:r>
                        <a:rPr lang="en-US" sz="1100" dirty="0">
                          <a:solidFill>
                            <a:srgbClr val="1F2937"/>
                          </a:solidFill>
                        </a:rPr>
                        <a:t>검증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문서 </a:t>
                      </a:r>
                      <a:pPr indent="0" marL="0">
                        <a:buNone/>
                      </a:pPr>
                      <a:r>
                        <a:rPr lang="en-US" sz="1100" dirty="0">
                          <a:solidFill>
                            <a:srgbClr val="1F2937"/>
                          </a:solidFill>
                        </a:rPr>
                        <a:t>열람 </a:t>
                      </a:r>
                      <a:pPr indent="0" marL="0">
                        <a:buNone/>
                      </a:pPr>
                      <a:r>
                        <a:rPr lang="en-US" sz="1100" dirty="0">
                          <a:solidFill>
                            <a:srgbClr val="1F2937"/>
                          </a:solidFill>
                        </a:rPr>
                        <a:t>환경</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Word </a:t>
                      </a:r>
                      <a:pPr indent="0" marL="0">
                        <a:buNone/>
                      </a:pPr>
                      <a:r>
                        <a:rPr lang="en-US" sz="1100" dirty="0">
                          <a:solidFill>
                            <a:srgbClr val="1F2937"/>
                          </a:solidFill>
                        </a:rPr>
                        <a:t>파일을 </a:t>
                      </a:r>
                      <a:pPr indent="0" marL="0">
                        <a:buNone/>
                      </a:pPr>
                      <a:r>
                        <a:rPr lang="en-US" sz="1100" dirty="0">
                          <a:solidFill>
                            <a:srgbClr val="1F2937"/>
                          </a:solidFill>
                        </a:rPr>
                        <a:t>열 </a:t>
                      </a:r>
                      <a:pPr indent="0" marL="0">
                        <a:buNone/>
                      </a:pPr>
                      <a:r>
                        <a:rPr lang="en-US" sz="1100" dirty="0">
                          <a:solidFill>
                            <a:srgbClr val="1F2937"/>
                          </a:solidFill>
                        </a:rPr>
                        <a:t>수 </a:t>
                      </a:r>
                      <a:pPr indent="0" marL="0">
                        <a:buNone/>
                      </a:pPr>
                      <a:r>
                        <a:rPr lang="en-US" sz="1100" dirty="0">
                          <a:solidFill>
                            <a:srgbClr val="1F2937"/>
                          </a:solidFill>
                        </a:rPr>
                        <a:t>있는 </a:t>
                      </a:r>
                      <a:pPr indent="0" marL="0">
                        <a:buNone/>
                      </a:pPr>
                      <a:r>
                        <a:rPr lang="en-US" sz="1100" dirty="0">
                          <a:solidFill>
                            <a:srgbClr val="1F2937"/>
                          </a:solidFill>
                        </a:rPr>
                        <a:t>환경</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1종 </a:t>
                      </a:r>
                      <a:pPr indent="0" marL="0">
                        <a:buNone/>
                      </a:pPr>
                      <a:r>
                        <a:rPr lang="en-US" sz="1100" dirty="0">
                          <a:solidFill>
                            <a:srgbClr val="1F2937"/>
                          </a:solidFill>
                        </a:rPr>
                        <a:t>이상</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표·다이어그램·서식 </a:t>
                      </a:r>
                      <a:pPr indent="0" marL="0">
                        <a:buNone/>
                      </a:pPr>
                      <a:r>
                        <a:rPr lang="en-US" sz="1100" dirty="0">
                          <a:solidFill>
                            <a:srgbClr val="1F2937"/>
                          </a:solidFill>
                        </a:rPr>
                        <a:t>검증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PDF </a:t>
                      </a:r>
                      <a:pPr indent="0" marL="0">
                        <a:buNone/>
                      </a:pPr>
                      <a:r>
                        <a:rPr lang="en-US" sz="1100" dirty="0">
                          <a:solidFill>
                            <a:srgbClr val="1F2937"/>
                          </a:solidFill>
                        </a:rPr>
                        <a:t>열람 </a:t>
                      </a:r>
                      <a:pPr indent="0" marL="0">
                        <a:buNone/>
                      </a:pPr>
                      <a:r>
                        <a:rPr lang="en-US" sz="1100" dirty="0">
                          <a:solidFill>
                            <a:srgbClr val="1F2937"/>
                          </a:solidFill>
                        </a:rPr>
                        <a:t>환경</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PDF를 </a:t>
                      </a:r>
                      <a:pPr indent="0" marL="0">
                        <a:buNone/>
                      </a:pPr>
                      <a:r>
                        <a:rPr lang="en-US" sz="1100" dirty="0">
                          <a:solidFill>
                            <a:srgbClr val="1F2937"/>
                          </a:solidFill>
                        </a:rPr>
                        <a:t>열 </a:t>
                      </a:r>
                      <a:pPr indent="0" marL="0">
                        <a:buNone/>
                      </a:pPr>
                      <a:r>
                        <a:rPr lang="en-US" sz="1100" dirty="0">
                          <a:solidFill>
                            <a:srgbClr val="1F2937"/>
                          </a:solidFill>
                        </a:rPr>
                        <a:t>수 </a:t>
                      </a:r>
                      <a:pPr indent="0" marL="0">
                        <a:buNone/>
                      </a:pPr>
                      <a:r>
                        <a:rPr lang="en-US" sz="1100" dirty="0">
                          <a:solidFill>
                            <a:srgbClr val="1F2937"/>
                          </a:solidFill>
                        </a:rPr>
                        <a:t>있는 </a:t>
                      </a:r>
                      <a:pPr indent="0" marL="0">
                        <a:buNone/>
                      </a:pPr>
                      <a:r>
                        <a:rPr lang="en-US" sz="1100" dirty="0">
                          <a:solidFill>
                            <a:srgbClr val="1F2937"/>
                          </a:solidFill>
                        </a:rPr>
                        <a:t>환경</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1종 </a:t>
                      </a:r>
                      <a:pPr indent="0" marL="0">
                        <a:buNone/>
                      </a:pPr>
                      <a:r>
                        <a:rPr lang="en-US" sz="1100" dirty="0">
                          <a:solidFill>
                            <a:srgbClr val="1F2937"/>
                          </a:solidFill>
                        </a:rPr>
                        <a:t>이상</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페이지 </a:t>
                      </a:r>
                      <a:pPr indent="0" marL="0">
                        <a:buNone/>
                      </a:pPr>
                      <a:r>
                        <a:rPr lang="en-US" sz="1100" dirty="0">
                          <a:solidFill>
                            <a:srgbClr val="1F2937"/>
                          </a:solidFill>
                        </a:rPr>
                        <a:t>구성·표·다이어그램 </a:t>
                      </a:r>
                      <a:pPr indent="0" marL="0">
                        <a:buNone/>
                      </a:pPr>
                      <a:r>
                        <a:rPr lang="en-US" sz="1100" dirty="0">
                          <a:solidFill>
                            <a:srgbClr val="1F2937"/>
                          </a:solidFill>
                        </a:rPr>
                        <a:t>검증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자동화 </a:t>
                      </a:r>
                      <a:pPr indent="0" marL="0">
                        <a:buNone/>
                      </a:pPr>
                      <a:r>
                        <a:rPr lang="en-US" sz="1100" dirty="0">
                          <a:solidFill>
                            <a:srgbClr val="1F2937"/>
                          </a:solidFill>
                        </a:rPr>
                        <a:t>실행 </a:t>
                      </a:r>
                      <a:pPr indent="0" marL="0">
                        <a:buNone/>
                      </a:pPr>
                      <a:r>
                        <a:rPr lang="en-US" sz="1100" dirty="0">
                          <a:solidFill>
                            <a:srgbClr val="1F2937"/>
                          </a:solidFill>
                        </a:rPr>
                        <a:t>환경</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선택한 </a:t>
                      </a:r>
                      <a:pPr indent="0" marL="0">
                        <a:buNone/>
                      </a:pPr>
                      <a:r>
                        <a:rPr lang="en-US" sz="1100" dirty="0">
                          <a:solidFill>
                            <a:srgbClr val="1F2937"/>
                          </a:solidFill>
                        </a:rPr>
                        <a:t>시험 </a:t>
                      </a:r>
                      <a:pPr indent="0" marL="0">
                        <a:buNone/>
                      </a:pPr>
                      <a:r>
                        <a:rPr lang="en-US" sz="1100" dirty="0">
                          <a:solidFill>
                            <a:srgbClr val="1F2937"/>
                          </a:solidFill>
                        </a:rPr>
                        <a:t>도구를 </a:t>
                      </a:r>
                      <a:pPr indent="0" marL="0">
                        <a:buNone/>
                      </a:pPr>
                      <a:r>
                        <a:rPr lang="en-US" sz="1100" dirty="0">
                          <a:solidFill>
                            <a:srgbClr val="1F2937"/>
                          </a:solidFill>
                        </a:rPr>
                        <a:t>실행할 </a:t>
                      </a:r>
                      <a:pPr indent="0" marL="0">
                        <a:buNone/>
                      </a:pPr>
                      <a:r>
                        <a:rPr lang="en-US" sz="1100" dirty="0">
                          <a:solidFill>
                            <a:srgbClr val="1F2937"/>
                          </a:solidFill>
                        </a:rPr>
                        <a:t>수 </a:t>
                      </a:r>
                      <a:pPr indent="0" marL="0">
                        <a:buNone/>
                      </a:pPr>
                      <a:r>
                        <a:rPr lang="en-US" sz="1100" dirty="0">
                          <a:solidFill>
                            <a:srgbClr val="1F2937"/>
                          </a:solidFill>
                        </a:rPr>
                        <a:t>있는 </a:t>
                      </a:r>
                      <a:pPr indent="0" marL="0">
                        <a:buNone/>
                      </a:pPr>
                      <a:r>
                        <a:rPr lang="en-US" sz="1100" dirty="0">
                          <a:solidFill>
                            <a:srgbClr val="1F2937"/>
                          </a:solidFill>
                        </a:rPr>
                        <a:t>환경</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1개 </a:t>
                      </a:r>
                      <a:pPr indent="0" marL="0">
                        <a:buNone/>
                      </a:pPr>
                      <a:r>
                        <a:rPr lang="en-US" sz="1100" dirty="0">
                          <a:solidFill>
                            <a:srgbClr val="1F2937"/>
                          </a:solidFill>
                        </a:rPr>
                        <a:t>제안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반복 </a:t>
                      </a:r>
                      <a:pPr indent="0" marL="0">
                        <a:buNone/>
                      </a:pPr>
                      <a:r>
                        <a:rPr lang="en-US" sz="1100" dirty="0">
                          <a:solidFill>
                            <a:srgbClr val="1F2937"/>
                          </a:solidFill>
                        </a:rPr>
                        <a:t>회귀·취소 </a:t>
                      </a:r>
                      <a:pPr indent="0" marL="0">
                        <a:buNone/>
                      </a:pPr>
                      <a:r>
                        <a:rPr lang="en-US" sz="1100" dirty="0">
                          <a:solidFill>
                            <a:srgbClr val="1F2937"/>
                          </a:solidFill>
                        </a:rPr>
                        <a:t>경쟁 </a:t>
                      </a:r>
                      <a:pPr indent="0" marL="0">
                        <a:buNone/>
                      </a:pPr>
                      <a:r>
                        <a:rPr lang="en-US" sz="1100" dirty="0">
                          <a:solidFill>
                            <a:srgbClr val="1F2937"/>
                          </a:solidFill>
                        </a:rPr>
                        <a:t>상태 </a:t>
                      </a:r>
                      <a:pPr indent="0" marL="0">
                        <a:buNone/>
                      </a:pPr>
                      <a:r>
                        <a:rPr lang="en-US" sz="1100" dirty="0">
                          <a:solidFill>
                            <a:srgbClr val="1F2937"/>
                          </a:solidFill>
                        </a:rPr>
                        <a:t>재현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 테스트 일정</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 단계별 일정</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정확한 시작일·종료일과 테스트 인력은 확인되지 않았습니다. 회의에서 제시된 4주는 MVP 개발 기간이지 테스트에 4주가 배정되었다는 뜻은 아닙니다. 아래 일정은 기능 구현과 검증을 병행할 수 있도록 제시한 </a:t>
            </a:r>
            <a:pPr indent="0" marL="0">
              <a:spcAft>
                <a:spcPts val="800"/>
              </a:spcAft>
              <a:buNone/>
            </a:pPr>
            <a:r>
              <a:rPr lang="en-US" sz="1600" b="1" dirty="0">
                <a:solidFill>
                  <a:srgbClr val="4B5563"/>
                </a:solidFill>
              </a:rPr>
              <a:t>주차 기준 일정 제안</a:t>
            </a:r>
            <a:pPr indent="0" marL="0">
              <a:spcAft>
                <a:spcPts val="800"/>
              </a:spcAft>
              <a:buNone/>
            </a:pPr>
            <a:r>
              <a:rPr lang="en-US" sz="1600" dirty="0">
                <a:solidFill>
                  <a:srgbClr val="4B5563"/>
                </a:solidFill>
              </a:rPr>
              <a:t>이며, 개발 일정·배포 가능 시점과 대조 후 확정해야 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 단계별 일정</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561109"/>
                <a:gridCol w="1870364"/>
                <a:gridCol w="1122218"/>
                <a:gridCol w="561109"/>
                <a:gridCol w="561109"/>
                <a:gridCol w="1776845"/>
                <a:gridCol w="1776845"/>
              </a:tblGrid>
              <a:tr h="0">
                <a:tc>
                  <a:txBody>
                    <a:bodyPr/>
                    <a:lstStyle/>
                    <a:p>
                      <a:pPr indent="0" marL="0">
                        <a:buNone/>
                      </a:pPr>
                      <a:r>
                        <a:rPr lang="en-US" sz="1200" b="1" dirty="0">
                          <a:solidFill>
                            <a:srgbClr val="FFFFFF"/>
                          </a:solidFill>
                        </a:rPr>
                        <a:t>단계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작업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기간 </a:t>
                      </a:r>
                      <a:pPr indent="0" marL="0">
                        <a:buNone/>
                      </a:pPr>
                      <a:r>
                        <a:rPr lang="en-US" sz="1200" b="1" dirty="0">
                          <a:solidFill>
                            <a:srgbClr val="FFFFFF"/>
                          </a:solidFill>
                        </a:rPr>
                        <a:t>제안</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시작일</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종료일</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담당</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선행 </a:t>
                      </a:r>
                      <a:pPr indent="0" marL="0">
                        <a:buNone/>
                      </a:pPr>
                      <a:r>
                        <a:rPr lang="en-US" sz="1200" b="1" dirty="0">
                          <a:solidFill>
                            <a:srgbClr val="FFFFFF"/>
                          </a:solidFill>
                        </a:rPr>
                        <a:t>조건</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준비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범위·환경·지원 </a:t>
                      </a:r>
                      <a:pPr indent="0" marL="0">
                        <a:buNone/>
                      </a:pPr>
                      <a:r>
                        <a:rPr lang="en-US" sz="1100" dirty="0">
                          <a:solidFill>
                            <a:srgbClr val="1F2937"/>
                          </a:solidFill>
                        </a:rPr>
                        <a:t>기기·서식 </a:t>
                      </a:r>
                      <a:pPr indent="0" marL="0">
                        <a:buNone/>
                      </a:pPr>
                      <a:r>
                        <a:rPr lang="en-US" sz="1100" dirty="0">
                          <a:solidFill>
                            <a:srgbClr val="1F2937"/>
                          </a:solidFill>
                        </a:rPr>
                        <a:t>기준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1주차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김PM·이개발·QA </a:t>
                      </a:r>
                      <a:pPr indent="0" marL="0">
                        <a:buNone/>
                      </a:pPr>
                      <a:r>
                        <a:rPr lang="en-US" sz="1100" dirty="0">
                          <a:solidFill>
                            <a:srgbClr val="1F2937"/>
                          </a:solidFill>
                        </a:rPr>
                        <a:t>담당 </a:t>
                      </a:r>
                      <a:pPr indent="0" marL="0">
                        <a:buNone/>
                      </a:pPr>
                      <a:r>
                        <a:rPr lang="en-US" sz="1100" dirty="0">
                          <a:solidFill>
                            <a:srgbClr val="1F2937"/>
                          </a:solidFill>
                        </a:rPr>
                        <a:t>지정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착수 </a:t>
                      </a:r>
                      <a:pPr indent="0" marL="0">
                        <a:buNone/>
                      </a:pPr>
                      <a:r>
                        <a:rPr lang="en-US" sz="1100" dirty="0">
                          <a:solidFill>
                            <a:srgbClr val="1F2937"/>
                          </a:solidFill>
                        </a:rPr>
                        <a:t>및 </a:t>
                      </a:r>
                      <a:pPr indent="0" marL="0">
                        <a:buNone/>
                      </a:pPr>
                      <a:r>
                        <a:rPr lang="en-US" sz="1100" dirty="0">
                          <a:solidFill>
                            <a:srgbClr val="1F2937"/>
                          </a:solidFill>
                        </a:rPr>
                        <a:t>담당자 </a:t>
                      </a:r>
                      <a:pPr indent="0" marL="0">
                        <a:buNone/>
                      </a:pPr>
                      <a:r>
                        <a:rPr lang="en-US" sz="1100" dirty="0">
                          <a:solidFill>
                            <a:srgbClr val="1F2937"/>
                          </a:solidFill>
                        </a:rPr>
                        <a:t>지정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준비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테스트 </a:t>
                      </a:r>
                      <a:pPr indent="0" marL="0">
                        <a:buNone/>
                      </a:pPr>
                      <a:r>
                        <a:rPr lang="en-US" sz="1100" dirty="0">
                          <a:solidFill>
                            <a:srgbClr val="1F2937"/>
                          </a:solidFill>
                        </a:rPr>
                        <a:t>케이스와 </a:t>
                      </a:r>
                      <a:pPr indent="0" marL="0">
                        <a:buNone/>
                      </a:pPr>
                      <a:r>
                        <a:rPr lang="en-US" sz="1100" dirty="0">
                          <a:solidFill>
                            <a:srgbClr val="1F2937"/>
                          </a:solidFill>
                        </a:rPr>
                        <a:t>기준 </a:t>
                      </a:r>
                      <a:pPr indent="0" marL="0">
                        <a:buNone/>
                      </a:pPr>
                      <a:r>
                        <a:rPr lang="en-US" sz="1100" dirty="0">
                          <a:solidFill>
                            <a:srgbClr val="1F2937"/>
                          </a:solidFill>
                        </a:rPr>
                        <a:t>데이터 </a:t>
                      </a:r>
                      <a:pPr indent="0" marL="0">
                        <a:buNone/>
                      </a:pPr>
                      <a:r>
                        <a:rPr lang="en-US" sz="1100" dirty="0">
                          <a:solidFill>
                            <a:srgbClr val="1F2937"/>
                          </a:solidFill>
                        </a:rPr>
                        <a:t>작성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1주차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QA </a:t>
                      </a:r>
                      <a:pPr indent="0" marL="0">
                        <a:buNone/>
                      </a:pPr>
                      <a:r>
                        <a:rPr lang="en-US" sz="1100" dirty="0">
                          <a:solidFill>
                            <a:srgbClr val="1F2937"/>
                          </a:solidFill>
                        </a:rPr>
                        <a:t>담당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범위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준비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검증 </a:t>
                      </a:r>
                      <a:pPr indent="0" marL="0">
                        <a:buNone/>
                      </a:pPr>
                      <a:r>
                        <a:rPr lang="en-US" sz="1100" dirty="0">
                          <a:solidFill>
                            <a:srgbClr val="1F2937"/>
                          </a:solidFill>
                        </a:rPr>
                        <a:t>환경·접근 </a:t>
                      </a:r>
                      <a:pPr indent="0" marL="0">
                        <a:buNone/>
                      </a:pPr>
                      <a:r>
                        <a:rPr lang="en-US" sz="1100" dirty="0">
                          <a:solidFill>
                            <a:srgbClr val="1F2937"/>
                          </a:solidFill>
                        </a:rPr>
                        <a:t>권한 </a:t>
                      </a:r>
                      <a:pPr indent="0" marL="0">
                        <a:buNone/>
                      </a:pPr>
                      <a:r>
                        <a:rPr lang="en-US" sz="1100" dirty="0">
                          <a:solidFill>
                            <a:srgbClr val="1F2937"/>
                          </a:solidFill>
                        </a:rPr>
                        <a:t>준비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1주차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담당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기술 </a:t>
                      </a:r>
                      <a:pPr indent="0" marL="0">
                        <a:buNone/>
                      </a:pPr>
                      <a:r>
                        <a:rPr lang="en-US" sz="1100" dirty="0">
                          <a:solidFill>
                            <a:srgbClr val="1F2937"/>
                          </a:solidFill>
                        </a:rPr>
                        <a:t>구성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단계별 </a:t>
                      </a:r>
                      <a:pPr indent="0" marL="0">
                        <a:buNone/>
                      </a:pPr>
                      <a:r>
                        <a:rPr lang="en-US" sz="1100" dirty="0">
                          <a:solidFill>
                            <a:srgbClr val="1F2937"/>
                          </a:solidFill>
                        </a:rPr>
                        <a:t>검증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단위 </a:t>
                      </a:r>
                      <a:pPr indent="0" marL="0">
                        <a:buNone/>
                      </a:pPr>
                      <a:r>
                        <a:rPr lang="en-US" sz="1100" dirty="0">
                          <a:solidFill>
                            <a:srgbClr val="1F2937"/>
                          </a:solidFill>
                        </a:rPr>
                        <a:t>테스트·코드 </a:t>
                      </a:r>
                      <a:pPr indent="0" marL="0">
                        <a:buNone/>
                      </a:pPr>
                      <a:r>
                        <a:rPr lang="en-US" sz="1100" dirty="0">
                          <a:solidFill>
                            <a:srgbClr val="1F2937"/>
                          </a:solidFill>
                        </a:rPr>
                        <a:t>수준 </a:t>
                      </a:r>
                      <a:pPr indent="0" marL="0">
                        <a:buNone/>
                      </a:pPr>
                      <a:r>
                        <a:rPr lang="en-US" sz="1100" dirty="0">
                          <a:solidFill>
                            <a:srgbClr val="1F2937"/>
                          </a:solidFill>
                        </a:rPr>
                        <a:t>검증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1~4주차 </a:t>
                      </a:r>
                      <a:pPr indent="0" marL="0">
                        <a:buNone/>
                      </a:pPr>
                      <a:r>
                        <a:rPr lang="en-US" sz="1100" dirty="0">
                          <a:solidFill>
                            <a:srgbClr val="1F2937"/>
                          </a:solidFill>
                        </a:rPr>
                        <a:t>병행 </a:t>
                      </a:r>
                      <a:pPr indent="0" marL="0">
                        <a:buNone/>
                      </a:pPr>
                      <a:r>
                        <a:rPr lang="en-US" sz="1100" dirty="0">
                          <a:solidFill>
                            <a:srgbClr val="1F2937"/>
                          </a:solidFill>
                        </a:rPr>
                        <a:t>제안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개발팀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기능 </a:t>
                      </a:r>
                      <a:pPr indent="0" marL="0">
                        <a:buNone/>
                      </a:pPr>
                      <a:r>
                        <a:rPr lang="en-US" sz="1100" dirty="0">
                          <a:solidFill>
                            <a:srgbClr val="1F2937"/>
                          </a:solidFill>
                        </a:rPr>
                        <a:t>개발 </a:t>
                      </a:r>
                      <a:pPr indent="0" marL="0">
                        <a:buNone/>
                      </a:pPr>
                      <a:r>
                        <a:rPr lang="en-US" sz="1100" dirty="0">
                          <a:solidFill>
                            <a:srgbClr val="1F2937"/>
                          </a:solidFill>
                        </a:rPr>
                        <a:t>시작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단계별 </a:t>
                      </a:r>
                      <a:pPr indent="0" marL="0">
                        <a:buNone/>
                      </a:pPr>
                      <a:r>
                        <a:rPr lang="en-US" sz="1100" dirty="0">
                          <a:solidFill>
                            <a:srgbClr val="1F2937"/>
                          </a:solidFill>
                        </a:rPr>
                        <a:t>검증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섹션 </a:t>
                      </a:r>
                      <a:pPr indent="0" marL="0">
                        <a:buNone/>
                      </a:pPr>
                      <a:r>
                        <a:rPr lang="en-US" sz="1100" dirty="0">
                          <a:solidFill>
                            <a:srgbClr val="1F2937"/>
                          </a:solidFill>
                        </a:rPr>
                        <a:t>저장·재사용·취소 </a:t>
                      </a:r>
                      <a:pPr indent="0" marL="0">
                        <a:buNone/>
                      </a:pPr>
                      <a:r>
                        <a:rPr lang="en-US" sz="1100" dirty="0">
                          <a:solidFill>
                            <a:srgbClr val="1F2937"/>
                          </a:solidFill>
                        </a:rPr>
                        <a:t>연동 </a:t>
                      </a:r>
                      <a:pPr indent="0" marL="0">
                        <a:buNone/>
                      </a:pPr>
                      <a:r>
                        <a:rPr lang="en-US" sz="1100" dirty="0">
                          <a:solidFill>
                            <a:srgbClr val="1F2937"/>
                          </a:solidFill>
                        </a:rPr>
                        <a:t>검증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관련 </a:t>
                      </a:r>
                      <a:pPr indent="0" marL="0">
                        <a:buNone/>
                      </a:pPr>
                      <a:r>
                        <a:rPr lang="en-US" sz="1100" dirty="0">
                          <a:solidFill>
                            <a:srgbClr val="1F2937"/>
                          </a:solidFill>
                        </a:rPr>
                        <a:t>기능 </a:t>
                      </a:r>
                      <a:pPr indent="0" marL="0">
                        <a:buNone/>
                      </a:pPr>
                      <a:r>
                        <a:rPr lang="en-US" sz="1100" dirty="0">
                          <a:solidFill>
                            <a:srgbClr val="1F2937"/>
                          </a:solidFill>
                        </a:rPr>
                        <a:t>배포 </a:t>
                      </a:r>
                      <a:pPr indent="0" marL="0">
                        <a:buNone/>
                      </a:pPr>
                      <a:r>
                        <a:rPr lang="en-US" sz="1100" dirty="0">
                          <a:solidFill>
                            <a:srgbClr val="1F2937"/>
                          </a:solidFill>
                        </a:rPr>
                        <a:t>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이개발·QA </a:t>
                      </a:r>
                      <a:pPr indent="0" marL="0">
                        <a:buNone/>
                      </a:pPr>
                      <a:r>
                        <a:rPr lang="en-US" sz="1100" dirty="0">
                          <a:solidFill>
                            <a:srgbClr val="1F2937"/>
                          </a:solidFill>
                        </a:rPr>
                        <a:t>담당 </a:t>
                      </a:r>
                      <a:pPr indent="0" marL="0">
                        <a:buNone/>
                      </a:pPr>
                      <a:r>
                        <a:rPr lang="en-US" sz="1100" dirty="0">
                          <a:solidFill>
                            <a:srgbClr val="1F2937"/>
                          </a:solidFill>
                        </a:rPr>
                        <a:t>지정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저장·생성 </a:t>
                      </a:r>
                      <a:pPr indent="0" marL="0">
                        <a:buNone/>
                      </a:pPr>
                      <a:r>
                        <a:rPr lang="en-US" sz="1100" dirty="0">
                          <a:solidFill>
                            <a:srgbClr val="1F2937"/>
                          </a:solidFill>
                        </a:rPr>
                        <a:t>기능 </a:t>
                      </a:r>
                      <a:pPr indent="0" marL="0">
                        <a:buNone/>
                      </a:pPr>
                      <a:r>
                        <a:rPr lang="en-US" sz="1100" dirty="0">
                          <a:solidFill>
                            <a:srgbClr val="1F2937"/>
                          </a:solidFill>
                        </a:rPr>
                        <a:t>배포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단계별 </a:t>
                      </a:r>
                      <a:pPr indent="0" marL="0">
                        <a:buNone/>
                      </a:pPr>
                      <a:r>
                        <a:rPr lang="en-US" sz="1100" dirty="0">
                          <a:solidFill>
                            <a:srgbClr val="1F2937"/>
                          </a:solidFill>
                        </a:rPr>
                        <a:t>검증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로그인·입력·생성·내려받기 </a:t>
                      </a:r>
                      <a:pPr indent="0" marL="0">
                        <a:buNone/>
                      </a:pPr>
                      <a:r>
                        <a:rPr lang="en-US" sz="1100" dirty="0">
                          <a:solidFill>
                            <a:srgbClr val="1F2937"/>
                          </a:solidFill>
                        </a:rPr>
                        <a:t>기능 </a:t>
                      </a:r>
                      <a:pPr indent="0" marL="0">
                        <a:buNone/>
                      </a:pPr>
                      <a:r>
                        <a:rPr lang="en-US" sz="1100" dirty="0">
                          <a:solidFill>
                            <a:srgbClr val="1F2937"/>
                          </a:solidFill>
                        </a:rPr>
                        <a:t>검증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관련 </a:t>
                      </a:r>
                      <a:pPr indent="0" marL="0">
                        <a:buNone/>
                      </a:pPr>
                      <a:r>
                        <a:rPr lang="en-US" sz="1100" dirty="0">
                          <a:solidFill>
                            <a:srgbClr val="1F2937"/>
                          </a:solidFill>
                        </a:rPr>
                        <a:t>기능 </a:t>
                      </a:r>
                      <a:pPr indent="0" marL="0">
                        <a:buNone/>
                      </a:pPr>
                      <a:r>
                        <a:rPr lang="en-US" sz="1100" dirty="0">
                          <a:solidFill>
                            <a:srgbClr val="1F2937"/>
                          </a:solidFill>
                        </a:rPr>
                        <a:t>배포 </a:t>
                      </a:r>
                      <a:pPr indent="0" marL="0">
                        <a:buNone/>
                      </a:pPr>
                      <a:r>
                        <a:rPr lang="en-US" sz="1100" dirty="0">
                          <a:solidFill>
                            <a:srgbClr val="1F2937"/>
                          </a:solidFill>
                        </a:rPr>
                        <a:t>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QA </a:t>
                      </a:r>
                      <a:pPr indent="0" marL="0">
                        <a:buNone/>
                      </a:pPr>
                      <a:r>
                        <a:rPr lang="en-US" sz="1100" dirty="0">
                          <a:solidFill>
                            <a:srgbClr val="1F2937"/>
                          </a:solidFill>
                        </a:rPr>
                        <a:t>담당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시험 </a:t>
                      </a:r>
                      <a:pPr indent="0" marL="0">
                        <a:buNone/>
                      </a:pPr>
                      <a:r>
                        <a:rPr lang="en-US" sz="1100" dirty="0">
                          <a:solidFill>
                            <a:srgbClr val="1F2937"/>
                          </a:solidFill>
                        </a:rPr>
                        <a:t>가능한 </a:t>
                      </a:r>
                      <a:pPr indent="0" marL="0">
                        <a:buNone/>
                      </a:pPr>
                      <a:r>
                        <a:rPr lang="en-US" sz="1100" dirty="0">
                          <a:solidFill>
                            <a:srgbClr val="1F2937"/>
                          </a:solidFill>
                        </a:rPr>
                        <a:t>환경에 </a:t>
                      </a:r>
                      <a:pPr indent="0" marL="0">
                        <a:buNone/>
                      </a:pPr>
                      <a:r>
                        <a:rPr lang="en-US" sz="1100" dirty="0">
                          <a:solidFill>
                            <a:srgbClr val="1F2937"/>
                          </a:solidFill>
                        </a:rPr>
                        <a:t>배포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단계별 </a:t>
                      </a:r>
                      <a:pPr indent="0" marL="0">
                        <a:buNone/>
                      </a:pPr>
                      <a:r>
                        <a:rPr lang="en-US" sz="1100" dirty="0">
                          <a:solidFill>
                            <a:srgbClr val="1F2937"/>
                          </a:solidFill>
                        </a:rPr>
                        <a:t>검증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Word·PDF </a:t>
                      </a:r>
                      <a:pPr indent="0" marL="0">
                        <a:buNone/>
                      </a:pPr>
                      <a:r>
                        <a:rPr lang="en-US" sz="1100" dirty="0">
                          <a:solidFill>
                            <a:srgbClr val="1F2937"/>
                          </a:solidFill>
                        </a:rPr>
                        <a:t>출력 </a:t>
                      </a:r>
                      <a:pPr indent="0" marL="0">
                        <a:buNone/>
                      </a:pPr>
                      <a:r>
                        <a:rPr lang="en-US" sz="1100" dirty="0">
                          <a:solidFill>
                            <a:srgbClr val="1F2937"/>
                          </a:solidFill>
                        </a:rPr>
                        <a:t>및 </a:t>
                      </a:r>
                      <a:pPr indent="0" marL="0">
                        <a:buNone/>
                      </a:pPr>
                      <a:r>
                        <a:rPr lang="en-US" sz="1100" dirty="0">
                          <a:solidFill>
                            <a:srgbClr val="1F2937"/>
                          </a:solidFill>
                        </a:rPr>
                        <a:t>서식 </a:t>
                      </a:r>
                      <a:pPr indent="0" marL="0">
                        <a:buNone/>
                      </a:pPr>
                      <a:r>
                        <a:rPr lang="en-US" sz="1100" dirty="0">
                          <a:solidFill>
                            <a:srgbClr val="1F2937"/>
                          </a:solidFill>
                        </a:rPr>
                        <a:t>검증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출력 </a:t>
                      </a:r>
                      <a:pPr indent="0" marL="0">
                        <a:buNone/>
                      </a:pPr>
                      <a:r>
                        <a:rPr lang="en-US" sz="1100" dirty="0">
                          <a:solidFill>
                            <a:srgbClr val="1F2937"/>
                          </a:solidFill>
                        </a:rPr>
                        <a:t>기능 </a:t>
                      </a:r>
                      <a:pPr indent="0" marL="0">
                        <a:buNone/>
                      </a:pPr>
                      <a:r>
                        <a:rPr lang="en-US" sz="1100" dirty="0">
                          <a:solidFill>
                            <a:srgbClr val="1F2937"/>
                          </a:solidFill>
                        </a:rPr>
                        <a:t>배포 </a:t>
                      </a:r>
                      <a:pPr indent="0" marL="0">
                        <a:buNone/>
                      </a:pPr>
                      <a:r>
                        <a:rPr lang="en-US" sz="1100" dirty="0">
                          <a:solidFill>
                            <a:srgbClr val="1F2937"/>
                          </a:solidFill>
                        </a:rPr>
                        <a:t>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QA·디자인 </a:t>
                      </a:r>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서식 </a:t>
                      </a:r>
                      <a:pPr indent="0" marL="0">
                        <a:buNone/>
                      </a:pPr>
                      <a:r>
                        <a:rPr lang="en-US" sz="1100" dirty="0">
                          <a:solidFill>
                            <a:srgbClr val="1F2937"/>
                          </a:solidFill>
                        </a:rPr>
                        <a:t>기준 </a:t>
                      </a:r>
                      <a:pPr indent="0" marL="0">
                        <a:buNone/>
                      </a:pPr>
                      <a:r>
                        <a:rPr lang="en-US" sz="1100" dirty="0">
                          <a:solidFill>
                            <a:srgbClr val="1F2937"/>
                          </a:solidFill>
                        </a:rPr>
                        <a:t>확정 </a:t>
                      </a:r>
                      <a:pPr indent="0" marL="0">
                        <a:buNone/>
                      </a:pPr>
                      <a:r>
                        <a:rPr lang="en-US" sz="1100" dirty="0">
                          <a:solidFill>
                            <a:srgbClr val="1F2937"/>
                          </a:solidFill>
                        </a:rPr>
                        <a:t>및 </a:t>
                      </a:r>
                      <a:pPr indent="0" marL="0">
                        <a:buNone/>
                      </a:pPr>
                      <a:r>
                        <a:rPr lang="en-US" sz="1100" dirty="0">
                          <a:solidFill>
                            <a:srgbClr val="1F2937"/>
                          </a:solidFill>
                        </a:rPr>
                        <a:t>파일 </a:t>
                      </a:r>
                      <a:pPr indent="0" marL="0">
                        <a:buNone/>
                      </a:pPr>
                      <a:r>
                        <a:rPr lang="en-US" sz="1100" dirty="0">
                          <a:solidFill>
                            <a:srgbClr val="1F2937"/>
                          </a:solidFill>
                        </a:rPr>
                        <a:t>생성 </a:t>
                      </a:r>
                      <a:pPr indent="0" marL="0">
                        <a:buNone/>
                      </a:pPr>
                      <a:r>
                        <a:rPr lang="en-US" sz="1100" dirty="0">
                          <a:solidFill>
                            <a:srgbClr val="1F2937"/>
                          </a:solidFill>
                        </a:rPr>
                        <a:t>가능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릴리스 </a:t>
                      </a:r>
                      <a:pPr indent="0" marL="0">
                        <a:buNone/>
                      </a:pPr>
                      <a:r>
                        <a:rPr lang="en-US" sz="1100" dirty="0">
                          <a:solidFill>
                            <a:srgbClr val="1F2937"/>
                          </a:solidFill>
                        </a:rPr>
                        <a:t>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핵심 </a:t>
                      </a:r>
                      <a:pPr indent="0" marL="0">
                        <a:buNone/>
                      </a:pPr>
                      <a:r>
                        <a:rPr lang="en-US" sz="1100" dirty="0">
                          <a:solidFill>
                            <a:srgbClr val="1F2937"/>
                          </a:solidFill>
                        </a:rPr>
                        <a:t>흐름 </a:t>
                      </a:r>
                      <a:pPr indent="0" marL="0">
                        <a:buNone/>
                      </a:pPr>
                      <a:r>
                        <a:rPr lang="en-US" sz="1100" dirty="0">
                          <a:solidFill>
                            <a:srgbClr val="1F2937"/>
                          </a:solidFill>
                        </a:rPr>
                        <a:t>E2E </a:t>
                      </a:r>
                      <a:pPr indent="0" marL="0">
                        <a:buNone/>
                      </a:pPr>
                      <a:r>
                        <a:rPr lang="en-US" sz="1100" dirty="0">
                          <a:solidFill>
                            <a:srgbClr val="1F2937"/>
                          </a:solidFill>
                        </a:rPr>
                        <a:t>및 </a:t>
                      </a:r>
                      <a:pPr indent="0" marL="0">
                        <a:buNone/>
                      </a:pPr>
                      <a:r>
                        <a:rPr lang="en-US" sz="1100" dirty="0">
                          <a:solidFill>
                            <a:srgbClr val="1F2937"/>
                          </a:solidFill>
                        </a:rPr>
                        <a:t>회귀 </a:t>
                      </a:r>
                      <a:pPr indent="0" marL="0">
                        <a:buNone/>
                      </a:pPr>
                      <a:r>
                        <a:rPr lang="en-US" sz="1100" dirty="0">
                          <a:solidFill>
                            <a:srgbClr val="1F2937"/>
                          </a:solidFill>
                        </a:rPr>
                        <a:t>테스트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릴리스 </a:t>
                      </a:r>
                      <a:pPr indent="0" marL="0">
                        <a:buNone/>
                      </a:pPr>
                      <a:r>
                        <a:rPr lang="en-US" sz="1100" dirty="0">
                          <a:solidFill>
                            <a:srgbClr val="1F2937"/>
                          </a:solidFill>
                        </a:rPr>
                        <a:t>후보 </a:t>
                      </a:r>
                      <a:pPr indent="0" marL="0">
                        <a:buNone/>
                      </a:pPr>
                      <a:r>
                        <a:rPr lang="en-US" sz="1100" dirty="0">
                          <a:solidFill>
                            <a:srgbClr val="1F2937"/>
                          </a:solidFill>
                        </a:rPr>
                        <a:t>준비 </a:t>
                      </a:r>
                      <a:pPr indent="0" marL="0">
                        <a:buNone/>
                      </a:pPr>
                      <a:r>
                        <a:rPr lang="en-US" sz="1100" dirty="0">
                          <a:solidFill>
                            <a:srgbClr val="1F2937"/>
                          </a:solidFill>
                        </a:rPr>
                        <a:t>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QA </a:t>
                      </a:r>
                      <a:pPr indent="0" marL="0">
                        <a:buNone/>
                      </a:pPr>
                      <a:r>
                        <a:rPr lang="en-US" sz="1100" dirty="0">
                          <a:solidFill>
                            <a:srgbClr val="1F2937"/>
                          </a:solidFill>
                        </a:rPr>
                        <a:t>담당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기능 </a:t>
                      </a:r>
                      <a:pPr indent="0" marL="0">
                        <a:buNone/>
                      </a:pPr>
                      <a:r>
                        <a:rPr lang="en-US" sz="1100" dirty="0">
                          <a:solidFill>
                            <a:srgbClr val="1F2937"/>
                          </a:solidFill>
                        </a:rPr>
                        <a:t>검증 </a:t>
                      </a:r>
                      <a:pPr indent="0" marL="0">
                        <a:buNone/>
                      </a:pPr>
                      <a:r>
                        <a:rPr lang="en-US" sz="1100" dirty="0">
                          <a:solidFill>
                            <a:srgbClr val="1F2937"/>
                          </a:solidFill>
                        </a:rPr>
                        <a:t>및 </a:t>
                      </a:r>
                      <a:pPr indent="0" marL="0">
                        <a:buNone/>
                      </a:pPr>
                      <a:r>
                        <a:rPr lang="en-US" sz="1100" dirty="0">
                          <a:solidFill>
                            <a:srgbClr val="1F2937"/>
                          </a:solidFill>
                        </a:rPr>
                        <a:t>수정 </a:t>
                      </a:r>
                      <a:pPr indent="0" marL="0">
                        <a:buNone/>
                      </a:pPr>
                      <a:r>
                        <a:rPr lang="en-US" sz="1100" dirty="0">
                          <a:solidFill>
                            <a:srgbClr val="1F2937"/>
                          </a:solidFill>
                        </a:rPr>
                        <a:t>반영</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릴리스 </a:t>
                      </a:r>
                      <a:pPr indent="0" marL="0">
                        <a:buNone/>
                      </a:pPr>
                      <a:r>
                        <a:rPr lang="en-US" sz="1100" dirty="0">
                          <a:solidFill>
                            <a:srgbClr val="1F2937"/>
                          </a:solidFill>
                        </a:rPr>
                        <a:t>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성능·보안 </a:t>
                      </a:r>
                      <a:pPr indent="0" marL="0">
                        <a:buNone/>
                      </a:pPr>
                      <a:r>
                        <a:rPr lang="en-US" sz="1100" dirty="0">
                          <a:solidFill>
                            <a:srgbClr val="1F2937"/>
                          </a:solidFill>
                        </a:rPr>
                        <a:t>위험 </a:t>
                      </a:r>
                      <a:pPr indent="0" marL="0">
                        <a:buNone/>
                      </a:pPr>
                      <a:r>
                        <a:rPr lang="en-US" sz="1100" dirty="0">
                          <a:solidFill>
                            <a:srgbClr val="1F2937"/>
                          </a:solidFill>
                        </a:rPr>
                        <a:t>점검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목표·환경 </a:t>
                      </a:r>
                      <a:pPr indent="0" marL="0">
                        <a:buNone/>
                      </a:pPr>
                      <a:r>
                        <a:rPr lang="en-US" sz="1100" dirty="0">
                          <a:solidFill>
                            <a:srgbClr val="1F2937"/>
                          </a:solidFill>
                        </a:rPr>
                        <a:t>확정 </a:t>
                      </a:r>
                      <a:pPr indent="0" marL="0">
                        <a:buNone/>
                      </a:pPr>
                      <a:r>
                        <a:rPr lang="en-US" sz="1100" dirty="0">
                          <a:solidFill>
                            <a:srgbClr val="1F2937"/>
                          </a:solidFill>
                        </a:rPr>
                        <a:t>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담당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측정 </a:t>
                      </a:r>
                      <a:pPr indent="0" marL="0">
                        <a:buNone/>
                      </a:pPr>
                      <a:r>
                        <a:rPr lang="en-US" sz="1100" dirty="0">
                          <a:solidFill>
                            <a:srgbClr val="1F2937"/>
                          </a:solidFill>
                        </a:rPr>
                        <a:t>기준과 </a:t>
                      </a:r>
                      <a:pPr indent="0" marL="0">
                        <a:buNone/>
                      </a:pPr>
                      <a:r>
                        <a:rPr lang="en-US" sz="1100" dirty="0">
                          <a:solidFill>
                            <a:srgbClr val="1F2937"/>
                          </a:solidFill>
                        </a:rPr>
                        <a:t>권한 </a:t>
                      </a:r>
                      <a:pPr indent="0" marL="0">
                        <a:buNone/>
                      </a:pPr>
                      <a:r>
                        <a:rPr lang="en-US" sz="1100" dirty="0">
                          <a:solidFill>
                            <a:srgbClr val="1F2937"/>
                          </a:solidFill>
                        </a:rPr>
                        <a:t>준비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종료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결과 </a:t>
                      </a:r>
                      <a:pPr indent="0" marL="0">
                        <a:buNone/>
                      </a:pPr>
                      <a:r>
                        <a:rPr lang="en-US" sz="1100" dirty="0">
                          <a:solidFill>
                            <a:srgbClr val="1F2937"/>
                          </a:solidFill>
                        </a:rPr>
                        <a:t>정리 </a:t>
                      </a:r>
                      <a:pPr indent="0" marL="0">
                        <a:buNone/>
                      </a:pPr>
                      <a:r>
                        <a:rPr lang="en-US" sz="1100" dirty="0">
                          <a:solidFill>
                            <a:srgbClr val="1F2937"/>
                          </a:solidFill>
                        </a:rPr>
                        <a:t>및 </a:t>
                      </a:r>
                      <a:pPr indent="0" marL="0">
                        <a:buNone/>
                      </a:pPr>
                      <a:r>
                        <a:rPr lang="en-US" sz="1100" dirty="0">
                          <a:solidFill>
                            <a:srgbClr val="1F2937"/>
                          </a:solidFill>
                        </a:rPr>
                        <a:t>배포 </a:t>
                      </a:r>
                      <a:pPr indent="0" marL="0">
                        <a:buNone/>
                      </a:pPr>
                      <a:r>
                        <a:rPr lang="en-US" sz="1100" dirty="0">
                          <a:solidFill>
                            <a:srgbClr val="1F2937"/>
                          </a:solidFill>
                        </a:rPr>
                        <a:t>승인 </a:t>
                      </a:r>
                      <a:pPr indent="0" marL="0">
                        <a:buNone/>
                      </a:pPr>
                      <a:r>
                        <a:rPr lang="en-US" sz="1100" dirty="0">
                          <a:solidFill>
                            <a:srgbClr val="1F2937"/>
                          </a:solidFill>
                        </a:rPr>
                        <a:t>검토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테스트 </a:t>
                      </a:r>
                      <a:pPr indent="0" marL="0">
                        <a:buNone/>
                      </a:pPr>
                      <a:r>
                        <a:rPr lang="en-US" sz="1100" dirty="0">
                          <a:solidFill>
                            <a:srgbClr val="1F2937"/>
                          </a:solidFill>
                        </a:rPr>
                        <a:t>완료 </a:t>
                      </a:r>
                      <a:pPr indent="0" marL="0">
                        <a:buNone/>
                      </a:pPr>
                      <a:r>
                        <a:rPr lang="en-US" sz="1100" dirty="0">
                          <a:solidFill>
                            <a:srgbClr val="1F2937"/>
                          </a:solidFill>
                        </a:rPr>
                        <a:t>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승인자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퇴수 </a:t>
                      </a:r>
                      <a:pPr indent="0" marL="0">
                        <a:buNone/>
                      </a:pPr>
                      <a:r>
                        <a:rPr lang="en-US" sz="1100" dirty="0">
                          <a:solidFill>
                            <a:srgbClr val="1F2937"/>
                          </a:solidFill>
                        </a:rPr>
                        <a:t>기준 </a:t>
                      </a:r>
                      <a:pPr indent="0" marL="0">
                        <a:buNone/>
                      </a:pPr>
                      <a:r>
                        <a:rPr lang="en-US" sz="1100" dirty="0">
                          <a:solidFill>
                            <a:srgbClr val="1F2937"/>
                          </a:solidFill>
                        </a:rPr>
                        <a:t>검토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 단계별 일정</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일정 선후 관계:</a:t>
            </a:r>
            <a:pPr indent="0" marL="0">
              <a:spcAft>
                <a:spcPts val="800"/>
              </a:spcAft>
              <a:buNone/>
            </a:pPr>
            <a:r>
              <a:rPr lang="en-US" sz="1600" dirty="0">
                <a:solidFill>
                  <a:srgbClr val="4B5563"/>
                </a:solidFill>
              </a:rPr>
              <a:t> 환경 준비와 기준 문서 작성이 끝나기 전에 전체 검증을 시작하지 않습니다. 저장·재사용 및 취소 검증은 관련 기능이 시험 환경에 배포된 뒤 진행합니다. 회귀 테스트는 수정 사항이 반영된 빌드에서 수행하고, 최종 승인은 회귀 결과와 미해결 결함을 검토한 뒤 진행합니다. 실제 날짜는 개발 완료·배포 일정을 확인한 뒤 연결해야 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6.2 간트 차트</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정확한 날짜가 정해지지 않아 날짜 기반 간트 차트는 작성할 수 없습니다. 아래는 선후 관계를 나타낸 주차 기준 일정 제안입니다.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6.2 간트 차트</a:t>
            </a:r>
            <a:endParaRPr lang="en-US" sz="2800" dirty="0"/>
          </a:p>
        </p:txBody>
      </p:sp>
      <p:sp>
        <p:nvSpPr>
          <p:cNvPr id="3" name="Shape 1"/>
          <p:cNvSpPr/>
          <p:nvPr/>
        </p:nvSpPr>
        <p:spPr>
          <a:xfrm>
            <a:off x="457200" y="1078992"/>
            <a:ext cx="2743200" cy="41148"/>
          </a:xfrm>
          <a:prstGeom prst="rect">
            <a:avLst/>
          </a:prstGeom>
          <a:solidFill>
            <a:srgbClr val="263F59"/>
          </a:solidFill>
          <a:ln/>
        </p:spPr>
      </p:sp>
      <p:pic>
        <p:nvPicPr>
          <p:cNvPr id="4" name="Image 0" descr="preencoded.png">    </p:cNvPr>
          <p:cNvPicPr>
            <a:picLocks noChangeAspect="1"/>
          </p:cNvPicPr>
          <p:nvPr/>
        </p:nvPicPr>
        <p:blipFill>
          <a:blip r:embed="rId1"/>
          <a:stretch>
            <a:fillRect/>
          </a:stretch>
        </p:blipFill>
        <p:spPr>
          <a:xfrm>
            <a:off x="640080" y="1463040"/>
            <a:ext cx="7863840" cy="2264587"/>
          </a:xfrm>
          <a:prstGeom prst="rect">
            <a:avLst/>
          </a:prstGeom>
        </p:spPr>
      </p:pic>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6.2 간트 차트</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주의:</a:t>
            </a:r>
            <a:pPr indent="0" marL="0">
              <a:spcAft>
                <a:spcPts val="800"/>
              </a:spcAft>
              <a:buNone/>
            </a:pPr>
            <a:r>
              <a:rPr lang="en-US" sz="1600" dirty="0">
                <a:solidFill>
                  <a:srgbClr val="4B5563"/>
                </a:solidFill>
              </a:rPr>
              <a:t> 차트의 날짜는 일정 구조를 예시하기 위한 제안이며 확정된 테스트 시작일·종료일이 아닙니다. 실제 개발 4주 일정과 겹치는 정도, 테스트 가능 빌드 제공일, 수정·재검증 시간을 확인해 날짜를 다시 정해야 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7. 입수·퇴수 기준</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7.1 입수 기준</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아래 항목을 충족해야 정식 기능 테스트를 시작하는 것을 제안합니다. 책임자는 회의에서 지정되지 않은 경우 담당자 확정이 필요합니다.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7.1 입수 기준</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866274"/>
                <a:gridCol w="3898232"/>
                <a:gridCol w="1732547"/>
                <a:gridCol w="1732547"/>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기준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확인 </a:t>
                      </a:r>
                      <a:pPr indent="0" marL="0">
                        <a:buNone/>
                      </a:pPr>
                      <a:r>
                        <a:rPr lang="en-US" sz="1200" b="1" dirty="0">
                          <a:solidFill>
                            <a:srgbClr val="FFFFFF"/>
                          </a:solidFill>
                        </a:rPr>
                        <a:t>방법</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담당</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범위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로그인·회의록 </a:t>
                      </a:r>
                      <a:pPr indent="0" marL="0">
                        <a:buNone/>
                      </a:pPr>
                      <a:r>
                        <a:rPr lang="en-US" sz="1100" dirty="0">
                          <a:solidFill>
                            <a:srgbClr val="1F2937"/>
                          </a:solidFill>
                        </a:rPr>
                        <a:t>입력·문서 </a:t>
                      </a:r>
                      <a:pPr indent="0" marL="0">
                        <a:buNone/>
                      </a:pPr>
                      <a:r>
                        <a:rPr lang="en-US" sz="1100" dirty="0">
                          <a:solidFill>
                            <a:srgbClr val="1F2937"/>
                          </a:solidFill>
                        </a:rPr>
                        <a:t>생성·Word/PDF </a:t>
                      </a:r>
                      <a:pPr indent="0" marL="0">
                        <a:buNone/>
                      </a:pPr>
                      <a:r>
                        <a:rPr lang="en-US" sz="1100" dirty="0">
                          <a:solidFill>
                            <a:srgbClr val="1F2937"/>
                          </a:solidFill>
                        </a:rPr>
                        <a:t>내려받기 </a:t>
                      </a:r>
                      <a:pPr indent="0" marL="0">
                        <a:buNone/>
                      </a:pPr>
                      <a:r>
                        <a:rPr lang="en-US" sz="1100" dirty="0">
                          <a:solidFill>
                            <a:srgbClr val="1F2937"/>
                          </a:solidFill>
                        </a:rPr>
                        <a:t>및 </a:t>
                      </a:r>
                      <a:pPr indent="0" marL="0">
                        <a:buNone/>
                      </a:pPr>
                      <a:r>
                        <a:rPr lang="en-US" sz="1100" dirty="0">
                          <a:solidFill>
                            <a:srgbClr val="1F2937"/>
                          </a:solidFill>
                        </a:rPr>
                        <a:t>공유 </a:t>
                      </a:r>
                      <a:pPr indent="0" marL="0">
                        <a:buNone/>
                      </a:pPr>
                      <a:r>
                        <a:rPr lang="en-US" sz="1100" dirty="0">
                          <a:solidFill>
                            <a:srgbClr val="1F2937"/>
                          </a:solidFill>
                        </a:rPr>
                        <a:t>링크·결제 </a:t>
                      </a:r>
                      <a:pPr indent="0" marL="0">
                        <a:buNone/>
                      </a:pPr>
                      <a:r>
                        <a:rPr lang="en-US" sz="1100" dirty="0">
                          <a:solidFill>
                            <a:srgbClr val="1F2937"/>
                          </a:solidFill>
                        </a:rPr>
                        <a:t>제외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범위표 </a:t>
                      </a:r>
                      <a:pPr indent="0" marL="0">
                        <a:buNone/>
                      </a:pPr>
                      <a:r>
                        <a:rPr lang="en-US" sz="1100" dirty="0">
                          <a:solidFill>
                            <a:srgbClr val="1F2937"/>
                          </a:solidFill>
                        </a:rPr>
                        <a:t>검토 </a:t>
                      </a:r>
                      <a:pPr indent="0" marL="0">
                        <a:buNone/>
                      </a:pPr>
                      <a:r>
                        <a:rPr lang="en-US" sz="1100" dirty="0">
                          <a:solidFill>
                            <a:srgbClr val="1F2937"/>
                          </a:solidFill>
                        </a:rPr>
                        <a:t>및 </a:t>
                      </a:r>
                      <a:pPr indent="0" marL="0">
                        <a:buNone/>
                      </a:pPr>
                      <a:r>
                        <a:rPr lang="en-US" sz="1100" dirty="0">
                          <a:solidFill>
                            <a:srgbClr val="1F2937"/>
                          </a:solidFill>
                        </a:rPr>
                        <a:t>합의 </a:t>
                      </a:r>
                      <a:pPr indent="0" marL="0">
                        <a:buNone/>
                      </a:pPr>
                      <a:r>
                        <a:rPr lang="en-US" sz="1100" dirty="0">
                          <a:solidFill>
                            <a:srgbClr val="1F2937"/>
                          </a:solidFill>
                        </a:rPr>
                        <a:t>기록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김PM·이개발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핵심 </a:t>
                      </a:r>
                      <a:pPr indent="0" marL="0">
                        <a:buNone/>
                      </a:pPr>
                      <a:r>
                        <a:rPr lang="en-US" sz="1100" dirty="0">
                          <a:solidFill>
                            <a:srgbClr val="1F2937"/>
                          </a:solidFill>
                        </a:rPr>
                        <a:t>성공 </a:t>
                      </a:r>
                      <a:pPr indent="0" marL="0">
                        <a:buNone/>
                      </a:pPr>
                      <a:r>
                        <a:rPr lang="en-US" sz="1100" dirty="0">
                          <a:solidFill>
                            <a:srgbClr val="1F2937"/>
                          </a:solidFill>
                        </a:rPr>
                        <a:t>기준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섹션 </a:t>
                      </a:r>
                      <a:pPr indent="0" marL="0">
                        <a:buNone/>
                      </a:pPr>
                      <a:r>
                        <a:rPr lang="en-US" sz="1100" dirty="0">
                          <a:solidFill>
                            <a:srgbClr val="1F2937"/>
                          </a:solidFill>
                        </a:rPr>
                        <a:t>저장·재사용, </a:t>
                      </a:r>
                      <a:pPr indent="0" marL="0">
                        <a:buNone/>
                      </a:pPr>
                      <a:r>
                        <a:rPr lang="en-US" sz="1100" dirty="0">
                          <a:solidFill>
                            <a:srgbClr val="1F2937"/>
                          </a:solidFill>
                        </a:rPr>
                        <a:t>취소 </a:t>
                      </a:r>
                      <a:pPr indent="0" marL="0">
                        <a:buNone/>
                      </a:pPr>
                      <a:r>
                        <a:rPr lang="en-US" sz="1100" dirty="0">
                          <a:solidFill>
                            <a:srgbClr val="1F2937"/>
                          </a:solidFill>
                        </a:rPr>
                        <a:t>후 </a:t>
                      </a:r>
                      <a:pPr indent="0" marL="0">
                        <a:buNone/>
                      </a:pPr>
                      <a:r>
                        <a:rPr lang="en-US" sz="1100" dirty="0">
                          <a:solidFill>
                            <a:srgbClr val="1F2937"/>
                          </a:solidFill>
                        </a:rPr>
                        <a:t>이전 </a:t>
                      </a:r>
                      <a:pPr indent="0" marL="0">
                        <a:buNone/>
                      </a:pPr>
                      <a:r>
                        <a:rPr lang="en-US" sz="1100" dirty="0">
                          <a:solidFill>
                            <a:srgbClr val="1F2937"/>
                          </a:solidFill>
                        </a:rPr>
                        <a:t>응답 </a:t>
                      </a:r>
                      <a:pPr indent="0" marL="0">
                        <a:buNone/>
                      </a:pPr>
                      <a:r>
                        <a:rPr lang="en-US" sz="1100" dirty="0">
                          <a:solidFill>
                            <a:srgbClr val="1F2937"/>
                          </a:solidFill>
                        </a:rPr>
                        <a:t>무시, </a:t>
                      </a:r>
                      <a:pPr indent="0" marL="0">
                        <a:buNone/>
                      </a:pPr>
                      <a:r>
                        <a:rPr lang="en-US" sz="1100" dirty="0">
                          <a:solidFill>
                            <a:srgbClr val="1F2937"/>
                          </a:solidFill>
                        </a:rPr>
                        <a:t>표·다이어그램 </a:t>
                      </a:r>
                      <a:pPr indent="0" marL="0">
                        <a:buNone/>
                      </a:pPr>
                      <a:r>
                        <a:rPr lang="en-US" sz="1100" dirty="0">
                          <a:solidFill>
                            <a:srgbClr val="1F2937"/>
                          </a:solidFill>
                        </a:rPr>
                        <a:t>누락 </a:t>
                      </a:r>
                      <a:pPr indent="0" marL="0">
                        <a:buNone/>
                      </a:pPr>
                      <a:r>
                        <a:rPr lang="en-US" sz="1100" dirty="0">
                          <a:solidFill>
                            <a:srgbClr val="1F2937"/>
                          </a:solidFill>
                        </a:rPr>
                        <a:t>없음에 </a:t>
                      </a:r>
                      <a:pPr indent="0" marL="0">
                        <a:buNone/>
                      </a:pPr>
                      <a:r>
                        <a:rPr lang="en-US" sz="1100" dirty="0">
                          <a:solidFill>
                            <a:srgbClr val="1F2937"/>
                          </a:solidFill>
                        </a:rPr>
                        <a:t>대한 </a:t>
                      </a:r>
                      <a:pPr indent="0" marL="0">
                        <a:buNone/>
                      </a:pPr>
                      <a:r>
                        <a:rPr lang="en-US" sz="1100" dirty="0">
                          <a:solidFill>
                            <a:srgbClr val="1F2937"/>
                          </a:solidFill>
                        </a:rPr>
                        <a:t>기대 </a:t>
                      </a:r>
                      <a:pPr indent="0" marL="0">
                        <a:buNone/>
                      </a:pPr>
                      <a:r>
                        <a:rPr lang="en-US" sz="1100" dirty="0">
                          <a:solidFill>
                            <a:srgbClr val="1F2937"/>
                          </a:solidFill>
                        </a:rPr>
                        <a:t>결과 </a:t>
                      </a:r>
                      <a:pPr indent="0" marL="0">
                        <a:buNone/>
                      </a:pPr>
                      <a:r>
                        <a:rPr lang="en-US" sz="1100" dirty="0">
                          <a:solidFill>
                            <a:srgbClr val="1F2937"/>
                          </a:solidFill>
                        </a:rPr>
                        <a:t>정의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승인된 </a:t>
                      </a:r>
                      <a:pPr indent="0" marL="0">
                        <a:buNone/>
                      </a:pPr>
                      <a:r>
                        <a:rPr lang="en-US" sz="1100" dirty="0">
                          <a:solidFill>
                            <a:srgbClr val="1F2937"/>
                          </a:solidFill>
                        </a:rPr>
                        <a:t>시험 </a:t>
                      </a:r>
                      <a:pPr indent="0" marL="0">
                        <a:buNone/>
                      </a:pPr>
                      <a:r>
                        <a:rPr lang="en-US" sz="1100" dirty="0">
                          <a:solidFill>
                            <a:srgbClr val="1F2937"/>
                          </a:solidFill>
                        </a:rPr>
                        <a:t>시나리오 </a:t>
                      </a:r>
                      <a:pPr indent="0" marL="0">
                        <a:buNone/>
                      </a:pPr>
                      <a:r>
                        <a:rPr lang="en-US" sz="1100" dirty="0">
                          <a:solidFill>
                            <a:srgbClr val="1F2937"/>
                          </a:solidFill>
                        </a:rPr>
                        <a:t>검토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김PM·이개발·QA </a:t>
                      </a:r>
                      <a:pPr indent="0" marL="0">
                        <a:buNone/>
                      </a:pPr>
                      <a:r>
                        <a:rPr lang="en-US" sz="1100" dirty="0">
                          <a:solidFill>
                            <a:srgbClr val="1F2937"/>
                          </a:solidFill>
                        </a:rPr>
                        <a:t>담당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서식 </a:t>
                      </a:r>
                      <a:pPr indent="0" marL="0">
                        <a:buNone/>
                      </a:pPr>
                      <a:r>
                        <a:rPr lang="en-US" sz="1100" dirty="0">
                          <a:solidFill>
                            <a:srgbClr val="1F2937"/>
                          </a:solidFill>
                        </a:rPr>
                        <a:t>기준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표지·목차·표의 </a:t>
                      </a:r>
                      <a:pPr indent="0" marL="0">
                        <a:buNone/>
                      </a:pPr>
                      <a:r>
                        <a:rPr lang="en-US" sz="1100" dirty="0">
                          <a:solidFill>
                            <a:srgbClr val="1F2937"/>
                          </a:solidFill>
                        </a:rPr>
                        <a:t>확인 </a:t>
                      </a:r>
                      <a:pPr indent="0" marL="0">
                        <a:buNone/>
                      </a:pPr>
                      <a:r>
                        <a:rPr lang="en-US" sz="1100" dirty="0">
                          <a:solidFill>
                            <a:srgbClr val="1F2937"/>
                          </a:solidFill>
                        </a:rPr>
                        <a:t>기준과 </a:t>
                      </a:r>
                      <a:pPr indent="0" marL="0">
                        <a:buNone/>
                      </a:pPr>
                      <a:r>
                        <a:rPr lang="en-US" sz="1100" dirty="0">
                          <a:solidFill>
                            <a:srgbClr val="1F2937"/>
                          </a:solidFill>
                        </a:rPr>
                        <a:t>내용 </a:t>
                      </a:r>
                      <a:pPr indent="0" marL="0">
                        <a:buNone/>
                      </a:pPr>
                      <a:r>
                        <a:rPr lang="en-US" sz="1100" dirty="0">
                          <a:solidFill>
                            <a:srgbClr val="1F2937"/>
                          </a:solidFill>
                        </a:rPr>
                        <a:t>보존 </a:t>
                      </a:r>
                      <a:pPr indent="0" marL="0">
                        <a:buNone/>
                      </a:pPr>
                      <a:r>
                        <a:rPr lang="en-US" sz="1100" dirty="0">
                          <a:solidFill>
                            <a:srgbClr val="1F2937"/>
                          </a:solidFill>
                        </a:rPr>
                        <a:t>기준 </a:t>
                      </a:r>
                      <a:pPr indent="0" marL="0">
                        <a:buNone/>
                      </a:pPr>
                      <a:r>
                        <a:rPr lang="en-US" sz="1100" dirty="0">
                          <a:solidFill>
                            <a:srgbClr val="1F2937"/>
                          </a:solidFill>
                        </a:rPr>
                        <a:t>정의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기준 </a:t>
                      </a:r>
                      <a:pPr indent="0" marL="0">
                        <a:buNone/>
                      </a:pPr>
                      <a:r>
                        <a:rPr lang="en-US" sz="1100" dirty="0">
                          <a:solidFill>
                            <a:srgbClr val="1F2937"/>
                          </a:solidFill>
                        </a:rPr>
                        <a:t>문서 </a:t>
                      </a:r>
                      <a:pPr indent="0" marL="0">
                        <a:buNone/>
                      </a:pPr>
                      <a:r>
                        <a:rPr lang="en-US" sz="1100" dirty="0">
                          <a:solidFill>
                            <a:srgbClr val="1F2937"/>
                          </a:solidFill>
                        </a:rPr>
                        <a:t>및 </a:t>
                      </a:r>
                      <a:pPr indent="0" marL="0">
                        <a:buNone/>
                      </a:pPr>
                      <a:r>
                        <a:rPr lang="en-US" sz="1100" dirty="0">
                          <a:solidFill>
                            <a:srgbClr val="1F2937"/>
                          </a:solidFill>
                        </a:rPr>
                        <a:t>검토 </a:t>
                      </a:r>
                      <a:pPr indent="0" marL="0">
                        <a:buNone/>
                      </a:pPr>
                      <a:r>
                        <a:rPr lang="en-US" sz="1100" dirty="0">
                          <a:solidFill>
                            <a:srgbClr val="1F2937"/>
                          </a:solidFill>
                        </a:rPr>
                        <a:t>항목 </a:t>
                      </a:r>
                      <a:pPr indent="0" marL="0">
                        <a:buNone/>
                      </a:pPr>
                      <a:r>
                        <a:rPr lang="en-US" sz="1100" dirty="0">
                          <a:solidFill>
                            <a:srgbClr val="1F2937"/>
                          </a:solidFill>
                        </a:rPr>
                        <a:t>승인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박디자인 </a:t>
                      </a:r>
                      <a:pPr indent="0" marL="0">
                        <a:buNone/>
                      </a:pPr>
                      <a:r>
                        <a:rPr lang="en-US" sz="1100" dirty="0">
                          <a:solidFill>
                            <a:srgbClr val="1F2937"/>
                          </a:solidFill>
                        </a:rPr>
                        <a:t>참여 </a:t>
                      </a:r>
                      <a:pPr indent="0" marL="0">
                        <a:buNone/>
                      </a:pPr>
                      <a:r>
                        <a:rPr lang="en-US" sz="1100" dirty="0">
                          <a:solidFill>
                            <a:srgbClr val="1F2937"/>
                          </a:solidFill>
                        </a:rPr>
                        <a:t>여부 </a:t>
                      </a:r>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시험 </a:t>
                      </a:r>
                      <a:pPr indent="0" marL="0">
                        <a:buNone/>
                      </a:pPr>
                      <a:r>
                        <a:rPr lang="en-US" sz="1100" dirty="0">
                          <a:solidFill>
                            <a:srgbClr val="1F2937"/>
                          </a:solidFill>
                        </a:rPr>
                        <a:t>빌드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로그인부터 </a:t>
                      </a:r>
                      <a:pPr indent="0" marL="0">
                        <a:buNone/>
                      </a:pPr>
                      <a:r>
                        <a:rPr lang="en-US" sz="1100" dirty="0">
                          <a:solidFill>
                            <a:srgbClr val="1F2937"/>
                          </a:solidFill>
                        </a:rPr>
                        <a:t>파일 </a:t>
                      </a:r>
                      <a:pPr indent="0" marL="0">
                        <a:buNone/>
                      </a:pPr>
                      <a:r>
                        <a:rPr lang="en-US" sz="1100" dirty="0">
                          <a:solidFill>
                            <a:srgbClr val="1F2937"/>
                          </a:solidFill>
                        </a:rPr>
                        <a:t>내려받기까지 </a:t>
                      </a:r>
                      <a:pPr indent="0" marL="0">
                        <a:buNone/>
                      </a:pPr>
                      <a:r>
                        <a:rPr lang="en-US" sz="1100" dirty="0">
                          <a:solidFill>
                            <a:srgbClr val="1F2937"/>
                          </a:solidFill>
                        </a:rPr>
                        <a:t>시험 </a:t>
                      </a:r>
                      <a:pPr indent="0" marL="0">
                        <a:buNone/>
                      </a:pPr>
                      <a:r>
                        <a:rPr lang="en-US" sz="1100" dirty="0">
                          <a:solidFill>
                            <a:srgbClr val="1F2937"/>
                          </a:solidFill>
                        </a:rPr>
                        <a:t>가능한 </a:t>
                      </a:r>
                      <a:pPr indent="0" marL="0">
                        <a:buNone/>
                      </a:pPr>
                      <a:r>
                        <a:rPr lang="en-US" sz="1100" dirty="0">
                          <a:solidFill>
                            <a:srgbClr val="1F2937"/>
                          </a:solidFill>
                        </a:rPr>
                        <a:t>기능이 </a:t>
                      </a:r>
                      <a:pPr indent="0" marL="0">
                        <a:buNone/>
                      </a:pPr>
                      <a:r>
                        <a:rPr lang="en-US" sz="1100" dirty="0">
                          <a:solidFill>
                            <a:srgbClr val="1F2937"/>
                          </a:solidFill>
                        </a:rPr>
                        <a:t>환경에 </a:t>
                      </a:r>
                      <a:pPr indent="0" marL="0">
                        <a:buNone/>
                      </a:pPr>
                      <a:r>
                        <a:rPr lang="en-US" sz="1100" dirty="0">
                          <a:solidFill>
                            <a:srgbClr val="1F2937"/>
                          </a:solidFill>
                        </a:rPr>
                        <a:t>배포됨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배포 </a:t>
                      </a:r>
                      <a:pPr indent="0" marL="0">
                        <a:buNone/>
                      </a:pPr>
                      <a:r>
                        <a:rPr lang="en-US" sz="1100" dirty="0">
                          <a:solidFill>
                            <a:srgbClr val="1F2937"/>
                          </a:solidFill>
                        </a:rPr>
                        <a:t>확인 </a:t>
                      </a:r>
                      <a:pPr indent="0" marL="0">
                        <a:buNone/>
                      </a:pPr>
                      <a:r>
                        <a:rPr lang="en-US" sz="1100" dirty="0">
                          <a:solidFill>
                            <a:srgbClr val="1F2937"/>
                          </a:solidFill>
                        </a:rPr>
                        <a:t>및 </a:t>
                      </a:r>
                      <a:pPr indent="0" marL="0">
                        <a:buNone/>
                      </a:pPr>
                      <a:r>
                        <a:rPr lang="en-US" sz="1100" dirty="0">
                          <a:solidFill>
                            <a:srgbClr val="1F2937"/>
                          </a:solidFill>
                        </a:rPr>
                        <a:t>스모크 </a:t>
                      </a:r>
                      <a:pPr indent="0" marL="0">
                        <a:buNone/>
                      </a:pPr>
                      <a:r>
                        <a:rPr lang="en-US" sz="1100" dirty="0">
                          <a:solidFill>
                            <a:srgbClr val="1F2937"/>
                          </a:solidFill>
                        </a:rPr>
                        <a:t>테스트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담당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환경 </a:t>
                      </a:r>
                      <a:pPr indent="0" marL="0">
                        <a:buNone/>
                      </a:pPr>
                      <a:r>
                        <a:rPr lang="en-US" sz="1100" dirty="0">
                          <a:solidFill>
                            <a:srgbClr val="1F2937"/>
                          </a:solidFill>
                        </a:rPr>
                        <a:t>접근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시험 </a:t>
                      </a:r>
                      <a:pPr indent="0" marL="0">
                        <a:buNone/>
                      </a:pPr>
                      <a:r>
                        <a:rPr lang="en-US" sz="1100" dirty="0">
                          <a:solidFill>
                            <a:srgbClr val="1F2937"/>
                          </a:solidFill>
                        </a:rPr>
                        <a:t>계정으로 </a:t>
                      </a:r>
                      <a:pPr indent="0" marL="0">
                        <a:buNone/>
                      </a:pPr>
                      <a:r>
                        <a:rPr lang="en-US" sz="1100" dirty="0">
                          <a:solidFill>
                            <a:srgbClr val="1F2937"/>
                          </a:solidFill>
                        </a:rPr>
                        <a:t>로그인하고 </a:t>
                      </a:r>
                      <a:pPr indent="0" marL="0">
                        <a:buNone/>
                      </a:pPr>
                      <a:r>
                        <a:rPr lang="en-US" sz="1100" dirty="0">
                          <a:solidFill>
                            <a:srgbClr val="1F2937"/>
                          </a:solidFill>
                        </a:rPr>
                        <a:t>시험 </a:t>
                      </a:r>
                      <a:pPr indent="0" marL="0">
                        <a:buNone/>
                      </a:pPr>
                      <a:r>
                        <a:rPr lang="en-US" sz="1100" dirty="0">
                          <a:solidFill>
                            <a:srgbClr val="1F2937"/>
                          </a:solidFill>
                        </a:rPr>
                        <a:t>환경에 </a:t>
                      </a:r>
                      <a:pPr indent="0" marL="0">
                        <a:buNone/>
                      </a:pPr>
                      <a:r>
                        <a:rPr lang="en-US" sz="1100" dirty="0">
                          <a:solidFill>
                            <a:srgbClr val="1F2937"/>
                          </a:solidFill>
                        </a:rPr>
                        <a:t>접근 </a:t>
                      </a:r>
                      <a:pPr indent="0" marL="0">
                        <a:buNone/>
                      </a:pPr>
                      <a:r>
                        <a:rPr lang="en-US" sz="1100" dirty="0">
                          <a:solidFill>
                            <a:srgbClr val="1F2937"/>
                          </a:solidFill>
                        </a:rPr>
                        <a:t>가능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접속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담당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테스트 </a:t>
                      </a:r>
                      <a:pPr indent="0" marL="0">
                        <a:buNone/>
                      </a:pPr>
                      <a:r>
                        <a:rPr lang="en-US" sz="1100" dirty="0">
                          <a:solidFill>
                            <a:srgbClr val="1F2937"/>
                          </a:solidFill>
                        </a:rPr>
                        <a:t>데이터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정상·경계·예외 </a:t>
                      </a:r>
                      <a:pPr indent="0" marL="0">
                        <a:buNone/>
                      </a:pPr>
                      <a:r>
                        <a:rPr lang="en-US" sz="1100" dirty="0">
                          <a:solidFill>
                            <a:srgbClr val="1F2937"/>
                          </a:solidFill>
                        </a:rPr>
                        <a:t>및 </a:t>
                      </a:r>
                      <a:pPr indent="0" marL="0">
                        <a:buNone/>
                      </a:pPr>
                      <a:r>
                        <a:rPr lang="en-US" sz="1100" dirty="0">
                          <a:solidFill>
                            <a:srgbClr val="1F2937"/>
                          </a:solidFill>
                        </a:rPr>
                        <a:t>표·다이어그램 </a:t>
                      </a:r>
                      <a:pPr indent="0" marL="0">
                        <a:buNone/>
                      </a:pPr>
                      <a:r>
                        <a:rPr lang="en-US" sz="1100" dirty="0">
                          <a:solidFill>
                            <a:srgbClr val="1F2937"/>
                          </a:solidFill>
                        </a:rPr>
                        <a:t>포함 </a:t>
                      </a:r>
                      <a:pPr indent="0" marL="0">
                        <a:buNone/>
                      </a:pPr>
                      <a:r>
                        <a:rPr lang="en-US" sz="1100" dirty="0">
                          <a:solidFill>
                            <a:srgbClr val="1F2937"/>
                          </a:solidFill>
                        </a:rPr>
                        <a:t>기준 </a:t>
                      </a:r>
                      <a:pPr indent="0" marL="0">
                        <a:buNone/>
                      </a:pPr>
                      <a:r>
                        <a:rPr lang="en-US" sz="1100" dirty="0">
                          <a:solidFill>
                            <a:srgbClr val="1F2937"/>
                          </a:solidFill>
                        </a:rPr>
                        <a:t>자료 </a:t>
                      </a:r>
                      <a:pPr indent="0" marL="0">
                        <a:buNone/>
                      </a:pPr>
                      <a:r>
                        <a:rPr lang="en-US" sz="1100" dirty="0">
                          <a:solidFill>
                            <a:srgbClr val="1F2937"/>
                          </a:solidFill>
                        </a:rPr>
                        <a:t>준비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데이터 </a:t>
                      </a:r>
                      <a:pPr indent="0" marL="0">
                        <a:buNone/>
                      </a:pPr>
                      <a:r>
                        <a:rPr lang="en-US" sz="1100" dirty="0">
                          <a:solidFill>
                            <a:srgbClr val="1F2937"/>
                          </a:solidFill>
                        </a:rPr>
                        <a:t>목록과 </a:t>
                      </a:r>
                      <a:pPr indent="0" marL="0">
                        <a:buNone/>
                      </a:pPr>
                      <a:r>
                        <a:rPr lang="en-US" sz="1100" dirty="0">
                          <a:solidFill>
                            <a:srgbClr val="1F2937"/>
                          </a:solidFill>
                        </a:rPr>
                        <a:t>파일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QA </a:t>
                      </a:r>
                      <a:pPr indent="0" marL="0">
                        <a:buNone/>
                      </a:pPr>
                      <a:r>
                        <a:rPr lang="en-US" sz="1100" dirty="0">
                          <a:solidFill>
                            <a:srgbClr val="1F2937"/>
                          </a:solidFill>
                        </a:rPr>
                        <a:t>담당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단위·통합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개발팀이 </a:t>
                      </a:r>
                      <a:pPr indent="0" marL="0">
                        <a:buNone/>
                      </a:pPr>
                      <a:r>
                        <a:rPr lang="en-US" sz="1100" dirty="0">
                          <a:solidFill>
                            <a:srgbClr val="1F2937"/>
                          </a:solidFill>
                        </a:rPr>
                        <a:t>핵심 </a:t>
                      </a:r>
                      <a:pPr indent="0" marL="0">
                        <a:buNone/>
                      </a:pPr>
                      <a:r>
                        <a:rPr lang="en-US" sz="1100" dirty="0">
                          <a:solidFill>
                            <a:srgbClr val="1F2937"/>
                          </a:solidFill>
                        </a:rPr>
                        <a:t>저장·취소·출력 </a:t>
                      </a:r>
                      <a:pPr indent="0" marL="0">
                        <a:buNone/>
                      </a:pPr>
                      <a:r>
                        <a:rPr lang="en-US" sz="1100" dirty="0">
                          <a:solidFill>
                            <a:srgbClr val="1F2937"/>
                          </a:solidFill>
                        </a:rPr>
                        <a:t>경로의 </a:t>
                      </a:r>
                      <a:pPr indent="0" marL="0">
                        <a:buNone/>
                      </a:pPr>
                      <a:r>
                        <a:rPr lang="en-US" sz="1100" dirty="0">
                          <a:solidFill>
                            <a:srgbClr val="1F2937"/>
                          </a:solidFill>
                        </a:rPr>
                        <a:t>기본 </a:t>
                      </a:r>
                      <a:pPr indent="0" marL="0">
                        <a:buNone/>
                      </a:pPr>
                      <a:r>
                        <a:rPr lang="en-US" sz="1100" dirty="0">
                          <a:solidFill>
                            <a:srgbClr val="1F2937"/>
                          </a:solidFill>
                        </a:rPr>
                        <a:t>검증을 </a:t>
                      </a:r>
                      <a:pPr indent="0" marL="0">
                        <a:buNone/>
                      </a:pPr>
                      <a:r>
                        <a:rPr lang="en-US" sz="1100" dirty="0">
                          <a:solidFill>
                            <a:srgbClr val="1F2937"/>
                          </a:solidFill>
                        </a:rPr>
                        <a:t>완료하고 </a:t>
                      </a:r>
                      <a:pPr indent="0" marL="0">
                        <a:buNone/>
                      </a:pPr>
                      <a:r>
                        <a:rPr lang="en-US" sz="1100" dirty="0">
                          <a:solidFill>
                            <a:srgbClr val="1F2937"/>
                          </a:solidFill>
                        </a:rPr>
                        <a:t>결과를 </a:t>
                      </a:r>
                      <a:pPr indent="0" marL="0">
                        <a:buNone/>
                      </a:pPr>
                      <a:r>
                        <a:rPr lang="en-US" sz="1100" dirty="0">
                          <a:solidFill>
                            <a:srgbClr val="1F2937"/>
                          </a:solidFill>
                        </a:rPr>
                        <a:t>공유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결과 </a:t>
                      </a:r>
                      <a:pPr indent="0" marL="0">
                        <a:buNone/>
                      </a:pPr>
                      <a:r>
                        <a:rPr lang="en-US" sz="1100" dirty="0">
                          <a:solidFill>
                            <a:srgbClr val="1F2937"/>
                          </a:solidFill>
                        </a:rPr>
                        <a:t>기록 </a:t>
                      </a:r>
                      <a:pPr indent="0" marL="0">
                        <a:buNone/>
                      </a:pPr>
                      <a:r>
                        <a:rPr lang="en-US" sz="1100" dirty="0">
                          <a:solidFill>
                            <a:srgbClr val="1F2937"/>
                          </a:solidFill>
                        </a:rPr>
                        <a:t>검토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이개발·개발팀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결함 </a:t>
                      </a:r>
                      <a:pPr indent="0" marL="0">
                        <a:buNone/>
                      </a:pPr>
                      <a:r>
                        <a:rPr lang="en-US" sz="1100" dirty="0">
                          <a:solidFill>
                            <a:srgbClr val="1F2937"/>
                          </a:solidFill>
                        </a:rPr>
                        <a:t>기록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발견된 </a:t>
                      </a:r>
                      <a:pPr indent="0" marL="0">
                        <a:buNone/>
                      </a:pPr>
                      <a:r>
                        <a:rPr lang="en-US" sz="1100" dirty="0">
                          <a:solidFill>
                            <a:srgbClr val="1F2937"/>
                          </a:solidFill>
                        </a:rPr>
                        <a:t>문제를 </a:t>
                      </a:r>
                      <a:pPr indent="0" marL="0">
                        <a:buNone/>
                      </a:pPr>
                      <a:r>
                        <a:rPr lang="en-US" sz="1100" dirty="0">
                          <a:solidFill>
                            <a:srgbClr val="1F2937"/>
                          </a:solidFill>
                        </a:rPr>
                        <a:t>재현 </a:t>
                      </a:r>
                      <a:pPr indent="0" marL="0">
                        <a:buNone/>
                      </a:pPr>
                      <a:r>
                        <a:rPr lang="en-US" sz="1100" dirty="0">
                          <a:solidFill>
                            <a:srgbClr val="1F2937"/>
                          </a:solidFill>
                        </a:rPr>
                        <a:t>단계, </a:t>
                      </a:r>
                      <a:pPr indent="0" marL="0">
                        <a:buNone/>
                      </a:pPr>
                      <a:r>
                        <a:rPr lang="en-US" sz="1100" dirty="0">
                          <a:solidFill>
                            <a:srgbClr val="1F2937"/>
                          </a:solidFill>
                        </a:rPr>
                        <a:t>기대 </a:t>
                      </a:r>
                      <a:pPr indent="0" marL="0">
                        <a:buNone/>
                      </a:pPr>
                      <a:r>
                        <a:rPr lang="en-US" sz="1100" dirty="0">
                          <a:solidFill>
                            <a:srgbClr val="1F2937"/>
                          </a:solidFill>
                        </a:rPr>
                        <a:t>결과, </a:t>
                      </a:r>
                      <a:pPr indent="0" marL="0">
                        <a:buNone/>
                      </a:pPr>
                      <a:r>
                        <a:rPr lang="en-US" sz="1100" dirty="0">
                          <a:solidFill>
                            <a:srgbClr val="1F2937"/>
                          </a:solidFill>
                        </a:rPr>
                        <a:t>실제 </a:t>
                      </a:r>
                      <a:pPr indent="0" marL="0">
                        <a:buNone/>
                      </a:pPr>
                      <a:r>
                        <a:rPr lang="en-US" sz="1100" dirty="0">
                          <a:solidFill>
                            <a:srgbClr val="1F2937"/>
                          </a:solidFill>
                        </a:rPr>
                        <a:t>결과와 </a:t>
                      </a:r>
                      <a:pPr indent="0" marL="0">
                        <a:buNone/>
                      </a:pPr>
                      <a:r>
                        <a:rPr lang="en-US" sz="1100" dirty="0">
                          <a:solidFill>
                            <a:srgbClr val="1F2937"/>
                          </a:solidFill>
                        </a:rPr>
                        <a:t>함께 </a:t>
                      </a:r>
                      <a:pPr indent="0" marL="0">
                        <a:buNone/>
                      </a:pPr>
                      <a:r>
                        <a:rPr lang="en-US" sz="1100" dirty="0">
                          <a:solidFill>
                            <a:srgbClr val="1F2937"/>
                          </a:solidFill>
                        </a:rPr>
                        <a:t>기록할 </a:t>
                      </a:r>
                      <a:pPr indent="0" marL="0">
                        <a:buNone/>
                      </a:pPr>
                      <a:r>
                        <a:rPr lang="en-US" sz="1100" dirty="0">
                          <a:solidFill>
                            <a:srgbClr val="1F2937"/>
                          </a:solidFill>
                        </a:rPr>
                        <a:t>수 </a:t>
                      </a:r>
                      <a:pPr indent="0" marL="0">
                        <a:buNone/>
                      </a:pPr>
                      <a:r>
                        <a:rPr lang="en-US" sz="1100" dirty="0">
                          <a:solidFill>
                            <a:srgbClr val="1F2937"/>
                          </a:solidFill>
                        </a:rPr>
                        <a:t>있는 </a:t>
                      </a:r>
                      <a:pPr indent="0" marL="0">
                        <a:buNone/>
                      </a:pPr>
                      <a:r>
                        <a:rPr lang="en-US" sz="1100" dirty="0">
                          <a:solidFill>
                            <a:srgbClr val="1F2937"/>
                          </a:solidFill>
                        </a:rPr>
                        <a:t>절차 </a:t>
                      </a:r>
                      <a:pPr indent="0" marL="0">
                        <a:buNone/>
                      </a:pPr>
                      <a:r>
                        <a:rPr lang="en-US" sz="1100" dirty="0">
                          <a:solidFill>
                            <a:srgbClr val="1F2937"/>
                          </a:solidFill>
                        </a:rPr>
                        <a:t>마련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결함 </a:t>
                      </a:r>
                      <a:pPr indent="0" marL="0">
                        <a:buNone/>
                      </a:pPr>
                      <a:r>
                        <a:rPr lang="en-US" sz="1100" dirty="0">
                          <a:solidFill>
                            <a:srgbClr val="1F2937"/>
                          </a:solidFill>
                        </a:rPr>
                        <a:t>등록 </a:t>
                      </a:r>
                      <a:pPr indent="0" marL="0">
                        <a:buNone/>
                      </a:pPr>
                      <a:r>
                        <a:rPr lang="en-US" sz="1100" dirty="0">
                          <a:solidFill>
                            <a:srgbClr val="1F2937"/>
                          </a:solidFill>
                        </a:rPr>
                        <a:t>양식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QA </a:t>
                      </a:r>
                      <a:pPr indent="0" marL="0">
                        <a:buNone/>
                      </a:pPr>
                      <a:r>
                        <a:rPr lang="en-US" sz="1100" dirty="0">
                          <a:solidFill>
                            <a:srgbClr val="1F2937"/>
                          </a:solidFill>
                        </a:rPr>
                        <a:t>담당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7.2 퇴수 기준</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회의에서 결함 등급과 허용 건수, 코드 커버리지, 응답 시간 등의 수치를 정하지 않았습니다. 따라서 아래는 기능 중심의 제안 기준이며, 허용 가능한 미해결 결함 등은 릴리스 승인 전에 김PM과 개발팀이 확정해야 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7.2 퇴수 기준</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028700"/>
                <a:gridCol w="3703320"/>
                <a:gridCol w="1851660"/>
                <a:gridCol w="1645920"/>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기준 </a:t>
                      </a:r>
                      <a:pPr indent="0" marL="0">
                        <a:buNone/>
                      </a:pPr>
                      <a:r>
                        <a:rPr lang="en-US" sz="1200" b="1" dirty="0">
                          <a:solidFill>
                            <a:srgbClr val="FFFFFF"/>
                          </a:solidFill>
                        </a:rPr>
                        <a:t>제안</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측정 </a:t>
                      </a:r>
                      <a:pPr indent="0" marL="0">
                        <a:buNone/>
                      </a:pPr>
                      <a:r>
                        <a:rPr lang="en-US" sz="1200" b="1" dirty="0">
                          <a:solidFill>
                            <a:srgbClr val="FFFFFF"/>
                          </a:solidFill>
                        </a:rPr>
                        <a:t>방법</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승인·담당</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핵심 </a:t>
                      </a:r>
                      <a:pPr indent="0" marL="0">
                        <a:buNone/>
                      </a:pPr>
                      <a:r>
                        <a:rPr lang="en-US" sz="1100" dirty="0">
                          <a:solidFill>
                            <a:srgbClr val="1F2937"/>
                          </a:solidFill>
                        </a:rPr>
                        <a:t>시나리오 </a:t>
                      </a:r>
                      <a:pPr indent="0" marL="0">
                        <a:buNone/>
                      </a:pPr>
                      <a:r>
                        <a:rPr lang="en-US" sz="1100" dirty="0">
                          <a:solidFill>
                            <a:srgbClr val="1F2937"/>
                          </a:solidFill>
                        </a:rPr>
                        <a:t>실행</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아래 </a:t>
                      </a:r>
                      <a:pPr indent="0" marL="0">
                        <a:buNone/>
                      </a:pPr>
                      <a:r>
                        <a:rPr lang="en-US" sz="1100" dirty="0">
                          <a:solidFill>
                            <a:srgbClr val="1F2937"/>
                          </a:solidFill>
                        </a:rPr>
                        <a:t>핵심 </a:t>
                      </a:r>
                      <a:pPr indent="0" marL="0">
                        <a:buNone/>
                      </a:pPr>
                      <a:r>
                        <a:rPr lang="en-US" sz="1100" dirty="0">
                          <a:solidFill>
                            <a:srgbClr val="1F2937"/>
                          </a:solidFill>
                        </a:rPr>
                        <a:t>시나리오를 </a:t>
                      </a:r>
                      <a:pPr indent="0" marL="0">
                        <a:buNone/>
                      </a:pPr>
                      <a:r>
                        <a:rPr lang="en-US" sz="1100" dirty="0">
                          <a:solidFill>
                            <a:srgbClr val="1F2937"/>
                          </a:solidFill>
                        </a:rPr>
                        <a:t>모두 </a:t>
                      </a:r>
                      <a:pPr indent="0" marL="0">
                        <a:buNone/>
                      </a:pPr>
                      <a:r>
                        <a:rPr lang="en-US" sz="1100" dirty="0">
                          <a:solidFill>
                            <a:srgbClr val="1F2937"/>
                          </a:solidFill>
                        </a:rPr>
                        <a:t>실행하고 </a:t>
                      </a:r>
                      <a:pPr indent="0" marL="0">
                        <a:buNone/>
                      </a:pPr>
                      <a:r>
                        <a:rPr lang="en-US" sz="1100" dirty="0">
                          <a:solidFill>
                            <a:srgbClr val="1F2937"/>
                          </a:solidFill>
                        </a:rPr>
                        <a:t>결과 </a:t>
                      </a:r>
                      <a:pPr indent="0" marL="0">
                        <a:buNone/>
                      </a:pPr>
                      <a:r>
                        <a:rPr lang="en-US" sz="1100" dirty="0">
                          <a:solidFill>
                            <a:srgbClr val="1F2937"/>
                          </a:solidFill>
                        </a:rPr>
                        <a:t>기록: </a:t>
                      </a:r>
                      <a:pPr indent="0" marL="0">
                        <a:buNone/>
                      </a:pPr>
                      <a:r>
                        <a:rPr lang="en-US" sz="1100" dirty="0">
                          <a:solidFill>
                            <a:srgbClr val="1F2937"/>
                          </a:solidFill>
                        </a:rPr>
                        <a:t>로그인, </a:t>
                      </a:r>
                      <a:pPr indent="0" marL="0">
                        <a:buNone/>
                      </a:pPr>
                      <a:r>
                        <a:rPr lang="en-US" sz="1100" dirty="0">
                          <a:solidFill>
                            <a:srgbClr val="1F2937"/>
                          </a:solidFill>
                        </a:rPr>
                        <a:t>입력·생성, </a:t>
                      </a:r>
                      <a:pPr indent="0" marL="0">
                        <a:buNone/>
                      </a:pPr>
                      <a:r>
                        <a:rPr lang="en-US" sz="1100" dirty="0">
                          <a:solidFill>
                            <a:srgbClr val="1F2937"/>
                          </a:solidFill>
                        </a:rPr>
                        <a:t>섹션 </a:t>
                      </a:r>
                      <a:pPr indent="0" marL="0">
                        <a:buNone/>
                      </a:pPr>
                      <a:r>
                        <a:rPr lang="en-US" sz="1100" dirty="0">
                          <a:solidFill>
                            <a:srgbClr val="1F2937"/>
                          </a:solidFill>
                        </a:rPr>
                        <a:t>저장·재사용, </a:t>
                      </a:r>
                      <a:pPr indent="0" marL="0">
                        <a:buNone/>
                      </a:pPr>
                      <a:r>
                        <a:rPr lang="en-US" sz="1100" dirty="0">
                          <a:solidFill>
                            <a:srgbClr val="1F2937"/>
                          </a:solidFill>
                        </a:rPr>
                        <a:t>취소 </a:t>
                      </a:r>
                      <a:pPr indent="0" marL="0">
                        <a:buNone/>
                      </a:pPr>
                      <a:r>
                        <a:rPr lang="en-US" sz="1100" dirty="0">
                          <a:solidFill>
                            <a:srgbClr val="1F2937"/>
                          </a:solidFill>
                        </a:rPr>
                        <a:t>후 </a:t>
                      </a:r>
                      <a:pPr indent="0" marL="0">
                        <a:buNone/>
                      </a:pPr>
                      <a:r>
                        <a:rPr lang="en-US" sz="1100" dirty="0">
                          <a:solidFill>
                            <a:srgbClr val="1F2937"/>
                          </a:solidFill>
                        </a:rPr>
                        <a:t>이전 </a:t>
                      </a:r>
                      <a:pPr indent="0" marL="0">
                        <a:buNone/>
                      </a:pPr>
                      <a:r>
                        <a:rPr lang="en-US" sz="1100" dirty="0">
                          <a:solidFill>
                            <a:srgbClr val="1F2937"/>
                          </a:solidFill>
                        </a:rPr>
                        <a:t>응답 </a:t>
                      </a:r>
                      <a:pPr indent="0" marL="0">
                        <a:buNone/>
                      </a:pPr>
                      <a:r>
                        <a:rPr lang="en-US" sz="1100" dirty="0">
                          <a:solidFill>
                            <a:srgbClr val="1F2937"/>
                          </a:solidFill>
                        </a:rPr>
                        <a:t>무시, </a:t>
                      </a:r>
                      <a:pPr indent="0" marL="0">
                        <a:buNone/>
                      </a:pPr>
                      <a:r>
                        <a:rPr lang="en-US" sz="1100" dirty="0">
                          <a:solidFill>
                            <a:srgbClr val="1F2937"/>
                          </a:solidFill>
                        </a:rPr>
                        <a:t>Word·PDF </a:t>
                      </a:r>
                      <a:pPr indent="0" marL="0">
                        <a:buNone/>
                      </a:pPr>
                      <a:r>
                        <a:rPr lang="en-US" sz="1100" dirty="0">
                          <a:solidFill>
                            <a:srgbClr val="1F2937"/>
                          </a:solidFill>
                        </a:rPr>
                        <a:t>내려받기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시험 </a:t>
                      </a:r>
                      <a:pPr indent="0" marL="0">
                        <a:buNone/>
                      </a:pPr>
                      <a:r>
                        <a:rPr lang="en-US" sz="1100" dirty="0">
                          <a:solidFill>
                            <a:srgbClr val="1F2937"/>
                          </a:solidFill>
                        </a:rPr>
                        <a:t>결과표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QA </a:t>
                      </a:r>
                      <a:pPr indent="0" marL="0">
                        <a:buNone/>
                      </a:pPr>
                      <a:r>
                        <a:rPr lang="en-US" sz="1100" dirty="0">
                          <a:solidFill>
                            <a:srgbClr val="1F2937"/>
                          </a:solidFill>
                        </a:rPr>
                        <a:t>담당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저장·재사용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기기에 </a:t>
                      </a:r>
                      <a:pPr indent="0" marL="0">
                        <a:buNone/>
                      </a:pPr>
                      <a:r>
                        <a:rPr lang="en-US" sz="1100" dirty="0">
                          <a:solidFill>
                            <a:srgbClr val="1F2937"/>
                          </a:solidFill>
                        </a:rPr>
                        <a:t>저장된 </a:t>
                      </a:r>
                      <a:pPr indent="0" marL="0">
                        <a:buNone/>
                      </a:pPr>
                      <a:r>
                        <a:rPr lang="en-US" sz="1100" dirty="0">
                          <a:solidFill>
                            <a:srgbClr val="1F2937"/>
                          </a:solidFill>
                        </a:rPr>
                        <a:t>완료 </a:t>
                      </a:r>
                      <a:pPr indent="0" marL="0">
                        <a:buNone/>
                      </a:pPr>
                      <a:r>
                        <a:rPr lang="en-US" sz="1100" dirty="0">
                          <a:solidFill>
                            <a:srgbClr val="1F2937"/>
                          </a:solidFill>
                        </a:rPr>
                        <a:t>섹션이 </a:t>
                      </a:r>
                      <a:pPr indent="0" marL="0">
                        <a:buNone/>
                      </a:pPr>
                      <a:r>
                        <a:rPr lang="en-US" sz="1100" dirty="0">
                          <a:solidFill>
                            <a:srgbClr val="1F2937"/>
                          </a:solidFill>
                        </a:rPr>
                        <a:t>복귀 </a:t>
                      </a:r>
                      <a:pPr indent="0" marL="0">
                        <a:buNone/>
                      </a:pPr>
                      <a:r>
                        <a:rPr lang="en-US" sz="1100" dirty="0">
                          <a:solidFill>
                            <a:srgbClr val="1F2937"/>
                          </a:solidFill>
                        </a:rPr>
                        <a:t>후 </a:t>
                      </a:r>
                      <a:pPr indent="0" marL="0">
                        <a:buNone/>
                      </a:pPr>
                      <a:r>
                        <a:rPr lang="en-US" sz="1100" dirty="0">
                          <a:solidFill>
                            <a:srgbClr val="1F2937"/>
                          </a:solidFill>
                        </a:rPr>
                        <a:t>재사용되는 </a:t>
                      </a:r>
                      <a:pPr indent="0" marL="0">
                        <a:buNone/>
                      </a:pPr>
                      <a:r>
                        <a:rPr lang="en-US" sz="1100" dirty="0">
                          <a:solidFill>
                            <a:srgbClr val="1F2937"/>
                          </a:solidFill>
                        </a:rPr>
                        <a:t>결과 </a:t>
                      </a:r>
                      <a:pPr indent="0" marL="0">
                        <a:buNone/>
                      </a:pPr>
                      <a:r>
                        <a:rPr lang="en-US" sz="1100" dirty="0">
                          <a:solidFill>
                            <a:srgbClr val="1F2937"/>
                          </a:solidFill>
                        </a:rPr>
                        <a:t>확인. </a:t>
                      </a:r>
                      <a:pPr indent="0" marL="0">
                        <a:buNone/>
                      </a:pPr>
                      <a:r>
                        <a:rPr lang="en-US" sz="1100" dirty="0">
                          <a:solidFill>
                            <a:srgbClr val="1F2937"/>
                          </a:solidFill>
                        </a:rPr>
                        <a:t>회의에서 </a:t>
                      </a:r>
                      <a:pPr indent="0" marL="0">
                        <a:buNone/>
                      </a:pPr>
                      <a:r>
                        <a:rPr lang="en-US" sz="1100" dirty="0">
                          <a:solidFill>
                            <a:srgbClr val="1F2937"/>
                          </a:solidFill>
                        </a:rPr>
                        <a:t>정한 </a:t>
                      </a:r>
                      <a:pPr indent="0" marL="0">
                        <a:buNone/>
                      </a:pPr>
                      <a:r>
                        <a:rPr lang="en-US" sz="1100" dirty="0">
                          <a:solidFill>
                            <a:srgbClr val="1F2937"/>
                          </a:solidFill>
                        </a:rPr>
                        <a:t>성공 </a:t>
                      </a:r>
                      <a:pPr indent="0" marL="0">
                        <a:buNone/>
                      </a:pPr>
                      <a:r>
                        <a:rPr lang="en-US" sz="1100" dirty="0">
                          <a:solidFill>
                            <a:srgbClr val="1F2937"/>
                          </a:solidFill>
                        </a:rPr>
                        <a:t>기준 </a:t>
                      </a:r>
                      <a:pPr indent="0" marL="0">
                        <a:buNone/>
                      </a:pPr>
                      <a:r>
                        <a:rPr lang="en-US" sz="1100" dirty="0">
                          <a:solidFill>
                            <a:srgbClr val="1F2937"/>
                          </a:solidFill>
                        </a:rPr>
                        <a:t>충족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반복 </a:t>
                      </a:r>
                      <a:pPr indent="0" marL="0">
                        <a:buNone/>
                      </a:pPr>
                      <a:r>
                        <a:rPr lang="en-US" sz="1100" dirty="0">
                          <a:solidFill>
                            <a:srgbClr val="1F2937"/>
                          </a:solidFill>
                        </a:rPr>
                        <a:t>실행 </a:t>
                      </a:r>
                      <a:pPr indent="0" marL="0">
                        <a:buNone/>
                      </a:pPr>
                      <a:r>
                        <a:rPr lang="en-US" sz="1100" dirty="0">
                          <a:solidFill>
                            <a:srgbClr val="1F2937"/>
                          </a:solidFill>
                        </a:rPr>
                        <a:t>결과와 </a:t>
                      </a:r>
                      <a:pPr indent="0" marL="0">
                        <a:buNone/>
                      </a:pPr>
                      <a:r>
                        <a:rPr lang="en-US" sz="1100" dirty="0">
                          <a:solidFill>
                            <a:srgbClr val="1F2937"/>
                          </a:solidFill>
                        </a:rPr>
                        <a:t>저장 </a:t>
                      </a:r>
                      <a:pPr indent="0" marL="0">
                        <a:buNone/>
                      </a:pPr>
                      <a:r>
                        <a:rPr lang="en-US" sz="1100" dirty="0">
                          <a:solidFill>
                            <a:srgbClr val="1F2937"/>
                          </a:solidFill>
                        </a:rPr>
                        <a:t>상태 </a:t>
                      </a:r>
                      <a:pPr indent="0" marL="0">
                        <a:buNone/>
                      </a:pPr>
                      <a:r>
                        <a:rPr lang="en-US" sz="1100" dirty="0">
                          <a:solidFill>
                            <a:srgbClr val="1F2937"/>
                          </a:solidFill>
                        </a:rPr>
                        <a:t>비교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QA·이개발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취소 </a:t>
                      </a:r>
                      <a:pPr indent="0" marL="0">
                        <a:buNone/>
                      </a:pPr>
                      <a:r>
                        <a:rPr lang="en-US" sz="1100" dirty="0">
                          <a:solidFill>
                            <a:srgbClr val="1F2937"/>
                          </a:solidFill>
                        </a:rPr>
                        <a:t>처리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취소 </a:t>
                      </a:r>
                      <a:pPr indent="0" marL="0">
                        <a:buNone/>
                      </a:pPr>
                      <a:r>
                        <a:rPr lang="en-US" sz="1100" dirty="0">
                          <a:solidFill>
                            <a:srgbClr val="1F2937"/>
                          </a:solidFill>
                        </a:rPr>
                        <a:t>전 </a:t>
                      </a:r>
                      <a:pPr indent="0" marL="0">
                        <a:buNone/>
                      </a:pPr>
                      <a:r>
                        <a:rPr lang="en-US" sz="1100" dirty="0">
                          <a:solidFill>
                            <a:srgbClr val="1F2937"/>
                          </a:solidFill>
                        </a:rPr>
                        <a:t>요청의 </a:t>
                      </a:r>
                      <a:pPr indent="0" marL="0">
                        <a:buNone/>
                      </a:pPr>
                      <a:r>
                        <a:rPr lang="en-US" sz="1100" dirty="0">
                          <a:solidFill>
                            <a:srgbClr val="1F2937"/>
                          </a:solidFill>
                        </a:rPr>
                        <a:t>지연 </a:t>
                      </a:r>
                      <a:pPr indent="0" marL="0">
                        <a:buNone/>
                      </a:pPr>
                      <a:r>
                        <a:rPr lang="en-US" sz="1100" dirty="0">
                          <a:solidFill>
                            <a:srgbClr val="1F2937"/>
                          </a:solidFill>
                        </a:rPr>
                        <a:t>응답이 </a:t>
                      </a:r>
                      <a:pPr indent="0" marL="0">
                        <a:buNone/>
                      </a:pPr>
                      <a:r>
                        <a:rPr lang="en-US" sz="1100" dirty="0">
                          <a:solidFill>
                            <a:srgbClr val="1F2937"/>
                          </a:solidFill>
                        </a:rPr>
                        <a:t>취소 </a:t>
                      </a:r>
                      <a:pPr indent="0" marL="0">
                        <a:buNone/>
                      </a:pPr>
                      <a:r>
                        <a:rPr lang="en-US" sz="1100" dirty="0">
                          <a:solidFill>
                            <a:srgbClr val="1F2937"/>
                          </a:solidFill>
                        </a:rPr>
                        <a:t>후 </a:t>
                      </a:r>
                      <a:pPr indent="0" marL="0">
                        <a:buNone/>
                      </a:pPr>
                      <a:r>
                        <a:rPr lang="en-US" sz="1100" dirty="0">
                          <a:solidFill>
                            <a:srgbClr val="1F2937"/>
                          </a:solidFill>
                        </a:rPr>
                        <a:t>화면 </a:t>
                      </a:r>
                      <a:pPr indent="0" marL="0">
                        <a:buNone/>
                      </a:pPr>
                      <a:r>
                        <a:rPr lang="en-US" sz="1100" dirty="0">
                          <a:solidFill>
                            <a:srgbClr val="1F2937"/>
                          </a:solidFill>
                        </a:rPr>
                        <a:t>및 </a:t>
                      </a:r>
                      <a:pPr indent="0" marL="0">
                        <a:buNone/>
                      </a:pPr>
                      <a:r>
                        <a:rPr lang="en-US" sz="1100" dirty="0">
                          <a:solidFill>
                            <a:srgbClr val="1F2937"/>
                          </a:solidFill>
                        </a:rPr>
                        <a:t>저장 </a:t>
                      </a:r>
                      <a:pPr indent="0" marL="0">
                        <a:buNone/>
                      </a:pPr>
                      <a:r>
                        <a:rPr lang="en-US" sz="1100" dirty="0">
                          <a:solidFill>
                            <a:srgbClr val="1F2937"/>
                          </a:solidFill>
                        </a:rPr>
                        <a:t>결과에 </a:t>
                      </a:r>
                      <a:pPr indent="0" marL="0">
                        <a:buNone/>
                      </a:pPr>
                      <a:r>
                        <a:rPr lang="en-US" sz="1100" dirty="0">
                          <a:solidFill>
                            <a:srgbClr val="1F2937"/>
                          </a:solidFill>
                        </a:rPr>
                        <a:t>반영되지 </a:t>
                      </a:r>
                      <a:pPr indent="0" marL="0">
                        <a:buNone/>
                      </a:pPr>
                      <a:r>
                        <a:rPr lang="en-US" sz="1100" dirty="0">
                          <a:solidFill>
                            <a:srgbClr val="1F2937"/>
                          </a:solidFill>
                        </a:rPr>
                        <a:t>않는 </a:t>
                      </a:r>
                      <a:pPr indent="0" marL="0">
                        <a:buNone/>
                      </a:pPr>
                      <a:r>
                        <a:rPr lang="en-US" sz="1100" dirty="0">
                          <a:solidFill>
                            <a:srgbClr val="1F2937"/>
                          </a:solidFill>
                        </a:rPr>
                        <a:t>결과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응답 </a:t>
                      </a:r>
                      <a:pPr indent="0" marL="0">
                        <a:buNone/>
                      </a:pPr>
                      <a:r>
                        <a:rPr lang="en-US" sz="1100" dirty="0">
                          <a:solidFill>
                            <a:srgbClr val="1F2937"/>
                          </a:solidFill>
                        </a:rPr>
                        <a:t>지연을 </a:t>
                      </a:r>
                      <a:pPr indent="0" marL="0">
                        <a:buNone/>
                      </a:pPr>
                      <a:r>
                        <a:rPr lang="en-US" sz="1100" dirty="0">
                          <a:solidFill>
                            <a:srgbClr val="1F2937"/>
                          </a:solidFill>
                        </a:rPr>
                        <a:t>통제한 </a:t>
                      </a:r>
                      <a:pPr indent="0" marL="0">
                        <a:buNone/>
                      </a:pPr>
                      <a:r>
                        <a:rPr lang="en-US" sz="1100" dirty="0">
                          <a:solidFill>
                            <a:srgbClr val="1F2937"/>
                          </a:solidFill>
                        </a:rPr>
                        <a:t>재현 </a:t>
                      </a:r>
                      <a:pPr indent="0" marL="0">
                        <a:buNone/>
                      </a:pPr>
                      <a:r>
                        <a:rPr lang="en-US" sz="1100" dirty="0">
                          <a:solidFill>
                            <a:srgbClr val="1F2937"/>
                          </a:solidFill>
                        </a:rPr>
                        <a:t>시험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QA·이개발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파일 </a:t>
                      </a:r>
                      <a:pPr indent="0" marL="0">
                        <a:buNone/>
                      </a:pPr>
                      <a:r>
                        <a:rPr lang="en-US" sz="1100" dirty="0">
                          <a:solidFill>
                            <a:srgbClr val="1F2937"/>
                          </a:solidFill>
                        </a:rPr>
                        <a:t>출력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내려받은 </a:t>
                      </a:r>
                      <a:pPr indent="0" marL="0">
                        <a:buNone/>
                      </a:pPr>
                      <a:r>
                        <a:rPr lang="en-US" sz="1100" dirty="0">
                          <a:solidFill>
                            <a:srgbClr val="1F2937"/>
                          </a:solidFill>
                        </a:rPr>
                        <a:t>Word와 </a:t>
                      </a:r>
                      <a:pPr indent="0" marL="0">
                        <a:buNone/>
                      </a:pPr>
                      <a:r>
                        <a:rPr lang="en-US" sz="1100" dirty="0">
                          <a:solidFill>
                            <a:srgbClr val="1F2937"/>
                          </a:solidFill>
                        </a:rPr>
                        <a:t>PDF를 </a:t>
                      </a:r>
                      <a:pPr indent="0" marL="0">
                        <a:buNone/>
                      </a:pPr>
                      <a:r>
                        <a:rPr lang="en-US" sz="1100" dirty="0">
                          <a:solidFill>
                            <a:srgbClr val="1F2937"/>
                          </a:solidFill>
                        </a:rPr>
                        <a:t>열 </a:t>
                      </a:r>
                      <a:pPr indent="0" marL="0">
                        <a:buNone/>
                      </a:pPr>
                      <a:r>
                        <a:rPr lang="en-US" sz="1100" dirty="0">
                          <a:solidFill>
                            <a:srgbClr val="1F2937"/>
                          </a:solidFill>
                        </a:rPr>
                        <a:t>수 </a:t>
                      </a:r>
                      <a:pPr indent="0" marL="0">
                        <a:buNone/>
                      </a:pPr>
                      <a:r>
                        <a:rPr lang="en-US" sz="1100" dirty="0">
                          <a:solidFill>
                            <a:srgbClr val="1F2937"/>
                          </a:solidFill>
                        </a:rPr>
                        <a:t>있고 </a:t>
                      </a:r>
                      <a:pPr indent="0" marL="0">
                        <a:buNone/>
                      </a:pPr>
                      <a:r>
                        <a:rPr lang="en-US" sz="1100" dirty="0">
                          <a:solidFill>
                            <a:srgbClr val="1F2937"/>
                          </a:solidFill>
                        </a:rPr>
                        <a:t>표·다이어그램이 </a:t>
                      </a:r>
                      <a:pPr indent="0" marL="0">
                        <a:buNone/>
                      </a:pPr>
                      <a:r>
                        <a:rPr lang="en-US" sz="1100" dirty="0">
                          <a:solidFill>
                            <a:srgbClr val="1F2937"/>
                          </a:solidFill>
                        </a:rPr>
                        <a:t>누락되지 </a:t>
                      </a:r>
                      <a:pPr indent="0" marL="0">
                        <a:buNone/>
                      </a:pPr>
                      <a:r>
                        <a:rPr lang="en-US" sz="1100" dirty="0">
                          <a:solidFill>
                            <a:srgbClr val="1F2937"/>
                          </a:solidFill>
                        </a:rPr>
                        <a:t>않음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파일 </a:t>
                      </a:r>
                      <a:pPr indent="0" marL="0">
                        <a:buNone/>
                      </a:pPr>
                      <a:r>
                        <a:rPr lang="en-US" sz="1100" dirty="0">
                          <a:solidFill>
                            <a:srgbClr val="1F2937"/>
                          </a:solidFill>
                        </a:rPr>
                        <a:t>열기 </a:t>
                      </a:r>
                      <a:pPr indent="0" marL="0">
                        <a:buNone/>
                      </a:pPr>
                      <a:r>
                        <a:rPr lang="en-US" sz="1100" dirty="0">
                          <a:solidFill>
                            <a:srgbClr val="1F2937"/>
                          </a:solidFill>
                        </a:rPr>
                        <a:t>및 </a:t>
                      </a:r>
                      <a:pPr indent="0" marL="0">
                        <a:buNone/>
                      </a:pPr>
                      <a:r>
                        <a:rPr lang="en-US" sz="1100" dirty="0">
                          <a:solidFill>
                            <a:srgbClr val="1F2937"/>
                          </a:solidFill>
                        </a:rPr>
                        <a:t>기준 </a:t>
                      </a:r>
                      <a:pPr indent="0" marL="0">
                        <a:buNone/>
                      </a:pPr>
                      <a:r>
                        <a:rPr lang="en-US" sz="1100" dirty="0">
                          <a:solidFill>
                            <a:srgbClr val="1F2937"/>
                          </a:solidFill>
                        </a:rPr>
                        <a:t>자료 </a:t>
                      </a:r>
                      <a:pPr indent="0" marL="0">
                        <a:buNone/>
                      </a:pPr>
                      <a:r>
                        <a:rPr lang="en-US" sz="1100" dirty="0">
                          <a:solidFill>
                            <a:srgbClr val="1F2937"/>
                          </a:solidFill>
                        </a:rPr>
                        <a:t>대조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QA </a:t>
                      </a:r>
                      <a:pPr indent="0" marL="0">
                        <a:buNone/>
                      </a:pPr>
                      <a:r>
                        <a:rPr lang="en-US" sz="1100" dirty="0">
                          <a:solidFill>
                            <a:srgbClr val="1F2937"/>
                          </a:solidFill>
                        </a:rPr>
                        <a:t>담당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내용 </a:t>
                      </a:r>
                      <a:pPr indent="0" marL="0">
                        <a:buNone/>
                      </a:pPr>
                      <a:r>
                        <a:rPr lang="en-US" sz="1100" dirty="0">
                          <a:solidFill>
                            <a:srgbClr val="1F2937"/>
                          </a:solidFill>
                        </a:rPr>
                        <a:t>보존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서식 </a:t>
                      </a:r>
                      <a:pPr indent="0" marL="0">
                        <a:buNone/>
                      </a:pPr>
                      <a:r>
                        <a:rPr lang="en-US" sz="1100" dirty="0">
                          <a:solidFill>
                            <a:srgbClr val="1F2937"/>
                          </a:solidFill>
                        </a:rPr>
                        <a:t>적용 </a:t>
                      </a:r>
                      <a:pPr indent="0" marL="0">
                        <a:buNone/>
                      </a:pPr>
                      <a:r>
                        <a:rPr lang="en-US" sz="1100" dirty="0">
                          <a:solidFill>
                            <a:srgbClr val="1F2937"/>
                          </a:solidFill>
                        </a:rPr>
                        <a:t>전후 </a:t>
                      </a:r>
                      <a:pPr indent="0" marL="0">
                        <a:buNone/>
                      </a:pPr>
                      <a:r>
                        <a:rPr lang="en-US" sz="1100" dirty="0">
                          <a:solidFill>
                            <a:srgbClr val="1F2937"/>
                          </a:solidFill>
                        </a:rPr>
                        <a:t>문서 </a:t>
                      </a:r>
                      <a:pPr indent="0" marL="0">
                        <a:buNone/>
                      </a:pPr>
                      <a:r>
                        <a:rPr lang="en-US" sz="1100" dirty="0">
                          <a:solidFill>
                            <a:srgbClr val="1F2937"/>
                          </a:solidFill>
                        </a:rPr>
                        <a:t>내용이 </a:t>
                      </a:r>
                      <a:pPr indent="0" marL="0">
                        <a:buNone/>
                      </a:pPr>
                      <a:r>
                        <a:rPr lang="en-US" sz="1100" dirty="0">
                          <a:solidFill>
                            <a:srgbClr val="1F2937"/>
                          </a:solidFill>
                        </a:rPr>
                        <a:t>변경되지 </a:t>
                      </a:r>
                      <a:pPr indent="0" marL="0">
                        <a:buNone/>
                      </a:pPr>
                      <a:r>
                        <a:rPr lang="en-US" sz="1100" dirty="0">
                          <a:solidFill>
                            <a:srgbClr val="1F2937"/>
                          </a:solidFill>
                        </a:rPr>
                        <a:t>않음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원문·출력 </a:t>
                      </a:r>
                      <a:pPr indent="0" marL="0">
                        <a:buNone/>
                      </a:pPr>
                      <a:r>
                        <a:rPr lang="en-US" sz="1100" dirty="0">
                          <a:solidFill>
                            <a:srgbClr val="1F2937"/>
                          </a:solidFill>
                        </a:rPr>
                        <a:t>파일 </a:t>
                      </a:r>
                      <a:pPr indent="0" marL="0">
                        <a:buNone/>
                      </a:pPr>
                      <a:r>
                        <a:rPr lang="en-US" sz="1100" dirty="0">
                          <a:solidFill>
                            <a:srgbClr val="1F2937"/>
                          </a:solidFill>
                        </a:rPr>
                        <a:t>비교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QA·김PM·디자인 </a:t>
                      </a:r>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기능 </a:t>
                      </a:r>
                      <a:pPr indent="0" marL="0">
                        <a:buNone/>
                      </a:pPr>
                      <a:r>
                        <a:rPr lang="en-US" sz="1100" dirty="0">
                          <a:solidFill>
                            <a:srgbClr val="1F2937"/>
                          </a:solidFill>
                        </a:rPr>
                        <a:t>범위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합의된 </a:t>
                      </a:r>
                      <a:pPr indent="0" marL="0">
                        <a:buNone/>
                      </a:pPr>
                      <a:r>
                        <a:rPr lang="en-US" sz="1100" dirty="0">
                          <a:solidFill>
                            <a:srgbClr val="1F2937"/>
                          </a:solidFill>
                        </a:rPr>
                        <a:t>기능을 </a:t>
                      </a:r>
                      <a:pPr indent="0" marL="0">
                        <a:buNone/>
                      </a:pPr>
                      <a:r>
                        <a:rPr lang="en-US" sz="1100" dirty="0">
                          <a:solidFill>
                            <a:srgbClr val="1F2937"/>
                          </a:solidFill>
                        </a:rPr>
                        <a:t>확인하고 </a:t>
                      </a:r>
                      <a:pPr indent="0" marL="0">
                        <a:buNone/>
                      </a:pPr>
                      <a:r>
                        <a:rPr lang="en-US" sz="1100" dirty="0">
                          <a:solidFill>
                            <a:srgbClr val="1F2937"/>
                          </a:solidFill>
                        </a:rPr>
                        <a:t>제외 </a:t>
                      </a:r>
                      <a:pPr indent="0" marL="0">
                        <a:buNone/>
                      </a:pPr>
                      <a:r>
                        <a:rPr lang="en-US" sz="1100" dirty="0">
                          <a:solidFill>
                            <a:srgbClr val="1F2937"/>
                          </a:solidFill>
                        </a:rPr>
                        <a:t>기능과 </a:t>
                      </a:r>
                      <a:pPr indent="0" marL="0">
                        <a:buNone/>
                      </a:pPr>
                      <a:r>
                        <a:rPr lang="en-US" sz="1100" dirty="0">
                          <a:solidFill>
                            <a:srgbClr val="1F2937"/>
                          </a:solidFill>
                        </a:rPr>
                        <a:t>범위 </a:t>
                      </a:r>
                      <a:pPr indent="0" marL="0">
                        <a:buNone/>
                      </a:pPr>
                      <a:r>
                        <a:rPr lang="en-US" sz="1100" dirty="0">
                          <a:solidFill>
                            <a:srgbClr val="1F2937"/>
                          </a:solidFill>
                        </a:rPr>
                        <a:t>혼동이 </a:t>
                      </a:r>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범위표 </a:t>
                      </a:r>
                      <a:pPr indent="0" marL="0">
                        <a:buNone/>
                      </a:pPr>
                      <a:r>
                        <a:rPr lang="en-US" sz="1100" dirty="0">
                          <a:solidFill>
                            <a:srgbClr val="1F2937"/>
                          </a:solidFill>
                        </a:rPr>
                        <a:t>대조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김PM</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결함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배포 </a:t>
                      </a:r>
                      <a:pPr indent="0" marL="0">
                        <a:buNone/>
                      </a:pPr>
                      <a:r>
                        <a:rPr lang="en-US" sz="1100" dirty="0">
                          <a:solidFill>
                            <a:srgbClr val="1F2937"/>
                          </a:solidFill>
                        </a:rPr>
                        <a:t>차단 </a:t>
                      </a:r>
                      <a:pPr indent="0" marL="0">
                        <a:buNone/>
                      </a:pPr>
                      <a:r>
                        <a:rPr lang="en-US" sz="1100" dirty="0">
                          <a:solidFill>
                            <a:srgbClr val="1F2937"/>
                          </a:solidFill>
                        </a:rPr>
                        <a:t>결함 </a:t>
                      </a:r>
                      <a:pPr indent="0" marL="0">
                        <a:buNone/>
                      </a:pPr>
                      <a:r>
                        <a:rPr lang="en-US" sz="1100" dirty="0">
                          <a:solidFill>
                            <a:srgbClr val="1F2937"/>
                          </a:solidFill>
                        </a:rPr>
                        <a:t>허용 </a:t>
                      </a:r>
                      <a:pPr indent="0" marL="0">
                        <a:buNone/>
                      </a:pPr>
                      <a:r>
                        <a:rPr lang="en-US" sz="1100" dirty="0">
                          <a:solidFill>
                            <a:srgbClr val="1F2937"/>
                          </a:solidFill>
                        </a:rPr>
                        <a:t>건수와 </a:t>
                      </a:r>
                      <a:pPr indent="0" marL="0">
                        <a:buNone/>
                      </a:pPr>
                      <a:r>
                        <a:rPr lang="en-US" sz="1100" dirty="0">
                          <a:solidFill>
                            <a:srgbClr val="1F2937"/>
                          </a:solidFill>
                        </a:rPr>
                        <a:t>심각도별 </a:t>
                      </a:r>
                      <a:pPr indent="0" marL="0">
                        <a:buNone/>
                      </a:pPr>
                      <a:r>
                        <a:rPr lang="en-US" sz="1100" dirty="0">
                          <a:solidFill>
                            <a:srgbClr val="1F2937"/>
                          </a:solidFill>
                        </a:rPr>
                        <a:t>기준을 </a:t>
                      </a:r>
                      <a:pPr indent="0" marL="0">
                        <a:buNone/>
                      </a:pPr>
                      <a:r>
                        <a:rPr lang="en-US" sz="1100" dirty="0">
                          <a:solidFill>
                            <a:srgbClr val="1F2937"/>
                          </a:solidFill>
                        </a:rPr>
                        <a:t>사전에 </a:t>
                      </a:r>
                      <a:pPr indent="0" marL="0">
                        <a:buNone/>
                      </a:pPr>
                      <a:r>
                        <a:rPr lang="en-US" sz="1100" dirty="0">
                          <a:solidFill>
                            <a:srgbClr val="1F2937"/>
                          </a:solidFill>
                        </a:rPr>
                        <a:t>승인. </a:t>
                      </a:r>
                      <a:pPr indent="0" marL="0">
                        <a:buNone/>
                      </a:pPr>
                      <a:r>
                        <a:rPr lang="en-US" sz="1100" dirty="0">
                          <a:solidFill>
                            <a:srgbClr val="1F2937"/>
                          </a:solidFill>
                        </a:rPr>
                        <a:t>현재 </a:t>
                      </a:r>
                      <a:pPr indent="0" marL="0">
                        <a:buNone/>
                      </a:pPr>
                      <a:r>
                        <a:rPr lang="en-US" sz="1100" dirty="0">
                          <a:solidFill>
                            <a:srgbClr val="1F2937"/>
                          </a:solidFill>
                        </a:rPr>
                        <a:t>수치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결함 </a:t>
                      </a:r>
                      <a:pPr indent="0" marL="0">
                        <a:buNone/>
                      </a:pPr>
                      <a:r>
                        <a:rPr lang="en-US" sz="1100" dirty="0">
                          <a:solidFill>
                            <a:srgbClr val="1F2937"/>
                          </a:solidFill>
                        </a:rPr>
                        <a:t>목록과 </a:t>
                      </a:r>
                      <a:pPr indent="0" marL="0">
                        <a:buNone/>
                      </a:pPr>
                      <a:r>
                        <a:rPr lang="en-US" sz="1100" dirty="0">
                          <a:solidFill>
                            <a:srgbClr val="1F2937"/>
                          </a:solidFill>
                        </a:rPr>
                        <a:t>승인 </a:t>
                      </a:r>
                      <a:pPr indent="0" marL="0">
                        <a:buNone/>
                      </a:pPr>
                      <a:r>
                        <a:rPr lang="en-US" sz="1100" dirty="0">
                          <a:solidFill>
                            <a:srgbClr val="1F2937"/>
                          </a:solidFill>
                        </a:rPr>
                        <a:t>기록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김PM·개발 </a:t>
                      </a:r>
                      <a:pPr indent="0" marL="0">
                        <a:buNone/>
                      </a:pPr>
                      <a:r>
                        <a:rPr lang="en-US" sz="1100" dirty="0">
                          <a:solidFill>
                            <a:srgbClr val="1F2937"/>
                          </a:solidFill>
                        </a:rPr>
                        <a:t>책임자 </a:t>
                      </a:r>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성능·보안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목표와 </a:t>
                      </a:r>
                      <a:pPr indent="0" marL="0">
                        <a:buNone/>
                      </a:pPr>
                      <a:r>
                        <a:rPr lang="en-US" sz="1100" dirty="0">
                          <a:solidFill>
                            <a:srgbClr val="1F2937"/>
                          </a:solidFill>
                        </a:rPr>
                        <a:t>시험 </a:t>
                      </a:r>
                      <a:pPr indent="0" marL="0">
                        <a:buNone/>
                      </a:pPr>
                      <a:r>
                        <a:rPr lang="en-US" sz="1100" dirty="0">
                          <a:solidFill>
                            <a:srgbClr val="1F2937"/>
                          </a:solidFill>
                        </a:rPr>
                        <a:t>범위를 </a:t>
                      </a:r>
                      <a:pPr indent="0" marL="0">
                        <a:buNone/>
                      </a:pPr>
                      <a:r>
                        <a:rPr lang="en-US" sz="1100" dirty="0">
                          <a:solidFill>
                            <a:srgbClr val="1F2937"/>
                          </a:solidFill>
                        </a:rPr>
                        <a:t>사전에 </a:t>
                      </a:r>
                      <a:pPr indent="0" marL="0">
                        <a:buNone/>
                      </a:pPr>
                      <a:r>
                        <a:rPr lang="en-US" sz="1100" dirty="0">
                          <a:solidFill>
                            <a:srgbClr val="1F2937"/>
                          </a:solidFill>
                        </a:rPr>
                        <a:t>확정한 </a:t>
                      </a:r>
                      <a:pPr indent="0" marL="0">
                        <a:buNone/>
                      </a:pPr>
                      <a:r>
                        <a:rPr lang="en-US" sz="1100" dirty="0">
                          <a:solidFill>
                            <a:srgbClr val="1F2937"/>
                          </a:solidFill>
                        </a:rPr>
                        <a:t>경우에만 </a:t>
                      </a:r>
                      <a:pPr indent="0" marL="0">
                        <a:buNone/>
                      </a:pPr>
                      <a:r>
                        <a:rPr lang="en-US" sz="1100" dirty="0">
                          <a:solidFill>
                            <a:srgbClr val="1F2937"/>
                          </a:solidFill>
                        </a:rPr>
                        <a:t>측정 </a:t>
                      </a:r>
                      <a:pPr indent="0" marL="0">
                        <a:buNone/>
                      </a:pPr>
                      <a:r>
                        <a:rPr lang="en-US" sz="1100" dirty="0">
                          <a:solidFill>
                            <a:srgbClr val="1F2937"/>
                          </a:solidFill>
                        </a:rPr>
                        <a:t>결과를 </a:t>
                      </a:r>
                      <a:pPr indent="0" marL="0">
                        <a:buNone/>
                      </a:pPr>
                      <a:r>
                        <a:rPr lang="en-US" sz="1100" dirty="0">
                          <a:solidFill>
                            <a:srgbClr val="1F2937"/>
                          </a:solidFill>
                        </a:rPr>
                        <a:t>합격·불합격으로 </a:t>
                      </a:r>
                      <a:pPr indent="0" marL="0">
                        <a:buNone/>
                      </a:pPr>
                      <a:r>
                        <a:rPr lang="en-US" sz="1100" dirty="0">
                          <a:solidFill>
                            <a:srgbClr val="1F2937"/>
                          </a:solidFill>
                        </a:rPr>
                        <a:t>판정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성능·보안 </a:t>
                      </a:r>
                      <a:pPr indent="0" marL="0">
                        <a:buNone/>
                      </a:pPr>
                      <a:r>
                        <a:rPr lang="en-US" sz="1100" dirty="0">
                          <a:solidFill>
                            <a:srgbClr val="1F2937"/>
                          </a:solidFill>
                        </a:rPr>
                        <a:t>결과 </a:t>
                      </a:r>
                      <a:pPr indent="0" marL="0">
                        <a:buNone/>
                      </a:pPr>
                      <a:r>
                        <a:rPr lang="en-US" sz="1100" dirty="0">
                          <a:solidFill>
                            <a:srgbClr val="1F2937"/>
                          </a:solidFill>
                        </a:rPr>
                        <a:t>보고서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담당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최종 </a:t>
                      </a:r>
                      <a:pPr indent="0" marL="0">
                        <a:buNone/>
                      </a:pPr>
                      <a:r>
                        <a:rPr lang="en-US" sz="1100" dirty="0">
                          <a:solidFill>
                            <a:srgbClr val="1F2937"/>
                          </a:solidFill>
                        </a:rPr>
                        <a:t>검토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결과, </a:t>
                      </a:r>
                      <a:pPr indent="0" marL="0">
                        <a:buNone/>
                      </a:pPr>
                      <a:r>
                        <a:rPr lang="en-US" sz="1100" dirty="0">
                          <a:solidFill>
                            <a:srgbClr val="1F2937"/>
                          </a:solidFill>
                        </a:rPr>
                        <a:t>미해결 </a:t>
                      </a:r>
                      <a:pPr indent="0" marL="0">
                        <a:buNone/>
                      </a:pPr>
                      <a:r>
                        <a:rPr lang="en-US" sz="1100" dirty="0">
                          <a:solidFill>
                            <a:srgbClr val="1F2937"/>
                          </a:solidFill>
                        </a:rPr>
                        <a:t>결함, </a:t>
                      </a:r>
                      <a:pPr indent="0" marL="0">
                        <a:buNone/>
                      </a:pPr>
                      <a:r>
                        <a:rPr lang="en-US" sz="1100" dirty="0">
                          <a:solidFill>
                            <a:srgbClr val="1F2937"/>
                          </a:solidFill>
                        </a:rPr>
                        <a:t>알려진 </a:t>
                      </a:r>
                      <a:pPr indent="0" marL="0">
                        <a:buNone/>
                      </a:pPr>
                      <a:r>
                        <a:rPr lang="en-US" sz="1100" dirty="0">
                          <a:solidFill>
                            <a:srgbClr val="1F2937"/>
                          </a:solidFill>
                        </a:rPr>
                        <a:t>제한 </a:t>
                      </a:r>
                      <a:pPr indent="0" marL="0">
                        <a:buNone/>
                      </a:pPr>
                      <a:r>
                        <a:rPr lang="en-US" sz="1100" dirty="0">
                          <a:solidFill>
                            <a:srgbClr val="1F2937"/>
                          </a:solidFill>
                        </a:rPr>
                        <a:t>사항을 </a:t>
                      </a:r>
                      <a:pPr indent="0" marL="0">
                        <a:buNone/>
                      </a:pPr>
                      <a:r>
                        <a:rPr lang="en-US" sz="1100" dirty="0">
                          <a:solidFill>
                            <a:srgbClr val="1F2937"/>
                          </a:solidFill>
                        </a:rPr>
                        <a:t>이해관계자가 </a:t>
                      </a:r>
                      <a:pPr indent="0" marL="0">
                        <a:buNone/>
                      </a:pPr>
                      <a:r>
                        <a:rPr lang="en-US" sz="1100" dirty="0">
                          <a:solidFill>
                            <a:srgbClr val="1F2937"/>
                          </a:solidFill>
                        </a:rPr>
                        <a:t>검토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최종 </a:t>
                      </a:r>
                      <a:pPr indent="0" marL="0">
                        <a:buNone/>
                      </a:pPr>
                      <a:r>
                        <a:rPr lang="en-US" sz="1100" dirty="0">
                          <a:solidFill>
                            <a:srgbClr val="1F2937"/>
                          </a:solidFill>
                        </a:rPr>
                        <a:t>결과 </a:t>
                      </a:r>
                      <a:pPr indent="0" marL="0">
                        <a:buNone/>
                      </a:pPr>
                      <a:r>
                        <a:rPr lang="en-US" sz="1100" dirty="0">
                          <a:solidFill>
                            <a:srgbClr val="1F2937"/>
                          </a:solidFill>
                        </a:rPr>
                        <a:t>검토 </a:t>
                      </a:r>
                      <a:pPr indent="0" marL="0">
                        <a:buNone/>
                      </a:pPr>
                      <a:r>
                        <a:rPr lang="en-US" sz="1100" dirty="0">
                          <a:solidFill>
                            <a:srgbClr val="1F2937"/>
                          </a:solidFill>
                        </a:rPr>
                        <a:t>기록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승인자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8. 위험 관리</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8.1 테스트 위험</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확률·영향의 수치화 기준은 회의에서 정하지 않았습니다. 아래 평가는 계획 수립을 위한 </a:t>
            </a:r>
            <a:pPr indent="0" marL="0">
              <a:spcAft>
                <a:spcPts val="800"/>
              </a:spcAft>
              <a:buNone/>
            </a:pPr>
            <a:r>
              <a:rPr lang="en-US" sz="1600" b="1" dirty="0">
                <a:solidFill>
                  <a:srgbClr val="4B5563"/>
                </a:solidFill>
              </a:rPr>
              <a:t>초기 정성 평가 제안</a:t>
            </a:r>
            <a:pPr indent="0" marL="0">
              <a:spcAft>
                <a:spcPts val="800"/>
              </a:spcAft>
              <a:buNone/>
            </a:pPr>
            <a:r>
              <a:rPr lang="en-US" sz="1600" dirty="0">
                <a:solidFill>
                  <a:srgbClr val="4B5563"/>
                </a:solidFill>
              </a:rPr>
              <a:t>이며, 실제 발생 가능성과 영향도는 담당자 확인 후 갱신해야 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8.1 테스트 위험</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425669"/>
                <a:gridCol w="2554014"/>
                <a:gridCol w="638503"/>
                <a:gridCol w="425669"/>
                <a:gridCol w="425669"/>
                <a:gridCol w="2554014"/>
                <a:gridCol w="1206062"/>
              </a:tblGrid>
              <a:tr h="0">
                <a:tc>
                  <a:txBody>
                    <a:bodyPr/>
                    <a:lstStyle/>
                    <a:p>
                      <a:pPr indent="0" marL="0">
                        <a:buNone/>
                      </a:pPr>
                      <a:r>
                        <a:rPr lang="en-US" sz="1200" b="1" dirty="0">
                          <a:solidFill>
                            <a:srgbClr val="FFFFFF"/>
                          </a:solidFill>
                        </a:rPr>
                        <a:t>위험 </a:t>
                      </a:r>
                      <a:pPr indent="0" marL="0">
                        <a:buNone/>
                      </a:pPr>
                      <a:r>
                        <a:rPr lang="en-US" sz="1200" b="1" dirty="0">
                          <a:solidFill>
                            <a:srgbClr val="FFFFFF"/>
                          </a:solidFill>
                        </a:rPr>
                        <a:t>ID</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위험</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초기 </a:t>
                      </a:r>
                      <a:pPr indent="0" marL="0">
                        <a:buNone/>
                      </a:pPr>
                      <a:r>
                        <a:rPr lang="en-US" sz="1200" b="1" dirty="0">
                          <a:solidFill>
                            <a:srgbClr val="FFFFFF"/>
                          </a:solidFill>
                        </a:rPr>
                        <a:t>가능성 </a:t>
                      </a:r>
                      <a:pPr indent="0" marL="0">
                        <a:buNone/>
                      </a:pPr>
                      <a:r>
                        <a:rPr lang="en-US" sz="1200" b="1" dirty="0">
                          <a:solidFill>
                            <a:srgbClr val="FFFFFF"/>
                          </a:solidFill>
                        </a:rPr>
                        <a:t>제안</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영향</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우선순위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대응 </a:t>
                      </a:r>
                      <a:pPr indent="0" marL="0">
                        <a:buNone/>
                      </a:pPr>
                      <a:r>
                        <a:rPr lang="en-US" sz="1200" b="1" dirty="0">
                          <a:solidFill>
                            <a:srgbClr val="FFFFFF"/>
                          </a:solidFill>
                        </a:rPr>
                        <a:t>방안</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담당</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R-001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기기 </a:t>
                      </a:r>
                      <a:pPr indent="0" marL="0">
                        <a:buNone/>
                      </a:pPr>
                      <a:r>
                        <a:rPr lang="en-US" sz="1100" dirty="0">
                          <a:solidFill>
                            <a:srgbClr val="1F2937"/>
                          </a:solidFill>
                        </a:rPr>
                        <a:t>저장 </a:t>
                      </a:r>
                      <a:pPr indent="0" marL="0">
                        <a:buNone/>
                      </a:pPr>
                      <a:r>
                        <a:rPr lang="en-US" sz="1100" dirty="0">
                          <a:solidFill>
                            <a:srgbClr val="1F2937"/>
                          </a:solidFill>
                        </a:rPr>
                        <a:t>또는 </a:t>
                      </a:r>
                      <a:pPr indent="0" marL="0">
                        <a:buNone/>
                      </a:pPr>
                      <a:r>
                        <a:rPr lang="en-US" sz="1100" dirty="0">
                          <a:solidFill>
                            <a:srgbClr val="1F2937"/>
                          </a:solidFill>
                        </a:rPr>
                        <a:t>복귀 </a:t>
                      </a:r>
                      <a:pPr indent="0" marL="0">
                        <a:buNone/>
                      </a:pPr>
                      <a:r>
                        <a:rPr lang="en-US" sz="1100" dirty="0">
                          <a:solidFill>
                            <a:srgbClr val="1F2937"/>
                          </a:solidFill>
                        </a:rPr>
                        <a:t>처리 </a:t>
                      </a:r>
                      <a:pPr indent="0" marL="0">
                        <a:buNone/>
                      </a:pPr>
                      <a:r>
                        <a:rPr lang="en-US" sz="1100" dirty="0">
                          <a:solidFill>
                            <a:srgbClr val="1F2937"/>
                          </a:solidFill>
                        </a:rPr>
                        <a:t>오류로 </a:t>
                      </a:r>
                      <a:pPr indent="0" marL="0">
                        <a:buNone/>
                      </a:pPr>
                      <a:r>
                        <a:rPr lang="en-US" sz="1100" dirty="0">
                          <a:solidFill>
                            <a:srgbClr val="1F2937"/>
                          </a:solidFill>
                        </a:rPr>
                        <a:t>완료된 </a:t>
                      </a:r>
                      <a:pPr indent="0" marL="0">
                        <a:buNone/>
                      </a:pPr>
                      <a:r>
                        <a:rPr lang="en-US" sz="1100" dirty="0">
                          <a:solidFill>
                            <a:srgbClr val="1F2937"/>
                          </a:solidFill>
                        </a:rPr>
                        <a:t>섹션을 </a:t>
                      </a:r>
                      <a:pPr indent="0" marL="0">
                        <a:buNone/>
                      </a:pPr>
                      <a:r>
                        <a:rPr lang="en-US" sz="1100" dirty="0">
                          <a:solidFill>
                            <a:srgbClr val="1F2937"/>
                          </a:solidFill>
                        </a:rPr>
                        <a:t>재사용하지 </a:t>
                      </a:r>
                      <a:pPr indent="0" marL="0">
                        <a:buNone/>
                      </a:pPr>
                      <a:r>
                        <a:rPr lang="en-US" sz="1100" dirty="0">
                          <a:solidFill>
                            <a:srgbClr val="1F2937"/>
                          </a:solidFill>
                        </a:rPr>
                        <a:t>못함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최우선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저장 </a:t>
                      </a:r>
                      <a:pPr indent="0" marL="0">
                        <a:buNone/>
                      </a:pPr>
                      <a:r>
                        <a:rPr lang="en-US" sz="1100" dirty="0">
                          <a:solidFill>
                            <a:srgbClr val="1F2937"/>
                          </a:solidFill>
                        </a:rPr>
                        <a:t>시점·저장 </a:t>
                      </a:r>
                      <a:pPr indent="0" marL="0">
                        <a:buNone/>
                      </a:pPr>
                      <a:r>
                        <a:rPr lang="en-US" sz="1100" dirty="0">
                          <a:solidFill>
                            <a:srgbClr val="1F2937"/>
                          </a:solidFill>
                        </a:rPr>
                        <a:t>상태·복귀 </a:t>
                      </a:r>
                      <a:pPr indent="0" marL="0">
                        <a:buNone/>
                      </a:pPr>
                      <a:r>
                        <a:rPr lang="en-US" sz="1100" dirty="0">
                          <a:solidFill>
                            <a:srgbClr val="1F2937"/>
                          </a:solidFill>
                        </a:rPr>
                        <a:t>경로를 </a:t>
                      </a:r>
                      <a:pPr indent="0" marL="0">
                        <a:buNone/>
                      </a:pPr>
                      <a:r>
                        <a:rPr lang="en-US" sz="1100" dirty="0">
                          <a:solidFill>
                            <a:srgbClr val="1F2937"/>
                          </a:solidFill>
                        </a:rPr>
                        <a:t>분리해 </a:t>
                      </a:r>
                      <a:pPr indent="0" marL="0">
                        <a:buNone/>
                      </a:pPr>
                      <a:r>
                        <a:rPr lang="en-US" sz="1100" dirty="0">
                          <a:solidFill>
                            <a:srgbClr val="1F2937"/>
                          </a:solidFill>
                        </a:rPr>
                        <a:t>검증하고, </a:t>
                      </a:r>
                      <a:pPr indent="0" marL="0">
                        <a:buNone/>
                      </a:pPr>
                      <a:r>
                        <a:rPr lang="en-US" sz="1100" dirty="0">
                          <a:solidFill>
                            <a:srgbClr val="1F2937"/>
                          </a:solidFill>
                        </a:rPr>
                        <a:t>화면 </a:t>
                      </a:r>
                      <a:pPr indent="0" marL="0">
                        <a:buNone/>
                      </a:pPr>
                      <a:r>
                        <a:rPr lang="en-US" sz="1100" dirty="0">
                          <a:solidFill>
                            <a:srgbClr val="1F2937"/>
                          </a:solidFill>
                        </a:rPr>
                        <a:t>이탈·재진입 </a:t>
                      </a:r>
                      <a:pPr indent="0" marL="0">
                        <a:buNone/>
                      </a:pPr>
                      <a:r>
                        <a:rPr lang="en-US" sz="1100" dirty="0">
                          <a:solidFill>
                            <a:srgbClr val="1F2937"/>
                          </a:solidFill>
                        </a:rPr>
                        <a:t>시나리오 </a:t>
                      </a:r>
                      <a:pPr indent="0" marL="0">
                        <a:buNone/>
                      </a:pPr>
                      <a:r>
                        <a:rPr lang="en-US" sz="1100" dirty="0">
                          <a:solidFill>
                            <a:srgbClr val="1F2937"/>
                          </a:solidFill>
                        </a:rPr>
                        <a:t>반복</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이개발·QA </a:t>
                      </a:r>
                      <a:pPr indent="0" marL="0">
                        <a:buNone/>
                      </a:pPr>
                      <a:r>
                        <a:rPr lang="en-US" sz="1100" dirty="0">
                          <a:solidFill>
                            <a:srgbClr val="1F2937"/>
                          </a:solidFill>
                        </a:rPr>
                        <a:t>담당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R-002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취소 </a:t>
                      </a:r>
                      <a:pPr indent="0" marL="0">
                        <a:buNone/>
                      </a:pPr>
                      <a:r>
                        <a:rPr lang="en-US" sz="1100" dirty="0">
                          <a:solidFill>
                            <a:srgbClr val="1F2937"/>
                          </a:solidFill>
                        </a:rPr>
                        <a:t>후 </a:t>
                      </a:r>
                      <a:pPr indent="0" marL="0">
                        <a:buNone/>
                      </a:pPr>
                      <a:r>
                        <a:rPr lang="en-US" sz="1100" dirty="0">
                          <a:solidFill>
                            <a:srgbClr val="1F2937"/>
                          </a:solidFill>
                        </a:rPr>
                        <a:t>이전 </a:t>
                      </a:r>
                      <a:pPr indent="0" marL="0">
                        <a:buNone/>
                      </a:pPr>
                      <a:r>
                        <a:rPr lang="en-US" sz="1100" dirty="0">
                          <a:solidFill>
                            <a:srgbClr val="1F2937"/>
                          </a:solidFill>
                        </a:rPr>
                        <a:t>생성 </a:t>
                      </a:r>
                      <a:pPr indent="0" marL="0">
                        <a:buNone/>
                      </a:pPr>
                      <a:r>
                        <a:rPr lang="en-US" sz="1100" dirty="0">
                          <a:solidFill>
                            <a:srgbClr val="1F2937"/>
                          </a:solidFill>
                        </a:rPr>
                        <a:t>응답이 </a:t>
                      </a:r>
                      <a:pPr indent="0" marL="0">
                        <a:buNone/>
                      </a:pPr>
                      <a:r>
                        <a:rPr lang="en-US" sz="1100" dirty="0">
                          <a:solidFill>
                            <a:srgbClr val="1F2937"/>
                          </a:solidFill>
                        </a:rPr>
                        <a:t>늦게 </a:t>
                      </a:r>
                      <a:pPr indent="0" marL="0">
                        <a:buNone/>
                      </a:pPr>
                      <a:r>
                        <a:rPr lang="en-US" sz="1100" dirty="0">
                          <a:solidFill>
                            <a:srgbClr val="1F2937"/>
                          </a:solidFill>
                        </a:rPr>
                        <a:t>도착해 </a:t>
                      </a:r>
                      <a:pPr indent="0" marL="0">
                        <a:buNone/>
                      </a:pPr>
                      <a:r>
                        <a:rPr lang="en-US" sz="1100" dirty="0">
                          <a:solidFill>
                            <a:srgbClr val="1F2937"/>
                          </a:solidFill>
                        </a:rPr>
                        <a:t>화면이나 </a:t>
                      </a:r>
                      <a:pPr indent="0" marL="0">
                        <a:buNone/>
                      </a:pPr>
                      <a:r>
                        <a:rPr lang="en-US" sz="1100" dirty="0">
                          <a:solidFill>
                            <a:srgbClr val="1F2937"/>
                          </a:solidFill>
                        </a:rPr>
                        <a:t>저장 </a:t>
                      </a:r>
                      <a:pPr indent="0" marL="0">
                        <a:buNone/>
                      </a:pPr>
                      <a:r>
                        <a:rPr lang="en-US" sz="1100" dirty="0">
                          <a:solidFill>
                            <a:srgbClr val="1F2937"/>
                          </a:solidFill>
                        </a:rPr>
                        <a:t>결과를 </a:t>
                      </a:r>
                      <a:pPr indent="0" marL="0">
                        <a:buNone/>
                      </a:pPr>
                      <a:r>
                        <a:rPr lang="en-US" sz="1100" dirty="0">
                          <a:solidFill>
                            <a:srgbClr val="1F2937"/>
                          </a:solidFill>
                        </a:rPr>
                        <a:t>덮어씀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최우선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지연 </a:t>
                      </a:r>
                      <a:pPr indent="0" marL="0">
                        <a:buNone/>
                      </a:pPr>
                      <a:r>
                        <a:rPr lang="en-US" sz="1100" dirty="0">
                          <a:solidFill>
                            <a:srgbClr val="1F2937"/>
                          </a:solidFill>
                        </a:rPr>
                        <a:t>응답과 </a:t>
                      </a:r>
                      <a:pPr indent="0" marL="0">
                        <a:buNone/>
                      </a:pPr>
                      <a:r>
                        <a:rPr lang="en-US" sz="1100" dirty="0">
                          <a:solidFill>
                            <a:srgbClr val="1F2937"/>
                          </a:solidFill>
                        </a:rPr>
                        <a:t>빠른 </a:t>
                      </a:r>
                      <a:pPr indent="0" marL="0">
                        <a:buNone/>
                      </a:pPr>
                      <a:r>
                        <a:rPr lang="en-US" sz="1100" dirty="0">
                          <a:solidFill>
                            <a:srgbClr val="1F2937"/>
                          </a:solidFill>
                        </a:rPr>
                        <a:t>재시도를 </a:t>
                      </a:r>
                      <a:pPr indent="0" marL="0">
                        <a:buNone/>
                      </a:pPr>
                      <a:r>
                        <a:rPr lang="en-US" sz="1100" dirty="0">
                          <a:solidFill>
                            <a:srgbClr val="1F2937"/>
                          </a:solidFill>
                        </a:rPr>
                        <a:t>통제해 </a:t>
                      </a:r>
                      <a:pPr indent="0" marL="0">
                        <a:buNone/>
                      </a:pPr>
                      <a:r>
                        <a:rPr lang="en-US" sz="1100" dirty="0">
                          <a:solidFill>
                            <a:srgbClr val="1F2937"/>
                          </a:solidFill>
                        </a:rPr>
                        <a:t>시험하고, </a:t>
                      </a:r>
                      <a:pPr indent="0" marL="0">
                        <a:buNone/>
                      </a:pPr>
                      <a:r>
                        <a:rPr lang="en-US" sz="1100" dirty="0">
                          <a:solidFill>
                            <a:srgbClr val="1F2937"/>
                          </a:solidFill>
                        </a:rPr>
                        <a:t>화면 </a:t>
                      </a:r>
                      <a:pPr indent="0" marL="0">
                        <a:buNone/>
                      </a:pPr>
                      <a:r>
                        <a:rPr lang="en-US" sz="1100" dirty="0">
                          <a:solidFill>
                            <a:srgbClr val="1F2937"/>
                          </a:solidFill>
                        </a:rPr>
                        <a:t>표시와 </a:t>
                      </a:r>
                      <a:pPr indent="0" marL="0">
                        <a:buNone/>
                      </a:pPr>
                      <a:r>
                        <a:rPr lang="en-US" sz="1100" dirty="0">
                          <a:solidFill>
                            <a:srgbClr val="1F2937"/>
                          </a:solidFill>
                        </a:rPr>
                        <a:t>저장 </a:t>
                      </a:r>
                      <a:pPr indent="0" marL="0">
                        <a:buNone/>
                      </a:pPr>
                      <a:r>
                        <a:rPr lang="en-US" sz="1100" dirty="0">
                          <a:solidFill>
                            <a:srgbClr val="1F2937"/>
                          </a:solidFill>
                        </a:rPr>
                        <a:t>결과를 </a:t>
                      </a:r>
                      <a:pPr indent="0" marL="0">
                        <a:buNone/>
                      </a:pPr>
                      <a:r>
                        <a:rPr lang="en-US" sz="1100" dirty="0">
                          <a:solidFill>
                            <a:srgbClr val="1F2937"/>
                          </a:solidFill>
                        </a:rPr>
                        <a:t>모두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이개발·QA </a:t>
                      </a:r>
                      <a:pPr indent="0" marL="0">
                        <a:buNone/>
                      </a:pPr>
                      <a:r>
                        <a:rPr lang="en-US" sz="1100" dirty="0">
                          <a:solidFill>
                            <a:srgbClr val="1F2937"/>
                          </a:solidFill>
                        </a:rPr>
                        <a:t>담당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R-003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Word </a:t>
                      </a:r>
                      <a:pPr indent="0" marL="0">
                        <a:buNone/>
                      </a:pPr>
                      <a:r>
                        <a:rPr lang="en-US" sz="1100" dirty="0">
                          <a:solidFill>
                            <a:srgbClr val="1F2937"/>
                          </a:solidFill>
                        </a:rPr>
                        <a:t>또는 </a:t>
                      </a:r>
                      <a:pPr indent="0" marL="0">
                        <a:buNone/>
                      </a:pPr>
                      <a:r>
                        <a:rPr lang="en-US" sz="1100" dirty="0">
                          <a:solidFill>
                            <a:srgbClr val="1F2937"/>
                          </a:solidFill>
                        </a:rPr>
                        <a:t>PDF에서 </a:t>
                      </a:r>
                      <a:pPr indent="0" marL="0">
                        <a:buNone/>
                      </a:pPr>
                      <a:r>
                        <a:rPr lang="en-US" sz="1100" dirty="0">
                          <a:solidFill>
                            <a:srgbClr val="1F2937"/>
                          </a:solidFill>
                        </a:rPr>
                        <a:t>표·다이어그램이 </a:t>
                      </a:r>
                      <a:pPr indent="0" marL="0">
                        <a:buNone/>
                      </a:pPr>
                      <a:r>
                        <a:rPr lang="en-US" sz="1100" dirty="0">
                          <a:solidFill>
                            <a:srgbClr val="1F2937"/>
                          </a:solidFill>
                        </a:rPr>
                        <a:t>누락되거나 </a:t>
                      </a:r>
                      <a:pPr indent="0" marL="0">
                        <a:buNone/>
                      </a:pPr>
                      <a:r>
                        <a:rPr lang="en-US" sz="1100" dirty="0">
                          <a:solidFill>
                            <a:srgbClr val="1F2937"/>
                          </a:solidFill>
                        </a:rPr>
                        <a:t>배치가 </a:t>
                      </a:r>
                      <a:pPr indent="0" marL="0">
                        <a:buNone/>
                      </a:pPr>
                      <a:r>
                        <a:rPr lang="en-US" sz="1100" dirty="0">
                          <a:solidFill>
                            <a:srgbClr val="1F2937"/>
                          </a:solidFill>
                        </a:rPr>
                        <a:t>달라짐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최우선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표·다이어그램 </a:t>
                      </a:r>
                      <a:pPr indent="0" marL="0">
                        <a:buNone/>
                      </a:pPr>
                      <a:r>
                        <a:rPr lang="en-US" sz="1100" dirty="0">
                          <a:solidFill>
                            <a:srgbClr val="1F2937"/>
                          </a:solidFill>
                        </a:rPr>
                        <a:t>포함 </a:t>
                      </a:r>
                      <a:pPr indent="0" marL="0">
                        <a:buNone/>
                      </a:pPr>
                      <a:r>
                        <a:rPr lang="en-US" sz="1100" dirty="0">
                          <a:solidFill>
                            <a:srgbClr val="1F2937"/>
                          </a:solidFill>
                        </a:rPr>
                        <a:t>기준 </a:t>
                      </a:r>
                      <a:pPr indent="0" marL="0">
                        <a:buNone/>
                      </a:pPr>
                      <a:r>
                        <a:rPr lang="en-US" sz="1100" dirty="0">
                          <a:solidFill>
                            <a:srgbClr val="1F2937"/>
                          </a:solidFill>
                        </a:rPr>
                        <a:t>자료를 </a:t>
                      </a:r>
                      <a:pPr indent="0" marL="0">
                        <a:buNone/>
                      </a:pPr>
                      <a:r>
                        <a:rPr lang="en-US" sz="1100" dirty="0">
                          <a:solidFill>
                            <a:srgbClr val="1F2937"/>
                          </a:solidFill>
                        </a:rPr>
                        <a:t>준비하고 </a:t>
                      </a:r>
                      <a:pPr indent="0" marL="0">
                        <a:buNone/>
                      </a:pPr>
                      <a:r>
                        <a:rPr lang="en-US" sz="1100" dirty="0">
                          <a:solidFill>
                            <a:srgbClr val="1F2937"/>
                          </a:solidFill>
                        </a:rPr>
                        <a:t>두 </a:t>
                      </a:r>
                      <a:pPr indent="0" marL="0">
                        <a:buNone/>
                      </a:pPr>
                      <a:r>
                        <a:rPr lang="en-US" sz="1100" dirty="0">
                          <a:solidFill>
                            <a:srgbClr val="1F2937"/>
                          </a:solidFill>
                        </a:rPr>
                        <a:t>형식의 </a:t>
                      </a:r>
                      <a:pPr indent="0" marL="0">
                        <a:buNone/>
                      </a:pPr>
                      <a:r>
                        <a:rPr lang="en-US" sz="1100" dirty="0">
                          <a:solidFill>
                            <a:srgbClr val="1F2937"/>
                          </a:solidFill>
                        </a:rPr>
                        <a:t>내려받은 </a:t>
                      </a:r>
                      <a:pPr indent="0" marL="0">
                        <a:buNone/>
                      </a:pPr>
                      <a:r>
                        <a:rPr lang="en-US" sz="1100" dirty="0">
                          <a:solidFill>
                            <a:srgbClr val="1F2937"/>
                          </a:solidFill>
                        </a:rPr>
                        <a:t>파일을 </a:t>
                      </a:r>
                      <a:pPr indent="0" marL="0">
                        <a:buNone/>
                      </a:pPr>
                      <a:r>
                        <a:rPr lang="en-US" sz="1100" dirty="0">
                          <a:solidFill>
                            <a:srgbClr val="1F2937"/>
                          </a:solidFill>
                        </a:rPr>
                        <a:t>각각 </a:t>
                      </a:r>
                      <a:pPr indent="0" marL="0">
                        <a:buNone/>
                      </a:pPr>
                      <a:r>
                        <a:rPr lang="en-US" sz="1100" dirty="0">
                          <a:solidFill>
                            <a:srgbClr val="1F2937"/>
                          </a:solidFill>
                        </a:rPr>
                        <a:t>열어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QA·문서 </a:t>
                      </a:r>
                      <a:pPr indent="0" marL="0">
                        <a:buNone/>
                      </a:pPr>
                      <a:r>
                        <a:rPr lang="en-US" sz="1100" dirty="0">
                          <a:solidFill>
                            <a:srgbClr val="1F2937"/>
                          </a:solidFill>
                        </a:rPr>
                        <a:t>서식 </a:t>
                      </a:r>
                      <a:pPr indent="0" marL="0">
                        <a:buNone/>
                      </a:pPr>
                      <a:r>
                        <a:rPr lang="en-US" sz="1100" dirty="0">
                          <a:solidFill>
                            <a:srgbClr val="1F2937"/>
                          </a:solidFill>
                        </a:rPr>
                        <a:t>담당 </a:t>
                      </a:r>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R-004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내용은 </a:t>
                      </a:r>
                      <a:pPr indent="0" marL="0">
                        <a:buNone/>
                      </a:pPr>
                      <a:r>
                        <a:rPr lang="en-US" sz="1100" dirty="0">
                          <a:solidFill>
                            <a:srgbClr val="1F2937"/>
                          </a:solidFill>
                        </a:rPr>
                        <a:t>유지하고 </a:t>
                      </a:r>
                      <a:pPr indent="0" marL="0">
                        <a:buNone/>
                      </a:pPr>
                      <a:r>
                        <a:rPr lang="en-US" sz="1100" dirty="0">
                          <a:solidFill>
                            <a:srgbClr val="1F2937"/>
                          </a:solidFill>
                        </a:rPr>
                        <a:t>서식만 </a:t>
                      </a:r>
                      <a:pPr indent="0" marL="0">
                        <a:buNone/>
                      </a:pPr>
                      <a:r>
                        <a:rPr lang="en-US" sz="1100" dirty="0">
                          <a:solidFill>
                            <a:srgbClr val="1F2937"/>
                          </a:solidFill>
                        </a:rPr>
                        <a:t>통일하려는 </a:t>
                      </a:r>
                      <a:pPr indent="0" marL="0">
                        <a:buNone/>
                      </a:pPr>
                      <a:r>
                        <a:rPr lang="en-US" sz="1100" dirty="0">
                          <a:solidFill>
                            <a:srgbClr val="1F2937"/>
                          </a:solidFill>
                        </a:rPr>
                        <a:t>요구와 </a:t>
                      </a:r>
                      <a:pPr indent="0" marL="0">
                        <a:buNone/>
                      </a:pPr>
                      <a:r>
                        <a:rPr lang="en-US" sz="1100" dirty="0">
                          <a:solidFill>
                            <a:srgbClr val="1F2937"/>
                          </a:solidFill>
                        </a:rPr>
                        <a:t>실제 </a:t>
                      </a:r>
                      <a:pPr indent="0" marL="0">
                        <a:buNone/>
                      </a:pPr>
                      <a:r>
                        <a:rPr lang="en-US" sz="1100" dirty="0">
                          <a:solidFill>
                            <a:srgbClr val="1F2937"/>
                          </a:solidFill>
                        </a:rPr>
                        <a:t>출력 </a:t>
                      </a:r>
                      <a:pPr indent="0" marL="0">
                        <a:buNone/>
                      </a:pPr>
                      <a:r>
                        <a:rPr lang="en-US" sz="1100" dirty="0">
                          <a:solidFill>
                            <a:srgbClr val="1F2937"/>
                          </a:solidFill>
                        </a:rPr>
                        <a:t>결과가 </a:t>
                      </a:r>
                      <a:pPr indent="0" marL="0">
                        <a:buNone/>
                      </a:pPr>
                      <a:r>
                        <a:rPr lang="en-US" sz="1100" dirty="0">
                          <a:solidFill>
                            <a:srgbClr val="1F2937"/>
                          </a:solidFill>
                        </a:rPr>
                        <a:t>다름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중~높음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원문과 </a:t>
                      </a:r>
                      <a:pPr indent="0" marL="0">
                        <a:buNone/>
                      </a:pPr>
                      <a:r>
                        <a:rPr lang="en-US" sz="1100" dirty="0">
                          <a:solidFill>
                            <a:srgbClr val="1F2937"/>
                          </a:solidFill>
                        </a:rPr>
                        <a:t>내려받은 </a:t>
                      </a:r>
                      <a:pPr indent="0" marL="0">
                        <a:buNone/>
                      </a:pPr>
                      <a:r>
                        <a:rPr lang="en-US" sz="1100" dirty="0">
                          <a:solidFill>
                            <a:srgbClr val="1F2937"/>
                          </a:solidFill>
                        </a:rPr>
                        <a:t>결과를 </a:t>
                      </a:r>
                      <a:pPr indent="0" marL="0">
                        <a:buNone/>
                      </a:pPr>
                      <a:r>
                        <a:rPr lang="en-US" sz="1100" dirty="0">
                          <a:solidFill>
                            <a:srgbClr val="1F2937"/>
                          </a:solidFill>
                        </a:rPr>
                        <a:t>비교하고, </a:t>
                      </a:r>
                      <a:pPr indent="0" marL="0">
                        <a:buNone/>
                      </a:pPr>
                      <a:r>
                        <a:rPr lang="en-US" sz="1100" dirty="0">
                          <a:solidFill>
                            <a:srgbClr val="1F2937"/>
                          </a:solidFill>
                        </a:rPr>
                        <a:t>허용할 </a:t>
                      </a:r>
                      <a:pPr indent="0" marL="0">
                        <a:buNone/>
                      </a:pPr>
                      <a:r>
                        <a:rPr lang="en-US" sz="1100" dirty="0">
                          <a:solidFill>
                            <a:srgbClr val="1F2937"/>
                          </a:solidFill>
                        </a:rPr>
                        <a:t>서식 </a:t>
                      </a:r>
                      <a:pPr indent="0" marL="0">
                        <a:buNone/>
                      </a:pPr>
                      <a:r>
                        <a:rPr lang="en-US" sz="1100" dirty="0">
                          <a:solidFill>
                            <a:srgbClr val="1F2937"/>
                          </a:solidFill>
                        </a:rPr>
                        <a:t>변환 </a:t>
                      </a:r>
                      <a:pPr indent="0" marL="0">
                        <a:buNone/>
                      </a:pPr>
                      <a:r>
                        <a:rPr lang="en-US" sz="1100" dirty="0">
                          <a:solidFill>
                            <a:srgbClr val="1F2937"/>
                          </a:solidFill>
                        </a:rPr>
                        <a:t>범위를 </a:t>
                      </a:r>
                      <a:pPr indent="0" marL="0">
                        <a:buNone/>
                      </a:pPr>
                      <a:r>
                        <a:rPr lang="en-US" sz="1100" dirty="0">
                          <a:solidFill>
                            <a:srgbClr val="1F2937"/>
                          </a:solidFill>
                        </a:rPr>
                        <a:t>박디자인 </a:t>
                      </a:r>
                      <a:pPr indent="0" marL="0">
                        <a:buNone/>
                      </a:pPr>
                      <a:r>
                        <a:rPr lang="en-US" sz="1100" dirty="0">
                          <a:solidFill>
                            <a:srgbClr val="1F2937"/>
                          </a:solidFill>
                        </a:rPr>
                        <a:t>및 </a:t>
                      </a:r>
                      <a:pPr indent="0" marL="0">
                        <a:buNone/>
                      </a:pPr>
                      <a:r>
                        <a:rPr lang="en-US" sz="1100" dirty="0">
                          <a:solidFill>
                            <a:srgbClr val="1F2937"/>
                          </a:solidFill>
                        </a:rPr>
                        <a:t>김PM과 </a:t>
                      </a:r>
                      <a:pPr indent="0" marL="0">
                        <a:buNone/>
                      </a:pPr>
                      <a:r>
                        <a:rPr lang="en-US" sz="1100" dirty="0">
                          <a:solidFill>
                            <a:srgbClr val="1F2937"/>
                          </a:solidFill>
                        </a:rPr>
                        <a:t>확정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박디자인 </a:t>
                      </a:r>
                      <a:pPr indent="0" marL="0">
                        <a:buNone/>
                      </a:pPr>
                      <a:r>
                        <a:rPr lang="en-US" sz="1100" dirty="0">
                          <a:solidFill>
                            <a:srgbClr val="1F2937"/>
                          </a:solidFill>
                        </a:rPr>
                        <a:t>참여 </a:t>
                      </a:r>
                      <a:pPr indent="0" marL="0">
                        <a:buNone/>
                      </a:pPr>
                      <a:r>
                        <a:rPr lang="en-US" sz="1100" dirty="0">
                          <a:solidFill>
                            <a:srgbClr val="1F2937"/>
                          </a:solidFill>
                        </a:rPr>
                        <a:t>여부 </a:t>
                      </a:r>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R-005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테스트 </a:t>
                      </a:r>
                      <a:pPr indent="0" marL="0">
                        <a:buNone/>
                      </a:pPr>
                      <a:r>
                        <a:rPr lang="en-US" sz="1100" dirty="0">
                          <a:solidFill>
                            <a:srgbClr val="1F2937"/>
                          </a:solidFill>
                        </a:rPr>
                        <a:t>환경·지원 </a:t>
                      </a:r>
                      <a:pPr indent="0" marL="0">
                        <a:buNone/>
                      </a:pPr>
                      <a:r>
                        <a:rPr lang="en-US" sz="1100" dirty="0">
                          <a:solidFill>
                            <a:srgbClr val="1F2937"/>
                          </a:solidFill>
                        </a:rPr>
                        <a:t>기기·일정이 </a:t>
                      </a:r>
                      <a:pPr indent="0" marL="0">
                        <a:buNone/>
                      </a:pPr>
                      <a:r>
                        <a:rPr lang="en-US" sz="1100" dirty="0">
                          <a:solidFill>
                            <a:srgbClr val="1F2937"/>
                          </a:solidFill>
                        </a:rPr>
                        <a:t>확정되지 </a:t>
                      </a:r>
                      <a:pPr indent="0" marL="0">
                        <a:buNone/>
                      </a:pPr>
                      <a:r>
                        <a:rPr lang="en-US" sz="1100" dirty="0">
                          <a:solidFill>
                            <a:srgbClr val="1F2937"/>
                          </a:solidFill>
                        </a:rPr>
                        <a:t>않아 </a:t>
                      </a:r>
                      <a:pPr indent="0" marL="0">
                        <a:buNone/>
                      </a:pPr>
                      <a:r>
                        <a:rPr lang="en-US" sz="1100" dirty="0">
                          <a:solidFill>
                            <a:srgbClr val="1F2937"/>
                          </a:solidFill>
                        </a:rPr>
                        <a:t>검증이 </a:t>
                      </a:r>
                      <a:pPr indent="0" marL="0">
                        <a:buNone/>
                      </a:pPr>
                      <a:r>
                        <a:rPr lang="en-US" sz="1100" dirty="0">
                          <a:solidFill>
                            <a:srgbClr val="1F2937"/>
                          </a:solidFill>
                        </a:rPr>
                        <a:t>지연됨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환경·접근 </a:t>
                      </a:r>
                      <a:pPr indent="0" marL="0">
                        <a:buNone/>
                      </a:pPr>
                      <a:r>
                        <a:rPr lang="en-US" sz="1100" dirty="0">
                          <a:solidFill>
                            <a:srgbClr val="1F2937"/>
                          </a:solidFill>
                        </a:rPr>
                        <a:t>권한·지원 </a:t>
                      </a:r>
                      <a:pPr indent="0" marL="0">
                        <a:buNone/>
                      </a:pPr>
                      <a:r>
                        <a:rPr lang="en-US" sz="1100" dirty="0">
                          <a:solidFill>
                            <a:srgbClr val="1F2937"/>
                          </a:solidFill>
                        </a:rPr>
                        <a:t>범위·빌드 </a:t>
                      </a:r>
                      <a:pPr indent="0" marL="0">
                        <a:buNone/>
                      </a:pPr>
                      <a:r>
                        <a:rPr lang="en-US" sz="1100" dirty="0">
                          <a:solidFill>
                            <a:srgbClr val="1F2937"/>
                          </a:solidFill>
                        </a:rPr>
                        <a:t>제공일을 </a:t>
                      </a:r>
                      <a:pPr indent="0" marL="0">
                        <a:buNone/>
                      </a:pPr>
                      <a:r>
                        <a:rPr lang="en-US" sz="1100" dirty="0">
                          <a:solidFill>
                            <a:srgbClr val="1F2937"/>
                          </a:solidFill>
                        </a:rPr>
                        <a:t>테스트 </a:t>
                      </a:r>
                      <a:pPr indent="0" marL="0">
                        <a:buNone/>
                      </a:pPr>
                      <a:r>
                        <a:rPr lang="en-US" sz="1100" dirty="0">
                          <a:solidFill>
                            <a:srgbClr val="1F2937"/>
                          </a:solidFill>
                        </a:rPr>
                        <a:t>시작 </a:t>
                      </a:r>
                      <a:pPr indent="0" marL="0">
                        <a:buNone/>
                      </a:pPr>
                      <a:r>
                        <a:rPr lang="en-US" sz="1100" dirty="0">
                          <a:solidFill>
                            <a:srgbClr val="1F2937"/>
                          </a:solidFill>
                        </a:rPr>
                        <a:t>전에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김PM·이개발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R-006</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 </a:t>
                      </a:r>
                      <a:pPr indent="0" marL="0">
                        <a:buNone/>
                      </a:pPr>
                      <a:r>
                        <a:rPr lang="en-US" sz="1100" dirty="0">
                          <a:solidFill>
                            <a:srgbClr val="1F2937"/>
                          </a:solidFill>
                        </a:rPr>
                        <a:t>수와 </a:t>
                      </a:r>
                      <a:pPr indent="0" marL="0">
                        <a:buNone/>
                      </a:pPr>
                      <a:r>
                        <a:rPr lang="en-US" sz="1100" dirty="0">
                          <a:solidFill>
                            <a:srgbClr val="1F2937"/>
                          </a:solidFill>
                        </a:rPr>
                        <a:t>예산 </a:t>
                      </a:r>
                      <a:pPr indent="0" marL="0">
                        <a:buNone/>
                      </a:pPr>
                      <a:r>
                        <a:rPr lang="en-US" sz="1100" dirty="0">
                          <a:solidFill>
                            <a:srgbClr val="1F2937"/>
                          </a:solidFill>
                        </a:rPr>
                        <a:t>목표가 </a:t>
                      </a:r>
                      <a:pPr indent="0" marL="0">
                        <a:buNone/>
                      </a:pPr>
                      <a:r>
                        <a:rPr lang="en-US" sz="1100" dirty="0">
                          <a:solidFill>
                            <a:srgbClr val="1F2937"/>
                          </a:solidFill>
                        </a:rPr>
                        <a:t>미정이라 </a:t>
                      </a:r>
                      <a:pPr indent="0" marL="0">
                        <a:buNone/>
                      </a:pPr>
                      <a:r>
                        <a:rPr lang="en-US" sz="1100" dirty="0">
                          <a:solidFill>
                            <a:srgbClr val="1F2937"/>
                          </a:solidFill>
                        </a:rPr>
                        <a:t>성능 </a:t>
                      </a:r>
                      <a:pPr indent="0" marL="0">
                        <a:buNone/>
                      </a:pPr>
                      <a:r>
                        <a:rPr lang="en-US" sz="1100" dirty="0">
                          <a:solidFill>
                            <a:srgbClr val="1F2937"/>
                          </a:solidFill>
                        </a:rPr>
                        <a:t>시험 </a:t>
                      </a:r>
                      <a:pPr indent="0" marL="0">
                        <a:buNone/>
                      </a:pPr>
                      <a:r>
                        <a:rPr lang="en-US" sz="1100" dirty="0">
                          <a:solidFill>
                            <a:srgbClr val="1F2937"/>
                          </a:solidFill>
                        </a:rPr>
                        <a:t>규모와 </a:t>
                      </a:r>
                      <a:pPr indent="0" marL="0">
                        <a:buNone/>
                      </a:pPr>
                      <a:r>
                        <a:rPr lang="en-US" sz="1100" dirty="0">
                          <a:solidFill>
                            <a:srgbClr val="1F2937"/>
                          </a:solidFill>
                        </a:rPr>
                        <a:t>결과 </a:t>
                      </a:r>
                      <a:pPr indent="0" marL="0">
                        <a:buNone/>
                      </a:pPr>
                      <a:r>
                        <a:rPr lang="en-US" sz="1100" dirty="0">
                          <a:solidFill>
                            <a:srgbClr val="1F2937"/>
                          </a:solidFill>
                        </a:rPr>
                        <a:t>판정 </a:t>
                      </a:r>
                      <a:pPr indent="0" marL="0">
                        <a:buNone/>
                      </a:pPr>
                      <a:r>
                        <a:rPr lang="en-US" sz="1100" dirty="0">
                          <a:solidFill>
                            <a:srgbClr val="1F2937"/>
                          </a:solidFill>
                        </a:rPr>
                        <a:t>기준을 </a:t>
                      </a:r>
                      <a:pPr indent="0" marL="0">
                        <a:buNone/>
                      </a:pPr>
                      <a:r>
                        <a:rPr lang="en-US" sz="1100" dirty="0">
                          <a:solidFill>
                            <a:srgbClr val="1F2937"/>
                          </a:solidFill>
                        </a:rPr>
                        <a:t>정할 </a:t>
                      </a:r>
                      <a:pPr indent="0" marL="0">
                        <a:buNone/>
                      </a:pPr>
                      <a:r>
                        <a:rPr lang="en-US" sz="1100" dirty="0">
                          <a:solidFill>
                            <a:srgbClr val="1F2937"/>
                          </a:solidFill>
                        </a:rPr>
                        <a:t>수 </a:t>
                      </a:r>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중~높음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실제 </a:t>
                      </a:r>
                      <a:pPr indent="0" marL="0">
                        <a:buNone/>
                      </a:pPr>
                      <a:r>
                        <a:rPr lang="en-US" sz="1100" dirty="0">
                          <a:solidFill>
                            <a:srgbClr val="1F2937"/>
                          </a:solidFill>
                        </a:rPr>
                        <a:t>목표를 </a:t>
                      </a:r>
                      <a:pPr indent="0" marL="0">
                        <a:buNone/>
                      </a:pPr>
                      <a:r>
                        <a:rPr lang="en-US" sz="1100" dirty="0">
                          <a:solidFill>
                            <a:srgbClr val="1F2937"/>
                          </a:solidFill>
                        </a:rPr>
                        <a:t>확인하기 </a:t>
                      </a:r>
                      <a:pPr indent="0" marL="0">
                        <a:buNone/>
                      </a:pPr>
                      <a:r>
                        <a:rPr lang="en-US" sz="1100" dirty="0">
                          <a:solidFill>
                            <a:srgbClr val="1F2937"/>
                          </a:solidFill>
                        </a:rPr>
                        <a:t>전에는 </a:t>
                      </a:r>
                      <a:pPr indent="0" marL="0">
                        <a:buNone/>
                      </a:pPr>
                      <a:r>
                        <a:rPr lang="en-US" sz="1100" dirty="0">
                          <a:solidFill>
                            <a:srgbClr val="1F2937"/>
                          </a:solidFill>
                        </a:rPr>
                        <a:t>측정 </a:t>
                      </a:r>
                      <a:pPr indent="0" marL="0">
                        <a:buNone/>
                      </a:pPr>
                      <a:r>
                        <a:rPr lang="en-US" sz="1100" dirty="0">
                          <a:solidFill>
                            <a:srgbClr val="1F2937"/>
                          </a:solidFill>
                        </a:rPr>
                        <a:t>결과를 </a:t>
                      </a:r>
                      <a:pPr indent="0" marL="0">
                        <a:buNone/>
                      </a:pPr>
                      <a:r>
                        <a:rPr lang="en-US" sz="1100" dirty="0">
                          <a:solidFill>
                            <a:srgbClr val="1F2937"/>
                          </a:solidFill>
                        </a:rPr>
                        <a:t>참고 </a:t>
                      </a:r>
                      <a:pPr indent="0" marL="0">
                        <a:buNone/>
                      </a:pPr>
                      <a:r>
                        <a:rPr lang="en-US" sz="1100" dirty="0">
                          <a:solidFill>
                            <a:srgbClr val="1F2937"/>
                          </a:solidFill>
                        </a:rPr>
                        <a:t>정보로만 </a:t>
                      </a:r>
                      <a:pPr indent="0" marL="0">
                        <a:buNone/>
                      </a:pPr>
                      <a:r>
                        <a:rPr lang="en-US" sz="1100" dirty="0">
                          <a:solidFill>
                            <a:srgbClr val="1F2937"/>
                          </a:solidFill>
                        </a:rPr>
                        <a:t>기록하고 </a:t>
                      </a:r>
                      <a:pPr indent="0" marL="0">
                        <a:buNone/>
                      </a:pPr>
                      <a:r>
                        <a:rPr lang="en-US" sz="1100" dirty="0">
                          <a:solidFill>
                            <a:srgbClr val="1F2937"/>
                          </a:solidFill>
                        </a:rPr>
                        <a:t>임의의 </a:t>
                      </a:r>
                      <a:pPr indent="0" marL="0">
                        <a:buNone/>
                      </a:pPr>
                      <a:r>
                        <a:rPr lang="en-US" sz="1100" dirty="0">
                          <a:solidFill>
                            <a:srgbClr val="1F2937"/>
                          </a:solidFill>
                        </a:rPr>
                        <a:t>합격 </a:t>
                      </a:r>
                      <a:pPr indent="0" marL="0">
                        <a:buNone/>
                      </a:pPr>
                      <a:r>
                        <a:rPr lang="en-US" sz="1100" dirty="0">
                          <a:solidFill>
                            <a:srgbClr val="1F2937"/>
                          </a:solidFill>
                        </a:rPr>
                        <a:t>기준을 </a:t>
                      </a:r>
                      <a:pPr indent="0" marL="0">
                        <a:buNone/>
                      </a:pPr>
                      <a:r>
                        <a:rPr lang="en-US" sz="1100" dirty="0">
                          <a:solidFill>
                            <a:srgbClr val="1F2937"/>
                          </a:solidFill>
                        </a:rPr>
                        <a:t>만들지 </a:t>
                      </a:r>
                      <a:pPr indent="0" marL="0">
                        <a:buNone/>
                      </a:pPr>
                      <a:r>
                        <a:rPr lang="en-US" sz="1100" dirty="0">
                          <a:solidFill>
                            <a:srgbClr val="1F2937"/>
                          </a:solidFill>
                        </a:rPr>
                        <a:t>않음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김PM</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R-007</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QA </a:t>
                      </a:r>
                      <a:pPr indent="0" marL="0">
                        <a:buNone/>
                      </a:pPr>
                      <a:r>
                        <a:rPr lang="en-US" sz="1100" dirty="0">
                          <a:solidFill>
                            <a:srgbClr val="1F2937"/>
                          </a:solidFill>
                        </a:rPr>
                        <a:t>인원과 </a:t>
                      </a:r>
                      <a:pPr indent="0" marL="0">
                        <a:buNone/>
                      </a:pPr>
                      <a:r>
                        <a:rPr lang="en-US" sz="1100" dirty="0">
                          <a:solidFill>
                            <a:srgbClr val="1F2937"/>
                          </a:solidFill>
                        </a:rPr>
                        <a:t>테스트 </a:t>
                      </a:r>
                      <a:pPr indent="0" marL="0">
                        <a:buNone/>
                      </a:pPr>
                      <a:r>
                        <a:rPr lang="en-US" sz="1100" dirty="0">
                          <a:solidFill>
                            <a:srgbClr val="1F2937"/>
                          </a:solidFill>
                        </a:rPr>
                        <a:t>담당자가 </a:t>
                      </a:r>
                      <a:pPr indent="0" marL="0">
                        <a:buNone/>
                      </a:pPr>
                      <a:r>
                        <a:rPr lang="en-US" sz="1100" dirty="0">
                          <a:solidFill>
                            <a:srgbClr val="1F2937"/>
                          </a:solidFill>
                        </a:rPr>
                        <a:t>미정이라 </a:t>
                      </a:r>
                      <a:pPr indent="0" marL="0">
                        <a:buNone/>
                      </a:pPr>
                      <a:r>
                        <a:rPr lang="en-US" sz="1100" dirty="0">
                          <a:solidFill>
                            <a:srgbClr val="1F2937"/>
                          </a:solidFill>
                        </a:rPr>
                        <a:t>병행 </a:t>
                      </a:r>
                      <a:pPr indent="0" marL="0">
                        <a:buNone/>
                      </a:pPr>
                      <a:r>
                        <a:rPr lang="en-US" sz="1100" dirty="0">
                          <a:solidFill>
                            <a:srgbClr val="1F2937"/>
                          </a:solidFill>
                        </a:rPr>
                        <a:t>검증과 </a:t>
                      </a:r>
                      <a:pPr indent="0" marL="0">
                        <a:buNone/>
                      </a:pPr>
                      <a:r>
                        <a:rPr lang="en-US" sz="1100" dirty="0">
                          <a:solidFill>
                            <a:srgbClr val="1F2937"/>
                          </a:solidFill>
                        </a:rPr>
                        <a:t>결함 </a:t>
                      </a:r>
                      <a:pPr indent="0" marL="0">
                        <a:buNone/>
                      </a:pPr>
                      <a:r>
                        <a:rPr lang="en-US" sz="1100" dirty="0">
                          <a:solidFill>
                            <a:srgbClr val="1F2937"/>
                          </a:solidFill>
                        </a:rPr>
                        <a:t>재검증이 </a:t>
                      </a:r>
                      <a:pPr indent="0" marL="0">
                        <a:buNone/>
                      </a:pPr>
                      <a:r>
                        <a:rPr lang="en-US" sz="1100" dirty="0">
                          <a:solidFill>
                            <a:srgbClr val="1F2937"/>
                          </a:solidFill>
                        </a:rPr>
                        <a:t>지연됨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중~높음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필요한 </a:t>
                      </a:r>
                      <a:pPr indent="0" marL="0">
                        <a:buNone/>
                      </a:pPr>
                      <a:r>
                        <a:rPr lang="en-US" sz="1100" dirty="0">
                          <a:solidFill>
                            <a:srgbClr val="1F2937"/>
                          </a:solidFill>
                        </a:rPr>
                        <a:t>QA </a:t>
                      </a:r>
                      <a:pPr indent="0" marL="0">
                        <a:buNone/>
                      </a:pPr>
                      <a:r>
                        <a:rPr lang="en-US" sz="1100" dirty="0">
                          <a:solidFill>
                            <a:srgbClr val="1F2937"/>
                          </a:solidFill>
                        </a:rPr>
                        <a:t>인원과 </a:t>
                      </a:r>
                      <a:pPr indent="0" marL="0">
                        <a:buNone/>
                      </a:pPr>
                      <a:r>
                        <a:rPr lang="en-US" sz="1100" dirty="0">
                          <a:solidFill>
                            <a:srgbClr val="1F2937"/>
                          </a:solidFill>
                        </a:rPr>
                        <a:t>기능별 </a:t>
                      </a:r>
                      <a:pPr indent="0" marL="0">
                        <a:buNone/>
                      </a:pPr>
                      <a:r>
                        <a:rPr lang="en-US" sz="1100" dirty="0">
                          <a:solidFill>
                            <a:srgbClr val="1F2937"/>
                          </a:solidFill>
                        </a:rPr>
                        <a:t>검증 </a:t>
                      </a:r>
                      <a:pPr indent="0" marL="0">
                        <a:buNone/>
                      </a:pPr>
                      <a:r>
                        <a:rPr lang="en-US" sz="1100" dirty="0">
                          <a:solidFill>
                            <a:srgbClr val="1F2937"/>
                          </a:solidFill>
                        </a:rPr>
                        <a:t>책임자를 </a:t>
                      </a:r>
                      <a:pPr indent="0" marL="0">
                        <a:buNone/>
                      </a:pPr>
                      <a:r>
                        <a:rPr lang="en-US" sz="1100" dirty="0">
                          <a:solidFill>
                            <a:srgbClr val="1F2937"/>
                          </a:solidFill>
                        </a:rPr>
                        <a:t>착수 </a:t>
                      </a:r>
                      <a:pPr indent="0" marL="0">
                        <a:buNone/>
                      </a:pPr>
                      <a:r>
                        <a:rPr lang="en-US" sz="1100" dirty="0">
                          <a:solidFill>
                            <a:srgbClr val="1F2937"/>
                          </a:solidFill>
                        </a:rPr>
                        <a:t>전에 </a:t>
                      </a:r>
                      <a:pPr indent="0" marL="0">
                        <a:buNone/>
                      </a:pPr>
                      <a:r>
                        <a:rPr lang="en-US" sz="1100" dirty="0">
                          <a:solidFill>
                            <a:srgbClr val="1F2937"/>
                          </a:solidFill>
                        </a:rPr>
                        <a:t>지정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담당자 </a:t>
                      </a:r>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R-008</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기능 </a:t>
                      </a:r>
                      <a:pPr indent="0" marL="0">
                        <a:buNone/>
                      </a:pPr>
                      <a:r>
                        <a:rPr lang="en-US" sz="1100" dirty="0">
                          <a:solidFill>
                            <a:srgbClr val="1F2937"/>
                          </a:solidFill>
                        </a:rPr>
                        <a:t>변경이 </a:t>
                      </a:r>
                      <a:pPr indent="0" marL="0">
                        <a:buNone/>
                      </a:pPr>
                      <a:r>
                        <a:rPr lang="en-US" sz="1100" dirty="0">
                          <a:solidFill>
                            <a:srgbClr val="1F2937"/>
                          </a:solidFill>
                        </a:rPr>
                        <a:t>잦아 </a:t>
                      </a:r>
                      <a:pPr indent="0" marL="0">
                        <a:buNone/>
                      </a:pPr>
                      <a:r>
                        <a:rPr lang="en-US" sz="1100" dirty="0">
                          <a:solidFill>
                            <a:srgbClr val="1F2937"/>
                          </a:solidFill>
                        </a:rPr>
                        <a:t>테스트 </a:t>
                      </a:r>
                      <a:pPr indent="0" marL="0">
                        <a:buNone/>
                      </a:pPr>
                      <a:r>
                        <a:rPr lang="en-US" sz="1100" dirty="0">
                          <a:solidFill>
                            <a:srgbClr val="1F2937"/>
                          </a:solidFill>
                        </a:rPr>
                        <a:t>결과와 </a:t>
                      </a:r>
                      <a:pPr indent="0" marL="0">
                        <a:buNone/>
                      </a:pPr>
                      <a:r>
                        <a:rPr lang="en-US" sz="1100" dirty="0">
                          <a:solidFill>
                            <a:srgbClr val="1F2937"/>
                          </a:solidFill>
                        </a:rPr>
                        <a:t>기준 </a:t>
                      </a:r>
                      <a:pPr indent="0" marL="0">
                        <a:buNone/>
                      </a:pPr>
                      <a:r>
                        <a:rPr lang="en-US" sz="1100" dirty="0">
                          <a:solidFill>
                            <a:srgbClr val="1F2937"/>
                          </a:solidFill>
                        </a:rPr>
                        <a:t>문서가 </a:t>
                      </a:r>
                      <a:pPr indent="0" marL="0">
                        <a:buNone/>
                      </a:pPr>
                      <a:r>
                        <a:rPr lang="en-US" sz="1100" dirty="0">
                          <a:solidFill>
                            <a:srgbClr val="1F2937"/>
                          </a:solidFill>
                        </a:rPr>
                        <a:t>서로 </a:t>
                      </a:r>
                      <a:pPr indent="0" marL="0">
                        <a:buNone/>
                      </a:pPr>
                      <a:r>
                        <a:rPr lang="en-US" sz="1100" dirty="0">
                          <a:solidFill>
                            <a:srgbClr val="1F2937"/>
                          </a:solidFill>
                        </a:rPr>
                        <a:t>달라짐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변경 </a:t>
                      </a:r>
                      <a:pPr indent="0" marL="0">
                        <a:buNone/>
                      </a:pPr>
                      <a:r>
                        <a:rPr lang="en-US" sz="1100" dirty="0">
                          <a:solidFill>
                            <a:srgbClr val="1F2937"/>
                          </a:solidFill>
                        </a:rPr>
                        <a:t>기록을 </a:t>
                      </a:r>
                      <a:pPr indent="0" marL="0">
                        <a:buNone/>
                      </a:pPr>
                      <a:r>
                        <a:rPr lang="en-US" sz="1100" dirty="0">
                          <a:solidFill>
                            <a:srgbClr val="1F2937"/>
                          </a:solidFill>
                        </a:rPr>
                        <a:t>유지하고 </a:t>
                      </a:r>
                      <a:pPr indent="0" marL="0">
                        <a:buNone/>
                      </a:pPr>
                      <a:r>
                        <a:rPr lang="en-US" sz="1100" dirty="0">
                          <a:solidFill>
                            <a:srgbClr val="1F2937"/>
                          </a:solidFill>
                        </a:rPr>
                        <a:t>저장·취소·출력 </a:t>
                      </a:r>
                      <a:pPr indent="0" marL="0">
                        <a:buNone/>
                      </a:pPr>
                      <a:r>
                        <a:rPr lang="en-US" sz="1100" dirty="0">
                          <a:solidFill>
                            <a:srgbClr val="1F2937"/>
                          </a:solidFill>
                        </a:rPr>
                        <a:t>관련 </a:t>
                      </a:r>
                      <a:pPr indent="0" marL="0">
                        <a:buNone/>
                      </a:pPr>
                      <a:r>
                        <a:rPr lang="en-US" sz="1100" dirty="0">
                          <a:solidFill>
                            <a:srgbClr val="1F2937"/>
                          </a:solidFill>
                        </a:rPr>
                        <a:t>변경 </a:t>
                      </a:r>
                      <a:pPr indent="0" marL="0">
                        <a:buNone/>
                      </a:pPr>
                      <a:r>
                        <a:rPr lang="en-US" sz="1100" dirty="0">
                          <a:solidFill>
                            <a:srgbClr val="1F2937"/>
                          </a:solidFill>
                        </a:rPr>
                        <a:t>때 </a:t>
                      </a:r>
                      <a:pPr indent="0" marL="0">
                        <a:buNone/>
                      </a:pPr>
                      <a:r>
                        <a:rPr lang="en-US" sz="1100" dirty="0">
                          <a:solidFill>
                            <a:srgbClr val="1F2937"/>
                          </a:solidFill>
                        </a:rPr>
                        <a:t>영향 </a:t>
                      </a:r>
                      <a:pPr indent="0" marL="0">
                        <a:buNone/>
                      </a:pPr>
                      <a:r>
                        <a:rPr lang="en-US" sz="1100" dirty="0">
                          <a:solidFill>
                            <a:srgbClr val="1F2937"/>
                          </a:solidFill>
                        </a:rPr>
                        <a:t>범위 </a:t>
                      </a:r>
                      <a:pPr indent="0" marL="0">
                        <a:buNone/>
                      </a:pPr>
                      <a:r>
                        <a:rPr lang="en-US" sz="1100" dirty="0">
                          <a:solidFill>
                            <a:srgbClr val="1F2937"/>
                          </a:solidFill>
                        </a:rPr>
                        <a:t>회귀 </a:t>
                      </a:r>
                      <a:pPr indent="0" marL="0">
                        <a:buNone/>
                      </a:pPr>
                      <a:r>
                        <a:rPr lang="en-US" sz="1100" dirty="0">
                          <a:solidFill>
                            <a:srgbClr val="1F2937"/>
                          </a:solidFill>
                        </a:rPr>
                        <a:t>테스트 </a:t>
                      </a:r>
                      <a:pPr indent="0" marL="0">
                        <a:buNone/>
                      </a:pPr>
                      <a:r>
                        <a:rPr lang="en-US" sz="1100" dirty="0">
                          <a:solidFill>
                            <a:srgbClr val="1F2937"/>
                          </a:solidFill>
                        </a:rPr>
                        <a:t>수행</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김PM·이개발·QA </a:t>
                      </a:r>
                      <a:pPr indent="0" marL="0">
                        <a:buNone/>
                      </a:pPr>
                      <a:r>
                        <a:rPr lang="en-US" sz="1100" dirty="0">
                          <a:solidFill>
                            <a:srgbClr val="1F2937"/>
                          </a:solidFill>
                        </a:rPr>
                        <a:t>담당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8.2 대응 및 대체 계획</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639683"/>
                <a:gridCol w="5589917"/>
              </a:tblGrid>
              <a:tr h="0">
                <a:tc>
                  <a:txBody>
                    <a:bodyPr/>
                    <a:lstStyle/>
                    <a:p>
                      <a:pPr indent="0" marL="0">
                        <a:buNone/>
                      </a:pPr>
                      <a:r>
                        <a:rPr lang="en-US" sz="1200" b="1" dirty="0">
                          <a:solidFill>
                            <a:srgbClr val="FFFFFF"/>
                          </a:solidFill>
                        </a:rPr>
                        <a:t>상황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대응 </a:t>
                      </a:r>
                      <a:pPr indent="0" marL="0">
                        <a:buNone/>
                      </a:pPr>
                      <a:r>
                        <a:rPr lang="en-US" sz="1200" b="1" dirty="0">
                          <a:solidFill>
                            <a:srgbClr val="FFFFFF"/>
                          </a:solidFill>
                        </a:rPr>
                        <a:t>제안</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핵심 </a:t>
                      </a:r>
                      <a:pPr indent="0" marL="0">
                        <a:buNone/>
                      </a:pPr>
                      <a:r>
                        <a:rPr lang="en-US" sz="1100" dirty="0">
                          <a:solidFill>
                            <a:srgbClr val="1F2937"/>
                          </a:solidFill>
                        </a:rPr>
                        <a:t>기능 </a:t>
                      </a:r>
                      <a:pPr indent="0" marL="0">
                        <a:buNone/>
                      </a:pPr>
                      <a:r>
                        <a:rPr lang="en-US" sz="1100" dirty="0">
                          <a:solidFill>
                            <a:srgbClr val="1F2937"/>
                          </a:solidFill>
                        </a:rPr>
                        <a:t>또는 </a:t>
                      </a:r>
                      <a:pPr indent="0" marL="0">
                        <a:buNone/>
                      </a:pPr>
                      <a:r>
                        <a:rPr lang="en-US" sz="1100" dirty="0">
                          <a:solidFill>
                            <a:srgbClr val="1F2937"/>
                          </a:solidFill>
                        </a:rPr>
                        <a:t>시험 </a:t>
                      </a:r>
                      <a:pPr indent="0" marL="0">
                        <a:buNone/>
                      </a:pPr>
                      <a:r>
                        <a:rPr lang="en-US" sz="1100" dirty="0">
                          <a:solidFill>
                            <a:srgbClr val="1F2937"/>
                          </a:solidFill>
                        </a:rPr>
                        <a:t>빌드 </a:t>
                      </a:r>
                      <a:pPr indent="0" marL="0">
                        <a:buNone/>
                      </a:pPr>
                      <a:r>
                        <a:rPr lang="en-US" sz="1100" dirty="0">
                          <a:solidFill>
                            <a:srgbClr val="1F2937"/>
                          </a:solidFill>
                        </a:rPr>
                        <a:t>지연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고위험 </a:t>
                      </a:r>
                      <a:pPr indent="0" marL="0">
                        <a:buNone/>
                      </a:pPr>
                      <a:r>
                        <a:rPr lang="en-US" sz="1100" dirty="0">
                          <a:solidFill>
                            <a:srgbClr val="1F2937"/>
                          </a:solidFill>
                        </a:rPr>
                        <a:t>기능부터 </a:t>
                      </a:r>
                      <a:pPr indent="0" marL="0">
                        <a:buNone/>
                      </a:pPr>
                      <a:r>
                        <a:rPr lang="en-US" sz="1100" dirty="0">
                          <a:solidFill>
                            <a:srgbClr val="1F2937"/>
                          </a:solidFill>
                        </a:rPr>
                        <a:t>검증하고, </a:t>
                      </a:r>
                      <a:pPr indent="0" marL="0">
                        <a:buNone/>
                      </a:pPr>
                      <a:r>
                        <a:rPr lang="en-US" sz="1100" dirty="0">
                          <a:solidFill>
                            <a:srgbClr val="1F2937"/>
                          </a:solidFill>
                        </a:rPr>
                        <a:t>실행할 </a:t>
                      </a:r>
                      <a:pPr indent="0" marL="0">
                        <a:buNone/>
                      </a:pPr>
                      <a:r>
                        <a:rPr lang="en-US" sz="1100" dirty="0">
                          <a:solidFill>
                            <a:srgbClr val="1F2937"/>
                          </a:solidFill>
                        </a:rPr>
                        <a:t>수 </a:t>
                      </a:r>
                      <a:pPr indent="0" marL="0">
                        <a:buNone/>
                      </a:pPr>
                      <a:r>
                        <a:rPr lang="en-US" sz="1100" dirty="0">
                          <a:solidFill>
                            <a:srgbClr val="1F2937"/>
                          </a:solidFill>
                        </a:rPr>
                        <a:t>없는 </a:t>
                      </a:r>
                      <a:pPr indent="0" marL="0">
                        <a:buNone/>
                      </a:pPr>
                      <a:r>
                        <a:rPr lang="en-US" sz="1100" dirty="0">
                          <a:solidFill>
                            <a:srgbClr val="1F2937"/>
                          </a:solidFill>
                        </a:rPr>
                        <a:t>항목은 </a:t>
                      </a:r>
                      <a:pPr indent="0" marL="0">
                        <a:buNone/>
                      </a:pPr>
                      <a:r>
                        <a:rPr lang="en-US" sz="1100" dirty="0">
                          <a:solidFill>
                            <a:srgbClr val="1F2937"/>
                          </a:solidFill>
                        </a:rPr>
                        <a:t>차단 </a:t>
                      </a:r>
                      <a:pPr indent="0" marL="0">
                        <a:buNone/>
                      </a:pPr>
                      <a:r>
                        <a:rPr lang="en-US" sz="1100" dirty="0">
                          <a:solidFill>
                            <a:srgbClr val="1F2937"/>
                          </a:solidFill>
                        </a:rPr>
                        <a:t>사유와 </a:t>
                      </a:r>
                      <a:pPr indent="0" marL="0">
                        <a:buNone/>
                      </a:pPr>
                      <a:r>
                        <a:rPr lang="en-US" sz="1100" dirty="0">
                          <a:solidFill>
                            <a:srgbClr val="1F2937"/>
                          </a:solidFill>
                        </a:rPr>
                        <a:t>영향 </a:t>
                      </a:r>
                      <a:pPr indent="0" marL="0">
                        <a:buNone/>
                      </a:pPr>
                      <a:r>
                        <a:rPr lang="en-US" sz="1100" dirty="0">
                          <a:solidFill>
                            <a:srgbClr val="1F2937"/>
                          </a:solidFill>
                        </a:rPr>
                        <a:t>범위를 </a:t>
                      </a:r>
                      <a:pPr indent="0" marL="0">
                        <a:buNone/>
                      </a:pPr>
                      <a:r>
                        <a:rPr lang="en-US" sz="1100" dirty="0">
                          <a:solidFill>
                            <a:srgbClr val="1F2937"/>
                          </a:solidFill>
                        </a:rPr>
                        <a:t>기록한다. </a:t>
                      </a:r>
                      <a:pPr indent="0" marL="0">
                        <a:buNone/>
                      </a:pPr>
                      <a:r>
                        <a:rPr lang="en-US" sz="1100" dirty="0">
                          <a:solidFill>
                            <a:srgbClr val="1F2937"/>
                          </a:solidFill>
                        </a:rPr>
                        <a:t>일정 </a:t>
                      </a:r>
                      <a:pPr indent="0" marL="0">
                        <a:buNone/>
                      </a:pPr>
                      <a:r>
                        <a:rPr lang="en-US" sz="1100" dirty="0">
                          <a:solidFill>
                            <a:srgbClr val="1F2937"/>
                          </a:solidFill>
                        </a:rPr>
                        <a:t>압축 </a:t>
                      </a:r>
                      <a:pPr indent="0" marL="0">
                        <a:buNone/>
                      </a:pPr>
                      <a:r>
                        <a:rPr lang="en-US" sz="1100" dirty="0">
                          <a:solidFill>
                            <a:srgbClr val="1F2937"/>
                          </a:solidFill>
                        </a:rPr>
                        <a:t>시에도 </a:t>
                      </a:r>
                      <a:pPr indent="0" marL="0">
                        <a:buNone/>
                      </a:pPr>
                      <a:r>
                        <a:rPr lang="en-US" sz="1100" dirty="0">
                          <a:solidFill>
                            <a:srgbClr val="1F2937"/>
                          </a:solidFill>
                        </a:rPr>
                        <a:t>저장·취소·파일 </a:t>
                      </a:r>
                      <a:pPr indent="0" marL="0">
                        <a:buNone/>
                      </a:pPr>
                      <a:r>
                        <a:rPr lang="en-US" sz="1100" dirty="0">
                          <a:solidFill>
                            <a:srgbClr val="1F2937"/>
                          </a:solidFill>
                        </a:rPr>
                        <a:t>출력 </a:t>
                      </a:r>
                      <a:pPr indent="0" marL="0">
                        <a:buNone/>
                      </a:pPr>
                      <a:r>
                        <a:rPr lang="en-US" sz="1100" dirty="0">
                          <a:solidFill>
                            <a:srgbClr val="1F2937"/>
                          </a:solidFill>
                        </a:rPr>
                        <a:t>검증을 </a:t>
                      </a:r>
                      <a:pPr indent="0" marL="0">
                        <a:buNone/>
                      </a:pPr>
                      <a:r>
                        <a:rPr lang="en-US" sz="1100" dirty="0">
                          <a:solidFill>
                            <a:srgbClr val="1F2937"/>
                          </a:solidFill>
                        </a:rPr>
                        <a:t>임의로 </a:t>
                      </a:r>
                      <a:pPr indent="0" marL="0">
                        <a:buNone/>
                      </a:pPr>
                      <a:r>
                        <a:rPr lang="en-US" sz="1100" dirty="0">
                          <a:solidFill>
                            <a:srgbClr val="1F2937"/>
                          </a:solidFill>
                        </a:rPr>
                        <a:t>생략하지 </a:t>
                      </a:r>
                      <a:pPr indent="0" marL="0">
                        <a:buNone/>
                      </a:pPr>
                      <a:r>
                        <a:rPr lang="en-US" sz="1100" dirty="0">
                          <a:solidFill>
                            <a:srgbClr val="1F2937"/>
                          </a:solidFill>
                        </a:rPr>
                        <a:t>않고 </a:t>
                      </a:r>
                      <a:pPr indent="0" marL="0">
                        <a:buNone/>
                      </a:pPr>
                      <a:r>
                        <a:rPr lang="en-US" sz="1100" dirty="0">
                          <a:solidFill>
                            <a:srgbClr val="1F2937"/>
                          </a:solidFill>
                        </a:rPr>
                        <a:t>일정·범위 </a:t>
                      </a:r>
                      <a:pPr indent="0" marL="0">
                        <a:buNone/>
                      </a:pPr>
                      <a:r>
                        <a:rPr lang="en-US" sz="1100" dirty="0">
                          <a:solidFill>
                            <a:srgbClr val="1F2937"/>
                          </a:solidFill>
                        </a:rPr>
                        <a:t>조정을 </a:t>
                      </a:r>
                      <a:pPr indent="0" marL="0">
                        <a:buNone/>
                      </a:pPr>
                      <a:r>
                        <a:rPr lang="en-US" sz="1100" dirty="0">
                          <a:solidFill>
                            <a:srgbClr val="1F2937"/>
                          </a:solidFill>
                        </a:rPr>
                        <a:t>승인받는다.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검증 </a:t>
                      </a:r>
                      <a:pPr indent="0" marL="0">
                        <a:buNone/>
                      </a:pPr>
                      <a:r>
                        <a:rPr lang="en-US" sz="1100" dirty="0">
                          <a:solidFill>
                            <a:srgbClr val="1F2937"/>
                          </a:solidFill>
                        </a:rPr>
                        <a:t>환경 </a:t>
                      </a:r>
                      <a:pPr indent="0" marL="0">
                        <a:buNone/>
                      </a:pPr>
                      <a:r>
                        <a:rPr lang="en-US" sz="1100" dirty="0">
                          <a:solidFill>
                            <a:srgbClr val="1F2937"/>
                          </a:solidFill>
                        </a:rPr>
                        <a:t>장애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환경 </a:t>
                      </a:r>
                      <a:pPr indent="0" marL="0">
                        <a:buNone/>
                      </a:pPr>
                      <a:r>
                        <a:rPr lang="en-US" sz="1100" dirty="0">
                          <a:solidFill>
                            <a:srgbClr val="1F2937"/>
                          </a:solidFill>
                        </a:rPr>
                        <a:t>복구 </a:t>
                      </a:r>
                      <a:pPr indent="0" marL="0">
                        <a:buNone/>
                      </a:pPr>
                      <a:r>
                        <a:rPr lang="en-US" sz="1100" dirty="0">
                          <a:solidFill>
                            <a:srgbClr val="1F2937"/>
                          </a:solidFill>
                        </a:rPr>
                        <a:t>전 </a:t>
                      </a:r>
                      <a:pPr indent="0" marL="0">
                        <a:buNone/>
                      </a:pPr>
                      <a:r>
                        <a:rPr lang="en-US" sz="1100" dirty="0">
                          <a:solidFill>
                            <a:srgbClr val="1F2937"/>
                          </a:solidFill>
                        </a:rPr>
                        <a:t>로컬에서 </a:t>
                      </a:r>
                      <a:pPr indent="0" marL="0">
                        <a:buNone/>
                      </a:pPr>
                      <a:r>
                        <a:rPr lang="en-US" sz="1100" dirty="0">
                          <a:solidFill>
                            <a:srgbClr val="1F2937"/>
                          </a:solidFill>
                        </a:rPr>
                        <a:t>가능한 </a:t>
                      </a:r>
                      <a:pPr indent="0" marL="0">
                        <a:buNone/>
                      </a:pPr>
                      <a:r>
                        <a:rPr lang="en-US" sz="1100" dirty="0">
                          <a:solidFill>
                            <a:srgbClr val="1F2937"/>
                          </a:solidFill>
                        </a:rPr>
                        <a:t>단위 </a:t>
                      </a:r>
                      <a:pPr indent="0" marL="0">
                        <a:buNone/>
                      </a:pPr>
                      <a:r>
                        <a:rPr lang="en-US" sz="1100" dirty="0">
                          <a:solidFill>
                            <a:srgbClr val="1F2937"/>
                          </a:solidFill>
                        </a:rPr>
                        <a:t>검증을 </a:t>
                      </a:r>
                      <a:pPr indent="0" marL="0">
                        <a:buNone/>
                      </a:pPr>
                      <a:r>
                        <a:rPr lang="en-US" sz="1100" dirty="0">
                          <a:solidFill>
                            <a:srgbClr val="1F2937"/>
                          </a:solidFill>
                        </a:rPr>
                        <a:t>진행한다. </a:t>
                      </a:r>
                      <a:pPr indent="0" marL="0">
                        <a:buNone/>
                      </a:pPr>
                      <a:r>
                        <a:rPr lang="en-US" sz="1100" dirty="0">
                          <a:solidFill>
                            <a:srgbClr val="1F2937"/>
                          </a:solidFill>
                        </a:rPr>
                        <a:t>환경이 </a:t>
                      </a:r>
                      <a:pPr indent="0" marL="0">
                        <a:buNone/>
                      </a:pPr>
                      <a:r>
                        <a:rPr lang="en-US" sz="1100" dirty="0">
                          <a:solidFill>
                            <a:srgbClr val="1F2937"/>
                          </a:solidFill>
                        </a:rPr>
                        <a:t>다르면 </a:t>
                      </a:r>
                      <a:pPr indent="0" marL="0">
                        <a:buNone/>
                      </a:pPr>
                      <a:r>
                        <a:rPr lang="en-US" sz="1100" dirty="0">
                          <a:solidFill>
                            <a:srgbClr val="1F2937"/>
                          </a:solidFill>
                        </a:rPr>
                        <a:t>그 </a:t>
                      </a:r>
                      <a:pPr indent="0" marL="0">
                        <a:buNone/>
                      </a:pPr>
                      <a:r>
                        <a:rPr lang="en-US" sz="1100" dirty="0">
                          <a:solidFill>
                            <a:srgbClr val="1F2937"/>
                          </a:solidFill>
                        </a:rPr>
                        <a:t>결과를 </a:t>
                      </a:r>
                      <a:pPr indent="0" marL="0">
                        <a:buNone/>
                      </a:pPr>
                      <a:r>
                        <a:rPr lang="en-US" sz="1100" dirty="0">
                          <a:solidFill>
                            <a:srgbClr val="1F2937"/>
                          </a:solidFill>
                        </a:rPr>
                        <a:t>통합 </a:t>
                      </a:r>
                      <a:pPr indent="0" marL="0">
                        <a:buNone/>
                      </a:pPr>
                      <a:r>
                        <a:rPr lang="en-US" sz="1100" dirty="0">
                          <a:solidFill>
                            <a:srgbClr val="1F2937"/>
                          </a:solidFill>
                        </a:rPr>
                        <a:t>검증 </a:t>
                      </a:r>
                      <a:pPr indent="0" marL="0">
                        <a:buNone/>
                      </a:pPr>
                      <a:r>
                        <a:rPr lang="en-US" sz="1100" dirty="0">
                          <a:solidFill>
                            <a:srgbClr val="1F2937"/>
                          </a:solidFill>
                        </a:rPr>
                        <a:t>통과로 </a:t>
                      </a:r>
                      <a:pPr indent="0" marL="0">
                        <a:buNone/>
                      </a:pPr>
                      <a:r>
                        <a:rPr lang="en-US" sz="1100" dirty="0">
                          <a:solidFill>
                            <a:srgbClr val="1F2937"/>
                          </a:solidFill>
                        </a:rPr>
                        <a:t>간주하지 </a:t>
                      </a:r>
                      <a:pPr indent="0" marL="0">
                        <a:buNone/>
                      </a:pPr>
                      <a:r>
                        <a:rPr lang="en-US" sz="1100" dirty="0">
                          <a:solidFill>
                            <a:srgbClr val="1F2937"/>
                          </a:solidFill>
                        </a:rPr>
                        <a:t>않는다.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Word·PDF </a:t>
                      </a:r>
                      <a:pPr indent="0" marL="0">
                        <a:buNone/>
                      </a:pPr>
                      <a:r>
                        <a:rPr lang="en-US" sz="1100" dirty="0">
                          <a:solidFill>
                            <a:srgbClr val="1F2937"/>
                          </a:solidFill>
                        </a:rPr>
                        <a:t>출력 </a:t>
                      </a:r>
                      <a:pPr indent="0" marL="0">
                        <a:buNone/>
                      </a:pPr>
                      <a:r>
                        <a:rPr lang="en-US" sz="1100" dirty="0">
                          <a:solidFill>
                            <a:srgbClr val="1F2937"/>
                          </a:solidFill>
                        </a:rPr>
                        <a:t>차이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각 </a:t>
                      </a:r>
                      <a:pPr indent="0" marL="0">
                        <a:buNone/>
                      </a:pPr>
                      <a:r>
                        <a:rPr lang="en-US" sz="1100" dirty="0">
                          <a:solidFill>
                            <a:srgbClr val="1F2937"/>
                          </a:solidFill>
                        </a:rPr>
                        <a:t>형식의 </a:t>
                      </a:r>
                      <a:pPr indent="0" marL="0">
                        <a:buNone/>
                      </a:pPr>
                      <a:r>
                        <a:rPr lang="en-US" sz="1100" dirty="0">
                          <a:solidFill>
                            <a:srgbClr val="1F2937"/>
                          </a:solidFill>
                        </a:rPr>
                        <a:t>기준 </a:t>
                      </a:r>
                      <a:pPr indent="0" marL="0">
                        <a:buNone/>
                      </a:pPr>
                      <a:r>
                        <a:rPr lang="en-US" sz="1100" dirty="0">
                          <a:solidFill>
                            <a:srgbClr val="1F2937"/>
                          </a:solidFill>
                        </a:rPr>
                        <a:t>파일과 </a:t>
                      </a:r>
                      <a:pPr indent="0" marL="0">
                        <a:buNone/>
                      </a:pPr>
                      <a:r>
                        <a:rPr lang="en-US" sz="1100" dirty="0">
                          <a:solidFill>
                            <a:srgbClr val="1F2937"/>
                          </a:solidFill>
                        </a:rPr>
                        <a:t>실제 </a:t>
                      </a:r>
                      <a:pPr indent="0" marL="0">
                        <a:buNone/>
                      </a:pPr>
                      <a:r>
                        <a:rPr lang="en-US" sz="1100" dirty="0">
                          <a:solidFill>
                            <a:srgbClr val="1F2937"/>
                          </a:solidFill>
                        </a:rPr>
                        <a:t>파일을 </a:t>
                      </a:r>
                      <a:pPr indent="0" marL="0">
                        <a:buNone/>
                      </a:pPr>
                      <a:r>
                        <a:rPr lang="en-US" sz="1100" dirty="0">
                          <a:solidFill>
                            <a:srgbClr val="1F2937"/>
                          </a:solidFill>
                        </a:rPr>
                        <a:t>별도로 </a:t>
                      </a:r>
                      <a:pPr indent="0" marL="0">
                        <a:buNone/>
                      </a:pPr>
                      <a:r>
                        <a:rPr lang="en-US" sz="1100" dirty="0">
                          <a:solidFill>
                            <a:srgbClr val="1F2937"/>
                          </a:solidFill>
                        </a:rPr>
                        <a:t>비교하고, </a:t>
                      </a:r>
                      <a:pPr indent="0" marL="0">
                        <a:buNone/>
                      </a:pPr>
                      <a:r>
                        <a:rPr lang="en-US" sz="1100" dirty="0">
                          <a:solidFill>
                            <a:srgbClr val="1F2937"/>
                          </a:solidFill>
                        </a:rPr>
                        <a:t>한 </a:t>
                      </a:r>
                      <a:pPr indent="0" marL="0">
                        <a:buNone/>
                      </a:pPr>
                      <a:r>
                        <a:rPr lang="en-US" sz="1100" dirty="0">
                          <a:solidFill>
                            <a:srgbClr val="1F2937"/>
                          </a:solidFill>
                        </a:rPr>
                        <a:t>형식의 </a:t>
                      </a:r>
                      <a:pPr indent="0" marL="0">
                        <a:buNone/>
                      </a:pPr>
                      <a:r>
                        <a:rPr lang="en-US" sz="1100" dirty="0">
                          <a:solidFill>
                            <a:srgbClr val="1F2937"/>
                          </a:solidFill>
                        </a:rPr>
                        <a:t>통과 </a:t>
                      </a:r>
                      <a:pPr indent="0" marL="0">
                        <a:buNone/>
                      </a:pPr>
                      <a:r>
                        <a:rPr lang="en-US" sz="1100" dirty="0">
                          <a:solidFill>
                            <a:srgbClr val="1F2937"/>
                          </a:solidFill>
                        </a:rPr>
                        <a:t>결과를 </a:t>
                      </a:r>
                      <a:pPr indent="0" marL="0">
                        <a:buNone/>
                      </a:pPr>
                      <a:r>
                        <a:rPr lang="en-US" sz="1100" dirty="0">
                          <a:solidFill>
                            <a:srgbClr val="1F2937"/>
                          </a:solidFill>
                        </a:rPr>
                        <a:t>다른 </a:t>
                      </a:r>
                      <a:pPr indent="0" marL="0">
                        <a:buNone/>
                      </a:pPr>
                      <a:r>
                        <a:rPr lang="en-US" sz="1100" dirty="0">
                          <a:solidFill>
                            <a:srgbClr val="1F2937"/>
                          </a:solidFill>
                        </a:rPr>
                        <a:t>형식의 </a:t>
                      </a:r>
                      <a:pPr indent="0" marL="0">
                        <a:buNone/>
                      </a:pPr>
                      <a:r>
                        <a:rPr lang="en-US" sz="1100" dirty="0">
                          <a:solidFill>
                            <a:srgbClr val="1F2937"/>
                          </a:solidFill>
                        </a:rPr>
                        <a:t>통과로 </a:t>
                      </a:r>
                      <a:pPr indent="0" marL="0">
                        <a:buNone/>
                      </a:pPr>
                      <a:r>
                        <a:rPr lang="en-US" sz="1100" dirty="0">
                          <a:solidFill>
                            <a:srgbClr val="1F2937"/>
                          </a:solidFill>
                        </a:rPr>
                        <a:t>대체하지 </a:t>
                      </a:r>
                      <a:pPr indent="0" marL="0">
                        <a:buNone/>
                      </a:pPr>
                      <a:r>
                        <a:rPr lang="en-US" sz="1100" dirty="0">
                          <a:solidFill>
                            <a:srgbClr val="1F2937"/>
                          </a:solidFill>
                        </a:rPr>
                        <a:t>않는다.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지연 </a:t>
                      </a:r>
                      <a:pPr indent="0" marL="0">
                        <a:buNone/>
                      </a:pPr>
                      <a:r>
                        <a:rPr lang="en-US" sz="1100" dirty="0">
                          <a:solidFill>
                            <a:srgbClr val="1F2937"/>
                          </a:solidFill>
                        </a:rPr>
                        <a:t>응답을 </a:t>
                      </a:r>
                      <a:pPr indent="0" marL="0">
                        <a:buNone/>
                      </a:pPr>
                      <a:r>
                        <a:rPr lang="en-US" sz="1100" dirty="0">
                          <a:solidFill>
                            <a:srgbClr val="1F2937"/>
                          </a:solidFill>
                        </a:rPr>
                        <a:t>재현하기 </a:t>
                      </a:r>
                      <a:pPr indent="0" marL="0">
                        <a:buNone/>
                      </a:pPr>
                      <a:r>
                        <a:rPr lang="en-US" sz="1100" dirty="0">
                          <a:solidFill>
                            <a:srgbClr val="1F2937"/>
                          </a:solidFill>
                        </a:rPr>
                        <a:t>어려움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시험 </a:t>
                      </a:r>
                      <a:pPr indent="0" marL="0">
                        <a:buNone/>
                      </a:pPr>
                      <a:r>
                        <a:rPr lang="en-US" sz="1100" dirty="0">
                          <a:solidFill>
                            <a:srgbClr val="1F2937"/>
                          </a:solidFill>
                        </a:rPr>
                        <a:t>환경에서 </a:t>
                      </a:r>
                      <a:pPr indent="0" marL="0">
                        <a:buNone/>
                      </a:pPr>
                      <a:r>
                        <a:rPr lang="en-US" sz="1100" dirty="0">
                          <a:solidFill>
                            <a:srgbClr val="1F2937"/>
                          </a:solidFill>
                        </a:rPr>
                        <a:t>응답 </a:t>
                      </a:r>
                      <a:pPr indent="0" marL="0">
                        <a:buNone/>
                      </a:pPr>
                      <a:r>
                        <a:rPr lang="en-US" sz="1100" dirty="0">
                          <a:solidFill>
                            <a:srgbClr val="1F2937"/>
                          </a:solidFill>
                        </a:rPr>
                        <a:t>지연을 </a:t>
                      </a:r>
                      <a:pPr indent="0" marL="0">
                        <a:buNone/>
                      </a:pPr>
                      <a:r>
                        <a:rPr lang="en-US" sz="1100" dirty="0">
                          <a:solidFill>
                            <a:srgbClr val="1F2937"/>
                          </a:solidFill>
                        </a:rPr>
                        <a:t>통제하거나 </a:t>
                      </a:r>
                      <a:pPr indent="0" marL="0">
                        <a:buNone/>
                      </a:pPr>
                      <a:r>
                        <a:rPr lang="en-US" sz="1100" dirty="0">
                          <a:solidFill>
                            <a:srgbClr val="1F2937"/>
                          </a:solidFill>
                        </a:rPr>
                        <a:t>시험용 </a:t>
                      </a:r>
                      <a:pPr indent="0" marL="0">
                        <a:buNone/>
                      </a:pPr>
                      <a:r>
                        <a:rPr lang="en-US" sz="1100" dirty="0">
                          <a:solidFill>
                            <a:srgbClr val="1F2937"/>
                          </a:solidFill>
                        </a:rPr>
                        <a:t>대체 </a:t>
                      </a:r>
                      <a:pPr indent="0" marL="0">
                        <a:buNone/>
                      </a:pPr>
                      <a:r>
                        <a:rPr lang="en-US" sz="1100" dirty="0">
                          <a:solidFill>
                            <a:srgbClr val="1F2937"/>
                          </a:solidFill>
                        </a:rPr>
                        <a:t>응답을 </a:t>
                      </a:r>
                      <a:pPr indent="0" marL="0">
                        <a:buNone/>
                      </a:pPr>
                      <a:r>
                        <a:rPr lang="en-US" sz="1100" dirty="0">
                          <a:solidFill>
                            <a:srgbClr val="1F2937"/>
                          </a:solidFill>
                        </a:rPr>
                        <a:t>이용하는 </a:t>
                      </a:r>
                      <a:pPr indent="0" marL="0">
                        <a:buNone/>
                      </a:pPr>
                      <a:r>
                        <a:rPr lang="en-US" sz="1100" dirty="0">
                          <a:solidFill>
                            <a:srgbClr val="1F2937"/>
                          </a:solidFill>
                        </a:rPr>
                        <a:t>방안을 </a:t>
                      </a:r>
                      <a:pPr indent="0" marL="0">
                        <a:buNone/>
                      </a:pPr>
                      <a:r>
                        <a:rPr lang="en-US" sz="1100" dirty="0">
                          <a:solidFill>
                            <a:srgbClr val="1F2937"/>
                          </a:solidFill>
                        </a:rPr>
                        <a:t>개발팀과 </a:t>
                      </a:r>
                      <a:pPr indent="0" marL="0">
                        <a:buNone/>
                      </a:pPr>
                      <a:r>
                        <a:rPr lang="en-US" sz="1100" dirty="0">
                          <a:solidFill>
                            <a:srgbClr val="1F2937"/>
                          </a:solidFill>
                        </a:rPr>
                        <a:t>협의한다. </a:t>
                      </a:r>
                      <a:pPr indent="0" marL="0">
                        <a:buNone/>
                      </a:pPr>
                      <a:r>
                        <a:rPr lang="en-US" sz="1100" dirty="0">
                          <a:solidFill>
                            <a:srgbClr val="1F2937"/>
                          </a:solidFill>
                        </a:rPr>
                        <a:t>실제 </a:t>
                      </a:r>
                      <a:pPr indent="0" marL="0">
                        <a:buNone/>
                      </a:pPr>
                      <a:r>
                        <a:rPr lang="en-US" sz="1100" dirty="0">
                          <a:solidFill>
                            <a:srgbClr val="1F2937"/>
                          </a:solidFill>
                        </a:rPr>
                        <a:t>동작을 </a:t>
                      </a:r>
                      <a:pPr indent="0" marL="0">
                        <a:buNone/>
                      </a:pPr>
                      <a:r>
                        <a:rPr lang="en-US" sz="1100" dirty="0">
                          <a:solidFill>
                            <a:srgbClr val="1F2937"/>
                          </a:solidFill>
                        </a:rPr>
                        <a:t>대체 </a:t>
                      </a:r>
                      <a:pPr indent="0" marL="0">
                        <a:buNone/>
                      </a:pPr>
                      <a:r>
                        <a:rPr lang="en-US" sz="1100" dirty="0">
                          <a:solidFill>
                            <a:srgbClr val="1F2937"/>
                          </a:solidFill>
                        </a:rPr>
                        <a:t>자료로 </a:t>
                      </a:r>
                      <a:pPr indent="0" marL="0">
                        <a:buNone/>
                      </a:pPr>
                      <a:r>
                        <a:rPr lang="en-US" sz="1100" dirty="0">
                          <a:solidFill>
                            <a:srgbClr val="1F2937"/>
                          </a:solidFill>
                        </a:rPr>
                        <a:t>검증한 </a:t>
                      </a:r>
                      <a:pPr indent="0" marL="0">
                        <a:buNone/>
                      </a:pPr>
                      <a:r>
                        <a:rPr lang="en-US" sz="1100" dirty="0">
                          <a:solidFill>
                            <a:srgbClr val="1F2937"/>
                          </a:solidFill>
                        </a:rPr>
                        <a:t>경우 </a:t>
                      </a:r>
                      <a:pPr indent="0" marL="0">
                        <a:buNone/>
                      </a:pPr>
                      <a:r>
                        <a:rPr lang="en-US" sz="1100" dirty="0">
                          <a:solidFill>
                            <a:srgbClr val="1F2937"/>
                          </a:solidFill>
                        </a:rPr>
                        <a:t>그 </a:t>
                      </a:r>
                      <a:pPr indent="0" marL="0">
                        <a:buNone/>
                      </a:pPr>
                      <a:r>
                        <a:rPr lang="en-US" sz="1100" dirty="0">
                          <a:solidFill>
                            <a:srgbClr val="1F2937"/>
                          </a:solidFill>
                        </a:rPr>
                        <a:t>한계를 </a:t>
                      </a:r>
                      <a:pPr indent="0" marL="0">
                        <a:buNone/>
                      </a:pPr>
                      <a:r>
                        <a:rPr lang="en-US" sz="1100" dirty="0">
                          <a:solidFill>
                            <a:srgbClr val="1F2937"/>
                          </a:solidFill>
                        </a:rPr>
                        <a:t>결과에 </a:t>
                      </a:r>
                      <a:pPr indent="0" marL="0">
                        <a:buNone/>
                      </a:pPr>
                      <a:r>
                        <a:rPr lang="en-US" sz="1100" dirty="0">
                          <a:solidFill>
                            <a:srgbClr val="1F2937"/>
                          </a:solidFill>
                        </a:rPr>
                        <a:t>기록한다.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성능 </a:t>
                      </a:r>
                      <a:pPr indent="0" marL="0">
                        <a:buNone/>
                      </a:pPr>
                      <a:r>
                        <a:rPr lang="en-US" sz="1100" dirty="0">
                          <a:solidFill>
                            <a:srgbClr val="1F2937"/>
                          </a:solidFill>
                        </a:rPr>
                        <a:t>목표 </a:t>
                      </a:r>
                      <a:pPr indent="0" marL="0">
                        <a:buNone/>
                      </a:pPr>
                      <a:r>
                        <a:rPr lang="en-US" sz="1100" dirty="0">
                          <a:solidFill>
                            <a:srgbClr val="1F2937"/>
                          </a:solidFill>
                        </a:rPr>
                        <a:t>미확정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임의의 </a:t>
                      </a:r>
                      <a:pPr indent="0" marL="0">
                        <a:buNone/>
                      </a:pPr>
                      <a:r>
                        <a:rPr lang="en-US" sz="1100" dirty="0">
                          <a:solidFill>
                            <a:srgbClr val="1F2937"/>
                          </a:solidFill>
                        </a:rPr>
                        <a:t>TPS·동시 </a:t>
                      </a:r>
                      <a:pPr indent="0" marL="0">
                        <a:buNone/>
                      </a:pPr>
                      <a:r>
                        <a:rPr lang="en-US" sz="1100" dirty="0">
                          <a:solidFill>
                            <a:srgbClr val="1F2937"/>
                          </a:solidFill>
                        </a:rPr>
                        <a:t>사용자·응답 </a:t>
                      </a:r>
                      <a:pPr indent="0" marL="0">
                        <a:buNone/>
                      </a:pPr>
                      <a:r>
                        <a:rPr lang="en-US" sz="1100" dirty="0">
                          <a:solidFill>
                            <a:srgbClr val="1F2937"/>
                          </a:solidFill>
                        </a:rPr>
                        <a:t>시간 </a:t>
                      </a:r>
                      <a:pPr indent="0" marL="0">
                        <a:buNone/>
                      </a:pPr>
                      <a:r>
                        <a:rPr lang="en-US" sz="1100" dirty="0">
                          <a:solidFill>
                            <a:srgbClr val="1F2937"/>
                          </a:solidFill>
                        </a:rPr>
                        <a:t>합격 </a:t>
                      </a:r>
                      <a:pPr indent="0" marL="0">
                        <a:buNone/>
                      </a:pPr>
                      <a:r>
                        <a:rPr lang="en-US" sz="1100" dirty="0">
                          <a:solidFill>
                            <a:srgbClr val="1F2937"/>
                          </a:solidFill>
                        </a:rPr>
                        <a:t>기준을 </a:t>
                      </a:r>
                      <a:pPr indent="0" marL="0">
                        <a:buNone/>
                      </a:pPr>
                      <a:r>
                        <a:rPr lang="en-US" sz="1100" dirty="0">
                          <a:solidFill>
                            <a:srgbClr val="1F2937"/>
                          </a:solidFill>
                        </a:rPr>
                        <a:t>적용하지 </a:t>
                      </a:r>
                      <a:pPr indent="0" marL="0">
                        <a:buNone/>
                      </a:pPr>
                      <a:r>
                        <a:rPr lang="en-US" sz="1100" dirty="0">
                          <a:solidFill>
                            <a:srgbClr val="1F2937"/>
                          </a:solidFill>
                        </a:rPr>
                        <a:t>않는다. </a:t>
                      </a:r>
                      <a:pPr indent="0" marL="0">
                        <a:buNone/>
                      </a:pPr>
                      <a:r>
                        <a:rPr lang="en-US" sz="1100" dirty="0">
                          <a:solidFill>
                            <a:srgbClr val="1F2937"/>
                          </a:solidFill>
                        </a:rPr>
                        <a:t>시험이 </a:t>
                      </a:r>
                      <a:pPr indent="0" marL="0">
                        <a:buNone/>
                      </a:pPr>
                      <a:r>
                        <a:rPr lang="en-US" sz="1100" dirty="0">
                          <a:solidFill>
                            <a:srgbClr val="1F2937"/>
                          </a:solidFill>
                        </a:rPr>
                        <a:t>승인되기 </a:t>
                      </a:r>
                      <a:pPr indent="0" marL="0">
                        <a:buNone/>
                      </a:pPr>
                      <a:r>
                        <a:rPr lang="en-US" sz="1100" dirty="0">
                          <a:solidFill>
                            <a:srgbClr val="1F2937"/>
                          </a:solidFill>
                        </a:rPr>
                        <a:t>전까지는 </a:t>
                      </a:r>
                      <a:pPr indent="0" marL="0">
                        <a:buNone/>
                      </a:pPr>
                      <a:r>
                        <a:rPr lang="en-US" sz="1100" dirty="0">
                          <a:solidFill>
                            <a:srgbClr val="1F2937"/>
                          </a:solidFill>
                        </a:rPr>
                        <a:t>관찰값과 </a:t>
                      </a:r>
                      <a:pPr indent="0" marL="0">
                        <a:buNone/>
                      </a:pPr>
                      <a:r>
                        <a:rPr lang="en-US" sz="1100" dirty="0">
                          <a:solidFill>
                            <a:srgbClr val="1F2937"/>
                          </a:solidFill>
                        </a:rPr>
                        <a:t>환경 </a:t>
                      </a:r>
                      <a:pPr indent="0" marL="0">
                        <a:buNone/>
                      </a:pPr>
                      <a:r>
                        <a:rPr lang="en-US" sz="1100" dirty="0">
                          <a:solidFill>
                            <a:srgbClr val="1F2937"/>
                          </a:solidFill>
                        </a:rPr>
                        <a:t>조건만 </a:t>
                      </a:r>
                      <a:pPr indent="0" marL="0">
                        <a:buNone/>
                      </a:pPr>
                      <a:r>
                        <a:rPr lang="en-US" sz="1100" dirty="0">
                          <a:solidFill>
                            <a:srgbClr val="1F2937"/>
                          </a:solidFill>
                        </a:rPr>
                        <a:t>기록한다.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인력 </a:t>
                      </a:r>
                      <a:pPr indent="0" marL="0">
                        <a:buNone/>
                      </a:pPr>
                      <a:r>
                        <a:rPr lang="en-US" sz="1100" dirty="0">
                          <a:solidFill>
                            <a:srgbClr val="1F2937"/>
                          </a:solidFill>
                        </a:rPr>
                        <a:t>부족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담당자별 </a:t>
                      </a:r>
                      <a:pPr indent="0" marL="0">
                        <a:buNone/>
                      </a:pPr>
                      <a:r>
                        <a:rPr lang="en-US" sz="1100" dirty="0">
                          <a:solidFill>
                            <a:srgbClr val="1F2937"/>
                          </a:solidFill>
                        </a:rPr>
                        <a:t>수행 </a:t>
                      </a:r>
                      <a:pPr indent="0" marL="0">
                        <a:buNone/>
                      </a:pPr>
                      <a:r>
                        <a:rPr lang="en-US" sz="1100" dirty="0">
                          <a:solidFill>
                            <a:srgbClr val="1F2937"/>
                          </a:solidFill>
                        </a:rPr>
                        <a:t>가능 </a:t>
                      </a:r>
                      <a:pPr indent="0" marL="0">
                        <a:buNone/>
                      </a:pPr>
                      <a:r>
                        <a:rPr lang="en-US" sz="1100" dirty="0">
                          <a:solidFill>
                            <a:srgbClr val="1F2937"/>
                          </a:solidFill>
                        </a:rPr>
                        <a:t>작업을 </a:t>
                      </a:r>
                      <a:pPr indent="0" marL="0">
                        <a:buNone/>
                      </a:pPr>
                      <a:r>
                        <a:rPr lang="en-US" sz="1100" dirty="0">
                          <a:solidFill>
                            <a:srgbClr val="1F2937"/>
                          </a:solidFill>
                        </a:rPr>
                        <a:t>확인하고 </a:t>
                      </a:r>
                      <a:pPr indent="0" marL="0">
                        <a:buNone/>
                      </a:pPr>
                      <a:r>
                        <a:rPr lang="en-US" sz="1100" dirty="0">
                          <a:solidFill>
                            <a:srgbClr val="1F2937"/>
                          </a:solidFill>
                        </a:rPr>
                        <a:t>우선순위와 </a:t>
                      </a:r>
                      <a:pPr indent="0" marL="0">
                        <a:buNone/>
                      </a:pPr>
                      <a:r>
                        <a:rPr lang="en-US" sz="1100" dirty="0">
                          <a:solidFill>
                            <a:srgbClr val="1F2937"/>
                          </a:solidFill>
                        </a:rPr>
                        <a:t>일정을 </a:t>
                      </a:r>
                      <a:pPr indent="0" marL="0">
                        <a:buNone/>
                      </a:pPr>
                      <a:r>
                        <a:rPr lang="en-US" sz="1100" dirty="0">
                          <a:solidFill>
                            <a:srgbClr val="1F2937"/>
                          </a:solidFill>
                        </a:rPr>
                        <a:t>재조정한다. </a:t>
                      </a:r>
                      <a:pPr indent="0" marL="0">
                        <a:buNone/>
                      </a:pPr>
                      <a:r>
                        <a:rPr lang="en-US" sz="1100" dirty="0">
                          <a:solidFill>
                            <a:srgbClr val="1F2937"/>
                          </a:solidFill>
                        </a:rPr>
                        <a:t>외부 </a:t>
                      </a:r>
                      <a:pPr indent="0" marL="0">
                        <a:buNone/>
                      </a:pPr>
                      <a:r>
                        <a:rPr lang="en-US" sz="1100" dirty="0">
                          <a:solidFill>
                            <a:srgbClr val="1F2937"/>
                          </a:solidFill>
                        </a:rPr>
                        <a:t>인력 </a:t>
                      </a:r>
                      <a:pPr indent="0" marL="0">
                        <a:buNone/>
                      </a:pPr>
                      <a:r>
                        <a:rPr lang="en-US" sz="1100" dirty="0">
                          <a:solidFill>
                            <a:srgbClr val="1F2937"/>
                          </a:solidFill>
                        </a:rPr>
                        <a:t>투입은 </a:t>
                      </a:r>
                      <a:pPr indent="0" marL="0">
                        <a:buNone/>
                      </a:pPr>
                      <a:r>
                        <a:rPr lang="en-US" sz="1100" dirty="0">
                          <a:solidFill>
                            <a:srgbClr val="1F2937"/>
                          </a:solidFill>
                        </a:rPr>
                        <a:t>예산 </a:t>
                      </a:r>
                      <a:pPr indent="0" marL="0">
                        <a:buNone/>
                      </a:pPr>
                      <a:r>
                        <a:rPr lang="en-US" sz="1100" dirty="0">
                          <a:solidFill>
                            <a:srgbClr val="1F2937"/>
                          </a:solidFill>
                        </a:rPr>
                        <a:t>및 </a:t>
                      </a:r>
                      <a:pPr indent="0" marL="0">
                        <a:buNone/>
                      </a:pPr>
                      <a:r>
                        <a:rPr lang="en-US" sz="1100" dirty="0">
                          <a:solidFill>
                            <a:srgbClr val="1F2937"/>
                          </a:solidFill>
                        </a:rPr>
                        <a:t>승인 </a:t>
                      </a:r>
                      <a:pPr indent="0" marL="0">
                        <a:buNone/>
                      </a:pPr>
                      <a:r>
                        <a:rPr lang="en-US" sz="1100" dirty="0">
                          <a:solidFill>
                            <a:srgbClr val="1F2937"/>
                          </a:solidFill>
                        </a:rPr>
                        <a:t>확인 </a:t>
                      </a:r>
                      <a:pPr indent="0" marL="0">
                        <a:buNone/>
                      </a:pPr>
                      <a:r>
                        <a:rPr lang="en-US" sz="1100" dirty="0">
                          <a:solidFill>
                            <a:srgbClr val="1F2937"/>
                          </a:solidFill>
                        </a:rPr>
                        <a:t>전까지 </a:t>
                      </a:r>
                      <a:pPr indent="0" marL="0">
                        <a:buNone/>
                      </a:pPr>
                      <a:r>
                        <a:rPr lang="en-US" sz="1100" dirty="0">
                          <a:solidFill>
                            <a:srgbClr val="1F2937"/>
                          </a:solidFill>
                        </a:rPr>
                        <a:t>확정하지 </a:t>
                      </a:r>
                      <a:pPr indent="0" marL="0">
                        <a:buNone/>
                      </a:pPr>
                      <a:r>
                        <a:rPr lang="en-US" sz="1100" dirty="0">
                          <a:solidFill>
                            <a:srgbClr val="1F2937"/>
                          </a:solidFill>
                        </a:rPr>
                        <a:t>않는다.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9. 결함 관리</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9.1 결함 등급 분류</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아래 등급은 결함을 일관되게 분류하기 위한 제안입니다. 회의에서 등급 이름, 응답 시간, 수정 기한은 정하지 않았으므로 수치 기반 서비스 수준은 별도 합의 전 확정하지 않습니다.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9.1 결함 등급 분류</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509047"/>
                <a:gridCol w="3054285"/>
                <a:gridCol w="3054285"/>
                <a:gridCol w="1611984"/>
              </a:tblGrid>
              <a:tr h="0">
                <a:tc>
                  <a:txBody>
                    <a:bodyPr/>
                    <a:lstStyle/>
                    <a:p>
                      <a:pPr indent="0" marL="0">
                        <a:buNone/>
                      </a:pPr>
                      <a:r>
                        <a:rPr lang="en-US" sz="1200" b="1" dirty="0">
                          <a:solidFill>
                            <a:srgbClr val="FFFFFF"/>
                          </a:solidFill>
                        </a:rPr>
                        <a:t>등급 </a:t>
                      </a:r>
                      <a:pPr indent="0" marL="0">
                        <a:buNone/>
                      </a:pPr>
                      <a:r>
                        <a:rPr lang="en-US" sz="1200" b="1" dirty="0">
                          <a:solidFill>
                            <a:srgbClr val="FFFFFF"/>
                          </a:solidFill>
                        </a:rPr>
                        <a:t>제안</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설명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이 </a:t>
                      </a:r>
                      <a:pPr indent="0" marL="0">
                        <a:buNone/>
                      </a:pPr>
                      <a:r>
                        <a:rPr lang="en-US" sz="1200" b="1" dirty="0">
                          <a:solidFill>
                            <a:srgbClr val="FFFFFF"/>
                          </a:solidFill>
                        </a:rPr>
                        <a:t>제품에서의 </a:t>
                      </a:r>
                      <a:pPr indent="0" marL="0">
                        <a:buNone/>
                      </a:pPr>
                      <a:r>
                        <a:rPr lang="en-US" sz="1200" b="1" dirty="0">
                          <a:solidFill>
                            <a:srgbClr val="FFFFFF"/>
                          </a:solidFill>
                        </a:rPr>
                        <a:t>예시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응답·수정 </a:t>
                      </a:r>
                      <a:pPr indent="0" marL="0">
                        <a:buNone/>
                      </a:pPr>
                      <a:r>
                        <a:rPr lang="en-US" sz="1200" b="1" dirty="0">
                          <a:solidFill>
                            <a:srgbClr val="FFFFFF"/>
                          </a:solidFill>
                        </a:rPr>
                        <a:t>목표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차단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핵심 </a:t>
                      </a:r>
                      <a:pPr indent="0" marL="0">
                        <a:buNone/>
                      </a:pPr>
                      <a:r>
                        <a:rPr lang="en-US" sz="1100" dirty="0">
                          <a:solidFill>
                            <a:srgbClr val="1F2937"/>
                          </a:solidFill>
                        </a:rPr>
                        <a:t>기능을 </a:t>
                      </a:r>
                      <a:pPr indent="0" marL="0">
                        <a:buNone/>
                      </a:pPr>
                      <a:r>
                        <a:rPr lang="en-US" sz="1100" dirty="0">
                          <a:solidFill>
                            <a:srgbClr val="1F2937"/>
                          </a:solidFill>
                        </a:rPr>
                        <a:t>진행할 </a:t>
                      </a:r>
                      <a:pPr indent="0" marL="0">
                        <a:buNone/>
                      </a:pPr>
                      <a:r>
                        <a:rPr lang="en-US" sz="1100" dirty="0">
                          <a:solidFill>
                            <a:srgbClr val="1F2937"/>
                          </a:solidFill>
                        </a:rPr>
                        <a:t>수 </a:t>
                      </a:r>
                      <a:pPr indent="0" marL="0">
                        <a:buNone/>
                      </a:pPr>
                      <a:r>
                        <a:rPr lang="en-US" sz="1100" dirty="0">
                          <a:solidFill>
                            <a:srgbClr val="1F2937"/>
                          </a:solidFill>
                        </a:rPr>
                        <a:t>없거나 </a:t>
                      </a:r>
                      <a:pPr indent="0" marL="0">
                        <a:buNone/>
                      </a:pPr>
                      <a:r>
                        <a:rPr lang="en-US" sz="1100" dirty="0">
                          <a:solidFill>
                            <a:srgbClr val="1F2937"/>
                          </a:solidFill>
                        </a:rPr>
                        <a:t>데이터 </a:t>
                      </a:r>
                      <a:pPr indent="0" marL="0">
                        <a:buNone/>
                      </a:pPr>
                      <a:r>
                        <a:rPr lang="en-US" sz="1100" dirty="0">
                          <a:solidFill>
                            <a:srgbClr val="1F2937"/>
                          </a:solidFill>
                        </a:rPr>
                        <a:t>손실·오염 </a:t>
                      </a:r>
                      <a:pPr indent="0" marL="0">
                        <a:buNone/>
                      </a:pPr>
                      <a:r>
                        <a:rPr lang="en-US" sz="1100" dirty="0">
                          <a:solidFill>
                            <a:srgbClr val="1F2937"/>
                          </a:solidFill>
                        </a:rPr>
                        <a:t>위험이 </a:t>
                      </a:r>
                      <a:pPr indent="0" marL="0">
                        <a:buNone/>
                      </a:pPr>
                      <a:r>
                        <a:rPr lang="en-US" sz="1100" dirty="0">
                          <a:solidFill>
                            <a:srgbClr val="1F2937"/>
                          </a:solidFill>
                        </a:rPr>
                        <a:t>큰 </a:t>
                      </a:r>
                      <a:pPr indent="0" marL="0">
                        <a:buNone/>
                      </a:pPr>
                      <a:r>
                        <a:rPr lang="en-US" sz="1100" dirty="0">
                          <a:solidFill>
                            <a:srgbClr val="1F2937"/>
                          </a:solidFill>
                        </a:rPr>
                        <a:t>문제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로그인 </a:t>
                      </a:r>
                      <a:pPr indent="0" marL="0">
                        <a:buNone/>
                      </a:pPr>
                      <a:r>
                        <a:rPr lang="en-US" sz="1100" dirty="0">
                          <a:solidFill>
                            <a:srgbClr val="1F2937"/>
                          </a:solidFill>
                        </a:rPr>
                        <a:t>불가, </a:t>
                      </a:r>
                      <a:pPr indent="0" marL="0">
                        <a:buNone/>
                      </a:pPr>
                      <a:r>
                        <a:rPr lang="en-US" sz="1100" dirty="0">
                          <a:solidFill>
                            <a:srgbClr val="1F2937"/>
                          </a:solidFill>
                        </a:rPr>
                        <a:t>저장된 </a:t>
                      </a:r>
                      <a:pPr indent="0" marL="0">
                        <a:buNone/>
                      </a:pPr>
                      <a:r>
                        <a:rPr lang="en-US" sz="1100" dirty="0">
                          <a:solidFill>
                            <a:srgbClr val="1F2937"/>
                          </a:solidFill>
                        </a:rPr>
                        <a:t>섹션이 </a:t>
                      </a:r>
                      <a:pPr indent="0" marL="0">
                        <a:buNone/>
                      </a:pPr>
                      <a:r>
                        <a:rPr lang="en-US" sz="1100" dirty="0">
                          <a:solidFill>
                            <a:srgbClr val="1F2937"/>
                          </a:solidFill>
                        </a:rPr>
                        <a:t>소실됨, </a:t>
                      </a:r>
                      <a:pPr indent="0" marL="0">
                        <a:buNone/>
                      </a:pPr>
                      <a:r>
                        <a:rPr lang="en-US" sz="1100" dirty="0">
                          <a:solidFill>
                            <a:srgbClr val="1F2937"/>
                          </a:solidFill>
                        </a:rPr>
                        <a:t>취소 </a:t>
                      </a:r>
                      <a:pPr indent="0" marL="0">
                        <a:buNone/>
                      </a:pPr>
                      <a:r>
                        <a:rPr lang="en-US" sz="1100" dirty="0">
                          <a:solidFill>
                            <a:srgbClr val="1F2937"/>
                          </a:solidFill>
                        </a:rPr>
                        <a:t>후 </a:t>
                      </a:r>
                      <a:pPr indent="0" marL="0">
                        <a:buNone/>
                      </a:pPr>
                      <a:r>
                        <a:rPr lang="en-US" sz="1100" dirty="0">
                          <a:solidFill>
                            <a:srgbClr val="1F2937"/>
                          </a:solidFill>
                        </a:rPr>
                        <a:t>이전 </a:t>
                      </a:r>
                      <a:pPr indent="0" marL="0">
                        <a:buNone/>
                      </a:pPr>
                      <a:r>
                        <a:rPr lang="en-US" sz="1100" dirty="0">
                          <a:solidFill>
                            <a:srgbClr val="1F2937"/>
                          </a:solidFill>
                        </a:rPr>
                        <a:t>응답이 </a:t>
                      </a:r>
                      <a:pPr indent="0" marL="0">
                        <a:buNone/>
                      </a:pPr>
                      <a:r>
                        <a:rPr lang="en-US" sz="1100" dirty="0">
                          <a:solidFill>
                            <a:srgbClr val="1F2937"/>
                          </a:solidFill>
                        </a:rPr>
                        <a:t>새 </a:t>
                      </a:r>
                      <a:pPr indent="0" marL="0">
                        <a:buNone/>
                      </a:pPr>
                      <a:r>
                        <a:rPr lang="en-US" sz="1100" dirty="0">
                          <a:solidFill>
                            <a:srgbClr val="1F2937"/>
                          </a:solidFill>
                        </a:rPr>
                        <a:t>결과를 </a:t>
                      </a:r>
                      <a:pPr indent="0" marL="0">
                        <a:buNone/>
                      </a:pPr>
                      <a:r>
                        <a:rPr lang="en-US" sz="1100" dirty="0">
                          <a:solidFill>
                            <a:srgbClr val="1F2937"/>
                          </a:solidFill>
                        </a:rPr>
                        <a:t>덮어씀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목표 </a:t>
                      </a:r>
                      <a:pPr indent="0" marL="0">
                        <a:buNone/>
                      </a:pPr>
                      <a:r>
                        <a:rPr lang="en-US" sz="1100" dirty="0">
                          <a:solidFill>
                            <a:srgbClr val="1F2937"/>
                          </a:solidFill>
                        </a:rPr>
                        <a:t>미정, </a:t>
                      </a:r>
                      <a:pPr indent="0" marL="0">
                        <a:buNone/>
                      </a:pPr>
                      <a:r>
                        <a:rPr lang="en-US" sz="1100" dirty="0">
                          <a:solidFill>
                            <a:srgbClr val="1F2937"/>
                          </a:solidFill>
                        </a:rPr>
                        <a:t>즉시 </a:t>
                      </a:r>
                      <a:pPr indent="0" marL="0">
                        <a:buNone/>
                      </a:pPr>
                      <a:r>
                        <a:rPr lang="en-US" sz="1100" dirty="0">
                          <a:solidFill>
                            <a:srgbClr val="1F2937"/>
                          </a:solidFill>
                        </a:rPr>
                        <a:t>영향도 </a:t>
                      </a:r>
                      <a:pPr indent="0" marL="0">
                        <a:buNone/>
                      </a:pPr>
                      <a:r>
                        <a:rPr lang="en-US" sz="1100" dirty="0">
                          <a:solidFill>
                            <a:srgbClr val="1F2937"/>
                          </a:solidFill>
                        </a:rPr>
                        <a:t>검토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높음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핵심 </a:t>
                      </a:r>
                      <a:pPr indent="0" marL="0">
                        <a:buNone/>
                      </a:pPr>
                      <a:r>
                        <a:rPr lang="en-US" sz="1100" dirty="0">
                          <a:solidFill>
                            <a:srgbClr val="1F2937"/>
                          </a:solidFill>
                        </a:rPr>
                        <a:t>성공 </a:t>
                      </a:r>
                      <a:pPr indent="0" marL="0">
                        <a:buNone/>
                      </a:pPr>
                      <a:r>
                        <a:rPr lang="en-US" sz="1100" dirty="0">
                          <a:solidFill>
                            <a:srgbClr val="1F2937"/>
                          </a:solidFill>
                        </a:rPr>
                        <a:t>기준 </a:t>
                      </a:r>
                      <a:pPr indent="0" marL="0">
                        <a:buNone/>
                      </a:pPr>
                      <a:r>
                        <a:rPr lang="en-US" sz="1100" dirty="0">
                          <a:solidFill>
                            <a:srgbClr val="1F2937"/>
                          </a:solidFill>
                        </a:rPr>
                        <a:t>또는 </a:t>
                      </a:r>
                      <a:pPr indent="0" marL="0">
                        <a:buNone/>
                      </a:pPr>
                      <a:r>
                        <a:rPr lang="en-US" sz="1100" dirty="0">
                          <a:solidFill>
                            <a:srgbClr val="1F2937"/>
                          </a:solidFill>
                        </a:rPr>
                        <a:t>주요 </a:t>
                      </a:r>
                      <a:pPr indent="0" marL="0">
                        <a:buNone/>
                      </a:pPr>
                      <a:r>
                        <a:rPr lang="en-US" sz="1100" dirty="0">
                          <a:solidFill>
                            <a:srgbClr val="1F2937"/>
                          </a:solidFill>
                        </a:rPr>
                        <a:t>흐름이 </a:t>
                      </a:r>
                      <a:pPr indent="0" marL="0">
                        <a:buNone/>
                      </a:pPr>
                      <a:r>
                        <a:rPr lang="en-US" sz="1100" dirty="0">
                          <a:solidFill>
                            <a:srgbClr val="1F2937"/>
                          </a:solidFill>
                        </a:rPr>
                        <a:t>실패하는 </a:t>
                      </a:r>
                      <a:pPr indent="0" marL="0">
                        <a:buNone/>
                      </a:pPr>
                      <a:r>
                        <a:rPr lang="en-US" sz="1100" dirty="0">
                          <a:solidFill>
                            <a:srgbClr val="1F2937"/>
                          </a:solidFill>
                        </a:rPr>
                        <a:t>문제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Word나 </a:t>
                      </a:r>
                      <a:pPr indent="0" marL="0">
                        <a:buNone/>
                      </a:pPr>
                      <a:r>
                        <a:rPr lang="en-US" sz="1100" dirty="0">
                          <a:solidFill>
                            <a:srgbClr val="1F2937"/>
                          </a:solidFill>
                        </a:rPr>
                        <a:t>PDF에서 </a:t>
                      </a:r>
                      <a:pPr indent="0" marL="0">
                        <a:buNone/>
                      </a:pPr>
                      <a:r>
                        <a:rPr lang="en-US" sz="1100" dirty="0">
                          <a:solidFill>
                            <a:srgbClr val="1F2937"/>
                          </a:solidFill>
                        </a:rPr>
                        <a:t>표·다이어그램이 </a:t>
                      </a:r>
                      <a:pPr indent="0" marL="0">
                        <a:buNone/>
                      </a:pPr>
                      <a:r>
                        <a:rPr lang="en-US" sz="1100" dirty="0">
                          <a:solidFill>
                            <a:srgbClr val="1F2937"/>
                          </a:solidFill>
                        </a:rPr>
                        <a:t>누락됨, </a:t>
                      </a:r>
                      <a:pPr indent="0" marL="0">
                        <a:buNone/>
                      </a:pPr>
                      <a:r>
                        <a:rPr lang="en-US" sz="1100" dirty="0">
                          <a:solidFill>
                            <a:srgbClr val="1F2937"/>
                          </a:solidFill>
                        </a:rPr>
                        <a:t>재방문 </a:t>
                      </a:r>
                      <a:pPr indent="0" marL="0">
                        <a:buNone/>
                      </a:pPr>
                      <a:r>
                        <a:rPr lang="en-US" sz="1100" dirty="0">
                          <a:solidFill>
                            <a:srgbClr val="1F2937"/>
                          </a:solidFill>
                        </a:rPr>
                        <a:t>후 </a:t>
                      </a:r>
                      <a:pPr indent="0" marL="0">
                        <a:buNone/>
                      </a:pPr>
                      <a:r>
                        <a:rPr lang="en-US" sz="1100" dirty="0">
                          <a:solidFill>
                            <a:srgbClr val="1F2937"/>
                          </a:solidFill>
                        </a:rPr>
                        <a:t>완료 </a:t>
                      </a:r>
                      <a:pPr indent="0" marL="0">
                        <a:buNone/>
                      </a:pPr>
                      <a:r>
                        <a:rPr lang="en-US" sz="1100" dirty="0">
                          <a:solidFill>
                            <a:srgbClr val="1F2937"/>
                          </a:solidFill>
                        </a:rPr>
                        <a:t>섹션을 </a:t>
                      </a:r>
                      <a:pPr indent="0" marL="0">
                        <a:buNone/>
                      </a:pPr>
                      <a:r>
                        <a:rPr lang="en-US" sz="1100" dirty="0">
                          <a:solidFill>
                            <a:srgbClr val="1F2937"/>
                          </a:solidFill>
                        </a:rPr>
                        <a:t>재사용하지 </a:t>
                      </a:r>
                      <a:pPr indent="0" marL="0">
                        <a:buNone/>
                      </a:pPr>
                      <a:r>
                        <a:rPr lang="en-US" sz="1100" dirty="0">
                          <a:solidFill>
                            <a:srgbClr val="1F2937"/>
                          </a:solidFill>
                        </a:rPr>
                        <a:t>못함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목표 </a:t>
                      </a:r>
                      <a:pPr indent="0" marL="0">
                        <a:buNone/>
                      </a:pPr>
                      <a:r>
                        <a:rPr lang="en-US" sz="1100" dirty="0">
                          <a:solidFill>
                            <a:srgbClr val="1F2937"/>
                          </a:solidFill>
                        </a:rPr>
                        <a:t>미정, </a:t>
                      </a:r>
                      <a:pPr indent="0" marL="0">
                        <a:buNone/>
                      </a:pPr>
                      <a:r>
                        <a:rPr lang="en-US" sz="1100" dirty="0">
                          <a:solidFill>
                            <a:srgbClr val="1F2937"/>
                          </a:solidFill>
                        </a:rPr>
                        <a:t>릴리스 </a:t>
                      </a:r>
                      <a:pPr indent="0" marL="0">
                        <a:buNone/>
                      </a:pPr>
                      <a:r>
                        <a:rPr lang="en-US" sz="1100" dirty="0">
                          <a:solidFill>
                            <a:srgbClr val="1F2937"/>
                          </a:solidFill>
                        </a:rPr>
                        <a:t>영향 </a:t>
                      </a:r>
                      <a:pPr indent="0" marL="0">
                        <a:buNone/>
                      </a:pPr>
                      <a:r>
                        <a:rPr lang="en-US" sz="1100" dirty="0">
                          <a:solidFill>
                            <a:srgbClr val="1F2937"/>
                          </a:solidFill>
                        </a:rPr>
                        <a:t>검토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보통</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기능은 </a:t>
                      </a:r>
                      <a:pPr indent="0" marL="0">
                        <a:buNone/>
                      </a:pPr>
                      <a:r>
                        <a:rPr lang="en-US" sz="1100" dirty="0">
                          <a:solidFill>
                            <a:srgbClr val="1F2937"/>
                          </a:solidFill>
                        </a:rPr>
                        <a:t>사용할 </a:t>
                      </a:r>
                      <a:pPr indent="0" marL="0">
                        <a:buNone/>
                      </a:pPr>
                      <a:r>
                        <a:rPr lang="en-US" sz="1100" dirty="0">
                          <a:solidFill>
                            <a:srgbClr val="1F2937"/>
                          </a:solidFill>
                        </a:rPr>
                        <a:t>수 </a:t>
                      </a:r>
                      <a:pPr indent="0" marL="0">
                        <a:buNone/>
                      </a:pPr>
                      <a:r>
                        <a:rPr lang="en-US" sz="1100" dirty="0">
                          <a:solidFill>
                            <a:srgbClr val="1F2937"/>
                          </a:solidFill>
                        </a:rPr>
                        <a:t>있으나 </a:t>
                      </a:r>
                      <a:pPr indent="0" marL="0">
                        <a:buNone/>
                      </a:pPr>
                      <a:r>
                        <a:rPr lang="en-US" sz="1100" dirty="0">
                          <a:solidFill>
                            <a:srgbClr val="1F2937"/>
                          </a:solidFill>
                        </a:rPr>
                        <a:t>일부 </a:t>
                      </a:r>
                      <a:pPr indent="0" marL="0">
                        <a:buNone/>
                      </a:pPr>
                      <a:r>
                        <a:rPr lang="en-US" sz="1100" dirty="0">
                          <a:solidFill>
                            <a:srgbClr val="1F2937"/>
                          </a:solidFill>
                        </a:rPr>
                        <a:t>입력·표시·서식이 </a:t>
                      </a:r>
                      <a:pPr indent="0" marL="0">
                        <a:buNone/>
                      </a:pPr>
                      <a:r>
                        <a:rPr lang="en-US" sz="1100" dirty="0">
                          <a:solidFill>
                            <a:srgbClr val="1F2937"/>
                          </a:solidFill>
                        </a:rPr>
                        <a:t>기대와 </a:t>
                      </a:r>
                      <a:pPr indent="0" marL="0">
                        <a:buNone/>
                      </a:pPr>
                      <a:r>
                        <a:rPr lang="en-US" sz="1100" dirty="0">
                          <a:solidFill>
                            <a:srgbClr val="1F2937"/>
                          </a:solidFill>
                        </a:rPr>
                        <a:t>다른 </a:t>
                      </a:r>
                      <a:pPr indent="0" marL="0">
                        <a:buNone/>
                      </a:pPr>
                      <a:r>
                        <a:rPr lang="en-US" sz="1100" dirty="0">
                          <a:solidFill>
                            <a:srgbClr val="1F2937"/>
                          </a:solidFill>
                        </a:rPr>
                        <a:t>문제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일부 </a:t>
                      </a:r>
                      <a:pPr indent="0" marL="0">
                        <a:buNone/>
                      </a:pPr>
                      <a:r>
                        <a:rPr lang="en-US" sz="1100" dirty="0">
                          <a:solidFill>
                            <a:srgbClr val="1F2937"/>
                          </a:solidFill>
                        </a:rPr>
                        <a:t>서식 </a:t>
                      </a:r>
                      <a:pPr indent="0" marL="0">
                        <a:buNone/>
                      </a:pPr>
                      <a:r>
                        <a:rPr lang="en-US" sz="1100" dirty="0">
                          <a:solidFill>
                            <a:srgbClr val="1F2937"/>
                          </a:solidFill>
                        </a:rPr>
                        <a:t>차이, </a:t>
                      </a:r>
                      <a:pPr indent="0" marL="0">
                        <a:buNone/>
                      </a:pPr>
                      <a:r>
                        <a:rPr lang="en-US" sz="1100" dirty="0">
                          <a:solidFill>
                            <a:srgbClr val="1F2937"/>
                          </a:solidFill>
                        </a:rPr>
                        <a:t>특정 </a:t>
                      </a:r>
                      <a:pPr indent="0" marL="0">
                        <a:buNone/>
                      </a:pPr>
                      <a:r>
                        <a:rPr lang="en-US" sz="1100" dirty="0">
                          <a:solidFill>
                            <a:srgbClr val="1F2937"/>
                          </a:solidFill>
                        </a:rPr>
                        <a:t>입력에서 </a:t>
                      </a:r>
                      <a:pPr indent="0" marL="0">
                        <a:buNone/>
                      </a:pPr>
                      <a:r>
                        <a:rPr lang="en-US" sz="1100" dirty="0">
                          <a:solidFill>
                            <a:srgbClr val="1F2937"/>
                          </a:solidFill>
                        </a:rPr>
                        <a:t>재생성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목표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낮음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핵심 </a:t>
                      </a:r>
                      <a:pPr indent="0" marL="0">
                        <a:buNone/>
                      </a:pPr>
                      <a:r>
                        <a:rPr lang="en-US" sz="1100" dirty="0">
                          <a:solidFill>
                            <a:srgbClr val="1F2937"/>
                          </a:solidFill>
                        </a:rPr>
                        <a:t>사용이나 </a:t>
                      </a:r>
                      <a:pPr indent="0" marL="0">
                        <a:buNone/>
                      </a:pPr>
                      <a:r>
                        <a:rPr lang="en-US" sz="1100" dirty="0">
                          <a:solidFill>
                            <a:srgbClr val="1F2937"/>
                          </a:solidFill>
                        </a:rPr>
                        <a:t>내용 </a:t>
                      </a:r>
                      <a:pPr indent="0" marL="0">
                        <a:buNone/>
                      </a:pPr>
                      <a:r>
                        <a:rPr lang="en-US" sz="1100" dirty="0">
                          <a:solidFill>
                            <a:srgbClr val="1F2937"/>
                          </a:solidFill>
                        </a:rPr>
                        <a:t>보존에 </a:t>
                      </a:r>
                      <a:pPr indent="0" marL="0">
                        <a:buNone/>
                      </a:pPr>
                      <a:r>
                        <a:rPr lang="en-US" sz="1100" dirty="0">
                          <a:solidFill>
                            <a:srgbClr val="1F2937"/>
                          </a:solidFill>
                        </a:rPr>
                        <a:t>영향이 </a:t>
                      </a:r>
                      <a:pPr indent="0" marL="0">
                        <a:buNone/>
                      </a:pPr>
                      <a:r>
                        <a:rPr lang="en-US" sz="1100" dirty="0">
                          <a:solidFill>
                            <a:srgbClr val="1F2937"/>
                          </a:solidFill>
                        </a:rPr>
                        <a:t>적은 </a:t>
                      </a:r>
                      <a:pPr indent="0" marL="0">
                        <a:buNone/>
                      </a:pPr>
                      <a:r>
                        <a:rPr lang="en-US" sz="1100" dirty="0">
                          <a:solidFill>
                            <a:srgbClr val="1F2937"/>
                          </a:solidFill>
                        </a:rPr>
                        <a:t>표현·정렬 </a:t>
                      </a:r>
                      <a:pPr indent="0" marL="0">
                        <a:buNone/>
                      </a:pPr>
                      <a:r>
                        <a:rPr lang="en-US" sz="1100" dirty="0">
                          <a:solidFill>
                            <a:srgbClr val="1F2937"/>
                          </a:solidFill>
                        </a:rPr>
                        <a:t>문제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문서 </a:t>
                      </a:r>
                      <a:pPr indent="0" marL="0">
                        <a:buNone/>
                      </a:pPr>
                      <a:r>
                        <a:rPr lang="en-US" sz="1100" dirty="0">
                          <a:solidFill>
                            <a:srgbClr val="1F2937"/>
                          </a:solidFill>
                        </a:rPr>
                        <a:t>내용에 </a:t>
                      </a:r>
                      <a:pPr indent="0" marL="0">
                        <a:buNone/>
                      </a:pPr>
                      <a:r>
                        <a:rPr lang="en-US" sz="1100" dirty="0">
                          <a:solidFill>
                            <a:srgbClr val="1F2937"/>
                          </a:solidFill>
                        </a:rPr>
                        <a:t>영향이 </a:t>
                      </a:r>
                      <a:pPr indent="0" marL="0">
                        <a:buNone/>
                      </a:pPr>
                      <a:r>
                        <a:rPr lang="en-US" sz="1100" dirty="0">
                          <a:solidFill>
                            <a:srgbClr val="1F2937"/>
                          </a:solidFill>
                        </a:rPr>
                        <a:t>없는 </a:t>
                      </a:r>
                      <a:pPr indent="0" marL="0">
                        <a:buNone/>
                      </a:pPr>
                      <a:r>
                        <a:rPr lang="en-US" sz="1100" dirty="0">
                          <a:solidFill>
                            <a:srgbClr val="1F2937"/>
                          </a:solidFill>
                        </a:rPr>
                        <a:t>미세한 </a:t>
                      </a:r>
                      <a:pPr indent="0" marL="0">
                        <a:buNone/>
                      </a:pPr>
                      <a:r>
                        <a:rPr lang="en-US" sz="1100" dirty="0">
                          <a:solidFill>
                            <a:srgbClr val="1F2937"/>
                          </a:solidFill>
                        </a:rPr>
                        <a:t>표시 </a:t>
                      </a:r>
                      <a:pPr indent="0" marL="0">
                        <a:buNone/>
                      </a:pPr>
                      <a:r>
                        <a:rPr lang="en-US" sz="1100" dirty="0">
                          <a:solidFill>
                            <a:srgbClr val="1F2937"/>
                          </a:solidFill>
                        </a:rPr>
                        <a:t>차이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목표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9.2 결함 처리 흐름</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상태명은 팀의 기존 결함 관리 체계가 확인되지 않아 설명용으로 제안합니다. 실제 사용 상태와 도구는 착수 전에 합의해야 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9.2 결함 처리 흐름</a:t>
            </a:r>
            <a:endParaRPr lang="en-US" sz="2800" dirty="0"/>
          </a:p>
        </p:txBody>
      </p:sp>
      <p:sp>
        <p:nvSpPr>
          <p:cNvPr id="3" name="Shape 1"/>
          <p:cNvSpPr/>
          <p:nvPr/>
        </p:nvSpPr>
        <p:spPr>
          <a:xfrm>
            <a:off x="457200" y="1078992"/>
            <a:ext cx="2743200" cy="41148"/>
          </a:xfrm>
          <a:prstGeom prst="rect">
            <a:avLst/>
          </a:prstGeom>
          <a:solidFill>
            <a:srgbClr val="263F59"/>
          </a:solidFill>
          <a:ln/>
        </p:spPr>
      </p:sp>
      <p:pic>
        <p:nvPicPr>
          <p:cNvPr id="4" name="Image 0" descr="preencoded.png">    </p:cNvPr>
          <p:cNvPicPr>
            <a:picLocks noChangeAspect="1"/>
          </p:cNvPicPr>
          <p:nvPr/>
        </p:nvPicPr>
        <p:blipFill>
          <a:blip r:embed="rId1"/>
          <a:stretch>
            <a:fillRect/>
          </a:stretch>
        </p:blipFill>
        <p:spPr>
          <a:xfrm>
            <a:off x="640080" y="1463040"/>
            <a:ext cx="7863840" cy="935060"/>
          </a:xfrm>
          <a:prstGeom prst="rect">
            <a:avLst/>
          </a:prstGeom>
        </p:spPr>
      </p:pic>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9.2 결함 처리 흐름</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결함 기록에는 최소한 제목, 환경·기기·브라우저, 재현 단계, 기대 결과, 실제 결과, 재현율, 관련 파일 또는 화면 자료, 심각도, 발생 빌드, 검증 결과를 포함하는 것을 제안합니다.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10. 테스트 결과 보고</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10.1 보고 주기와 형식</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회의에서 보고 주기와 채널은 정하지 않았습니다. 아래는 짧은 MVP 일정에서 상태 공유를 놓치지 않기 위한 운영 제안입니다.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10.1 보고 주기와 형식</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077686"/>
                <a:gridCol w="2253343"/>
                <a:gridCol w="1371600"/>
                <a:gridCol w="2057400"/>
                <a:gridCol w="1469571"/>
              </a:tblGrid>
              <a:tr h="0">
                <a:tc>
                  <a:txBody>
                    <a:bodyPr/>
                    <a:lstStyle/>
                    <a:p>
                      <a:pPr indent="0" marL="0">
                        <a:buNone/>
                      </a:pPr>
                      <a:r>
                        <a:rPr lang="en-US" sz="1200" b="1" dirty="0">
                          <a:solidFill>
                            <a:srgbClr val="FFFFFF"/>
                          </a:solidFill>
                        </a:rPr>
                        <a:t>보고</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주기 </a:t>
                      </a:r>
                      <a:pPr indent="0" marL="0">
                        <a:buNone/>
                      </a:pPr>
                      <a:r>
                        <a:rPr lang="en-US" sz="1200" b="1" dirty="0">
                          <a:solidFill>
                            <a:srgbClr val="FFFFFF"/>
                          </a:solidFill>
                        </a:rPr>
                        <a:t>제안</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대상</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형식</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채널</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진행 </a:t>
                      </a:r>
                      <a:pPr indent="0" marL="0">
                        <a:buNone/>
                      </a:pPr>
                      <a:r>
                        <a:rPr lang="en-US" sz="1100" dirty="0">
                          <a:solidFill>
                            <a:srgbClr val="1F2937"/>
                          </a:solidFill>
                        </a:rPr>
                        <a:t>상황 </a:t>
                      </a:r>
                      <a:pPr indent="0" marL="0">
                        <a:buNone/>
                      </a:pPr>
                      <a:r>
                        <a:rPr lang="en-US" sz="1100" dirty="0">
                          <a:solidFill>
                            <a:srgbClr val="1F2937"/>
                          </a:solidFill>
                        </a:rPr>
                        <a:t>공유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테스트 </a:t>
                      </a:r>
                      <a:pPr indent="0" marL="0">
                        <a:buNone/>
                      </a:pPr>
                      <a:r>
                        <a:rPr lang="en-US" sz="1100" dirty="0">
                          <a:solidFill>
                            <a:srgbClr val="1F2937"/>
                          </a:solidFill>
                        </a:rPr>
                        <a:t>실행일마다 </a:t>
                      </a:r>
                      <a:pPr indent="0" marL="0">
                        <a:buNone/>
                      </a:pPr>
                      <a:r>
                        <a:rPr lang="en-US" sz="1100" dirty="0">
                          <a:solidFill>
                            <a:srgbClr val="1F2937"/>
                          </a:solidFill>
                        </a:rPr>
                        <a:t>또는 </a:t>
                      </a:r>
                      <a:pPr indent="0" marL="0">
                        <a:buNone/>
                      </a:pPr>
                      <a:r>
                        <a:rPr lang="en-US" sz="1100" dirty="0">
                          <a:solidFill>
                            <a:srgbClr val="1F2937"/>
                          </a:solidFill>
                        </a:rPr>
                        <a:t>핵심 </a:t>
                      </a:r>
                      <a:pPr indent="0" marL="0">
                        <a:buNone/>
                      </a:pPr>
                      <a:r>
                        <a:rPr lang="en-US" sz="1100" dirty="0">
                          <a:solidFill>
                            <a:srgbClr val="1F2937"/>
                          </a:solidFill>
                        </a:rPr>
                        <a:t>결함 </a:t>
                      </a:r>
                      <a:pPr indent="0" marL="0">
                        <a:buNone/>
                      </a:pPr>
                      <a:r>
                        <a:rPr lang="en-US" sz="1100" dirty="0">
                          <a:solidFill>
                            <a:srgbClr val="1F2937"/>
                          </a:solidFill>
                        </a:rPr>
                        <a:t>발생 </a:t>
                      </a:r>
                      <a:pPr indent="0" marL="0">
                        <a:buNone/>
                      </a:pPr>
                      <a:r>
                        <a:rPr lang="en-US" sz="1100" dirty="0">
                          <a:solidFill>
                            <a:srgbClr val="1F2937"/>
                          </a:solidFill>
                        </a:rPr>
                        <a:t>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김PM·이개발·QA </a:t>
                      </a:r>
                      <a:pPr indent="0" marL="0">
                        <a:buNone/>
                      </a:pPr>
                      <a:r>
                        <a:rPr lang="en-US" sz="1100" dirty="0">
                          <a:solidFill>
                            <a:srgbClr val="1F2937"/>
                          </a:solidFill>
                        </a:rPr>
                        <a:t>담당자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실행 </a:t>
                      </a:r>
                      <a:pPr indent="0" marL="0">
                        <a:buNone/>
                      </a:pPr>
                      <a:r>
                        <a:rPr lang="en-US" sz="1100" dirty="0">
                          <a:solidFill>
                            <a:srgbClr val="1F2937"/>
                          </a:solidFill>
                        </a:rPr>
                        <a:t>현황과 </a:t>
                      </a:r>
                      <a:pPr indent="0" marL="0">
                        <a:buNone/>
                      </a:pPr>
                      <a:r>
                        <a:rPr lang="en-US" sz="1100" dirty="0">
                          <a:solidFill>
                            <a:srgbClr val="1F2937"/>
                          </a:solidFill>
                        </a:rPr>
                        <a:t>차단 </a:t>
                      </a:r>
                      <a:pPr indent="0" marL="0">
                        <a:buNone/>
                      </a:pPr>
                      <a:r>
                        <a:rPr lang="en-US" sz="1100" dirty="0">
                          <a:solidFill>
                            <a:srgbClr val="1F2937"/>
                          </a:solidFill>
                        </a:rPr>
                        <a:t>항목 </a:t>
                      </a:r>
                      <a:pPr indent="0" marL="0">
                        <a:buNone/>
                      </a:pPr>
                      <a:r>
                        <a:rPr lang="en-US" sz="1100" dirty="0">
                          <a:solidFill>
                            <a:srgbClr val="1F2937"/>
                          </a:solidFill>
                        </a:rPr>
                        <a:t>요약</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사용할 </a:t>
                      </a:r>
                      <a:pPr indent="0" marL="0">
                        <a:buNone/>
                      </a:pPr>
                      <a:r>
                        <a:rPr lang="en-US" sz="1100" dirty="0">
                          <a:solidFill>
                            <a:srgbClr val="1F2937"/>
                          </a:solidFill>
                        </a:rPr>
                        <a:t>협업 </a:t>
                      </a:r>
                      <a:pPr indent="0" marL="0">
                        <a:buNone/>
                      </a:pPr>
                      <a:r>
                        <a:rPr lang="en-US" sz="1100" dirty="0">
                          <a:solidFill>
                            <a:srgbClr val="1F2937"/>
                          </a:solidFill>
                        </a:rPr>
                        <a:t>채널 </a:t>
                      </a:r>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주간 </a:t>
                      </a:r>
                      <a:pPr indent="0" marL="0">
                        <a:buNone/>
                      </a:pPr>
                      <a:r>
                        <a:rPr lang="en-US" sz="1100" dirty="0">
                          <a:solidFill>
                            <a:srgbClr val="1F2937"/>
                          </a:solidFill>
                        </a:rPr>
                        <a:t>요약</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주 </a:t>
                      </a:r>
                      <a:pPr indent="0" marL="0">
                        <a:buNone/>
                      </a:pPr>
                      <a:r>
                        <a:rPr lang="en-US" sz="1100" dirty="0">
                          <a:solidFill>
                            <a:srgbClr val="1F2937"/>
                          </a:solidFill>
                        </a:rPr>
                        <a:t>1회 </a:t>
                      </a:r>
                      <a:pPr indent="0" marL="0">
                        <a:buNone/>
                      </a:pPr>
                      <a:r>
                        <a:rPr lang="en-US" sz="1100" dirty="0">
                          <a:solidFill>
                            <a:srgbClr val="1F2937"/>
                          </a:solidFill>
                        </a:rPr>
                        <a:t>제안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이해관계자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실행 </a:t>
                      </a:r>
                      <a:pPr indent="0" marL="0">
                        <a:buNone/>
                      </a:pPr>
                      <a:r>
                        <a:rPr lang="en-US" sz="1100" dirty="0">
                          <a:solidFill>
                            <a:srgbClr val="1F2937"/>
                          </a:solidFill>
                        </a:rPr>
                        <a:t>건수, </a:t>
                      </a:r>
                      <a:pPr indent="0" marL="0">
                        <a:buNone/>
                      </a:pPr>
                      <a:r>
                        <a:rPr lang="en-US" sz="1100" dirty="0">
                          <a:solidFill>
                            <a:srgbClr val="1F2937"/>
                          </a:solidFill>
                        </a:rPr>
                        <a:t>주요 </a:t>
                      </a:r>
                      <a:pPr indent="0" marL="0">
                        <a:buNone/>
                      </a:pPr>
                      <a:r>
                        <a:rPr lang="en-US" sz="1100" dirty="0">
                          <a:solidFill>
                            <a:srgbClr val="1F2937"/>
                          </a:solidFill>
                        </a:rPr>
                        <a:t>결함, </a:t>
                      </a:r>
                      <a:pPr indent="0" marL="0">
                        <a:buNone/>
                      </a:pPr>
                      <a:r>
                        <a:rPr lang="en-US" sz="1100" dirty="0">
                          <a:solidFill>
                            <a:srgbClr val="1F2937"/>
                          </a:solidFill>
                        </a:rPr>
                        <a:t>위험, </a:t>
                      </a:r>
                      <a:pPr indent="0" marL="0">
                        <a:buNone/>
                      </a:pPr>
                      <a:r>
                        <a:rPr lang="en-US" sz="1100" dirty="0">
                          <a:solidFill>
                            <a:srgbClr val="1F2937"/>
                          </a:solidFill>
                        </a:rPr>
                        <a:t>일정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채널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핵심 </a:t>
                      </a:r>
                      <a:pPr indent="0" marL="0">
                        <a:buNone/>
                      </a:pPr>
                      <a:r>
                        <a:rPr lang="en-US" sz="1100" dirty="0">
                          <a:solidFill>
                            <a:srgbClr val="1F2937"/>
                          </a:solidFill>
                        </a:rPr>
                        <a:t>성공 </a:t>
                      </a:r>
                      <a:pPr indent="0" marL="0">
                        <a:buNone/>
                      </a:pPr>
                      <a:r>
                        <a:rPr lang="en-US" sz="1100" dirty="0">
                          <a:solidFill>
                            <a:srgbClr val="1F2937"/>
                          </a:solidFill>
                        </a:rPr>
                        <a:t>기준 </a:t>
                      </a:r>
                      <a:pPr indent="0" marL="0">
                        <a:buNone/>
                      </a:pPr>
                      <a:r>
                        <a:rPr lang="en-US" sz="1100" dirty="0">
                          <a:solidFill>
                            <a:srgbClr val="1F2937"/>
                          </a:solidFill>
                        </a:rPr>
                        <a:t>보고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관련 </a:t>
                      </a:r>
                      <a:pPr indent="0" marL="0">
                        <a:buNone/>
                      </a:pPr>
                      <a:r>
                        <a:rPr lang="en-US" sz="1100" dirty="0">
                          <a:solidFill>
                            <a:srgbClr val="1F2937"/>
                          </a:solidFill>
                        </a:rPr>
                        <a:t>시나리오 </a:t>
                      </a:r>
                      <a:pPr indent="0" marL="0">
                        <a:buNone/>
                      </a:pPr>
                      <a:r>
                        <a:rPr lang="en-US" sz="1100" dirty="0">
                          <a:solidFill>
                            <a:srgbClr val="1F2937"/>
                          </a:solidFill>
                        </a:rPr>
                        <a:t>실행 </a:t>
                      </a:r>
                      <a:pPr indent="0" marL="0">
                        <a:buNone/>
                      </a:pPr>
                      <a:r>
                        <a:rPr lang="en-US" sz="1100" dirty="0">
                          <a:solidFill>
                            <a:srgbClr val="1F2937"/>
                          </a:solidFill>
                        </a:rPr>
                        <a:t>때마다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김PM·이개발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저장·복귀·취소·출력별 </a:t>
                      </a:r>
                      <a:pPr indent="0" marL="0">
                        <a:buNone/>
                      </a:pPr>
                      <a:r>
                        <a:rPr lang="en-US" sz="1100" dirty="0">
                          <a:solidFill>
                            <a:srgbClr val="1F2937"/>
                          </a:solidFill>
                        </a:rPr>
                        <a:t>결과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채널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최종 </a:t>
                      </a:r>
                      <a:pPr indent="0" marL="0">
                        <a:buNone/>
                      </a:pPr>
                      <a:r>
                        <a:rPr lang="en-US" sz="1100" dirty="0">
                          <a:solidFill>
                            <a:srgbClr val="1F2937"/>
                          </a:solidFill>
                        </a:rPr>
                        <a:t>결과 </a:t>
                      </a:r>
                      <a:pPr indent="0" marL="0">
                        <a:buNone/>
                      </a:pPr>
                      <a:r>
                        <a:rPr lang="en-US" sz="1100" dirty="0">
                          <a:solidFill>
                            <a:srgbClr val="1F2937"/>
                          </a:solidFill>
                        </a:rPr>
                        <a:t>보고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종료 </a:t>
                      </a:r>
                      <a:pPr indent="0" marL="0">
                        <a:buNone/>
                      </a:pPr>
                      <a:r>
                        <a:rPr lang="en-US" sz="1100" dirty="0">
                          <a:solidFill>
                            <a:srgbClr val="1F2937"/>
                          </a:solidFill>
                        </a:rPr>
                        <a:t>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승인자 </a:t>
                      </a:r>
                      <a:pPr indent="0" marL="0">
                        <a:buNone/>
                      </a:pPr>
                      <a:r>
                        <a:rPr lang="en-US" sz="1100" dirty="0">
                          <a:solidFill>
                            <a:srgbClr val="1F2937"/>
                          </a:solidFill>
                        </a:rPr>
                        <a:t>및 </a:t>
                      </a:r>
                      <a:pPr indent="0" marL="0">
                        <a:buNone/>
                      </a:pPr>
                      <a:r>
                        <a:rPr lang="en-US" sz="1100" dirty="0">
                          <a:solidFill>
                            <a:srgbClr val="1F2937"/>
                          </a:solidFill>
                        </a:rPr>
                        <a:t>이해관계자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범위, </a:t>
                      </a:r>
                      <a:pPr indent="0" marL="0">
                        <a:buNone/>
                      </a:pPr>
                      <a:r>
                        <a:rPr lang="en-US" sz="1100" dirty="0">
                          <a:solidFill>
                            <a:srgbClr val="1F2937"/>
                          </a:solidFill>
                        </a:rPr>
                        <a:t>결과, </a:t>
                      </a:r>
                      <a:pPr indent="0" marL="0">
                        <a:buNone/>
                      </a:pPr>
                      <a:r>
                        <a:rPr lang="en-US" sz="1100" dirty="0">
                          <a:solidFill>
                            <a:srgbClr val="1F2937"/>
                          </a:solidFill>
                        </a:rPr>
                        <a:t>미해결 </a:t>
                      </a:r>
                      <a:pPr indent="0" marL="0">
                        <a:buNone/>
                      </a:pPr>
                      <a:r>
                        <a:rPr lang="en-US" sz="1100" dirty="0">
                          <a:solidFill>
                            <a:srgbClr val="1F2937"/>
                          </a:solidFill>
                        </a:rPr>
                        <a:t>사항, </a:t>
                      </a:r>
                      <a:pPr indent="0" marL="0">
                        <a:buNone/>
                      </a:pPr>
                      <a:r>
                        <a:rPr lang="en-US" sz="1100" dirty="0">
                          <a:solidFill>
                            <a:srgbClr val="1F2937"/>
                          </a:solidFill>
                        </a:rPr>
                        <a:t>제한 </a:t>
                      </a:r>
                      <a:pPr indent="0" marL="0">
                        <a:buNone/>
                      </a:pPr>
                      <a:r>
                        <a:rPr lang="en-US" sz="1100" dirty="0">
                          <a:solidFill>
                            <a:srgbClr val="1F2937"/>
                          </a:solidFill>
                        </a:rPr>
                        <a:t>사항</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형식·채널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10.2 주간 보고 양식 (1/2)</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926077"/>
                <a:gridCol w="6303523"/>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내용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테스트 </a:t>
                      </a:r>
                      <a:pPr indent="0" marL="0">
                        <a:buNone/>
                      </a:pPr>
                      <a:r>
                        <a:rPr lang="en-US" sz="1100" dirty="0">
                          <a:solidFill>
                            <a:srgbClr val="1F2937"/>
                          </a:solidFill>
                        </a:rPr>
                        <a:t>기간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[시작일] </a:t>
                      </a:r>
                      <a:pPr indent="0" marL="0">
                        <a:buNone/>
                      </a:pPr>
                      <a:r>
                        <a:rPr lang="en-US" sz="1100" dirty="0">
                          <a:solidFill>
                            <a:srgbClr val="1F2937"/>
                          </a:solidFill>
                        </a:rPr>
                        <a:t>~ </a:t>
                      </a:r>
                      <a:pPr indent="0" marL="0">
                        <a:buNone/>
                      </a:pPr>
                      <a:r>
                        <a:rPr lang="en-US" sz="1100" dirty="0">
                          <a:solidFill>
                            <a:srgbClr val="1F2937"/>
                          </a:solidFill>
                        </a:rPr>
                        <a:t>[종료일]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테스트 </a:t>
                      </a:r>
                      <a:pPr indent="0" marL="0">
                        <a:buNone/>
                      </a:pPr>
                      <a:r>
                        <a:rPr lang="en-US" sz="1100" dirty="0">
                          <a:solidFill>
                            <a:srgbClr val="1F2937"/>
                          </a:solidFill>
                        </a:rPr>
                        <a:t>빌드·환경</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[빌드 </a:t>
                      </a:r>
                      <a:pPr indent="0" marL="0">
                        <a:buNone/>
                      </a:pPr>
                      <a:r>
                        <a:rPr lang="en-US" sz="1100" dirty="0">
                          <a:solidFill>
                            <a:srgbClr val="1F2937"/>
                          </a:solidFill>
                        </a:rPr>
                        <a:t>식별자] </a:t>
                      </a:r>
                      <a:pPr indent="0" marL="0">
                        <a:buNone/>
                      </a:pPr>
                      <a:r>
                        <a:rPr lang="en-US" sz="1100" dirty="0">
                          <a:solidFill>
                            <a:srgbClr val="1F2937"/>
                          </a:solidFill>
                        </a:rPr>
                        <a:t>/ </a:t>
                      </a:r>
                      <a:pPr indent="0" marL="0">
                        <a:buNone/>
                      </a:pPr>
                      <a:r>
                        <a:rPr lang="en-US" sz="1100" dirty="0">
                          <a:solidFill>
                            <a:srgbClr val="1F2937"/>
                          </a:solidFill>
                        </a:rPr>
                        <a:t>[환경]</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계획한 </a:t>
                      </a:r>
                      <a:pPr indent="0" marL="0">
                        <a:buNone/>
                      </a:pPr>
                      <a:r>
                        <a:rPr lang="en-US" sz="1100" dirty="0">
                          <a:solidFill>
                            <a:srgbClr val="1F2937"/>
                          </a:solidFill>
                        </a:rPr>
                        <a:t>테스트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[건수]건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실행한 </a:t>
                      </a:r>
                      <a:pPr indent="0" marL="0">
                        <a:buNone/>
                      </a:pPr>
                      <a:r>
                        <a:rPr lang="en-US" sz="1100" dirty="0">
                          <a:solidFill>
                            <a:srgbClr val="1F2937"/>
                          </a:solidFill>
                        </a:rPr>
                        <a:t>테스트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[건수]건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통과·실패·차단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통과 </a:t>
                      </a:r>
                      <a:pPr indent="0" marL="0">
                        <a:buNone/>
                      </a:pPr>
                      <a:r>
                        <a:rPr lang="en-US" sz="1100" dirty="0">
                          <a:solidFill>
                            <a:srgbClr val="1F2937"/>
                          </a:solidFill>
                        </a:rPr>
                        <a:t>[건수]건 </a:t>
                      </a:r>
                      <a:pPr indent="0" marL="0">
                        <a:buNone/>
                      </a:pPr>
                      <a:r>
                        <a:rPr lang="en-US" sz="1100" dirty="0">
                          <a:solidFill>
                            <a:srgbClr val="1F2937"/>
                          </a:solidFill>
                        </a:rPr>
                        <a:t>/ </a:t>
                      </a:r>
                      <a:pPr indent="0" marL="0">
                        <a:buNone/>
                      </a:pPr>
                      <a:r>
                        <a:rPr lang="en-US" sz="1100" dirty="0">
                          <a:solidFill>
                            <a:srgbClr val="1F2937"/>
                          </a:solidFill>
                        </a:rPr>
                        <a:t>실패 </a:t>
                      </a:r>
                      <a:pPr indent="0" marL="0">
                        <a:buNone/>
                      </a:pPr>
                      <a:r>
                        <a:rPr lang="en-US" sz="1100" dirty="0">
                          <a:solidFill>
                            <a:srgbClr val="1F2937"/>
                          </a:solidFill>
                        </a:rPr>
                        <a:t>[건수]건 </a:t>
                      </a:r>
                      <a:pPr indent="0" marL="0">
                        <a:buNone/>
                      </a:pPr>
                      <a:r>
                        <a:rPr lang="en-US" sz="1100" dirty="0">
                          <a:solidFill>
                            <a:srgbClr val="1F2937"/>
                          </a:solidFill>
                        </a:rPr>
                        <a:t>/ </a:t>
                      </a:r>
                      <a:pPr indent="0" marL="0">
                        <a:buNone/>
                      </a:pPr>
                      <a:r>
                        <a:rPr lang="en-US" sz="1100" dirty="0">
                          <a:solidFill>
                            <a:srgbClr val="1F2937"/>
                          </a:solidFill>
                        </a:rPr>
                        <a:t>차단 </a:t>
                      </a:r>
                      <a:pPr indent="0" marL="0">
                        <a:buNone/>
                      </a:pPr>
                      <a:r>
                        <a:rPr lang="en-US" sz="1100" dirty="0">
                          <a:solidFill>
                            <a:srgbClr val="1F2937"/>
                          </a:solidFill>
                        </a:rPr>
                        <a:t>[건수]건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핵심 </a:t>
                      </a:r>
                      <a:pPr indent="0" marL="0">
                        <a:buNone/>
                      </a:pPr>
                      <a:r>
                        <a:rPr lang="en-US" sz="1100" dirty="0">
                          <a:solidFill>
                            <a:srgbClr val="1F2937"/>
                          </a:solidFill>
                        </a:rPr>
                        <a:t>성공 </a:t>
                      </a:r>
                      <a:pPr indent="0" marL="0">
                        <a:buNone/>
                      </a:pPr>
                      <a:r>
                        <a:rPr lang="en-US" sz="1100" dirty="0">
                          <a:solidFill>
                            <a:srgbClr val="1F2937"/>
                          </a:solidFill>
                        </a:rPr>
                        <a:t>기준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섹션 </a:t>
                      </a:r>
                      <a:pPr indent="0" marL="0">
                        <a:buNone/>
                      </a:pPr>
                      <a:r>
                        <a:rPr lang="en-US" sz="1100" dirty="0">
                          <a:solidFill>
                            <a:srgbClr val="1F2937"/>
                          </a:solidFill>
                        </a:rPr>
                        <a:t>저장·재사용 </a:t>
                      </a:r>
                      <a:pPr indent="0" marL="0">
                        <a:buNone/>
                      </a:pPr>
                      <a:r>
                        <a:rPr lang="en-US" sz="1100" dirty="0">
                          <a:solidFill>
                            <a:srgbClr val="1F2937"/>
                          </a:solidFill>
                        </a:rPr>
                        <a:t>[결과] </a:t>
                      </a:r>
                      <a:pPr indent="0" marL="0">
                        <a:buNone/>
                      </a:pPr>
                      <a:r>
                        <a:rPr lang="en-US" sz="1100" dirty="0">
                          <a:solidFill>
                            <a:srgbClr val="1F2937"/>
                          </a:solidFill>
                        </a:rPr>
                        <a:t>/ </a:t>
                      </a:r>
                      <a:pPr indent="0" marL="0">
                        <a:buNone/>
                      </a:pPr>
                      <a:r>
                        <a:rPr lang="en-US" sz="1100" dirty="0">
                          <a:solidFill>
                            <a:srgbClr val="1F2937"/>
                          </a:solidFill>
                        </a:rPr>
                        <a:t>취소 </a:t>
                      </a:r>
                      <a:pPr indent="0" marL="0">
                        <a:buNone/>
                      </a:pPr>
                      <a:r>
                        <a:rPr lang="en-US" sz="1100" dirty="0">
                          <a:solidFill>
                            <a:srgbClr val="1F2937"/>
                          </a:solidFill>
                        </a:rPr>
                        <a:t>후 </a:t>
                      </a:r>
                      <a:pPr indent="0" marL="0">
                        <a:buNone/>
                      </a:pPr>
                      <a:r>
                        <a:rPr lang="en-US" sz="1100" dirty="0">
                          <a:solidFill>
                            <a:srgbClr val="1F2937"/>
                          </a:solidFill>
                        </a:rPr>
                        <a:t>이전 </a:t>
                      </a:r>
                      <a:pPr indent="0" marL="0">
                        <a:buNone/>
                      </a:pPr>
                      <a:r>
                        <a:rPr lang="en-US" sz="1100" dirty="0">
                          <a:solidFill>
                            <a:srgbClr val="1F2937"/>
                          </a:solidFill>
                        </a:rPr>
                        <a:t>응답 </a:t>
                      </a:r>
                      <a:pPr indent="0" marL="0">
                        <a:buNone/>
                      </a:pPr>
                      <a:r>
                        <a:rPr lang="en-US" sz="1100" dirty="0">
                          <a:solidFill>
                            <a:srgbClr val="1F2937"/>
                          </a:solidFill>
                        </a:rPr>
                        <a:t>무시 </a:t>
                      </a:r>
                      <a:pPr indent="0" marL="0">
                        <a:buNone/>
                      </a:pPr>
                      <a:r>
                        <a:rPr lang="en-US" sz="1100" dirty="0">
                          <a:solidFill>
                            <a:srgbClr val="1F2937"/>
                          </a:solidFill>
                        </a:rPr>
                        <a:t>[결과] </a:t>
                      </a:r>
                      <a:pPr indent="0" marL="0">
                        <a:buNone/>
                      </a:pPr>
                      <a:r>
                        <a:rPr lang="en-US" sz="1100" dirty="0">
                          <a:solidFill>
                            <a:srgbClr val="1F2937"/>
                          </a:solidFill>
                        </a:rPr>
                        <a:t>/ </a:t>
                      </a:r>
                      <a:pPr indent="0" marL="0">
                        <a:buNone/>
                      </a:pPr>
                      <a:r>
                        <a:rPr lang="en-US" sz="1100" dirty="0">
                          <a:solidFill>
                            <a:srgbClr val="1F2937"/>
                          </a:solidFill>
                        </a:rPr>
                        <a:t>표·다이어그램 </a:t>
                      </a:r>
                      <a:pPr indent="0" marL="0">
                        <a:buNone/>
                      </a:pPr>
                      <a:r>
                        <a:rPr lang="en-US" sz="1100" dirty="0">
                          <a:solidFill>
                            <a:srgbClr val="1F2937"/>
                          </a:solidFill>
                        </a:rPr>
                        <a:t>누락 </a:t>
                      </a:r>
                      <a:pPr indent="0" marL="0">
                        <a:buNone/>
                      </a:pPr>
                      <a:r>
                        <a:rPr lang="en-US" sz="1100" dirty="0">
                          <a:solidFill>
                            <a:srgbClr val="1F2937"/>
                          </a:solidFill>
                        </a:rPr>
                        <a:t>없음 </a:t>
                      </a:r>
                      <a:pPr indent="0" marL="0">
                        <a:buNone/>
                      </a:pPr>
                      <a:r>
                        <a:rPr lang="en-US" sz="1100" dirty="0">
                          <a:solidFill>
                            <a:srgbClr val="1F2937"/>
                          </a:solidFill>
                        </a:rPr>
                        <a:t>[결과]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Word·PDF </a:t>
                      </a:r>
                      <a:pPr indent="0" marL="0">
                        <a:buNone/>
                      </a:pPr>
                      <a:r>
                        <a:rPr lang="en-US" sz="1100" dirty="0">
                          <a:solidFill>
                            <a:srgbClr val="1F2937"/>
                          </a:solidFill>
                        </a:rPr>
                        <a:t>출력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Word </a:t>
                      </a:r>
                      <a:pPr indent="0" marL="0">
                        <a:buNone/>
                      </a:pPr>
                      <a:r>
                        <a:rPr lang="en-US" sz="1100" dirty="0">
                          <a:solidFill>
                            <a:srgbClr val="1F2937"/>
                          </a:solidFill>
                        </a:rPr>
                        <a:t>[결과] </a:t>
                      </a:r>
                      <a:pPr indent="0" marL="0">
                        <a:buNone/>
                      </a:pPr>
                      <a:r>
                        <a:rPr lang="en-US" sz="1100" dirty="0">
                          <a:solidFill>
                            <a:srgbClr val="1F2937"/>
                          </a:solidFill>
                        </a:rPr>
                        <a:t>/ </a:t>
                      </a:r>
                      <a:pPr indent="0" marL="0">
                        <a:buNone/>
                      </a:pPr>
                      <a:r>
                        <a:rPr lang="en-US" sz="1100" dirty="0">
                          <a:solidFill>
                            <a:srgbClr val="1F2937"/>
                          </a:solidFill>
                        </a:rPr>
                        <a:t>PDF </a:t>
                      </a:r>
                      <a:pPr indent="0" marL="0">
                        <a:buNone/>
                      </a:pPr>
                      <a:r>
                        <a:rPr lang="en-US" sz="1100" dirty="0">
                          <a:solidFill>
                            <a:srgbClr val="1F2937"/>
                          </a:solidFill>
                        </a:rPr>
                        <a:t>[결과]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결함 </a:t>
                      </a:r>
                      <a:pPr indent="0" marL="0">
                        <a:buNone/>
                      </a:pPr>
                      <a:r>
                        <a:rPr lang="en-US" sz="1100" dirty="0">
                          <a:solidFill>
                            <a:srgbClr val="1F2937"/>
                          </a:solidFill>
                        </a:rPr>
                        <a:t>현황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등급별 </a:t>
                      </a:r>
                      <a:pPr indent="0" marL="0">
                        <a:buNone/>
                      </a:pPr>
                      <a:r>
                        <a:rPr lang="en-US" sz="1100" dirty="0">
                          <a:solidFill>
                            <a:srgbClr val="1F2937"/>
                          </a:solidFill>
                        </a:rPr>
                        <a:t>건수와 </a:t>
                      </a:r>
                      <a:pPr indent="0" marL="0">
                        <a:buNone/>
                      </a:pPr>
                      <a:r>
                        <a:rPr lang="en-US" sz="1100" dirty="0">
                          <a:solidFill>
                            <a:srgbClr val="1F2937"/>
                          </a:solidFill>
                        </a:rPr>
                        <a:t>미해결 </a:t>
                      </a:r>
                      <a:pPr indent="0" marL="0">
                        <a:buNone/>
                      </a:pPr>
                      <a:r>
                        <a:rPr lang="en-US" sz="1100" dirty="0">
                          <a:solidFill>
                            <a:srgbClr val="1F2937"/>
                          </a:solidFill>
                        </a:rPr>
                        <a:t>건수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주요 </a:t>
                      </a:r>
                      <a:pPr indent="0" marL="0">
                        <a:buNone/>
                      </a:pPr>
                      <a:r>
                        <a:rPr lang="en-US" sz="1100" dirty="0">
                          <a:solidFill>
                            <a:srgbClr val="1F2937"/>
                          </a:solidFill>
                        </a:rPr>
                        <a:t>위험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[위험 </a:t>
                      </a:r>
                      <a:pPr indent="0" marL="0">
                        <a:buNone/>
                      </a:pPr>
                      <a:r>
                        <a:rPr lang="en-US" sz="1100" dirty="0">
                          <a:solidFill>
                            <a:srgbClr val="1F2937"/>
                          </a:solidFill>
                        </a:rPr>
                        <a:t>및 </a:t>
                      </a:r>
                      <a:pPr indent="0" marL="0">
                        <a:buNone/>
                      </a:pPr>
                      <a:r>
                        <a:rPr lang="en-US" sz="1100" dirty="0">
                          <a:solidFill>
                            <a:srgbClr val="1F2937"/>
                          </a:solidFill>
                        </a:rPr>
                        <a:t>영향]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일정·지원 </a:t>
                      </a:r>
                      <a:pPr indent="0" marL="0">
                        <a:buNone/>
                      </a:pPr>
                      <a:r>
                        <a:rPr lang="en-US" sz="1100" dirty="0">
                          <a:solidFill>
                            <a:srgbClr val="1F2937"/>
                          </a:solidFill>
                        </a:rPr>
                        <a:t>필요 </a:t>
                      </a:r>
                      <a:pPr indent="0" marL="0">
                        <a:buNone/>
                      </a:pPr>
                      <a:r>
                        <a:rPr lang="en-US" sz="1100" dirty="0">
                          <a:solidFill>
                            <a:srgbClr val="1F2937"/>
                          </a:solidFill>
                        </a:rPr>
                        <a:t>사항</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[빌드 </a:t>
                      </a:r>
                      <a:pPr indent="0" marL="0">
                        <a:buNone/>
                      </a:pPr>
                      <a:r>
                        <a:rPr lang="en-US" sz="1100" dirty="0">
                          <a:solidFill>
                            <a:srgbClr val="1F2937"/>
                          </a:solidFill>
                        </a:rPr>
                        <a:t>지연, </a:t>
                      </a:r>
                      <a:pPr indent="0" marL="0">
                        <a:buNone/>
                      </a:pPr>
                      <a:r>
                        <a:rPr lang="en-US" sz="1100" dirty="0">
                          <a:solidFill>
                            <a:srgbClr val="1F2937"/>
                          </a:solidFill>
                        </a:rPr>
                        <a:t>환경, </a:t>
                      </a:r>
                      <a:pPr indent="0" marL="0">
                        <a:buNone/>
                      </a:pPr>
                      <a:r>
                        <a:rPr lang="en-US" sz="1100" dirty="0">
                          <a:solidFill>
                            <a:srgbClr val="1F2937"/>
                          </a:solidFill>
                        </a:rPr>
                        <a:t>담당자 </a:t>
                      </a:r>
                      <a:pPr indent="0" marL="0">
                        <a:buNone/>
                      </a:pPr>
                      <a:r>
                        <a:rPr lang="en-US" sz="1100" dirty="0">
                          <a:solidFill>
                            <a:srgbClr val="1F2937"/>
                          </a:solidFill>
                        </a:rPr>
                        <a:t>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다음 </a:t>
                      </a:r>
                      <a:pPr indent="0" marL="0">
                        <a:buNone/>
                      </a:pPr>
                      <a:r>
                        <a:rPr lang="en-US" sz="1100" dirty="0">
                          <a:solidFill>
                            <a:srgbClr val="1F2937"/>
                          </a:solidFill>
                        </a:rPr>
                        <a:t>기간 </a:t>
                      </a:r>
                      <a:pPr indent="0" marL="0">
                        <a:buNone/>
                      </a:pPr>
                      <a:r>
                        <a:rPr lang="en-US" sz="1100" dirty="0">
                          <a:solidFill>
                            <a:srgbClr val="1F2937"/>
                          </a:solidFill>
                        </a:rPr>
                        <a:t>계획</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[예정 </a:t>
                      </a:r>
                      <a:pPr indent="0" marL="0">
                        <a:buNone/>
                      </a:pPr>
                      <a:r>
                        <a:rPr lang="en-US" sz="1100" dirty="0">
                          <a:solidFill>
                            <a:srgbClr val="1F2937"/>
                          </a:solidFill>
                        </a:rPr>
                        <a:t>시험과 </a:t>
                      </a:r>
                      <a:pPr indent="0" marL="0">
                        <a:buNone/>
                      </a:pPr>
                      <a:r>
                        <a:rPr lang="en-US" sz="1100" dirty="0">
                          <a:solidFill>
                            <a:srgbClr val="1F2937"/>
                          </a:solidFill>
                        </a:rPr>
                        <a:t>선행 </a:t>
                      </a:r>
                      <a:pPr indent="0" marL="0">
                        <a:buNone/>
                      </a:pPr>
                      <a:r>
                        <a:rPr lang="en-US" sz="1100" dirty="0">
                          <a:solidFill>
                            <a:srgbClr val="1F2937"/>
                          </a:solidFill>
                        </a:rPr>
                        <a:t>조건]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10.2 주간 보고 양식 (2/2)</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532185"/>
                <a:gridCol w="5697415"/>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내용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승인·확인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 </a:t>
                      </a:r>
                      <a:pPr indent="0" marL="0">
                        <a:buNone/>
                      </a:pPr>
                      <a:r>
                        <a:rPr lang="en-US" sz="1100" dirty="0">
                          <a:solidFill>
                            <a:srgbClr val="1F2937"/>
                          </a:solidFill>
                        </a:rPr>
                        <a:t>항목 </a:t>
                      </a:r>
                      <a:pPr indent="0" marL="0">
                        <a:buNone/>
                      </a:pPr>
                      <a:r>
                        <a:rPr lang="en-US" sz="1100" dirty="0">
                          <a:solidFill>
                            <a:srgbClr val="1F2937"/>
                          </a:solidFill>
                        </a:rPr>
                        <a:t>및 </a:t>
                      </a:r>
                      <a:pPr indent="0" marL="0">
                        <a:buNone/>
                      </a:pPr>
                      <a:r>
                        <a:rPr lang="en-US" sz="1100" dirty="0">
                          <a:solidFill>
                            <a:srgbClr val="1F2937"/>
                          </a:solidFill>
                        </a:rPr>
                        <a:t>결정 </a:t>
                      </a:r>
                      <a:pPr indent="0" marL="0">
                        <a:buNone/>
                      </a:pPr>
                      <a:r>
                        <a:rPr lang="en-US" sz="1100" dirty="0">
                          <a:solidFill>
                            <a:srgbClr val="1F2937"/>
                          </a:solidFill>
                        </a:rPr>
                        <a:t>필요자]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11. 성능 테스트 계획</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11.1 성능 목표</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회의에서 사용자 수 목표와 예산은 미정이며, 응답 시간·처리량·동시 사용자 목표도 정하지 않았습니다. 따라서 아래 수치를 합격 기준으로 사용하지 않습니다. 목표가 승인되기 전에는 실제 시험 환경·데이터·관찰값을 기록하는 탐색 측정만 제안합니다.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11.1 성능 목표</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299447"/>
                <a:gridCol w="2662518"/>
                <a:gridCol w="3267635"/>
              </a:tblGrid>
              <a:tr h="0">
                <a:tc>
                  <a:txBody>
                    <a:bodyPr/>
                    <a:lstStyle/>
                    <a:p>
                      <a:pPr indent="0" marL="0">
                        <a:buNone/>
                      </a:pPr>
                      <a:r>
                        <a:rPr lang="en-US" sz="1200" b="1" dirty="0">
                          <a:solidFill>
                            <a:srgbClr val="FFFFFF"/>
                          </a:solidFill>
                        </a:rPr>
                        <a:t>지표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목표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측정 </a:t>
                      </a:r>
                      <a:pPr indent="0" marL="0">
                        <a:buNone/>
                      </a:pPr>
                      <a:r>
                        <a:rPr lang="en-US" sz="1200" b="1" dirty="0">
                          <a:solidFill>
                            <a:srgbClr val="FFFFFF"/>
                          </a:solidFill>
                        </a:rPr>
                        <a:t>방법 </a:t>
                      </a:r>
                      <a:pPr indent="0" marL="0">
                        <a:buNone/>
                      </a:pPr>
                      <a:r>
                        <a:rPr lang="en-US" sz="1200" b="1" dirty="0">
                          <a:solidFill>
                            <a:srgbClr val="FFFFFF"/>
                          </a:solidFill>
                        </a:rPr>
                        <a:t>제안</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로그인·입력 </a:t>
                      </a:r>
                      <a:pPr indent="0" marL="0">
                        <a:buNone/>
                      </a:pPr>
                      <a:r>
                        <a:rPr lang="en-US" sz="1100" dirty="0">
                          <a:solidFill>
                            <a:srgbClr val="1F2937"/>
                          </a:solidFill>
                        </a:rPr>
                        <a:t>화면 </a:t>
                      </a:r>
                      <a:pPr indent="0" marL="0">
                        <a:buNone/>
                      </a:pPr>
                      <a:r>
                        <a:rPr lang="en-US" sz="1100" dirty="0">
                          <a:solidFill>
                            <a:srgbClr val="1F2937"/>
                          </a:solidFill>
                        </a:rPr>
                        <a:t>응답 </a:t>
                      </a:r>
                      <a:pPr indent="0" marL="0">
                        <a:buNone/>
                      </a:pPr>
                      <a:r>
                        <a:rPr lang="en-US" sz="1100" dirty="0">
                          <a:solidFill>
                            <a:srgbClr val="1F2937"/>
                          </a:solidFill>
                        </a:rPr>
                        <a:t>시간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브라우저 </a:t>
                      </a:r>
                      <a:pPr indent="0" marL="0">
                        <a:buNone/>
                      </a:pPr>
                      <a:r>
                        <a:rPr lang="en-US" sz="1100" dirty="0">
                          <a:solidFill>
                            <a:srgbClr val="1F2937"/>
                          </a:solidFill>
                        </a:rPr>
                        <a:t>개발자 </a:t>
                      </a:r>
                      <a:pPr indent="0" marL="0">
                        <a:buNone/>
                      </a:pPr>
                      <a:r>
                        <a:rPr lang="en-US" sz="1100" dirty="0">
                          <a:solidFill>
                            <a:srgbClr val="1F2937"/>
                          </a:solidFill>
                        </a:rPr>
                        <a:t>도구 </a:t>
                      </a:r>
                      <a:pPr indent="0" marL="0">
                        <a:buNone/>
                      </a:pPr>
                      <a:r>
                        <a:rPr lang="en-US" sz="1100" dirty="0">
                          <a:solidFill>
                            <a:srgbClr val="1F2937"/>
                          </a:solidFill>
                        </a:rPr>
                        <a:t>또는 </a:t>
                      </a:r>
                      <a:pPr indent="0" marL="0">
                        <a:buNone/>
                      </a:pPr>
                      <a:r>
                        <a:rPr lang="en-US" sz="1100" dirty="0">
                          <a:solidFill>
                            <a:srgbClr val="1F2937"/>
                          </a:solidFill>
                        </a:rPr>
                        <a:t>선택한 </a:t>
                      </a:r>
                      <a:pPr indent="0" marL="0">
                        <a:buNone/>
                      </a:pPr>
                      <a:r>
                        <a:rPr lang="en-US" sz="1100" dirty="0">
                          <a:solidFill>
                            <a:srgbClr val="1F2937"/>
                          </a:solidFill>
                        </a:rPr>
                        <a:t>성능 </a:t>
                      </a:r>
                      <a:pPr indent="0" marL="0">
                        <a:buNone/>
                      </a:pPr>
                      <a:r>
                        <a:rPr lang="en-US" sz="1100" dirty="0">
                          <a:solidFill>
                            <a:srgbClr val="1F2937"/>
                          </a:solidFill>
                        </a:rPr>
                        <a:t>측정 </a:t>
                      </a:r>
                      <a:pPr indent="0" marL="0">
                        <a:buNone/>
                      </a:pPr>
                      <a:r>
                        <a:rPr lang="en-US" sz="1100" dirty="0">
                          <a:solidFill>
                            <a:srgbClr val="1F2937"/>
                          </a:solidFill>
                        </a:rPr>
                        <a:t>도구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문서 </a:t>
                      </a:r>
                      <a:pPr indent="0" marL="0">
                        <a:buNone/>
                      </a:pPr>
                      <a:r>
                        <a:rPr lang="en-US" sz="1100" dirty="0">
                          <a:solidFill>
                            <a:srgbClr val="1F2937"/>
                          </a:solidFill>
                        </a:rPr>
                        <a:t>생성 </a:t>
                      </a:r>
                      <a:pPr indent="0" marL="0">
                        <a:buNone/>
                      </a:pPr>
                      <a:r>
                        <a:rPr lang="en-US" sz="1100" dirty="0">
                          <a:solidFill>
                            <a:srgbClr val="1F2937"/>
                          </a:solidFill>
                        </a:rPr>
                        <a:t>완료 </a:t>
                      </a:r>
                      <a:pPr indent="0" marL="0">
                        <a:buNone/>
                      </a:pPr>
                      <a:r>
                        <a:rPr lang="en-US" sz="1100" dirty="0">
                          <a:solidFill>
                            <a:srgbClr val="1F2937"/>
                          </a:solidFill>
                        </a:rPr>
                        <a:t>시간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미정. </a:t>
                      </a:r>
                      <a:pPr indent="0" marL="0">
                        <a:buNone/>
                      </a:pPr>
                      <a:r>
                        <a:rPr lang="en-US" sz="1100" dirty="0">
                          <a:solidFill>
                            <a:srgbClr val="1F2937"/>
                          </a:solidFill>
                        </a:rPr>
                        <a:t>입력 </a:t>
                      </a:r>
                      <a:pPr indent="0" marL="0">
                        <a:buNone/>
                      </a:pPr>
                      <a:r>
                        <a:rPr lang="en-US" sz="1100" dirty="0">
                          <a:solidFill>
                            <a:srgbClr val="1F2937"/>
                          </a:solidFill>
                        </a:rPr>
                        <a:t>크기와 </a:t>
                      </a:r>
                      <a:pPr indent="0" marL="0">
                        <a:buNone/>
                      </a:pPr>
                      <a:r>
                        <a:rPr lang="en-US" sz="1100" dirty="0">
                          <a:solidFill>
                            <a:srgbClr val="1F2937"/>
                          </a:solidFill>
                        </a:rPr>
                        <a:t>섹션 </a:t>
                      </a:r>
                      <a:pPr indent="0" marL="0">
                        <a:buNone/>
                      </a:pPr>
                      <a:r>
                        <a:rPr lang="en-US" sz="1100" dirty="0">
                          <a:solidFill>
                            <a:srgbClr val="1F2937"/>
                          </a:solidFill>
                        </a:rPr>
                        <a:t>수별 </a:t>
                      </a:r>
                      <a:pPr indent="0" marL="0">
                        <a:buNone/>
                      </a:pPr>
                      <a:r>
                        <a:rPr lang="en-US" sz="1100" dirty="0">
                          <a:solidFill>
                            <a:srgbClr val="1F2937"/>
                          </a:solidFill>
                        </a:rPr>
                        <a:t>목표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생성 </a:t>
                      </a:r>
                      <a:pPr indent="0" marL="0">
                        <a:buNone/>
                      </a:pPr>
                      <a:r>
                        <a:rPr lang="en-US" sz="1100" dirty="0">
                          <a:solidFill>
                            <a:srgbClr val="1F2937"/>
                          </a:solidFill>
                        </a:rPr>
                        <a:t>요청 </a:t>
                      </a:r>
                      <a:pPr indent="0" marL="0">
                        <a:buNone/>
                      </a:pPr>
                      <a:r>
                        <a:rPr lang="en-US" sz="1100" dirty="0">
                          <a:solidFill>
                            <a:srgbClr val="1F2937"/>
                          </a:solidFill>
                        </a:rPr>
                        <a:t>시작부터 </a:t>
                      </a:r>
                      <a:pPr indent="0" marL="0">
                        <a:buNone/>
                      </a:pPr>
                      <a:r>
                        <a:rPr lang="en-US" sz="1100" dirty="0">
                          <a:solidFill>
                            <a:srgbClr val="1F2937"/>
                          </a:solidFill>
                        </a:rPr>
                        <a:t>결과 </a:t>
                      </a:r>
                      <a:pPr indent="0" marL="0">
                        <a:buNone/>
                      </a:pPr>
                      <a:r>
                        <a:rPr lang="en-US" sz="1100" dirty="0">
                          <a:solidFill>
                            <a:srgbClr val="1F2937"/>
                          </a:solidFill>
                        </a:rPr>
                        <a:t>표시까지 </a:t>
                      </a:r>
                      <a:pPr indent="0" marL="0">
                        <a:buNone/>
                      </a:pPr>
                      <a:r>
                        <a:rPr lang="en-US" sz="1100" dirty="0">
                          <a:solidFill>
                            <a:srgbClr val="1F2937"/>
                          </a:solidFill>
                        </a:rPr>
                        <a:t>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섹션 </a:t>
                      </a:r>
                      <a:pPr indent="0" marL="0">
                        <a:buNone/>
                      </a:pPr>
                      <a:r>
                        <a:rPr lang="en-US" sz="1100" dirty="0">
                          <a:solidFill>
                            <a:srgbClr val="1F2937"/>
                          </a:solidFill>
                        </a:rPr>
                        <a:t>저장·불러오기 </a:t>
                      </a:r>
                      <a:pPr indent="0" marL="0">
                        <a:buNone/>
                      </a:pPr>
                      <a:r>
                        <a:rPr lang="en-US" sz="1100" dirty="0">
                          <a:solidFill>
                            <a:srgbClr val="1F2937"/>
                          </a:solidFill>
                        </a:rPr>
                        <a:t>시간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기기 </a:t>
                      </a:r>
                      <a:pPr indent="0" marL="0">
                        <a:buNone/>
                      </a:pPr>
                      <a:r>
                        <a:rPr lang="en-US" sz="1100" dirty="0">
                          <a:solidFill>
                            <a:srgbClr val="1F2937"/>
                          </a:solidFill>
                        </a:rPr>
                        <a:t>저장 </a:t>
                      </a:r>
                      <a:pPr indent="0" marL="0">
                        <a:buNone/>
                      </a:pPr>
                      <a:r>
                        <a:rPr lang="en-US" sz="1100" dirty="0">
                          <a:solidFill>
                            <a:srgbClr val="1F2937"/>
                          </a:solidFill>
                        </a:rPr>
                        <a:t>완료 </a:t>
                      </a:r>
                      <a:pPr indent="0" marL="0">
                        <a:buNone/>
                      </a:pPr>
                      <a:r>
                        <a:rPr lang="en-US" sz="1100" dirty="0">
                          <a:solidFill>
                            <a:srgbClr val="1F2937"/>
                          </a:solidFill>
                        </a:rPr>
                        <a:t>및 </a:t>
                      </a:r>
                      <a:pPr indent="0" marL="0">
                        <a:buNone/>
                      </a:pPr>
                      <a:r>
                        <a:rPr lang="en-US" sz="1100" dirty="0">
                          <a:solidFill>
                            <a:srgbClr val="1F2937"/>
                          </a:solidFill>
                        </a:rPr>
                        <a:t>복귀 </a:t>
                      </a:r>
                      <a:pPr indent="0" marL="0">
                        <a:buNone/>
                      </a:pPr>
                      <a:r>
                        <a:rPr lang="en-US" sz="1100" dirty="0">
                          <a:solidFill>
                            <a:srgbClr val="1F2937"/>
                          </a:solidFill>
                        </a:rPr>
                        <a:t>후 </a:t>
                      </a:r>
                      <a:pPr indent="0" marL="0">
                        <a:buNone/>
                      </a:pPr>
                      <a:r>
                        <a:rPr lang="en-US" sz="1100" dirty="0">
                          <a:solidFill>
                            <a:srgbClr val="1F2937"/>
                          </a:solidFill>
                        </a:rPr>
                        <a:t>복원 </a:t>
                      </a:r>
                      <a:pPr indent="0" marL="0">
                        <a:buNone/>
                      </a:pPr>
                      <a:r>
                        <a:rPr lang="en-US" sz="1100" dirty="0">
                          <a:solidFill>
                            <a:srgbClr val="1F2937"/>
                          </a:solidFill>
                        </a:rPr>
                        <a:t>시간 </a:t>
                      </a:r>
                      <a:pPr indent="0" marL="0">
                        <a:buNone/>
                      </a:pPr>
                      <a:r>
                        <a:rPr lang="en-US" sz="1100" dirty="0">
                          <a:solidFill>
                            <a:srgbClr val="1F2937"/>
                          </a:solidFill>
                        </a:rPr>
                        <a:t>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Word·PDF </a:t>
                      </a:r>
                      <a:pPr indent="0" marL="0">
                        <a:buNone/>
                      </a:pPr>
                      <a:r>
                        <a:rPr lang="en-US" sz="1100" dirty="0">
                          <a:solidFill>
                            <a:srgbClr val="1F2937"/>
                          </a:solidFill>
                        </a:rPr>
                        <a:t>생성·내려받기 </a:t>
                      </a:r>
                      <a:pPr indent="0" marL="0">
                        <a:buNone/>
                      </a:pPr>
                      <a:r>
                        <a:rPr lang="en-US" sz="1100" dirty="0">
                          <a:solidFill>
                            <a:srgbClr val="1F2937"/>
                          </a:solidFill>
                        </a:rPr>
                        <a:t>시간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생성 </a:t>
                      </a:r>
                      <a:pPr indent="0" marL="0">
                        <a:buNone/>
                      </a:pPr>
                      <a:r>
                        <a:rPr lang="en-US" sz="1100" dirty="0">
                          <a:solidFill>
                            <a:srgbClr val="1F2937"/>
                          </a:solidFill>
                        </a:rPr>
                        <a:t>시작부터 </a:t>
                      </a:r>
                      <a:pPr indent="0" marL="0">
                        <a:buNone/>
                      </a:pPr>
                      <a:r>
                        <a:rPr lang="en-US" sz="1100" dirty="0">
                          <a:solidFill>
                            <a:srgbClr val="1F2937"/>
                          </a:solidFill>
                        </a:rPr>
                        <a:t>파일 </a:t>
                      </a:r>
                      <a:pPr indent="0" marL="0">
                        <a:buNone/>
                      </a:pPr>
                      <a:r>
                        <a:rPr lang="en-US" sz="1100" dirty="0">
                          <a:solidFill>
                            <a:srgbClr val="1F2937"/>
                          </a:solidFill>
                        </a:rPr>
                        <a:t>준비 </a:t>
                      </a:r>
                      <a:pPr indent="0" marL="0">
                        <a:buNone/>
                      </a:pPr>
                      <a:r>
                        <a:rPr lang="en-US" sz="1100" dirty="0">
                          <a:solidFill>
                            <a:srgbClr val="1F2937"/>
                          </a:solidFill>
                        </a:rPr>
                        <a:t>및 </a:t>
                      </a:r>
                      <a:pPr indent="0" marL="0">
                        <a:buNone/>
                      </a:pPr>
                      <a:r>
                        <a:rPr lang="en-US" sz="1100" dirty="0">
                          <a:solidFill>
                            <a:srgbClr val="1F2937"/>
                          </a:solidFill>
                        </a:rPr>
                        <a:t>내려받기까지 </a:t>
                      </a:r>
                      <a:pPr indent="0" marL="0">
                        <a:buNone/>
                      </a:pPr>
                      <a:r>
                        <a:rPr lang="en-US" sz="1100" dirty="0">
                          <a:solidFill>
                            <a:srgbClr val="1F2937"/>
                          </a:solidFill>
                        </a:rPr>
                        <a:t>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실패율·재시도율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성공·실패 </a:t>
                      </a:r>
                      <a:pPr indent="0" marL="0">
                        <a:buNone/>
                      </a:pPr>
                      <a:r>
                        <a:rPr lang="en-US" sz="1100" dirty="0">
                          <a:solidFill>
                            <a:srgbClr val="1F2937"/>
                          </a:solidFill>
                        </a:rPr>
                        <a:t>응답과 </a:t>
                      </a:r>
                      <a:pPr indent="0" marL="0">
                        <a:buNone/>
                      </a:pPr>
                      <a:r>
                        <a:rPr lang="en-US" sz="1100" dirty="0">
                          <a:solidFill>
                            <a:srgbClr val="1F2937"/>
                          </a:solidFill>
                        </a:rPr>
                        <a:t>재시도 </a:t>
                      </a:r>
                      <a:pPr indent="0" marL="0">
                        <a:buNone/>
                      </a:pPr>
                      <a:r>
                        <a:rPr lang="en-US" sz="1100" dirty="0">
                          <a:solidFill>
                            <a:srgbClr val="1F2937"/>
                          </a:solidFill>
                        </a:rPr>
                        <a:t>횟수 </a:t>
                      </a:r>
                      <a:pPr indent="0" marL="0">
                        <a:buNone/>
                      </a:pPr>
                      <a:r>
                        <a:rPr lang="en-US" sz="1100" dirty="0">
                          <a:solidFill>
                            <a:srgbClr val="1F2937"/>
                          </a:solidFill>
                        </a:rPr>
                        <a:t>기록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동시 </a:t>
                      </a:r>
                      <a:pPr indent="0" marL="0">
                        <a:buNone/>
                      </a:pPr>
                      <a:r>
                        <a:rPr lang="en-US" sz="1100" dirty="0">
                          <a:solidFill>
                            <a:srgbClr val="1F2937"/>
                          </a:solidFill>
                        </a:rPr>
                        <a:t>사용자·처리량</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 </a:t>
                      </a:r>
                      <a:pPr indent="0" marL="0">
                        <a:buNone/>
                      </a:pPr>
                      <a:r>
                        <a:rPr lang="en-US" sz="1100" dirty="0">
                          <a:solidFill>
                            <a:srgbClr val="1F2937"/>
                          </a:solidFill>
                        </a:rPr>
                        <a:t>수 </a:t>
                      </a:r>
                      <a:pPr indent="0" marL="0">
                        <a:buNone/>
                      </a:pPr>
                      <a:r>
                        <a:rPr lang="en-US" sz="1100" dirty="0">
                          <a:solidFill>
                            <a:srgbClr val="1F2937"/>
                          </a:solidFill>
                        </a:rPr>
                        <a:t>목표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목표 </a:t>
                      </a:r>
                      <a:pPr indent="0" marL="0">
                        <a:buNone/>
                      </a:pPr>
                      <a:r>
                        <a:rPr lang="en-US" sz="1100" dirty="0">
                          <a:solidFill>
                            <a:srgbClr val="1F2937"/>
                          </a:solidFill>
                        </a:rPr>
                        <a:t>확정 </a:t>
                      </a:r>
                      <a:pPr indent="0" marL="0">
                        <a:buNone/>
                      </a:pPr>
                      <a:r>
                        <a:rPr lang="en-US" sz="1100" dirty="0">
                          <a:solidFill>
                            <a:srgbClr val="1F2937"/>
                          </a:solidFill>
                        </a:rPr>
                        <a:t>후 </a:t>
                      </a:r>
                      <a:pPr indent="0" marL="0">
                        <a:buNone/>
                      </a:pPr>
                      <a:r>
                        <a:rPr lang="en-US" sz="1100" dirty="0">
                          <a:solidFill>
                            <a:srgbClr val="1F2937"/>
                          </a:solidFill>
                        </a:rPr>
                        <a:t>승인된 </a:t>
                      </a:r>
                      <a:pPr indent="0" marL="0">
                        <a:buNone/>
                      </a:pPr>
                      <a:r>
                        <a:rPr lang="en-US" sz="1100" dirty="0">
                          <a:solidFill>
                            <a:srgbClr val="1F2937"/>
                          </a:solidFill>
                        </a:rPr>
                        <a:t>부하 </a:t>
                      </a:r>
                      <a:pPr indent="0" marL="0">
                        <a:buNone/>
                      </a:pPr>
                      <a:r>
                        <a:rPr lang="en-US" sz="1100" dirty="0">
                          <a:solidFill>
                            <a:srgbClr val="1F2937"/>
                          </a:solidFill>
                        </a:rPr>
                        <a:t>도구로 </a:t>
                      </a:r>
                      <a:pPr indent="0" marL="0">
                        <a:buNone/>
                      </a:pPr>
                      <a:r>
                        <a:rPr lang="en-US" sz="1100" dirty="0">
                          <a:solidFill>
                            <a:srgbClr val="1F2937"/>
                          </a:solidFill>
                        </a:rPr>
                        <a:t>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11.1 성능 목표</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측정 전 확인 사항:</a:t>
            </a:r>
            <a:pPr indent="0" marL="0">
              <a:spcAft>
                <a:spcPts val="800"/>
              </a:spcAft>
              <a:buNone/>
            </a:pPr>
            <a:r>
              <a:rPr lang="en-US" sz="1600" dirty="0">
                <a:solidFill>
                  <a:srgbClr val="4B5563"/>
                </a:solidFill>
              </a:rPr>
              <a:t> 생성 작업이 기기에서 처리되는지 서버에서 처리되는지, 생성 요청 구조, 예상 입력 크기, 사용자 수 목표, 시험 환경의 서버 구성과 제한을 확인해야 합니다. 이 정보가 확인되지 않으면 부하 시험 결과를 운영 성능의 대리 지표로 단정하지 않습니다.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11.2 부하 시험 시나리오</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사용자 수와 지속 시간은 회의에서 정하지 않았습니다. 아래 단계는 시험 범위를 점진적으로 넓히기 위한 제안이며, 실행 전 성능 목표·환경 용량·비용 승인을 확인합니다.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11.2 부하 시험 시나리오</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925830"/>
                <a:gridCol w="2571750"/>
                <a:gridCol w="2983230"/>
                <a:gridCol w="1748790"/>
              </a:tblGrid>
              <a:tr h="0">
                <a:tc>
                  <a:txBody>
                    <a:bodyPr/>
                    <a:lstStyle/>
                    <a:p>
                      <a:pPr indent="0" marL="0">
                        <a:buNone/>
                      </a:pPr>
                      <a:r>
                        <a:rPr lang="en-US" sz="1200" b="1" dirty="0">
                          <a:solidFill>
                            <a:srgbClr val="FFFFFF"/>
                          </a:solidFill>
                        </a:rPr>
                        <a:t>시나리오</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부하 </a:t>
                      </a:r>
                      <a:pPr indent="0" marL="0">
                        <a:buNone/>
                      </a:pPr>
                      <a:r>
                        <a:rPr lang="en-US" sz="1200" b="1" dirty="0">
                          <a:solidFill>
                            <a:srgbClr val="FFFFFF"/>
                          </a:solidFill>
                        </a:rPr>
                        <a:t>설정</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목적</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합격 </a:t>
                      </a:r>
                      <a:pPr indent="0" marL="0">
                        <a:buNone/>
                      </a:pPr>
                      <a:r>
                        <a:rPr lang="en-US" sz="1200" b="1" dirty="0">
                          <a:solidFill>
                            <a:srgbClr val="FFFFFF"/>
                          </a:solidFill>
                        </a:rPr>
                        <a:t>기준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기준선 </a:t>
                      </a:r>
                      <a:pPr indent="0" marL="0">
                        <a:buNone/>
                      </a:pPr>
                      <a:r>
                        <a:rPr lang="en-US" sz="1100" dirty="0">
                          <a:solidFill>
                            <a:srgbClr val="1F2937"/>
                          </a:solidFill>
                        </a:rPr>
                        <a:t>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단일 </a:t>
                      </a:r>
                      <a:pPr indent="0" marL="0">
                        <a:buNone/>
                      </a:pPr>
                      <a:r>
                        <a:rPr lang="en-US" sz="1100" dirty="0">
                          <a:solidFill>
                            <a:srgbClr val="1F2937"/>
                          </a:solidFill>
                        </a:rPr>
                        <a:t>사용자 </a:t>
                      </a:r>
                      <a:pPr indent="0" marL="0">
                        <a:buNone/>
                      </a:pPr>
                      <a:r>
                        <a:rPr lang="en-US" sz="1100" dirty="0">
                          <a:solidFill>
                            <a:srgbClr val="1F2937"/>
                          </a:solidFill>
                        </a:rPr>
                        <a:t>중심, </a:t>
                      </a:r>
                      <a:pPr indent="0" marL="0">
                        <a:buNone/>
                      </a:pPr>
                      <a:r>
                        <a:rPr lang="en-US" sz="1100" dirty="0">
                          <a:solidFill>
                            <a:srgbClr val="1F2937"/>
                          </a:solidFill>
                        </a:rPr>
                        <a:t>시험 </a:t>
                      </a:r>
                      <a:pPr indent="0" marL="0">
                        <a:buNone/>
                      </a:pPr>
                      <a:r>
                        <a:rPr lang="en-US" sz="1100" dirty="0">
                          <a:solidFill>
                            <a:srgbClr val="1F2937"/>
                          </a:solidFill>
                        </a:rPr>
                        <a:t>자료 </a:t>
                      </a:r>
                      <a:pPr indent="0" marL="0">
                        <a:buNone/>
                      </a:pPr>
                      <a:r>
                        <a:rPr lang="en-US" sz="1100" dirty="0">
                          <a:solidFill>
                            <a:srgbClr val="1F2937"/>
                          </a:solidFill>
                        </a:rPr>
                        <a:t>몇 </a:t>
                      </a:r>
                      <a:pPr indent="0" marL="0">
                        <a:buNone/>
                      </a:pPr>
                      <a:r>
                        <a:rPr lang="en-US" sz="1100" dirty="0">
                          <a:solidFill>
                            <a:srgbClr val="1F2937"/>
                          </a:solidFill>
                        </a:rPr>
                        <a:t>종류를 </a:t>
                      </a:r>
                      <a:pPr indent="0" marL="0">
                        <a:buNone/>
                      </a:pPr>
                      <a:r>
                        <a:rPr lang="en-US" sz="1100" dirty="0">
                          <a:solidFill>
                            <a:srgbClr val="1F2937"/>
                          </a:solidFill>
                        </a:rPr>
                        <a:t>반복</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기본 </a:t>
                      </a:r>
                      <a:pPr indent="0" marL="0">
                        <a:buNone/>
                      </a:pPr>
                      <a:r>
                        <a:rPr lang="en-US" sz="1100" dirty="0">
                          <a:solidFill>
                            <a:srgbClr val="1F2937"/>
                          </a:solidFill>
                        </a:rPr>
                        <a:t>생성·저장·내려받기 </a:t>
                      </a:r>
                      <a:pPr indent="0" marL="0">
                        <a:buNone/>
                      </a:pPr>
                      <a:r>
                        <a:rPr lang="en-US" sz="1100" dirty="0">
                          <a:solidFill>
                            <a:srgbClr val="1F2937"/>
                          </a:solidFill>
                        </a:rPr>
                        <a:t>시간 </a:t>
                      </a:r>
                      <a:pPr indent="0" marL="0">
                        <a:buNone/>
                      </a:pPr>
                      <a:r>
                        <a:rPr lang="en-US" sz="1100" dirty="0">
                          <a:solidFill>
                            <a:srgbClr val="1F2937"/>
                          </a:solidFill>
                        </a:rPr>
                        <a:t>기록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목표 </a:t>
                      </a:r>
                      <a:pPr indent="0" marL="0">
                        <a:buNone/>
                      </a:pPr>
                      <a:r>
                        <a:rPr lang="en-US" sz="1100" dirty="0">
                          <a:solidFill>
                            <a:srgbClr val="1F2937"/>
                          </a:solidFill>
                        </a:rPr>
                        <a:t>미정, </a:t>
                      </a:r>
                      <a:pPr indent="0" marL="0">
                        <a:buNone/>
                      </a:pPr>
                      <a:r>
                        <a:rPr lang="en-US" sz="1100" dirty="0">
                          <a:solidFill>
                            <a:srgbClr val="1F2937"/>
                          </a:solidFill>
                        </a:rPr>
                        <a:t>기준선 </a:t>
                      </a:r>
                      <a:pPr indent="0" marL="0">
                        <a:buNone/>
                      </a:pPr>
                      <a:r>
                        <a:rPr lang="en-US" sz="1100" dirty="0">
                          <a:solidFill>
                            <a:srgbClr val="1F2937"/>
                          </a:solidFill>
                        </a:rPr>
                        <a:t>기록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점진 </a:t>
                      </a:r>
                      <a:pPr indent="0" marL="0">
                        <a:buNone/>
                      </a:pPr>
                      <a:r>
                        <a:rPr lang="en-US" sz="1100" dirty="0">
                          <a:solidFill>
                            <a:srgbClr val="1F2937"/>
                          </a:solidFill>
                        </a:rPr>
                        <a:t>증가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승인된 </a:t>
                      </a:r>
                      <a:pPr indent="0" marL="0">
                        <a:buNone/>
                      </a:pPr>
                      <a:r>
                        <a:rPr lang="en-US" sz="1100" dirty="0">
                          <a:solidFill>
                            <a:srgbClr val="1F2937"/>
                          </a:solidFill>
                        </a:rPr>
                        <a:t>사용자 </a:t>
                      </a:r>
                      <a:pPr indent="0" marL="0">
                        <a:buNone/>
                      </a:pPr>
                      <a:r>
                        <a:rPr lang="en-US" sz="1100" dirty="0">
                          <a:solidFill>
                            <a:srgbClr val="1F2937"/>
                          </a:solidFill>
                        </a:rPr>
                        <a:t>수를 </a:t>
                      </a:r>
                      <a:pPr indent="0" marL="0">
                        <a:buNone/>
                      </a:pPr>
                      <a:r>
                        <a:rPr lang="en-US" sz="1100" dirty="0">
                          <a:solidFill>
                            <a:srgbClr val="1F2937"/>
                          </a:solidFill>
                        </a:rPr>
                        <a:t>단계별로 </a:t>
                      </a:r>
                      <a:pPr indent="0" marL="0">
                        <a:buNone/>
                      </a:pPr>
                      <a:r>
                        <a:rPr lang="en-US" sz="1100" dirty="0">
                          <a:solidFill>
                            <a:srgbClr val="1F2937"/>
                          </a:solidFill>
                        </a:rPr>
                        <a:t>증가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부하 </a:t>
                      </a:r>
                      <a:pPr indent="0" marL="0">
                        <a:buNone/>
                      </a:pPr>
                      <a:r>
                        <a:rPr lang="en-US" sz="1100" dirty="0">
                          <a:solidFill>
                            <a:srgbClr val="1F2937"/>
                          </a:solidFill>
                        </a:rPr>
                        <a:t>증가에 </a:t>
                      </a:r>
                      <a:pPr indent="0" marL="0">
                        <a:buNone/>
                      </a:pPr>
                      <a:r>
                        <a:rPr lang="en-US" sz="1100" dirty="0">
                          <a:solidFill>
                            <a:srgbClr val="1F2937"/>
                          </a:solidFill>
                        </a:rPr>
                        <a:t>따른 </a:t>
                      </a:r>
                      <a:pPr indent="0" marL="0">
                        <a:buNone/>
                      </a:pPr>
                      <a:r>
                        <a:rPr lang="en-US" sz="1100" dirty="0">
                          <a:solidFill>
                            <a:srgbClr val="1F2937"/>
                          </a:solidFill>
                        </a:rPr>
                        <a:t>지연·오류 </a:t>
                      </a:r>
                      <a:pPr indent="0" marL="0">
                        <a:buNone/>
                      </a:pPr>
                      <a:r>
                        <a:rPr lang="en-US" sz="1100" dirty="0">
                          <a:solidFill>
                            <a:srgbClr val="1F2937"/>
                          </a:solidFill>
                        </a:rPr>
                        <a:t>변화 </a:t>
                      </a:r>
                      <a:pPr indent="0" marL="0">
                        <a:buNone/>
                      </a:pPr>
                      <a:r>
                        <a:rPr lang="en-US" sz="1100" dirty="0">
                          <a:solidFill>
                            <a:srgbClr val="1F2937"/>
                          </a:solidFill>
                        </a:rPr>
                        <a:t>관찰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 </a:t>
                      </a:r>
                      <a:pPr indent="0" marL="0">
                        <a:buNone/>
                      </a:pPr>
                      <a:r>
                        <a:rPr lang="en-US" sz="1100" dirty="0">
                          <a:solidFill>
                            <a:srgbClr val="1F2937"/>
                          </a:solidFill>
                        </a:rPr>
                        <a:t>수 </a:t>
                      </a:r>
                      <a:pPr indent="0" marL="0">
                        <a:buNone/>
                      </a:pPr>
                      <a:r>
                        <a:rPr lang="en-US" sz="1100" dirty="0">
                          <a:solidFill>
                            <a:srgbClr val="1F2937"/>
                          </a:solidFill>
                        </a:rPr>
                        <a:t>목표 </a:t>
                      </a:r>
                      <a:pPr indent="0" marL="0">
                        <a:buNone/>
                      </a:pPr>
                      <a:r>
                        <a:rPr lang="en-US" sz="1100" dirty="0">
                          <a:solidFill>
                            <a:srgbClr val="1F2937"/>
                          </a:solidFill>
                        </a:rPr>
                        <a:t>확정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장시간 </a:t>
                      </a:r>
                      <a:pPr indent="0" marL="0">
                        <a:buNone/>
                      </a:pPr>
                      <a:r>
                        <a:rPr lang="en-US" sz="1100" dirty="0">
                          <a:solidFill>
                            <a:srgbClr val="1F2937"/>
                          </a:solidFill>
                        </a:rPr>
                        <a:t>유지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승인된 </a:t>
                      </a:r>
                      <a:pPr indent="0" marL="0">
                        <a:buNone/>
                      </a:pPr>
                      <a:r>
                        <a:rPr lang="en-US" sz="1100" dirty="0">
                          <a:solidFill>
                            <a:srgbClr val="1F2937"/>
                          </a:solidFill>
                        </a:rPr>
                        <a:t>부하 </a:t>
                      </a:r>
                      <a:pPr indent="0" marL="0">
                        <a:buNone/>
                      </a:pPr>
                      <a:r>
                        <a:rPr lang="en-US" sz="1100" dirty="0">
                          <a:solidFill>
                            <a:srgbClr val="1F2937"/>
                          </a:solidFill>
                        </a:rPr>
                        <a:t>수준을 </a:t>
                      </a:r>
                      <a:pPr indent="0" marL="0">
                        <a:buNone/>
                      </a:pPr>
                      <a:r>
                        <a:rPr lang="en-US" sz="1100" dirty="0">
                          <a:solidFill>
                            <a:srgbClr val="1F2937"/>
                          </a:solidFill>
                        </a:rPr>
                        <a:t>일정 </a:t>
                      </a:r>
                      <a:pPr indent="0" marL="0">
                        <a:buNone/>
                      </a:pPr>
                      <a:r>
                        <a:rPr lang="en-US" sz="1100" dirty="0">
                          <a:solidFill>
                            <a:srgbClr val="1F2937"/>
                          </a:solidFill>
                        </a:rPr>
                        <a:t>시간 </a:t>
                      </a:r>
                      <a:pPr indent="0" marL="0">
                        <a:buNone/>
                      </a:pPr>
                      <a:r>
                        <a:rPr lang="en-US" sz="1100" dirty="0">
                          <a:solidFill>
                            <a:srgbClr val="1F2937"/>
                          </a:solidFill>
                        </a:rPr>
                        <a:t>유지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저장·생성·내려받기의 </a:t>
                      </a:r>
                      <a:pPr indent="0" marL="0">
                        <a:buNone/>
                      </a:pPr>
                      <a:r>
                        <a:rPr lang="en-US" sz="1100" dirty="0">
                          <a:solidFill>
                            <a:srgbClr val="1F2937"/>
                          </a:solidFill>
                        </a:rPr>
                        <a:t>지속 </a:t>
                      </a:r>
                      <a:pPr indent="0" marL="0">
                        <a:buNone/>
                      </a:pPr>
                      <a:r>
                        <a:rPr lang="en-US" sz="1100" dirty="0">
                          <a:solidFill>
                            <a:srgbClr val="1F2937"/>
                          </a:solidFill>
                        </a:rPr>
                        <a:t>안정성 </a:t>
                      </a:r>
                      <a:pPr indent="0" marL="0">
                        <a:buNone/>
                      </a:pPr>
                      <a:r>
                        <a:rPr lang="en-US" sz="1100" dirty="0">
                          <a:solidFill>
                            <a:srgbClr val="1F2937"/>
                          </a:solidFill>
                        </a:rPr>
                        <a:t>관찰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시간과 </a:t>
                      </a:r>
                      <a:pPr indent="0" marL="0">
                        <a:buNone/>
                      </a:pPr>
                      <a:r>
                        <a:rPr lang="en-US" sz="1100" dirty="0">
                          <a:solidFill>
                            <a:srgbClr val="1F2937"/>
                          </a:solidFill>
                        </a:rPr>
                        <a:t>오류율 </a:t>
                      </a:r>
                      <a:pPr indent="0" marL="0">
                        <a:buNone/>
                      </a:pPr>
                      <a:r>
                        <a:rPr lang="en-US" sz="1100" dirty="0">
                          <a:solidFill>
                            <a:srgbClr val="1F2937"/>
                          </a:solidFill>
                        </a:rPr>
                        <a:t>목표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취소·재시도 </a:t>
                      </a:r>
                      <a:pPr indent="0" marL="0">
                        <a:buNone/>
                      </a:pPr>
                      <a:r>
                        <a:rPr lang="en-US" sz="1100" dirty="0">
                          <a:solidFill>
                            <a:srgbClr val="1F2937"/>
                          </a:solidFill>
                        </a:rPr>
                        <a:t>부하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생성 </a:t>
                      </a:r>
                      <a:pPr indent="0" marL="0">
                        <a:buNone/>
                      </a:pPr>
                      <a:r>
                        <a:rPr lang="en-US" sz="1100" dirty="0">
                          <a:solidFill>
                            <a:srgbClr val="1F2937"/>
                          </a:solidFill>
                        </a:rPr>
                        <a:t>중 </a:t>
                      </a:r>
                      <a:pPr indent="0" marL="0">
                        <a:buNone/>
                      </a:pPr>
                      <a:r>
                        <a:rPr lang="en-US" sz="1100" dirty="0">
                          <a:solidFill>
                            <a:srgbClr val="1F2937"/>
                          </a:solidFill>
                        </a:rPr>
                        <a:t>취소와 </a:t>
                      </a:r>
                      <a:pPr indent="0" marL="0">
                        <a:buNone/>
                      </a:pPr>
                      <a:r>
                        <a:rPr lang="en-US" sz="1100" dirty="0">
                          <a:solidFill>
                            <a:srgbClr val="1F2937"/>
                          </a:solidFill>
                        </a:rPr>
                        <a:t>재요청을 </a:t>
                      </a:r>
                      <a:pPr indent="0" marL="0">
                        <a:buNone/>
                      </a:pPr>
                      <a:r>
                        <a:rPr lang="en-US" sz="1100" dirty="0">
                          <a:solidFill>
                            <a:srgbClr val="1F2937"/>
                          </a:solidFill>
                        </a:rPr>
                        <a:t>통제해 </a:t>
                      </a:r>
                      <a:pPr indent="0" marL="0">
                        <a:buNone/>
                      </a:pPr>
                      <a:r>
                        <a:rPr lang="en-US" sz="1100" dirty="0">
                          <a:solidFill>
                            <a:srgbClr val="1F2937"/>
                          </a:solidFill>
                        </a:rPr>
                        <a:t>반복</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취소 </a:t>
                      </a:r>
                      <a:pPr indent="0" marL="0">
                        <a:buNone/>
                      </a:pPr>
                      <a:r>
                        <a:rPr lang="en-US" sz="1100" dirty="0">
                          <a:solidFill>
                            <a:srgbClr val="1F2937"/>
                          </a:solidFill>
                        </a:rPr>
                        <a:t>뒤 </a:t>
                      </a:r>
                      <a:pPr indent="0" marL="0">
                        <a:buNone/>
                      </a:pPr>
                      <a:r>
                        <a:rPr lang="en-US" sz="1100" dirty="0">
                          <a:solidFill>
                            <a:srgbClr val="1F2937"/>
                          </a:solidFill>
                        </a:rPr>
                        <a:t>이전 </a:t>
                      </a:r>
                      <a:pPr indent="0" marL="0">
                        <a:buNone/>
                      </a:pPr>
                      <a:r>
                        <a:rPr lang="en-US" sz="1100" dirty="0">
                          <a:solidFill>
                            <a:srgbClr val="1F2937"/>
                          </a:solidFill>
                        </a:rPr>
                        <a:t>응답 </a:t>
                      </a:r>
                      <a:pPr indent="0" marL="0">
                        <a:buNone/>
                      </a:pPr>
                      <a:r>
                        <a:rPr lang="en-US" sz="1100" dirty="0">
                          <a:solidFill>
                            <a:srgbClr val="1F2937"/>
                          </a:solidFill>
                        </a:rPr>
                        <a:t>반영이나 </a:t>
                      </a:r>
                      <a:pPr indent="0" marL="0">
                        <a:buNone/>
                      </a:pPr>
                      <a:r>
                        <a:rPr lang="en-US" sz="1100" dirty="0">
                          <a:solidFill>
                            <a:srgbClr val="1F2937"/>
                          </a:solidFill>
                        </a:rPr>
                        <a:t>중복 </a:t>
                      </a:r>
                      <a:pPr indent="0" marL="0">
                        <a:buNone/>
                      </a:pPr>
                      <a:r>
                        <a:rPr lang="en-US" sz="1100" dirty="0">
                          <a:solidFill>
                            <a:srgbClr val="1F2937"/>
                          </a:solidFill>
                        </a:rPr>
                        <a:t>처리가 </a:t>
                      </a:r>
                      <a:pPr indent="0" marL="0">
                        <a:buNone/>
                      </a:pPr>
                      <a:r>
                        <a:rPr lang="en-US" sz="1100" dirty="0">
                          <a:solidFill>
                            <a:srgbClr val="1F2937"/>
                          </a:solidFill>
                        </a:rPr>
                        <a:t>있는지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취소 </a:t>
                      </a:r>
                      <a:pPr indent="0" marL="0">
                        <a:buNone/>
                      </a:pPr>
                      <a:r>
                        <a:rPr lang="en-US" sz="1100" dirty="0">
                          <a:solidFill>
                            <a:srgbClr val="1F2937"/>
                          </a:solidFill>
                        </a:rPr>
                        <a:t>성공 </a:t>
                      </a:r>
                      <a:pPr indent="0" marL="0">
                        <a:buNone/>
                      </a:pPr>
                      <a:r>
                        <a:rPr lang="en-US" sz="1100" dirty="0">
                          <a:solidFill>
                            <a:srgbClr val="1F2937"/>
                          </a:solidFill>
                        </a:rPr>
                        <a:t>및 </a:t>
                      </a:r>
                      <a:pPr indent="0" marL="0">
                        <a:buNone/>
                      </a:pPr>
                      <a:r>
                        <a:rPr lang="en-US" sz="1100" dirty="0">
                          <a:solidFill>
                            <a:srgbClr val="1F2937"/>
                          </a:solidFill>
                        </a:rPr>
                        <a:t>결과 </a:t>
                      </a:r>
                      <a:pPr indent="0" marL="0">
                        <a:buNone/>
                      </a:pPr>
                      <a:r>
                        <a:rPr lang="en-US" sz="1100" dirty="0">
                          <a:solidFill>
                            <a:srgbClr val="1F2937"/>
                          </a:solidFill>
                        </a:rPr>
                        <a:t>일관성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대형 </a:t>
                      </a:r>
                      <a:pPr indent="0" marL="0">
                        <a:buNone/>
                      </a:pPr>
                      <a:r>
                        <a:rPr lang="en-US" sz="1100" dirty="0">
                          <a:solidFill>
                            <a:srgbClr val="1F2937"/>
                          </a:solidFill>
                        </a:rPr>
                        <a:t>문서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승인된 </a:t>
                      </a:r>
                      <a:pPr indent="0" marL="0">
                        <a:buNone/>
                      </a:pPr>
                      <a:r>
                        <a:rPr lang="en-US" sz="1100" dirty="0">
                          <a:solidFill>
                            <a:srgbClr val="1F2937"/>
                          </a:solidFill>
                        </a:rPr>
                        <a:t>최대 </a:t>
                      </a:r>
                      <a:pPr indent="0" marL="0">
                        <a:buNone/>
                      </a:pPr>
                      <a:r>
                        <a:rPr lang="en-US" sz="1100" dirty="0">
                          <a:solidFill>
                            <a:srgbClr val="1F2937"/>
                          </a:solidFill>
                        </a:rPr>
                        <a:t>입력·섹션 </a:t>
                      </a:r>
                      <a:pPr indent="0" marL="0">
                        <a:buNone/>
                      </a:pPr>
                      <a:r>
                        <a:rPr lang="en-US" sz="1100" dirty="0">
                          <a:solidFill>
                            <a:srgbClr val="1F2937"/>
                          </a:solidFill>
                        </a:rPr>
                        <a:t>자료로 </a:t>
                      </a:r>
                      <a:pPr indent="0" marL="0">
                        <a:buNone/>
                      </a:pPr>
                      <a:r>
                        <a:rPr lang="en-US" sz="1100" dirty="0">
                          <a:solidFill>
                            <a:srgbClr val="1F2937"/>
                          </a:solidFill>
                        </a:rPr>
                        <a:t>생성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큰 </a:t>
                      </a:r>
                      <a:pPr indent="0" marL="0">
                        <a:buNone/>
                      </a:pPr>
                      <a:r>
                        <a:rPr lang="en-US" sz="1100" dirty="0">
                          <a:solidFill>
                            <a:srgbClr val="1F2937"/>
                          </a:solidFill>
                        </a:rPr>
                        <a:t>입력에서 </a:t>
                      </a:r>
                      <a:pPr indent="0" marL="0">
                        <a:buNone/>
                      </a:pPr>
                      <a:r>
                        <a:rPr lang="en-US" sz="1100" dirty="0">
                          <a:solidFill>
                            <a:srgbClr val="1F2937"/>
                          </a:solidFill>
                        </a:rPr>
                        <a:t>생성 </a:t>
                      </a:r>
                      <a:pPr indent="0" marL="0">
                        <a:buNone/>
                      </a:pPr>
                      <a:r>
                        <a:rPr lang="en-US" sz="1100" dirty="0">
                          <a:solidFill>
                            <a:srgbClr val="1F2937"/>
                          </a:solidFill>
                        </a:rPr>
                        <a:t>실패와 </a:t>
                      </a:r>
                      <a:pPr indent="0" marL="0">
                        <a:buNone/>
                      </a:pPr>
                      <a:r>
                        <a:rPr lang="en-US" sz="1100" dirty="0">
                          <a:solidFill>
                            <a:srgbClr val="1F2937"/>
                          </a:solidFill>
                        </a:rPr>
                        <a:t>파일 </a:t>
                      </a:r>
                      <a:pPr indent="0" marL="0">
                        <a:buNone/>
                      </a:pPr>
                      <a:r>
                        <a:rPr lang="en-US" sz="1100" dirty="0">
                          <a:solidFill>
                            <a:srgbClr val="1F2937"/>
                          </a:solidFill>
                        </a:rPr>
                        <a:t>이상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최대 </a:t>
                      </a:r>
                      <a:pPr indent="0" marL="0">
                        <a:buNone/>
                      </a:pPr>
                      <a:r>
                        <a:rPr lang="en-US" sz="1100" dirty="0">
                          <a:solidFill>
                            <a:srgbClr val="1F2937"/>
                          </a:solidFill>
                        </a:rPr>
                        <a:t>입력 </a:t>
                      </a:r>
                      <a:pPr indent="0" marL="0">
                        <a:buNone/>
                      </a:pPr>
                      <a:r>
                        <a:rPr lang="en-US" sz="1100" dirty="0">
                          <a:solidFill>
                            <a:srgbClr val="1F2937"/>
                          </a:solidFill>
                        </a:rPr>
                        <a:t>규격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12. 보안 테스트 계획</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12.1 보안 점검 항목</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회의에서는 구체적인 보안 요구사항, 개인정보 처리 방식, 보안 담당자, 보안 승인 기준을 정하지 않았습니다. 아래는 로그인, 기기 저장, 생성 및 파일 내려받기가 포함된 기능을 고려한 점검 제안이며, 법무·보안 정책으로 확정하지 않습니다.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12.1 보안 점검 항목</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645459"/>
                <a:gridCol w="2662518"/>
                <a:gridCol w="2904565"/>
                <a:gridCol w="2017059"/>
              </a:tblGrid>
              <a:tr h="0">
                <a:tc>
                  <a:txBody>
                    <a:bodyPr/>
                    <a:lstStyle/>
                    <a:p>
                      <a:pPr indent="0" marL="0">
                        <a:buNone/>
                      </a:pPr>
                      <a:r>
                        <a:rPr lang="en-US" sz="1200" b="1" dirty="0">
                          <a:solidFill>
                            <a:srgbClr val="FFFFFF"/>
                          </a:solidFill>
                        </a:rPr>
                        <a:t>점검 </a:t>
                      </a:r>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도구·방법 </a:t>
                      </a:r>
                      <a:pPr indent="0" marL="0">
                        <a:buNone/>
                      </a:pPr>
                      <a:r>
                        <a:rPr lang="en-US" sz="1200" b="1" dirty="0">
                          <a:solidFill>
                            <a:srgbClr val="FFFFFF"/>
                          </a:solidFill>
                        </a:rPr>
                        <a:t>제안</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확인할 </a:t>
                      </a:r>
                      <a:pPr indent="0" marL="0">
                        <a:buNone/>
                      </a:pPr>
                      <a:r>
                        <a:rPr lang="en-US" sz="1200" b="1" dirty="0">
                          <a:solidFill>
                            <a:srgbClr val="FFFFFF"/>
                          </a:solidFill>
                        </a:rPr>
                        <a:t>내용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목표·판정 </a:t>
                      </a:r>
                      <a:pPr indent="0" marL="0">
                        <a:buNone/>
                      </a:pPr>
                      <a:r>
                        <a:rPr lang="en-US" sz="1200" b="1" dirty="0">
                          <a:solidFill>
                            <a:srgbClr val="FFFFFF"/>
                          </a:solidFill>
                        </a:rPr>
                        <a:t>기준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인증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수동 </a:t>
                      </a:r>
                      <a:pPr indent="0" marL="0">
                        <a:buNone/>
                      </a:pPr>
                      <a:r>
                        <a:rPr lang="en-US" sz="1100" dirty="0">
                          <a:solidFill>
                            <a:srgbClr val="1F2937"/>
                          </a:solidFill>
                        </a:rPr>
                        <a:t>검증 </a:t>
                      </a:r>
                      <a:pPr indent="0" marL="0">
                        <a:buNone/>
                      </a:pPr>
                      <a:r>
                        <a:rPr lang="en-US" sz="1100" dirty="0">
                          <a:solidFill>
                            <a:srgbClr val="1F2937"/>
                          </a:solidFill>
                        </a:rPr>
                        <a:t>및 </a:t>
                      </a:r>
                      <a:pPr indent="0" marL="0">
                        <a:buNone/>
                      </a:pPr>
                      <a:r>
                        <a:rPr lang="en-US" sz="1100" dirty="0">
                          <a:solidFill>
                            <a:srgbClr val="1F2937"/>
                          </a:solidFill>
                        </a:rPr>
                        <a:t>OWASP </a:t>
                      </a:r>
                      <a:pPr indent="0" marL="0">
                        <a:buNone/>
                      </a:pPr>
                      <a:r>
                        <a:rPr lang="en-US" sz="1100" dirty="0">
                          <a:solidFill>
                            <a:srgbClr val="1F2937"/>
                          </a:solidFill>
                        </a:rPr>
                        <a:t>ZAP </a:t>
                      </a:r>
                      <a:pPr indent="0" marL="0">
                        <a:buNone/>
                      </a:pPr>
                      <a:r>
                        <a:rPr lang="en-US" sz="1100" dirty="0">
                          <a:solidFill>
                            <a:srgbClr val="1F2937"/>
                          </a:solidFill>
                        </a:rPr>
                        <a:t>등 </a:t>
                      </a:r>
                      <a:pPr indent="0" marL="0">
                        <a:buNone/>
                      </a:pPr>
                      <a:r>
                        <a:rPr lang="en-US" sz="1100" dirty="0">
                          <a:solidFill>
                            <a:srgbClr val="1F2937"/>
                          </a:solidFill>
                        </a:rPr>
                        <a:t>보조 </a:t>
                      </a:r>
                      <a:pPr indent="0" marL="0">
                        <a:buNone/>
                      </a:pPr>
                      <a:r>
                        <a:rPr lang="en-US" sz="1100" dirty="0">
                          <a:solidFill>
                            <a:srgbClr val="1F2937"/>
                          </a:solidFill>
                        </a:rPr>
                        <a:t>도구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잘못된 </a:t>
                      </a:r>
                      <a:pPr indent="0" marL="0">
                        <a:buNone/>
                      </a:pPr>
                      <a:r>
                        <a:rPr lang="en-US" sz="1100" dirty="0">
                          <a:solidFill>
                            <a:srgbClr val="1F2937"/>
                          </a:solidFill>
                        </a:rPr>
                        <a:t>인증 </a:t>
                      </a:r>
                      <a:pPr indent="0" marL="0">
                        <a:buNone/>
                      </a:pPr>
                      <a:r>
                        <a:rPr lang="en-US" sz="1100" dirty="0">
                          <a:solidFill>
                            <a:srgbClr val="1F2937"/>
                          </a:solidFill>
                        </a:rPr>
                        <a:t>정보 </a:t>
                      </a:r>
                      <a:pPr indent="0" marL="0">
                        <a:buNone/>
                      </a:pPr>
                      <a:r>
                        <a:rPr lang="en-US" sz="1100" dirty="0">
                          <a:solidFill>
                            <a:srgbClr val="1F2937"/>
                          </a:solidFill>
                        </a:rPr>
                        <a:t>처리, </a:t>
                      </a:r>
                      <a:pPr indent="0" marL="0">
                        <a:buNone/>
                      </a:pPr>
                      <a:r>
                        <a:rPr lang="en-US" sz="1100" dirty="0">
                          <a:solidFill>
                            <a:srgbClr val="1F2937"/>
                          </a:solidFill>
                        </a:rPr>
                        <a:t>인증되지 </a:t>
                      </a:r>
                      <a:pPr indent="0" marL="0">
                        <a:buNone/>
                      </a:pPr>
                      <a:r>
                        <a:rPr lang="en-US" sz="1100" dirty="0">
                          <a:solidFill>
                            <a:srgbClr val="1F2937"/>
                          </a:solidFill>
                        </a:rPr>
                        <a:t>않은 </a:t>
                      </a:r>
                      <a:pPr indent="0" marL="0">
                        <a:buNone/>
                      </a:pPr>
                      <a:r>
                        <a:rPr lang="en-US" sz="1100" dirty="0">
                          <a:solidFill>
                            <a:srgbClr val="1F2937"/>
                          </a:solidFill>
                        </a:rPr>
                        <a:t>사용자의 </a:t>
                      </a:r>
                      <a:pPr indent="0" marL="0">
                        <a:buNone/>
                      </a:pPr>
                      <a:r>
                        <a:rPr lang="en-US" sz="1100" dirty="0">
                          <a:solidFill>
                            <a:srgbClr val="1F2937"/>
                          </a:solidFill>
                        </a:rPr>
                        <a:t>기능 </a:t>
                      </a:r>
                      <a:pPr indent="0" marL="0">
                        <a:buNone/>
                      </a:pPr>
                      <a:r>
                        <a:rPr lang="en-US" sz="1100" dirty="0">
                          <a:solidFill>
                            <a:srgbClr val="1F2937"/>
                          </a:solidFill>
                        </a:rPr>
                        <a:t>접근 </a:t>
                      </a:r>
                      <a:pPr indent="0" marL="0">
                        <a:buNone/>
                      </a:pPr>
                      <a:r>
                        <a:rPr lang="en-US" sz="1100" dirty="0">
                          <a:solidFill>
                            <a:srgbClr val="1F2937"/>
                          </a:solidFill>
                        </a:rPr>
                        <a:t>여부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인증된 </a:t>
                      </a:r>
                      <a:pPr indent="0" marL="0">
                        <a:buNone/>
                      </a:pPr>
                      <a:r>
                        <a:rPr lang="en-US" sz="1100" dirty="0">
                          <a:solidFill>
                            <a:srgbClr val="1F2937"/>
                          </a:solidFill>
                        </a:rPr>
                        <a:t>사용자만 </a:t>
                      </a:r>
                      <a:pPr indent="0" marL="0">
                        <a:buNone/>
                      </a:pPr>
                      <a:r>
                        <a:rPr lang="en-US" sz="1100" dirty="0">
                          <a:solidFill>
                            <a:srgbClr val="1F2937"/>
                          </a:solidFill>
                        </a:rPr>
                        <a:t>허용된 </a:t>
                      </a:r>
                      <a:pPr indent="0" marL="0">
                        <a:buNone/>
                      </a:pPr>
                      <a:r>
                        <a:rPr lang="en-US" sz="1100" dirty="0">
                          <a:solidFill>
                            <a:srgbClr val="1F2937"/>
                          </a:solidFill>
                        </a:rPr>
                        <a:t>기능에 </a:t>
                      </a:r>
                      <a:pPr indent="0" marL="0">
                        <a:buNone/>
                      </a:pPr>
                      <a:r>
                        <a:rPr lang="en-US" sz="1100" dirty="0">
                          <a:solidFill>
                            <a:srgbClr val="1F2937"/>
                          </a:solidFill>
                        </a:rPr>
                        <a:t>접근하는지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권한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수동 </a:t>
                      </a:r>
                      <a:pPr indent="0" marL="0">
                        <a:buNone/>
                      </a:pPr>
                      <a:r>
                        <a:rPr lang="en-US" sz="1100" dirty="0">
                          <a:solidFill>
                            <a:srgbClr val="1F2937"/>
                          </a:solidFill>
                        </a:rPr>
                        <a:t>시나리오 </a:t>
                      </a:r>
                      <a:pPr indent="0" marL="0">
                        <a:buNone/>
                      </a:pPr>
                      <a:r>
                        <a:rPr lang="en-US" sz="1100" dirty="0">
                          <a:solidFill>
                            <a:srgbClr val="1F2937"/>
                          </a:solidFill>
                        </a:rPr>
                        <a:t>및 </a:t>
                      </a:r>
                      <a:pPr indent="0" marL="0">
                        <a:buNone/>
                      </a:pPr>
                      <a:r>
                        <a:rPr lang="en-US" sz="1100" dirty="0">
                          <a:solidFill>
                            <a:srgbClr val="1F2937"/>
                          </a:solidFill>
                        </a:rPr>
                        <a:t>API가 </a:t>
                      </a:r>
                      <a:pPr indent="0" marL="0">
                        <a:buNone/>
                      </a:pPr>
                      <a:r>
                        <a:rPr lang="en-US" sz="1100" dirty="0">
                          <a:solidFill>
                            <a:srgbClr val="1F2937"/>
                          </a:solidFill>
                        </a:rPr>
                        <a:t>있는 </a:t>
                      </a:r>
                      <a:pPr indent="0" marL="0">
                        <a:buNone/>
                      </a:pPr>
                      <a:r>
                        <a:rPr lang="en-US" sz="1100" dirty="0">
                          <a:solidFill>
                            <a:srgbClr val="1F2937"/>
                          </a:solidFill>
                        </a:rPr>
                        <a:t>경우 </a:t>
                      </a:r>
                      <a:pPr indent="0" marL="0">
                        <a:buNone/>
                      </a:pPr>
                      <a:r>
                        <a:rPr lang="en-US" sz="1100" dirty="0">
                          <a:solidFill>
                            <a:srgbClr val="1F2937"/>
                          </a:solidFill>
                        </a:rPr>
                        <a:t>요청 </a:t>
                      </a:r>
                      <a:pPr indent="0" marL="0">
                        <a:buNone/>
                      </a:pPr>
                      <a:r>
                        <a:rPr lang="en-US" sz="1100" dirty="0">
                          <a:solidFill>
                            <a:srgbClr val="1F2937"/>
                          </a:solidFill>
                        </a:rPr>
                        <a:t>검사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다른 </a:t>
                      </a:r>
                      <a:pPr indent="0" marL="0">
                        <a:buNone/>
                      </a:pPr>
                      <a:r>
                        <a:rPr lang="en-US" sz="1100" dirty="0">
                          <a:solidFill>
                            <a:srgbClr val="1F2937"/>
                          </a:solidFill>
                        </a:rPr>
                        <a:t>사용자의 </a:t>
                      </a:r>
                      <a:pPr indent="0" marL="0">
                        <a:buNone/>
                      </a:pPr>
                      <a:r>
                        <a:rPr lang="en-US" sz="1100" dirty="0">
                          <a:solidFill>
                            <a:srgbClr val="1F2937"/>
                          </a:solidFill>
                        </a:rPr>
                        <a:t>문서나 </a:t>
                      </a:r>
                      <a:pPr indent="0" marL="0">
                        <a:buNone/>
                      </a:pPr>
                      <a:r>
                        <a:rPr lang="en-US" sz="1100" dirty="0">
                          <a:solidFill>
                            <a:srgbClr val="1F2937"/>
                          </a:solidFill>
                        </a:rPr>
                        <a:t>파일을 </a:t>
                      </a:r>
                      <a:pPr indent="0" marL="0">
                        <a:buNone/>
                      </a:pPr>
                      <a:r>
                        <a:rPr lang="en-US" sz="1100" dirty="0">
                          <a:solidFill>
                            <a:srgbClr val="1F2937"/>
                          </a:solidFill>
                        </a:rPr>
                        <a:t>열람할 </a:t>
                      </a:r>
                      <a:pPr indent="0" marL="0">
                        <a:buNone/>
                      </a:pPr>
                      <a:r>
                        <a:rPr lang="en-US" sz="1100" dirty="0">
                          <a:solidFill>
                            <a:srgbClr val="1F2937"/>
                          </a:solidFill>
                        </a:rPr>
                        <a:t>수 </a:t>
                      </a:r>
                      <a:pPr indent="0" marL="0">
                        <a:buNone/>
                      </a:pPr>
                      <a:r>
                        <a:rPr lang="en-US" sz="1100" dirty="0">
                          <a:solidFill>
                            <a:srgbClr val="1F2937"/>
                          </a:solidFill>
                        </a:rPr>
                        <a:t>있는지 </a:t>
                      </a:r>
                      <a:pPr indent="0" marL="0">
                        <a:buNone/>
                      </a:pPr>
                      <a:r>
                        <a:rPr lang="en-US" sz="1100" dirty="0">
                          <a:solidFill>
                            <a:srgbClr val="1F2937"/>
                          </a:solidFill>
                        </a:rPr>
                        <a:t>여부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권한 </a:t>
                      </a:r>
                      <a:pPr indent="0" marL="0">
                        <a:buNone/>
                      </a:pPr>
                      <a:r>
                        <a:rPr lang="en-US" sz="1100" dirty="0">
                          <a:solidFill>
                            <a:srgbClr val="1F2937"/>
                          </a:solidFill>
                        </a:rPr>
                        <a:t>기준과 </a:t>
                      </a:r>
                      <a:pPr indent="0" marL="0">
                        <a:buNone/>
                      </a:pPr>
                      <a:r>
                        <a:rPr lang="en-US" sz="1100" dirty="0">
                          <a:solidFill>
                            <a:srgbClr val="1F2937"/>
                          </a:solidFill>
                        </a:rPr>
                        <a:t>계정 </a:t>
                      </a:r>
                      <a:pPr indent="0" marL="0">
                        <a:buNone/>
                      </a:pPr>
                      <a:r>
                        <a:rPr lang="en-US" sz="1100" dirty="0">
                          <a:solidFill>
                            <a:srgbClr val="1F2937"/>
                          </a:solidFill>
                        </a:rPr>
                        <a:t>구조 </a:t>
                      </a:r>
                      <a:pPr indent="0" marL="0">
                        <a:buNone/>
                      </a:pPr>
                      <a:r>
                        <a:rPr lang="en-US" sz="1100" dirty="0">
                          <a:solidFill>
                            <a:srgbClr val="1F2937"/>
                          </a:solidFill>
                        </a:rPr>
                        <a:t>확정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입력값 </a:t>
                      </a:r>
                      <a:pPr indent="0" marL="0">
                        <a:buNone/>
                      </a:pPr>
                      <a:r>
                        <a:rPr lang="en-US" sz="1100" dirty="0">
                          <a:solidFill>
                            <a:srgbClr val="1F2937"/>
                          </a:solidFill>
                        </a:rPr>
                        <a:t>처리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자동 </a:t>
                      </a:r>
                      <a:pPr indent="0" marL="0">
                        <a:buNone/>
                      </a:pPr>
                      <a:r>
                        <a:rPr lang="en-US" sz="1100" dirty="0">
                          <a:solidFill>
                            <a:srgbClr val="1F2937"/>
                          </a:solidFill>
                        </a:rPr>
                        <a:t>점검 </a:t>
                      </a:r>
                      <a:pPr indent="0" marL="0">
                        <a:buNone/>
                      </a:pPr>
                      <a:r>
                        <a:rPr lang="en-US" sz="1100" dirty="0">
                          <a:solidFill>
                            <a:srgbClr val="1F2937"/>
                          </a:solidFill>
                        </a:rPr>
                        <a:t>및 </a:t>
                      </a:r>
                      <a:pPr indent="0" marL="0">
                        <a:buNone/>
                      </a:pPr>
                      <a:r>
                        <a:rPr lang="en-US" sz="1100" dirty="0">
                          <a:solidFill>
                            <a:srgbClr val="1F2937"/>
                          </a:solidFill>
                        </a:rPr>
                        <a:t>통제된 </a:t>
                      </a:r>
                      <a:pPr indent="0" marL="0">
                        <a:buNone/>
                      </a:pPr>
                      <a:r>
                        <a:rPr lang="en-US" sz="1100" dirty="0">
                          <a:solidFill>
                            <a:srgbClr val="1F2937"/>
                          </a:solidFill>
                        </a:rPr>
                        <a:t>수동 </a:t>
                      </a:r>
                      <a:pPr indent="0" marL="0">
                        <a:buNone/>
                      </a:pPr>
                      <a:r>
                        <a:rPr lang="en-US" sz="1100" dirty="0">
                          <a:solidFill>
                            <a:srgbClr val="1F2937"/>
                          </a:solidFill>
                        </a:rPr>
                        <a:t>입력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예상하지 </a:t>
                      </a:r>
                      <a:pPr indent="0" marL="0">
                        <a:buNone/>
                      </a:pPr>
                      <a:r>
                        <a:rPr lang="en-US" sz="1100" dirty="0">
                          <a:solidFill>
                            <a:srgbClr val="1F2937"/>
                          </a:solidFill>
                        </a:rPr>
                        <a:t>못한 </a:t>
                      </a:r>
                      <a:pPr indent="0" marL="0">
                        <a:buNone/>
                      </a:pPr>
                      <a:r>
                        <a:rPr lang="en-US" sz="1100" dirty="0">
                          <a:solidFill>
                            <a:srgbClr val="1F2937"/>
                          </a:solidFill>
                        </a:rPr>
                        <a:t>입력으로 </a:t>
                      </a:r>
                      <a:pPr indent="0" marL="0">
                        <a:buNone/>
                      </a:pPr>
                      <a:r>
                        <a:rPr lang="en-US" sz="1100" dirty="0">
                          <a:solidFill>
                            <a:srgbClr val="1F2937"/>
                          </a:solidFill>
                        </a:rPr>
                        <a:t>오류·스크립트 </a:t>
                      </a:r>
                      <a:pPr indent="0" marL="0">
                        <a:buNone/>
                      </a:pPr>
                      <a:r>
                        <a:rPr lang="en-US" sz="1100" dirty="0">
                          <a:solidFill>
                            <a:srgbClr val="1F2937"/>
                          </a:solidFill>
                        </a:rPr>
                        <a:t>실행·문서 </a:t>
                      </a:r>
                      <a:pPr indent="0" marL="0">
                        <a:buNone/>
                      </a:pPr>
                      <a:r>
                        <a:rPr lang="en-US" sz="1100" dirty="0">
                          <a:solidFill>
                            <a:srgbClr val="1F2937"/>
                          </a:solidFill>
                        </a:rPr>
                        <a:t>손상이 </a:t>
                      </a:r>
                      <a:pPr indent="0" marL="0">
                        <a:buNone/>
                      </a:pPr>
                      <a:r>
                        <a:rPr lang="en-US" sz="1100" dirty="0">
                          <a:solidFill>
                            <a:srgbClr val="1F2937"/>
                          </a:solidFill>
                        </a:rPr>
                        <a:t>발생하는지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입력 </a:t>
                      </a:r>
                      <a:pPr indent="0" marL="0">
                        <a:buNone/>
                      </a:pPr>
                      <a:r>
                        <a:rPr lang="en-US" sz="1100" dirty="0">
                          <a:solidFill>
                            <a:srgbClr val="1F2937"/>
                          </a:solidFill>
                        </a:rPr>
                        <a:t>규격 </a:t>
                      </a:r>
                      <a:pPr indent="0" marL="0">
                        <a:buNone/>
                      </a:pPr>
                      <a:r>
                        <a:rPr lang="en-US" sz="1100" dirty="0">
                          <a:solidFill>
                            <a:srgbClr val="1F2937"/>
                          </a:solidFill>
                        </a:rPr>
                        <a:t>확정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기기 </a:t>
                      </a:r>
                      <a:pPr indent="0" marL="0">
                        <a:buNone/>
                      </a:pPr>
                      <a:r>
                        <a:rPr lang="en-US" sz="1100" dirty="0">
                          <a:solidFill>
                            <a:srgbClr val="1F2937"/>
                          </a:solidFill>
                        </a:rPr>
                        <a:t>내 </a:t>
                      </a:r>
                      <a:pPr indent="0" marL="0">
                        <a:buNone/>
                      </a:pPr>
                      <a:r>
                        <a:rPr lang="en-US" sz="1100" dirty="0">
                          <a:solidFill>
                            <a:srgbClr val="1F2937"/>
                          </a:solidFill>
                        </a:rPr>
                        <a:t>저장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브라우저 </a:t>
                      </a:r>
                      <a:pPr indent="0" marL="0">
                        <a:buNone/>
                      </a:pPr>
                      <a:r>
                        <a:rPr lang="en-US" sz="1100" dirty="0">
                          <a:solidFill>
                            <a:srgbClr val="1F2937"/>
                          </a:solidFill>
                        </a:rPr>
                        <a:t>저장소 </a:t>
                      </a:r>
                      <a:pPr indent="0" marL="0">
                        <a:buNone/>
                      </a:pPr>
                      <a:r>
                        <a:rPr lang="en-US" sz="1100" dirty="0">
                          <a:solidFill>
                            <a:srgbClr val="1F2937"/>
                          </a:solidFill>
                        </a:rPr>
                        <a:t>또는 </a:t>
                      </a:r>
                      <a:pPr indent="0" marL="0">
                        <a:buNone/>
                      </a:pPr>
                      <a:r>
                        <a:rPr lang="en-US" sz="1100" dirty="0">
                          <a:solidFill>
                            <a:srgbClr val="1F2937"/>
                          </a:solidFill>
                        </a:rPr>
                        <a:t>실제 </a:t>
                      </a:r>
                      <a:pPr indent="0" marL="0">
                        <a:buNone/>
                      </a:pPr>
                      <a:r>
                        <a:rPr lang="en-US" sz="1100" dirty="0">
                          <a:solidFill>
                            <a:srgbClr val="1F2937"/>
                          </a:solidFill>
                        </a:rPr>
                        <a:t>저장 </a:t>
                      </a:r>
                      <a:pPr indent="0" marL="0">
                        <a:buNone/>
                      </a:pPr>
                      <a:r>
                        <a:rPr lang="en-US" sz="1100" dirty="0">
                          <a:solidFill>
                            <a:srgbClr val="1F2937"/>
                          </a:solidFill>
                        </a:rPr>
                        <a:t>위치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저장 </a:t>
                      </a:r>
                      <a:pPr indent="0" marL="0">
                        <a:buNone/>
                      </a:pPr>
                      <a:r>
                        <a:rPr lang="en-US" sz="1100" dirty="0">
                          <a:solidFill>
                            <a:srgbClr val="1F2937"/>
                          </a:solidFill>
                        </a:rPr>
                        <a:t>내용의 </a:t>
                      </a:r>
                      <a:pPr indent="0" marL="0">
                        <a:buNone/>
                      </a:pPr>
                      <a:r>
                        <a:rPr lang="en-US" sz="1100" dirty="0">
                          <a:solidFill>
                            <a:srgbClr val="1F2937"/>
                          </a:solidFill>
                        </a:rPr>
                        <a:t>범위, </a:t>
                      </a:r>
                      <a:pPr indent="0" marL="0">
                        <a:buNone/>
                      </a:pPr>
                      <a:r>
                        <a:rPr lang="en-US" sz="1100" dirty="0">
                          <a:solidFill>
                            <a:srgbClr val="1F2937"/>
                          </a:solidFill>
                        </a:rPr>
                        <a:t>로그아웃·기기 </a:t>
                      </a:r>
                      <a:pPr indent="0" marL="0">
                        <a:buNone/>
                      </a:pPr>
                      <a:r>
                        <a:rPr lang="en-US" sz="1100" dirty="0">
                          <a:solidFill>
                            <a:srgbClr val="1F2937"/>
                          </a:solidFill>
                        </a:rPr>
                        <a:t>공유 </a:t>
                      </a:r>
                      <a:pPr indent="0" marL="0">
                        <a:buNone/>
                      </a:pPr>
                      <a:r>
                        <a:rPr lang="en-US" sz="1100" dirty="0">
                          <a:solidFill>
                            <a:srgbClr val="1F2937"/>
                          </a:solidFill>
                        </a:rPr>
                        <a:t>시 </a:t>
                      </a:r>
                      <a:pPr indent="0" marL="0">
                        <a:buNone/>
                      </a:pPr>
                      <a:r>
                        <a:rPr lang="en-US" sz="1100" dirty="0">
                          <a:solidFill>
                            <a:srgbClr val="1F2937"/>
                          </a:solidFill>
                        </a:rPr>
                        <a:t>노출 </a:t>
                      </a:r>
                      <a:pPr indent="0" marL="0">
                        <a:buNone/>
                      </a:pPr>
                      <a:r>
                        <a:rPr lang="en-US" sz="1100" dirty="0">
                          <a:solidFill>
                            <a:srgbClr val="1F2937"/>
                          </a:solidFill>
                        </a:rPr>
                        <a:t>가능성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저장 </a:t>
                      </a:r>
                      <a:pPr indent="0" marL="0">
                        <a:buNone/>
                      </a:pPr>
                      <a:r>
                        <a:rPr lang="en-US" sz="1100" dirty="0">
                          <a:solidFill>
                            <a:srgbClr val="1F2937"/>
                          </a:solidFill>
                        </a:rPr>
                        <a:t>항목과 </a:t>
                      </a:r>
                      <a:pPr indent="0" marL="0">
                        <a:buNone/>
                      </a:pPr>
                      <a:r>
                        <a:rPr lang="en-US" sz="1100" dirty="0">
                          <a:solidFill>
                            <a:srgbClr val="1F2937"/>
                          </a:solidFill>
                        </a:rPr>
                        <a:t>보존·삭제 </a:t>
                      </a:r>
                      <a:pPr indent="0" marL="0">
                        <a:buNone/>
                      </a:pPr>
                      <a:r>
                        <a:rPr lang="en-US" sz="1100" dirty="0">
                          <a:solidFill>
                            <a:srgbClr val="1F2937"/>
                          </a:solidFill>
                        </a:rPr>
                        <a:t>정책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세션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수동 </a:t>
                      </a:r>
                      <a:pPr indent="0" marL="0">
                        <a:buNone/>
                      </a:pPr>
                      <a:r>
                        <a:rPr lang="en-US" sz="1100" dirty="0">
                          <a:solidFill>
                            <a:srgbClr val="1F2937"/>
                          </a:solidFill>
                        </a:rPr>
                        <a:t>점검 </a:t>
                      </a:r>
                      <a:pPr indent="0" marL="0">
                        <a:buNone/>
                      </a:pPr>
                      <a:r>
                        <a:rPr lang="en-US" sz="1100" dirty="0">
                          <a:solidFill>
                            <a:srgbClr val="1F2937"/>
                          </a:solidFill>
                        </a:rPr>
                        <a:t>및 </a:t>
                      </a:r>
                      <a:pPr indent="0" marL="0">
                        <a:buNone/>
                      </a:pPr>
                      <a:r>
                        <a:rPr lang="en-US" sz="1100" dirty="0">
                          <a:solidFill>
                            <a:srgbClr val="1F2937"/>
                          </a:solidFill>
                        </a:rPr>
                        <a:t>사용 </a:t>
                      </a:r>
                      <a:pPr indent="0" marL="0">
                        <a:buNone/>
                      </a:pPr>
                      <a:r>
                        <a:rPr lang="en-US" sz="1100" dirty="0">
                          <a:solidFill>
                            <a:srgbClr val="1F2937"/>
                          </a:solidFill>
                        </a:rPr>
                        <a:t>중인 </a:t>
                      </a:r>
                      <a:pPr indent="0" marL="0">
                        <a:buNone/>
                      </a:pPr>
                      <a:r>
                        <a:rPr lang="en-US" sz="1100" dirty="0">
                          <a:solidFill>
                            <a:srgbClr val="1F2937"/>
                          </a:solidFill>
                        </a:rPr>
                        <a:t>인증 </a:t>
                      </a:r>
                      <a:pPr indent="0" marL="0">
                        <a:buNone/>
                      </a:pPr>
                      <a:r>
                        <a:rPr lang="en-US" sz="1100" dirty="0">
                          <a:solidFill>
                            <a:srgbClr val="1F2937"/>
                          </a:solidFill>
                        </a:rPr>
                        <a:t>방식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세션 </a:t>
                      </a:r>
                      <a:pPr indent="0" marL="0">
                        <a:buNone/>
                      </a:pPr>
                      <a:r>
                        <a:rPr lang="en-US" sz="1100" dirty="0">
                          <a:solidFill>
                            <a:srgbClr val="1F2937"/>
                          </a:solidFill>
                        </a:rPr>
                        <a:t>만료 </a:t>
                      </a:r>
                      <a:pPr indent="0" marL="0">
                        <a:buNone/>
                      </a:pPr>
                      <a:r>
                        <a:rPr lang="en-US" sz="1100" dirty="0">
                          <a:solidFill>
                            <a:srgbClr val="1F2937"/>
                          </a:solidFill>
                        </a:rPr>
                        <a:t>후 </a:t>
                      </a:r>
                      <a:pPr indent="0" marL="0">
                        <a:buNone/>
                      </a:pPr>
                      <a:r>
                        <a:rPr lang="en-US" sz="1100" dirty="0">
                          <a:solidFill>
                            <a:srgbClr val="1F2937"/>
                          </a:solidFill>
                        </a:rPr>
                        <a:t>접근·내려받기 </a:t>
                      </a:r>
                      <a:pPr indent="0" marL="0">
                        <a:buNone/>
                      </a:pPr>
                      <a:r>
                        <a:rPr lang="en-US" sz="1100" dirty="0">
                          <a:solidFill>
                            <a:srgbClr val="1F2937"/>
                          </a:solidFill>
                        </a:rPr>
                        <a:t>가능 </a:t>
                      </a:r>
                      <a:pPr indent="0" marL="0">
                        <a:buNone/>
                      </a:pPr>
                      <a:r>
                        <a:rPr lang="en-US" sz="1100" dirty="0">
                          <a:solidFill>
                            <a:srgbClr val="1F2937"/>
                          </a:solidFill>
                        </a:rPr>
                        <a:t>여부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만료 </a:t>
                      </a:r>
                      <a:pPr indent="0" marL="0">
                        <a:buNone/>
                      </a:pPr>
                      <a:r>
                        <a:rPr lang="en-US" sz="1100" dirty="0">
                          <a:solidFill>
                            <a:srgbClr val="1F2937"/>
                          </a:solidFill>
                        </a:rPr>
                        <a:t>기준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파일 </a:t>
                      </a:r>
                      <a:pPr indent="0" marL="0">
                        <a:buNone/>
                      </a:pPr>
                      <a:r>
                        <a:rPr lang="en-US" sz="1100" dirty="0">
                          <a:solidFill>
                            <a:srgbClr val="1F2937"/>
                          </a:solidFill>
                        </a:rPr>
                        <a:t>내려받기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인증·권한이 </a:t>
                      </a:r>
                      <a:pPr indent="0" marL="0">
                        <a:buNone/>
                      </a:pPr>
                      <a:r>
                        <a:rPr lang="en-US" sz="1100" dirty="0">
                          <a:solidFill>
                            <a:srgbClr val="1F2937"/>
                          </a:solidFill>
                        </a:rPr>
                        <a:t>필요한 </a:t>
                      </a:r>
                      <a:pPr indent="0" marL="0">
                        <a:buNone/>
                      </a:pPr>
                      <a:r>
                        <a:rPr lang="en-US" sz="1100" dirty="0">
                          <a:solidFill>
                            <a:srgbClr val="1F2937"/>
                          </a:solidFill>
                        </a:rPr>
                        <a:t>경우 </a:t>
                      </a:r>
                      <a:pPr indent="0" marL="0">
                        <a:buNone/>
                      </a:pPr>
                      <a:r>
                        <a:rPr lang="en-US" sz="1100" dirty="0">
                          <a:solidFill>
                            <a:srgbClr val="1F2937"/>
                          </a:solidFill>
                        </a:rPr>
                        <a:t>주소 </a:t>
                      </a:r>
                      <a:pPr indent="0" marL="0">
                        <a:buNone/>
                      </a:pPr>
                      <a:r>
                        <a:rPr lang="en-US" sz="1100" dirty="0">
                          <a:solidFill>
                            <a:srgbClr val="1F2937"/>
                          </a:solidFill>
                        </a:rPr>
                        <a:t>직접 </a:t>
                      </a:r>
                      <a:pPr indent="0" marL="0">
                        <a:buNone/>
                      </a:pPr>
                      <a:r>
                        <a:rPr lang="en-US" sz="1100" dirty="0">
                          <a:solidFill>
                            <a:srgbClr val="1F2937"/>
                          </a:solidFill>
                        </a:rPr>
                        <a:t>접근 </a:t>
                      </a:r>
                      <a:pPr indent="0" marL="0">
                        <a:buNone/>
                      </a:pPr>
                      <a:r>
                        <a:rPr lang="en-US" sz="1100" dirty="0">
                          <a:solidFill>
                            <a:srgbClr val="1F2937"/>
                          </a:solidFill>
                        </a:rPr>
                        <a:t>및 </a:t>
                      </a:r>
                      <a:pPr indent="0" marL="0">
                        <a:buNone/>
                      </a:pPr>
                      <a:r>
                        <a:rPr lang="en-US" sz="1100" dirty="0">
                          <a:solidFill>
                            <a:srgbClr val="1F2937"/>
                          </a:solidFill>
                        </a:rPr>
                        <a:t>반복 </a:t>
                      </a:r>
                      <a:pPr indent="0" marL="0">
                        <a:buNone/>
                      </a:pPr>
                      <a:r>
                        <a:rPr lang="en-US" sz="1100" dirty="0">
                          <a:solidFill>
                            <a:srgbClr val="1F2937"/>
                          </a:solidFill>
                        </a:rPr>
                        <a:t>접근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인증 </a:t>
                      </a:r>
                      <a:pPr indent="0" marL="0">
                        <a:buNone/>
                      </a:pPr>
                      <a:r>
                        <a:rPr lang="en-US" sz="1100" dirty="0">
                          <a:solidFill>
                            <a:srgbClr val="1F2937"/>
                          </a:solidFill>
                        </a:rPr>
                        <a:t>우회, </a:t>
                      </a:r>
                      <a:pPr indent="0" marL="0">
                        <a:buNone/>
                      </a:pPr>
                      <a:r>
                        <a:rPr lang="en-US" sz="1100" dirty="0">
                          <a:solidFill>
                            <a:srgbClr val="1F2937"/>
                          </a:solidFill>
                        </a:rPr>
                        <a:t>타 </a:t>
                      </a:r>
                      <a:pPr indent="0" marL="0">
                        <a:buNone/>
                      </a:pPr>
                      <a:r>
                        <a:rPr lang="en-US" sz="1100" dirty="0">
                          <a:solidFill>
                            <a:srgbClr val="1F2937"/>
                          </a:solidFill>
                        </a:rPr>
                        <a:t>사용자 </a:t>
                      </a:r>
                      <a:pPr indent="0" marL="0">
                        <a:buNone/>
                      </a:pPr>
                      <a:r>
                        <a:rPr lang="en-US" sz="1100" dirty="0">
                          <a:solidFill>
                            <a:srgbClr val="1F2937"/>
                          </a:solidFill>
                        </a:rPr>
                        <a:t>파일 </a:t>
                      </a:r>
                      <a:pPr indent="0" marL="0">
                        <a:buNone/>
                      </a:pPr>
                      <a:r>
                        <a:rPr lang="en-US" sz="1100" dirty="0">
                          <a:solidFill>
                            <a:srgbClr val="1F2937"/>
                          </a:solidFill>
                        </a:rPr>
                        <a:t>접근 </a:t>
                      </a:r>
                      <a:pPr indent="0" marL="0">
                        <a:buNone/>
                      </a:pPr>
                      <a:r>
                        <a:rPr lang="en-US" sz="1100" dirty="0">
                          <a:solidFill>
                            <a:srgbClr val="1F2937"/>
                          </a:solidFill>
                        </a:rPr>
                        <a:t>여부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파일 </a:t>
                      </a:r>
                      <a:pPr indent="0" marL="0">
                        <a:buNone/>
                      </a:pPr>
                      <a:r>
                        <a:rPr lang="en-US" sz="1100" dirty="0">
                          <a:solidFill>
                            <a:srgbClr val="1F2937"/>
                          </a:solidFill>
                        </a:rPr>
                        <a:t>접근 </a:t>
                      </a:r>
                      <a:pPr indent="0" marL="0">
                        <a:buNone/>
                      </a:pPr>
                      <a:r>
                        <a:rPr lang="en-US" sz="1100" dirty="0">
                          <a:solidFill>
                            <a:srgbClr val="1F2937"/>
                          </a:solidFill>
                        </a:rPr>
                        <a:t>정책 </a:t>
                      </a:r>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오류·기록 </a:t>
                      </a:r>
                      <a:pPr indent="0" marL="0">
                        <a:buNone/>
                      </a:pPr>
                      <a:r>
                        <a:rPr lang="en-US" sz="1100" dirty="0">
                          <a:solidFill>
                            <a:srgbClr val="1F2937"/>
                          </a:solidFill>
                        </a:rPr>
                        <a:t>정보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응답 </a:t>
                      </a:r>
                      <a:pPr indent="0" marL="0">
                        <a:buNone/>
                      </a:pPr>
                      <a:r>
                        <a:rPr lang="en-US" sz="1100" dirty="0">
                          <a:solidFill>
                            <a:srgbClr val="1F2937"/>
                          </a:solidFill>
                        </a:rPr>
                        <a:t>및 </a:t>
                      </a:r>
                      <a:pPr indent="0" marL="0">
                        <a:buNone/>
                      </a:pPr>
                      <a:r>
                        <a:rPr lang="en-US" sz="1100" dirty="0">
                          <a:solidFill>
                            <a:srgbClr val="1F2937"/>
                          </a:solidFill>
                        </a:rPr>
                        <a:t>기록 </a:t>
                      </a:r>
                      <a:pPr indent="0" marL="0">
                        <a:buNone/>
                      </a:pPr>
                      <a:r>
                        <a:rPr lang="en-US" sz="1100" dirty="0">
                          <a:solidFill>
                            <a:srgbClr val="1F2937"/>
                          </a:solidFill>
                        </a:rPr>
                        <a:t>검토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회의록 </a:t>
                      </a:r>
                      <a:pPr indent="0" marL="0">
                        <a:buNone/>
                      </a:pPr>
                      <a:r>
                        <a:rPr lang="en-US" sz="1100" dirty="0">
                          <a:solidFill>
                            <a:srgbClr val="1F2937"/>
                          </a:solidFill>
                        </a:rPr>
                        <a:t>내용, </a:t>
                      </a:r>
                      <a:pPr indent="0" marL="0">
                        <a:buNone/>
                      </a:pPr>
                      <a:r>
                        <a:rPr lang="en-US" sz="1100" dirty="0">
                          <a:solidFill>
                            <a:srgbClr val="1F2937"/>
                          </a:solidFill>
                        </a:rPr>
                        <a:t>인증 </a:t>
                      </a:r>
                      <a:pPr indent="0" marL="0">
                        <a:buNone/>
                      </a:pPr>
                      <a:r>
                        <a:rPr lang="en-US" sz="1100" dirty="0">
                          <a:solidFill>
                            <a:srgbClr val="1F2937"/>
                          </a:solidFill>
                        </a:rPr>
                        <a:t>정보 </a:t>
                      </a:r>
                      <a:pPr indent="0" marL="0">
                        <a:buNone/>
                      </a:pPr>
                      <a:r>
                        <a:rPr lang="en-US" sz="1100" dirty="0">
                          <a:solidFill>
                            <a:srgbClr val="1F2937"/>
                          </a:solidFill>
                        </a:rPr>
                        <a:t>등이 </a:t>
                      </a:r>
                      <a:pPr indent="0" marL="0">
                        <a:buNone/>
                      </a:pPr>
                      <a:r>
                        <a:rPr lang="en-US" sz="1100" dirty="0">
                          <a:solidFill>
                            <a:srgbClr val="1F2937"/>
                          </a:solidFill>
                        </a:rPr>
                        <a:t>과도하게 </a:t>
                      </a:r>
                      <a:pPr indent="0" marL="0">
                        <a:buNone/>
                      </a:pPr>
                      <a:r>
                        <a:rPr lang="en-US" sz="1100" dirty="0">
                          <a:solidFill>
                            <a:srgbClr val="1F2937"/>
                          </a:solidFill>
                        </a:rPr>
                        <a:t>노출되는지 </a:t>
                      </a:r>
                      <a:pPr indent="0" marL="0">
                        <a:buNone/>
                      </a:pPr>
                      <a:r>
                        <a:rPr lang="en-US" sz="1100" dirty="0">
                          <a:solidFill>
                            <a:srgbClr val="1F2937"/>
                          </a:solidFill>
                        </a:rPr>
                        <a:t>여부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기록 </a:t>
                      </a:r>
                      <a:pPr indent="0" marL="0">
                        <a:buNone/>
                      </a:pPr>
                      <a:r>
                        <a:rPr lang="en-US" sz="1100" dirty="0">
                          <a:solidFill>
                            <a:srgbClr val="1F2937"/>
                          </a:solidFill>
                        </a:rPr>
                        <a:t>정책 </a:t>
                      </a:r>
                      <a:pPr indent="0" marL="0">
                        <a:buNone/>
                      </a:pPr>
                      <a:r>
                        <a:rPr lang="en-US" sz="1100" dirty="0">
                          <a:solidFill>
                            <a:srgbClr val="1F2937"/>
                          </a:solidFill>
                        </a:rPr>
                        <a:t>및 </a:t>
                      </a:r>
                      <a:pPr indent="0" marL="0">
                        <a:buNone/>
                      </a:pPr>
                      <a:r>
                        <a:rPr lang="en-US" sz="1100" dirty="0">
                          <a:solidFill>
                            <a:srgbClr val="1F2937"/>
                          </a:solidFill>
                        </a:rPr>
                        <a:t>민감정보 </a:t>
                      </a:r>
                      <a:pPr indent="0" marL="0">
                        <a:buNone/>
                      </a:pPr>
                      <a:r>
                        <a:rPr lang="en-US" sz="1100" dirty="0">
                          <a:solidFill>
                            <a:srgbClr val="1F2937"/>
                          </a:solidFill>
                        </a:rPr>
                        <a:t>분류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취약점 </a:t>
                      </a:r>
                      <a:pPr indent="0" marL="0">
                        <a:buNone/>
                      </a:pPr>
                      <a:r>
                        <a:rPr lang="en-US" sz="1100" dirty="0">
                          <a:solidFill>
                            <a:srgbClr val="1F2937"/>
                          </a:solidFill>
                        </a:rPr>
                        <a:t>점검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OWASP </a:t>
                      </a:r>
                      <a:pPr indent="0" marL="0">
                        <a:buNone/>
                      </a:pPr>
                      <a:r>
                        <a:rPr lang="en-US" sz="1100" dirty="0">
                          <a:solidFill>
                            <a:srgbClr val="1F2937"/>
                          </a:solidFill>
                        </a:rPr>
                        <a:t>ZAP </a:t>
                      </a:r>
                      <a:pPr indent="0" marL="0">
                        <a:buNone/>
                      </a:pPr>
                      <a:r>
                        <a:rPr lang="en-US" sz="1100" dirty="0">
                          <a:solidFill>
                            <a:srgbClr val="1F2937"/>
                          </a:solidFill>
                        </a:rPr>
                        <a:t>등 </a:t>
                      </a:r>
                      <a:pPr indent="0" marL="0">
                        <a:buNone/>
                      </a:pPr>
                      <a:r>
                        <a:rPr lang="en-US" sz="1100" dirty="0">
                          <a:solidFill>
                            <a:srgbClr val="1F2937"/>
                          </a:solidFill>
                        </a:rPr>
                        <a:t>선택 </a:t>
                      </a:r>
                      <a:pPr indent="0" marL="0">
                        <a:buNone/>
                      </a:pPr>
                      <a:r>
                        <a:rPr lang="en-US" sz="1100" dirty="0">
                          <a:solidFill>
                            <a:srgbClr val="1F2937"/>
                          </a:solidFill>
                        </a:rPr>
                        <a:t>도구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자동 </a:t>
                      </a:r>
                      <a:pPr indent="0" marL="0">
                        <a:buNone/>
                      </a:pPr>
                      <a:r>
                        <a:rPr lang="en-US" sz="1100" dirty="0">
                          <a:solidFill>
                            <a:srgbClr val="1F2937"/>
                          </a:solidFill>
                        </a:rPr>
                        <a:t>점검 </a:t>
                      </a:r>
                      <a:pPr indent="0" marL="0">
                        <a:buNone/>
                      </a:pPr>
                      <a:r>
                        <a:rPr lang="en-US" sz="1100" dirty="0">
                          <a:solidFill>
                            <a:srgbClr val="1F2937"/>
                          </a:solidFill>
                        </a:rPr>
                        <a:t>결과와 </a:t>
                      </a:r>
                      <a:pPr indent="0" marL="0">
                        <a:buNone/>
                      </a:pPr>
                      <a:r>
                        <a:rPr lang="en-US" sz="1100" dirty="0">
                          <a:solidFill>
                            <a:srgbClr val="1F2937"/>
                          </a:solidFill>
                        </a:rPr>
                        <a:t>수동 </a:t>
                      </a:r>
                      <a:pPr indent="0" marL="0">
                        <a:buNone/>
                      </a:pPr>
                      <a:r>
                        <a:rPr lang="en-US" sz="1100" dirty="0">
                          <a:solidFill>
                            <a:srgbClr val="1F2937"/>
                          </a:solidFill>
                        </a:rPr>
                        <a:t>확인이 </a:t>
                      </a:r>
                      <a:pPr indent="0" marL="0">
                        <a:buNone/>
                      </a:pPr>
                      <a:r>
                        <a:rPr lang="en-US" sz="1100" dirty="0">
                          <a:solidFill>
                            <a:srgbClr val="1F2937"/>
                          </a:solidFill>
                        </a:rPr>
                        <a:t>필요한 </a:t>
                      </a:r>
                      <a:pPr indent="0" marL="0">
                        <a:buNone/>
                      </a:pPr>
                      <a:r>
                        <a:rPr lang="en-US" sz="1100" dirty="0">
                          <a:solidFill>
                            <a:srgbClr val="1F2937"/>
                          </a:solidFill>
                        </a:rPr>
                        <a:t>항목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허용 </a:t>
                      </a:r>
                      <a:pPr indent="0" marL="0">
                        <a:buNone/>
                      </a:pPr>
                      <a:r>
                        <a:rPr lang="en-US" sz="1100" dirty="0">
                          <a:solidFill>
                            <a:srgbClr val="1F2937"/>
                          </a:solidFill>
                        </a:rPr>
                        <a:t>심각도와 </a:t>
                      </a:r>
                      <a:pPr indent="0" marL="0">
                        <a:buNone/>
                      </a:pPr>
                      <a:r>
                        <a:rPr lang="en-US" sz="1100" dirty="0">
                          <a:solidFill>
                            <a:srgbClr val="1F2937"/>
                          </a:solidFill>
                        </a:rPr>
                        <a:t>처리 </a:t>
                      </a:r>
                      <a:pPr indent="0" marL="0">
                        <a:buNone/>
                      </a:pPr>
                      <a:r>
                        <a:rPr lang="en-US" sz="1100" dirty="0">
                          <a:solidFill>
                            <a:srgbClr val="1F2937"/>
                          </a:solidFill>
                        </a:rPr>
                        <a:t>기준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작성 완료 후 확인사항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테스트 유형별 목적·도구 제안·주기·자동화 방향을 작성했습니다. 도구는 실제 기술 스택 확인 전의 제안입니다.</a:t>
            </a:r>
            <a:endParaRPr lang="en-US" sz="1600" dirty="0"/>
          </a:p>
          <a:p>
            <a:pPr indent="0" marL="0">
              <a:spcAft>
                <a:spcPts val="800"/>
              </a:spcAft>
              <a:buNone/>
            </a:pPr>
            <a:r>
              <a:rPr lang="en-US" sz="1600" dirty="0">
                <a:solidFill>
                  <a:srgbClr val="4B5563"/>
                </a:solidFill>
              </a:rPr>
              <a:t>☑ 입수·퇴수 기준을 작성했으며, 회의에서 정하지 않은 수치 기준은 미정으로 표시했습니다.</a:t>
            </a:r>
            <a:endParaRPr lang="en-US" sz="1600" dirty="0"/>
          </a:p>
          <a:p>
            <a:pPr indent="0" marL="0">
              <a:spcAft>
                <a:spcPts val="800"/>
              </a:spcAft>
              <a:buNone/>
            </a:pPr>
            <a:r>
              <a:rPr lang="en-US" sz="1600" dirty="0">
                <a:solidFill>
                  <a:srgbClr val="4B5563"/>
                </a:solidFill>
              </a:rPr>
              <a:t>☑ 일정은 개발 4주와 테스트 기간을 혼동하지 않도록 주차 기준 제안으로 작성하고, 정확한 날짜를 미정으로 남겼습니다.</a:t>
            </a:r>
            <a:endParaRPr lang="en-US" sz="1600" dirty="0"/>
          </a:p>
          <a:p>
            <a:pPr indent="0" marL="0">
              <a:spcAft>
                <a:spcPts val="800"/>
              </a:spcAft>
              <a:buNone/>
            </a:pPr>
            <a:r>
              <a:rPr lang="en-US" sz="1600" dirty="0">
                <a:solidFill>
                  <a:srgbClr val="4B5563"/>
                </a:solidFill>
              </a:rPr>
              <a:t>☑ 기기 저장·재사용, 취소 후 이전 응답 무시, Word·PDF의 표·다이어그램 보존을 핵심 검증 항목에 반영했습니다.</a:t>
            </a:r>
            <a:endParaRPr lang="en-US" sz="1600" dirty="0"/>
          </a:p>
          <a:p>
            <a:pPr indent="0" marL="0">
              <a:spcAft>
                <a:spcPts val="800"/>
              </a:spcAft>
              <a:buNone/>
            </a:pPr>
            <a:r>
              <a:rPr lang="en-US" sz="1600" dirty="0">
                <a:solidFill>
                  <a:srgbClr val="4B5563"/>
                </a:solidFill>
              </a:rPr>
              <a:t>☑ 공유 링크와 결제를 제외 범위에 반영했습니다.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작성 완료 후 확인사항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예산, 사용자 수 목표, 인력, 환경, 성능 목표, 보안 기준 및 승인자를 확인 필요 또는 미정으로 표시했습니다.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69</Slides>
  <Notes>69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69</vt:i4>
      </vt:variant>
    </vt:vector>
  </HeadingPairs>
  <TitlesOfParts>
    <vt:vector size="7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2026-10-06T12:41:58Z</dcterms:created>
  <dcterms:modified xsi:type="dcterms:W3CDTF">2026-10-06T12:41:58Z</dcterms:modified>
</cp:coreProperties>
</file>