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</p:sldIdLst>
  <p:notesMasterIdLst>
    <p:notesMasterId r:id="rId15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notesMaster" Target="notesMasters/notesMaster1.xml"/><Relationship Id="rId154" Type="http://schemas.openxmlformats.org/officeDocument/2006/relationships/presProps" Target="presProps.xml"/><Relationship Id="rId155" Type="http://schemas.openxmlformats.org/officeDocument/2006/relationships/viewProps" Target="viewProps.xml"/><Relationship Id="rId156" Type="http://schemas.openxmlformats.org/officeDocument/2006/relationships/theme" Target="theme/theme1.xml"/><Relationship Id="rId1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디자인팀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검토 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작성 기준: 회의에서 확인된 화면·기능 결정과 미확정 사항을 구분했습니다. 화면 경로는 모바일 앱의 내부 경로 초안이며, 실제 주소 체계와 화면 구현 방식은 개발 설계 과정에서 확정해야 합니다. 사진 첨부는 회의 중 제외와 포함 논의가 모두 있었으나, 후반부에 식사당 한 장 첨부를 포함하는 방향으로 정리된 내용을 반영했습니다.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사진 자동 인식은 MVP 필수 기능으로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변경 이력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66274"/>
                <a:gridCol w="1443789"/>
                <a:gridCol w="5053263"/>
                <a:gridCol w="8662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화면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9043"/>
                <a:gridCol w="64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28개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분류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메인: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서브: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13개,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팝업·토스트: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깊이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3단계.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화면·모달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레벨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비회원,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플랫폼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리액트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네이티브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관리자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화면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수 산정 기준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화면의 전체 레이아웃과 주요 목적이 다른 경우 별도 화면으로 셉니다.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없음, 통신 오류처럼 같은 화면 안에서 내용만 달라지는 경우는 화면 수에 포함하지 않고 상태로 정의합니다.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선택, 삭제 확인처럼 기존 화면 위에 겹쳐 표시되는 화면은 모달로 셉니다.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중 표시와 저장 완료 안내처럼 짧게 나타나는 요소는 팝업·토스트로 셉니다.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화면 수와 우선순위는 문서상 분류이며, 회의에서 수치를 확정한 것은 아닙니다.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화면 분포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화면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851" y="1463040"/>
            <a:ext cx="5626298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화면 분류 체계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메인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앱의 주요 이동 메뉴에 포함되는 화면입니다. 모바일 화면에서 하단 메뉴 또는 상단 동작을 통해 접근합니다. 인증 방식이 확정되지 않았으므로 앱 진입 및 인증 화면은 실제 로그인 제공자에 따라 통합하거나 분리할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서브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메인 화면에서 특정 작업을 수행하기 위해 이동하는 상세 화면입니다. 음식 검색·입력, 기록 상세·수정, 날짜 선택, 프로필·목표, 개인정보 설정 등이 포함됩니다.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모달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현재 화면을 유지한 채 위에 겹쳐 표시하는 화면입니다. 사진 선택, 날짜 선택, 기록 삭제 확인 등 짧고 독립적인 작업에 사용합니다.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3.4 팝업·토스트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처리 결과, 오류, 권한 상태 등을 알리는 간단한 요소입니다. 별도의 화면 이동 없이 표시하며, 저장 실패 등 사용자의 재시도가 필요한 경우에는 자동으로 사라지지 않는 안내를 사용합니다.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화면 목록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메인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33046"/>
                <a:gridCol w="1055077"/>
                <a:gridCol w="1793631"/>
                <a:gridCol w="844062"/>
                <a:gridCol w="3270738"/>
                <a:gridCol w="63304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시작·인증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/onboarding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안내·선택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메인·기록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/reports/weekly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프로필·목표·알림·개인정보·계정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서브 화면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14350"/>
                <a:gridCol w="857250"/>
                <a:gridCol w="2486025"/>
                <a:gridCol w="514350"/>
                <a:gridCol w="1028700"/>
                <a:gridCol w="2314575"/>
                <a:gridCol w="5143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/food/add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/food/:foodId/select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/food/custom/new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/records/items/:itemId/edit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이름·양·식사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구분·섭취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/records/:recordId/photo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/settings/profile-goal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확인·수정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서브 화면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84094"/>
                <a:gridCol w="1129553"/>
                <a:gridCol w="2097741"/>
                <a:gridCol w="484094"/>
                <a:gridCol w="1532965"/>
                <a:gridCol w="2017059"/>
                <a:gridCol w="4840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/settings/account/delete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모달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44843"/>
                <a:gridCol w="593124"/>
                <a:gridCol w="2224216"/>
                <a:gridCol w="1556951"/>
                <a:gridCol w="1037968"/>
                <a:gridCol w="23724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모달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모달명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식별자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트리거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크기·표시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modal/date-picker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S-105의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modal/delete-record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S-107의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대화상자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삭제할지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modal/favorites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modal/photo-picker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권한·사진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modal/delete-account-confirm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대화상자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modal/analytics-consent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S-111에서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대화상자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팝업·토스트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25033"/>
                <a:gridCol w="1250066"/>
                <a:gridCol w="625033"/>
                <a:gridCol w="2187615"/>
                <a:gridCol w="35418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팝업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팝업명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알리고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실패·재시도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불명확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맥락을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화면 상세 명세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공통 화면 규칙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공통 표시 원칙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완료 상태와 오늘의 기록을 칼로리 목표 달성 여부보다 앞세웁니다.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칼로리·영양값은 참고값으로 표현하고, 실제 섭취량을 확정적으로 보여주지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없는 사용자는 기록과 리포트를 이용할 수 있으며, 목표 비교와 칼로리 목표 게이지는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영양값이 없는 상태와 실제 값이 0인 상태를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날짜는 0으로 표시하지 않고 빈 상태로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없음과 검색 요청 오류를 구분합니다.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공통 표시 원칙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데이터의 출처는 확인할 수 있도록 제공하되, 표시 방식은 공급자 계약상 출처 표시 의무를 확인한 뒤 확정합니다.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기록에 일부 영양 정보가 없는 경우 다음 안내 문구를 사용합니다.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“일부 음식 정보가 없어 영양소별 합계가 다를 수 있어요.”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문구에는 음식명·칼로리·체중 등 개인 기록 정보를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화면 상태와 버튼을 색상만으로 구분하지 않습니다. 주요 화면은 시스템 글자 크기에서 깨지지 않아야 하며, 버튼에는 읽을 수 있는 이름을 제공합니다.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공통 표시 원칙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 시 입력값을 유지하고, 사용자가 저장 완료 여부를 알 수 있도록 진행·성공·실패 상태를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iOS와 안드로이드의 기기별 권한·화면 표시 차이는 별도 확인합니다. 지원 운영체제 버전은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공통 탐색 구조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주요 메뉴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홈, 주간 리포트, 설정을 중심으로 구성합니다.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홈 내부 이동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날짜 선택, 식사별 기록 목록, 음식 추가, 기록 상세로 이동합니다.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기록 추가 흐름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음식 추가 → 검색·최근·즐겨찾기 또는 직접 입력 → 양·식사 구분 확인 → 저장 → 홈 또는 날짜별 기록으로 복귀합니다.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알림 설정 흐름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앱 안에서 사용자가 알림을 켜기로 선택한 뒤에만 운영체제 권한을 요청합니다.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공통 탐색 구조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관리자 화면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MVP 관리자 전용 화면은 정의하지 않습니다. 운영자가 사용자의 기록을 조회해야 하는 경우에는 사용자의 동의, 접근 권한 승인, 접근 기록이 필요하며 상세 운영 화면은 별도 검토 대상입니다.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로그인하거나 계정을 만들고 앱을 이용하도록 진입 경로를 제공합니다. 게스트 시작 여부와 최종 인증 제공자는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52786"/>
                <a:gridCol w="1115878"/>
                <a:gridCol w="836908"/>
                <a:gridCol w="43240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이름·간단한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쉽게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남기는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연결·병합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최초 실행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로그아웃 상태에서 앱 실행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만료 또는 인증 필요 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로그인·계정 생성 성공 → S-002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약관·개인정보 안내 → S-111 또는 별도 안내 화면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로그인 오류 문의 → S-113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게스트 시작이 확정된 경우 → S-002 또는 S-003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접근 가능하나 유효한 로그인 상태면 기본적으로 S-003으로 이동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사용자와 같은 진입 화면 사용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상태·예외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제공자 범위가 확정되기 전에는 화면의 버튼 구성과 순서를 확정하지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게스트 방식이 도입되면 기기 변경·앱 삭제 시 데이터 처리와 회원 전환 흐름을 안내해야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제공자별 iOS 심사 조건을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서비스의 사용 목적과 기록 방식을 안내하고, 목표 없이 시작하거나 선택적으로 목표 설정을 진행할 수 있게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53849"/>
                <a:gridCol w="809469"/>
                <a:gridCol w="809469"/>
                <a:gridCol w="48568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‘식사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습관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확인’,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‘체중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설정’,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‘목표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건너뛰기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건너뛰게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나중에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링크·설명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S-001에서 인증 또는 게스트 시작 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없이 시작 → S-003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설정 선택 → S-109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설정을 선택한 경우 → T-004를 거쳐 S-110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약관·개인정보 안내 → S-111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가입 직후 접근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사용자와 같은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키·체중·나이·성별을 앱 시작의 필수 입력값으로 요구하지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권장 칼로리는 전문가 검토와 안전 기준 확인 전 임의로 표시하지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입력 방식 및 안전하지 않은 목표값을 막는 기준은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다음 주 화요일까지 안전 기준이 확인되지 않으면 자동 칼로리 목표를 MVP에서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선택지의 문구와 리포트 관련 표현은 전문가 의견 전까지 변경 가능 상태로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오늘의 기록 상태를 확인하고, 식사 기록을 시작하거나 날짜별 기록을 다시 확인하도록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85950"/>
                <a:gridCol w="1028700"/>
                <a:gridCol w="1028700"/>
                <a:gridCol w="42862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돌아오기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칼로리·영양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메뉴·카드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S-002 완료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실행 시 로그인 상태 확인 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저장 완료 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S-105에서 오늘 날짜로 이동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추가 → S-101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날짜별 기록 상세 → S-105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항목 선택 → S-106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 선택 → M-001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 → S-004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설정 → S-005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방식이 확정되는 경우 게스트 권한으로 접근 가능 여부를 별도 정의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기록만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사용자 화면 접근이 기본이며, 관리자 기록 열람 기능은 별도 승인·접근 기록 없이는 제공하지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상태·예외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설정되지 않은 경우 칼로리 목표 게이지와 목표 대비 수치를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날짜는 0칼로리로 표시하지 않고, 부담을 주지 않는 기록 안내와 기록 추가 동작을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현재 날짜가 바뀐 뒤 앱으로 돌아오면 날짜와 기록을 새로고침합니다.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 탐색 화면은 최근 7일을 빠르게 이동하는 안이 논의됐으며, 더 오래된 날짜는 OS 날짜 선택기로 입력할 수 있는 세부 정책이 미확정입니다.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미래 날짜 기록은 막는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완료된 주의 기록 일수, 기록된 날 기준 영양 정보, 끼니 패턴을 관찰형·중립적 표현으로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52786"/>
                <a:gridCol w="1115878"/>
                <a:gridCol w="976393"/>
                <a:gridCol w="418454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제목·기간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월요일부터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일요일까지의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탄수화물·단백질·지방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차트·문구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막대·상태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빈칸·점선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미정·제안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S-003의 주간 리포트 진입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주요 메뉴에서 리포트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추가 → S-101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특정 날짜의 기록 보기 → S-105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홈 → S-003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기록에 한해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사용자 리포트 접근 불가. 별도 운영 권한 정의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설계·계산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리포트는 한국 시간 기준 월요일부터 일요일까지의 종료된 주를 ‘지난주’로 표시합니다. 이번 주 현황은 홈에서 확인하는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‘기록한 날 기준 평균’이라는 계산 기준을 화면에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없거나 해당 날짜에 유효한 목표가 없으면 목표 비교선을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변경 이력을 적용해 식사 날짜 당시 유효한 목표를 기준으로 비교합니다.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건강 점수, 좋음·나쁨 평가, 실패를 암시하는 표현, 직접적인 식품 추천은 제공하지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리포트는 사용자가 열 때 우리 데이터베이스의 기록 시점 영양값을 기준으로 계산합니다. 기록 수정·삭제 후 다시 열면 갱신합니다.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지난주 비교는 기록이 충분한 경우에만 보조로 제공하는 방향이며, 최소 기록 기준은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영양소별 값은 각각 값이 있는 항목만 계산합니다. 기록이 없는 날짜와 영양 정보가 빠진 날짜를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빈 상태 문구는 사용자를 탓하지 않는 표현과 기록 추가 동작을 포함합니다.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5.6 S-005: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프로필·목표·알림·개인정보 동의와 계정 삭제, 문의 기능에 접근하도록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5.6 S-005: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71600"/>
                <a:gridCol w="1371600"/>
                <a:gridCol w="3886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메뉴·링크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정보·약관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5.6 S-005: 설정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S-003의 설정 메뉴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프로필·목표 → S-109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설정 → S-110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개인정보·동의 → S-111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→ S-112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5.6 S-005: 설정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문의·음식 정보 신고 안내 → S-113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시작이 확정되면 게스트에게 제공할 설정 범위를 별도 정의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계정의 설정만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사용자 설정을 임의로 열람할 수 없음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검색, 최근 기록, 즐겨찾기를 활용해 음식 기록 흐름에 빠르게 진입하게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52786"/>
                <a:gridCol w="836908"/>
                <a:gridCol w="836908"/>
                <a:gridCol w="46029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탭·목록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별표한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S-003 또는 S-105의 기록 추가 버튼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 입력 → S-102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선택 → S-103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기록·즐겨찾기 선택 → S-103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 → S-104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즐겨찾기 관리 → M-003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게스트 소유 기록 범위에서 접근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 및 개인 음식만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사용자 음식 목록 접근 불가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확정·미확정 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즐겨찾기는 MVP에 포함합니다.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추가 화면의 기본 탭은 최근 탭과 검색 탭 제안이 상충해 미정입니다. 화면 확정 전 사용자 흐름과 검색 API 조건을 반영해 결정해야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인기 메뉴는 초기 화면에 제공하지 않는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API 검색어 전달·보관 조건을 확인하고 개인정보 안내에 반영해야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검색 결과를 확인하고, 적합한 항목을 고르거나 결과가 없을 때 직접 입력으로 이어가게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14463"/>
                <a:gridCol w="1414463"/>
                <a:gridCol w="771525"/>
                <a:gridCol w="46291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표시·상세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S-101에서 검색 시작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S-101에서 검색 탭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선택 → S-103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 → S-104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다시 검색 → S-102 유지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허용 범위를 별도 정의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검색 화면을 사용하지 않으며, 공급자 운영 도구는 별도 범위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검색 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최종 검색 조건은 추가 확인이 필요합니다. 회의 중 두 글자 이상 입력 후 약 300밀리초 대기 방안과 한 글자 검색 허용·약 350밀리초 대기 방안이 모두 논의됐습니다. 후반 논의에서는 한 글자 검색을 허용하고 약 350밀리초 대기하는 방향이 제시됐으나, 공급자 계약과 호출 제한 확인 후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 공백 정규화와 자주 쓰는 동의어 매핑을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 자체를 분석 이벤트에 저장하지 않습니다. 검색 결과 유무와 같은 최소 정보만 수집하는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API에는 검색어만 전달하며 사용자 식별 정보, 기록 날짜, 식사 기록은 전달하지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결과가 없다는 이유로 유사한 음식을 자동 선택하지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빈 결과와 통신·API 오류는 서로 다른 안내로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결과의 기준 제공량이나 출처가 불명확하면 임의 단위를 만들지 않고 안내합니다.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공급처, 라이선스, 국내 데이터 범위, 비용, 캐시 허용 기간은 미확정입니다.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선택한 음식의 기준 제공량과 영양 정보를 확인하고, 양·식사 구분을 지정해 기록합니다.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출처·브랜드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기준량에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요약·상세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탄단지는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취소·뒤로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S-102의 검색 결과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S-101의 최근 기록·즐겨찾기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성공 → 진입했던 S-003 또는 S-105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저장 중 → T-001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완료 → T-002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 → T-003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정보 오류 신고 → S-113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본인 기록에 한해 접근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기록에 음식 추가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사용자 기록을 일반 화면에서 열람할 수 없음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구분은 아침·점심·저녁·간식 네 가지로 고정합니다.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현재 시간에 따른 식사 구분은 추천만 하고 사용자가 저장 전에 바꿀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제공 데이터에 기준량이 있으면 이를 표시하고 배수로 조정합니다.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그램 환산과 자유 형식 단위 입력은 MVP에서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데이터의 칼로리와 영양값은 참고값으로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시 선택한 음식 이름과 영양값은 식사 기록에 스냅샷으로 보존합니다.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한 끼에 여러 음식 항목을 추가할 수 있습니다. 항목별로 즉시 저장하며, 같은 날짜·식사 구분의 항목을 합산해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요청에는 중복 방지를 위한 고유 요청 식별값을 사용하는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검색 결과가 없거나 영양 정보를 모르는 경우에도 음식명을 기록하게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6077"/>
                <a:gridCol w="1050587"/>
                <a:gridCol w="1050587"/>
                <a:gridCol w="42023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탄수화물·단백질·지방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설명·확인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가능함을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S-101의 직접 입력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S-102의 검색 결과 없음·직접 입력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성공 → S-003 또는 S-105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중·성공·실패 → T-001, T-002, T-003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취소 → S-101 또는 S-102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게스트 개인 데이터 범위에서 접근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본인의 개인 음식 생성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일반 사용자 입력 음식은 기본적으로 접근 불가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이름은 필수입니다.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 음식은 1회분을 기본값으로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정보는 모두 비워도 저장할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값이 없는 상태와 실제 값 0을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값이 없는 영양소는 합계 계산에서 제외하되 식사 기록 자체는 유지합니다.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 입력 음식은 기본적으로 본인에게만 보이며 다른 사용자의 검색 결과에 노출하지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공용 음식 데이터에 올리려면 별도 동의가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메모 입력은 MVP에서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선택 날짜의 기록을 식사 구분별로 확인하고, 기록 추가·수정·삭제를 진행합니다.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6077"/>
                <a:gridCol w="1050587"/>
                <a:gridCol w="1050587"/>
                <a:gridCol w="42023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돌아오기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S-003의 날짜 이동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S-003의 식사 구분 또는 기록 목록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S-004에서 기록 날짜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추가 → S-101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항목 선택 → S-106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 선택 → M-001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홈 → S-003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게스트가 확정되면 게스트 소유 기록만 접근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기록만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사용자 기록을 일반 화면에서 열람할 수 없음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생성 시각과 실제 섭취 날짜를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시점의 사용자 현지 날짜를 기본값으로 하고, 사용자는 날짜와 시간을 바꿀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미래 날짜 기록은 허용하지 않는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과거 날짜 입력은 허용하는 방향입니다. 입력 가능한 과거 범위는 제한하지 않는 안이 논의됐으나, 화면의 빠른 탐색 범위는 추가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같은 날짜와 식사 구분의 기록은 함께 표시하고 합산합니다.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별도 식사 묶음이나 시간대별 식사 세션은 MVP에서 사용하지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날짜는 0으로 표시하지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5.12 S-106: 기록 상세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개별 식사 음식 항목의 기록 내용을 확인하고 수정·삭제하도록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5.12 S-106: 기록 상세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31235"/>
                <a:gridCol w="1967948"/>
                <a:gridCol w="1073426"/>
                <a:gridCol w="37569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양·단위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표시·상세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S-107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S-108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5.12 S-106: 기록 상세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S-003 또는 S-105의 기록 항목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수정 → S-107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확인 → M-002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보기 → S-108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이전 목록 → S-003 또는 S-105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5.12 S-106: 기록 상세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게스트 소유 기록만 접근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기록만 열람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운영 목적의 임의 열람은 허용하지 않음. 예외 접근에는 동의·권한 승인·접근 기록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5.13 S-107: 기록 수정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잘못 입력한 식사 항목의 이름, 양, 식사 구분 및 섭취 날짜를 수정합니다.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5.13 S-107: 기록 수정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35117"/>
                <a:gridCol w="1560786"/>
                <a:gridCol w="851338"/>
                <a:gridCol w="46823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양·배수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폐기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5.13 S-107: 기록 수정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S-106의 수정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수정 저장 성공 → S-106 또는 S-105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 → T-003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선택 → M-002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5.13 S-107: 기록 수정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게스트 소유 기록만 수정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기록만 수정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사용자 기록 수정 불가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당시의 음식 이름과 영양값은 외부 음식 데이터가 바뀌어도 자동으로 바꾸지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최신 음식 정보로 기록을 갱신하는 기능은 MVP에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변경은 과거 기록의 목표 비교에 소급 적용하지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5.13 S-107: 기록 수정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수정·삭제 후 주간 리포트를 다시 열면 최신 기록으로 계산합니다.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식사 기록에 첨부된 사진을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42204"/>
                <a:gridCol w="1242204"/>
                <a:gridCol w="931653"/>
                <a:gridCol w="48135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이미지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닫기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돌아가기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S-106에서 사진이 있는 기록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닫기 → S-106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삭제 요청 → 삭제 확인 흐름. 확인 모달은 화면 설계에서 추가 정의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게스트 소유 사진만 접근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기록에 연결된 사진만 접근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사용자 사진을 일반적으로 열람할 수 없음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회의 후반부에서는 식사당 한 장 첨부를 포함하는 방향으로 정리됐습니다. 사진 용량 제한, EXIF 제거, 저장소 접근 방식, 사진 삭제 시점은 기술·개인정보 검토가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자동 인식과 외부 분석 API 전송은 기본 MVP 범위에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업로드 실패가 식사 기록 저장을 막아서는 안 됩니다. 식사 저장 후 사진을 추가하고 별도로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5.15 S-109: 프로필·목표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선택적으로 목표와 프로필 정보를 설정하거나 변경합니다.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5.15 S-109: 프로필·목표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66092"/>
                <a:gridCol w="1266092"/>
                <a:gridCol w="1107831"/>
                <a:gridCol w="45895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습관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키·체중·나이·성별의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시작일·종료일을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5.15 S-109: 프로필·목표 설정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S-002에서 목표 설정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S-005에서 프로필·목표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완료 → S-003 또는 S-005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취소 → 진입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개인정보 안내 → S-111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5.15 S-109: 프로필·목표 설정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게스트가 설정할 수 있는 범위를 별도 정의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프로필과 목표만 조회·수정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민감한 프로필 정보는 일반 운영자에게 노출하지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미확정 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수치의 직접 입력 가능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칼로리 목표 여부와 안전 기준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5.15 S-109: 프로필·목표 설정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신체 정보별 필수·선택 여부, 특히 성별 미입력 시 처리 방식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전문가 검토 전 목표·리포트 문구의 최종 확정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기록 알림을 선택하고 시간과 권한 상태를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36914"/>
                <a:gridCol w="1175657"/>
                <a:gridCol w="914400"/>
                <a:gridCol w="47026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켜기·끄기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스위치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논의됐으나,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버튼·링크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S-005의 알림 설정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S-002에서 알림 선택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첫 기록 완료 후 인라인 안내를 선택했을 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권한 요청 → T-004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설정 완료 → S-003 또는 S-005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권한 거부 후 설정 이동 → 운영체제 설정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이용이 확정되면 알림 설정 허용 여부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알림 설정만 변경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사용자 알림 설정 변경 불가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설계·동작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알림은 사용자가 앱 안에서 명시적으로 선택한 경우에만 켭니다.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약관 동의와 알림 선택을 분리하며, 알림 기본값은 꺼짐입니다.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알림을 켜기로 선택한 시점에 운영체제 권한을 요청합니다.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권한이 거부되면 앱에서 알림이 켜진 것처럼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첫 실행 직후 권한 팝업을 띄우지 않고, 첫 기록 완료 후 선택형 안내를 제공하는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알림은 하루 최대 한 번입니다. 해당 날짜에 기록이 한 건 이상 있으면 발송하지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문구에는 음식명·칼로리·체중 등 개인 기록 정보를 넣지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 알림은 초기 범위에서 제외하는 결정과, 별도 선택형으로 제공하는 논의가 함께 있어 최종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5.17 S-111: 개인정보·동의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개인정보 처리 안내와 선택적 동의를 확인하고 제품 분석 선택을 관리하도록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5.17 S-111: 개인정보·동의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97775"/>
                <a:gridCol w="1047404"/>
                <a:gridCol w="463850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항목·목적·보유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기간·위탁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스위치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5.17 S-111: 개인정보·동의 관리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S-001의 약관·개인정보 링크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S-005의 개인정보·동의 메뉴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설정 → S-110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→ S-112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문의 → S-113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5.17 S-111: 개인정보·동의 관리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공개 안내 및 동의 화면에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동의 상태 조회·변경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동의 기록 열람은 업무상 필요 최소 범위로 제한. 세부 권한은 별도 정의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서비스 이용약관, 개인정보 처리 동의, 푸시 수신 선택을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마케팅 알림 동의는 MVP에서 두지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5.17 S-111: 개인정보·동의 관리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선택적 제품 분석을 거부해도 앱 기능을 제한하지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 이벤트에는 음식 이름·칼로리·체중·자유 입력 메모를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 자체를 제품 분석에 저장하지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업체의 처리 위치, 검색어 보관 조건, 국외 이전 여부 및 개인정보 처리방침 반영 내용은 출시 전 확인해야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서비스 보안·장애 대응을 위한 최소 로그와 선택적 제품 분석은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5.18 S-112: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앱 안에서 계정과 연관 기록의 삭제를 요청하게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5.18 S-112: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66092"/>
                <a:gridCol w="949569"/>
                <a:gridCol w="1740877"/>
                <a:gridCol w="42730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정책·기술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5.18 S-112: 계정 삭제 요청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S-005의 계정 삭제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S-111의 데이터 삭제 안내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요청 확인 → M-005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요청 완료 → 완료 안내 후 앱 진입 제한 또는 로그인 화면 이동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취소 → S-005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5.18 S-112: 계정 삭제 요청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접근 불가. 게스트 계정 삭제 방식은 인증 구조 확정 후 정의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본인 계정만 삭제 요청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사용자 대신 삭제 요청을 임의로 만들 수 없음. 운영 처리는 별도 권한과 기록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시 계정과 연관된 식사 기록을 삭제하는 것을 기본으로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토큰 비활성화와 사진·기록 삭제 흐름을 고려합니다.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5.18 S-112: 계정 삭제 요청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백업에서의 완전 삭제 시점, 처리 완료 시각, 법적 보관 의무는 개인정보·법무 검토 후 확정합니다.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장기 미사용 계정 자동 삭제는 정책이 확정되기 전까지 구현하지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계정을 유지하면서 기록 전체를 초기화하는 기능은 MVP 필수 범위에서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 사본 다운로드 제공 여부는 추가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5.19 S-113: 문의·음식 오류 신고 안내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로그인 실패, 서비스 이용 문제, 음식 정보 오류 발생 시 사용자가 문의 경로를 찾게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요소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5.19 S-113: 문의·음식 오류 신고 안내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29132"/>
                <a:gridCol w="931653"/>
                <a:gridCol w="931653"/>
                <a:gridCol w="40371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링크·버튼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버튼·링크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채운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의견을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5.19 S-113: 문의·음식 오류 신고 안내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 경로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S-005의 문의 메뉴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S-001의 로그인 실패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S-103의 음식 정보 출처·오류 안내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 화면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문의 경로 열기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오류 신고 양식 또는 이메일 양식 열기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5.19 S-113: 문의·음식 오류 신고 안내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이전 화면으로 복귀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접근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비회원: 문의 경로 접근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회원: 문의·오류 신고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관리자: 문의 처리 기능은 MVP 화면 목록에 포함하지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규칙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오류 신고에는 음식 식별 정보를 미리 채우는 방안을 적용합니다.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5.19 S-113: 문의·음식 오류 신고 안내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사용자의 자유 의견은 선택 입력으로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 수정은 공급자 원본을 확인한 뒤 처리하는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운영자가 신고를 확인하는 주기는 주 2회 방안이 제시됐으나, 운영 담당 및 확정 일정은 별도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 보고에 음식명·자유 메모가 자동으로 첨부되지 않도록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5.20 모달 상세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M-001: 날짜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홈 또는 날짜별 기록 화면의 날짜를 바꿉니다.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날짜 선택기, 선택 완료, 취소, 오늘로 이동.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S-003 또는 S-105에서 날짜 선택.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선택한 날짜의 S-105 또는 홈 화면으로 돌아갑니다.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규칙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미래 날짜는 선택하지 못하게 합니다. 과거 입력 범위와 화면상 최근 날짜 탐색 범위는 확정이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M-002: 기록 삭제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개별 식사 기록 삭제를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삭제 대상 안내, 취소, 삭제.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S-106 또는 S-107에서 삭제 선택.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삭제 성공 후 S-105로 돌아가며 합계를 갱신합니다.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권한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본인 기록을 삭제할 수 있는 회원만 실행합니다.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M-003: 즐겨찾기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음식 즐겨찾기를 추가하거나 해제합니다.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즐겨찾기 음식 목록, 추가·해제 동작, 닫기.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S-101에서 즐겨찾기 관리 선택.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선택 후 S-101로 돌아갑니다.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권한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본인 계정의 즐겨찾기만 관리합니다.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M-004: 사진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기록 저장 후 식사 사진 한 장을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운영체제 사진 선택 도구, 취소, 선택 완료.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식사 기록 저장 후 사진 추가 동작.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사진 선택 후 업로드 상태를 표시하고 기록 화면으로 복귀합니다.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규칙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사진 업로드 실패가 식사 기록 저장을 되돌리거나 막지 않습니다. EXIF 제거 및 사진 보관·삭제 정책은 확인이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M-005: 계정 삭제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계정 및 연관 기록 삭제 요청을 사용자가 최종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삭제 범위, 취소, 삭제 요청.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S-112에서 삭제 요청 선택.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요청 접수 후 확인 안내를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규칙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삭제 처리 시간과 백업 삭제 시점을 임의로 확정하지 않습니다. 정책 확정 후 문구에 반영합니다.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M-006: 제품 분석 동의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선택적 제품 분석 동의를 켜거나 끌 때 영향을 안내합니다.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수집 목적·항목 설명, 동의 변경, 취소.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진입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S-111에서 분석 설정 변경.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이동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변경 완료 후 S-111로 돌아갑니다.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규칙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분석 동의 여부와 관계없이 식사 기록 등 핵심 기능은 정상 동작해야 합니다. 실제 동의 방식은 개인정보 담당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5.21 공통 팝업·토스트 상세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T-001: 저장 처리 상태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저장 요청 후 저장 중임을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저장 버튼을 반복해 눌러 중복 저장되지 않도록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중에는 입력값을 임의로 지우거나 성공으로 오인하게 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T-002: 저장 완료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저장이 확인된 뒤에만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화면에 변경 사항을 반영하고 기록 목록을 갱신합니다.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완료가 사용자에게 확인되면 일정 시간 후 닫힐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T-003: 저장 실패·재시도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저장에 실패하면 입력 내용을 보존합니다.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재시도 동작을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실패 문구는 저장되지 않았다는 점을 분명히 전달합니다.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요청 식별값을 이용해 재시도 중복 저장을 방지하는 방향입니다.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T-004: 시스템 알림 권한 안내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앱 안에서 알림을 켜기로 선택했을 때 운영체제 권한을 요청합니다.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권한 거부 시 앱 이용을 막지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운영체제 설정에서 권한을 바꿀 수 있도록 안내합니다.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내 알림 선택 상태와 운영체제 권한 상태를 분리해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화면 플로우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앱 진입·목표 설정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977" y="1463040"/>
            <a:ext cx="5328047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앱 진입·목표 설정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"인증 제공자, 게스트 시작, 목표 수치 입력 범위는 미정입니다. 해당 조건이 확정되면 진입 경로와 온보딩 순서를 갱신해야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음식 기록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기록 확인·수정·삭제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229" y="1463040"/>
            <a:ext cx="6433542" cy="36671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리포트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3949" y="1463040"/>
            <a:ext cx="3816102" cy="27241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6.5 설정·개인정보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23621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화면별 권한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51338"/>
                <a:gridCol w="1418897"/>
                <a:gridCol w="851338"/>
                <a:gridCol w="851338"/>
                <a:gridCol w="851338"/>
                <a:gridCol w="3405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관리자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비회원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표기는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비공개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화면별 권한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36908"/>
                <a:gridCol w="1952786"/>
                <a:gridCol w="836908"/>
                <a:gridCol w="836908"/>
                <a:gridCol w="836908"/>
                <a:gridCol w="29291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관리자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비회원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화면별 권한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914400"/>
                <a:gridCol w="914400"/>
                <a:gridCol w="914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관리자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실패·재시도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경우에만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화면별 권한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권한 표기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O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허용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X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허용하지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△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게스트 계정·관리자 운영 권한 등 추가 정책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관리자 권한 원칙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MVP에 관리자용 사용자 기록 조회 화면은 정의하지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운영자가 사용자 기록을 확인해야 하는 경우에는 사용자의 동의, 업무상 권한 승인, 접근 기록이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화면별 권한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사진과 기록을 일반 운영자가 임의로 열람하는 구조는 피합니다.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반응형·기기별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MVP는 모바일 iOS·안드로이드 앱을 대상으로 하므로 웹 데스크톱·태블릿 화면의 별도 대응 범위는 회의에서 확정되지 않았습니다.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반응형·기기별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66274"/>
                <a:gridCol w="2490537"/>
                <a:gridCol w="2490537"/>
                <a:gridCol w="23822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안드로이드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진입·로그인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요청·거부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EXIF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EXIF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크기·글자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크기·글자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반응형·기기별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시스템 글자 크기를 키워도 주요 화면의 버튼·기록 항목이 겹치지 않도록 설계합니다.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상태를 색상만으로 전달하지 않고 문구·아이콘·형태를 함께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버튼과 주요 입력 요소에 읽을 수 있는 이름을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지원 운영체제 버전은 일반 보급률 자료와 테스트 여건을 확인한 뒤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화면 전환 및 동작 규칙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9.1 인증 및 권한에 따른 이동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68052"/>
                <a:gridCol w="1888761"/>
                <a:gridCol w="337278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막지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저장·오류 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99138"/>
                <a:gridCol w="2848708"/>
                <a:gridCol w="34817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원칙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명확히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막지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9.3 삭제·데이터 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M-002에서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M-005에서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변경하려면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9.4 미정·추가 확인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10047"/>
                <a:gridCol w="2671948"/>
                <a:gridCol w="38476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미치는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처리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S-002의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버튼·가입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구현·심사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S-103의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필드·출처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계약·라이선스·국내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수·대기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글자·약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S-108,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용량·EXIF·삭제·저장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관리자·운영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S-113과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열람·데이터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모든 화면에 화면 ID, 이름, 경로, 목적을 기재함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구성 요소, 진입 경로, 이동 화면을 화면별로 기재함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비회원·회원·관리자 권한을 정의하고 미정 사항을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화면 분류와 화면 수 산정 기준을 구분함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기록 생성·검색·수정·삭제·리포트·설정 흐름을 도식화함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검색 결과 없음, 저장 실패, 기록 없음, 알림 권한 거부 등 주요 상태를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영양 정보의 참고값 표시, 기록 당시 스냅샷, 목표 없는 상태를 화면 규칙에 반영함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회의 후반부의 사진 한 장 첨부 포함 논의를 반영하고, 관련 기술·개인정보 확인 사항을 남김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제공자·게스트 흐름 최종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음식 데이터 공급처와 검색 동작 최종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자동 목표·직접 입력 목표의 전문가 검토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보관·삭제·용량·EXIF 처리 정책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알림 시간 선택 방식과 주간 리포트 알림 범위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지원 운영체제 버전과 기기 시험 범위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151</Slides>
  <Notes>151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2026-10-06T12:36:46Z</dcterms:created>
  <dcterms:modified xsi:type="dcterms:W3CDTF">2026-10-06T12:36:46Z</dcterms:modified>
</cp:coreProperties>
</file>