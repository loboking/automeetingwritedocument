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</p:sldIdLst>
  <p:notesMasterIdLst>
    <p:notesMasterId r:id="rId19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notesMaster" Target="notesMasters/notesMaster1.xml"/><Relationship Id="rId193" Type="http://schemas.openxmlformats.org/officeDocument/2006/relationships/presProps" Target="presProps.xml"/><Relationship Id="rId194" Type="http://schemas.openxmlformats.org/officeDocument/2006/relationships/viewProps" Target="viewProps.xml"/><Relationship Id="rId195" Type="http://schemas.openxmlformats.org/officeDocument/2006/relationships/theme" Target="theme/theme1.xml"/><Relationship Id="rId19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MeetingAutoDocs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1. 문서 정보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버전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v1.0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작성일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2026-10-01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QA팀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상태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검토 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적용 대상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iOS·안드로이드 공통 식단 기록 앱 MVP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회의 원문에서 확인되는 결정, 검증 제안, 미정·상충 항목을 구분했습니다. 이전 기능 목록 및 API 명세의 경로·수치·상태값은 구현 확정 사항으로 간주하지 않았습니다.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변경 이력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51338"/>
                <a:gridCol w="1418897"/>
                <a:gridCol w="5108028"/>
                <a:gridCol w="8513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날짜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v1.0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킥오프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케이스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QA팀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테스트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89043"/>
                <a:gridCol w="64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테스트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정확성,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일관성,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iOS·안드로이드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테스트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범위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온보딩·로그인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생성·수정·삭제,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동의·계정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대응,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테스트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일정은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목표입니다.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프로토타입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테스트는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100" strike="sngStrike" dirty="0">
                          <a:solidFill>
                            <a:srgbClr val="1F2937"/>
                          </a:solidFill>
                        </a:rPr>
                        <a:t>3주 </a:t>
                      </a:r>
                      <a:pPr indent="0" marL="0">
                        <a:buNone/>
                      </a:pPr>
                      <a:r>
                        <a:rPr lang="en-US" sz="1100" strike="sngStrike" dirty="0">
                          <a:solidFill>
                            <a:srgbClr val="1F2937"/>
                          </a:solidFill>
                        </a:rPr>
                        <a:t>차, </a:t>
                      </a:r>
                      <a:pPr indent="0" marL="0">
                        <a:buNone/>
                      </a:pPr>
                      <a:r>
                        <a:rPr lang="en-US" sz="1100" strike="sngStrike" dirty="0">
                          <a:solidFill>
                            <a:srgbClr val="1F2937"/>
                          </a:solidFill>
                        </a:rPr>
                        <a:t>베타·QA는 </a:t>
                      </a:r>
                      <a:pPr indent="0" marL="0">
                        <a:buNone/>
                      </a:pPr>
                      <a:r>
                        <a:rPr lang="en-US" sz="1100" strike="sngStrike" dirty="0">
                          <a:solidFill>
                            <a:srgbClr val="1F2937"/>
                          </a:solidFill>
                        </a:rPr>
                        <a:t>6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방향입니다.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시작일·종료일은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필요입니다.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테스트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리드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QA는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없습니다.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PM과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테스트를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나누어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맡는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것으로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공유됐습니다.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책임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배정은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필요입니다.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참여자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참여자,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참여자.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프로토타입은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pPr indent="0" marL="0">
                        <a:buNone/>
                      </a:pPr>
                      <a:r>
                        <a:rPr lang="en-US" sz="1100" strike="sngStrike" dirty="0">
                          <a:solidFill>
                            <a:srgbClr val="1F2937"/>
                          </a:solidFill>
                        </a:rPr>
                        <a:t>6명, </a:t>
                      </a:r>
                      <a:pPr indent="0" marL="0">
                        <a:buNone/>
                      </a:pPr>
                      <a:r>
                        <a:rPr lang="en-US" sz="1100" strike="sngStrike" dirty="0">
                          <a:solidFill>
                            <a:srgbClr val="1F2937"/>
                          </a:solidFill>
                        </a:rPr>
                        <a:t>베타는 </a:t>
                      </a:r>
                      <a:pPr indent="0" marL="0">
                        <a:buNone/>
                      </a:pPr>
                      <a:r>
                        <a:rPr lang="en-US" sz="1100" strike="sngStrike" dirty="0">
                          <a:solidFill>
                            <a:srgbClr val="1F2937"/>
                          </a:solidFill>
                        </a:rPr>
                        <a:t>사내 </a:t>
                      </a:r>
                      <a:pPr indent="0" marL="0">
                        <a:buNone/>
                      </a:pPr>
                      <a:r>
                        <a:rPr lang="en-US" sz="1100" strike="sngStrike" dirty="0">
                          <a:solidFill>
                            <a:srgbClr val="1F2937"/>
                          </a:solidFill>
                        </a:rPr>
                        <a:t>10명 </a:t>
                      </a:r>
                      <a:pPr indent="0" marL="0">
                        <a:buNone/>
                      </a:pPr>
                      <a:r>
                        <a:rPr lang="en-US" sz="1100" strike="sngStrike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strike="sngStrike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strike="sngStrike" dirty="0">
                          <a:solidFill>
                            <a:srgbClr val="1F2937"/>
                          </a:solidFill>
                        </a:rPr>
                        <a:t>20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규모가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논의됐습니다.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인원은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필요입니다.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플랫폼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iOS·안드로이드.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확정해야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언급됐으며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요구사항이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아닙니다.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로직과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API·데이터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대상입니다.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필요입니다.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테스트 범위 상세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41951"/>
                <a:gridCol w="2029216"/>
                <a:gridCol w="405843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여부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시작·온보딩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강요하지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않으며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가입·로그인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이메일·Apple·Google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숨김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마지막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정리에는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300~400밀리초로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갈려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생성·수정·삭제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아침·점심·저녁·간식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중립적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꺼짐,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테스트 범위 상세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05622"/>
                <a:gridCol w="1465545"/>
                <a:gridCol w="405843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여부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상충으로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앞부분은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후반부는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판단.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정확도·수정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비율·응답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시간·비용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바코드·친구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공유·전문가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결제·광고·식단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무료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광고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SDK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미도입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운동·수면·건강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플랫폼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연동·체중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삭제·연관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기한은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난이도·사용자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보존·저장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완전한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오프라인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동기화는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업로드·사진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감시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음식명·칼로리·체중·자유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전송되지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백업·복구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테스트 판정 원칙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P0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핵심 기록 흐름 차단, 데이터 유실·중복, 사용자 간 데이터 노출, 개인정보의 부적절한 외부 전송 등 출시 차단 수준의 결함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P1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주요 기능 오동작이나 반복 사용에 큰 지장을 주는 결함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P2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기능 사용은 가능하나 표현·배치·세부 사용성에 영향을 주는 결함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테스트 케이스 상태는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 중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시험 가능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통과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실패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보류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 관리합니다. 상태명은 시험 관리 시 사용할 문서상 분류이며 회의에서 확정된 상태명이 아닙니다.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테스트 판정 원칙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미확정 항목은 임의의 기대값으로 통과·실패를 판정하지 않습니다. 구현 확정 전까지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보류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또는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시험 전 확인 필요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 관리합니다.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 테스트 전략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테스트 유형 및 범위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27681"/>
                <a:gridCol w="1394847"/>
                <a:gridCol w="2510725"/>
                <a:gridCol w="2510725"/>
                <a:gridCol w="11856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테스트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범위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도구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담당자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테스트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규칙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리액트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네이티브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맞춰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테스트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앱·서버·데이터베이스·외부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어댑터,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생성·수정·삭제,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탈퇴,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QA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역할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E2E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테스트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시작부터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입력·기록·리포트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확인까지,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삭제·계정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나머지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병행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저장·조회,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도구·부하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수준은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QA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역할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인증·인가·입력·개인정보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로그·분석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도구·수행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생성·수정·삭제,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PM·디자이너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프로토타입,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이해도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동의서·관찰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PM·디자이너,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참여자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색상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읽기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깨짐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읽기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활용하는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QA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역할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동의·삭제·최소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탈퇴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방법은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성능 기준 구분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다음 수치는 회의에서 검증 목표나 제안으로 언급됐으며 확정 서비스 수준으로 간주하지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성능 기준 구분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07220"/>
                <a:gridCol w="2910468"/>
                <a:gridCol w="3311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언급된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시험에서의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취급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75%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95%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표본과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쓸지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치명적인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무관하게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결함으로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크래시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99%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규모를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판단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대부분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데이터·공급자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무응답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300밀리초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350밀리초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안팎의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혼재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구현값에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맞춰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3.2 테스트 도구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회의에서는 특정 시험 도구나 자동화 도구를 확정하지 않았습니다. 아래는 시험 유형에 맞춰 선정할 도구 범주이며, 제품명과 명령어는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추정 필요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단위·통합 시험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날짜·시간·양 환산·영양소 집계 로직의 자동 시험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데이터베이스 시험 자료 초기화와 사용자별 권한 검증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음식 공급자 응답을 대체하는 시험 자료 또는 모의 응답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적용 언어·도구·자동 실행 절차는 추정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E2E 시험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3.2 테스트 도구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iOS와 안드로이드의 핵심 경로를 대상으로 제한적으로 자동화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 없음, 네트워크 오류, 권한 거부 등 주요 예외 상태는 수동 시험도 병행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자동화 도구, 실행 장치, 화면 선택 방식은 추정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API 시험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인증·기록·리포트·알림·삭제 API 요청과 응답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요청 재시도 시 중복 저장이 발생하지 않는지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API 경로와 인증 방식이 확정되지 않았으므로 선행 API 문서 경로를 확정 경로로 사용하지 않음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3.2 테스트 도구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시험 도구와 호출 절차는 추정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개인정보·네트워크 시험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음식 API로 전송되는 자료가 검색어만인지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분석 이벤트 및 오류 진단 자료에 음식명·칼로리·체중·자유 입력 내용이 포함되지 않는지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본문에 개인 식단 정보가 포함되지 않는지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네트워크 요청 확인 도구와 로그 접근 권한은 추정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3.3 테스트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실제 환경 주소, 데이터베이스 종류, 배포 구조는 회의에서 확정되지 않았습니다. 시험 환경을 운영 자료와 분리해야 하며, 아래 환경명과 주소는 예시가 아닌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추정 필요 항목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3.3 테스트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49569"/>
                <a:gridCol w="2532185"/>
                <a:gridCol w="949569"/>
                <a:gridCol w="37982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환경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저장소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단위·통합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저장소,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통합·회귀·E2E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동의받은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참여자의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3.3 테스트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환경·자료 관리 기준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사용자의 식사 기록을 시험 자료로 복사해 사용하지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프로토타입 시험은 가상 식단 자료로 진행합니다.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기록을 사용하는 베타는 시험 목적·수집 자료·보관 기간·삭제 방법을 안내하고 동의를 받습니다.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테스트 계정은 일반 제품 분석에서 제외하거나 별도로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참가자 연락처·사례금 지급 정보가 필요한 경우 시험 자료와 분리하는 방안을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시험 환경에서 외부 식품 공급자를 호출할지, 임시 자료를 사용할지는 공급자 계약 및 비용 확인 후 결정합니다.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테스트 케이스 목록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아래 목록은 기능 목록 정의서의 기능 ID와 시나리오를 연결합니다. 사진 첨부와 주간 리포트 알림은 회의 내 상충이 있어 조건부 또는 보류로 표시했습니다. 테스트 자동화 여부는 구현 구조 확인 전의 계획입니다.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테스트 케이스 목록 (1/4)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67559"/>
                <a:gridCol w="567559"/>
                <a:gridCol w="756745"/>
                <a:gridCol w="2175641"/>
                <a:gridCol w="1324303"/>
                <a:gridCol w="567559"/>
                <a:gridCol w="567559"/>
                <a:gridCol w="567559"/>
                <a:gridCol w="113511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TC-ID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시나리오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전제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테스트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여부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로그인·계정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가입·로그인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로그인·계정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사용자에게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숨김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띄어쓰기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정규화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동의어·정규화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단위·통합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이름만으로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단위·통합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사용자에게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A·B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보안·통합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테스트 케이스 목록 (2/4)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74158"/>
                <a:gridCol w="574158"/>
                <a:gridCol w="765544"/>
                <a:gridCol w="2009553"/>
                <a:gridCol w="1722474"/>
                <a:gridCol w="861237"/>
                <a:gridCol w="574158"/>
                <a:gridCol w="574158"/>
                <a:gridCol w="5741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TC-ID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시나리오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전제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테스트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여부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저장·합산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E2E·통합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TC-017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마스터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TC-018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TC-019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복사해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공용·개인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TC-021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기록일·평균·패턴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단위·통합·E2E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TC-022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테스트 케이스 목록 (3/4)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25294"/>
                <a:gridCol w="525294"/>
                <a:gridCol w="700391"/>
                <a:gridCol w="2013626"/>
                <a:gridCol w="1400783"/>
                <a:gridCol w="525294"/>
                <a:gridCol w="525294"/>
                <a:gridCol w="787940"/>
                <a:gridCol w="122568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TC-ID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시나리오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전제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테스트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여부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각각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단위·통합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TC-024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단위·통합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꺼짐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활성화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TC-026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건너뜀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설정·시험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거부·설정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동기화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TC-028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동의·분석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후에도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E2E·보안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감시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분석·진단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민감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보안·통합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TC-031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유지·재시도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TC-032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재전송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재전송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백업·복구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백업·복구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테스트 케이스 목록 (4/4)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548640"/>
                <a:gridCol w="2194560"/>
                <a:gridCol w="1463040"/>
                <a:gridCol w="548640"/>
                <a:gridCol w="548640"/>
                <a:gridCol w="82296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TC-ID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시나리오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전제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테스트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여부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TC-034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글자·색상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표시·버튼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iOS·안드로이드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수동·E2E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TC-036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막지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승인·네트워크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TC-037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유지·상태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자료·측정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성능·E2E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TC-038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호환성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iOS·안드로이드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OS·기기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 상세 테스트 케이스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TC-001: 온보딩 - 목표 없이 앱 시작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사용자가 신체 정보나 목표를 입력하지 않고 앱을 시작해 식사 기록 흐름에 진입합니다.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F-002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시험용 앱을 새로 설치했거나 초기화한 상태입니다.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신규 시험 계정 또는 미로그인 상태를 사용할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설정 선택지가 구현되어 있습니다. 계정 방식은 확정된 흐름에 맞춰 시험합니다.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TC-001: 온보딩 - 목표 없이 앱 시작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키·체중·생년월일·성별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TC-001: 온보딩 - 목표 없이 앱 시작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앱을 처음 실행하고 온보딩 첫 화면에 진입합니다.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목표 선택 화면에서 ‘목표 없이 기록’을 선택합니다.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키·체중·나이·성별 입력을 건너뜁니다.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알림 선택 화면에서 알림을 받지 않는 선택지를 고릅니다.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온보딩을 완료합니다.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기록 기능을 사용할 수 있는 홈으로 이동합니다.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TC-001: 온보딩 - 목표 없이 앱 시작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설정을 건너뛰어도 식사 기록 기능에 진입할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신체 정보 입력이 앱 이용의 필수 조건으로 동작하지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미설정 상태가 저장되며 임의 목표값이 만들어지지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알림 선택을 거부해도 가입·앱 사용이 막히지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E2E, 수동 사용성 시험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가능. 실제 운영체제 권한 동작은 수동 확인 병행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계정과 시험 자료 초기화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TC-004: 홈 - 목표 미설정 사용자의 칼로리 표시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목표가 없는 사용자에게 목표 게이지나 목표 대비 수치가 노출되지 않으며, 기록 상태는 확인할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목표가 설정되지 않은 시험 계정이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오늘 기록이 없는 상태와 1건 있는 상태를 각각 준비합니다.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TC-004: 홈 - 목표 미설정 사용자의 칼로리 표시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TC-004: 홈 - 목표 미설정 사용자의 칼로리 표시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목표가 없는 사용자로 앱에 로그인합니다.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오늘 홈을 엽니다.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오늘 날짜와 기록 상태, 기록 추가 동작이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칼로리 목표 게이지와 목표 대비 잔여량이 표시되지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영양값이 있는 음식을 한 건 기록하고 홈으로 돌아옵니다.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기록 상태가 갱신되며 영양 정보는 보조 정보로만 표시됩니다.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TC-004: 홈 - 목표 미설정 사용자의 칼로리 표시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목표 설정을 강요하는 차단 화면이 나타나지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미설정 상태에서 목표 게이지가 숨겨집니다.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기록이 없는 날이 0칼로리로 단정 표시되지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없이 기록할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E2E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기록 삭제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TC-005: 음식 검색 - 한 글자 검색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사용자가 한 글자 검색어를 입력하고, 확정된 검색 지연 규칙에 따라 결과를 확인할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F-004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검색 시험 자료에 ‘밥’으로 검색되는 결과가 준비되어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적용할 검색 지연값과 요청 취소 규칙이 구현 문서에서 확인됩니다. 회의에서는 한 글자 검색과 약 300~400밀리초 지연 제안이 있었으나 최종 지연값은 미확정입니다.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외부 공급자 또는 시험 응답이 동작합니다.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TC-005: 음식 검색 - 한 글자 검색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32185"/>
                <a:gridCol w="56974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유무만.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TC-005: 음식 검색 - 한 글자 검색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음식 추가 화면에서 검색 탭을 엽니다.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검색창에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밥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한 글자를 입력합니다.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검색어가 입력창에 유지되고, 구현된 지연 규칙 이후 검색 요청이 발생합니다.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정상 응답 시 검색 결과가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응답 전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밥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을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밥공기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 변경합니다.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오래된 검색 응답이 뒤늦게 도착해 현재 검색 결과를 덮어쓰지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TC-005: 음식 검색 - 한 글자 검색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분석 이벤트에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밥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또는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밥공기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문자열이 포함되지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한 글자 검색이 허용됩니다.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검색 지연값은 구현 확정값과 일치합니다.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이전 요청의 늦은 응답이 최신 검색 결과를 덮어쓰지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분석 자료에 검색어 원문이 남지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E2E, 개인정보 확인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P1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검색 시험 자료와 요청 기록 초기화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TC-005: 음식 검색 - 한 글자 검색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TC-007: 음식 검색 - 결과 없음 후 직접 입력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검색 결과가 없는 음식도 직접 입력으로 이어서 저장할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F-004, F-005, F-006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시험 공급자 또는 시험 자료가 검색 결과 없음 상태를 반환하도록 설정되어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사용자가 기록 화면에 진입할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TC-007: 음식 검색 - 결과 없음 후 직접 입력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52669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시험용_검색결과없음_해초국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해초국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TC-007: 음식 검색 - 결과 없음 후 직접 입력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점심 음식 추가 화면에 진입합니다.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시험용_검색결과없음_해초국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을 검색합니다.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검색 결과 없음 상태가 표시되고, 외부 API 오류와 구분됩니다.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직접 음식 입력 동작을 선택해 음식명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해초국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을 입력합니다.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영양값을 비워 둔 채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기록 항목이 생성되고 점심 기록 목록에 표시됩니다.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TC-007: 음식 검색 - 결과 없음 후 직접 입력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칼로리 합계에는 미입력 영양값이 0으로 더해지지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결과 없음과 검색 오류가 구분됩니다.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직접 입력으로 기록을 완료할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영양 정보가 없어도 기록이 저장됩니다.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음식명이 다른 사용자의 검색 결과에 노출되지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E2E, 통합, 보안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생성한 개인 음식과 기록 삭제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TC-007: 음식 검색 - 결과 없음 후 직접 입력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TC-008: 음식 검색 - 외부 API 실패 후 기록 흐름 유지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외부 음식 공급자 장애가 발생해도 사용자가 최근 음식 또는 직접 입력으로 기록을 이어갈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F-004, F-005, F-006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외부 음식 검색 요청을 실패시키거나 시간 초과시키는 시험 환경이 준비되어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최근 기록에 사용할 음식 1건이 시험 계정에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TC-008: 음식 검색 - 외부 API 실패 후 기록 흐름 유지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4526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된장찌개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사과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집밥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된장국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TC-008: 음식 검색 - 외부 API 실패 후 기록 흐름 유지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검색 요청이 공급자 오류를 반환하도록 설정합니다.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된장찌개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를 검색합니다.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오류 상태와 재시도 또는 다른 기록 방법 안내가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입력한 검색어가 화면에서 사라지지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최근 음식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사과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를 선택해 기록하거나 직접 입력으로 이동합니다.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외부 검색 실패와 무관하게 식사 기록 저장을 진행할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TC-008: 음식 검색 - 외부 API 실패 후 기록 흐름 유지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잘못된 검색 결과가 자동 선택되거나 저장되지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검색 장애가 직접 입력·최근 기록 기능을 막지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빈 결과와 공급자 오류가 서로 다르게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검색어가 유지됩니다.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부정확한 음식이 자동 선택되지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E2E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공급자 상태 원복 및 생성 기록 삭제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TC-008: 음식 검색 - 외부 API 실패 후 기록 흐름 유지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TC-010: 직접 음식 입력 - 실제 0과 미입력 구분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영양값이 실제 0인 경우와 값이 없는 경우가 데이터·합계에서 구분됩니다.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F-005, F-008, F-009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직접 음식 입력 화면과 기록 조회 기능이 준비되어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시험 계정에서 기록을 조회할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TC-010: 직접 음식 입력 - 실제 0과 미입력 구분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420471"/>
                <a:gridCol w="1452282"/>
                <a:gridCol w="1452282"/>
                <a:gridCol w="1452282"/>
                <a:gridCol w="145228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음식명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칼로리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탄수화물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단백질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지방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시험_영양값0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시험_영양값없음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시험_단백질만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TC-010: 직접 음식 입력 - 실제 0과 미입력 구분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시험 사용자가 직접 음식 입력 화면을 엽니다.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시험_영양값0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에 영양값 0을 입력해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시험_영양값없음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은 영양값을 비워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시험_단백질만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에는 단백질 12만 입력해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기록 상세와 리포트용 집계 자료를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실제 0은 숫자 0으로, 미입력은 값 없음으로 구분됩니다.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TC-010: 직접 음식 입력 - 실제 0과 미입력 구분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시험_단백질만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은 단백질 집계에만 포함됩니다.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실제 0과 미입력 값이 같은 상태로 저장되지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미입력 값이 합산 시 0으로 처리되지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영양소별로 값이 있는 자료만 각각 합산됩니다.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영양 정보가 없는 항목도 기록 목록에 유지됩니다.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단위, 통합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음식과 기록 삭제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TC-010: 직접 음식 입력 - 실제 0과 미입력 구분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TC-011: 개인 음식 - 다른 사용자에게 비노출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 A가 만든 개인 음식과 기록이 사용자 B의 검색 결과나 개인 음식 목록에 노출되지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F-005, F-009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서로 다른 사용자 A와 사용자 B가 준비되어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두 계정은 서로 다른 인증 상태를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사용자 A가 개인 음식 1건을 생성했습니다.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TC-011: 개인 음식 - 다른 사용자에게 비노출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352800"/>
                <a:gridCol w="487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A전용_시험음식_4721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A전용_시험음식_4721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TC-011: 개인 음식 - 다른 사용자에게 비노출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 A로 로그인해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A전용_시험음식_4721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을 생성하고 기록합니다.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 A의 개인 음식 목록을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해당 음식이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로그아웃 후 사용자 B로 로그인합니다.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같은 이름을 검색하고 사용자 B의 개인 음식 목록을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 A의 개인 음식은 검색 결과와 목록에 표시되지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TC-011: 개인 음식 - 다른 사용자에게 비노출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 B가 사용자 A의 음식 식별값으로 직접 조회를 시도합니다.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자료 존재 여부를 노출하지 않는 접근 거부 응답을 받습니다.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개인 음식은 생성한 사용자에게만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다른 사용자의 자료 식별값으로 조회·수정·삭제할 수 없습니다.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응답이나 오류에 타인 음식명·영양값이 노출되지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보안, 통합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 A·B의 시험 계정 및 관련 자료 삭제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TC-011: 개인 음식 - 다른 사용자에게 비노출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TC-012: 식사 기록 - 한 끼에 여러 음식 추가 및 합산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같은 날짜와 식사 구분에 음식 여러 건을 항목별 저장하고, 홈에서 구분별 합계를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F-006, F-003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로그인 상태입니다.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영양 정보가 있는 음식 세 가지가 준비되어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같은 날짜의 점심 기록을 조회할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TC-012: 식사 기록 - 한 끼에 여러 음식 추가 및 합산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음식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배수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칼로리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칼로리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TC-012: 식사 기록 - 한 끼에 여러 음식 추가 및 합산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위 수치는 시험 자료에 설정하는 값이며 제품의 영양 권장값을 뜻하지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오늘 점심 기록이 없는 사용자가 홈에서 점심 추가를 선택합니다.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시험용 밥을 선택해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저장 완료 상태가 표시되고 점심 목록에 밥 1건이 보입니다.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시험용 국을 추가해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시험용 반찬을 0.5배로 추가해 저장합니다.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TC-012: 식사 기록 - 한 끼에 여러 음식 추가 및 합산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세 항목이 각각 저장되어 점심 기록으로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점심 합계는 330으로 계산됩니다.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앱을 닫았다가 다시 열어 점심 기록을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세 항목과 합계가 동일하게 유지됩니다.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한 끼 구분에 여러 음식 항목을 추가할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각 항목이 추가 시점에 저장됩니다.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TC-012: 식사 기록 - 한 끼에 여러 음식 추가 및 합산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같은 날짜·식사 구분의 항목이 합산됩니다.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별도 식사 묶음이 없어도 항목·합계를 조회할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E2E, 통합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생성 기록 삭제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TC-014: 식사 기록 - 양 배수 계산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기준 제공량이 있는 음식의 배수를 변경하면 기록 시점의 영양값이 같은 비율로 계산됩니다.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F-006, F-009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기준 제공량과 영양값이 있는 시험 음식이 준비되어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화면에서 배수 입력 또는 선택이 가능합니다.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음수·0 허용 여부는 구현 기준을 확인합니다. 회의에서는 배수 조정이 논의됐으나 허용 범위는 확정되지 않았습니다.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TC-014: 식사 기록 - 양 배수 계산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904565"/>
                <a:gridCol w="53250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1회분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단백질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0.5,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TC-014: 식사 기록 - 양 배수 계산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기준 제공량 1회분인 시험 음식을 선택합니다.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양을 0.5배로 설정합니다.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저장 전 계산값은 칼로리 100, 탄수화물 15, 단백질 5, 지방 2.5입니다.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값을 1배로 바꿉니다.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기준 영양값이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값을 1.5배로 바꾸고 저장합니다.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TC-014: 식사 기록 - 양 배수 계산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1.5배 영양값이 기록 스냅샷으로 보존됩니다.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유효하지 않은 배수인 0 또는 음수를 입력합니다.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구현된 입력 검증 규칙에 따라 저장이 차단되거나 안내가 표시됩니다. 허용 범위는 확정 후 기대값을 고정합니다.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양 배수에 따라 각 영양값이 일관되게 계산됩니다.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반올림 규칙이 화면과 서버에서 일치합니다. 구체적인 반올림 자릿수는 추정 필요입니다.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그램 환산이나 자유 형식 단위 입력을 요구하지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TC-014: 식사 기록 - 양 배수 계산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허용 배수 범위는 확정 전 시험 판정 보류로 관리합니다.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단위, 통합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기록 삭제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TC-015: 날짜 처리 - 과거 날짜 기록과 시각 분리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사용자가 과거 날짜에 식사를 기록하더라도 기록 생성 시각과 섭취 날짜가 분리되고, 해당 섭취 날짜 기준으로 집계됩니다.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F-006, F-008, F-009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시험 계정의 시간대가 한국 시간으로 설정되어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과거 날짜 선택이 가능합니다.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현재 날짜는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2026-10-01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 고정하거나 시험 서버의 날짜를 통제합니다.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TC-015: 날짜 처리 - 과거 날짜 기록과 시각 분리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2026-09-30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TC-015: 날짜 처리 - 과거 날짜 기록과 시각 분리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오늘 홈에서 날짜 선택을 엽니다.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섭취 날짜를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2026-09-30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으로 선택합니다.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저녁 식사에 시험 음식을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기록의 섭취 날짜는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2026-09-30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으로 저장됩니다.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기록 생성 시각은 저장 시점의 시각으로 별도 보존됩니다.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2026-09-30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날짜 기록을 다시 조회합니다.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TC-015: 날짜 처리 - 과거 날짜 기록과 시각 분리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방금 저장한 기록이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해당 날짜가 포함된 주간 리포트를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기록 생성 시각이 아니라 섭취 날짜 기준으로 집계됩니다.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생성 시각과 섭취 날짜가 구분됩니다.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과거 기록이 허용됩니다.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리포트 집계는 섭취 날짜를 기준으로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TC-015: 날짜 처리 - 과거 날짜 기록과 시각 분리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시간대 변경 후 과거 날짜가 자동으로 바뀌지 않아야 합니다. 이 시험은 시간대 변경 기능이 구현된 경우 추가 수행합니다.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E2E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기록 삭제 및 시간대 원복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TC-016: 날짜 처리 - 미래 날짜 기록 차단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사용자가 미래 날짜를 섭취 날짜로 지정해 기록을 저장할 수 없습니다.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날짜 선택 화면이 준비되어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오늘 날짜를 시험 환경에서 고정하거나 명확히 확인할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TC-016: 날짜 처리 - 미래 날짜 기록 차단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2026-10-02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TC-016: 날짜 처리 - 미래 날짜 기록 차단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오늘 날짜로 식사 기록 입력 화면을 엽니다.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섭취 날짜를 오늘 날짜로 두고 기록을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오늘 날짜 기록이 허용됩니다.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섭취 날짜를 다음 날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2026-10-02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 바꿉니다.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저장을 시도합니다.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저장이 차단되고 날짜를 확인하라는 안내가 표시됩니다.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TC-016: 날짜 처리 - 미래 날짜 기록 차단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서버에 미래 날짜 기록이 생성되지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오늘 날짜는 저장할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미래 날짜는 저장할 수 없습니다.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화면 검증과 서버 검증이 일치합니다.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단위, 통합, E2E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자료 확인 후 초기화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TC-017: 영양 정보 스냅샷 - 외부 음식 자료 변경에도 과거 기록 유지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음식 마스터의 최신 이름·영양값이 바뀌어도 기존 식사 기록과 리포트 값은 바뀌지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F-006, F-009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외부 음식 식별값과 내부 음식 자료를 수정할 수 있는 격리된 시험 환경입니다.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해당 음식으로 식사 기록을 한 건 생성할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TC-017: 영양 정보 스냅샷 - 외부 음식 자료 변경에도 과거 기록 유지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3621024"/>
                <a:gridCol w="19751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음식명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칼로리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구버전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마스터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신버전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TC-017: 영양 정보 스냅샷 - 외부 음식 자료 변경에도 과거 기록 유지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음식 마스터에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시험 음식 구버전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칼로리 200을 등록합니다.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이 음식을 오늘 점심으로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기록 당시 음식명과 칼로리 200이 기록 자료에 보존됩니다.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시험 운영자가 음식 마스터를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시험 음식 신버전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칼로리 250으로 변경합니다.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기존 기록과 해당 주간 리포트를 다시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기존 기록의 이름과 영양값은 기록 당시 스냅샷 기준으로 유지됩니다.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TC-017: 영양 정보 스냅샷 - 외부 음식 자료 변경에도 과거 기록 유지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최신 음식 정보로 갱신하는 동작이 자동 실행되지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과거 기록 음식명은 기록 당시 값으로 유지됩니다.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과거 기록 영양값과 리포트 값은 자동 변경되지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마스터의 최신 정보와 기록 스냅샷이 분리됩니다.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회귀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마스터와 기록 원복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TC-018: 식사 기록 - 수정·삭제 후 화면과 리포트 갱신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사용자가 개별 기록을 수정하거나 삭제하면 날짜별 조회와 주간 리포트에 변경 내용이 반영됩니다.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F-006, F-003, F-008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시험 계정에 기록이 두 건 이상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기록이 포함된 완료된 주의 리포트를 조회할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TC-018: 식사 기록 - 수정·삭제 후 화면과 리포트 갱신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초기값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TC-018: 식사 기록 - 수정·삭제 후 화면과 리포트 갱신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오늘 또는 과거 날짜 기록 목록에 시험 기록 두 건이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첫 번째 기록의 식사 구분을 점심에서 저녁으로 수정합니다.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점심 목록에서는 빠지고 저녁 목록에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주간 리포트를 다시 엽니다.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수정된 섭취 날짜와 식사 구분 기준으로 집계가 갱신됩니다.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두 번째 기록을 삭제하고 확인을 완료합니다.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TC-018: 식사 기록 - 수정·삭제 후 화면과 리포트 갱신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해당 기록이 목록과 집계에서 제외됩니다.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앱을 다시 열어도 삭제된 기록이 되살아나지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수정 내용이 날짜별 목록과 합계에 반영됩니다.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삭제한 기록은 목록·리포트 집계에서 제외됩니다.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캐시가 있다면 수정·삭제 후 무효화됩니다.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타인 소유 기록을 수정·삭제할 수 없습니다.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TC-018: 식사 기록 - 수정·삭제 후 화면과 리포트 갱신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E2E, 회귀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계정 자료 초기화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TC-021: 주간 리포트 - 기간·기록일 평균·끼니 패턴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완료된 주의 기록 일수와 기록한 날 기준 평균을 정확히 계산하고 기준을 화면에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F-008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사용자 시간대가 한국 시간입니다.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리포트 대상 주가 월요일부터 일요일까지 완료된 상태입니다.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칼로리 정보가 있는 기록을 일부 날짜에 준비합니다.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리포트 집계가 기록 시점 스냅샷을 사용합니다.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TC-021: 주간 리포트 - 기간·기록일 평균·끼니 패턴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TC-021: 주간 리포트 - 기간·기록일 평균·끼니 패턴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98821"/>
                <a:gridCol w="2598821"/>
                <a:gridCol w="30319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칼로리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월요일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1,500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토요일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TC-021: 주간 리포트 - 기간·기록일 평균·끼니 패턴 (1/4)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계산 기대값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기록한 날 수: 3일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미기록 날 수: 4일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기록한 날 기준 평균 칼로리: 1,500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미기록 날짜의 칼로리: 0으로 계산하지 않음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미설정 사용자: 목표 비교 미표시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TC-021: 주간 리포트 - 기간·기록일 평균·끼니 패턴 (2/4)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위 자료가 완료된 주에 저장되어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주간 리포트를 엽니다.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기간은 한국 시간 기준 월요일부터 일요일까지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기록한 날 수는 3일, 미기록 날 수는 4일로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평균 칼로리는 기록이 있는 3일만 기준으로 계산됩니다.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화면에 ‘기록된 내용 기준’과 평균 계산 기준이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목표가 없는 사용자는 목표선·목표 대비 수치가 표시되지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TC-021: 주간 리포트 - 기간·기록일 평균·끼니 패턴 (3/4)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월요일 날짜 경계와 일요일 날짜 경계의 기록을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 시간대 기준의 올바른 주에 포함됩니다.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완료된 주의 기간이 월요일~일요일로 정확합니다.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미기록 날짜는 평균 분모에 포함되지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기록이 없는 날이 0칼로리로 표시되지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미설정 상태에서는 목표 비교가 나타나지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TC-021: 주간 리포트 - 기간·기록일 평균·끼니 패턴 (4/4)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리포트는 건강 점수나 좋음·나쁨 평가를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단위, 통합, E2E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기록 삭제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TC-023: 주간 리포트 - 영양소별 결측 처리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영양소마다 값이 있는 항목만 해당 영양소 합계에 포함하고, 일부 정보 누락 안내를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F-008, F-009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같은 주에 여러 기록을 저장할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 시 영양소별 값과 미입력 값을 각각 저장할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TC-023: 주간 리포트 - 영양소별 결측 처리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칼로리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탄수화물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단백질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지방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TC-023: 주간 리포트 - 영양소별 결측 처리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집계값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TC-023: 주간 리포트 - 영양소별 결측 처리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영양소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단백질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TC-023: 주간 리포트 - 영양소별 결측 처리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음식 A·B·C를 같은 식사 날짜에 기록합니다.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리포트 또는 일별 합계를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칼로리는 값이 있는 A·B만 합산됩니다.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탄수화물·단백질·지방은 각 영양소별로 값이 있는 항목만 따로 합산됩니다.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음식 C의 칼로리 미입력 값은 실제 0으로 간주되지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누락 안내 문구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“일부 음식 정보가 없어 영양소별 합계가 다를 수 있어요”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가 표시됩니다.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TC-023: 주간 리포트 - 영양소별 결측 처리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세 음식 기록은 모두 기록 목록에 남습니다.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영양소별 결측 처리가 서로 영향을 주지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미입력 값이 0으로 대체되지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 자체는 영양값 누락과 무관하게 유지됩니다.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지정된 누락 안내 문구가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단위, 통합, E2E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기록 삭제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TC-023: 주간 리포트 - 영양소별 결측 처리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TC-024: 주간 리포트 - 목표 변경 이력 적용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목표가 변경된 경우 각 식사 날짜에 유효했던 목표만 비교에 사용하며, 변경 목표를 과거에 소급 적용하지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F-002, F-008, F-009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입력 기능의 최종 범위와 허용값이 승인되어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이력과 유효 시작일·종료일을 시험할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수치의 예시는 시험 자료일 뿐 안전 기준이나 제품 권장값이 아닙니다.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TC-024: 주간 리포트 - 목표 변경 이력 적용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702629"/>
                <a:gridCol w="35269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월요일~수요일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1,800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목요일~일요일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TC-024: 주간 리포트 - 목표 변경 이력 적용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월요일부터 수요일까지 유효한 시험 목표를 설정합니다.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목요일부터 적용되는 새 목표를 등록합니다.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기존 목표의 유효 기간이 새 목표 시작일 전날까지로 종료됩니다.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월요일~수요일의 기록을 리포트에서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해당 날짜에 유효했던 기존 목표와 비교합니다.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목요일 이후 기록을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TC-024: 주간 리포트 - 목표 변경 이력 적용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새 목표와 비교합니다.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목표가 없었던 과거 날짜는 목표 비교를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변경이 과거 날짜에 소급 적용되지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비교는 식사 날짜 당시 유효한 목표를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목표가 없는 날에는 비교가 표시되지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위험한 목표 수치의 허용 기준은 전문가 검토 전 임의 확정하지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TC-024: 주간 리포트 - 목표 변경 이력 적용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단위, 통합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P1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목표 이력과 시험 기록 삭제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TC-025: 기록 알림 - 기본 꺼짐과 명시적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운영체제 알림 권한이 있더라도 사용자가 앱 안에서 기록 알림을 선택하지 않으면 알림이 발송되지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F-010, F-011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시험 기기에서 알림 권한을 허용할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앱 내 알림 설정이 초기화되어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시험 발송 또는 예약 작업을 확인할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TC-025: 기록 알림 - 기본 꺼짐과 명시적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325035"/>
                <a:gridCol w="290456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꺼짐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TC-025: 기록 알림 - 기본 꺼짐과 명시적 선택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운영체제 알림 권한이 허용된 기기에서 앱을 처음 실행합니다.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앱 내 기록 알림을 선택하지 않은 채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저녁 8시에 기록 알림이 발송되지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설정에서 기록 알림을 명시적으로 켭니다.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앱 내 기본 시간이 저녁 8시로 표시되는지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선택한 시간에 일반 문구의 알림이 발송됩니다.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TC-025: 기록 알림 - 기본 꺼짐과 명시적 선택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알림 본문에 음식명·칼로리·체중이 포함되지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알림을 끕니다.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이후 예약 발송이 중단됩니다.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앱 내 선택 전에는 발송되지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운영체제 권한과 앱 내 선택이 서로 분리됩니다.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알림 기본값은 꺼짐입니다.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TC-025: 기록 알림 - 기본 꺼짐과 명시적 선택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푸시 본문에 개인 영양 정보가 포함되지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E2E, 보안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일부 자동화 가능. 실제 기기 알림 표시는 수동 확인 병행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알림 설정·시험 기기 토큰 초기화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TC-026: 기록 알림 - 기록한 날 발송 건너뜀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당일에 식사 기록이 한 건 이상 있으면 해당 날짜의 기록 알림을 건너뜁니다.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F-010, F-006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 알림이 켜져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발송 시각과 시험 날짜를 고정할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발송 직전 최신 설정과 기록 여부를 확인하는 처리가 구현되어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TC-026: 기록 알림 - 기록한 날 발송 건너뜀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당일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TC-026: 기록 알림 - 기록한 날 발송 건너뜀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사용자의 기록 알림이 켜져 있고 발송 시각이 설정되어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당일 기록이 0건인 상태로 발송 시각에 도달합니다.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일반 기록 알림이 하루 최대 한 번 발송됩니다.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시험 날짜를 초기화해 같은 조건에서 당일 기록 1건을 생성합니다.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발송 시각에 도달합니다.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해당 날짜의 알림이 발송되지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TC-026: 기록 알림 - 기록한 날 발송 건너뜀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당일 기록을 2건으로 늘려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여전히 발송되지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예약 후 발송 전에 알림 설정을 끕니다.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10.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발송 시점의 최신 설정을 확인해 발송을 중단합니다.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 0건일 때 설정된 알림을 하루 최대 한 번 발송합니다.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 1건 이상이면 발송을 건너뜁니다.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TC-026: 기록 알림 - 기록한 날 발송 건너뜀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발송 전에 최신 설정을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같은 날짜에 중복 발송되지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P1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예약 작업·알림 자료 초기화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TC-027: 기록 알림 - 운영체제 권한 거부와 복귀 (1/4)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사용자가 운영체제 알림 권한을 거부하거나 설정 앱에서 해제한 경우 앱이 허용 상태로 잘못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F-010, F-011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iOS와 안드로이드 시험 기기를 각각 준비합니다.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각 운영체제에서 알림 권한을 거부·변경할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지원 OS 버전 목록은 확정 후 시험 기기에 반영합니다.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TC-027: 기록 알림 - 운영체제 권한 거부와 복귀 (2/4)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앱 안에서 기록 알림 켜기를 선택합니다.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운영체제 권한 요청에서 거부합니다.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앱은 알림이 실제로 발송 가능한 상태인 것처럼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권한 없이 앱을 계속 사용할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앱 설정이나 운영체제 설정에서 권한 상태를 변경합니다.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앱으로 돌아옵니다.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앱이 최신 운영체제 권한 상태를 다시 읽고 화면을 갱신합니다.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TC-027: 기록 알림 - 운영체제 권한 거부와 복귀 (3/4)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권한 거부를 이유로 식사 기록이나 리포트 기능을 제한하지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권한 거부 후 앱 사용이 가능합니다.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앱 내 알림 선택과 운영체제 권한 상태가 구분됩니다.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설정 앱에서 변경한 권한 상태가 앱에 반영됩니다.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권한 거부를 반복해서 강제 요청하지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E2E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P1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일부 자동화 가능. 운영체제 설정 변경은 수동 시험 권장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운영체제 권한과 앱 알림 설정 원복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TC-027: 기록 알림 - 운영체제 권한 거부와 복귀 (4/4)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TC-028: 선택적 제품 분석 - 동의 거부 후 기능 정상 사용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사용자가 제품 분석을 거부해도 식사 기록 앱 기능이 정상 동작하고, 선택적 행동 자료가 전송되지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F-011, F-013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제품 분석 선택 항목이 앱에서 제공됩니다.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분석 동의 여부에 따른 전송 상태를 확인할 시험 환경이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보안·장애 대응용 최소 로그와 제품 분석 자료를 구분할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TC-028: 선택적 제품 분석 - 동의 거부 후 기능 정상 사용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220278"/>
                <a:gridCol w="50093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김치찌개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시험용_민감자료_817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TC-028: 선택적 제품 분석 - 동의 거부 후 기능 정상 사용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제품 분석 동의 화면을 엽니다.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제품 분석을 거부합니다.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앱을 계속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음식을 검색하고 직접 입력 기록을 생성합니다.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주간 리포트를 엽니다.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기록·검색·리포트 기능은 정상 동작합니다.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TC-028: 선택적 제품 분석 - 동의 거부 후 기능 정상 사용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선택적 제품 분석 이벤트가 전송되지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보안·장애 대응 최소 로그가 별도 기준에 따라 처리되는지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제품 분석 거부가 핵심 기능을 제한하지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선택적 분석 이벤트 전송이 중단됩니다.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제품 분석과 필수 보안·장애 대응 로그가 구분됩니다.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분석 동의가 미리 선택된 상태가 아닙니다.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TC-028: 선택적 제품 분석 - 동의 거부 후 기능 정상 사용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E2E, 통합, 보안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동의 상태·분석 자료 초기화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TC-029: 오류·분석 자료 - 민감 정보 미포함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음식명, 칼로리, 체중, 자유 입력 내용이 제품 분석 이벤트나 오류 진단 자료에 포함되지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F-011, F-013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분석·오류 감시가 켜진 시험 환경입니다.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네트워크 요청이나 수집 자료를 확인할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민감 자료 검사 방식은 개발·보안 담당자가 확정해야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TC-029: 오류·분석 자료 - 민감 정보 미포함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992582"/>
                <a:gridCol w="523701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종류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문자열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비공개시험음식_9182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9876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123.4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로그에포함금지_시험문구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진단용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TC-029: 오류·분석 자료 - 민감 정보 미포함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시험 계정에서 분석 기능을 허용한 상태를 준비합니다.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위 시험 음식·영양값·체중 자료를 입력하거나 기록합니다.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음식 검색, 기록 완료, 리포트 열람 이벤트를 발생시킵니다.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시험 네트워크 요청과 진단 자료를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음식명·칼로리·체중·자유 입력 내용이 제품 분석 자료에 포함되지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오류가 발생해도 요청 본문 전체가 로그에 복사되지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TC-029: 오류·분석 자료 - 민감 정보 미포함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진단에는 승인된 항목만 포함됩니다. 승인 항목 목록은 추정 필요입니다.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민감한 식사 기록 내용이 제품 분석으로 전송되지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오류 로그에 요청 본문이나 자유 입력 자료가 자동 첨부되지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제품 분석 자료와 서비스 진단 자료가 구분됩니다.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내부 사용자 식별값은 로그인 이메일 등 직접 식별 정보와 분리됩니다.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보안, 통합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자료와 수집 이벤트 삭제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TC-029: 오류·분석 자료 - 민감 정보 미포함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TC-030: 계정 삭제 - 연관 기록 접근 차단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사용자가 앱 안에서 계정 삭제를 요청하면 연관 기록이 삭제 처리되고 계정 접근이 제한됩니다.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F-012, F-009, F-011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시험 계정에 식사 기록과 개인 음식 자료가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계정 삭제 요청 화면이 구현되어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삭제 처리 시간, 백업 삭제 시점, 삭제 완료 확인 방법은 정책 확정 전까지 고정하지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TC-030: 계정 삭제 - 연관 기록 접근 차단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02676"/>
                <a:gridCol w="65269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설정·푸시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TC-030: 계정 삭제 - 연관 기록 접근 차단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시험 계정 A에 기록·개인 음식·알림 설정이 저장되어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설정에서 계정 삭제를 선택합니다.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삭제 대상과 처리 방식을 안내하는 확인 단계가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삭제를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삭제 요청 상태가 접수되고, 확정된 정책에 따라 계정 접근이 제한됩니다.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푸시 토큰이 비활성화되거나 삭제 처리됩니다.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TC-030: 계정 삭제 - 연관 기록 접근 차단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삭제 요청 계정으로 다시 로그인하거나 기록을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삭제 정책에 따른 접근 제한이 적용되고, 연관 기록이 다른 계정에서 노출되지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처리 결과와 백업 삭제 시점은 확정 정책과 일치하는지 별도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삭제 요청은 앱 안에서 시작할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계정과 연관 기록이 함께 삭제 처리됩니다.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삭제 요청 이후 알림 발송이 중단됩니다.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TC-030: 계정 삭제 - 연관 기록 접근 차단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처리 시간과 백업 내 완전 삭제 시점을 임의로 가정하지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E2E, 보안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가능. 백업 삭제 정책 시험은 일부 수동 확인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삭제 상태를 초기화할 수 있는 격리 환경에서 수행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TC-031: 저장 실패 - 입력 내용 보존과 재시도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기록 저장 중 네트워크가 끊겨도 작성 내용이 사라지지 않고, 저장 실패 상태가 명확하게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F-014, F-006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네트워크를 끊고 복구할 수 있는 시험 기기가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입력 임시 보존 기능의 구현 범위가 확인되어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완전한 오프라인 동기화는 MVP 범위에서 제외하는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TC-031: 저장 실패 - 입력 내용 보존과 재시도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904565"/>
                <a:gridCol w="53250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저장실패_시험음식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TC-031: 저장 실패 - 입력 내용 보존과 재시도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저녁 기록 입력 화면에서 음식과 양을 입력합니다.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저장을 누르기 직전에 네트워크 연결을 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저장 실패 또는 연결 문제 상태가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작성 중인 음식명·양·식사 구분·날짜가 화면에서 유지됩니다.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네트워크를 복구하고 재시도합니다.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저장 성공 여부가 명확하게 표시됩니다.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TC-031: 저장 실패 - 입력 내용 보존과 재시도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입력 화면은 성공 확인 전에 임의로 닫히지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화면을 다시 열어 기록을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성공한 기록은 한 건만 존재합니다.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네트워크 오류로 입력 내용이 유실되지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저장 중·성공·실패 상태가 구분됩니다.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저장 실패 시 재시도 안내가 표시됩니다.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TC-031: 저장 실패 - 입력 내용 보존과 재시도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오프라인 상태에서 완전 동기화가 지원되는 것으로 잘못 표시되지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E2E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일부 자동화 가능. 네트워크 차단과 앱 재진입은 실제 기기 확인 병행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기록 및 로컬 임시 자료 제거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TC-032: 저장 재시도 - 중복 기록 방지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같은 저장 요청을 다시 보내도 중복 식사 기록이 생성되지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F-014, F-006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 생성 요청에 중복 방지용 요청 식별값을 사용하는 구현이 준비되어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서버 응답을 지연시키거나 응답 수신 전 연결을 끊을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요청 식별값의 실제 이름과 보존 정책은 구현 확정 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TC-032: 저장 재시도 - 중복 기록 방지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46852"/>
                <a:gridCol w="60827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중복방지_시험음식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1회분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재전송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동일한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TC-032: 저장 재시도 - 중복 기록 방지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시험 기록을 저장하도록 요청합니다.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서버는 요청을 처리하지만 앱이 응답을 받기 전에 연결을 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앱이 같은 저장 요청을 재전송합니다.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서버는 동일 요청을 중복 생성하지 않고 최초 처리 결과를 돌려줍니다.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날짜별 기록을 다시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해당 기록은 한 건만 표시됩니다.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TC-032: 저장 재시도 - 중복 기록 방지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같은 식별값을 다른 내용으로 재사용했을 때는 구현된 충돌 처리 규칙이 적용됩니다.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재시도에 따른 중복 기록이 생성되지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응답을 받지 못한 상황에서도 사용자가 저장 여부를 확인할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요청 식별값과 저장 결과의 연결이 일관됩니다.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회귀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기록 삭제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TC-033: 백업·복구 - 기록 복원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백업에서 복구한 뒤 사용자 기록과 기록 당시 영양값이 복원됩니다.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F-014, F-009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운영 자료와 분리된 복구 시험 환경이 준비되어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백업 생성·복구 절차가 문서화되어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출시 전 최소 한 번 복구 시험을 수행합니다.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TC-033: 백업·복구 - 기록 복원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음식명·영양값·양·식사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알림·동의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포함되는지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TC-033: 백업·복구 - 기록 복원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복구 시험 전용 계정에 기록 자료를 준비합니다.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승인된 시험 백업을 생성합니다.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시험 환경에서 복구 절차를 수행합니다.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복구 대상 사용자와 기록이 예상한 범위로 복원됩니다.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기록 당시 음식명·영양값 스냅샷이 보존됩니다.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날짜별 기록과 주간 리포트를 조회합니다.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TC-033: 백업·복구 - 기록 복원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복구 전과 동일한 결과가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복구 과정에서 다른 사용자 자료가 섞이지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백업 자료를 실제로 복구할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사용자별 데이터 경계가 유지됩니다.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 스냅샷과 날짜 집계가 유지됩니다.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복구 자료의 접근 권한이 제한됩니다.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TC-033: 백업·복구 - 기록 복원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보안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일부 자동화 가능. 운영 복구 절차 확인은 수동 검증 병행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복구 시험 자료와 임시 백업 폐기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TC-034: 접근성 - 글자 크기와 상태 표시 (1/4)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시스템 글자 크기를 키워도 주요 기록 화면이 깨지지 않고, 상태를 색상만으로 구분하지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F-016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iOS·안드로이드 시험 기기가 준비되어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시스템 글자 크기를 조정할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주요 화면과 오류·빈 상태 화면이 구현되어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TC-034: 접근성 - 글자 크기와 상태 표시 (2/4)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시험 기기의 시스템 글자 크기를 확대합니다.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홈, 음식 검색, 기록 입력, 기록 목록, 리포트, 설정 화면을 차례로 엽니다.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버튼·입력창·숫자·안내 문구가 겹치거나 화면 밖으로 잘리지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저장 완료·오류·기록 없음 상태를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각 상태는 색상 외에 글자·표식 등으로도 구별됩니다.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주요 버튼에 읽을 수 있는 이름이 제공됩니다.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TC-034: 접근성 - 글자 크기와 상태 표시 (3/4)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화면 읽기 기능으로 핵심 버튼과 입력값을 식별할 수 있는지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주요 화면이 확대 글자에서 사용 불가능한 상태로 깨지지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상태를 색상만으로 전달하지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버튼에 식별 가능한 이름이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복잡한 차트의 상세 대체 설명은 회의상 우선순위 확인 대상이며, 미확정 사항으로 별도 기록합니다.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150</a:t>
            </a:fld>
            <a:endParaRPr 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TC-034: 접근성 - 글자 크기와 상태 표시 (4/4)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수동, 접근성, E2E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P1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일부 자동화 가능. 실제 화면 읽기와 글자 확대는 수동 확인 권장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기기 글자 크기 설정 원복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151</a:t>
            </a:fld>
            <a:endParaRPr 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TC-035: 식사 사진 첨부 - 식사당 한 장 저장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사진 첨부가 MVP에 최종 포함되는 경우, 식사 기록을 먼저 저장한 뒤 사진 한 장을 연결해 다시 확인할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F-015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첨부 포함 여부가 최종 승인되어야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크기·저장 위치·접근·보관·삭제 정책이 확정되어야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자동 분석은 비활성 상태입니다.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데이터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152</a:t>
            </a:fld>
            <a:endParaRPr 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TC-035: 식사 사진 첨부 - 식사당 한 장 저장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촬영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메타데이터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153</a:t>
            </a:fld>
            <a:endParaRPr lang="en-US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TC-035: 식사 사진 첨부 - 식사당 한 장 저장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점심 식사 기록을 먼저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저장 완료 후 사진 추가를 선택합니다.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사진 한 장을 선택해 업로드합니다.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사진은 식사 기록과 연결되어 다시 열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데이터베이스에는 사진 자체가 아닌 저장 식별값이 사용되는지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업로드된 사진의 메타데이터를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154</a:t>
            </a:fld>
            <a:endParaRPr lang="en-US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TC-035: 식사 사진 첨부 - 식사당 한 장 저장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EXIF 제거 정책이 확정된 경우 위치 정보 등 불필요한 메타데이터가 제거됩니다.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사진이 외부 분석 서비스로 전송되지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식사 기록 저장과 사진 업로드가 분리됩니다.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첨부는 식사당 최대 한 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자동 분석이 호출되지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접근은 비공개 방식으로 제한됩니다.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155</a:t>
            </a:fld>
            <a:endParaRPr lang="en-US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TC-035: 식사 사진 첨부 - 식사당 한 장 저장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E2E, 보안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P1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일부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상태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사진 첨부 포함 여부가 회의 내 상충하므로 최종 승인 전 보류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사진 및 저장 자료 삭제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156</a:t>
            </a:fld>
            <a:endParaRPr lang="en-US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TC-036: 식사 사진 첨부 - 업로드 실패와 기록 저장 분리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시나리오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사진 업로드가 실패해도 식사 기록은 정상 저장 상태로 유지됩니다.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연결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F-015, F-006, F-014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전제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첨부가 최종 승인되어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업로드 요청만 실패시키는 시험 환경이 준비되어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식사 기록 저장과 사진 업로드가 분리된 흐름으로 구현되어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단계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157</a:t>
            </a:fld>
            <a:endParaRPr lang="en-US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TC-036: 식사 사진 첨부 - 업로드 실패와 기록 저장 분리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Given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사용자가 식사 기록을 입력하고 먼저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식사 기록 저장 완료 상태가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사진 업로드를 시작하고 업로드 요청을 실패시킵니다.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사진 업로드 실패 상태가 식사 기록 저장 실패와 구분됩니다.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식사 기록은 홈과 기록 목록에 남습니다.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When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네트워크를 복구하고 사진 재시도를 선택합니다.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Then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사진을 재시도하거나 사진 없이 기록을 계속 확인할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158</a:t>
            </a:fld>
            <a:endParaRPr lang="en-US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TC-036: 식사 사진 첨부 - 업로드 실패와 기록 저장 분리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And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재시도 과정에서 식사 기록이 중복 생성되지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기대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실패가 식사 기록을 취소하거나 삭제하지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 저장 상태와 사진 업로드 상태가 별도로 표시됩니다.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재시도 시 기록 중복이 발생하지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유형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통합, E2E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P1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자동화 여부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일부 자동화 가능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상태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사진 첨부 포함 여부 최종 승인 전 보류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정리 작업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시험 기록·사진·임시 업로드 자료 삭제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159</a:t>
            </a:fld>
            <a:endParaRPr lang="en-US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 테스트 데이터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시험 자료는 가상 식단을 사용합니다. 표의 영양 수치는 계산 검증용 예시이며, 실제 식품의 정확한 영양값이나 사용자에게 제공할 권장값을 뜻하지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160</a:t>
            </a:fld>
            <a:endParaRPr lang="en-US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정상 데이터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75657"/>
                <a:gridCol w="3918857"/>
                <a:gridCol w="31350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종류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시험값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생성·수정·삭제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밥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닭가슴살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된장찌개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정규화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닭가슴살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가슴살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정규화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시험용_개인음식_4721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비공개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200,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단백질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지난주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조회·리포트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재전송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있음·없음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161</a:t>
            </a:fld>
            <a:endParaRPr lang="en-US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예외 데이터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19311"/>
                <a:gridCol w="2912012"/>
                <a:gridCol w="37982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종류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시험값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시험용_결과없음_음식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공백만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독립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타인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조회·수정·삭제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존재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끊김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않으며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맞는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미존재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162</a:t>
            </a:fld>
            <a:endParaRPr lang="en-US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6.3 경계값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92702"/>
                <a:gridCol w="2912012"/>
                <a:gridCol w="39248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길이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밥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에서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밥공기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직전·직후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디바운스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규칙대로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규칙에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최솟값·최댓값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판정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월요일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00:00,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163</a:t>
            </a:fld>
            <a:endParaRPr lang="en-US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6.3 경계값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07831"/>
                <a:gridCol w="2215662"/>
                <a:gridCol w="49061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분모에서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0건·1건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0건이면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이상이면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1장·2장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기본·확대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겹침·잘림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164</a:t>
            </a:fld>
            <a:endParaRPr lang="en-US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성능 시험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 확정된 처리량, 동시 사용자 수, API 지연 한도는 없습니다. 예시 문서에 포함된 임의의 부하 수치나 성능 목표를 요구사항으로 사용하지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165</a:t>
            </a:fld>
            <a:endParaRPr lang="en-US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7.1 성능 시험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55077"/>
                <a:gridCol w="3376246"/>
                <a:gridCol w="37982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측정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판정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요청부터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나타날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대부분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제안됐으나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목표입니다.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유지·대기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표시·재시도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무응답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제안이며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요청부터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성공·실패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상태까지의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모호하게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남지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않아야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수·자료량을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진입부터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온디맨드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캐시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조회·집계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우려가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제기됐으며,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자료량과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캐시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호출량·비용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제한·캐시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실패율·오류율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모니터링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논의됐으나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166</a:t>
            </a:fld>
            <a:endParaRPr lang="en-US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7.2 성능 시험 시나리오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대표 메뉴 50개와 브랜드 상품 20개로 검색 시험을 수행합니다.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각 검색어에 대해 결과 유무, 오매칭, 응답 시간을 기록합니다. 검색어를 제품 분석 자료에 저장하지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검색 결과 없음, 공급자 오류, 느린 응답을 각각 재현해 화면 상태와 입력값 유지 여부를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여러 날짜와 식사 구분에 기록을 넣고 홈·주간 리포트 집계 시간을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양 배수와 영양소 결측 자료가 섞인 경우에도 집계 시간이 비정상적으로 늘지 않는지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167</a:t>
            </a:fld>
            <a:endParaRPr lang="en-US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7.2 성능 시험 시나리오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사용자 수별 외부 API 비용과 캐시 전후 호출량을 확인합니다. 구체적인 사용자 수별 부하 목표는 계약·비용 자료 확인 후 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측정 결과와 실제 기준값을 분리해 기록하고, 기준 미확정 항목은 성능 합격으로 임의 판정하지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168</a:t>
            </a:fld>
            <a:endParaRPr lang="en-US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보안·개인정보 시험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169</a:t>
            </a:fld>
            <a:endParaRPr lang="en-US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8.1 인증·인가 및 데이터 분리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92702"/>
                <a:gridCol w="3291840"/>
                <a:gridCol w="35450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절차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요약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조회·수정·삭제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사용자에게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비밀번호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비밀번호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저장·노출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도구·권한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막고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승인·접근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170</a:t>
            </a:fld>
            <a:endParaRPr lang="en-US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8.1 인증·인가 및 데이터 분리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인증 제공자와 세부 토큰 정책은 미정이므로, 구체적 토큰 만료 시간·로그인 실패 횟수 제한 등을 임의의 요구사항으로 추가하지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171</a:t>
            </a:fld>
            <a:endParaRPr lang="en-US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8.2 외부 전송·로그·분석 시험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73958"/>
                <a:gridCol w="2333767"/>
                <a:gridCol w="44218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ID·이메일·기록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음식명·칼로리·체중·자유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버전·플랫폼·요청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원문은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잠금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음식명·칼로리·체중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주소록·위치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주소록·위치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보관·이용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계약·고지·개인정보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172</a:t>
            </a:fld>
            <a:endParaRPr lang="en-US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8.3 입력 검증 시험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88168"/>
                <a:gridCol w="2598821"/>
                <a:gridCol w="40426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데이터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앞뒤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공백만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앞뒤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탄단지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특수문자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따옴표·기호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위조·권한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소유권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특수문자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처리하되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로그·분석으로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전송하지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173</a:t>
            </a:fld>
            <a:endParaRPr lang="en-US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8.3 입력 검증 시험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 시험은 구현된 입력 허용 규칙과 보안 검토 결과를 따릅니다. 회의에서 구체적인 최대 길이, 특수문자 허용 정책, 제한 횟수는 확정되지 않았습니다.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174</a:t>
            </a:fld>
            <a:endParaRPr lang="en-US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8.4 삭제·백업 시험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안에서 계정 삭제 요청을 제출할 수 있는지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 시 사용자 계정과 연관된 식사 기록이 함께 삭제 처리되는지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토큰이 비활성화 또는 삭제되는지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첨부가 확정된 경우 계정·식사 삭제와 사진 삭제의 연결을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서비스 데이터와 백업의 삭제 시점은 개인정보 담당자와 정책 확인 후 시험 기준으로 확정합니다.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장기 미사용 계정 자동 삭제는 정책 확정 전까지 시험 대상 기능으로 간주하지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175</a:t>
            </a:fld>
            <a:endParaRPr lang="en-US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 호환성 시험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 모바일 공통 앱 출시가 논의됐습니다. 브라우저 호환성은 이번 테스트 범위에 해당하지 않습니다. 지원 OS 버전은 확정 전이므로 구체적인 버전별 통과 기준은 보류합니다.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176</a:t>
            </a:fld>
            <a:endParaRPr lang="en-US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9.1 기기·운영체제 시험 범위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55023"/>
                <a:gridCol w="3526971"/>
                <a:gridCol w="384760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범위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아이폰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모델·OS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안드로이드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모델·OS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제안이며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허용·거부·변경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잘림·겹침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안정적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끊김,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날짜·시간대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177</a:t>
            </a:fld>
            <a:endParaRPr lang="en-US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9.2 기기별 주요 점검 항목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실행·로그인·목표 없이 시작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검색 입력, 결과 없음, 오류 및 로딩 상태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기록 생성·수정·삭제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화면을 백그라운드로 보낸 뒤 복귀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날짜가 변경된 뒤 홈 갱신 여부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 권한 요청·거부·설정 변경 후 복귀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시스템 글자 크기 확대 시 주요 화면 배치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178</a:t>
            </a:fld>
            <a:endParaRPr lang="en-US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9.2 기기별 주요 점검 항목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화면 읽기 기능에서 버튼 이름과 핵심 입력값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네트워크가 끊긴 동안 작성 중인 기록 내용 보존 여부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첨부가 확정된 경우 사진 선택 권한과 업로드 실패 처리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179</a:t>
            </a:fld>
            <a:endParaRPr lang="en-US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 버그 리포트 양식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44436"/>
                <a:gridCol w="59851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예: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BUG-001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ID·테스트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TC-031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심각도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치명적·높음·보통·낮음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분류표는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P0·P1·P2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시스템의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기기·운영체제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모델과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유무·권한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상태·시간대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3단계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요구사항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180</a:t>
            </a:fld>
            <a:endParaRPr lang="en-US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 버그 리포트 양식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51314"/>
                <a:gridCol w="58782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작성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화면·서버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화면·진단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조치·재시험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181</a:t>
            </a:fld>
            <a:endParaRPr lang="en-US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 버그 리포트 양식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버그 예시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182</a:t>
            </a:fld>
            <a:endParaRPr lang="en-US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 버그 리포트 양식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BUG-001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ID·테스트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F-014,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TC-032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심각도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치명적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처리됐으나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끊김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끊는다.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재시도한다.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조회한다.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재전송에도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생성된다.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표시된다.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본문과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183</a:t>
            </a:fld>
            <a:endParaRPr lang="en-US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 테스트 일정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일정은 회의에서 논의된 개발 마일스톤을 바탕으로 정리했습니다. 테스트 활동의 시작·완료일은 개발 결과와 인력 배정에 따라 확정해야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184</a:t>
            </a:fld>
            <a:endParaRPr lang="en-US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 테스트 일정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39192"/>
                <a:gridCol w="2876365"/>
                <a:gridCol w="2876365"/>
                <a:gridCol w="18376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테스트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선행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조건·완료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담당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요구사항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공급자·인증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화면·데이터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규칙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5~6명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프로토타입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참여자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프로토타입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생성·수정·삭제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QA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역할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홈·기록·즐겨찾기·최근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경우에만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기능보다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준비·진행,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푸시·계정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목적·자료·보관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참여자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UI,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유실·중복·삭제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치명적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초·말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맞춘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심각한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유실·권한·개인정보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역할.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배정은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자료·심사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185</a:t>
            </a:fld>
            <a:endParaRPr lang="en-US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테스트 진행·승인 조건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주요 기록 흐름에서 기록 생성·수정·삭제·재조회 결과가 일치해야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치명적인 데이터 유실이 확인되면 기능 추가보다 우선해 수정하고, 재시험을 수행합니다.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 간 식사 기록·개인 음식 데이터 노출이 확인되면 출시 차단 결함으로 처리합니다.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음식명·칼로리·체중·자유 입력 내용이 제품 분석이나 일반 오류 로그에 포함되면 출시 승인 전에 수정해야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 없음과 공급자 오류를 구분하고, 두 상황 모두 직접 입력이나 최근 기록으로 기록 흐름을 이어갈 수 있어야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186</a:t>
            </a:fld>
            <a:endParaRPr lang="en-US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테스트 진행·승인 조건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첨부와 주간 리포트 알림은 회의 내 결정이 상충하므로 최종 범위 승인 전에는 출시 필수 시험으로 확정하지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지원 OS, 로그인 제공자, API 공급처, 삭제 처리 시간, 백업 보존 정책 등 미정 항목은 담당자 확인과 승인 뒤 최종 합격 기준에 반영합니다.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187</a:t>
            </a:fld>
            <a:endParaRPr lang="en-US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기능 ID와 이전 기능 목록의 ID를 연결했습니다.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정상·예외·경계값 시험 자료를 포함했습니다.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상세 시험 사례마다 재현 가능한 3단계 이상의 단계를 작성했습니다.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Given·When·Then 흐름을 상세 시험 사례에 반영했습니다.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단위·통합·E2E·성능·보안·회귀·사용자 시험을 구분했습니다.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자동화 가능 여부를 케이스별로 표시했습니다.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음식 검색 실패, 영양값 결측, 기록 중복·유실, 날짜·시간대, 리포트 집계, 개인정보를 포함했습니다.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188</a:t>
            </a:fld>
            <a:endParaRPr lang="en-US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사진 첨부와 주간 리포트 알림의 상충을 미확정 항목으로 표시했습니다.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회의에서 제안된 수치를 확정 성능 목표로 단정하지 않았습니다.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로그인 제공자·계정 연결·게스트 지원 범위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음식 데이터 공급처·검색 지연값·호출 제한·캐시 조건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첨부 최종 포함 여부와 사진 보관·삭제 기준 승인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주간 리포트 알림 포함 여부 최종 확인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지원 OS 버전과 실제 시험 기기 목록 확정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189</a:t>
            </a:fld>
            <a:endParaRPr lang="en-US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입력 안전 기준과 직접 입력 허용 범위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계정·백업 자료 삭제 시점 및 처리 기준 확인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시험 환경 주소·자동화 도구·성능 판정값 확정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190</Slides>
  <Notes>190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190</vt:i4>
      </vt:variant>
    </vt:vector>
  </HeadingPairs>
  <TitlesOfParts>
    <vt:vector size="19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2026-10-06T12:42:26Z</dcterms:created>
  <dcterms:modified xsi:type="dcterms:W3CDTF">2026-10-06T12:42:26Z</dcterms:modified>
</cp:coreProperties>
</file>