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RAN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46304"/>
          </a:xfrm>
          <a:prstGeom prst="rect">
            <a:avLst/>
          </a:prstGeom>
          <a:solidFill>
            <a:srgbClr val="263F59"/>
          </a:solidFill>
          <a:ln/>
        </p:spPr>
      </p:sp>
      <p:sp>
        <p:nvSpPr>
          <p:cNvPr id="3" name="Text 1"/>
          <p:cNvSpPr/>
          <p:nvPr/>
        </p:nvSpPr>
        <p:spPr>
          <a:xfrm>
            <a:off x="365760" y="6446520"/>
            <a:ext cx="4572000" cy="274320"/>
          </a:xfrm>
          <a:prstGeom prst="rect">
            <a:avLst/>
          </a:prstGeom>
          <a:noFill/>
          <a:ln/>
        </p:spPr>
        <p:txBody>
          <a:bodyPr wrap="square" rtlCol="0" anchor="ctr"/>
          <a:lstStyle/>
          <a:p>
            <a:pPr indent="0" marL="0">
              <a:buNone/>
            </a:pPr>
            <a:r>
              <a:rPr lang="en-US" sz="900" dirty="0">
                <a:solidFill>
                  <a:srgbClr val="9CA3AF"/>
                </a:solidFill>
              </a:rPr>
              <a:t>MeetingAutoDocs</a:t>
            </a:r>
            <a:endParaRPr lang="en-US" sz="9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F59"/>
        </a:solidFill>
      </p:bgPr>
    </p:bg>
    <p:spTree>
      <p:nvGrpSpPr>
        <p:cNvPr id="1" name=""/>
        <p:cNvGrpSpPr/>
        <p:nvPr/>
      </p:nvGrpSpPr>
      <p:grpSpPr>
        <a:xfrm>
          <a:off x="0" y="0"/>
          <a:ext cx="0" cy="0"/>
          <a:chOff x="0" y="0"/>
          <a:chExt cx="0" cy="0"/>
        </a:xfrm>
      </p:grpSpPr>
      <p:sp>
        <p:nvSpPr>
          <p:cNvPr id="2" name="Text 0"/>
          <p:cNvSpPr/>
          <p:nvPr/>
        </p:nvSpPr>
        <p:spPr>
          <a:xfrm>
            <a:off x="457200" y="2377440"/>
            <a:ext cx="8229600" cy="1645920"/>
          </a:xfrm>
          <a:prstGeom prst="rect">
            <a:avLst/>
          </a:prstGeom>
          <a:noFill/>
          <a:ln/>
        </p:spPr>
        <p:txBody>
          <a:bodyPr wrap="square" rtlCol="0" anchor="ctr"/>
          <a:lstStyle/>
          <a:p>
            <a:pPr algn="ctr" indent="0" marL="0">
              <a:buNone/>
            </a:pPr>
            <a:r>
              <a:rPr lang="en-US" sz="4000" b="1" dirty="0">
                <a:solidFill>
                  <a:srgbClr val="FFFFFF"/>
                </a:solidFill>
              </a:rPr>
              <a:t>PRD (Product Requirements Document)</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PRD (Product Requirements Document)</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 신규 모바일 식단 기록 앱 킥오프</a:t>
            </a:r>
            <a:endParaRPr lang="en-US" sz="1600" dirty="0"/>
          </a:p>
          <a:p>
            <a:pPr indent="0" marL="0">
              <a:spcAft>
                <a:spcPts val="800"/>
              </a:spcAft>
              <a:buNone/>
            </a:pPr>
            <a:r>
              <a:rPr lang="en-US" sz="1600" dirty="0">
                <a:solidFill>
                  <a:srgbClr val="4B5563"/>
                </a:solidFill>
              </a:rPr>
              <a:t>작성일: 2026-10-01"</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 문서 정보</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PRD 버전</a:t>
            </a:r>
            <a:pPr indent="0" marL="0">
              <a:spcAft>
                <a:spcPts val="800"/>
              </a:spcAft>
              <a:buNone/>
            </a:pPr>
            <a:r>
              <a:rPr lang="en-US" sz="1600" dirty="0">
                <a:solidFill>
                  <a:srgbClr val="4B5563"/>
                </a:solidFill>
              </a:rPr>
              <a:t>: v1.0</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작성일</a:t>
            </a:r>
            <a:pPr indent="0" marL="0">
              <a:spcAft>
                <a:spcPts val="800"/>
              </a:spcAft>
              <a:buNone/>
            </a:pPr>
            <a:r>
              <a:rPr lang="en-US" sz="1600" dirty="0">
                <a:solidFill>
                  <a:srgbClr val="4B5563"/>
                </a:solidFill>
              </a:rPr>
              <a:t>: 2026-10-01</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작성자</a:t>
            </a:r>
            <a:pPr indent="0" marL="0">
              <a:spcAft>
                <a:spcPts val="800"/>
              </a:spcAft>
              <a:buNone/>
            </a:pPr>
            <a:r>
              <a:rPr lang="en-US" sz="1600" dirty="0">
                <a:solidFill>
                  <a:srgbClr val="4B5563"/>
                </a:solidFill>
              </a:rPr>
              <a:t>: 기획팀</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검토자</a:t>
            </a:r>
            <a:pPr indent="0" marL="0">
              <a:spcAft>
                <a:spcPts val="800"/>
              </a:spcAft>
              <a:buNone/>
            </a:pPr>
            <a:r>
              <a:rPr lang="en-US" sz="1600" dirty="0">
                <a:solidFill>
                  <a:srgbClr val="4B5563"/>
                </a:solidFill>
              </a:rPr>
              <a:t>: -</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문서 상태</a:t>
            </a:r>
            <a:pPr indent="0" marL="0">
              <a:spcAft>
                <a:spcPts val="800"/>
              </a:spcAft>
              <a:buNone/>
            </a:pPr>
            <a:r>
              <a:rPr lang="en-US" sz="1600" dirty="0">
                <a:solidFill>
                  <a:srgbClr val="4B5563"/>
                </a:solidFill>
              </a:rPr>
              <a:t>: 초안</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변경 이력</a:t>
            </a:r>
            <a:pPr indent="0" marL="0">
              <a:spcAft>
                <a:spcPts val="800"/>
              </a:spcAft>
              <a:buNone/>
            </a:pPr>
            <a:r>
              <a:rPr lang="en-US" sz="1600" dirty="0">
                <a:solidFill>
                  <a:srgbClr val="4B5563"/>
                </a:solidFill>
              </a:rPr>
              <a:t>: 버전날짜변경 내용작성자v1.02026-10-01초기 작성기획팀</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 개요</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배경 및 동기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이번 프로젝트는 체중 관리를 원하는 국내 일반 사용자가 식단 기록을 꾸준히 이어가기 어렵다는 문제에서 출발했다. 회의에서 확인한 주요 대상은 병원·보험 서비스를 이용하는 사람이 아니라, 먹은 음식을 기록하려다 입력이 번거로워 중단하는 사용자다.</a:t>
            </a:r>
            <a:endParaRPr lang="en-US" sz="1600" dirty="0"/>
          </a:p>
          <a:p>
            <a:pPr indent="0" marL="0">
              <a:spcAft>
                <a:spcPts val="800"/>
              </a:spcAft>
              <a:buNone/>
            </a:pPr>
            <a:r>
              <a:rPr lang="en-US" sz="1600" dirty="0">
                <a:solidFill>
                  <a:srgbClr val="4B5563"/>
                </a:solidFill>
              </a:rPr>
              <a:t>특히 한 끼에 여러 음식을 먹었을 때 메뉴를 하나씩 찾고 양을 입력하는 과정이 부담이 될 수 있다는 점이 문제로 제기됐다.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배경 및 동기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앱의 목적은 전문 영양 상담이나 의학적 권고를 제공하는 것이 아니라, 사용자가 식사를 간편하게 기록하고 나중에 기록 내용을 돌아볼 수 있도록 돕는 것이다. 칼로리와 영양 정보는 음식의 양과 조리법에 따라 실제 섭취량과 다를 수 있으므로 예상·참고값으로 안내하고, 값이 없는 경우에는 0으로 오인되지 않도록 구분하는 방향을 논의했다.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2.1 프로젝트 배경 및 동기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경영진은 8주 안에 출시 후보 빌드와 스토어 심사 제출을 목표로 하되, 일정에 맞추기 위해 기능을 무리하게 늘리기보다 핵심 기록 흐름의 품질과 데이터 신뢰, 개인정보 보호를 우선한다는 방향을 제시했다. iOS와 안드로이드는 함께 출시하는 것을 전제로 하며, 크로스플랫폼 개발을 추진한다.</a:t>
            </a:r>
            <a:endParaRPr lang="en-US" sz="1600" dirty="0"/>
          </a:p>
          <a:p>
            <a:pPr indent="0" marL="0">
              <a:spcAft>
                <a:spcPts val="800"/>
              </a:spcAft>
              <a:buNone/>
            </a:pPr>
            <a:r>
              <a:rPr lang="en-US" sz="1600" dirty="0">
                <a:solidFill>
                  <a:srgbClr val="4B5563"/>
                </a:solidFill>
              </a:rPr>
              <a:t>실제 공개 시점은 베타 결과와 스토어 심사 상황을 확인한 뒤 정하고, 9주 차는 심사 지연에 대비한 완충 기간으로 둔다.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2.2 비즈니스 문제 정의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핵심 문제는 사용자가 식단 기록의 필요성을 느끼더라도 음식 검색, 양 조절, 여러 음식 입력 등 기록 과정이 번거로우면 사용을 중단할 수 있다는 점이다. 음식 이름만으로는 양과 조리법을 알기 어려워 영양값의 정확도를 보장하기 힘들고, 영양 정보가 없는 음식의 기록을 막으면 기록을 이어가기 어렵다.</a:t>
            </a:r>
            <a:endParaRPr lang="en-US" sz="1600" dirty="0"/>
          </a:p>
          <a:p>
            <a:pPr indent="0" marL="0">
              <a:spcAft>
                <a:spcPts val="800"/>
              </a:spcAft>
              <a:buNone/>
            </a:pPr>
            <a:r>
              <a:rPr lang="en-US" sz="1600" dirty="0">
                <a:solidFill>
                  <a:srgbClr val="4B5563"/>
                </a:solidFill>
              </a:rPr>
              <a:t>반대로 불확실한 수치를 정확한 값처럼 보여주면 제품에 대한 신뢰를 해칠 수 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2.2 비즈니스 문제 정의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이 문제를 해결하지 못하면 사용자가 기록을 충분히 남기지 못하고, 기록을 다시 확인하는 주간 리포트도 제한된 정보만 제공하게 된다. 이는 반복 기록 경험과 재방문 가치를 약화할 수 있다는 우려로 논의됐다. 다만 회의에서는 현재 이탈률이나 매출 손실 등 정량적인 사업 현황은 제시되지 않았다.</a:t>
            </a:r>
            <a:endParaRPr lang="en-US" sz="1600" dirty="0"/>
          </a:p>
          <a:p>
            <a:pPr indent="0" marL="0">
              <a:spcAft>
                <a:spcPts val="800"/>
              </a:spcAft>
              <a:buNone/>
            </a:pPr>
            <a:r>
              <a:rPr lang="en-US" sz="1600" dirty="0">
                <a:solidFill>
                  <a:srgbClr val="4B5563"/>
                </a:solidFill>
              </a:rPr>
              <a:t>따라서 프로젝트의 사업 효과는 출시 후 기록 완료 시간, 기록 지속성, 검색 실패 후 이탈, 리포트 이해도 등의 자료를 통해 확인해야 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2.3 해결 방안 개요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MVP는 음식 검색, 최근 기록, 즐겨찾기, 직접 입력을 중심으로 식사 기록 흐름을 간소화한다. 음식 검색 결과가 없거나 외부 API 호출에 실패하더라도 직접 입력이나 최근 기록을 통해 기록을 이어갈 수 있도록 한다. 사용자는 영양 정보를 모르는 음식도 이름만으로 저장할 수 있으며, 기록 수정·삭제와 날짜별 조회를 지원한다.</a:t>
            </a:r>
            <a:endParaRPr lang="en-US" sz="1600" dirty="0"/>
          </a:p>
          <a:p>
            <a:pPr indent="0" marL="0">
              <a:spcAft>
                <a:spcPts val="800"/>
              </a:spcAft>
              <a:buNone/>
            </a:pPr>
            <a:r>
              <a:rPr lang="en-US" sz="1600" dirty="0">
                <a:solidFill>
                  <a:srgbClr val="4B5563"/>
                </a:solidFill>
              </a:rPr>
              <a:t>한 끼에 여러 음식 항목을 추가하고 식사 구분별 합계를 확인하는 방향도 논의됐다.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2.3 해결 방안 개요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홈에서는 칼로리 목표 달성 여부보다 오늘의 기록 상태를 우선 보여주고, 목표가 없는 사용자에게 칼로리 게이지를 강요하지 않는다. 주간 리포트는 기록한 날 수, 기록된 날의 평균 영양값, 끼니별 기록 패턴 등 기록 내용에 근거한 중립적인 정보를 제공한다.</a:t>
            </a:r>
            <a:endParaRPr lang="en-US" sz="1600" dirty="0"/>
          </a:p>
          <a:p>
            <a:pPr indent="0" marL="0">
              <a:spcAft>
                <a:spcPts val="800"/>
              </a:spcAft>
              <a:buNone/>
            </a:pPr>
            <a:r>
              <a:rPr lang="en-US" sz="1600" dirty="0">
                <a:solidFill>
                  <a:srgbClr val="4B5563"/>
                </a:solidFill>
              </a:rPr>
              <a:t>기록이 없는 날과 영양 정보가 누락된 경우를 구분하고, 실제 섭취량이 아니라 기록된 내용 기준임을 안내한다. 음식 영양값은 기록 당시 스냅샷으로 보관해 외부 음식 데이터가 바뀌어도 과거 기록과 리포트가 자동으로 달라지지 않게 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2.3 해결 방안 개요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기존의 전문 상담이나 자동 분석 중심 접근과 달리, 이 MVP의 차별점은 기록 진입 장벽을 낮추고 데이터의 한계를 사용자에게 분명히 알리는 데 있다. 사진 자동 인식, 바코드, 친구 공유, 전문가 상담, 운동 기록, 결제는 MVP에서 제외한다.</a:t>
            </a:r>
            <a:endParaRPr lang="en-US" sz="1600" dirty="0"/>
          </a:p>
          <a:p>
            <a:pPr indent="0" marL="0">
              <a:spcAft>
                <a:spcPts val="800"/>
              </a:spcAft>
              <a:buNone/>
            </a:pPr>
            <a:r>
              <a:rPr lang="en-US" sz="1600" dirty="0">
                <a:solidFill>
                  <a:srgbClr val="4B5563"/>
                </a:solidFill>
              </a:rPr>
              <a:t>다만 회의 후반부 결정에 따라 식사당 사진 한 장 첨부는 포함하되, 사진 자동 분석은 출시 필수 기능으로 약속하지 않고 기술 검증 결과와 일정 영향을 보고 판단한다. 핵심 가치 제안은 빠르게 식사를 기록하고, 기록한 내용을 신뢰 가능한 기준으로 다시 확인할 수 있게 하는 것이다.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2.4 기대 효과 및 성공 지표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출시 후에는 사용자가 첫 기록을 쉽게 완료하는지, 검색이 막히더라도 기록을 이어갈 수 있는지, 주간 리포트의 기준을 이해하는지 확인한다. 회의에서 제안된 일부 수치는 베타 품질 목표 또는 검증 가설이며, 실제 결과와 표본 규모를 함께 보고 해석해야 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2.4 기대 효과 및 성공 지표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이 앱은 회의에서 무료 베타로 출시하고 결제 기능을 제외하기로 했다. 따라서 월 매출, 주문 건수, 재구매율, 평균 객단가는 현재 MVP의 성과 지표로 적용하기 어렵다. 월 3,900원은 내부 검토용 가설일 뿐 확정 가격이 아니며, 베타에서 약 4주간 실제 사용 자료를 확인한 뒤 과금 여부와 2차 로드맵을 다시 논의한다.</a:t>
            </a:r>
            <a:endParaRPr lang="en-US" sz="1600" dirty="0"/>
          </a:p>
          <a:p>
            <a:pPr indent="0" marL="0">
              <a:spcAft>
                <a:spcPts val="800"/>
              </a:spcAft>
              <a:buNone/>
            </a:pPr>
            <a:r>
              <a:rPr lang="en-US" sz="1600" dirty="0">
                <a:solidFill>
                  <a:srgbClr val="4B5563"/>
                </a:solidFill>
              </a:rPr>
              <a:t>표의 ‘현재’는 회의에서 기준값이 제시되지 않은 경우 미측정으로 표시했다.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2.4 기대 효과 및 성공 지표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625033"/>
                <a:gridCol w="1562582"/>
                <a:gridCol w="625033"/>
                <a:gridCol w="3020992"/>
                <a:gridCol w="1562582"/>
                <a:gridCol w="833377"/>
              </a:tblGrid>
              <a:tr h="0">
                <a:tc>
                  <a:txBody>
                    <a:bodyPr/>
                    <a:lstStyle/>
                    <a:p>
                      <a:pPr indent="0" marL="0">
                        <a:buNone/>
                      </a:pPr>
                      <a:r>
                        <a:rPr lang="en-US" sz="1200" b="1" dirty="0">
                          <a:solidFill>
                            <a:srgbClr val="FFFFFF"/>
                          </a:solidFill>
                        </a:rPr>
                        <a:t>지표 </a:t>
                      </a:r>
                      <a:pPr indent="0" marL="0">
                        <a:buNone/>
                      </a:pPr>
                      <a:r>
                        <a:rPr lang="en-US" sz="1200" b="1" dirty="0">
                          <a:solidFill>
                            <a:srgbClr val="FFFFFF"/>
                          </a:solidFill>
                        </a:rPr>
                        <a:t>분류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지표명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현재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목표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측정 </a:t>
                      </a:r>
                      <a:pPr indent="0" marL="0">
                        <a:buNone/>
                      </a:pPr>
                      <a:r>
                        <a:rPr lang="en-US" sz="1200" b="1" dirty="0">
                          <a:solidFill>
                            <a:srgbClr val="FFFFFF"/>
                          </a:solidFill>
                        </a:rPr>
                        <a:t>시점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비즈니스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월 </a:t>
                      </a:r>
                      <a:pPr indent="0" marL="0">
                        <a:buNone/>
                      </a:pPr>
                      <a:r>
                        <a:rPr lang="en-US" sz="1100" dirty="0">
                          <a:solidFill>
                            <a:srgbClr val="1F2937"/>
                          </a:solidFill>
                        </a:rPr>
                        <a:t>매출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MVP </a:t>
                      </a:r>
                      <a:pPr indent="0" marL="0">
                        <a:buNone/>
                      </a:pPr>
                      <a:r>
                        <a:rPr lang="en-US" sz="1100" dirty="0">
                          <a:solidFill>
                            <a:srgbClr val="1F2937"/>
                          </a:solidFill>
                        </a:rPr>
                        <a:t>무료 </a:t>
                      </a:r>
                      <a:pPr indent="0" marL="0">
                        <a:buNone/>
                      </a:pPr>
                      <a:r>
                        <a:rPr lang="en-US" sz="1100" dirty="0">
                          <a:solidFill>
                            <a:srgbClr val="1F2937"/>
                          </a:solidFill>
                        </a:rPr>
                        <a:t>베타 </a:t>
                      </a:r>
                      <a:pPr indent="0" marL="0">
                        <a:buNone/>
                      </a:pPr>
                      <a:r>
                        <a:rPr lang="en-US" sz="1100" dirty="0">
                          <a:solidFill>
                            <a:srgbClr val="1F2937"/>
                          </a:solidFill>
                        </a:rPr>
                        <a:t>운영, </a:t>
                      </a:r>
                      <a:pPr indent="0" marL="0">
                        <a:buNone/>
                      </a:pPr>
                      <a:r>
                        <a:rPr lang="en-US" sz="1100" dirty="0">
                          <a:solidFill>
                            <a:srgbClr val="1F2937"/>
                          </a:solidFill>
                        </a:rPr>
                        <a:t>결제 </a:t>
                      </a:r>
                      <a:pPr indent="0" marL="0">
                        <a:buNone/>
                      </a:pPr>
                      <a:r>
                        <a:rPr lang="en-US" sz="1100" dirty="0">
                          <a:solidFill>
                            <a:srgbClr val="1F2937"/>
                          </a:solidFill>
                        </a:rPr>
                        <a:t>매출 </a:t>
                      </a:r>
                      <a:pPr indent="0" marL="0">
                        <a:buNone/>
                      </a:pPr>
                      <a:r>
                        <a:rPr lang="en-US" sz="1100" dirty="0">
                          <a:solidFill>
                            <a:srgbClr val="1F2937"/>
                          </a:solidFill>
                        </a:rPr>
                        <a:t>목표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운영 </a:t>
                      </a:r>
                      <a:pPr indent="0" marL="0">
                        <a:buNone/>
                      </a:pPr>
                      <a:r>
                        <a:rPr lang="en-US" sz="1100" dirty="0">
                          <a:solidFill>
                            <a:srgbClr val="1F2937"/>
                          </a:solidFill>
                        </a:rPr>
                        <a:t>기간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비즈니스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월 </a:t>
                      </a:r>
                      <a:pPr indent="0" marL="0">
                        <a:buNone/>
                      </a:pPr>
                      <a:r>
                        <a:rPr lang="en-US" sz="1100" dirty="0">
                          <a:solidFill>
                            <a:srgbClr val="1F2937"/>
                          </a:solidFill>
                        </a:rPr>
                        <a:t>주문 </a:t>
                      </a:r>
                      <a:pPr indent="0" marL="0">
                        <a:buNone/>
                      </a:pPr>
                      <a:r>
                        <a:rPr lang="en-US" sz="1100" dirty="0">
                          <a:solidFill>
                            <a:srgbClr val="1F2937"/>
                          </a:solidFill>
                        </a:rPr>
                        <a:t>건수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결제·주문 </a:t>
                      </a:r>
                      <a:pPr indent="0" marL="0">
                        <a:buNone/>
                      </a:pPr>
                      <a:r>
                        <a:rPr lang="en-US" sz="1100" dirty="0">
                          <a:solidFill>
                            <a:srgbClr val="1F2937"/>
                          </a:solidFill>
                        </a:rPr>
                        <a:t>기능 </a:t>
                      </a:r>
                      <a:pPr indent="0" marL="0">
                        <a:buNone/>
                      </a:pPr>
                      <a:r>
                        <a:rPr lang="en-US" sz="1100" dirty="0">
                          <a:solidFill>
                            <a:srgbClr val="1F2937"/>
                          </a:solidFill>
                        </a:rPr>
                        <a:t>미포함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MVP </a:t>
                      </a:r>
                      <a:pPr indent="0" marL="0">
                        <a:buNone/>
                      </a:pPr>
                      <a:r>
                        <a:rPr lang="en-US" sz="1100" dirty="0">
                          <a:solidFill>
                            <a:srgbClr val="1F2937"/>
                          </a:solidFill>
                        </a:rPr>
                        <a:t>출시 </a:t>
                      </a:r>
                      <a:pPr indent="0" marL="0">
                        <a:buNone/>
                      </a:pPr>
                      <a:r>
                        <a:rPr lang="en-US" sz="1100" dirty="0">
                          <a:solidFill>
                            <a:srgbClr val="1F2937"/>
                          </a:solidFill>
                        </a:rPr>
                        <a:t>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비즈니스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재구매율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결제·구매 </a:t>
                      </a:r>
                      <a:pPr indent="0" marL="0">
                        <a:buNone/>
                      </a:pPr>
                      <a:r>
                        <a:rPr lang="en-US" sz="1100" dirty="0">
                          <a:solidFill>
                            <a:srgbClr val="1F2937"/>
                          </a:solidFill>
                        </a:rPr>
                        <a:t>기능 </a:t>
                      </a:r>
                      <a:pPr indent="0" marL="0">
                        <a:buNone/>
                      </a:pPr>
                      <a:r>
                        <a:rPr lang="en-US" sz="1100" dirty="0">
                          <a:solidFill>
                            <a:srgbClr val="1F2937"/>
                          </a:solidFill>
                        </a:rPr>
                        <a:t>미포함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MVP </a:t>
                      </a:r>
                      <a:pPr indent="0" marL="0">
                        <a:buNone/>
                      </a:pPr>
                      <a:r>
                        <a:rPr lang="en-US" sz="1100" dirty="0">
                          <a:solidFill>
                            <a:srgbClr val="1F2937"/>
                          </a:solidFill>
                        </a:rPr>
                        <a:t>출시 </a:t>
                      </a:r>
                      <a:pPr indent="0" marL="0">
                        <a:buNone/>
                      </a:pPr>
                      <a:r>
                        <a:rPr lang="en-US" sz="1100" dirty="0">
                          <a:solidFill>
                            <a:srgbClr val="1F2937"/>
                          </a:solidFill>
                        </a:rPr>
                        <a:t>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비즈니스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평균 </a:t>
                      </a:r>
                      <a:pPr indent="0" marL="0">
                        <a:buNone/>
                      </a:pPr>
                      <a:r>
                        <a:rPr lang="en-US" sz="1100" dirty="0">
                          <a:solidFill>
                            <a:srgbClr val="1F2937"/>
                          </a:solidFill>
                        </a:rPr>
                        <a:t>객단가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결제·구매 </a:t>
                      </a:r>
                      <a:pPr indent="0" marL="0">
                        <a:buNone/>
                      </a:pPr>
                      <a:r>
                        <a:rPr lang="en-US" sz="1100" dirty="0">
                          <a:solidFill>
                            <a:srgbClr val="1F2937"/>
                          </a:solidFill>
                        </a:rPr>
                        <a:t>기능 </a:t>
                      </a:r>
                      <a:pPr indent="0" marL="0">
                        <a:buNone/>
                      </a:pPr>
                      <a:r>
                        <a:rPr lang="en-US" sz="1100" dirty="0">
                          <a:solidFill>
                            <a:srgbClr val="1F2937"/>
                          </a:solidFill>
                        </a:rPr>
                        <a:t>미포함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MVP </a:t>
                      </a:r>
                      <a:pPr indent="0" marL="0">
                        <a:buNone/>
                      </a:pPr>
                      <a:r>
                        <a:rPr lang="en-US" sz="1100" dirty="0">
                          <a:solidFill>
                            <a:srgbClr val="1F2937"/>
                          </a:solidFill>
                        </a:rPr>
                        <a:t>출시 </a:t>
                      </a:r>
                      <a:pPr indent="0" marL="0">
                        <a:buNone/>
                      </a:pPr>
                      <a:r>
                        <a:rPr lang="en-US" sz="1100" dirty="0">
                          <a:solidFill>
                            <a:srgbClr val="1F2937"/>
                          </a:solidFill>
                        </a:rPr>
                        <a:t>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해당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첫 </a:t>
                      </a:r>
                      <a:pPr indent="0" marL="0">
                        <a:buNone/>
                      </a:pPr>
                      <a:r>
                        <a:rPr lang="en-US" sz="1100" dirty="0">
                          <a:solidFill>
                            <a:srgbClr val="1F2937"/>
                          </a:solidFill>
                        </a:rPr>
                        <a:t>실행 </a:t>
                      </a:r>
                      <a:pPr indent="0" marL="0">
                        <a:buNone/>
                      </a:pPr>
                      <a:r>
                        <a:rPr lang="en-US" sz="1100" dirty="0">
                          <a:solidFill>
                            <a:srgbClr val="1F2937"/>
                          </a:solidFill>
                        </a:rPr>
                        <a:t>후 </a:t>
                      </a:r>
                      <a:pPr indent="0" marL="0">
                        <a:buNone/>
                      </a:pPr>
                      <a:r>
                        <a:rPr lang="en-US" sz="1100" dirty="0">
                          <a:solidFill>
                            <a:srgbClr val="1F2937"/>
                          </a:solidFill>
                        </a:rPr>
                        <a:t>첫 </a:t>
                      </a:r>
                      <a:pPr indent="0" marL="0">
                        <a:buNone/>
                      </a:pPr>
                      <a:r>
                        <a:rPr lang="en-US" sz="1100" dirty="0">
                          <a:solidFill>
                            <a:srgbClr val="1F2937"/>
                          </a:solidFill>
                        </a:rPr>
                        <a:t>기록 </a:t>
                      </a:r>
                      <a:pPr indent="0" marL="0">
                        <a:buNone/>
                      </a:pPr>
                      <a:r>
                        <a:rPr lang="en-US" sz="1100" dirty="0">
                          <a:solidFill>
                            <a:srgbClr val="1F2937"/>
                          </a:solidFill>
                        </a:rPr>
                        <a:t>완료율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2분 </a:t>
                      </a:r>
                      <a:pPr indent="0" marL="0">
                        <a:buNone/>
                      </a:pPr>
                      <a:r>
                        <a:rPr lang="en-US" sz="1100" dirty="0">
                          <a:solidFill>
                            <a:srgbClr val="1F2937"/>
                          </a:solidFill>
                        </a:rPr>
                        <a:t>이내 </a:t>
                      </a:r>
                      <a:pPr indent="0" marL="0">
                        <a:buNone/>
                      </a:pPr>
                      <a:r>
                        <a:rPr lang="en-US" sz="1100" dirty="0">
                          <a:solidFill>
                            <a:srgbClr val="1F2937"/>
                          </a:solidFill>
                        </a:rPr>
                        <a:t>완료 </a:t>
                      </a:r>
                      <a:pPr indent="0" marL="0">
                        <a:buNone/>
                      </a:pPr>
                      <a:r>
                        <a:rPr lang="en-US" sz="1100" dirty="0">
                          <a:solidFill>
                            <a:srgbClr val="1F2937"/>
                          </a:solidFill>
                        </a:rPr>
                        <a:t>비율 </a:t>
                      </a:r>
                      <a:pPr indent="0" marL="0">
                        <a:buNone/>
                      </a:pPr>
                      <a:r>
                        <a:rPr lang="en-US" sz="1100" dirty="0">
                          <a:solidFill>
                            <a:srgbClr val="1F2937"/>
                          </a:solidFill>
                        </a:rPr>
                        <a:t>75% </a:t>
                      </a:r>
                      <a:pPr indent="0" marL="0">
                        <a:buNone/>
                      </a:pPr>
                      <a:r>
                        <a:rPr lang="en-US" sz="1100" dirty="0">
                          <a:solidFill>
                            <a:srgbClr val="1F2937"/>
                          </a:solidFill>
                        </a:rPr>
                        <a:t>이상을 </a:t>
                      </a:r>
                      <a:pPr indent="0" marL="0">
                        <a:buNone/>
                      </a:pPr>
                      <a:r>
                        <a:rPr lang="en-US" sz="1100" dirty="0">
                          <a:solidFill>
                            <a:srgbClr val="1F2937"/>
                          </a:solidFill>
                        </a:rPr>
                        <a:t>검증 </a:t>
                      </a:r>
                      <a:pPr indent="0" marL="0">
                        <a:buNone/>
                      </a:pPr>
                      <a:r>
                        <a:rPr lang="en-US" sz="1100" dirty="0">
                          <a:solidFill>
                            <a:srgbClr val="1F2937"/>
                          </a:solidFill>
                        </a:rPr>
                        <a:t>가설로 </a:t>
                      </a:r>
                      <a:pPr indent="0" marL="0">
                        <a:buNone/>
                      </a:pPr>
                      <a:r>
                        <a:rPr lang="en-US" sz="1100" dirty="0">
                          <a:solidFill>
                            <a:srgbClr val="1F2937"/>
                          </a:solidFill>
                        </a:rPr>
                        <a:t>설정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사용성 </a:t>
                      </a:r>
                      <a:pPr indent="0" marL="0">
                        <a:buNone/>
                      </a:pPr>
                      <a:r>
                        <a:rPr lang="en-US" sz="1100"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PM·디자이너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주요 </a:t>
                      </a:r>
                      <a:pPr indent="0" marL="0">
                        <a:buNone/>
                      </a:pPr>
                      <a:r>
                        <a:rPr lang="en-US" sz="1100" dirty="0">
                          <a:solidFill>
                            <a:srgbClr val="1F2937"/>
                          </a:solidFill>
                        </a:rPr>
                        <a:t>식사 </a:t>
                      </a:r>
                      <a:pPr indent="0" marL="0">
                        <a:buNone/>
                      </a:pPr>
                      <a:r>
                        <a:rPr lang="en-US" sz="1100" dirty="0">
                          <a:solidFill>
                            <a:srgbClr val="1F2937"/>
                          </a:solidFill>
                        </a:rPr>
                        <a:t>기록 </a:t>
                      </a:r>
                      <a:pPr indent="0" marL="0">
                        <a:buNone/>
                      </a:pPr>
                      <a:r>
                        <a:rPr lang="en-US" sz="1100" dirty="0">
                          <a:solidFill>
                            <a:srgbClr val="1F2937"/>
                          </a:solidFill>
                        </a:rPr>
                        <a:t>흐름 </a:t>
                      </a:r>
                      <a:pPr indent="0" marL="0">
                        <a:buNone/>
                      </a:pPr>
                      <a:r>
                        <a:rPr lang="en-US" sz="1100" dirty="0">
                          <a:solidFill>
                            <a:srgbClr val="1F2937"/>
                          </a:solidFill>
                        </a:rPr>
                        <a:t>완료율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95% </a:t>
                      </a:r>
                      <a:pPr indent="0" marL="0">
                        <a:buNone/>
                      </a:pPr>
                      <a:r>
                        <a:rPr lang="en-US" sz="1100" dirty="0">
                          <a:solidFill>
                            <a:srgbClr val="1F2937"/>
                          </a:solidFill>
                        </a:rPr>
                        <a:t>이상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개발팀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치명적인 </a:t>
                      </a:r>
                      <a:pPr indent="0" marL="0">
                        <a:buNone/>
                      </a:pPr>
                      <a:r>
                        <a:rPr lang="en-US" sz="1100" dirty="0">
                          <a:solidFill>
                            <a:srgbClr val="1F2937"/>
                          </a:solidFill>
                        </a:rPr>
                        <a:t>데이터 </a:t>
                      </a:r>
                      <a:pPr indent="0" marL="0">
                        <a:buNone/>
                      </a:pPr>
                      <a:r>
                        <a:rPr lang="en-US" sz="1100" dirty="0">
                          <a:solidFill>
                            <a:srgbClr val="1F2937"/>
                          </a:solidFill>
                        </a:rPr>
                        <a:t>유실 </a:t>
                      </a:r>
                      <a:pPr indent="0" marL="0">
                        <a:buNone/>
                      </a:pPr>
                      <a:r>
                        <a:rPr lang="en-US" sz="1100" dirty="0">
                          <a:solidFill>
                            <a:srgbClr val="1F2937"/>
                          </a:solidFill>
                        </a:rPr>
                        <a:t>건수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개발팀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크래시 </a:t>
                      </a:r>
                      <a:pPr indent="0" marL="0">
                        <a:buNone/>
                      </a:pPr>
                      <a:r>
                        <a:rPr lang="en-US" sz="1100" dirty="0">
                          <a:solidFill>
                            <a:srgbClr val="1F2937"/>
                          </a:solidFill>
                        </a:rPr>
                        <a:t>없는 </a:t>
                      </a:r>
                      <a:pPr indent="0" marL="0">
                        <a:buNone/>
                      </a:pPr>
                      <a:r>
                        <a:rPr lang="en-US" sz="1100" dirty="0">
                          <a:solidFill>
                            <a:srgbClr val="1F2937"/>
                          </a:solidFill>
                        </a:rPr>
                        <a:t>세션 </a:t>
                      </a:r>
                      <a:pPr indent="0" marL="0">
                        <a:buNone/>
                      </a:pPr>
                      <a:r>
                        <a:rPr lang="en-US" sz="1100" dirty="0">
                          <a:solidFill>
                            <a:srgbClr val="1F2937"/>
                          </a:solidFill>
                        </a:rPr>
                        <a:t>비율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99% </a:t>
                      </a:r>
                      <a:pPr indent="0" marL="0">
                        <a:buNone/>
                      </a:pPr>
                      <a:r>
                        <a:rPr lang="en-US" sz="1100" dirty="0">
                          <a:solidFill>
                            <a:srgbClr val="1F2937"/>
                          </a:solidFill>
                        </a:rPr>
                        <a:t>이상을 </a:t>
                      </a:r>
                      <a:pPr indent="0" marL="0">
                        <a:buNone/>
                      </a:pPr>
                      <a:r>
                        <a:rPr lang="en-US" sz="1100" dirty="0">
                          <a:solidFill>
                            <a:srgbClr val="1F2937"/>
                          </a:solidFill>
                        </a:rPr>
                        <a:t>베타 </a:t>
                      </a:r>
                      <a:pPr indent="0" marL="0">
                        <a:buNone/>
                      </a:pPr>
                      <a:r>
                        <a:rPr lang="en-US" sz="1100" dirty="0">
                          <a:solidFill>
                            <a:srgbClr val="1F2937"/>
                          </a:solidFill>
                        </a:rPr>
                        <a:t>목표로 </a:t>
                      </a:r>
                      <a:pPr indent="0" marL="0">
                        <a:buNone/>
                      </a:pPr>
                      <a:r>
                        <a:rPr lang="en-US" sz="1100" dirty="0">
                          <a:solidFill>
                            <a:srgbClr val="1F2937"/>
                          </a:solidFill>
                        </a:rPr>
                        <a:t>설정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개발팀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API </a:t>
                      </a:r>
                      <a:pPr indent="0" marL="0">
                        <a:buNone/>
                      </a:pPr>
                      <a:r>
                        <a:rPr lang="en-US" sz="1100" dirty="0">
                          <a:solidFill>
                            <a:srgbClr val="1F2937"/>
                          </a:solidFill>
                        </a:rPr>
                        <a:t>응답 </a:t>
                      </a:r>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대부분 </a:t>
                      </a:r>
                      <a:pPr indent="0" marL="0">
                        <a:buNone/>
                      </a:pPr>
                      <a:r>
                        <a:rPr lang="en-US" sz="1100" dirty="0">
                          <a:solidFill>
                            <a:srgbClr val="1F2937"/>
                          </a:solidFill>
                        </a:rPr>
                        <a:t>2초 </a:t>
                      </a:r>
                      <a:pPr indent="0" marL="0">
                        <a:buNone/>
                      </a:pPr>
                      <a:r>
                        <a:rPr lang="en-US" sz="1100" dirty="0">
                          <a:solidFill>
                            <a:srgbClr val="1F2937"/>
                          </a:solidFill>
                        </a:rPr>
                        <a:t>이내를 </a:t>
                      </a:r>
                      <a:pPr indent="0" marL="0">
                        <a:buNone/>
                      </a:pPr>
                      <a:r>
                        <a:rPr lang="en-US" sz="1100" dirty="0">
                          <a:solidFill>
                            <a:srgbClr val="1F2937"/>
                          </a:solidFill>
                        </a:rPr>
                        <a:t>목표로 </a:t>
                      </a:r>
                      <a:pPr indent="0" marL="0">
                        <a:buNone/>
                      </a:pPr>
                      <a:r>
                        <a:rPr lang="en-US" sz="1100" dirty="0">
                          <a:solidFill>
                            <a:srgbClr val="1F2937"/>
                          </a:solidFill>
                        </a:rPr>
                        <a:t>설정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테스트 </a:t>
                      </a:r>
                      <a:pPr indent="0" marL="0">
                        <a:buNone/>
                      </a:pPr>
                      <a:r>
                        <a:rPr lang="en-US" sz="1100" dirty="0">
                          <a:solidFill>
                            <a:srgbClr val="1F2937"/>
                          </a:solidFill>
                        </a:rPr>
                        <a:t>및 </a:t>
                      </a:r>
                      <a:pPr indent="0" marL="0">
                        <a:buNone/>
                      </a:pPr>
                      <a:r>
                        <a:rPr lang="en-US" sz="1100" dirty="0">
                          <a:solidFill>
                            <a:srgbClr val="1F2937"/>
                          </a:solidFill>
                        </a:rPr>
                        <a:t>API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개발팀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무응답 </a:t>
                      </a:r>
                      <a:pPr indent="0" marL="0">
                        <a:buNone/>
                      </a:pPr>
                      <a:r>
                        <a:rPr lang="en-US" sz="1100" dirty="0">
                          <a:solidFill>
                            <a:srgbClr val="1F2937"/>
                          </a:solidFill>
                        </a:rPr>
                        <a:t>안내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3초 </a:t>
                      </a:r>
                      <a:pPr indent="0" marL="0">
                        <a:buNone/>
                      </a:pPr>
                      <a:r>
                        <a:rPr lang="en-US" sz="1100" dirty="0">
                          <a:solidFill>
                            <a:srgbClr val="1F2937"/>
                          </a:solidFill>
                        </a:rPr>
                        <a:t>이상 </a:t>
                      </a:r>
                      <a:pPr indent="0" marL="0">
                        <a:buNone/>
                      </a:pPr>
                      <a:r>
                        <a:rPr lang="en-US" sz="1100" dirty="0">
                          <a:solidFill>
                            <a:srgbClr val="1F2937"/>
                          </a:solidFill>
                        </a:rPr>
                        <a:t>응답이 </a:t>
                      </a:r>
                      <a:pPr indent="0" marL="0">
                        <a:buNone/>
                      </a:pPr>
                      <a:r>
                        <a:rPr lang="en-US" sz="1100" dirty="0">
                          <a:solidFill>
                            <a:srgbClr val="1F2937"/>
                          </a:solidFill>
                        </a:rPr>
                        <a:t>없으면 </a:t>
                      </a:r>
                      <a:pPr indent="0" marL="0">
                        <a:buNone/>
                      </a:pPr>
                      <a:r>
                        <a:rPr lang="en-US" sz="1100" dirty="0">
                          <a:solidFill>
                            <a:srgbClr val="1F2937"/>
                          </a:solidFill>
                        </a:rPr>
                        <a:t>재시도 </a:t>
                      </a:r>
                      <a:pPr indent="0" marL="0">
                        <a:buNone/>
                      </a:pPr>
                      <a:r>
                        <a:rPr lang="en-US" sz="1100" dirty="0">
                          <a:solidFill>
                            <a:srgbClr val="1F2937"/>
                          </a:solidFill>
                        </a:rPr>
                        <a:t>안내 </a:t>
                      </a:r>
                      <a:pPr indent="0" marL="0">
                        <a:buNone/>
                      </a:pPr>
                      <a:r>
                        <a:rPr lang="en-US" sz="1100" dirty="0">
                          <a:solidFill>
                            <a:srgbClr val="1F2937"/>
                          </a:solidFill>
                        </a:rPr>
                        <a:t>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개발팀·디자이너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테스트 </a:t>
                      </a:r>
                      <a:pPr indent="0" marL="0">
                        <a:buNone/>
                      </a:pPr>
                      <a:r>
                        <a:rPr lang="en-US" sz="1100" dirty="0">
                          <a:solidFill>
                            <a:srgbClr val="1F2937"/>
                          </a:solidFill>
                        </a:rPr>
                        <a:t>세트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대표 </a:t>
                      </a:r>
                      <a:pPr indent="0" marL="0">
                        <a:buNone/>
                      </a:pPr>
                      <a:r>
                        <a:rPr lang="en-US" sz="1100" dirty="0">
                          <a:solidFill>
                            <a:srgbClr val="1F2937"/>
                          </a:solidFill>
                        </a:rPr>
                        <a:t>메뉴 </a:t>
                      </a:r>
                      <a:pPr indent="0" marL="0">
                        <a:buNone/>
                      </a:pPr>
                      <a:r>
                        <a:rPr lang="en-US" sz="1100" dirty="0">
                          <a:solidFill>
                            <a:srgbClr val="1F2937"/>
                          </a:solidFill>
                        </a:rPr>
                        <a:t>50개와 </a:t>
                      </a:r>
                      <a:pPr indent="0" marL="0">
                        <a:buNone/>
                      </a:pPr>
                      <a:r>
                        <a:rPr lang="en-US" sz="1100" dirty="0">
                          <a:solidFill>
                            <a:srgbClr val="1F2937"/>
                          </a:solidFill>
                        </a:rPr>
                        <a:t>브랜드 </a:t>
                      </a:r>
                      <a:pPr indent="0" marL="0">
                        <a:buNone/>
                      </a:pPr>
                      <a:r>
                        <a:rPr lang="en-US" sz="1100" dirty="0">
                          <a:solidFill>
                            <a:srgbClr val="1F2937"/>
                          </a:solidFill>
                        </a:rPr>
                        <a:t>상품 </a:t>
                      </a:r>
                      <a:pPr indent="0" marL="0">
                        <a:buNone/>
                      </a:pPr>
                      <a:r>
                        <a:rPr lang="en-US" sz="1100" dirty="0">
                          <a:solidFill>
                            <a:srgbClr val="1F2937"/>
                          </a:solidFill>
                        </a:rPr>
                        <a:t>20개로 </a:t>
                      </a:r>
                      <a:pPr indent="0" marL="0">
                        <a:buNone/>
                      </a:pPr>
                      <a:r>
                        <a:rPr lang="en-US" sz="1100" dirty="0">
                          <a:solidFill>
                            <a:srgbClr val="1F2937"/>
                          </a:solidFill>
                        </a:rPr>
                        <a:t>검증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공급처 </a:t>
                      </a:r>
                      <a:pPr indent="0" marL="0">
                        <a:buNone/>
                      </a:pPr>
                      <a:r>
                        <a:rPr lang="en-US" sz="1100" dirty="0">
                          <a:solidFill>
                            <a:srgbClr val="1F2937"/>
                          </a:solidFill>
                        </a:rPr>
                        <a:t>선정 </a:t>
                      </a:r>
                      <a:pPr indent="0" marL="0">
                        <a:buNone/>
                      </a:pPr>
                      <a:r>
                        <a:rPr lang="en-US" sz="1100" dirty="0">
                          <a:solidFill>
                            <a:srgbClr val="1F2937"/>
                          </a:solidFill>
                        </a:rPr>
                        <a:t>및 </a:t>
                      </a:r>
                      <a:pPr indent="0" marL="0">
                        <a:buNone/>
                      </a:pPr>
                      <a:r>
                        <a:rPr lang="en-US" sz="1100" dirty="0">
                          <a:solidFill>
                            <a:srgbClr val="1F2937"/>
                          </a:solidFill>
                        </a:rPr>
                        <a:t>출시 </a:t>
                      </a:r>
                      <a:pPr indent="0" marL="0">
                        <a:buNone/>
                      </a:pPr>
                      <a:r>
                        <a:rPr lang="en-US" sz="1100" dirty="0">
                          <a:solidFill>
                            <a:srgbClr val="1F2937"/>
                          </a:solidFill>
                        </a:rPr>
                        <a:t>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PM·개발팀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2.4 기대 효과 및 성공 지표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542611"/>
                <a:gridCol w="1266092"/>
                <a:gridCol w="542611"/>
                <a:gridCol w="3255666"/>
                <a:gridCol w="1627833"/>
                <a:gridCol w="994787"/>
              </a:tblGrid>
              <a:tr h="0">
                <a:tc>
                  <a:txBody>
                    <a:bodyPr/>
                    <a:lstStyle/>
                    <a:p>
                      <a:pPr indent="0" marL="0">
                        <a:buNone/>
                      </a:pPr>
                      <a:r>
                        <a:rPr lang="en-US" sz="1200" b="1" dirty="0">
                          <a:solidFill>
                            <a:srgbClr val="FFFFFF"/>
                          </a:solidFill>
                        </a:rPr>
                        <a:t>지표 </a:t>
                      </a:r>
                      <a:pPr indent="0" marL="0">
                        <a:buNone/>
                      </a:pPr>
                      <a:r>
                        <a:rPr lang="en-US" sz="1200" b="1" dirty="0">
                          <a:solidFill>
                            <a:srgbClr val="FFFFFF"/>
                          </a:solidFill>
                        </a:rPr>
                        <a:t>분류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지표명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현재</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목표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측정 </a:t>
                      </a:r>
                      <a:pPr indent="0" marL="0">
                        <a:buNone/>
                      </a:pPr>
                      <a:r>
                        <a:rPr lang="en-US" sz="1200" b="1" dirty="0">
                          <a:solidFill>
                            <a:srgbClr val="FFFFFF"/>
                          </a:solidFill>
                        </a:rPr>
                        <a:t>시점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담당자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기능 </a:t>
                      </a:r>
                      <a:pPr indent="0" marL="0">
                        <a:buNone/>
                      </a:pPr>
                      <a:r>
                        <a:rPr lang="en-US" sz="1100" dirty="0">
                          <a:solidFill>
                            <a:srgbClr val="1F2937"/>
                          </a:solidFill>
                        </a:rPr>
                        <a:t>완료도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확정된 </a:t>
                      </a:r>
                      <a:pPr indent="0" marL="0">
                        <a:buNone/>
                      </a:pPr>
                      <a:r>
                        <a:rPr lang="en-US" sz="1100" dirty="0">
                          <a:solidFill>
                            <a:srgbClr val="1F2937"/>
                          </a:solidFill>
                        </a:rPr>
                        <a:t>MVP </a:t>
                      </a:r>
                      <a:pPr indent="0" marL="0">
                        <a:buNone/>
                      </a:pPr>
                      <a:r>
                        <a:rPr lang="en-US" sz="1100" dirty="0">
                          <a:solidFill>
                            <a:srgbClr val="1F2937"/>
                          </a:solidFill>
                        </a:rPr>
                        <a:t>기능 </a:t>
                      </a:r>
                      <a:pPr indent="0" marL="0">
                        <a:buNone/>
                      </a:pPr>
                      <a:r>
                        <a:rPr lang="en-US" sz="1100" dirty="0">
                          <a:solidFill>
                            <a:srgbClr val="1F2937"/>
                          </a:solidFill>
                        </a:rPr>
                        <a:t>범위 </a:t>
                      </a:r>
                      <a:pPr indent="0" marL="0">
                        <a:buNone/>
                      </a:pPr>
                      <a:r>
                        <a:rPr lang="en-US" sz="1100" dirty="0">
                          <a:solidFill>
                            <a:srgbClr val="1F2937"/>
                          </a:solidFill>
                        </a:rPr>
                        <a:t>구현 </a:t>
                      </a:r>
                      <a:pPr indent="0" marL="0">
                        <a:buNone/>
                      </a:pPr>
                      <a:r>
                        <a:rPr lang="en-US" sz="1100" dirty="0">
                          <a:solidFill>
                            <a:srgbClr val="1F2937"/>
                          </a:solidFill>
                        </a:rPr>
                        <a:t>및 </a:t>
                      </a:r>
                      <a:pPr indent="0" marL="0">
                        <a:buNone/>
                      </a:pPr>
                      <a:r>
                        <a:rPr lang="en-US" sz="1100" dirty="0">
                          <a:solidFill>
                            <a:srgbClr val="1F2937"/>
                          </a:solidFill>
                        </a:rPr>
                        <a:t>출시 </a:t>
                      </a:r>
                      <a:pPr indent="0" marL="0">
                        <a:buNone/>
                      </a:pPr>
                      <a:r>
                        <a:rPr lang="en-US" sz="1100" dirty="0">
                          <a:solidFill>
                            <a:srgbClr val="1F2937"/>
                          </a:solidFill>
                        </a:rPr>
                        <a:t>전 </a:t>
                      </a:r>
                      <a:pPr indent="0" marL="0">
                        <a:buNone/>
                      </a:pPr>
                      <a:r>
                        <a:rPr lang="en-US" sz="1100" dirty="0">
                          <a:solidFill>
                            <a:srgbClr val="1F2937"/>
                          </a:solidFill>
                        </a:rPr>
                        <a:t>검증 </a:t>
                      </a:r>
                      <a:pPr indent="0" marL="0">
                        <a:buNone/>
                      </a:pPr>
                      <a:r>
                        <a:rPr lang="en-US" sz="1100" dirty="0">
                          <a:solidFill>
                            <a:srgbClr val="1F2937"/>
                          </a:solidFill>
                        </a:rPr>
                        <a:t>완료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기능 </a:t>
                      </a:r>
                      <a:pPr indent="0" marL="0">
                        <a:buNone/>
                      </a:pPr>
                      <a:r>
                        <a:rPr lang="en-US" sz="1100" dirty="0">
                          <a:solidFill>
                            <a:srgbClr val="1F2937"/>
                          </a:solidFill>
                        </a:rPr>
                        <a:t>동결·출시 </a:t>
                      </a:r>
                      <a:pPr indent="0" marL="0">
                        <a:buNone/>
                      </a:pPr>
                      <a:r>
                        <a:rPr lang="en-US" sz="1100" dirty="0">
                          <a:solidFill>
                            <a:srgbClr val="1F2937"/>
                          </a:solidFill>
                        </a:rPr>
                        <a:t>후보 </a:t>
                      </a:r>
                      <a:pPr indent="0" marL="0">
                        <a:buNone/>
                      </a:pPr>
                      <a:r>
                        <a:rPr lang="en-US" sz="1100" dirty="0">
                          <a:solidFill>
                            <a:srgbClr val="1F2937"/>
                          </a:solidFill>
                        </a:rPr>
                        <a:t>빌드 </a:t>
                      </a:r>
                      <a:pPr indent="0" marL="0">
                        <a:buNone/>
                      </a:pPr>
                      <a:r>
                        <a:rPr lang="en-US" sz="1100" dirty="0">
                          <a:solidFill>
                            <a:srgbClr val="1F2937"/>
                          </a:solidFill>
                        </a:rPr>
                        <a:t>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개발팀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버그율</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수치 </a:t>
                      </a:r>
                      <a:pPr indent="0" marL="0">
                        <a:buNone/>
                      </a:pPr>
                      <a:r>
                        <a:rPr lang="en-US" sz="1100" dirty="0">
                          <a:solidFill>
                            <a:srgbClr val="1F2937"/>
                          </a:solidFill>
                        </a:rPr>
                        <a:t>목표 </a:t>
                      </a:r>
                      <a:pPr indent="0" marL="0">
                        <a:buNone/>
                      </a:pPr>
                      <a:r>
                        <a:rPr lang="en-US" sz="1100" dirty="0">
                          <a:solidFill>
                            <a:srgbClr val="1F2937"/>
                          </a:solidFill>
                        </a:rPr>
                        <a:t>미정. </a:t>
                      </a:r>
                      <a:pPr indent="0" marL="0">
                        <a:buNone/>
                      </a:pPr>
                      <a:r>
                        <a:rPr lang="en-US" sz="1100" dirty="0">
                          <a:solidFill>
                            <a:srgbClr val="1F2937"/>
                          </a:solidFill>
                        </a:rPr>
                        <a:t>치명적인 </a:t>
                      </a:r>
                      <a:pPr indent="0" marL="0">
                        <a:buNone/>
                      </a:pPr>
                      <a:r>
                        <a:rPr lang="en-US" sz="1100" dirty="0">
                          <a:solidFill>
                            <a:srgbClr val="1F2937"/>
                          </a:solidFill>
                        </a:rPr>
                        <a:t>데이터 </a:t>
                      </a:r>
                      <a:pPr indent="0" marL="0">
                        <a:buNone/>
                      </a:pPr>
                      <a:r>
                        <a:rPr lang="en-US" sz="1100" dirty="0">
                          <a:solidFill>
                            <a:srgbClr val="1F2937"/>
                          </a:solidFill>
                        </a:rPr>
                        <a:t>유실과 </a:t>
                      </a:r>
                      <a:pPr indent="0" marL="0">
                        <a:buNone/>
                      </a:pPr>
                      <a:r>
                        <a:rPr lang="en-US" sz="1100" dirty="0">
                          <a:solidFill>
                            <a:srgbClr val="1F2937"/>
                          </a:solidFill>
                        </a:rPr>
                        <a:t>주요 </a:t>
                      </a:r>
                      <a:pPr indent="0" marL="0">
                        <a:buNone/>
                      </a:pPr>
                      <a:r>
                        <a:rPr lang="en-US" sz="1100" dirty="0">
                          <a:solidFill>
                            <a:srgbClr val="1F2937"/>
                          </a:solidFill>
                        </a:rPr>
                        <a:t>기록 </a:t>
                      </a:r>
                      <a:pPr indent="0" marL="0">
                        <a:buNone/>
                      </a:pPr>
                      <a:r>
                        <a:rPr lang="en-US" sz="1100" dirty="0">
                          <a:solidFill>
                            <a:srgbClr val="1F2937"/>
                          </a:solidFill>
                        </a:rPr>
                        <a:t>흐름 </a:t>
                      </a:r>
                      <a:pPr indent="0" marL="0">
                        <a:buNone/>
                      </a:pPr>
                      <a:r>
                        <a:rPr lang="en-US" sz="1100" dirty="0">
                          <a:solidFill>
                            <a:srgbClr val="1F2937"/>
                          </a:solidFill>
                        </a:rPr>
                        <a:t>결함을 </a:t>
                      </a:r>
                      <a:pPr indent="0" marL="0">
                        <a:buNone/>
                      </a:pPr>
                      <a:r>
                        <a:rPr lang="en-US" sz="1100" dirty="0">
                          <a:solidFill>
                            <a:srgbClr val="1F2937"/>
                          </a:solidFill>
                        </a:rPr>
                        <a:t>우선 </a:t>
                      </a:r>
                      <a:pPr indent="0" marL="0">
                        <a:buNone/>
                      </a:pPr>
                      <a:r>
                        <a:rPr lang="en-US" sz="1100" dirty="0">
                          <a:solidFill>
                            <a:srgbClr val="1F2937"/>
                          </a:solidFill>
                        </a:rPr>
                        <a:t>점검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테스트 </a:t>
                      </a:r>
                      <a:pPr indent="0" marL="0">
                        <a:buNone/>
                      </a:pPr>
                      <a:r>
                        <a:rPr lang="en-US" sz="1100" dirty="0">
                          <a:solidFill>
                            <a:srgbClr val="1F2937"/>
                          </a:solidFill>
                        </a:rPr>
                        <a:t>및 </a:t>
                      </a:r>
                      <a:pPr indent="0" marL="0">
                        <a:buNone/>
                      </a:pPr>
                      <a:r>
                        <a:rPr lang="en-US" sz="1100" dirty="0">
                          <a:solidFill>
                            <a:srgbClr val="1F2937"/>
                          </a:solidFill>
                        </a:rPr>
                        <a:t>출시 </a:t>
                      </a:r>
                      <a:pPr indent="0" marL="0">
                        <a:buNone/>
                      </a:pPr>
                      <a:r>
                        <a:rPr lang="en-US" sz="1100" dirty="0">
                          <a:solidFill>
                            <a:srgbClr val="1F2937"/>
                          </a:solidFill>
                        </a:rPr>
                        <a:t>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개발팀·PM·디자이너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완료까지 </a:t>
                      </a:r>
                      <a:pPr indent="0" marL="0">
                        <a:buNone/>
                      </a:pPr>
                      <a:r>
                        <a:rPr lang="en-US" sz="1100" dirty="0">
                          <a:solidFill>
                            <a:srgbClr val="1F2937"/>
                          </a:solidFill>
                        </a:rPr>
                        <a:t>걸리는 </a:t>
                      </a:r>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베타에서 </a:t>
                      </a:r>
                      <a:pPr indent="0" marL="0">
                        <a:buNone/>
                      </a:pPr>
                      <a:r>
                        <a:rPr lang="en-US" sz="1100" dirty="0">
                          <a:solidFill>
                            <a:srgbClr val="1F2937"/>
                          </a:solidFill>
                        </a:rPr>
                        <a:t>기준선 </a:t>
                      </a:r>
                      <a:pPr indent="0" marL="0">
                        <a:buNone/>
                      </a:pPr>
                      <a:r>
                        <a:rPr lang="en-US" sz="1100" dirty="0">
                          <a:solidFill>
                            <a:srgbClr val="1F2937"/>
                          </a:solidFill>
                        </a:rPr>
                        <a:t>확보, </a:t>
                      </a:r>
                      <a:pPr indent="0" marL="0">
                        <a:buNone/>
                      </a:pPr>
                      <a:r>
                        <a:rPr lang="en-US" sz="1100" dirty="0">
                          <a:solidFill>
                            <a:srgbClr val="1F2937"/>
                          </a:solidFill>
                        </a:rPr>
                        <a:t>사전 </a:t>
                      </a:r>
                      <a:pPr indent="0" marL="0">
                        <a:buNone/>
                      </a:pPr>
                      <a:r>
                        <a:rPr lang="en-US" sz="1100" dirty="0">
                          <a:solidFill>
                            <a:srgbClr val="1F2937"/>
                          </a:solidFill>
                        </a:rPr>
                        <a:t>수치 </a:t>
                      </a:r>
                      <a:pPr indent="0" marL="0">
                        <a:buNone/>
                      </a:pPr>
                      <a:r>
                        <a:rPr lang="en-US" sz="1100" dirty="0">
                          <a:solidFill>
                            <a:srgbClr val="1F2937"/>
                          </a:solidFill>
                        </a:rPr>
                        <a:t>목표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PM·디자이너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실패 </a:t>
                      </a:r>
                      <a:pPr indent="0" marL="0">
                        <a:buNone/>
                      </a:pPr>
                      <a:r>
                        <a:rPr lang="en-US" sz="1100" dirty="0">
                          <a:solidFill>
                            <a:srgbClr val="1F2937"/>
                          </a:solidFill>
                        </a:rPr>
                        <a:t>후 </a:t>
                      </a:r>
                      <a:pPr indent="0" marL="0">
                        <a:buNone/>
                      </a:pPr>
                      <a:r>
                        <a:rPr lang="en-US" sz="1100" dirty="0">
                          <a:solidFill>
                            <a:srgbClr val="1F2937"/>
                          </a:solidFill>
                        </a:rPr>
                        <a:t>이탈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베타에서 </a:t>
                      </a:r>
                      <a:pPr indent="0" marL="0">
                        <a:buNone/>
                      </a:pPr>
                      <a:r>
                        <a:rPr lang="en-US" sz="1100" dirty="0">
                          <a:solidFill>
                            <a:srgbClr val="1F2937"/>
                          </a:solidFill>
                        </a:rPr>
                        <a:t>기준선 </a:t>
                      </a:r>
                      <a:pPr indent="0" marL="0">
                        <a:buNone/>
                      </a:pPr>
                      <a:r>
                        <a:rPr lang="en-US" sz="1100" dirty="0">
                          <a:solidFill>
                            <a:srgbClr val="1F2937"/>
                          </a:solidFill>
                        </a:rPr>
                        <a:t>확보, </a:t>
                      </a:r>
                      <a:pPr indent="0" marL="0">
                        <a:buNone/>
                      </a:pPr>
                      <a:r>
                        <a:rPr lang="en-US" sz="1100" dirty="0">
                          <a:solidFill>
                            <a:srgbClr val="1F2937"/>
                          </a:solidFill>
                        </a:rPr>
                        <a:t>사전 </a:t>
                      </a:r>
                      <a:pPr indent="0" marL="0">
                        <a:buNone/>
                      </a:pPr>
                      <a:r>
                        <a:rPr lang="en-US" sz="1100" dirty="0">
                          <a:solidFill>
                            <a:srgbClr val="1F2937"/>
                          </a:solidFill>
                        </a:rPr>
                        <a:t>수치 </a:t>
                      </a:r>
                      <a:pPr indent="0" marL="0">
                        <a:buNone/>
                      </a:pPr>
                      <a:r>
                        <a:rPr lang="en-US" sz="1100" dirty="0">
                          <a:solidFill>
                            <a:srgbClr val="1F2937"/>
                          </a:solidFill>
                        </a:rPr>
                        <a:t>목표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PM·개발팀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주간 </a:t>
                      </a:r>
                      <a:pPr indent="0" marL="0">
                        <a:buNone/>
                      </a:pPr>
                      <a:r>
                        <a:rPr lang="en-US" sz="1100" dirty="0">
                          <a:solidFill>
                            <a:srgbClr val="1F2937"/>
                          </a:solidFill>
                        </a:rPr>
                        <a:t>기록 </a:t>
                      </a:r>
                      <a:pPr indent="0" marL="0">
                        <a:buNone/>
                      </a:pPr>
                      <a:r>
                        <a:rPr lang="en-US" sz="1100" dirty="0">
                          <a:solidFill>
                            <a:srgbClr val="1F2937"/>
                          </a:solidFill>
                        </a:rPr>
                        <a:t>일수</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베타에서 </a:t>
                      </a:r>
                      <a:pPr indent="0" marL="0">
                        <a:buNone/>
                      </a:pPr>
                      <a:r>
                        <a:rPr lang="en-US" sz="1100" dirty="0">
                          <a:solidFill>
                            <a:srgbClr val="1F2937"/>
                          </a:solidFill>
                        </a:rPr>
                        <a:t>기준선 </a:t>
                      </a:r>
                      <a:pPr indent="0" marL="0">
                        <a:buNone/>
                      </a:pPr>
                      <a:r>
                        <a:rPr lang="en-US" sz="1100" dirty="0">
                          <a:solidFill>
                            <a:srgbClr val="1F2937"/>
                          </a:solidFill>
                        </a:rPr>
                        <a:t>확보, </a:t>
                      </a:r>
                      <a:pPr indent="0" marL="0">
                        <a:buNone/>
                      </a:pPr>
                      <a:r>
                        <a:rPr lang="en-US" sz="1100" dirty="0">
                          <a:solidFill>
                            <a:srgbClr val="1F2937"/>
                          </a:solidFill>
                        </a:rPr>
                        <a:t>사전 </a:t>
                      </a:r>
                      <a:pPr indent="0" marL="0">
                        <a:buNone/>
                      </a:pPr>
                      <a:r>
                        <a:rPr lang="en-US" sz="1100" dirty="0">
                          <a:solidFill>
                            <a:srgbClr val="1F2937"/>
                          </a:solidFill>
                        </a:rPr>
                        <a:t>수치 </a:t>
                      </a:r>
                      <a:pPr indent="0" marL="0">
                        <a:buNone/>
                      </a:pPr>
                      <a:r>
                        <a:rPr lang="en-US" sz="1100" dirty="0">
                          <a:solidFill>
                            <a:srgbClr val="1F2937"/>
                          </a:solidFill>
                        </a:rPr>
                        <a:t>목표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운영 </a:t>
                      </a:r>
                      <a:pPr indent="0" marL="0">
                        <a:buNone/>
                      </a:pPr>
                      <a:r>
                        <a:rPr lang="en-US" sz="1100" dirty="0">
                          <a:solidFill>
                            <a:srgbClr val="1F2937"/>
                          </a:solidFill>
                        </a:rPr>
                        <a:t>및 </a:t>
                      </a:r>
                      <a:pPr indent="0" marL="0">
                        <a:buNone/>
                      </a:pPr>
                      <a:r>
                        <a:rPr lang="en-US" sz="1100" dirty="0">
                          <a:solidFill>
                            <a:srgbClr val="1F2937"/>
                          </a:solidFill>
                        </a:rPr>
                        <a:t>약 </a:t>
                      </a:r>
                      <a:pPr indent="0" marL="0">
                        <a:buNone/>
                      </a:pPr>
                      <a:r>
                        <a:rPr lang="en-US" sz="1100" dirty="0">
                          <a:solidFill>
                            <a:srgbClr val="1F2937"/>
                          </a:solidFill>
                        </a:rPr>
                        <a:t>4주 </a:t>
                      </a:r>
                      <a:pPr indent="0" marL="0">
                        <a:buNone/>
                      </a:pPr>
                      <a:r>
                        <a:rPr lang="en-US" sz="1100" dirty="0">
                          <a:solidFill>
                            <a:srgbClr val="1F2937"/>
                          </a:solidFill>
                        </a:rPr>
                        <a:t>자료 </a:t>
                      </a:r>
                      <a:pPr indent="0" marL="0">
                        <a:buNone/>
                      </a:pPr>
                      <a:r>
                        <a:rPr lang="en-US" sz="1100" dirty="0">
                          <a:solidFill>
                            <a:srgbClr val="1F2937"/>
                          </a:solidFill>
                        </a:rPr>
                        <a:t>검토</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PM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주간 </a:t>
                      </a:r>
                      <a:pPr indent="0" marL="0">
                        <a:buNone/>
                      </a:pPr>
                      <a:r>
                        <a:rPr lang="en-US" sz="1100" dirty="0">
                          <a:solidFill>
                            <a:srgbClr val="1F2937"/>
                          </a:solidFill>
                        </a:rPr>
                        <a:t>리포트 </a:t>
                      </a:r>
                      <a:pPr indent="0" marL="0">
                        <a:buNone/>
                      </a:pPr>
                      <a:r>
                        <a:rPr lang="en-US" sz="1100" dirty="0">
                          <a:solidFill>
                            <a:srgbClr val="1F2937"/>
                          </a:solidFill>
                        </a:rPr>
                        <a:t>이해도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베타에서 </a:t>
                      </a:r>
                      <a:pPr indent="0" marL="0">
                        <a:buNone/>
                      </a:pPr>
                      <a:r>
                        <a:rPr lang="en-US" sz="1100" dirty="0">
                          <a:solidFill>
                            <a:srgbClr val="1F2937"/>
                          </a:solidFill>
                        </a:rPr>
                        <a:t>이해도 </a:t>
                      </a:r>
                      <a:pPr indent="0" marL="0">
                        <a:buNone/>
                      </a:pPr>
                      <a:r>
                        <a:rPr lang="en-US" sz="1100" dirty="0">
                          <a:solidFill>
                            <a:srgbClr val="1F2937"/>
                          </a:solidFill>
                        </a:rPr>
                        <a:t>확인, </a:t>
                      </a:r>
                      <a:pPr indent="0" marL="0">
                        <a:buNone/>
                      </a:pPr>
                      <a:r>
                        <a:rPr lang="en-US" sz="1100" dirty="0">
                          <a:solidFill>
                            <a:srgbClr val="1F2937"/>
                          </a:solidFill>
                        </a:rPr>
                        <a:t>사전 </a:t>
                      </a:r>
                      <a:pPr indent="0" marL="0">
                        <a:buNone/>
                      </a:pPr>
                      <a:r>
                        <a:rPr lang="en-US" sz="1100" dirty="0">
                          <a:solidFill>
                            <a:srgbClr val="1F2937"/>
                          </a:solidFill>
                        </a:rPr>
                        <a:t>수치 </a:t>
                      </a:r>
                      <a:pPr indent="0" marL="0">
                        <a:buNone/>
                      </a:pPr>
                      <a:r>
                        <a:rPr lang="en-US" sz="1100" dirty="0">
                          <a:solidFill>
                            <a:srgbClr val="1F2937"/>
                          </a:solidFill>
                        </a:rPr>
                        <a:t>목표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테스트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PM·디자이너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운영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월 </a:t>
                      </a:r>
                      <a:pPr indent="0" marL="0">
                        <a:buNone/>
                      </a:pPr>
                      <a:r>
                        <a:rPr lang="en-US" sz="1100" dirty="0">
                          <a:solidFill>
                            <a:srgbClr val="1F2937"/>
                          </a:solidFill>
                        </a:rPr>
                        <a:t>운영 </a:t>
                      </a:r>
                      <a:pPr indent="0" marL="0">
                        <a:buNone/>
                      </a:pPr>
                      <a:r>
                        <a:rPr lang="en-US" sz="1100" dirty="0">
                          <a:solidFill>
                            <a:srgbClr val="1F2937"/>
                          </a:solidFill>
                        </a:rPr>
                        <a:t>비용</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초기 </a:t>
                      </a:r>
                      <a:pPr indent="0" marL="0">
                        <a:buNone/>
                      </a:pPr>
                      <a:r>
                        <a:rPr lang="en-US" sz="1100" dirty="0">
                          <a:solidFill>
                            <a:srgbClr val="1F2937"/>
                          </a:solidFill>
                        </a:rPr>
                        <a:t>월 </a:t>
                      </a:r>
                      <a:pPr indent="0" marL="0">
                        <a:buNone/>
                      </a:pPr>
                      <a:r>
                        <a:rPr lang="en-US" sz="1100" dirty="0">
                          <a:solidFill>
                            <a:srgbClr val="1F2937"/>
                          </a:solidFill>
                        </a:rPr>
                        <a:t>30만 </a:t>
                      </a:r>
                      <a:pPr indent="0" marL="0">
                        <a:buNone/>
                      </a:pPr>
                      <a:r>
                        <a:rPr lang="en-US" sz="1100" dirty="0">
                          <a:solidFill>
                            <a:srgbClr val="1F2937"/>
                          </a:solidFill>
                        </a:rPr>
                        <a:t>원 </a:t>
                      </a:r>
                      <a:pPr indent="0" marL="0">
                        <a:buNone/>
                      </a:pPr>
                      <a:r>
                        <a:rPr lang="en-US" sz="1100" dirty="0">
                          <a:solidFill>
                            <a:srgbClr val="1F2937"/>
                          </a:solidFill>
                        </a:rPr>
                        <a:t>안쪽을 </a:t>
                      </a:r>
                      <a:pPr indent="0" marL="0">
                        <a:buNone/>
                      </a:pPr>
                      <a:r>
                        <a:rPr lang="en-US" sz="1100" dirty="0">
                          <a:solidFill>
                            <a:srgbClr val="1F2937"/>
                          </a:solidFill>
                        </a:rPr>
                        <a:t>검토용 </a:t>
                      </a:r>
                      <a:pPr indent="0" marL="0">
                        <a:buNone/>
                      </a:pPr>
                      <a:r>
                        <a:rPr lang="en-US" sz="1100" dirty="0">
                          <a:solidFill>
                            <a:srgbClr val="1F2937"/>
                          </a:solidFill>
                        </a:rPr>
                        <a:t>목표로 </a:t>
                      </a:r>
                      <a:pPr indent="0" marL="0">
                        <a:buNone/>
                      </a:pPr>
                      <a:r>
                        <a:rPr lang="en-US" sz="1100" dirty="0">
                          <a:solidFill>
                            <a:srgbClr val="1F2937"/>
                          </a:solidFill>
                        </a:rPr>
                        <a:t>삼되, </a:t>
                      </a:r>
                      <a:pPr indent="0" marL="0">
                        <a:buNone/>
                      </a:pPr>
                      <a:r>
                        <a:rPr lang="en-US" sz="1100" dirty="0">
                          <a:solidFill>
                            <a:srgbClr val="1F2937"/>
                          </a:solidFill>
                        </a:rPr>
                        <a:t>확정 </a:t>
                      </a:r>
                      <a:pPr indent="0" marL="0">
                        <a:buNone/>
                      </a:pPr>
                      <a:r>
                        <a:rPr lang="en-US" sz="1100" dirty="0">
                          <a:solidFill>
                            <a:srgbClr val="1F2937"/>
                          </a:solidFill>
                        </a:rPr>
                        <a:t>상한으로 </a:t>
                      </a:r>
                      <a:pPr indent="0" marL="0">
                        <a:buNone/>
                      </a:pPr>
                      <a:r>
                        <a:rPr lang="en-US" sz="1100" dirty="0">
                          <a:solidFill>
                            <a:srgbClr val="1F2937"/>
                          </a:solidFill>
                        </a:rPr>
                        <a:t>보지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베타 </a:t>
                      </a:r>
                      <a:pPr indent="0" marL="0">
                        <a:buNone/>
                      </a:pPr>
                      <a:r>
                        <a:rPr lang="en-US" sz="1100" dirty="0">
                          <a:solidFill>
                            <a:srgbClr val="1F2937"/>
                          </a:solidFill>
                        </a:rPr>
                        <a:t>운영 </a:t>
                      </a:r>
                      <a:pPr indent="0" marL="0">
                        <a:buNone/>
                      </a:pPr>
                      <a:r>
                        <a:rPr lang="en-US" sz="1100" dirty="0">
                          <a:solidFill>
                            <a:srgbClr val="1F2937"/>
                          </a:solidFill>
                        </a:rPr>
                        <a:t>중 </a:t>
                      </a:r>
                      <a:pPr indent="0" marL="0">
                        <a:buNone/>
                      </a:pPr>
                      <a:r>
                        <a:rPr lang="en-US" sz="1100" dirty="0">
                          <a:solidFill>
                            <a:srgbClr val="1F2937"/>
                          </a:solidFill>
                        </a:rPr>
                        <a:t>월별 </a:t>
                      </a:r>
                      <a:pPr indent="0" marL="0">
                        <a:buNone/>
                      </a:pPr>
                      <a:r>
                        <a:rPr lang="en-US" sz="1100" dirty="0">
                          <a:solidFill>
                            <a:srgbClr val="1F2937"/>
                          </a:solidFill>
                        </a:rPr>
                        <a:t>확인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개발팀·대표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운영</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API </a:t>
                      </a:r>
                      <a:pPr indent="0" marL="0">
                        <a:buNone/>
                      </a:pPr>
                      <a:r>
                        <a:rPr lang="en-US" sz="1100" dirty="0">
                          <a:solidFill>
                            <a:srgbClr val="1F2937"/>
                          </a:solidFill>
                        </a:rPr>
                        <a:t>비용 </a:t>
                      </a:r>
                      <a:pPr indent="0" marL="0">
                        <a:buNone/>
                      </a:pPr>
                      <a:r>
                        <a:rPr lang="en-US" sz="1100" dirty="0">
                          <a:solidFill>
                            <a:srgbClr val="1F2937"/>
                          </a:solidFill>
                        </a:rPr>
                        <a:t>추정 </a:t>
                      </a:r>
                      <a:pPr indent="0" marL="0">
                        <a:buNone/>
                      </a:pPr>
                      <a:r>
                        <a:rPr lang="en-US" sz="1100" dirty="0">
                          <a:solidFill>
                            <a:srgbClr val="1F2937"/>
                          </a:solidFill>
                        </a:rPr>
                        <a:t>시나리오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500명·5천 </a:t>
                      </a:r>
                      <a:pPr indent="0" marL="0">
                        <a:buNone/>
                      </a:pPr>
                      <a:r>
                        <a:rPr lang="en-US" sz="1100" dirty="0">
                          <a:solidFill>
                            <a:srgbClr val="1F2937"/>
                          </a:solidFill>
                        </a:rPr>
                        <a:t>명·5만 </a:t>
                      </a:r>
                      <a:pPr indent="0" marL="0">
                        <a:buNone/>
                      </a:pPr>
                      <a:r>
                        <a:rPr lang="en-US" sz="1100" dirty="0">
                          <a:solidFill>
                            <a:srgbClr val="1F2937"/>
                          </a:solidFill>
                        </a:rPr>
                        <a:t>명 </a:t>
                      </a:r>
                      <a:pPr indent="0" marL="0">
                        <a:buNone/>
                      </a:pPr>
                      <a:r>
                        <a:rPr lang="en-US" sz="1100" dirty="0">
                          <a:solidFill>
                            <a:srgbClr val="1F2937"/>
                          </a:solidFill>
                        </a:rPr>
                        <a:t>기준으로 </a:t>
                      </a:r>
                      <a:pPr indent="0" marL="0">
                        <a:buNone/>
                      </a:pPr>
                      <a:r>
                        <a:rPr lang="en-US" sz="1100" dirty="0">
                          <a:solidFill>
                            <a:srgbClr val="1F2937"/>
                          </a:solidFill>
                        </a:rPr>
                        <a:t>호출량 </a:t>
                      </a:r>
                      <a:pPr indent="0" marL="0">
                        <a:buNone/>
                      </a:pPr>
                      <a:r>
                        <a:rPr lang="en-US" sz="1100" dirty="0">
                          <a:solidFill>
                            <a:srgbClr val="1F2937"/>
                          </a:solidFill>
                        </a:rPr>
                        <a:t>및 </a:t>
                      </a:r>
                      <a:pPr indent="0" marL="0">
                        <a:buNone/>
                      </a:pPr>
                      <a:r>
                        <a:rPr lang="en-US" sz="1100" dirty="0">
                          <a:solidFill>
                            <a:srgbClr val="1F2937"/>
                          </a:solidFill>
                        </a:rPr>
                        <a:t>캐시 </a:t>
                      </a:r>
                      <a:pPr indent="0" marL="0">
                        <a:buNone/>
                      </a:pPr>
                      <a:r>
                        <a:rPr lang="en-US" sz="1100" dirty="0">
                          <a:solidFill>
                            <a:srgbClr val="1F2937"/>
                          </a:solidFill>
                        </a:rPr>
                        <a:t>적용 </a:t>
                      </a:r>
                      <a:pPr indent="0" marL="0">
                        <a:buNone/>
                      </a:pPr>
                      <a:r>
                        <a:rPr lang="en-US" sz="1100" dirty="0">
                          <a:solidFill>
                            <a:srgbClr val="1F2937"/>
                          </a:solidFill>
                        </a:rPr>
                        <a:t>전후 </a:t>
                      </a:r>
                      <a:pPr indent="0" marL="0">
                        <a:buNone/>
                      </a:pPr>
                      <a:r>
                        <a:rPr lang="en-US" sz="1100" dirty="0">
                          <a:solidFill>
                            <a:srgbClr val="1F2937"/>
                          </a:solidFill>
                        </a:rPr>
                        <a:t>비교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공급처 </a:t>
                      </a:r>
                      <a:pPr indent="0" marL="0">
                        <a:buNone/>
                      </a:pPr>
                      <a:r>
                        <a:rPr lang="en-US" sz="1100" dirty="0">
                          <a:solidFill>
                            <a:srgbClr val="1F2937"/>
                          </a:solidFill>
                        </a:rPr>
                        <a:t>계약 </a:t>
                      </a:r>
                      <a:pPr indent="0" marL="0">
                        <a:buNone/>
                      </a:pPr>
                      <a:r>
                        <a:rPr lang="en-US" sz="1100" dirty="0">
                          <a:solidFill>
                            <a:srgbClr val="1F2937"/>
                          </a:solidFill>
                        </a:rPr>
                        <a:t>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개발팀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2.4 기대 효과 및 성공 지표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 문제 정의</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현재 문제 상황 (1/4)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회의에서 확인한 주요 대상은 체중 관리를 원하는 국내 일반 사용자 가운데 식단 기록을 시도하다가 입력 부담 때문에 중단하는 사람이다. 한 끼에 여러 음식을 먹으면 메뉴를 각각 찾고 양을 조정해 입력해야 하므로 기록 과정이 번거로워질 수 있다.</a:t>
            </a:r>
            <a:endParaRPr lang="en-US" sz="1600" dirty="0"/>
          </a:p>
          <a:p>
            <a:pPr indent="0" marL="0">
              <a:spcAft>
                <a:spcPts val="800"/>
              </a:spcAft>
              <a:buNone/>
            </a:pPr>
            <a:r>
              <a:rPr lang="en-US" sz="1600" dirty="0">
                <a:solidFill>
                  <a:srgbClr val="4B5563"/>
                </a:solidFill>
              </a:rPr>
              <a:t>회의에서는 이런 부담 때문에 며칠 기록한 뒤 포기하는 상황이 문제로 제기됐지만, 실제 발생률이나 중단 시점별 비율은 제시되지 않았다. 따라서 문제의 빈도와 영향 범위는 사용자 인터뷰와 베타 테스트를 통해 확인해야 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현재 문제 상황 (2/4)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음식 이름만으로는 섭취량과 조리법을 알기 어려워 영양값을 정확한 섭취량처럼 제시하기 어렵다. 같은 음식도 양이나 조리 방식에 따라 영양값이 달라질 수 있고, 직접 입력한 음식에는 영양 정보가 없을 수도 있다. 이때 정보가 없다는 상태를 0으로 처리하면 합계와 평균이 잘못 전달될 수 있으며, 반대로 기록 자체를 막으면 사용자가 입력 부담을 느낄 수 있다.</a:t>
            </a:r>
            <a:endParaRPr lang="en-US" sz="1600" dirty="0"/>
          </a:p>
          <a:p>
            <a:pPr indent="0" marL="0">
              <a:spcAft>
                <a:spcPts val="800"/>
              </a:spcAft>
              <a:buNone/>
            </a:pPr>
            <a:r>
              <a:rPr lang="en-US" sz="1600" dirty="0">
                <a:solidFill>
                  <a:srgbClr val="4B5563"/>
                </a:solidFill>
              </a:rPr>
              <a:t>따라서 기록은 이어갈 수 있게 하면서도 영양값은 참고 정보로 표시하고, 미입력과 실제 0을 구분하는 것이 필요하다.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현재 문제 상황 (3/4)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기록을 남기더라도 외부 음식 데이터가 바뀌어 과거 기록의 영양값이 달라지거나, 기록되지 않은 날이 0으로 표시되면 리포트를 신뢰하기 어렵다. 또한 목표 칼로리를 필수로 요구하거나 목표를 달성 여부로 평가하면 기록보다 수치에 압박을 느낄 수 있다는 우려가 회의에서 제기됐다.</a:t>
            </a:r>
            <a:endParaRPr lang="en-US" sz="1600" dirty="0"/>
          </a:p>
          <a:p>
            <a:pPr indent="0" marL="0">
              <a:spcAft>
                <a:spcPts val="800"/>
              </a:spcAft>
              <a:buNone/>
            </a:pPr>
            <a:r>
              <a:rPr lang="en-US" sz="1600" dirty="0">
                <a:solidFill>
                  <a:srgbClr val="4B5563"/>
                </a:solidFill>
              </a:rPr>
              <a:t>리포트는 실제 섭취량이 아니라 사용자가 기록한 내용에 근거한다는 점과, 영양 정보가 누락된 기록이 합계에 포함되지 않을 수 있다는 점을 분명히 해야 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3.1 현재 문제 상황 (4/4)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문제 해결의 시급성은 8주 출시 후보 빌드 일정과 연결된다. 음식 검색과 기록 저장이 원활하지 않으면 주간 리포트에 활용할 기록도 충분히 쌓이지 않을 수 있어, 검색·직접 입력·최근 기록 등 기본 흐름의 품질을 먼저 확인해야 한다. 음식 데이터 공급처와 라이선스, 인증 방식, 개인정보 처리 조건도 일정에 영향을 줄 수 있는 미확정 항목이다.</a:t>
            </a:r>
            <a:endParaRPr lang="en-US" sz="1600" dirty="0"/>
          </a:p>
          <a:p>
            <a:pPr indent="0" marL="0">
              <a:spcAft>
                <a:spcPts val="800"/>
              </a:spcAft>
              <a:buNone/>
            </a:pPr>
            <a:r>
              <a:rPr lang="en-US" sz="1600" dirty="0">
                <a:solidFill>
                  <a:srgbClr val="4B5563"/>
                </a:solidFill>
              </a:rPr>
              <a:t>회의에서는 음식 데이터 공급처가 정해지지 않은 상태가 2주 차 화요일까지 이어질 경우 일정 위험으로 올리고, 안전 기준을 확인하지 못하면 자동 칼로리 목표를 MVP에서 제외하기로 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사용자 페인 포인트</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 심각도와 발생 빈도는 회의에서 언급된 문제의 중요도를 바탕으로 정리한 </a:t>
            </a:r>
            <a:pPr indent="0" marL="0">
              <a:spcAft>
                <a:spcPts val="800"/>
              </a:spcAft>
              <a:buNone/>
            </a:pPr>
            <a:r>
              <a:rPr lang="en-US" sz="1600" b="1" dirty="0">
                <a:solidFill>
                  <a:srgbClr val="4B5563"/>
                </a:solidFill>
              </a:rPr>
              <a:t>분석상 분류</a:t>
            </a:r>
            <a:pPr indent="0" marL="0">
              <a:spcAft>
                <a:spcPts val="800"/>
              </a:spcAft>
              <a:buNone/>
            </a:pPr>
            <a:r>
              <a:rPr lang="en-US" sz="1600" dirty="0">
                <a:solidFill>
                  <a:srgbClr val="4B5563"/>
                </a:solidFill>
              </a:rPr>
              <a:t>다. 회의에서 실제 발생 빈도나 사용자별 심각도를 정량 측정하지 않았으므로, 베타와 사용자 조사에서 검증해야 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사용자 페인 포인트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583200"/>
                <a:gridCol w="2332800"/>
                <a:gridCol w="648000"/>
                <a:gridCol w="2332800"/>
                <a:gridCol w="2332800"/>
              </a:tblGrid>
              <a:tr h="0">
                <a:tc>
                  <a:txBody>
                    <a:bodyPr/>
                    <a:lstStyle/>
                    <a:p>
                      <a:pPr indent="0" marL="0">
                        <a:buNone/>
                      </a:pPr>
                      <a:r>
                        <a:rPr lang="en-US" sz="1200" b="1" dirty="0">
                          <a:solidFill>
                            <a:srgbClr val="FFFFFF"/>
                          </a:solidFill>
                        </a:rPr>
                        <a:t>페인 </a:t>
                      </a:r>
                      <a:pPr indent="0" marL="0">
                        <a:buNone/>
                      </a:pPr>
                      <a:r>
                        <a:rPr lang="en-US" sz="1200" b="1" dirty="0">
                          <a:solidFill>
                            <a:srgbClr val="FFFFFF"/>
                          </a:solidFill>
                        </a:rPr>
                        <a:t>포인트 </a:t>
                      </a:r>
                      <a:pPr indent="0" marL="0">
                        <a:buNone/>
                      </a:pPr>
                      <a:r>
                        <a:rPr lang="en-US" sz="1200" b="1" dirty="0">
                          <a:solidFill>
                            <a:srgbClr val="FFFFFF"/>
                          </a:solidFill>
                        </a:rPr>
                        <a:t>ID</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페인 </a:t>
                      </a:r>
                      <a:pPr indent="0" marL="0">
                        <a:buNone/>
                      </a:pPr>
                      <a:r>
                        <a:rPr lang="en-US" sz="1200" b="1" dirty="0">
                          <a:solidFill>
                            <a:srgbClr val="FFFFFF"/>
                          </a:solidFill>
                        </a:rPr>
                        <a:t>포인트명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심각도(H/M/L)</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발생 </a:t>
                      </a:r>
                      <a:pPr indent="0" marL="0">
                        <a:buNone/>
                      </a:pPr>
                      <a:r>
                        <a:rPr lang="en-US" sz="1200" b="1" dirty="0">
                          <a:solidFill>
                            <a:srgbClr val="FFFFFF"/>
                          </a:solidFill>
                        </a:rPr>
                        <a:t>빈도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영향 </a:t>
                      </a:r>
                      <a:pPr indent="0" marL="0">
                        <a:buNone/>
                      </a:pPr>
                      <a:r>
                        <a:rPr lang="en-US" sz="1200" b="1" dirty="0">
                          <a:solidFill>
                            <a:srgbClr val="FFFFFF"/>
                          </a:solidFill>
                        </a:rPr>
                        <a:t>대상</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PP-001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한 </a:t>
                      </a:r>
                      <a:pPr indent="0" marL="0">
                        <a:buNone/>
                      </a:pPr>
                      <a:r>
                        <a:rPr lang="en-US" sz="1100" dirty="0">
                          <a:solidFill>
                            <a:srgbClr val="1F2937"/>
                          </a:solidFill>
                        </a:rPr>
                        <a:t>끼에 </a:t>
                      </a:r>
                      <a:pPr indent="0" marL="0">
                        <a:buNone/>
                      </a:pPr>
                      <a:r>
                        <a:rPr lang="en-US" sz="1100" dirty="0">
                          <a:solidFill>
                            <a:srgbClr val="1F2937"/>
                          </a:solidFill>
                        </a:rPr>
                        <a:t>여러 </a:t>
                      </a:r>
                      <a:pPr indent="0" marL="0">
                        <a:buNone/>
                      </a:pPr>
                      <a:r>
                        <a:rPr lang="en-US" sz="1100" dirty="0">
                          <a:solidFill>
                            <a:srgbClr val="1F2937"/>
                          </a:solidFill>
                        </a:rPr>
                        <a:t>음식을 </a:t>
                      </a:r>
                      <a:pPr indent="0" marL="0">
                        <a:buNone/>
                      </a:pPr>
                      <a:r>
                        <a:rPr lang="en-US" sz="1100" dirty="0">
                          <a:solidFill>
                            <a:srgbClr val="1F2937"/>
                          </a:solidFill>
                        </a:rPr>
                        <a:t>각각 </a:t>
                      </a:r>
                      <a:pPr indent="0" marL="0">
                        <a:buNone/>
                      </a:pPr>
                      <a:r>
                        <a:rPr lang="en-US" sz="1100" dirty="0">
                          <a:solidFill>
                            <a:srgbClr val="1F2937"/>
                          </a:solidFill>
                        </a:rPr>
                        <a:t>검색하고 </a:t>
                      </a:r>
                      <a:pPr indent="0" marL="0">
                        <a:buNone/>
                      </a:pPr>
                      <a:r>
                        <a:rPr lang="en-US" sz="1100" dirty="0">
                          <a:solidFill>
                            <a:srgbClr val="1F2937"/>
                          </a:solidFill>
                        </a:rPr>
                        <a:t>입력해야 </a:t>
                      </a:r>
                      <a:pPr indent="0" marL="0">
                        <a:buNone/>
                      </a:pPr>
                      <a:r>
                        <a:rPr lang="en-US" sz="1100" dirty="0">
                          <a:solidFill>
                            <a:srgbClr val="1F2937"/>
                          </a:solidFill>
                        </a:rPr>
                        <a:t>하는 </a:t>
                      </a:r>
                      <a:pPr indent="0" marL="0">
                        <a:buNone/>
                      </a:pPr>
                      <a:r>
                        <a:rPr lang="en-US" sz="1100" dirty="0">
                          <a:solidFill>
                            <a:srgbClr val="1F2937"/>
                          </a:solidFill>
                        </a:rPr>
                        <a:t>부담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H</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기록을 </a:t>
                      </a:r>
                      <a:pPr indent="0" marL="0">
                        <a:buNone/>
                      </a:pPr>
                      <a:r>
                        <a:rPr lang="en-US" sz="1100" dirty="0">
                          <a:solidFill>
                            <a:srgbClr val="1F2937"/>
                          </a:solidFill>
                        </a:rPr>
                        <a:t>시도할 </a:t>
                      </a:r>
                      <a:pPr indent="0" marL="0">
                        <a:buNone/>
                      </a:pPr>
                      <a:r>
                        <a:rPr lang="en-US" sz="1100" dirty="0">
                          <a:solidFill>
                            <a:srgbClr val="1F2937"/>
                          </a:solidFill>
                        </a:rPr>
                        <a:t>때 </a:t>
                      </a:r>
                      <a:pPr indent="0" marL="0">
                        <a:buNone/>
                      </a:pPr>
                      <a:r>
                        <a:rPr lang="en-US" sz="1100" dirty="0">
                          <a:solidFill>
                            <a:srgbClr val="1F2937"/>
                          </a:solidFill>
                        </a:rPr>
                        <a:t>반복될 </a:t>
                      </a:r>
                      <a:pPr indent="0" marL="0">
                        <a:buNone/>
                      </a:pPr>
                      <a:r>
                        <a:rPr lang="en-US" sz="1100" dirty="0">
                          <a:solidFill>
                            <a:srgbClr val="1F2937"/>
                          </a:solidFill>
                        </a:rPr>
                        <a:t>수 </a:t>
                      </a:r>
                      <a:pPr indent="0" marL="0">
                        <a:buNone/>
                      </a:pPr>
                      <a:r>
                        <a:rPr lang="en-US" sz="1100" dirty="0">
                          <a:solidFill>
                            <a:srgbClr val="1F2937"/>
                          </a:solidFill>
                        </a:rPr>
                        <a:t>있음. </a:t>
                      </a:r>
                      <a:pPr indent="0" marL="0">
                        <a:buNone/>
                      </a:pPr>
                      <a:r>
                        <a:rPr lang="en-US" sz="1100" dirty="0">
                          <a:solidFill>
                            <a:srgbClr val="1F2937"/>
                          </a:solidFill>
                        </a:rPr>
                        <a:t>실제 </a:t>
                      </a:r>
                      <a:pPr indent="0" marL="0">
                        <a:buNone/>
                      </a:pPr>
                      <a:r>
                        <a:rPr lang="en-US" sz="1100" dirty="0">
                          <a:solidFill>
                            <a:srgbClr val="1F2937"/>
                          </a:solidFill>
                        </a:rPr>
                        <a:t>빈도 </a:t>
                      </a:r>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한 </a:t>
                      </a:r>
                      <a:pPr indent="0" marL="0">
                        <a:buNone/>
                      </a:pPr>
                      <a:r>
                        <a:rPr lang="en-US" sz="1100" dirty="0">
                          <a:solidFill>
                            <a:srgbClr val="1F2937"/>
                          </a:solidFill>
                        </a:rPr>
                        <a:t>끼 </a:t>
                      </a:r>
                      <a:pPr indent="0" marL="0">
                        <a:buNone/>
                      </a:pPr>
                      <a:r>
                        <a:rPr lang="en-US" sz="1100" dirty="0">
                          <a:solidFill>
                            <a:srgbClr val="1F2937"/>
                          </a:solidFill>
                        </a:rPr>
                        <a:t>기록이 </a:t>
                      </a:r>
                      <a:pPr indent="0" marL="0">
                        <a:buNone/>
                      </a:pPr>
                      <a:r>
                        <a:rPr lang="en-US" sz="1100" dirty="0">
                          <a:solidFill>
                            <a:srgbClr val="1F2937"/>
                          </a:solidFill>
                        </a:rPr>
                        <a:t>번거로워 </a:t>
                      </a:r>
                      <a:pPr indent="0" marL="0">
                        <a:buNone/>
                      </a:pPr>
                      <a:r>
                        <a:rPr lang="en-US" sz="1100" dirty="0">
                          <a:solidFill>
                            <a:srgbClr val="1F2937"/>
                          </a:solidFill>
                        </a:rPr>
                        <a:t>식단 </a:t>
                      </a:r>
                      <a:pPr indent="0" marL="0">
                        <a:buNone/>
                      </a:pPr>
                      <a:r>
                        <a:rPr lang="en-US" sz="1100" dirty="0">
                          <a:solidFill>
                            <a:srgbClr val="1F2937"/>
                          </a:solidFill>
                        </a:rPr>
                        <a:t>기록을 </a:t>
                      </a:r>
                      <a:pPr indent="0" marL="0">
                        <a:buNone/>
                      </a:pPr>
                      <a:r>
                        <a:rPr lang="en-US" sz="1100" dirty="0">
                          <a:solidFill>
                            <a:srgbClr val="1F2937"/>
                          </a:solidFill>
                        </a:rPr>
                        <a:t>중단하거나 </a:t>
                      </a:r>
                      <a:pPr indent="0" marL="0">
                        <a:buNone/>
                      </a:pPr>
                      <a:r>
                        <a:rPr lang="en-US" sz="1100" dirty="0">
                          <a:solidFill>
                            <a:srgbClr val="1F2937"/>
                          </a:solidFill>
                        </a:rPr>
                        <a:t>미루는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PP-002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원하는 </a:t>
                      </a:r>
                      <a:pPr indent="0" marL="0">
                        <a:buNone/>
                      </a:pPr>
                      <a:r>
                        <a:rPr lang="en-US" sz="1100" dirty="0">
                          <a:solidFill>
                            <a:srgbClr val="1F2937"/>
                          </a:solidFill>
                        </a:rPr>
                        <a:t>음식이 </a:t>
                      </a:r>
                      <a:pPr indent="0" marL="0">
                        <a:buNone/>
                      </a:pPr>
                      <a:r>
                        <a:rPr lang="en-US" sz="1100" dirty="0">
                          <a:solidFill>
                            <a:srgbClr val="1F2937"/>
                          </a:solidFill>
                        </a:rPr>
                        <a:t>검색되지 </a:t>
                      </a:r>
                      <a:pPr indent="0" marL="0">
                        <a:buNone/>
                      </a:pPr>
                      <a:r>
                        <a:rPr lang="en-US" sz="1100" dirty="0">
                          <a:solidFill>
                            <a:srgbClr val="1F2937"/>
                          </a:solidFill>
                        </a:rPr>
                        <a:t>않거나 </a:t>
                      </a:r>
                      <a:pPr indent="0" marL="0">
                        <a:buNone/>
                      </a:pPr>
                      <a:r>
                        <a:rPr lang="en-US" sz="1100" dirty="0">
                          <a:solidFill>
                            <a:srgbClr val="1F2937"/>
                          </a:solidFill>
                        </a:rPr>
                        <a:t>검색 </a:t>
                      </a:r>
                      <a:pPr indent="0" marL="0">
                        <a:buNone/>
                      </a:pPr>
                      <a:r>
                        <a:rPr lang="en-US" sz="1100" dirty="0">
                          <a:solidFill>
                            <a:srgbClr val="1F2937"/>
                          </a:solidFill>
                        </a:rPr>
                        <a:t>결과가 </a:t>
                      </a:r>
                      <a:pPr indent="0" marL="0">
                        <a:buNone/>
                      </a:pPr>
                      <a:r>
                        <a:rPr lang="en-US" sz="1100" dirty="0">
                          <a:solidFill>
                            <a:srgbClr val="1F2937"/>
                          </a:solidFill>
                        </a:rPr>
                        <a:t>실제 </a:t>
                      </a:r>
                      <a:pPr indent="0" marL="0">
                        <a:buNone/>
                      </a:pPr>
                      <a:r>
                        <a:rPr lang="en-US" sz="1100" dirty="0">
                          <a:solidFill>
                            <a:srgbClr val="1F2937"/>
                          </a:solidFill>
                        </a:rPr>
                        <a:t>음식과 </a:t>
                      </a:r>
                      <a:pPr indent="0" marL="0">
                        <a:buNone/>
                      </a:pPr>
                      <a:r>
                        <a:rPr lang="en-US" sz="1100" dirty="0">
                          <a:solidFill>
                            <a:srgbClr val="1F2937"/>
                          </a:solidFill>
                        </a:rPr>
                        <a:t>맞지 </a:t>
                      </a:r>
                      <a:pPr indent="0" marL="0">
                        <a:buNone/>
                      </a:pPr>
                      <a:r>
                        <a:rPr lang="en-US" sz="1100" dirty="0">
                          <a:solidFill>
                            <a:srgbClr val="1F2937"/>
                          </a:solidFill>
                        </a:rPr>
                        <a:t>않는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H</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검색할 </a:t>
                      </a:r>
                      <a:pPr indent="0" marL="0">
                        <a:buNone/>
                      </a:pPr>
                      <a:r>
                        <a:rPr lang="en-US" sz="1100" dirty="0">
                          <a:solidFill>
                            <a:srgbClr val="1F2937"/>
                          </a:solidFill>
                        </a:rPr>
                        <a:t>때마다 </a:t>
                      </a:r>
                      <a:pPr indent="0" marL="0">
                        <a:buNone/>
                      </a:pPr>
                      <a:r>
                        <a:rPr lang="en-US" sz="1100" dirty="0">
                          <a:solidFill>
                            <a:srgbClr val="1F2937"/>
                          </a:solidFill>
                        </a:rPr>
                        <a:t>발생할 </a:t>
                      </a:r>
                      <a:pPr indent="0" marL="0">
                        <a:buNone/>
                      </a:pPr>
                      <a:r>
                        <a:rPr lang="en-US" sz="1100" dirty="0">
                          <a:solidFill>
                            <a:srgbClr val="1F2937"/>
                          </a:solidFill>
                        </a:rPr>
                        <a:t>수 </a:t>
                      </a:r>
                      <a:pPr indent="0" marL="0">
                        <a:buNone/>
                      </a:pPr>
                      <a:r>
                        <a:rPr lang="en-US" sz="1100" dirty="0">
                          <a:solidFill>
                            <a:srgbClr val="1F2937"/>
                          </a:solidFill>
                        </a:rPr>
                        <a:t>있음. </a:t>
                      </a:r>
                      <a:pPr indent="0" marL="0">
                        <a:buNone/>
                      </a:pPr>
                      <a:r>
                        <a:rPr lang="en-US" sz="1100" dirty="0">
                          <a:solidFill>
                            <a:srgbClr val="1F2937"/>
                          </a:solidFill>
                        </a:rPr>
                        <a:t>검색 </a:t>
                      </a:r>
                      <a:pPr indent="0" marL="0">
                        <a:buNone/>
                      </a:pPr>
                      <a:r>
                        <a:rPr lang="en-US" sz="1100" dirty="0">
                          <a:solidFill>
                            <a:srgbClr val="1F2937"/>
                          </a:solidFill>
                        </a:rPr>
                        <a:t>실패율 </a:t>
                      </a:r>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데이터 </a:t>
                      </a:r>
                      <a:pPr indent="0" marL="0">
                        <a:buNone/>
                      </a:pPr>
                      <a:r>
                        <a:rPr lang="en-US" sz="1100" dirty="0">
                          <a:solidFill>
                            <a:srgbClr val="1F2937"/>
                          </a:solidFill>
                        </a:rPr>
                        <a:t>범위가 </a:t>
                      </a:r>
                      <a:pPr indent="0" marL="0">
                        <a:buNone/>
                      </a:pPr>
                      <a:r>
                        <a:rPr lang="en-US" sz="1100" dirty="0">
                          <a:solidFill>
                            <a:srgbClr val="1F2937"/>
                          </a:solidFill>
                        </a:rPr>
                        <a:t>부족한 </a:t>
                      </a:r>
                      <a:pPr indent="0" marL="0">
                        <a:buNone/>
                      </a:pPr>
                      <a:r>
                        <a:rPr lang="en-US" sz="1100" dirty="0">
                          <a:solidFill>
                            <a:srgbClr val="1F2937"/>
                          </a:solidFill>
                        </a:rPr>
                        <a:t>환경에서 </a:t>
                      </a:r>
                      <a:pPr indent="0" marL="0">
                        <a:buNone/>
                      </a:pPr>
                      <a:r>
                        <a:rPr lang="en-US" sz="1100" dirty="0">
                          <a:solidFill>
                            <a:srgbClr val="1F2937"/>
                          </a:solidFill>
                        </a:rPr>
                        <a:t>기록하는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PP-003</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정보가 </a:t>
                      </a:r>
                      <a:pPr indent="0" marL="0">
                        <a:buNone/>
                      </a:pPr>
                      <a:r>
                        <a:rPr lang="en-US" sz="1100" dirty="0">
                          <a:solidFill>
                            <a:srgbClr val="1F2937"/>
                          </a:solidFill>
                        </a:rPr>
                        <a:t>없거나 </a:t>
                      </a:r>
                      <a:pPr indent="0" marL="0">
                        <a:buNone/>
                      </a:pPr>
                      <a:r>
                        <a:rPr lang="en-US" sz="1100" dirty="0">
                          <a:solidFill>
                            <a:srgbClr val="1F2937"/>
                          </a:solidFill>
                        </a:rPr>
                        <a:t>불완전해 </a:t>
                      </a:r>
                      <a:pPr indent="0" marL="0">
                        <a:buNone/>
                      </a:pPr>
                      <a:r>
                        <a:rPr lang="en-US" sz="1100" dirty="0">
                          <a:solidFill>
                            <a:srgbClr val="1F2937"/>
                          </a:solidFill>
                        </a:rPr>
                        <a:t>기록 </a:t>
                      </a:r>
                      <a:pPr indent="0" marL="0">
                        <a:buNone/>
                      </a:pPr>
                      <a:r>
                        <a:rPr lang="en-US" sz="1100" dirty="0">
                          <a:solidFill>
                            <a:srgbClr val="1F2937"/>
                          </a:solidFill>
                        </a:rPr>
                        <a:t>및 </a:t>
                      </a:r>
                      <a:pPr indent="0" marL="0">
                        <a:buNone/>
                      </a:pPr>
                      <a:r>
                        <a:rPr lang="en-US" sz="1100" dirty="0">
                          <a:solidFill>
                            <a:srgbClr val="1F2937"/>
                          </a:solidFill>
                        </a:rPr>
                        <a:t>합계를 </a:t>
                      </a:r>
                      <a:pPr indent="0" marL="0">
                        <a:buNone/>
                      </a:pPr>
                      <a:r>
                        <a:rPr lang="en-US" sz="1100" dirty="0">
                          <a:solidFill>
                            <a:srgbClr val="1F2937"/>
                          </a:solidFill>
                        </a:rPr>
                        <a:t>믿기 </a:t>
                      </a:r>
                      <a:pPr indent="0" marL="0">
                        <a:buNone/>
                      </a:pPr>
                      <a:r>
                        <a:rPr lang="en-US" sz="1100" dirty="0">
                          <a:solidFill>
                            <a:srgbClr val="1F2937"/>
                          </a:solidFill>
                        </a:rPr>
                        <a:t>어려운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H</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영양 </a:t>
                      </a:r>
                      <a:pPr indent="0" marL="0">
                        <a:buNone/>
                      </a:pPr>
                      <a:r>
                        <a:rPr lang="en-US" sz="1100" dirty="0">
                          <a:solidFill>
                            <a:srgbClr val="1F2937"/>
                          </a:solidFill>
                        </a:rPr>
                        <a:t>정보가 </a:t>
                      </a:r>
                      <a:pPr indent="0" marL="0">
                        <a:buNone/>
                      </a:pPr>
                      <a:r>
                        <a:rPr lang="en-US" sz="1100" dirty="0">
                          <a:solidFill>
                            <a:srgbClr val="1F2937"/>
                          </a:solidFill>
                        </a:rPr>
                        <a:t>없는 </a:t>
                      </a:r>
                      <a:pPr indent="0" marL="0">
                        <a:buNone/>
                      </a:pPr>
                      <a:r>
                        <a:rPr lang="en-US" sz="1100" dirty="0">
                          <a:solidFill>
                            <a:srgbClr val="1F2937"/>
                          </a:solidFill>
                        </a:rPr>
                        <a:t>음식 </a:t>
                      </a:r>
                      <a:pPr indent="0" marL="0">
                        <a:buNone/>
                      </a:pPr>
                      <a:r>
                        <a:rPr lang="en-US" sz="1100" dirty="0">
                          <a:solidFill>
                            <a:srgbClr val="1F2937"/>
                          </a:solidFill>
                        </a:rPr>
                        <a:t>기록 </a:t>
                      </a:r>
                      <a:pPr indent="0" marL="0">
                        <a:buNone/>
                      </a:pPr>
                      <a:r>
                        <a:rPr lang="en-US" sz="1100" dirty="0">
                          <a:solidFill>
                            <a:srgbClr val="1F2937"/>
                          </a:solidFill>
                        </a:rPr>
                        <a:t>시 </a:t>
                      </a:r>
                      <a:pPr indent="0" marL="0">
                        <a:buNone/>
                      </a:pPr>
                      <a:r>
                        <a:rPr lang="en-US" sz="1100" dirty="0">
                          <a:solidFill>
                            <a:srgbClr val="1F2937"/>
                          </a:solidFill>
                        </a:rPr>
                        <a:t>발생. </a:t>
                      </a:r>
                      <a:pPr indent="0" marL="0">
                        <a:buNone/>
                      </a:pPr>
                      <a:r>
                        <a:rPr lang="en-US" sz="1100" dirty="0">
                          <a:solidFill>
                            <a:srgbClr val="1F2937"/>
                          </a:solidFill>
                        </a:rPr>
                        <a:t>대상 </a:t>
                      </a:r>
                      <a:pPr indent="0" marL="0">
                        <a:buNone/>
                      </a:pPr>
                      <a:r>
                        <a:rPr lang="en-US" sz="1100" dirty="0">
                          <a:solidFill>
                            <a:srgbClr val="1F2937"/>
                          </a:solidFill>
                        </a:rPr>
                        <a:t>비율 </a:t>
                      </a:r>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직접 </a:t>
                      </a:r>
                      <a:pPr indent="0" marL="0">
                        <a:buNone/>
                      </a:pPr>
                      <a:r>
                        <a:rPr lang="en-US" sz="1100" dirty="0">
                          <a:solidFill>
                            <a:srgbClr val="1F2937"/>
                          </a:solidFill>
                        </a:rPr>
                        <a:t>입력 </a:t>
                      </a:r>
                      <a:pPr indent="0" marL="0">
                        <a:buNone/>
                      </a:pPr>
                      <a:r>
                        <a:rPr lang="en-US" sz="1100" dirty="0">
                          <a:solidFill>
                            <a:srgbClr val="1F2937"/>
                          </a:solidFill>
                        </a:rPr>
                        <a:t>음식이나 </a:t>
                      </a:r>
                      <a:pPr indent="0" marL="0">
                        <a:buNone/>
                      </a:pPr>
                      <a:r>
                        <a:rPr lang="en-US" sz="1100" dirty="0">
                          <a:solidFill>
                            <a:srgbClr val="1F2937"/>
                          </a:solidFill>
                        </a:rPr>
                        <a:t>영양 </a:t>
                      </a:r>
                      <a:pPr indent="0" marL="0">
                        <a:buNone/>
                      </a:pPr>
                      <a:r>
                        <a:rPr lang="en-US" sz="1100" dirty="0">
                          <a:solidFill>
                            <a:srgbClr val="1F2937"/>
                          </a:solidFill>
                        </a:rPr>
                        <a:t>정보가 </a:t>
                      </a:r>
                      <a:pPr indent="0" marL="0">
                        <a:buNone/>
                      </a:pPr>
                      <a:r>
                        <a:rPr lang="en-US" sz="1100" dirty="0">
                          <a:solidFill>
                            <a:srgbClr val="1F2937"/>
                          </a:solidFill>
                        </a:rPr>
                        <a:t>누락된 </a:t>
                      </a:r>
                      <a:pPr indent="0" marL="0">
                        <a:buNone/>
                      </a:pPr>
                      <a:r>
                        <a:rPr lang="en-US" sz="1100" dirty="0">
                          <a:solidFill>
                            <a:srgbClr val="1F2937"/>
                          </a:solidFill>
                        </a:rPr>
                        <a:t>음식을 </a:t>
                      </a:r>
                      <a:pPr indent="0" marL="0">
                        <a:buNone/>
                      </a:pPr>
                      <a:r>
                        <a:rPr lang="en-US" sz="1100" dirty="0">
                          <a:solidFill>
                            <a:srgbClr val="1F2937"/>
                          </a:solidFill>
                        </a:rPr>
                        <a:t>기록하는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PP-004</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음식명만으로 </a:t>
                      </a:r>
                      <a:pPr indent="0" marL="0">
                        <a:buNone/>
                      </a:pPr>
                      <a:r>
                        <a:rPr lang="en-US" sz="1100" dirty="0">
                          <a:solidFill>
                            <a:srgbClr val="1F2937"/>
                          </a:solidFill>
                        </a:rPr>
                        <a:t>섭취량과 </a:t>
                      </a:r>
                      <a:pPr indent="0" marL="0">
                        <a:buNone/>
                      </a:pPr>
                      <a:r>
                        <a:rPr lang="en-US" sz="1100" dirty="0">
                          <a:solidFill>
                            <a:srgbClr val="1F2937"/>
                          </a:solidFill>
                        </a:rPr>
                        <a:t>조리법을 </a:t>
                      </a:r>
                      <a:pPr indent="0" marL="0">
                        <a:buNone/>
                      </a:pPr>
                      <a:r>
                        <a:rPr lang="en-US" sz="1100" dirty="0">
                          <a:solidFill>
                            <a:srgbClr val="1F2937"/>
                          </a:solidFill>
                        </a:rPr>
                        <a:t>반영하기 </a:t>
                      </a:r>
                      <a:pPr indent="0" marL="0">
                        <a:buNone/>
                      </a:pPr>
                      <a:r>
                        <a:rPr lang="en-US" sz="1100" dirty="0">
                          <a:solidFill>
                            <a:srgbClr val="1F2937"/>
                          </a:solidFill>
                        </a:rPr>
                        <a:t>어려운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H</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음식명으로 </a:t>
                      </a:r>
                      <a:pPr indent="0" marL="0">
                        <a:buNone/>
                      </a:pPr>
                      <a:r>
                        <a:rPr lang="en-US" sz="1100" dirty="0">
                          <a:solidFill>
                            <a:srgbClr val="1F2937"/>
                          </a:solidFill>
                        </a:rPr>
                        <a:t>영양값을 </a:t>
                      </a:r>
                      <a:pPr indent="0" marL="0">
                        <a:buNone/>
                      </a:pPr>
                      <a:r>
                        <a:rPr lang="en-US" sz="1100" dirty="0">
                          <a:solidFill>
                            <a:srgbClr val="1F2937"/>
                          </a:solidFill>
                        </a:rPr>
                        <a:t>확인할 </a:t>
                      </a:r>
                      <a:pPr indent="0" marL="0">
                        <a:buNone/>
                      </a:pPr>
                      <a:r>
                        <a:rPr lang="en-US" sz="1100" dirty="0">
                          <a:solidFill>
                            <a:srgbClr val="1F2937"/>
                          </a:solidFill>
                        </a:rPr>
                        <a:t>때 </a:t>
                      </a:r>
                      <a:pPr indent="0" marL="0">
                        <a:buNone/>
                      </a:pPr>
                      <a:r>
                        <a:rPr lang="en-US" sz="1100" dirty="0">
                          <a:solidFill>
                            <a:srgbClr val="1F2937"/>
                          </a:solidFill>
                        </a:rPr>
                        <a:t>반복적으로 </a:t>
                      </a:r>
                      <a:pPr indent="0" marL="0">
                        <a:buNone/>
                      </a:pPr>
                      <a:r>
                        <a:rPr lang="en-US" sz="1100" dirty="0">
                          <a:solidFill>
                            <a:srgbClr val="1F2937"/>
                          </a:solidFill>
                        </a:rPr>
                        <a:t>발생할 </a:t>
                      </a:r>
                      <a:pPr indent="0" marL="0">
                        <a:buNone/>
                      </a:pPr>
                      <a:r>
                        <a:rPr lang="en-US" sz="1100" dirty="0">
                          <a:solidFill>
                            <a:srgbClr val="1F2937"/>
                          </a:solidFill>
                        </a:rPr>
                        <a:t>수 </a:t>
                      </a:r>
                      <a:pPr indent="0" marL="0">
                        <a:buNone/>
                      </a:pPr>
                      <a:r>
                        <a:rPr lang="en-US" sz="1100" dirty="0">
                          <a:solidFill>
                            <a:srgbClr val="1F2937"/>
                          </a:solidFill>
                        </a:rPr>
                        <a:t>있음. </a:t>
                      </a:r>
                      <a:pPr indent="0" marL="0">
                        <a:buNone/>
                      </a:pPr>
                      <a:r>
                        <a:rPr lang="en-US" sz="1100" dirty="0">
                          <a:solidFill>
                            <a:srgbClr val="1F2937"/>
                          </a:solidFill>
                        </a:rPr>
                        <a:t>실제 </a:t>
                      </a:r>
                      <a:pPr indent="0" marL="0">
                        <a:buNone/>
                      </a:pPr>
                      <a:r>
                        <a:rPr lang="en-US" sz="1100" dirty="0">
                          <a:solidFill>
                            <a:srgbClr val="1F2937"/>
                          </a:solidFill>
                        </a:rPr>
                        <a:t>오차 </a:t>
                      </a:r>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음식의 </a:t>
                      </a:r>
                      <a:pPr indent="0" marL="0">
                        <a:buNone/>
                      </a:pPr>
                      <a:r>
                        <a:rPr lang="en-US" sz="1100" dirty="0">
                          <a:solidFill>
                            <a:srgbClr val="1F2937"/>
                          </a:solidFill>
                        </a:rPr>
                        <a:t>양을 </a:t>
                      </a:r>
                      <a:pPr indent="0" marL="0">
                        <a:buNone/>
                      </a:pPr>
                      <a:r>
                        <a:rPr lang="en-US" sz="1100" dirty="0">
                          <a:solidFill>
                            <a:srgbClr val="1F2937"/>
                          </a:solidFill>
                        </a:rPr>
                        <a:t>세밀하게 </a:t>
                      </a:r>
                      <a:pPr indent="0" marL="0">
                        <a:buNone/>
                      </a:pPr>
                      <a:r>
                        <a:rPr lang="en-US" sz="1100" dirty="0">
                          <a:solidFill>
                            <a:srgbClr val="1F2937"/>
                          </a:solidFill>
                        </a:rPr>
                        <a:t>입력하지 </a:t>
                      </a:r>
                      <a:pPr indent="0" marL="0">
                        <a:buNone/>
                      </a:pPr>
                      <a:r>
                        <a:rPr lang="en-US" sz="1100" dirty="0">
                          <a:solidFill>
                            <a:srgbClr val="1F2937"/>
                          </a:solidFill>
                        </a:rPr>
                        <a:t>않거나 </a:t>
                      </a:r>
                      <a:pPr indent="0" marL="0">
                        <a:buNone/>
                      </a:pPr>
                      <a:r>
                        <a:rPr lang="en-US" sz="1100" dirty="0">
                          <a:solidFill>
                            <a:srgbClr val="1F2937"/>
                          </a:solidFill>
                        </a:rPr>
                        <a:t>기준 </a:t>
                      </a:r>
                      <a:pPr indent="0" marL="0">
                        <a:buNone/>
                      </a:pPr>
                      <a:r>
                        <a:rPr lang="en-US" sz="1100" dirty="0">
                          <a:solidFill>
                            <a:srgbClr val="1F2937"/>
                          </a:solidFill>
                        </a:rPr>
                        <a:t>제공량을 </a:t>
                      </a:r>
                      <a:pPr indent="0" marL="0">
                        <a:buNone/>
                      </a:pPr>
                      <a:r>
                        <a:rPr lang="en-US" sz="1100" dirty="0">
                          <a:solidFill>
                            <a:srgbClr val="1F2937"/>
                          </a:solidFill>
                        </a:rPr>
                        <a:t>알기 </a:t>
                      </a:r>
                      <a:pPr indent="0" marL="0">
                        <a:buNone/>
                      </a:pPr>
                      <a:r>
                        <a:rPr lang="en-US" sz="1100" dirty="0">
                          <a:solidFill>
                            <a:srgbClr val="1F2937"/>
                          </a:solidFill>
                        </a:rPr>
                        <a:t>어려운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PP-005</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신체 </a:t>
                      </a:r>
                      <a:pPr indent="0" marL="0">
                        <a:buNone/>
                      </a:pPr>
                      <a:r>
                        <a:rPr lang="en-US" sz="1100" dirty="0">
                          <a:solidFill>
                            <a:srgbClr val="1F2937"/>
                          </a:solidFill>
                        </a:rPr>
                        <a:t>정보를 </a:t>
                      </a:r>
                      <a:pPr indent="0" marL="0">
                        <a:buNone/>
                      </a:pPr>
                      <a:r>
                        <a:rPr lang="en-US" sz="1100" dirty="0">
                          <a:solidFill>
                            <a:srgbClr val="1F2937"/>
                          </a:solidFill>
                        </a:rPr>
                        <a:t>필수로 </a:t>
                      </a:r>
                      <a:pPr indent="0" marL="0">
                        <a:buNone/>
                      </a:pPr>
                      <a:r>
                        <a:rPr lang="en-US" sz="1100" dirty="0">
                          <a:solidFill>
                            <a:srgbClr val="1F2937"/>
                          </a:solidFill>
                        </a:rPr>
                        <a:t>입력하거나 </a:t>
                      </a:r>
                      <a:pPr indent="0" marL="0">
                        <a:buNone/>
                      </a:pPr>
                      <a:r>
                        <a:rPr lang="en-US" sz="1100" dirty="0">
                          <a:solidFill>
                            <a:srgbClr val="1F2937"/>
                          </a:solidFill>
                        </a:rPr>
                        <a:t>목표 </a:t>
                      </a:r>
                      <a:pPr indent="0" marL="0">
                        <a:buNone/>
                      </a:pPr>
                      <a:r>
                        <a:rPr lang="en-US" sz="1100" dirty="0">
                          <a:solidFill>
                            <a:srgbClr val="1F2937"/>
                          </a:solidFill>
                        </a:rPr>
                        <a:t>설정을 </a:t>
                      </a:r>
                      <a:pPr indent="0" marL="0">
                        <a:buNone/>
                      </a:pPr>
                      <a:r>
                        <a:rPr lang="en-US" sz="1100" dirty="0">
                          <a:solidFill>
                            <a:srgbClr val="1F2937"/>
                          </a:solidFill>
                        </a:rPr>
                        <a:t>강요받을 </a:t>
                      </a:r>
                      <a:pPr indent="0" marL="0">
                        <a:buNone/>
                      </a:pPr>
                      <a:r>
                        <a:rPr lang="en-US" sz="1100" dirty="0">
                          <a:solidFill>
                            <a:srgbClr val="1F2937"/>
                          </a:solidFill>
                        </a:rPr>
                        <a:t>수 </a:t>
                      </a:r>
                      <a:pPr indent="0" marL="0">
                        <a:buNone/>
                      </a:pPr>
                      <a:r>
                        <a:rPr lang="en-US" sz="1100" dirty="0">
                          <a:solidFill>
                            <a:srgbClr val="1F2937"/>
                          </a:solidFill>
                        </a:rPr>
                        <a:t>있다는 </a:t>
                      </a:r>
                      <a:pPr indent="0" marL="0">
                        <a:buNone/>
                      </a:pPr>
                      <a:r>
                        <a:rPr lang="en-US" sz="1100" dirty="0">
                          <a:solidFill>
                            <a:srgbClr val="1F2937"/>
                          </a:solidFill>
                        </a:rPr>
                        <a:t>부담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온보딩 </a:t>
                      </a:r>
                      <a:pPr indent="0" marL="0">
                        <a:buNone/>
                      </a:pPr>
                      <a:r>
                        <a:rPr lang="en-US" sz="1100" dirty="0">
                          <a:solidFill>
                            <a:srgbClr val="1F2937"/>
                          </a:solidFill>
                        </a:rPr>
                        <a:t>및 </a:t>
                      </a:r>
                      <a:pPr indent="0" marL="0">
                        <a:buNone/>
                      </a:pPr>
                      <a:r>
                        <a:rPr lang="en-US" sz="1100" dirty="0">
                          <a:solidFill>
                            <a:srgbClr val="1F2937"/>
                          </a:solidFill>
                        </a:rPr>
                        <a:t>목표 </a:t>
                      </a:r>
                      <a:pPr indent="0" marL="0">
                        <a:buNone/>
                      </a:pPr>
                      <a:r>
                        <a:rPr lang="en-US" sz="1100" dirty="0">
                          <a:solidFill>
                            <a:srgbClr val="1F2937"/>
                          </a:solidFill>
                        </a:rPr>
                        <a:t>설정 </a:t>
                      </a:r>
                      <a:pPr indent="0" marL="0">
                        <a:buNone/>
                      </a:pPr>
                      <a:r>
                        <a:rPr lang="en-US" sz="1100" dirty="0">
                          <a:solidFill>
                            <a:srgbClr val="1F2937"/>
                          </a:solidFill>
                        </a:rPr>
                        <a:t>시 </a:t>
                      </a:r>
                      <a:pPr indent="0" marL="0">
                        <a:buNone/>
                      </a:pPr>
                      <a:r>
                        <a:rPr lang="en-US" sz="1100" dirty="0">
                          <a:solidFill>
                            <a:srgbClr val="1F2937"/>
                          </a:solidFill>
                        </a:rPr>
                        <a:t>발생 </a:t>
                      </a:r>
                      <a:pPr indent="0" marL="0">
                        <a:buNone/>
                      </a:pPr>
                      <a:r>
                        <a:rPr lang="en-US" sz="1100" dirty="0">
                          <a:solidFill>
                            <a:srgbClr val="1F2937"/>
                          </a:solidFill>
                        </a:rPr>
                        <a:t>가능. </a:t>
                      </a:r>
                      <a:pPr indent="0" marL="0">
                        <a:buNone/>
                      </a:pPr>
                      <a:r>
                        <a:rPr lang="en-US" sz="1100" dirty="0">
                          <a:solidFill>
                            <a:srgbClr val="1F2937"/>
                          </a:solidFill>
                        </a:rPr>
                        <a:t>실제 </a:t>
                      </a:r>
                      <a:pPr indent="0" marL="0">
                        <a:buNone/>
                      </a:pPr>
                      <a:r>
                        <a:rPr lang="en-US" sz="1100" dirty="0">
                          <a:solidFill>
                            <a:srgbClr val="1F2937"/>
                          </a:solidFill>
                        </a:rPr>
                        <a:t>이탈률 </a:t>
                      </a:r>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생성이나 </a:t>
                      </a:r>
                      <a:pPr indent="0" marL="0">
                        <a:buNone/>
                      </a:pPr>
                      <a:r>
                        <a:rPr lang="en-US" sz="1100" dirty="0">
                          <a:solidFill>
                            <a:srgbClr val="1F2937"/>
                          </a:solidFill>
                        </a:rPr>
                        <a:t>목표 </a:t>
                      </a:r>
                      <a:pPr indent="0" marL="0">
                        <a:buNone/>
                      </a:pPr>
                      <a:r>
                        <a:rPr lang="en-US" sz="1100" dirty="0">
                          <a:solidFill>
                            <a:srgbClr val="1F2937"/>
                          </a:solidFill>
                        </a:rPr>
                        <a:t>설정 </a:t>
                      </a:r>
                      <a:pPr indent="0" marL="0">
                        <a:buNone/>
                      </a:pPr>
                      <a:r>
                        <a:rPr lang="en-US" sz="1100" dirty="0">
                          <a:solidFill>
                            <a:srgbClr val="1F2937"/>
                          </a:solidFill>
                        </a:rPr>
                        <a:t>전에 </a:t>
                      </a:r>
                      <a:pPr indent="0" marL="0">
                        <a:buNone/>
                      </a:pPr>
                      <a:r>
                        <a:rPr lang="en-US" sz="1100" dirty="0">
                          <a:solidFill>
                            <a:srgbClr val="1F2937"/>
                          </a:solidFill>
                        </a:rPr>
                        <a:t>부담을 </a:t>
                      </a:r>
                      <a:pPr indent="0" marL="0">
                        <a:buNone/>
                      </a:pPr>
                      <a:r>
                        <a:rPr lang="en-US" sz="1100" dirty="0">
                          <a:solidFill>
                            <a:srgbClr val="1F2937"/>
                          </a:solidFill>
                        </a:rPr>
                        <a:t>느끼는 </a:t>
                      </a:r>
                      <a:pPr indent="0" marL="0">
                        <a:buNone/>
                      </a:pPr>
                      <a:r>
                        <a:rPr lang="en-US" sz="1100" dirty="0">
                          <a:solidFill>
                            <a:srgbClr val="1F2937"/>
                          </a:solidFill>
                        </a:rPr>
                        <a:t>신규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PP-006</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칼로리 </a:t>
                      </a:r>
                      <a:pPr indent="0" marL="0">
                        <a:buNone/>
                      </a:pPr>
                      <a:r>
                        <a:rPr lang="en-US" sz="1100" dirty="0">
                          <a:solidFill>
                            <a:srgbClr val="1F2937"/>
                          </a:solidFill>
                        </a:rPr>
                        <a:t>목표나 </a:t>
                      </a:r>
                      <a:pPr indent="0" marL="0">
                        <a:buNone/>
                      </a:pPr>
                      <a:r>
                        <a:rPr lang="en-US" sz="1100" dirty="0">
                          <a:solidFill>
                            <a:srgbClr val="1F2937"/>
                          </a:solidFill>
                        </a:rPr>
                        <a:t>기록 </a:t>
                      </a:r>
                      <a:pPr indent="0" marL="0">
                        <a:buNone/>
                      </a:pPr>
                      <a:r>
                        <a:rPr lang="en-US" sz="1100" dirty="0">
                          <a:solidFill>
                            <a:srgbClr val="1F2937"/>
                          </a:solidFill>
                        </a:rPr>
                        <a:t>결과가 </a:t>
                      </a:r>
                      <a:pPr indent="0" marL="0">
                        <a:buNone/>
                      </a:pPr>
                      <a:r>
                        <a:rPr lang="en-US" sz="1100" dirty="0">
                          <a:solidFill>
                            <a:srgbClr val="1F2937"/>
                          </a:solidFill>
                        </a:rPr>
                        <a:t>평가·압박처럼 </a:t>
                      </a:r>
                      <a:pPr indent="0" marL="0">
                        <a:buNone/>
                      </a:pPr>
                      <a:r>
                        <a:rPr lang="en-US" sz="1100" dirty="0">
                          <a:solidFill>
                            <a:srgbClr val="1F2937"/>
                          </a:solidFill>
                        </a:rPr>
                        <a:t>보일 </a:t>
                      </a:r>
                      <a:pPr indent="0" marL="0">
                        <a:buNone/>
                      </a:pPr>
                      <a:r>
                        <a:rPr lang="en-US" sz="1100" dirty="0">
                          <a:solidFill>
                            <a:srgbClr val="1F2937"/>
                          </a:solidFill>
                        </a:rPr>
                        <a:t>수 </a:t>
                      </a:r>
                      <a:pPr indent="0" marL="0">
                        <a:buNone/>
                      </a:pPr>
                      <a:r>
                        <a:rPr lang="en-US" sz="1100" dirty="0">
                          <a:solidFill>
                            <a:srgbClr val="1F2937"/>
                          </a:solidFill>
                        </a:rPr>
                        <a:t>있는 </a:t>
                      </a:r>
                      <a:pPr indent="0" marL="0">
                        <a:buNone/>
                      </a:pPr>
                      <a:r>
                        <a:rPr lang="en-US" sz="1100" dirty="0">
                          <a:solidFill>
                            <a:srgbClr val="1F2937"/>
                          </a:solidFill>
                        </a:rPr>
                        <a:t>우려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홈 </a:t>
                      </a:r>
                      <a:pPr indent="0" marL="0">
                        <a:buNone/>
                      </a:pPr>
                      <a:r>
                        <a:rPr lang="en-US" sz="1100" dirty="0">
                          <a:solidFill>
                            <a:srgbClr val="1F2937"/>
                          </a:solidFill>
                        </a:rPr>
                        <a:t>및 </a:t>
                      </a:r>
                      <a:pPr indent="0" marL="0">
                        <a:buNone/>
                      </a:pPr>
                      <a:r>
                        <a:rPr lang="en-US" sz="1100" dirty="0">
                          <a:solidFill>
                            <a:srgbClr val="1F2937"/>
                          </a:solidFill>
                        </a:rPr>
                        <a:t>리포트 </a:t>
                      </a:r>
                      <a:pPr indent="0" marL="0">
                        <a:buNone/>
                      </a:pPr>
                      <a:r>
                        <a:rPr lang="en-US" sz="1100" dirty="0">
                          <a:solidFill>
                            <a:srgbClr val="1F2937"/>
                          </a:solidFill>
                        </a:rPr>
                        <a:t>확인 </a:t>
                      </a:r>
                      <a:pPr indent="0" marL="0">
                        <a:buNone/>
                      </a:pPr>
                      <a:r>
                        <a:rPr lang="en-US" sz="1100" dirty="0">
                          <a:solidFill>
                            <a:srgbClr val="1F2937"/>
                          </a:solidFill>
                        </a:rPr>
                        <a:t>시 </a:t>
                      </a:r>
                      <a:pPr indent="0" marL="0">
                        <a:buNone/>
                      </a:pPr>
                      <a:r>
                        <a:rPr lang="en-US" sz="1100" dirty="0">
                          <a:solidFill>
                            <a:srgbClr val="1F2937"/>
                          </a:solidFill>
                        </a:rPr>
                        <a:t>발생 </a:t>
                      </a:r>
                      <a:pPr indent="0" marL="0">
                        <a:buNone/>
                      </a:pPr>
                      <a:r>
                        <a:rPr lang="en-US" sz="1100" dirty="0">
                          <a:solidFill>
                            <a:srgbClr val="1F2937"/>
                          </a:solidFill>
                        </a:rPr>
                        <a:t>가능. </a:t>
                      </a:r>
                      <a:pPr indent="0" marL="0">
                        <a:buNone/>
                      </a:pPr>
                      <a:r>
                        <a:rPr lang="en-US" sz="1100" dirty="0">
                          <a:solidFill>
                            <a:srgbClr val="1F2937"/>
                          </a:solidFill>
                        </a:rPr>
                        <a:t>실제 </a:t>
                      </a:r>
                      <a:pPr indent="0" marL="0">
                        <a:buNone/>
                      </a:pPr>
                      <a:r>
                        <a:rPr lang="en-US" sz="1100" dirty="0">
                          <a:solidFill>
                            <a:srgbClr val="1F2937"/>
                          </a:solidFill>
                        </a:rPr>
                        <a:t>반응 </a:t>
                      </a:r>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목표를 </a:t>
                      </a:r>
                      <a:pPr indent="0" marL="0">
                        <a:buNone/>
                      </a:pPr>
                      <a:r>
                        <a:rPr lang="en-US" sz="1100" dirty="0">
                          <a:solidFill>
                            <a:srgbClr val="1F2937"/>
                          </a:solidFill>
                        </a:rPr>
                        <a:t>설정하지 </a:t>
                      </a:r>
                      <a:pPr indent="0" marL="0">
                        <a:buNone/>
                      </a:pPr>
                      <a:r>
                        <a:rPr lang="en-US" sz="1100" dirty="0">
                          <a:solidFill>
                            <a:srgbClr val="1F2937"/>
                          </a:solidFill>
                        </a:rPr>
                        <a:t>않았거나 </a:t>
                      </a:r>
                      <a:pPr indent="0" marL="0">
                        <a:buNone/>
                      </a:pPr>
                      <a:r>
                        <a:rPr lang="en-US" sz="1100" dirty="0">
                          <a:solidFill>
                            <a:srgbClr val="1F2937"/>
                          </a:solidFill>
                        </a:rPr>
                        <a:t>칼로리 </a:t>
                      </a:r>
                      <a:pPr indent="0" marL="0">
                        <a:buNone/>
                      </a:pPr>
                      <a:r>
                        <a:rPr lang="en-US" sz="1100" dirty="0">
                          <a:solidFill>
                            <a:srgbClr val="1F2937"/>
                          </a:solidFill>
                        </a:rPr>
                        <a:t>수치에 </a:t>
                      </a:r>
                      <a:pPr indent="0" marL="0">
                        <a:buNone/>
                      </a:pPr>
                      <a:r>
                        <a:rPr lang="en-US" sz="1100" dirty="0">
                          <a:solidFill>
                            <a:srgbClr val="1F2937"/>
                          </a:solidFill>
                        </a:rPr>
                        <a:t>부담을 </a:t>
                      </a:r>
                      <a:pPr indent="0" marL="0">
                        <a:buNone/>
                      </a:pPr>
                      <a:r>
                        <a:rPr lang="en-US" sz="1100" dirty="0">
                          <a:solidFill>
                            <a:srgbClr val="1F2937"/>
                          </a:solidFill>
                        </a:rPr>
                        <a:t>느끼는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PP-007</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기록을 </a:t>
                      </a:r>
                      <a:pPr indent="0" marL="0">
                        <a:buNone/>
                      </a:pPr>
                      <a:r>
                        <a:rPr lang="en-US" sz="1100" dirty="0">
                          <a:solidFill>
                            <a:srgbClr val="1F2937"/>
                          </a:solidFill>
                        </a:rPr>
                        <a:t>수정하거나 </a:t>
                      </a:r>
                      <a:pPr indent="0" marL="0">
                        <a:buNone/>
                      </a:pPr>
                      <a:r>
                        <a:rPr lang="en-US" sz="1100" dirty="0">
                          <a:solidFill>
                            <a:srgbClr val="1F2937"/>
                          </a:solidFill>
                        </a:rPr>
                        <a:t>삭제하기 </a:t>
                      </a:r>
                      <a:pPr indent="0" marL="0">
                        <a:buNone/>
                      </a:pPr>
                      <a:r>
                        <a:rPr lang="en-US" sz="1100" dirty="0">
                          <a:solidFill>
                            <a:srgbClr val="1F2937"/>
                          </a:solidFill>
                        </a:rPr>
                        <a:t>어렵고, </a:t>
                      </a:r>
                      <a:pPr indent="0" marL="0">
                        <a:buNone/>
                      </a:pPr>
                      <a:r>
                        <a:rPr lang="en-US" sz="1100" dirty="0">
                          <a:solidFill>
                            <a:srgbClr val="1F2937"/>
                          </a:solidFill>
                        </a:rPr>
                        <a:t>저장 </a:t>
                      </a:r>
                      <a:pPr indent="0" marL="0">
                        <a:buNone/>
                      </a:pPr>
                      <a:r>
                        <a:rPr lang="en-US" sz="1100" dirty="0">
                          <a:solidFill>
                            <a:srgbClr val="1F2937"/>
                          </a:solidFill>
                        </a:rPr>
                        <a:t>여부를 </a:t>
                      </a:r>
                      <a:pPr indent="0" marL="0">
                        <a:buNone/>
                      </a:pPr>
                      <a:r>
                        <a:rPr lang="en-US" sz="1100" dirty="0">
                          <a:solidFill>
                            <a:srgbClr val="1F2937"/>
                          </a:solidFill>
                        </a:rPr>
                        <a:t>알기 </a:t>
                      </a:r>
                      <a:pPr indent="0" marL="0">
                        <a:buNone/>
                      </a:pPr>
                      <a:r>
                        <a:rPr lang="en-US" sz="1100" dirty="0">
                          <a:solidFill>
                            <a:srgbClr val="1F2937"/>
                          </a:solidFill>
                        </a:rPr>
                        <a:t>어려운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H</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입력 </a:t>
                      </a:r>
                      <a:pPr indent="0" marL="0">
                        <a:buNone/>
                      </a:pPr>
                      <a:r>
                        <a:rPr lang="en-US" sz="1100" dirty="0">
                          <a:solidFill>
                            <a:srgbClr val="1F2937"/>
                          </a:solidFill>
                        </a:rPr>
                        <a:t>오류 </a:t>
                      </a:r>
                      <a:pPr indent="0" marL="0">
                        <a:buNone/>
                      </a:pPr>
                      <a:r>
                        <a:rPr lang="en-US" sz="1100" dirty="0">
                          <a:solidFill>
                            <a:srgbClr val="1F2937"/>
                          </a:solidFill>
                        </a:rPr>
                        <a:t>또는 </a:t>
                      </a:r>
                      <a:pPr indent="0" marL="0">
                        <a:buNone/>
                      </a:pPr>
                      <a:r>
                        <a:rPr lang="en-US" sz="1100" dirty="0">
                          <a:solidFill>
                            <a:srgbClr val="1F2937"/>
                          </a:solidFill>
                        </a:rPr>
                        <a:t>네트워크 </a:t>
                      </a:r>
                      <a:pPr indent="0" marL="0">
                        <a:buNone/>
                      </a:pPr>
                      <a:r>
                        <a:rPr lang="en-US" sz="1100" dirty="0">
                          <a:solidFill>
                            <a:srgbClr val="1F2937"/>
                          </a:solidFill>
                        </a:rPr>
                        <a:t>오류가 </a:t>
                      </a:r>
                      <a:pPr indent="0" marL="0">
                        <a:buNone/>
                      </a:pPr>
                      <a:r>
                        <a:rPr lang="en-US" sz="1100" dirty="0">
                          <a:solidFill>
                            <a:srgbClr val="1F2937"/>
                          </a:solidFill>
                        </a:rPr>
                        <a:t>발생할 </a:t>
                      </a:r>
                      <a:pPr indent="0" marL="0">
                        <a:buNone/>
                      </a:pPr>
                      <a:r>
                        <a:rPr lang="en-US" sz="1100" dirty="0">
                          <a:solidFill>
                            <a:srgbClr val="1F2937"/>
                          </a:solidFill>
                        </a:rPr>
                        <a:t>때 </a:t>
                      </a:r>
                      <a:pPr indent="0" marL="0">
                        <a:buNone/>
                      </a:pPr>
                      <a:r>
                        <a:rPr lang="en-US" sz="1100" dirty="0">
                          <a:solidFill>
                            <a:srgbClr val="1F2937"/>
                          </a:solidFill>
                        </a:rPr>
                        <a:t>영향. </a:t>
                      </a:r>
                      <a:pPr indent="0" marL="0">
                        <a:buNone/>
                      </a:pPr>
                      <a:r>
                        <a:rPr lang="en-US" sz="1100" dirty="0">
                          <a:solidFill>
                            <a:srgbClr val="1F2937"/>
                          </a:solidFill>
                        </a:rPr>
                        <a:t>발생 </a:t>
                      </a:r>
                      <a:pPr indent="0" marL="0">
                        <a:buNone/>
                      </a:pPr>
                      <a:r>
                        <a:rPr lang="en-US" sz="1100" dirty="0">
                          <a:solidFill>
                            <a:srgbClr val="1F2937"/>
                          </a:solidFill>
                        </a:rPr>
                        <a:t>빈도 </a:t>
                      </a:r>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수정·삭제가 </a:t>
                      </a:r>
                      <a:pPr indent="0" marL="0">
                        <a:buNone/>
                      </a:pPr>
                      <a:r>
                        <a:rPr lang="en-US" sz="1100" dirty="0">
                          <a:solidFill>
                            <a:srgbClr val="1F2937"/>
                          </a:solidFill>
                        </a:rPr>
                        <a:t>필요하거나 </a:t>
                      </a:r>
                      <a:pPr indent="0" marL="0">
                        <a:buNone/>
                      </a:pPr>
                      <a:r>
                        <a:rPr lang="en-US" sz="1100" dirty="0">
                          <a:solidFill>
                            <a:srgbClr val="1F2937"/>
                          </a:solidFill>
                        </a:rPr>
                        <a:t>저장 </a:t>
                      </a:r>
                      <a:pPr indent="0" marL="0">
                        <a:buNone/>
                      </a:pPr>
                      <a:r>
                        <a:rPr lang="en-US" sz="1100" dirty="0">
                          <a:solidFill>
                            <a:srgbClr val="1F2937"/>
                          </a:solidFill>
                        </a:rPr>
                        <a:t>결과가 </a:t>
                      </a:r>
                      <a:pPr indent="0" marL="0">
                        <a:buNone/>
                      </a:pPr>
                      <a:r>
                        <a:rPr lang="en-US" sz="1100" dirty="0">
                          <a:solidFill>
                            <a:srgbClr val="1F2937"/>
                          </a:solidFill>
                        </a:rPr>
                        <a:t>불확실한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PP-008</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과거 </a:t>
                      </a:r>
                      <a:pPr indent="0" marL="0">
                        <a:buNone/>
                      </a:pPr>
                      <a:r>
                        <a:rPr lang="en-US" sz="1100" dirty="0">
                          <a:solidFill>
                            <a:srgbClr val="1F2937"/>
                          </a:solidFill>
                        </a:rPr>
                        <a:t>날짜에 </a:t>
                      </a:r>
                      <a:pPr indent="0" marL="0">
                        <a:buNone/>
                      </a:pPr>
                      <a:r>
                        <a:rPr lang="en-US" sz="1100" dirty="0">
                          <a:solidFill>
                            <a:srgbClr val="1F2937"/>
                          </a:solidFill>
                        </a:rPr>
                        <a:t>먹은 </a:t>
                      </a:r>
                      <a:pPr indent="0" marL="0">
                        <a:buNone/>
                      </a:pPr>
                      <a:r>
                        <a:rPr lang="en-US" sz="1100" dirty="0">
                          <a:solidFill>
                            <a:srgbClr val="1F2937"/>
                          </a:solidFill>
                        </a:rPr>
                        <a:t>음식을 </a:t>
                      </a:r>
                      <a:pPr indent="0" marL="0">
                        <a:buNone/>
                      </a:pPr>
                      <a:r>
                        <a:rPr lang="en-US" sz="1100" dirty="0">
                          <a:solidFill>
                            <a:srgbClr val="1F2937"/>
                          </a:solidFill>
                        </a:rPr>
                        <a:t>뒤늦게 </a:t>
                      </a:r>
                      <a:pPr indent="0" marL="0">
                        <a:buNone/>
                      </a:pPr>
                      <a:r>
                        <a:rPr lang="en-US" sz="1100" dirty="0">
                          <a:solidFill>
                            <a:srgbClr val="1F2937"/>
                          </a:solidFill>
                        </a:rPr>
                        <a:t>기록하기 </a:t>
                      </a:r>
                      <a:pPr indent="0" marL="0">
                        <a:buNone/>
                      </a:pPr>
                      <a:r>
                        <a:rPr lang="en-US" sz="1100" dirty="0">
                          <a:solidFill>
                            <a:srgbClr val="1F2937"/>
                          </a:solidFill>
                        </a:rPr>
                        <a:t>어렵거나 </a:t>
                      </a:r>
                      <a:pPr indent="0" marL="0">
                        <a:buNone/>
                      </a:pPr>
                      <a:r>
                        <a:rPr lang="en-US" sz="1100" dirty="0">
                          <a:solidFill>
                            <a:srgbClr val="1F2937"/>
                          </a:solidFill>
                        </a:rPr>
                        <a:t>날짜 </a:t>
                      </a:r>
                      <a:pPr indent="0" marL="0">
                        <a:buNone/>
                      </a:pPr>
                      <a:r>
                        <a:rPr lang="en-US" sz="1100" dirty="0">
                          <a:solidFill>
                            <a:srgbClr val="1F2937"/>
                          </a:solidFill>
                        </a:rPr>
                        <a:t>기준이 </a:t>
                      </a:r>
                      <a:pPr indent="0" marL="0">
                        <a:buNone/>
                      </a:pPr>
                      <a:r>
                        <a:rPr lang="en-US" sz="1100" dirty="0">
                          <a:solidFill>
                            <a:srgbClr val="1F2937"/>
                          </a:solidFill>
                        </a:rPr>
                        <a:t>혼란스러운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과거 </a:t>
                      </a:r>
                      <a:pPr indent="0" marL="0">
                        <a:buNone/>
                      </a:pPr>
                      <a:r>
                        <a:rPr lang="en-US" sz="1100" dirty="0">
                          <a:solidFill>
                            <a:srgbClr val="1F2937"/>
                          </a:solidFill>
                        </a:rPr>
                        <a:t>기록을 </a:t>
                      </a:r>
                      <a:pPr indent="0" marL="0">
                        <a:buNone/>
                      </a:pPr>
                      <a:r>
                        <a:rPr lang="en-US" sz="1100" dirty="0">
                          <a:solidFill>
                            <a:srgbClr val="1F2937"/>
                          </a:solidFill>
                        </a:rPr>
                        <a:t>추가할 </a:t>
                      </a:r>
                      <a:pPr indent="0" marL="0">
                        <a:buNone/>
                      </a:pPr>
                      <a:r>
                        <a:rPr lang="en-US" sz="1100" dirty="0">
                          <a:solidFill>
                            <a:srgbClr val="1F2937"/>
                          </a:solidFill>
                        </a:rPr>
                        <a:t>때 </a:t>
                      </a:r>
                      <a:pPr indent="0" marL="0">
                        <a:buNone/>
                      </a:pPr>
                      <a:r>
                        <a:rPr lang="en-US" sz="1100" dirty="0">
                          <a:solidFill>
                            <a:srgbClr val="1F2937"/>
                          </a:solidFill>
                        </a:rPr>
                        <a:t>발생 </a:t>
                      </a:r>
                      <a:pPr indent="0" marL="0">
                        <a:buNone/>
                      </a:pPr>
                      <a:r>
                        <a:rPr lang="en-US" sz="1100" dirty="0">
                          <a:solidFill>
                            <a:srgbClr val="1F2937"/>
                          </a:solidFill>
                        </a:rPr>
                        <a:t>가능. </a:t>
                      </a:r>
                      <a:pPr indent="0" marL="0">
                        <a:buNone/>
                      </a:pPr>
                      <a:r>
                        <a:rPr lang="en-US" sz="1100" dirty="0">
                          <a:solidFill>
                            <a:srgbClr val="1F2937"/>
                          </a:solidFill>
                        </a:rPr>
                        <a:t>실제 </a:t>
                      </a:r>
                      <a:pPr indent="0" marL="0">
                        <a:buNone/>
                      </a:pPr>
                      <a:r>
                        <a:rPr lang="en-US" sz="1100" dirty="0">
                          <a:solidFill>
                            <a:srgbClr val="1F2937"/>
                          </a:solidFill>
                        </a:rPr>
                        <a:t>빈도 </a:t>
                      </a:r>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식사 </a:t>
                      </a:r>
                      <a:pPr indent="0" marL="0">
                        <a:buNone/>
                      </a:pPr>
                      <a:r>
                        <a:rPr lang="en-US" sz="1100" dirty="0">
                          <a:solidFill>
                            <a:srgbClr val="1F2937"/>
                          </a:solidFill>
                        </a:rPr>
                        <a:t>후 </a:t>
                      </a:r>
                      <a:pPr indent="0" marL="0">
                        <a:buNone/>
                      </a:pPr>
                      <a:r>
                        <a:rPr lang="en-US" sz="1100" dirty="0">
                          <a:solidFill>
                            <a:srgbClr val="1F2937"/>
                          </a:solidFill>
                        </a:rPr>
                        <a:t>나중에 </a:t>
                      </a:r>
                      <a:pPr indent="0" marL="0">
                        <a:buNone/>
                      </a:pPr>
                      <a:r>
                        <a:rPr lang="en-US" sz="1100" dirty="0">
                          <a:solidFill>
                            <a:srgbClr val="1F2937"/>
                          </a:solidFill>
                        </a:rPr>
                        <a:t>기록하거나 </a:t>
                      </a:r>
                      <a:pPr indent="0" marL="0">
                        <a:buNone/>
                      </a:pPr>
                      <a:r>
                        <a:rPr lang="en-US" sz="1100" dirty="0">
                          <a:solidFill>
                            <a:srgbClr val="1F2937"/>
                          </a:solidFill>
                        </a:rPr>
                        <a:t>섭취 </a:t>
                      </a:r>
                      <a:pPr indent="0" marL="0">
                        <a:buNone/>
                      </a:pPr>
                      <a:r>
                        <a:rPr lang="en-US" sz="1100" dirty="0">
                          <a:solidFill>
                            <a:srgbClr val="1F2937"/>
                          </a:solidFill>
                        </a:rPr>
                        <a:t>날짜와 </a:t>
                      </a:r>
                      <a:pPr indent="0" marL="0">
                        <a:buNone/>
                      </a:pPr>
                      <a:r>
                        <a:rPr lang="en-US" sz="1100" dirty="0">
                          <a:solidFill>
                            <a:srgbClr val="1F2937"/>
                          </a:solidFill>
                        </a:rPr>
                        <a:t>입력 </a:t>
                      </a:r>
                      <a:pPr indent="0" marL="0">
                        <a:buNone/>
                      </a:pPr>
                      <a:r>
                        <a:rPr lang="en-US" sz="1100" dirty="0">
                          <a:solidFill>
                            <a:srgbClr val="1F2937"/>
                          </a:solidFill>
                        </a:rPr>
                        <a:t>날짜가 </a:t>
                      </a:r>
                      <a:pPr indent="0" marL="0">
                        <a:buNone/>
                      </a:pPr>
                      <a:r>
                        <a:rPr lang="en-US" sz="1100" dirty="0">
                          <a:solidFill>
                            <a:srgbClr val="1F2937"/>
                          </a:solidFill>
                        </a:rPr>
                        <a:t>다른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PP-009</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기록이 </a:t>
                      </a:r>
                      <a:pPr indent="0" marL="0">
                        <a:buNone/>
                      </a:pPr>
                      <a:r>
                        <a:rPr lang="en-US" sz="1100" dirty="0">
                          <a:solidFill>
                            <a:srgbClr val="1F2937"/>
                          </a:solidFill>
                        </a:rPr>
                        <a:t>없는 </a:t>
                      </a:r>
                      <a:pPr indent="0" marL="0">
                        <a:buNone/>
                      </a:pPr>
                      <a:r>
                        <a:rPr lang="en-US" sz="1100" dirty="0">
                          <a:solidFill>
                            <a:srgbClr val="1F2937"/>
                          </a:solidFill>
                        </a:rPr>
                        <a:t>날이나 </a:t>
                      </a:r>
                      <a:pPr indent="0" marL="0">
                        <a:buNone/>
                      </a:pPr>
                      <a:r>
                        <a:rPr lang="en-US" sz="1100" dirty="0">
                          <a:solidFill>
                            <a:srgbClr val="1F2937"/>
                          </a:solidFill>
                        </a:rPr>
                        <a:t>영양 </a:t>
                      </a:r>
                      <a:pPr indent="0" marL="0">
                        <a:buNone/>
                      </a:pPr>
                      <a:r>
                        <a:rPr lang="en-US" sz="1100" dirty="0">
                          <a:solidFill>
                            <a:srgbClr val="1F2937"/>
                          </a:solidFill>
                        </a:rPr>
                        <a:t>정보가 </a:t>
                      </a:r>
                      <a:pPr indent="0" marL="0">
                        <a:buNone/>
                      </a:pPr>
                      <a:r>
                        <a:rPr lang="en-US" sz="1100" dirty="0">
                          <a:solidFill>
                            <a:srgbClr val="1F2937"/>
                          </a:solidFill>
                        </a:rPr>
                        <a:t>누락된 </a:t>
                      </a:r>
                      <a:pPr indent="0" marL="0">
                        <a:buNone/>
                      </a:pPr>
                      <a:r>
                        <a:rPr lang="en-US" sz="1100" dirty="0">
                          <a:solidFill>
                            <a:srgbClr val="1F2937"/>
                          </a:solidFill>
                        </a:rPr>
                        <a:t>날이 </a:t>
                      </a:r>
                      <a:pPr indent="0" marL="0">
                        <a:buNone/>
                      </a:pPr>
                      <a:r>
                        <a:rPr lang="en-US" sz="1100" dirty="0">
                          <a:solidFill>
                            <a:srgbClr val="1F2937"/>
                          </a:solidFill>
                        </a:rPr>
                        <a:t>0으로 </a:t>
                      </a:r>
                      <a:pPr indent="0" marL="0">
                        <a:buNone/>
                      </a:pPr>
                      <a:r>
                        <a:rPr lang="en-US" sz="1100" dirty="0">
                          <a:solidFill>
                            <a:srgbClr val="1F2937"/>
                          </a:solidFill>
                        </a:rPr>
                        <a:t>오해될 </a:t>
                      </a:r>
                      <a:pPr indent="0" marL="0">
                        <a:buNone/>
                      </a:pPr>
                      <a:r>
                        <a:rPr lang="en-US" sz="1100" dirty="0">
                          <a:solidFill>
                            <a:srgbClr val="1F2937"/>
                          </a:solidFill>
                        </a:rPr>
                        <a:t>수 </a:t>
                      </a:r>
                      <a:pPr indent="0" marL="0">
                        <a:buNone/>
                      </a:pPr>
                      <a:r>
                        <a:rPr lang="en-US" sz="1100" dirty="0">
                          <a:solidFill>
                            <a:srgbClr val="1F2937"/>
                          </a:solidFill>
                        </a:rPr>
                        <a:t>있는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H</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주간 </a:t>
                      </a:r>
                      <a:pPr indent="0" marL="0">
                        <a:buNone/>
                      </a:pPr>
                      <a:r>
                        <a:rPr lang="en-US" sz="1100" dirty="0">
                          <a:solidFill>
                            <a:srgbClr val="1F2937"/>
                          </a:solidFill>
                        </a:rPr>
                        <a:t>리포트와 </a:t>
                      </a:r>
                      <a:pPr indent="0" marL="0">
                        <a:buNone/>
                      </a:pPr>
                      <a:r>
                        <a:rPr lang="en-US" sz="1100" dirty="0">
                          <a:solidFill>
                            <a:srgbClr val="1F2937"/>
                          </a:solidFill>
                        </a:rPr>
                        <a:t>영양 </a:t>
                      </a:r>
                      <a:pPr indent="0" marL="0">
                        <a:buNone/>
                      </a:pPr>
                      <a:r>
                        <a:rPr lang="en-US" sz="1100" dirty="0">
                          <a:solidFill>
                            <a:srgbClr val="1F2937"/>
                          </a:solidFill>
                        </a:rPr>
                        <a:t>합계를 </a:t>
                      </a:r>
                      <a:pPr indent="0" marL="0">
                        <a:buNone/>
                      </a:pPr>
                      <a:r>
                        <a:rPr lang="en-US" sz="1100" dirty="0">
                          <a:solidFill>
                            <a:srgbClr val="1F2937"/>
                          </a:solidFill>
                        </a:rPr>
                        <a:t>확인할 </a:t>
                      </a:r>
                      <a:pPr indent="0" marL="0">
                        <a:buNone/>
                      </a:pPr>
                      <a:r>
                        <a:rPr lang="en-US" sz="1100" dirty="0">
                          <a:solidFill>
                            <a:srgbClr val="1F2937"/>
                          </a:solidFill>
                        </a:rPr>
                        <a:t>때 </a:t>
                      </a:r>
                      <a:pPr indent="0" marL="0">
                        <a:buNone/>
                      </a:pPr>
                      <a:r>
                        <a:rPr lang="en-US" sz="1100" dirty="0">
                          <a:solidFill>
                            <a:srgbClr val="1F2937"/>
                          </a:solidFill>
                        </a:rPr>
                        <a:t>발생 </a:t>
                      </a:r>
                      <a:pPr indent="0" marL="0">
                        <a:buNone/>
                      </a:pPr>
                      <a:r>
                        <a:rPr lang="en-US" sz="1100" dirty="0">
                          <a:solidFill>
                            <a:srgbClr val="1F2937"/>
                          </a:solidFill>
                        </a:rPr>
                        <a:t>가능. </a:t>
                      </a:r>
                      <a:pPr indent="0" marL="0">
                        <a:buNone/>
                      </a:pPr>
                      <a:r>
                        <a:rPr lang="en-US" sz="1100" dirty="0">
                          <a:solidFill>
                            <a:srgbClr val="1F2937"/>
                          </a:solidFill>
                        </a:rPr>
                        <a:t>실제 </a:t>
                      </a:r>
                      <a:pPr indent="0" marL="0">
                        <a:buNone/>
                      </a:pPr>
                      <a:r>
                        <a:rPr lang="en-US" sz="1100" dirty="0">
                          <a:solidFill>
                            <a:srgbClr val="1F2937"/>
                          </a:solidFill>
                        </a:rPr>
                        <a:t>오해 </a:t>
                      </a:r>
                      <a:pPr indent="0" marL="0">
                        <a:buNone/>
                      </a:pPr>
                      <a:r>
                        <a:rPr lang="en-US" sz="1100" dirty="0">
                          <a:solidFill>
                            <a:srgbClr val="1F2937"/>
                          </a:solidFill>
                        </a:rPr>
                        <a:t>비율 </a:t>
                      </a:r>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일부 </a:t>
                      </a:r>
                      <a:pPr indent="0" marL="0">
                        <a:buNone/>
                      </a:pPr>
                      <a:r>
                        <a:rPr lang="en-US" sz="1100" dirty="0">
                          <a:solidFill>
                            <a:srgbClr val="1F2937"/>
                          </a:solidFill>
                        </a:rPr>
                        <a:t>날짜만 </a:t>
                      </a:r>
                      <a:pPr indent="0" marL="0">
                        <a:buNone/>
                      </a:pPr>
                      <a:r>
                        <a:rPr lang="en-US" sz="1100" dirty="0">
                          <a:solidFill>
                            <a:srgbClr val="1F2937"/>
                          </a:solidFill>
                        </a:rPr>
                        <a:t>기록했거나 </a:t>
                      </a:r>
                      <a:pPr indent="0" marL="0">
                        <a:buNone/>
                      </a:pPr>
                      <a:r>
                        <a:rPr lang="en-US" sz="1100" dirty="0">
                          <a:solidFill>
                            <a:srgbClr val="1F2937"/>
                          </a:solidFill>
                        </a:rPr>
                        <a:t>일부 </a:t>
                      </a:r>
                      <a:pPr indent="0" marL="0">
                        <a:buNone/>
                      </a:pPr>
                      <a:r>
                        <a:rPr lang="en-US" sz="1100" dirty="0">
                          <a:solidFill>
                            <a:srgbClr val="1F2937"/>
                          </a:solidFill>
                        </a:rPr>
                        <a:t>음식의 </a:t>
                      </a:r>
                      <a:pPr indent="0" marL="0">
                        <a:buNone/>
                      </a:pPr>
                      <a:r>
                        <a:rPr lang="en-US" sz="1100" dirty="0">
                          <a:solidFill>
                            <a:srgbClr val="1F2937"/>
                          </a:solidFill>
                        </a:rPr>
                        <a:t>영양 </a:t>
                      </a:r>
                      <a:pPr indent="0" marL="0">
                        <a:buNone/>
                      </a:pPr>
                      <a:r>
                        <a:rPr lang="en-US" sz="1100" dirty="0">
                          <a:solidFill>
                            <a:srgbClr val="1F2937"/>
                          </a:solidFill>
                        </a:rPr>
                        <a:t>정보가 </a:t>
                      </a:r>
                      <a:pPr indent="0" marL="0">
                        <a:buNone/>
                      </a:pPr>
                      <a:r>
                        <a:rPr lang="en-US" sz="1100" dirty="0">
                          <a:solidFill>
                            <a:srgbClr val="1F2937"/>
                          </a:solidFill>
                        </a:rPr>
                        <a:t>없는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PP-010</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계정 </a:t>
                      </a:r>
                      <a:pPr indent="0" marL="0">
                        <a:buNone/>
                      </a:pPr>
                      <a:r>
                        <a:rPr lang="en-US" sz="1100" dirty="0">
                          <a:solidFill>
                            <a:srgbClr val="1F2937"/>
                          </a:solidFill>
                        </a:rPr>
                        <a:t>생성, </a:t>
                      </a:r>
                      <a:pPr indent="0" marL="0">
                        <a:buNone/>
                      </a:pPr>
                      <a:r>
                        <a:rPr lang="en-US" sz="1100" dirty="0">
                          <a:solidFill>
                            <a:srgbClr val="1F2937"/>
                          </a:solidFill>
                        </a:rPr>
                        <a:t>로그인 </a:t>
                      </a:r>
                      <a:pPr indent="0" marL="0">
                        <a:buNone/>
                      </a:pPr>
                      <a:r>
                        <a:rPr lang="en-US" sz="1100" dirty="0">
                          <a:solidFill>
                            <a:srgbClr val="1F2937"/>
                          </a:solidFill>
                        </a:rPr>
                        <a:t>제공자 </a:t>
                      </a:r>
                      <a:pPr indent="0" marL="0">
                        <a:buNone/>
                      </a:pPr>
                      <a:r>
                        <a:rPr lang="en-US" sz="1100" dirty="0">
                          <a:solidFill>
                            <a:srgbClr val="1F2937"/>
                          </a:solidFill>
                        </a:rPr>
                        <a:t>선택, </a:t>
                      </a:r>
                      <a:pPr indent="0" marL="0">
                        <a:buNone/>
                      </a:pPr>
                      <a:r>
                        <a:rPr lang="en-US" sz="1100" dirty="0">
                          <a:solidFill>
                            <a:srgbClr val="1F2937"/>
                          </a:solidFill>
                        </a:rPr>
                        <a:t>계정 </a:t>
                      </a:r>
                      <a:pPr indent="0" marL="0">
                        <a:buNone/>
                      </a:pPr>
                      <a:r>
                        <a:rPr lang="en-US" sz="1100" dirty="0">
                          <a:solidFill>
                            <a:srgbClr val="1F2937"/>
                          </a:solidFill>
                        </a:rPr>
                        <a:t>연결 </a:t>
                      </a:r>
                      <a:pPr indent="0" marL="0">
                        <a:buNone/>
                      </a:pPr>
                      <a:r>
                        <a:rPr lang="en-US" sz="1100" dirty="0">
                          <a:solidFill>
                            <a:srgbClr val="1F2937"/>
                          </a:solidFill>
                        </a:rPr>
                        <a:t>방식이 </a:t>
                      </a:r>
                      <a:pPr indent="0" marL="0">
                        <a:buNone/>
                      </a:pPr>
                      <a:r>
                        <a:rPr lang="en-US" sz="1100" dirty="0">
                          <a:solidFill>
                            <a:srgbClr val="1F2937"/>
                          </a:solidFill>
                        </a:rPr>
                        <a:t>불명확한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첫 </a:t>
                      </a:r>
                      <a:pPr indent="0" marL="0">
                        <a:buNone/>
                      </a:pPr>
                      <a:r>
                        <a:rPr lang="en-US" sz="1100" dirty="0">
                          <a:solidFill>
                            <a:srgbClr val="1F2937"/>
                          </a:solidFill>
                        </a:rPr>
                        <a:t>실행 </a:t>
                      </a:r>
                      <a:pPr indent="0" marL="0">
                        <a:buNone/>
                      </a:pPr>
                      <a:r>
                        <a:rPr lang="en-US" sz="1100" dirty="0">
                          <a:solidFill>
                            <a:srgbClr val="1F2937"/>
                          </a:solidFill>
                        </a:rPr>
                        <a:t>및 </a:t>
                      </a:r>
                      <a:pPr indent="0" marL="0">
                        <a:buNone/>
                      </a:pPr>
                      <a:r>
                        <a:rPr lang="en-US" sz="1100" dirty="0">
                          <a:solidFill>
                            <a:srgbClr val="1F2937"/>
                          </a:solidFill>
                        </a:rPr>
                        <a:t>계정 </a:t>
                      </a:r>
                      <a:pPr indent="0" marL="0">
                        <a:buNone/>
                      </a:pPr>
                      <a:r>
                        <a:rPr lang="en-US" sz="1100" dirty="0">
                          <a:solidFill>
                            <a:srgbClr val="1F2937"/>
                          </a:solidFill>
                        </a:rPr>
                        <a:t>전환 </a:t>
                      </a:r>
                      <a:pPr indent="0" marL="0">
                        <a:buNone/>
                      </a:pPr>
                      <a:r>
                        <a:rPr lang="en-US" sz="1100" dirty="0">
                          <a:solidFill>
                            <a:srgbClr val="1F2937"/>
                          </a:solidFill>
                        </a:rPr>
                        <a:t>시 </a:t>
                      </a:r>
                      <a:pPr indent="0" marL="0">
                        <a:buNone/>
                      </a:pPr>
                      <a:r>
                        <a:rPr lang="en-US" sz="1100" dirty="0">
                          <a:solidFill>
                            <a:srgbClr val="1F2937"/>
                          </a:solidFill>
                        </a:rPr>
                        <a:t>발생 </a:t>
                      </a:r>
                      <a:pPr indent="0" marL="0">
                        <a:buNone/>
                      </a:pPr>
                      <a:r>
                        <a:rPr lang="en-US" sz="1100" dirty="0">
                          <a:solidFill>
                            <a:srgbClr val="1F2937"/>
                          </a:solidFill>
                        </a:rPr>
                        <a:t>가능. </a:t>
                      </a:r>
                      <a:pPr indent="0" marL="0">
                        <a:buNone/>
                      </a:pPr>
                      <a:r>
                        <a:rPr lang="en-US" sz="1100" dirty="0">
                          <a:solidFill>
                            <a:srgbClr val="1F2937"/>
                          </a:solidFill>
                        </a:rPr>
                        <a:t>실제 </a:t>
                      </a:r>
                      <a:pPr indent="0" marL="0">
                        <a:buNone/>
                      </a:pPr>
                      <a:r>
                        <a:rPr lang="en-US" sz="1100" dirty="0">
                          <a:solidFill>
                            <a:srgbClr val="1F2937"/>
                          </a:solidFill>
                        </a:rPr>
                        <a:t>이탈률 </a:t>
                      </a:r>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가입을 </a:t>
                      </a:r>
                      <a:pPr indent="0" marL="0">
                        <a:buNone/>
                      </a:pPr>
                      <a:r>
                        <a:rPr lang="en-US" sz="1100" dirty="0">
                          <a:solidFill>
                            <a:srgbClr val="1F2937"/>
                          </a:solidFill>
                        </a:rPr>
                        <a:t>미루거나 </a:t>
                      </a:r>
                      <a:pPr indent="0" marL="0">
                        <a:buNone/>
                      </a:pPr>
                      <a:r>
                        <a:rPr lang="en-US" sz="1100" dirty="0">
                          <a:solidFill>
                            <a:srgbClr val="1F2937"/>
                          </a:solidFill>
                        </a:rPr>
                        <a:t>게스트 </a:t>
                      </a:r>
                      <a:pPr indent="0" marL="0">
                        <a:buNone/>
                      </a:pPr>
                      <a:r>
                        <a:rPr lang="en-US" sz="1100" dirty="0">
                          <a:solidFill>
                            <a:srgbClr val="1F2937"/>
                          </a:solidFill>
                        </a:rPr>
                        <a:t>사용을 </a:t>
                      </a:r>
                      <a:pPr indent="0" marL="0">
                        <a:buNone/>
                      </a:pPr>
                      <a:r>
                        <a:rPr lang="en-US" sz="1100" dirty="0">
                          <a:solidFill>
                            <a:srgbClr val="1F2937"/>
                          </a:solidFill>
                        </a:rPr>
                        <a:t>원하는 </a:t>
                      </a:r>
                      <a:pPr indent="0" marL="0">
                        <a:buNone/>
                      </a:pPr>
                      <a:r>
                        <a:rPr lang="en-US" sz="1100" dirty="0">
                          <a:solidFill>
                            <a:srgbClr val="1F2937"/>
                          </a:solidFill>
                        </a:rPr>
                        <a:t>신규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PP-011</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검색어가 </a:t>
                      </a:r>
                      <a:pPr indent="0" marL="0">
                        <a:buNone/>
                      </a:pPr>
                      <a:r>
                        <a:rPr lang="en-US" sz="1100" dirty="0">
                          <a:solidFill>
                            <a:srgbClr val="1F2937"/>
                          </a:solidFill>
                        </a:rPr>
                        <a:t>외부 </a:t>
                      </a:r>
                      <a:pPr indent="0" marL="0">
                        <a:buNone/>
                      </a:pPr>
                      <a:r>
                        <a:rPr lang="en-US" sz="1100" dirty="0">
                          <a:solidFill>
                            <a:srgbClr val="1F2937"/>
                          </a:solidFill>
                        </a:rPr>
                        <a:t>음식 </a:t>
                      </a:r>
                      <a:pPr indent="0" marL="0">
                        <a:buNone/>
                      </a:pPr>
                      <a:r>
                        <a:rPr lang="en-US" sz="1100" dirty="0">
                          <a:solidFill>
                            <a:srgbClr val="1F2937"/>
                          </a:solidFill>
                        </a:rPr>
                        <a:t>데이터 </a:t>
                      </a:r>
                      <a:pPr indent="0" marL="0">
                        <a:buNone/>
                      </a:pPr>
                      <a:r>
                        <a:rPr lang="en-US" sz="1100" dirty="0">
                          <a:solidFill>
                            <a:srgbClr val="1F2937"/>
                          </a:solidFill>
                        </a:rPr>
                        <a:t>공급자에게 </a:t>
                      </a:r>
                      <a:pPr indent="0" marL="0">
                        <a:buNone/>
                      </a:pPr>
                      <a:r>
                        <a:rPr lang="en-US" sz="1100" dirty="0">
                          <a:solidFill>
                            <a:srgbClr val="1F2937"/>
                          </a:solidFill>
                        </a:rPr>
                        <a:t>전달될 </a:t>
                      </a:r>
                      <a:pPr indent="0" marL="0">
                        <a:buNone/>
                      </a:pPr>
                      <a:r>
                        <a:rPr lang="en-US" sz="1100" dirty="0">
                          <a:solidFill>
                            <a:srgbClr val="1F2937"/>
                          </a:solidFill>
                        </a:rPr>
                        <a:t>수 </a:t>
                      </a:r>
                      <a:pPr indent="0" marL="0">
                        <a:buNone/>
                      </a:pPr>
                      <a:r>
                        <a:rPr lang="en-US" sz="1100" dirty="0">
                          <a:solidFill>
                            <a:srgbClr val="1F2937"/>
                          </a:solidFill>
                        </a:rPr>
                        <a:t>있다는 </a:t>
                      </a:r>
                      <a:pPr indent="0" marL="0">
                        <a:buNone/>
                      </a:pPr>
                      <a:r>
                        <a:rPr lang="en-US" sz="1100" dirty="0">
                          <a:solidFill>
                            <a:srgbClr val="1F2937"/>
                          </a:solidFill>
                        </a:rPr>
                        <a:t>개인정보 </a:t>
                      </a:r>
                      <a:pPr indent="0" marL="0">
                        <a:buNone/>
                      </a:pPr>
                      <a:r>
                        <a:rPr lang="en-US" sz="1100" dirty="0">
                          <a:solidFill>
                            <a:srgbClr val="1F2937"/>
                          </a:solidFill>
                        </a:rPr>
                        <a:t>우려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M</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외부 </a:t>
                      </a:r>
                      <a:pPr indent="0" marL="0">
                        <a:buNone/>
                      </a:pPr>
                      <a:r>
                        <a:rPr lang="en-US" sz="1100" dirty="0">
                          <a:solidFill>
                            <a:srgbClr val="1F2937"/>
                          </a:solidFill>
                        </a:rPr>
                        <a:t>검색 </a:t>
                      </a:r>
                      <a:pPr indent="0" marL="0">
                        <a:buNone/>
                      </a:pPr>
                      <a:r>
                        <a:rPr lang="en-US" sz="1100" dirty="0">
                          <a:solidFill>
                            <a:srgbClr val="1F2937"/>
                          </a:solidFill>
                        </a:rPr>
                        <a:t>API를 </a:t>
                      </a:r>
                      <a:pPr indent="0" marL="0">
                        <a:buNone/>
                      </a:pPr>
                      <a:r>
                        <a:rPr lang="en-US" sz="1100" dirty="0">
                          <a:solidFill>
                            <a:srgbClr val="1F2937"/>
                          </a:solidFill>
                        </a:rPr>
                        <a:t>사용하는 </a:t>
                      </a:r>
                      <a:pPr indent="0" marL="0">
                        <a:buNone/>
                      </a:pPr>
                      <a:r>
                        <a:rPr lang="en-US" sz="1100" dirty="0">
                          <a:solidFill>
                            <a:srgbClr val="1F2937"/>
                          </a:solidFill>
                        </a:rPr>
                        <a:t>검색 </a:t>
                      </a:r>
                      <a:pPr indent="0" marL="0">
                        <a:buNone/>
                      </a:pPr>
                      <a:r>
                        <a:rPr lang="en-US" sz="1100" dirty="0">
                          <a:solidFill>
                            <a:srgbClr val="1F2937"/>
                          </a:solidFill>
                        </a:rPr>
                        <a:t>요청 </a:t>
                      </a:r>
                      <a:pPr indent="0" marL="0">
                        <a:buNone/>
                      </a:pPr>
                      <a:r>
                        <a:rPr lang="en-US" sz="1100" dirty="0">
                          <a:solidFill>
                            <a:srgbClr val="1F2937"/>
                          </a:solidFill>
                        </a:rPr>
                        <a:t>시 </a:t>
                      </a:r>
                      <a:pPr indent="0" marL="0">
                        <a:buNone/>
                      </a:pPr>
                      <a:r>
                        <a:rPr lang="en-US" sz="1100" dirty="0">
                          <a:solidFill>
                            <a:srgbClr val="1F2937"/>
                          </a:solidFill>
                        </a:rPr>
                        <a:t>발생 </a:t>
                      </a:r>
                      <a:pPr indent="0" marL="0">
                        <a:buNone/>
                      </a:pPr>
                      <a:r>
                        <a:rPr lang="en-US" sz="1100" dirty="0">
                          <a:solidFill>
                            <a:srgbClr val="1F2937"/>
                          </a:solidFill>
                        </a:rPr>
                        <a:t>가능. </a:t>
                      </a:r>
                      <a:pPr indent="0" marL="0">
                        <a:buNone/>
                      </a:pPr>
                      <a:r>
                        <a:rPr lang="en-US" sz="1100" dirty="0">
                          <a:solidFill>
                            <a:srgbClr val="1F2937"/>
                          </a:solidFill>
                        </a:rPr>
                        <a:t>공급자 </a:t>
                      </a:r>
                      <a:pPr indent="0" marL="0">
                        <a:buNone/>
                      </a:pPr>
                      <a:r>
                        <a:rPr lang="en-US" sz="1100" dirty="0">
                          <a:solidFill>
                            <a:srgbClr val="1F2937"/>
                          </a:solidFill>
                        </a:rPr>
                        <a:t>처리 </a:t>
                      </a:r>
                      <a:pPr indent="0" marL="0">
                        <a:buNone/>
                      </a:pPr>
                      <a:r>
                        <a:rPr lang="en-US" sz="1100" dirty="0">
                          <a:solidFill>
                            <a:srgbClr val="1F2937"/>
                          </a:solidFill>
                        </a:rPr>
                        <a:t>조건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외부 </a:t>
                      </a:r>
                      <a:pPr indent="0" marL="0">
                        <a:buNone/>
                      </a:pPr>
                      <a:r>
                        <a:rPr lang="en-US" sz="1100" dirty="0">
                          <a:solidFill>
                            <a:srgbClr val="1F2937"/>
                          </a:solidFill>
                        </a:rPr>
                        <a:t>데이터 </a:t>
                      </a:r>
                      <a:pPr indent="0" marL="0">
                        <a:buNone/>
                      </a:pPr>
                      <a:r>
                        <a:rPr lang="en-US" sz="1100" dirty="0">
                          <a:solidFill>
                            <a:srgbClr val="1F2937"/>
                          </a:solidFill>
                        </a:rPr>
                        <a:t>검색을 </a:t>
                      </a:r>
                      <a:pPr indent="0" marL="0">
                        <a:buNone/>
                      </a:pPr>
                      <a:r>
                        <a:rPr lang="en-US" sz="1100" dirty="0">
                          <a:solidFill>
                            <a:srgbClr val="1F2937"/>
                          </a:solidFill>
                        </a:rPr>
                        <a:t>이용하는 </a:t>
                      </a:r>
                      <a:pPr indent="0" marL="0">
                        <a:buNone/>
                      </a:pPr>
                      <a:r>
                        <a:rPr lang="en-US" sz="1100" dirty="0">
                          <a:solidFill>
                            <a:srgbClr val="1F2937"/>
                          </a:solidFill>
                        </a:rPr>
                        <a:t>모든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3.2 사용자 페인 포인트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583200"/>
                <a:gridCol w="2332800"/>
                <a:gridCol w="648000"/>
                <a:gridCol w="2332800"/>
                <a:gridCol w="2332800"/>
              </a:tblGrid>
              <a:tr h="0">
                <a:tc>
                  <a:txBody>
                    <a:bodyPr/>
                    <a:lstStyle/>
                    <a:p>
                      <a:pPr indent="0" marL="0">
                        <a:buNone/>
                      </a:pPr>
                      <a:r>
                        <a:rPr lang="en-US" sz="1200" b="1" dirty="0">
                          <a:solidFill>
                            <a:srgbClr val="FFFFFF"/>
                          </a:solidFill>
                        </a:rPr>
                        <a:t>페인 </a:t>
                      </a:r>
                      <a:pPr indent="0" marL="0">
                        <a:buNone/>
                      </a:pPr>
                      <a:r>
                        <a:rPr lang="en-US" sz="1200" b="1" dirty="0">
                          <a:solidFill>
                            <a:srgbClr val="FFFFFF"/>
                          </a:solidFill>
                        </a:rPr>
                        <a:t>포인트 </a:t>
                      </a:r>
                      <a:pPr indent="0" marL="0">
                        <a:buNone/>
                      </a:pPr>
                      <a:r>
                        <a:rPr lang="en-US" sz="1200" b="1" dirty="0">
                          <a:solidFill>
                            <a:srgbClr val="FFFFFF"/>
                          </a:solidFill>
                        </a:rPr>
                        <a:t>ID</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페인 </a:t>
                      </a:r>
                      <a:pPr indent="0" marL="0">
                        <a:buNone/>
                      </a:pPr>
                      <a:r>
                        <a:rPr lang="en-US" sz="1200" b="1" dirty="0">
                          <a:solidFill>
                            <a:srgbClr val="FFFFFF"/>
                          </a:solidFill>
                        </a:rPr>
                        <a:t>포인트명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심각도(H/M/L)</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발생 </a:t>
                      </a:r>
                      <a:pPr indent="0" marL="0">
                        <a:buNone/>
                      </a:pPr>
                      <a:r>
                        <a:rPr lang="en-US" sz="1200" b="1" dirty="0">
                          <a:solidFill>
                            <a:srgbClr val="FFFFFF"/>
                          </a:solidFill>
                        </a:rPr>
                        <a:t>빈도</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영향 </a:t>
                      </a:r>
                      <a:pPr indent="0" marL="0">
                        <a:buNone/>
                      </a:pPr>
                      <a:r>
                        <a:rPr lang="en-US" sz="1200" b="1" dirty="0">
                          <a:solidFill>
                            <a:srgbClr val="FFFFFF"/>
                          </a:solidFill>
                        </a:rPr>
                        <a:t>대상</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PP-012</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네트워크 </a:t>
                      </a:r>
                      <a:pPr indent="0" marL="0">
                        <a:buNone/>
                      </a:pPr>
                      <a:r>
                        <a:rPr lang="en-US" sz="1100" dirty="0">
                          <a:solidFill>
                            <a:srgbClr val="1F2937"/>
                          </a:solidFill>
                        </a:rPr>
                        <a:t>오류로 </a:t>
                      </a:r>
                      <a:pPr indent="0" marL="0">
                        <a:buNone/>
                      </a:pPr>
                      <a:r>
                        <a:rPr lang="en-US" sz="1100" dirty="0">
                          <a:solidFill>
                            <a:srgbClr val="1F2937"/>
                          </a:solidFill>
                        </a:rPr>
                        <a:t>입력 </a:t>
                      </a:r>
                      <a:pPr indent="0" marL="0">
                        <a:buNone/>
                      </a:pPr>
                      <a:r>
                        <a:rPr lang="en-US" sz="1100" dirty="0">
                          <a:solidFill>
                            <a:srgbClr val="1F2937"/>
                          </a:solidFill>
                        </a:rPr>
                        <a:t>내용이 </a:t>
                      </a:r>
                      <a:pPr indent="0" marL="0">
                        <a:buNone/>
                      </a:pPr>
                      <a:r>
                        <a:rPr lang="en-US" sz="1100" dirty="0">
                          <a:solidFill>
                            <a:srgbClr val="1F2937"/>
                          </a:solidFill>
                        </a:rPr>
                        <a:t>사라지거나 </a:t>
                      </a:r>
                      <a:pPr indent="0" marL="0">
                        <a:buNone/>
                      </a:pPr>
                      <a:r>
                        <a:rPr lang="en-US" sz="1100" dirty="0">
                          <a:solidFill>
                            <a:srgbClr val="1F2937"/>
                          </a:solidFill>
                        </a:rPr>
                        <a:t>기록이 </a:t>
                      </a:r>
                      <a:pPr indent="0" marL="0">
                        <a:buNone/>
                      </a:pPr>
                      <a:r>
                        <a:rPr lang="en-US" sz="1100" dirty="0">
                          <a:solidFill>
                            <a:srgbClr val="1F2937"/>
                          </a:solidFill>
                        </a:rPr>
                        <a:t>중복 </a:t>
                      </a:r>
                      <a:pPr indent="0" marL="0">
                        <a:buNone/>
                      </a:pPr>
                      <a:r>
                        <a:rPr lang="en-US" sz="1100" dirty="0">
                          <a:solidFill>
                            <a:srgbClr val="1F2937"/>
                          </a:solidFill>
                        </a:rPr>
                        <a:t>저장될 </a:t>
                      </a:r>
                      <a:pPr indent="0" marL="0">
                        <a:buNone/>
                      </a:pPr>
                      <a:r>
                        <a:rPr lang="en-US" sz="1100" dirty="0">
                          <a:solidFill>
                            <a:srgbClr val="1F2937"/>
                          </a:solidFill>
                        </a:rPr>
                        <a:t>수 </a:t>
                      </a:r>
                      <a:pPr indent="0" marL="0">
                        <a:buNone/>
                      </a:pPr>
                      <a:r>
                        <a:rPr lang="en-US" sz="1100" dirty="0">
                          <a:solidFill>
                            <a:srgbClr val="1F2937"/>
                          </a:solidFill>
                        </a:rPr>
                        <a:t>있는 </a:t>
                      </a:r>
                      <a:pPr indent="0" marL="0">
                        <a:buNone/>
                      </a:pPr>
                      <a:r>
                        <a:rPr lang="en-US" sz="1100" dirty="0">
                          <a:solidFill>
                            <a:srgbClr val="1F2937"/>
                          </a:solidFill>
                        </a:rPr>
                        <a:t>문제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H</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연결이 </a:t>
                      </a:r>
                      <a:pPr indent="0" marL="0">
                        <a:buNone/>
                      </a:pPr>
                      <a:r>
                        <a:rPr lang="en-US" sz="1100" dirty="0">
                          <a:solidFill>
                            <a:srgbClr val="1F2937"/>
                          </a:solidFill>
                        </a:rPr>
                        <a:t>끊기거나 </a:t>
                      </a:r>
                      <a:pPr indent="0" marL="0">
                        <a:buNone/>
                      </a:pPr>
                      <a:r>
                        <a:rPr lang="en-US" sz="1100" dirty="0">
                          <a:solidFill>
                            <a:srgbClr val="1F2937"/>
                          </a:solidFill>
                        </a:rPr>
                        <a:t>저장 </a:t>
                      </a:r>
                      <a:pPr indent="0" marL="0">
                        <a:buNone/>
                      </a:pPr>
                      <a:r>
                        <a:rPr lang="en-US" sz="1100" dirty="0">
                          <a:solidFill>
                            <a:srgbClr val="1F2937"/>
                          </a:solidFill>
                        </a:rPr>
                        <a:t>요청을 </a:t>
                      </a:r>
                      <a:pPr indent="0" marL="0">
                        <a:buNone/>
                      </a:pPr>
                      <a:r>
                        <a:rPr lang="en-US" sz="1100" dirty="0">
                          <a:solidFill>
                            <a:srgbClr val="1F2937"/>
                          </a:solidFill>
                        </a:rPr>
                        <a:t>재시도할 </a:t>
                      </a:r>
                      <a:pPr indent="0" marL="0">
                        <a:buNone/>
                      </a:pPr>
                      <a:r>
                        <a:rPr lang="en-US" sz="1100" dirty="0">
                          <a:solidFill>
                            <a:srgbClr val="1F2937"/>
                          </a:solidFill>
                        </a:rPr>
                        <a:t>때 </a:t>
                      </a:r>
                      <a:pPr indent="0" marL="0">
                        <a:buNone/>
                      </a:pPr>
                      <a:r>
                        <a:rPr lang="en-US" sz="1100" dirty="0">
                          <a:solidFill>
                            <a:srgbClr val="1F2937"/>
                          </a:solidFill>
                        </a:rPr>
                        <a:t>발생 </a:t>
                      </a:r>
                      <a:pPr indent="0" marL="0">
                        <a:buNone/>
                      </a:pPr>
                      <a:r>
                        <a:rPr lang="en-US" sz="1100" dirty="0">
                          <a:solidFill>
                            <a:srgbClr val="1F2937"/>
                          </a:solidFill>
                        </a:rPr>
                        <a:t>가능. </a:t>
                      </a:r>
                      <a:pPr indent="0" marL="0">
                        <a:buNone/>
                      </a:pPr>
                      <a:r>
                        <a:rPr lang="en-US" sz="1100" dirty="0">
                          <a:solidFill>
                            <a:srgbClr val="1F2937"/>
                          </a:solidFill>
                        </a:rPr>
                        <a:t>실제 </a:t>
                      </a:r>
                      <a:pPr indent="0" marL="0">
                        <a:buNone/>
                      </a:pPr>
                      <a:r>
                        <a:rPr lang="en-US" sz="1100" dirty="0">
                          <a:solidFill>
                            <a:srgbClr val="1F2937"/>
                          </a:solidFill>
                        </a:rPr>
                        <a:t>발생률 </a:t>
                      </a:r>
                      <a:pPr indent="0" marL="0">
                        <a:buNone/>
                      </a:pPr>
                      <a:r>
                        <a:rPr lang="en-US" sz="1100" dirty="0">
                          <a:solidFill>
                            <a:srgbClr val="1F2937"/>
                          </a:solidFill>
                        </a:rPr>
                        <a:t>미측정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통신이 </a:t>
                      </a:r>
                      <a:pPr indent="0" marL="0">
                        <a:buNone/>
                      </a:pPr>
                      <a:r>
                        <a:rPr lang="en-US" sz="1100" dirty="0">
                          <a:solidFill>
                            <a:srgbClr val="1F2937"/>
                          </a:solidFill>
                        </a:rPr>
                        <a:t>불안정한 </a:t>
                      </a:r>
                      <a:pPr indent="0" marL="0">
                        <a:buNone/>
                      </a:pPr>
                      <a:r>
                        <a:rPr lang="en-US" sz="1100" dirty="0">
                          <a:solidFill>
                            <a:srgbClr val="1F2937"/>
                          </a:solidFill>
                        </a:rPr>
                        <a:t>환경에서 </a:t>
                      </a:r>
                      <a:pPr indent="0" marL="0">
                        <a:buNone/>
                      </a:pPr>
                      <a:r>
                        <a:rPr lang="en-US" sz="1100" dirty="0">
                          <a:solidFill>
                            <a:srgbClr val="1F2937"/>
                          </a:solidFill>
                        </a:rPr>
                        <a:t>기록하거나 </a:t>
                      </a:r>
                      <a:pPr indent="0" marL="0">
                        <a:buNone/>
                      </a:pPr>
                      <a:r>
                        <a:rPr lang="en-US" sz="1100" dirty="0">
                          <a:solidFill>
                            <a:srgbClr val="1F2937"/>
                          </a:solidFill>
                        </a:rPr>
                        <a:t>저장 </a:t>
                      </a:r>
                      <a:pPr indent="0" marL="0">
                        <a:buNone/>
                      </a:pPr>
                      <a:r>
                        <a:rPr lang="en-US" sz="1100" dirty="0">
                          <a:solidFill>
                            <a:srgbClr val="1F2937"/>
                          </a:solidFill>
                        </a:rPr>
                        <a:t>상태를 </a:t>
                      </a:r>
                      <a:pPr indent="0" marL="0">
                        <a:buNone/>
                      </a:pPr>
                      <a:r>
                        <a:rPr lang="en-US" sz="1100" dirty="0">
                          <a:solidFill>
                            <a:srgbClr val="1F2937"/>
                          </a:solidFill>
                        </a:rPr>
                        <a:t>확인하기 </a:t>
                      </a:r>
                      <a:pPr indent="0" marL="0">
                        <a:buNone/>
                      </a:pPr>
                      <a:r>
                        <a:rPr lang="en-US" sz="1100" dirty="0">
                          <a:solidFill>
                            <a:srgbClr val="1F2937"/>
                          </a:solidFill>
                        </a:rPr>
                        <a:t>어려운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시장 분석 및 경쟁사 현황</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회의 원문에는 특정 경쟁사 이름, 시장 점유율, 경쟁 제품의 기능·가격·사용자 반응을 확인한 내용이 없다. 따라서 현재 단계에서 특정 업체의 강점과 약점을 사실로 단정하거나 시장 우위를 주장할 근거는 없다. 아래 표는 회의에서 논의된 사용 흐름을 바탕으로 만든 경쟁 대안 유형에 대한 가설이며, 실제 업체 분석이 아니다.</a:t>
            </a:r>
            <a:endParaRPr lang="en-US" sz="1600" dirty="0"/>
          </a:p>
          <a:p>
            <a:pPr indent="0" marL="0">
              <a:spcAft>
                <a:spcPts val="800"/>
              </a:spcAft>
              <a:buNone/>
            </a:pPr>
            <a:r>
              <a:rPr lang="en-US" sz="1600" dirty="0">
                <a:solidFill>
                  <a:srgbClr val="4B5563"/>
                </a:solidFill>
              </a:rPr>
              <a:t>구체적인 업체와 기능은 후속 조사로 확인해야 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시장 분석 및 경쟁사 현황</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057400"/>
                <a:gridCol w="2057400"/>
                <a:gridCol w="2057400"/>
                <a:gridCol w="2057400"/>
              </a:tblGrid>
              <a:tr h="0">
                <a:tc>
                  <a:txBody>
                    <a:bodyPr/>
                    <a:lstStyle/>
                    <a:p>
                      <a:pPr indent="0" marL="0">
                        <a:buNone/>
                      </a:pPr>
                      <a:r>
                        <a:rPr lang="en-US" sz="1200" b="1" dirty="0">
                          <a:solidFill>
                            <a:srgbClr val="FFFFFF"/>
                          </a:solidFill>
                        </a:rPr>
                        <a:t>경쟁사 </a:t>
                      </a:r>
                      <a:pPr indent="0" marL="0">
                        <a:buNone/>
                      </a:pPr>
                      <a:r>
                        <a:rPr lang="en-US" sz="1200" b="1" dirty="0">
                          <a:solidFill>
                            <a:srgbClr val="FFFFFF"/>
                          </a:solidFill>
                        </a:rPr>
                        <a:t>또는 </a:t>
                      </a:r>
                      <a:pPr indent="0" marL="0">
                        <a:buNone/>
                      </a:pPr>
                      <a:r>
                        <a:rPr lang="en-US" sz="1200" b="1" dirty="0">
                          <a:solidFill>
                            <a:srgbClr val="FFFFFF"/>
                          </a:solidFill>
                        </a:rPr>
                        <a:t>대안 </a:t>
                      </a:r>
                      <a:pPr indent="0" marL="0">
                        <a:buNone/>
                      </a:pPr>
                      <a:r>
                        <a:rPr lang="en-US" sz="1200" b="1" dirty="0">
                          <a:solidFill>
                            <a:srgbClr val="FFFFFF"/>
                          </a:solidFill>
                        </a:rPr>
                        <a:t>유형</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강점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약점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우리의 </a:t>
                      </a:r>
                      <a:pPr indent="0" marL="0">
                        <a:buNone/>
                      </a:pPr>
                      <a:r>
                        <a:rPr lang="en-US" sz="1200" b="1" dirty="0">
                          <a:solidFill>
                            <a:srgbClr val="FFFFFF"/>
                          </a:solidFill>
                        </a:rPr>
                        <a:t>차별점</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음식 </a:t>
                      </a:r>
                      <a:pPr indent="0" marL="0">
                        <a:buNone/>
                      </a:pPr>
                      <a:r>
                        <a:rPr lang="en-US" sz="1100" dirty="0">
                          <a:solidFill>
                            <a:srgbClr val="1F2937"/>
                          </a:solidFill>
                        </a:rPr>
                        <a:t>검색과 </a:t>
                      </a:r>
                      <a:pPr indent="0" marL="0">
                        <a:buNone/>
                      </a:pPr>
                      <a:r>
                        <a:rPr lang="en-US" sz="1100" dirty="0">
                          <a:solidFill>
                            <a:srgbClr val="1F2937"/>
                          </a:solidFill>
                        </a:rPr>
                        <a:t>영양 </a:t>
                      </a:r>
                      <a:pPr indent="0" marL="0">
                        <a:buNone/>
                      </a:pPr>
                      <a:r>
                        <a:rPr lang="en-US" sz="1100" dirty="0">
                          <a:solidFill>
                            <a:srgbClr val="1F2937"/>
                          </a:solidFill>
                        </a:rPr>
                        <a:t>정보 </a:t>
                      </a:r>
                      <a:pPr indent="0" marL="0">
                        <a:buNone/>
                      </a:pPr>
                      <a:r>
                        <a:rPr lang="en-US" sz="1100" dirty="0">
                          <a:solidFill>
                            <a:srgbClr val="1F2937"/>
                          </a:solidFill>
                        </a:rPr>
                        <a:t>제공을 </a:t>
                      </a:r>
                      <a:pPr indent="0" marL="0">
                        <a:buNone/>
                      </a:pPr>
                      <a:r>
                        <a:rPr lang="en-US" sz="1100" dirty="0">
                          <a:solidFill>
                            <a:srgbClr val="1F2937"/>
                          </a:solidFill>
                        </a:rPr>
                        <a:t>중심으로 </a:t>
                      </a:r>
                      <a:pPr indent="0" marL="0">
                        <a:buNone/>
                      </a:pPr>
                      <a:r>
                        <a:rPr lang="en-US" sz="1100" dirty="0">
                          <a:solidFill>
                            <a:srgbClr val="1F2937"/>
                          </a:solidFill>
                        </a:rPr>
                        <a:t>한 </a:t>
                      </a:r>
                      <a:pPr indent="0" marL="0">
                        <a:buNone/>
                      </a:pPr>
                      <a:r>
                        <a:rPr lang="en-US" sz="1100" dirty="0">
                          <a:solidFill>
                            <a:srgbClr val="1F2937"/>
                          </a:solidFill>
                        </a:rPr>
                        <a:t>식단 </a:t>
                      </a:r>
                      <a:pPr indent="0" marL="0">
                        <a:buNone/>
                      </a:pPr>
                      <a:r>
                        <a:rPr lang="en-US" sz="1100" dirty="0">
                          <a:solidFill>
                            <a:srgbClr val="1F2937"/>
                          </a:solidFill>
                        </a:rPr>
                        <a:t>기록 </a:t>
                      </a:r>
                      <a:pPr indent="0" marL="0">
                        <a:buNone/>
                      </a:pPr>
                      <a:r>
                        <a:rPr lang="en-US" sz="1100" dirty="0">
                          <a:solidFill>
                            <a:srgbClr val="1F2937"/>
                          </a:solidFill>
                        </a:rPr>
                        <a:t>앱 </a:t>
                      </a:r>
                      <a:pPr indent="0" marL="0">
                        <a:buNone/>
                      </a:pPr>
                      <a:r>
                        <a:rPr lang="en-US" sz="1100" dirty="0">
                          <a:solidFill>
                            <a:srgbClr val="1F2937"/>
                          </a:solidFill>
                        </a:rPr>
                        <a:t>유형 </a:t>
                      </a:r>
                      <a:pPr indent="0" marL="0">
                        <a:buNone/>
                      </a:pPr>
                      <a:r>
                        <a:rPr lang="en-US" sz="1100" dirty="0">
                          <a:solidFill>
                            <a:srgbClr val="1F2937"/>
                          </a:solidFill>
                        </a:rPr>
                        <a:t>(가정)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검색과 </a:t>
                      </a:r>
                      <a:pPr indent="0" marL="0">
                        <a:buNone/>
                      </a:pPr>
                      <a:r>
                        <a:rPr lang="en-US" sz="1100" dirty="0">
                          <a:solidFill>
                            <a:srgbClr val="1F2937"/>
                          </a:solidFill>
                        </a:rPr>
                        <a:t>영양 </a:t>
                      </a:r>
                      <a:pPr indent="0" marL="0">
                        <a:buNone/>
                      </a:pPr>
                      <a:r>
                        <a:rPr lang="en-US" sz="1100" dirty="0">
                          <a:solidFill>
                            <a:srgbClr val="1F2937"/>
                          </a:solidFill>
                        </a:rPr>
                        <a:t>정보 </a:t>
                      </a:r>
                      <a:pPr indent="0" marL="0">
                        <a:buNone/>
                      </a:pPr>
                      <a:r>
                        <a:rPr lang="en-US" sz="1100" dirty="0">
                          <a:solidFill>
                            <a:srgbClr val="1F2937"/>
                          </a:solidFill>
                        </a:rPr>
                        <a:t>조회를 </a:t>
                      </a:r>
                      <a:pPr indent="0" marL="0">
                        <a:buNone/>
                      </a:pPr>
                      <a:r>
                        <a:rPr lang="en-US" sz="1100" dirty="0">
                          <a:solidFill>
                            <a:srgbClr val="1F2937"/>
                          </a:solidFill>
                        </a:rPr>
                        <a:t>주요 </a:t>
                      </a:r>
                      <a:pPr indent="0" marL="0">
                        <a:buNone/>
                      </a:pPr>
                      <a:r>
                        <a:rPr lang="en-US" sz="1100" dirty="0">
                          <a:solidFill>
                            <a:srgbClr val="1F2937"/>
                          </a:solidFill>
                        </a:rPr>
                        <a:t>기록 </a:t>
                      </a:r>
                      <a:pPr indent="0" marL="0">
                        <a:buNone/>
                      </a:pPr>
                      <a:r>
                        <a:rPr lang="en-US" sz="1100" dirty="0">
                          <a:solidFill>
                            <a:srgbClr val="1F2937"/>
                          </a:solidFill>
                        </a:rPr>
                        <a:t>경로로 </a:t>
                      </a:r>
                      <a:pPr indent="0" marL="0">
                        <a:buNone/>
                      </a:pPr>
                      <a:r>
                        <a:rPr lang="en-US" sz="1100" dirty="0">
                          <a:solidFill>
                            <a:srgbClr val="1F2937"/>
                          </a:solidFill>
                        </a:rPr>
                        <a:t>삼을 </a:t>
                      </a:r>
                      <a:pPr indent="0" marL="0">
                        <a:buNone/>
                      </a:pPr>
                      <a:r>
                        <a:rPr lang="en-US" sz="1100" dirty="0">
                          <a:solidFill>
                            <a:srgbClr val="1F2937"/>
                          </a:solidFill>
                        </a:rPr>
                        <a:t>수 </a:t>
                      </a:r>
                      <a:pPr indent="0" marL="0">
                        <a:buNone/>
                      </a:pPr>
                      <a:r>
                        <a:rPr lang="en-US" sz="1100" dirty="0">
                          <a:solidFill>
                            <a:srgbClr val="1F2937"/>
                          </a:solidFill>
                        </a:rPr>
                        <a:t>있음 </a:t>
                      </a:r>
                      <a:pPr indent="0" marL="0">
                        <a:buNone/>
                      </a:pPr>
                      <a:r>
                        <a:rPr lang="en-US" sz="1100" dirty="0">
                          <a:solidFill>
                            <a:srgbClr val="1F2937"/>
                          </a:solidFill>
                        </a:rPr>
                        <a:t>(가정). </a:t>
                      </a:r>
                      <a:pPr indent="0" marL="0">
                        <a:buNone/>
                      </a:pPr>
                      <a:r>
                        <a:rPr lang="en-US" sz="1100" dirty="0">
                          <a:solidFill>
                            <a:srgbClr val="1F2937"/>
                          </a:solidFill>
                        </a:rPr>
                        <a:t>실제 </a:t>
                      </a:r>
                      <a:pPr indent="0" marL="0">
                        <a:buNone/>
                      </a:pPr>
                      <a:r>
                        <a:rPr lang="en-US" sz="1100" dirty="0">
                          <a:solidFill>
                            <a:srgbClr val="1F2937"/>
                          </a:solidFill>
                        </a:rPr>
                        <a:t>제품별 </a:t>
                      </a:r>
                      <a:pPr indent="0" marL="0">
                        <a:buNone/>
                      </a:pPr>
                      <a:r>
                        <a:rPr lang="en-US" sz="1100" dirty="0">
                          <a:solidFill>
                            <a:srgbClr val="1F2937"/>
                          </a:solidFill>
                        </a:rPr>
                        <a:t>기능과 </a:t>
                      </a:r>
                      <a:pPr indent="0" marL="0">
                        <a:buNone/>
                      </a:pPr>
                      <a:r>
                        <a:rPr lang="en-US" sz="1100" dirty="0">
                          <a:solidFill>
                            <a:srgbClr val="1F2937"/>
                          </a:solidFill>
                        </a:rPr>
                        <a:t>데이터 </a:t>
                      </a:r>
                      <a:pPr indent="0" marL="0">
                        <a:buNone/>
                      </a:pPr>
                      <a:r>
                        <a:rPr lang="en-US" sz="1100" dirty="0">
                          <a:solidFill>
                            <a:srgbClr val="1F2937"/>
                          </a:solidFill>
                        </a:rPr>
                        <a:t>범위는 </a:t>
                      </a:r>
                      <a:pPr indent="0" marL="0">
                        <a:buNone/>
                      </a:pPr>
                      <a:r>
                        <a:rPr lang="en-US" sz="1100" dirty="0">
                          <a:solidFill>
                            <a:srgbClr val="1F2937"/>
                          </a:solidFill>
                        </a:rPr>
                        <a:t>조사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 </a:t>
                      </a:r>
                      <a:pPr indent="0" marL="0">
                        <a:buNone/>
                      </a:pPr>
                      <a:r>
                        <a:rPr lang="en-US" sz="1100" dirty="0">
                          <a:solidFill>
                            <a:srgbClr val="1F2937"/>
                          </a:solidFill>
                        </a:rPr>
                        <a:t>검색 </a:t>
                      </a:r>
                      <a:pPr indent="0" marL="0">
                        <a:buNone/>
                      </a:pPr>
                      <a:r>
                        <a:rPr lang="en-US" sz="1100" dirty="0">
                          <a:solidFill>
                            <a:srgbClr val="1F2937"/>
                          </a:solidFill>
                        </a:rPr>
                        <a:t>결과의 </a:t>
                      </a:r>
                      <a:pPr indent="0" marL="0">
                        <a:buNone/>
                      </a:pPr>
                      <a:r>
                        <a:rPr lang="en-US" sz="1100" dirty="0">
                          <a:solidFill>
                            <a:srgbClr val="1F2937"/>
                          </a:solidFill>
                        </a:rPr>
                        <a:t>국내 </a:t>
                      </a:r>
                      <a:pPr indent="0" marL="0">
                        <a:buNone/>
                      </a:pPr>
                      <a:r>
                        <a:rPr lang="en-US" sz="1100" dirty="0">
                          <a:solidFill>
                            <a:srgbClr val="1F2937"/>
                          </a:solidFill>
                        </a:rPr>
                        <a:t>음식·브랜드 </a:t>
                      </a:r>
                      <a:pPr indent="0" marL="0">
                        <a:buNone/>
                      </a:pPr>
                      <a:r>
                        <a:rPr lang="en-US" sz="1100" dirty="0">
                          <a:solidFill>
                            <a:srgbClr val="1F2937"/>
                          </a:solidFill>
                        </a:rPr>
                        <a:t>범위, </a:t>
                      </a:r>
                      <a:pPr indent="0" marL="0">
                        <a:buNone/>
                      </a:pPr>
                      <a:r>
                        <a:rPr lang="en-US" sz="1100" dirty="0">
                          <a:solidFill>
                            <a:srgbClr val="1F2937"/>
                          </a:solidFill>
                        </a:rPr>
                        <a:t>섭취량 </a:t>
                      </a:r>
                      <a:pPr indent="0" marL="0">
                        <a:buNone/>
                      </a:pPr>
                      <a:r>
                        <a:rPr lang="en-US" sz="1100" dirty="0">
                          <a:solidFill>
                            <a:srgbClr val="1F2937"/>
                          </a:solidFill>
                        </a:rPr>
                        <a:t>입력 </a:t>
                      </a:r>
                      <a:pPr indent="0" marL="0">
                        <a:buNone/>
                      </a:pPr>
                      <a:r>
                        <a:rPr lang="en-US" sz="1100" dirty="0">
                          <a:solidFill>
                            <a:srgbClr val="1F2937"/>
                          </a:solidFill>
                        </a:rPr>
                        <a:t>부담, </a:t>
                      </a:r>
                      <a:pPr indent="0" marL="0">
                        <a:buNone/>
                      </a:pPr>
                      <a:r>
                        <a:rPr lang="en-US" sz="1100" dirty="0">
                          <a:solidFill>
                            <a:srgbClr val="1F2937"/>
                          </a:solidFill>
                        </a:rPr>
                        <a:t>정보 </a:t>
                      </a:r>
                      <a:pPr indent="0" marL="0">
                        <a:buNone/>
                      </a:pPr>
                      <a:r>
                        <a:rPr lang="en-US" sz="1100" dirty="0">
                          <a:solidFill>
                            <a:srgbClr val="1F2937"/>
                          </a:solidFill>
                        </a:rPr>
                        <a:t>누락 </a:t>
                      </a:r>
                      <a:pPr indent="0" marL="0">
                        <a:buNone/>
                      </a:pPr>
                      <a:r>
                        <a:rPr lang="en-US" sz="1100" dirty="0">
                          <a:solidFill>
                            <a:srgbClr val="1F2937"/>
                          </a:solidFill>
                        </a:rPr>
                        <a:t>처리 </a:t>
                      </a:r>
                      <a:pPr indent="0" marL="0">
                        <a:buNone/>
                      </a:pPr>
                      <a:r>
                        <a:rPr lang="en-US" sz="1100" dirty="0">
                          <a:solidFill>
                            <a:srgbClr val="1F2937"/>
                          </a:solidFill>
                        </a:rPr>
                        <a:t>방식은 </a:t>
                      </a:r>
                      <a:pPr indent="0" marL="0">
                        <a:buNone/>
                      </a:pPr>
                      <a:r>
                        <a:rPr lang="en-US" sz="1100" dirty="0">
                          <a:solidFill>
                            <a:srgbClr val="1F2937"/>
                          </a:solidFill>
                        </a:rPr>
                        <a:t>업체별 </a:t>
                      </a:r>
                      <a:pPr indent="0" marL="0">
                        <a:buNone/>
                      </a:pPr>
                      <a:r>
                        <a:rPr lang="en-US" sz="1100" dirty="0">
                          <a:solidFill>
                            <a:srgbClr val="1F2937"/>
                          </a:solidFill>
                        </a:rPr>
                        <a:t>확인이 </a:t>
                      </a:r>
                      <a:pPr indent="0" marL="0">
                        <a:buNone/>
                      </a:pPr>
                      <a:r>
                        <a:rPr lang="en-US" sz="1100" dirty="0">
                          <a:solidFill>
                            <a:srgbClr val="1F2937"/>
                          </a:solidFill>
                        </a:rPr>
                        <a:t>필요. </a:t>
                      </a:r>
                      <a:pPr indent="0" marL="0">
                        <a:buNone/>
                      </a:pPr>
                      <a:r>
                        <a:rPr lang="en-US" sz="1100" dirty="0">
                          <a:solidFill>
                            <a:srgbClr val="1F2937"/>
                          </a:solidFill>
                        </a:rPr>
                        <a:t>실제 </a:t>
                      </a:r>
                      <a:pPr indent="0" marL="0">
                        <a:buNone/>
                      </a:pPr>
                      <a:r>
                        <a:rPr lang="en-US" sz="1100" dirty="0">
                          <a:solidFill>
                            <a:srgbClr val="1F2937"/>
                          </a:solidFill>
                        </a:rPr>
                        <a:t>약점으로 </a:t>
                      </a:r>
                      <a:pPr indent="0" marL="0">
                        <a:buNone/>
                      </a:pPr>
                      <a:r>
                        <a:rPr lang="en-US" sz="1100" dirty="0">
                          <a:solidFill>
                            <a:srgbClr val="1F2937"/>
                          </a:solidFill>
                        </a:rPr>
                        <a:t>확인된 </a:t>
                      </a:r>
                      <a:pPr indent="0" marL="0">
                        <a:buNone/>
                      </a:pPr>
                      <a:r>
                        <a:rPr lang="en-US" sz="1100" dirty="0">
                          <a:solidFill>
                            <a:srgbClr val="1F2937"/>
                          </a:solidFill>
                        </a:rPr>
                        <a:t>사항은 </a:t>
                      </a:r>
                      <a:pPr indent="0" marL="0">
                        <a:buNone/>
                      </a:pPr>
                      <a:r>
                        <a:rPr lang="en-US" sz="1100" dirty="0">
                          <a:solidFill>
                            <a:srgbClr val="1F2937"/>
                          </a:solidFill>
                        </a:rPr>
                        <a:t>없음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검색 </a:t>
                      </a:r>
                      <a:pPr indent="0" marL="0">
                        <a:buNone/>
                      </a:pPr>
                      <a:r>
                        <a:rPr lang="en-US" sz="1100" dirty="0">
                          <a:solidFill>
                            <a:srgbClr val="1F2937"/>
                          </a:solidFill>
                        </a:rPr>
                        <a:t>결과가 </a:t>
                      </a:r>
                      <a:pPr indent="0" marL="0">
                        <a:buNone/>
                      </a:pPr>
                      <a:r>
                        <a:rPr lang="en-US" sz="1100" dirty="0">
                          <a:solidFill>
                            <a:srgbClr val="1F2937"/>
                          </a:solidFill>
                        </a:rPr>
                        <a:t>없거나 </a:t>
                      </a:r>
                      <a:pPr indent="0" marL="0">
                        <a:buNone/>
                      </a:pPr>
                      <a:r>
                        <a:rPr lang="en-US" sz="1100" dirty="0">
                          <a:solidFill>
                            <a:srgbClr val="1F2937"/>
                          </a:solidFill>
                        </a:rPr>
                        <a:t>외부 </a:t>
                      </a:r>
                      <a:pPr indent="0" marL="0">
                        <a:buNone/>
                      </a:pPr>
                      <a:r>
                        <a:rPr lang="en-US" sz="1100" dirty="0">
                          <a:solidFill>
                            <a:srgbClr val="1F2937"/>
                          </a:solidFill>
                        </a:rPr>
                        <a:t>API가 </a:t>
                      </a:r>
                      <a:pPr indent="0" marL="0">
                        <a:buNone/>
                      </a:pPr>
                      <a:r>
                        <a:rPr lang="en-US" sz="1100" dirty="0">
                          <a:solidFill>
                            <a:srgbClr val="1F2937"/>
                          </a:solidFill>
                        </a:rPr>
                        <a:t>실패해도 </a:t>
                      </a:r>
                      <a:pPr indent="0" marL="0">
                        <a:buNone/>
                      </a:pPr>
                      <a:r>
                        <a:rPr lang="en-US" sz="1100" dirty="0">
                          <a:solidFill>
                            <a:srgbClr val="1F2937"/>
                          </a:solidFill>
                        </a:rPr>
                        <a:t>직접 </a:t>
                      </a:r>
                      <a:pPr indent="0" marL="0">
                        <a:buNone/>
                      </a:pPr>
                      <a:r>
                        <a:rPr lang="en-US" sz="1100" dirty="0">
                          <a:solidFill>
                            <a:srgbClr val="1F2937"/>
                          </a:solidFill>
                        </a:rPr>
                        <a:t>입력과 </a:t>
                      </a:r>
                      <a:pPr indent="0" marL="0">
                        <a:buNone/>
                      </a:pPr>
                      <a:r>
                        <a:rPr lang="en-US" sz="1100" dirty="0">
                          <a:solidFill>
                            <a:srgbClr val="1F2937"/>
                          </a:solidFill>
                        </a:rPr>
                        <a:t>최근 </a:t>
                      </a:r>
                      <a:pPr indent="0" marL="0">
                        <a:buNone/>
                      </a:pPr>
                      <a:r>
                        <a:rPr lang="en-US" sz="1100" dirty="0">
                          <a:solidFill>
                            <a:srgbClr val="1F2937"/>
                          </a:solidFill>
                        </a:rPr>
                        <a:t>기록으로 </a:t>
                      </a:r>
                      <a:pPr indent="0" marL="0">
                        <a:buNone/>
                      </a:pPr>
                      <a:r>
                        <a:rPr lang="en-US" sz="1100" dirty="0">
                          <a:solidFill>
                            <a:srgbClr val="1F2937"/>
                          </a:solidFill>
                        </a:rPr>
                        <a:t>기록을 </a:t>
                      </a:r>
                      <a:pPr indent="0" marL="0">
                        <a:buNone/>
                      </a:pPr>
                      <a:r>
                        <a:rPr lang="en-US" sz="1100" dirty="0">
                          <a:solidFill>
                            <a:srgbClr val="1F2937"/>
                          </a:solidFill>
                        </a:rPr>
                        <a:t>이어가도록 </a:t>
                      </a:r>
                      <a:pPr indent="0" marL="0">
                        <a:buNone/>
                      </a:pPr>
                      <a:r>
                        <a:rPr lang="en-US" sz="1100" dirty="0">
                          <a:solidFill>
                            <a:srgbClr val="1F2937"/>
                          </a:solidFill>
                        </a:rPr>
                        <a:t>설계. </a:t>
                      </a:r>
                      <a:pPr indent="0" marL="0">
                        <a:buNone/>
                      </a:pPr>
                      <a:r>
                        <a:rPr lang="en-US" sz="1100" dirty="0">
                          <a:solidFill>
                            <a:srgbClr val="1F2937"/>
                          </a:solidFill>
                        </a:rPr>
                        <a:t>영양값이 </a:t>
                      </a:r>
                      <a:pPr indent="0" marL="0">
                        <a:buNone/>
                      </a:pPr>
                      <a:r>
                        <a:rPr lang="en-US" sz="1100" dirty="0">
                          <a:solidFill>
                            <a:srgbClr val="1F2937"/>
                          </a:solidFill>
                        </a:rPr>
                        <a:t>없는 </a:t>
                      </a:r>
                      <a:pPr indent="0" marL="0">
                        <a:buNone/>
                      </a:pPr>
                      <a:r>
                        <a:rPr lang="en-US" sz="1100" dirty="0">
                          <a:solidFill>
                            <a:srgbClr val="1F2937"/>
                          </a:solidFill>
                        </a:rPr>
                        <a:t>상태를 </a:t>
                      </a:r>
                      <a:pPr indent="0" marL="0">
                        <a:buNone/>
                      </a:pPr>
                      <a:r>
                        <a:rPr lang="en-US" sz="1100" dirty="0">
                          <a:solidFill>
                            <a:srgbClr val="1F2937"/>
                          </a:solidFill>
                        </a:rPr>
                        <a:t>0과 </a:t>
                      </a:r>
                      <a:pPr indent="0" marL="0">
                        <a:buNone/>
                      </a:pPr>
                      <a:r>
                        <a:rPr lang="en-US" sz="1100" dirty="0">
                          <a:solidFill>
                            <a:srgbClr val="1F2937"/>
                          </a:solidFill>
                        </a:rPr>
                        <a:t>구분하고 </a:t>
                      </a:r>
                      <a:pPr indent="0" marL="0">
                        <a:buNone/>
                      </a:pPr>
                      <a:r>
                        <a:rPr lang="en-US" sz="1100" dirty="0">
                          <a:solidFill>
                            <a:srgbClr val="1F2937"/>
                          </a:solidFill>
                        </a:rPr>
                        <a:t>기록 </a:t>
                      </a:r>
                      <a:pPr indent="0" marL="0">
                        <a:buNone/>
                      </a:pPr>
                      <a:r>
                        <a:rPr lang="en-US" sz="1100" dirty="0">
                          <a:solidFill>
                            <a:srgbClr val="1F2937"/>
                          </a:solidFill>
                        </a:rPr>
                        <a:t>당시 </a:t>
                      </a:r>
                      <a:pPr indent="0" marL="0">
                        <a:buNone/>
                      </a:pPr>
                      <a:r>
                        <a:rPr lang="en-US" sz="1100" dirty="0">
                          <a:solidFill>
                            <a:srgbClr val="1F2937"/>
                          </a:solidFill>
                        </a:rPr>
                        <a:t>값을 </a:t>
                      </a:r>
                      <a:pPr indent="0" marL="0">
                        <a:buNone/>
                      </a:pPr>
                      <a:r>
                        <a:rPr lang="en-US" sz="1100" dirty="0">
                          <a:solidFill>
                            <a:srgbClr val="1F2937"/>
                          </a:solidFill>
                        </a:rPr>
                        <a:t>보존하는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사진 </a:t>
                      </a:r>
                      <a:pPr indent="0" marL="0">
                        <a:buNone/>
                      </a:pPr>
                      <a:r>
                        <a:rPr lang="en-US" sz="1100" dirty="0">
                          <a:solidFill>
                            <a:srgbClr val="1F2937"/>
                          </a:solidFill>
                        </a:rPr>
                        <a:t>자동 </a:t>
                      </a:r>
                      <a:pPr indent="0" marL="0">
                        <a:buNone/>
                      </a:pPr>
                      <a:r>
                        <a:rPr lang="en-US" sz="1100" dirty="0">
                          <a:solidFill>
                            <a:srgbClr val="1F2937"/>
                          </a:solidFill>
                        </a:rPr>
                        <a:t>분석을 </a:t>
                      </a:r>
                      <a:pPr indent="0" marL="0">
                        <a:buNone/>
                      </a:pPr>
                      <a:r>
                        <a:rPr lang="en-US" sz="1100" dirty="0">
                          <a:solidFill>
                            <a:srgbClr val="1F2937"/>
                          </a:solidFill>
                        </a:rPr>
                        <a:t>내세우는 </a:t>
                      </a:r>
                      <a:pPr indent="0" marL="0">
                        <a:buNone/>
                      </a:pPr>
                      <a:r>
                        <a:rPr lang="en-US" sz="1100" dirty="0">
                          <a:solidFill>
                            <a:srgbClr val="1F2937"/>
                          </a:solidFill>
                        </a:rPr>
                        <a:t>식단 </a:t>
                      </a:r>
                      <a:pPr indent="0" marL="0">
                        <a:buNone/>
                      </a:pPr>
                      <a:r>
                        <a:rPr lang="en-US" sz="1100" dirty="0">
                          <a:solidFill>
                            <a:srgbClr val="1F2937"/>
                          </a:solidFill>
                        </a:rPr>
                        <a:t>기록 </a:t>
                      </a:r>
                      <a:pPr indent="0" marL="0">
                        <a:buNone/>
                      </a:pPr>
                      <a:r>
                        <a:rPr lang="en-US" sz="1100" dirty="0">
                          <a:solidFill>
                            <a:srgbClr val="1F2937"/>
                          </a:solidFill>
                        </a:rPr>
                        <a:t>앱 </a:t>
                      </a:r>
                      <a:pPr indent="0" marL="0">
                        <a:buNone/>
                      </a:pPr>
                      <a:r>
                        <a:rPr lang="en-US" sz="1100" dirty="0">
                          <a:solidFill>
                            <a:srgbClr val="1F2937"/>
                          </a:solidFill>
                        </a:rPr>
                        <a:t>유형 </a:t>
                      </a:r>
                      <a:pPr indent="0" marL="0">
                        <a:buNone/>
                      </a:pPr>
                      <a:r>
                        <a:rPr lang="en-US" sz="1100" dirty="0">
                          <a:solidFill>
                            <a:srgbClr val="1F2937"/>
                          </a:solidFill>
                        </a:rPr>
                        <a:t>(가정)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사진으로 </a:t>
                      </a:r>
                      <a:pPr indent="0" marL="0">
                        <a:buNone/>
                      </a:pPr>
                      <a:r>
                        <a:rPr lang="en-US" sz="1100" dirty="0">
                          <a:solidFill>
                            <a:srgbClr val="1F2937"/>
                          </a:solidFill>
                        </a:rPr>
                        <a:t>기록을 </a:t>
                      </a:r>
                      <a:pPr indent="0" marL="0">
                        <a:buNone/>
                      </a:pPr>
                      <a:r>
                        <a:rPr lang="en-US" sz="1100" dirty="0">
                          <a:solidFill>
                            <a:srgbClr val="1F2937"/>
                          </a:solidFill>
                        </a:rPr>
                        <a:t>시작하는 </a:t>
                      </a:r>
                      <a:pPr indent="0" marL="0">
                        <a:buNone/>
                      </a:pPr>
                      <a:r>
                        <a:rPr lang="en-US" sz="1100" dirty="0">
                          <a:solidFill>
                            <a:srgbClr val="1F2937"/>
                          </a:solidFill>
                        </a:rPr>
                        <a:t>경험을 </a:t>
                      </a:r>
                      <a:pPr indent="0" marL="0">
                        <a:buNone/>
                      </a:pPr>
                      <a:r>
                        <a:rPr lang="en-US" sz="1100" dirty="0">
                          <a:solidFill>
                            <a:srgbClr val="1F2937"/>
                          </a:solidFill>
                        </a:rPr>
                        <a:t>제공할 </a:t>
                      </a:r>
                      <a:pPr indent="0" marL="0">
                        <a:buNone/>
                      </a:pPr>
                      <a:r>
                        <a:rPr lang="en-US" sz="1100" dirty="0">
                          <a:solidFill>
                            <a:srgbClr val="1F2937"/>
                          </a:solidFill>
                        </a:rPr>
                        <a:t>수 </a:t>
                      </a:r>
                      <a:pPr indent="0" marL="0">
                        <a:buNone/>
                      </a:pPr>
                      <a:r>
                        <a:rPr lang="en-US" sz="1100" dirty="0">
                          <a:solidFill>
                            <a:srgbClr val="1F2937"/>
                          </a:solidFill>
                        </a:rPr>
                        <a:t>있음 </a:t>
                      </a:r>
                      <a:pPr indent="0" marL="0">
                        <a:buNone/>
                      </a:pPr>
                      <a:r>
                        <a:rPr lang="en-US" sz="1100" dirty="0">
                          <a:solidFill>
                            <a:srgbClr val="1F2937"/>
                          </a:solidFill>
                        </a:rPr>
                        <a:t>(가정). </a:t>
                      </a:r>
                      <a:pPr indent="0" marL="0">
                        <a:buNone/>
                      </a:pPr>
                      <a:r>
                        <a:rPr lang="en-US" sz="1100" dirty="0">
                          <a:solidFill>
                            <a:srgbClr val="1F2937"/>
                          </a:solidFill>
                        </a:rPr>
                        <a:t>실제 </a:t>
                      </a:r>
                      <a:pPr indent="0" marL="0">
                        <a:buNone/>
                      </a:pPr>
                      <a:r>
                        <a:rPr lang="en-US" sz="1100" dirty="0">
                          <a:solidFill>
                            <a:srgbClr val="1F2937"/>
                          </a:solidFill>
                        </a:rPr>
                        <a:t>분석 </a:t>
                      </a:r>
                      <a:pPr indent="0" marL="0">
                        <a:buNone/>
                      </a:pPr>
                      <a:r>
                        <a:rPr lang="en-US" sz="1100" dirty="0">
                          <a:solidFill>
                            <a:srgbClr val="1F2937"/>
                          </a:solidFill>
                        </a:rPr>
                        <a:t>정확도와 </a:t>
                      </a:r>
                      <a:pPr indent="0" marL="0">
                        <a:buNone/>
                      </a:pPr>
                      <a:r>
                        <a:rPr lang="en-US" sz="1100" dirty="0">
                          <a:solidFill>
                            <a:srgbClr val="1F2937"/>
                          </a:solidFill>
                        </a:rPr>
                        <a:t>지원 </a:t>
                      </a:r>
                      <a:pPr indent="0" marL="0">
                        <a:buNone/>
                      </a:pPr>
                      <a:r>
                        <a:rPr lang="en-US" sz="1100" dirty="0">
                          <a:solidFill>
                            <a:srgbClr val="1F2937"/>
                          </a:solidFill>
                        </a:rPr>
                        <a:t>범위는 </a:t>
                      </a:r>
                      <a:pPr indent="0" marL="0">
                        <a:buNone/>
                      </a:pPr>
                      <a:r>
                        <a:rPr lang="en-US" sz="1100" dirty="0">
                          <a:solidFill>
                            <a:srgbClr val="1F2937"/>
                          </a:solidFill>
                        </a:rPr>
                        <a:t>조사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한국 </a:t>
                      </a:r>
                      <a:pPr indent="0" marL="0">
                        <a:buNone/>
                      </a:pPr>
                      <a:r>
                        <a:rPr lang="en-US" sz="1100" dirty="0">
                          <a:solidFill>
                            <a:srgbClr val="1F2937"/>
                          </a:solidFill>
                        </a:rPr>
                        <a:t>음식의 </a:t>
                      </a:r>
                      <a:pPr indent="0" marL="0">
                        <a:buNone/>
                      </a:pPr>
                      <a:r>
                        <a:rPr lang="en-US" sz="1100" dirty="0">
                          <a:solidFill>
                            <a:srgbClr val="1F2937"/>
                          </a:solidFill>
                        </a:rPr>
                        <a:t>항목 </a:t>
                      </a:r>
                      <a:pPr indent="0" marL="0">
                        <a:buNone/>
                      </a:pPr>
                      <a:r>
                        <a:rPr lang="en-US" sz="1100" dirty="0">
                          <a:solidFill>
                            <a:srgbClr val="1F2937"/>
                          </a:solidFill>
                        </a:rPr>
                        <a:t>분리·음식명·양 </a:t>
                      </a:r>
                      <a:pPr indent="0" marL="0">
                        <a:buNone/>
                      </a:pPr>
                      <a:r>
                        <a:rPr lang="en-US" sz="1100" dirty="0">
                          <a:solidFill>
                            <a:srgbClr val="1F2937"/>
                          </a:solidFill>
                        </a:rPr>
                        <a:t>추정 </a:t>
                      </a:r>
                      <a:pPr indent="0" marL="0">
                        <a:buNone/>
                      </a:pPr>
                      <a:r>
                        <a:rPr lang="en-US" sz="1100" dirty="0">
                          <a:solidFill>
                            <a:srgbClr val="1F2937"/>
                          </a:solidFill>
                        </a:rPr>
                        <a:t>정확도, </a:t>
                      </a:r>
                      <a:pPr indent="0" marL="0">
                        <a:buNone/>
                      </a:pPr>
                      <a:r>
                        <a:rPr lang="en-US" sz="1100" dirty="0">
                          <a:solidFill>
                            <a:srgbClr val="1F2937"/>
                          </a:solidFill>
                        </a:rPr>
                        <a:t>수정 </a:t>
                      </a:r>
                      <a:pPr indent="0" marL="0">
                        <a:buNone/>
                      </a:pPr>
                      <a:r>
                        <a:rPr lang="en-US" sz="1100" dirty="0">
                          <a:solidFill>
                            <a:srgbClr val="1F2937"/>
                          </a:solidFill>
                        </a:rPr>
                        <a:t>부담, </a:t>
                      </a:r>
                      <a:pPr indent="0" marL="0">
                        <a:buNone/>
                      </a:pPr>
                      <a:r>
                        <a:rPr lang="en-US" sz="1100" dirty="0">
                          <a:solidFill>
                            <a:srgbClr val="1F2937"/>
                          </a:solidFill>
                        </a:rPr>
                        <a:t>외부 </a:t>
                      </a:r>
                      <a:pPr indent="0" marL="0">
                        <a:buNone/>
                      </a:pPr>
                      <a:r>
                        <a:rPr lang="en-US" sz="1100" dirty="0">
                          <a:solidFill>
                            <a:srgbClr val="1F2937"/>
                          </a:solidFill>
                        </a:rPr>
                        <a:t>분석 </a:t>
                      </a:r>
                      <a:pPr indent="0" marL="0">
                        <a:buNone/>
                      </a:pPr>
                      <a:r>
                        <a:rPr lang="en-US" sz="1100" dirty="0">
                          <a:solidFill>
                            <a:srgbClr val="1F2937"/>
                          </a:solidFill>
                        </a:rPr>
                        <a:t>처리 </a:t>
                      </a:r>
                      <a:pPr indent="0" marL="0">
                        <a:buNone/>
                      </a:pPr>
                      <a:r>
                        <a:rPr lang="en-US" sz="1100" dirty="0">
                          <a:solidFill>
                            <a:srgbClr val="1F2937"/>
                          </a:solidFill>
                        </a:rPr>
                        <a:t>조건과 </a:t>
                      </a:r>
                      <a:pPr indent="0" marL="0">
                        <a:buNone/>
                      </a:pPr>
                      <a:r>
                        <a:rPr lang="en-US" sz="1100" dirty="0">
                          <a:solidFill>
                            <a:srgbClr val="1F2937"/>
                          </a:solidFill>
                        </a:rPr>
                        <a:t>비용은 </a:t>
                      </a:r>
                      <a:pPr indent="0" marL="0">
                        <a:buNone/>
                      </a:pPr>
                      <a:r>
                        <a:rPr lang="en-US" sz="1100" dirty="0">
                          <a:solidFill>
                            <a:srgbClr val="1F2937"/>
                          </a:solidFill>
                        </a:rPr>
                        <a:t>확인되지 </a:t>
                      </a:r>
                      <a:pPr indent="0" marL="0">
                        <a:buNone/>
                      </a:pPr>
                      <a:r>
                        <a:rPr lang="en-US" sz="1100" dirty="0">
                          <a:solidFill>
                            <a:srgbClr val="1F2937"/>
                          </a:solidFill>
                        </a:rPr>
                        <a:t>않음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사진 </a:t>
                      </a:r>
                      <a:pPr indent="0" marL="0">
                        <a:buNone/>
                      </a:pPr>
                      <a:r>
                        <a:rPr lang="en-US" sz="1100" dirty="0">
                          <a:solidFill>
                            <a:srgbClr val="1F2937"/>
                          </a:solidFill>
                        </a:rPr>
                        <a:t>자동 </a:t>
                      </a:r>
                      <a:pPr indent="0" marL="0">
                        <a:buNone/>
                      </a:pPr>
                      <a:r>
                        <a:rPr lang="en-US" sz="1100" dirty="0">
                          <a:solidFill>
                            <a:srgbClr val="1F2937"/>
                          </a:solidFill>
                        </a:rPr>
                        <a:t>분석을 </a:t>
                      </a:r>
                      <a:pPr indent="0" marL="0">
                        <a:buNone/>
                      </a:pPr>
                      <a:r>
                        <a:rPr lang="en-US" sz="1100" dirty="0">
                          <a:solidFill>
                            <a:srgbClr val="1F2937"/>
                          </a:solidFill>
                        </a:rPr>
                        <a:t>출시 </a:t>
                      </a:r>
                      <a:pPr indent="0" marL="0">
                        <a:buNone/>
                      </a:pPr>
                      <a:r>
                        <a:rPr lang="en-US" sz="1100" dirty="0">
                          <a:solidFill>
                            <a:srgbClr val="1F2937"/>
                          </a:solidFill>
                        </a:rPr>
                        <a:t>필수 </a:t>
                      </a:r>
                      <a:pPr indent="0" marL="0">
                        <a:buNone/>
                      </a:pPr>
                      <a:r>
                        <a:rPr lang="en-US" sz="1100" dirty="0">
                          <a:solidFill>
                            <a:srgbClr val="1F2937"/>
                          </a:solidFill>
                        </a:rPr>
                        <a:t>기능으로 </a:t>
                      </a:r>
                      <a:pPr indent="0" marL="0">
                        <a:buNone/>
                      </a:pPr>
                      <a:r>
                        <a:rPr lang="en-US" sz="1100" dirty="0">
                          <a:solidFill>
                            <a:srgbClr val="1F2937"/>
                          </a:solidFill>
                        </a:rPr>
                        <a:t>약속하지 </a:t>
                      </a:r>
                      <a:pPr indent="0" marL="0">
                        <a:buNone/>
                      </a:pPr>
                      <a:r>
                        <a:rPr lang="en-US" sz="1100" dirty="0">
                          <a:solidFill>
                            <a:srgbClr val="1F2937"/>
                          </a:solidFill>
                        </a:rPr>
                        <a:t>않고 </a:t>
                      </a:r>
                      <a:pPr indent="0" marL="0">
                        <a:buNone/>
                      </a:pPr>
                      <a:r>
                        <a:rPr lang="en-US" sz="1100" dirty="0">
                          <a:solidFill>
                            <a:srgbClr val="1F2937"/>
                          </a:solidFill>
                        </a:rPr>
                        <a:t>검증 </a:t>
                      </a:r>
                      <a:pPr indent="0" marL="0">
                        <a:buNone/>
                      </a:pPr>
                      <a:r>
                        <a:rPr lang="en-US" sz="1100" dirty="0">
                          <a:solidFill>
                            <a:srgbClr val="1F2937"/>
                          </a:solidFill>
                        </a:rPr>
                        <a:t>대상으로 </a:t>
                      </a:r>
                      <a:pPr indent="0" marL="0">
                        <a:buNone/>
                      </a:pPr>
                      <a:r>
                        <a:rPr lang="en-US" sz="1100" dirty="0">
                          <a:solidFill>
                            <a:srgbClr val="1F2937"/>
                          </a:solidFill>
                        </a:rPr>
                        <a:t>분리. </a:t>
                      </a:r>
                      <a:pPr indent="0" marL="0">
                        <a:buNone/>
                      </a:pPr>
                      <a:r>
                        <a:rPr lang="en-US" sz="1100" dirty="0">
                          <a:solidFill>
                            <a:srgbClr val="1F2937"/>
                          </a:solidFill>
                        </a:rPr>
                        <a:t>MVP의 </a:t>
                      </a:r>
                      <a:pPr indent="0" marL="0">
                        <a:buNone/>
                      </a:pPr>
                      <a:r>
                        <a:rPr lang="en-US" sz="1100" dirty="0">
                          <a:solidFill>
                            <a:srgbClr val="1F2937"/>
                          </a:solidFill>
                        </a:rPr>
                        <a:t>중심을 </a:t>
                      </a:r>
                      <a:pPr indent="0" marL="0">
                        <a:buNone/>
                      </a:pPr>
                      <a:r>
                        <a:rPr lang="en-US" sz="1100" dirty="0">
                          <a:solidFill>
                            <a:srgbClr val="1F2937"/>
                          </a:solidFill>
                        </a:rPr>
                        <a:t>검색·최근 </a:t>
                      </a:r>
                      <a:pPr indent="0" marL="0">
                        <a:buNone/>
                      </a:pPr>
                      <a:r>
                        <a:rPr lang="en-US" sz="1100" dirty="0">
                          <a:solidFill>
                            <a:srgbClr val="1F2937"/>
                          </a:solidFill>
                        </a:rPr>
                        <a:t>기록·즐겨찾기·직접 </a:t>
                      </a:r>
                      <a:pPr indent="0" marL="0">
                        <a:buNone/>
                      </a:pPr>
                      <a:r>
                        <a:rPr lang="en-US" sz="1100" dirty="0">
                          <a:solidFill>
                            <a:srgbClr val="1F2937"/>
                          </a:solidFill>
                        </a:rPr>
                        <a:t>입력에 </a:t>
                      </a:r>
                      <a:pPr indent="0" marL="0">
                        <a:buNone/>
                      </a:pPr>
                      <a:r>
                        <a:rPr lang="en-US" sz="1100" dirty="0">
                          <a:solidFill>
                            <a:srgbClr val="1F2937"/>
                          </a:solidFill>
                        </a:rPr>
                        <a:t>두어 </a:t>
                      </a:r>
                      <a:pPr indent="0" marL="0">
                        <a:buNone/>
                      </a:pPr>
                      <a:r>
                        <a:rPr lang="en-US" sz="1100" dirty="0">
                          <a:solidFill>
                            <a:srgbClr val="1F2937"/>
                          </a:solidFill>
                        </a:rPr>
                        <a:t>기록 </a:t>
                      </a:r>
                      <a:pPr indent="0" marL="0">
                        <a:buNone/>
                      </a:pPr>
                      <a:r>
                        <a:rPr lang="en-US" sz="1100" dirty="0">
                          <a:solidFill>
                            <a:srgbClr val="1F2937"/>
                          </a:solidFill>
                        </a:rPr>
                        <a:t>흐름을 </a:t>
                      </a:r>
                      <a:pPr indent="0" marL="0">
                        <a:buNone/>
                      </a:pPr>
                      <a:r>
                        <a:rPr lang="en-US" sz="1100" dirty="0">
                          <a:solidFill>
                            <a:srgbClr val="1F2937"/>
                          </a:solidFill>
                        </a:rPr>
                        <a:t>유지하는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식단 </a:t>
                      </a:r>
                      <a:pPr indent="0" marL="0">
                        <a:buNone/>
                      </a:pPr>
                      <a:r>
                        <a:rPr lang="en-US" sz="1100" dirty="0">
                          <a:solidFill>
                            <a:srgbClr val="1F2937"/>
                          </a:solidFill>
                        </a:rPr>
                        <a:t>기록 </a:t>
                      </a:r>
                      <a:pPr indent="0" marL="0">
                        <a:buNone/>
                      </a:pPr>
                      <a:r>
                        <a:rPr lang="en-US" sz="1100" dirty="0">
                          <a:solidFill>
                            <a:srgbClr val="1F2937"/>
                          </a:solidFill>
                        </a:rPr>
                        <a:t>앱 </a:t>
                      </a:r>
                      <a:pPr indent="0" marL="0">
                        <a:buNone/>
                      </a:pPr>
                      <a:r>
                        <a:rPr lang="en-US" sz="1100" dirty="0">
                          <a:solidFill>
                            <a:srgbClr val="1F2937"/>
                          </a:solidFill>
                        </a:rPr>
                        <a:t>이외의 </a:t>
                      </a:r>
                      <a:pPr indent="0" marL="0">
                        <a:buNone/>
                      </a:pPr>
                      <a:r>
                        <a:rPr lang="en-US" sz="1100" dirty="0">
                          <a:solidFill>
                            <a:srgbClr val="1F2937"/>
                          </a:solidFill>
                        </a:rPr>
                        <a:t>수기 </a:t>
                      </a:r>
                      <a:pPr indent="0" marL="0">
                        <a:buNone/>
                      </a:pPr>
                      <a:r>
                        <a:rPr lang="en-US" sz="1100" dirty="0">
                          <a:solidFill>
                            <a:srgbClr val="1F2937"/>
                          </a:solidFill>
                        </a:rPr>
                        <a:t>메모나 </a:t>
                      </a:r>
                      <a:pPr indent="0" marL="0">
                        <a:buNone/>
                      </a:pPr>
                      <a:r>
                        <a:rPr lang="en-US" sz="1100" dirty="0">
                          <a:solidFill>
                            <a:srgbClr val="1F2937"/>
                          </a:solidFill>
                        </a:rPr>
                        <a:t>개인 </a:t>
                      </a:r>
                      <a:pPr indent="0" marL="0">
                        <a:buNone/>
                      </a:pPr>
                      <a:r>
                        <a:rPr lang="en-US" sz="1100" dirty="0">
                          <a:solidFill>
                            <a:srgbClr val="1F2937"/>
                          </a:solidFill>
                        </a:rPr>
                        <a:t>기록 </a:t>
                      </a:r>
                      <a:pPr indent="0" marL="0">
                        <a:buNone/>
                      </a:pPr>
                      <a:r>
                        <a:rPr lang="en-US" sz="1100" dirty="0">
                          <a:solidFill>
                            <a:srgbClr val="1F2937"/>
                          </a:solidFill>
                        </a:rPr>
                        <a:t>방식 </a:t>
                      </a:r>
                      <a:pPr indent="0" marL="0">
                        <a:buNone/>
                      </a:pPr>
                      <a:r>
                        <a:rPr lang="en-US" sz="1100" dirty="0">
                          <a:solidFill>
                            <a:srgbClr val="1F2937"/>
                          </a:solidFill>
                        </a:rPr>
                        <a:t>(가정)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별도 </a:t>
                      </a:r>
                      <a:pPr indent="0" marL="0">
                        <a:buNone/>
                      </a:pPr>
                      <a:r>
                        <a:rPr lang="en-US" sz="1100" dirty="0">
                          <a:solidFill>
                            <a:srgbClr val="1F2937"/>
                          </a:solidFill>
                        </a:rPr>
                        <a:t>음식 </a:t>
                      </a:r>
                      <a:pPr indent="0" marL="0">
                        <a:buNone/>
                      </a:pPr>
                      <a:r>
                        <a:rPr lang="en-US" sz="1100" dirty="0">
                          <a:solidFill>
                            <a:srgbClr val="1F2937"/>
                          </a:solidFill>
                        </a:rPr>
                        <a:t>데이터 </a:t>
                      </a:r>
                      <a:pPr indent="0" marL="0">
                        <a:buNone/>
                      </a:pPr>
                      <a:r>
                        <a:rPr lang="en-US" sz="1100" dirty="0">
                          <a:solidFill>
                            <a:srgbClr val="1F2937"/>
                          </a:solidFill>
                        </a:rPr>
                        <a:t>공급자나 </a:t>
                      </a:r>
                      <a:pPr indent="0" marL="0">
                        <a:buNone/>
                      </a:pPr>
                      <a:r>
                        <a:rPr lang="en-US" sz="1100" dirty="0">
                          <a:solidFill>
                            <a:srgbClr val="1F2937"/>
                          </a:solidFill>
                        </a:rPr>
                        <a:t>계정 </a:t>
                      </a:r>
                      <a:pPr indent="0" marL="0">
                        <a:buNone/>
                      </a:pPr>
                      <a:r>
                        <a:rPr lang="en-US" sz="1100" dirty="0">
                          <a:solidFill>
                            <a:srgbClr val="1F2937"/>
                          </a:solidFill>
                        </a:rPr>
                        <a:t>기능에 </a:t>
                      </a:r>
                      <a:pPr indent="0" marL="0">
                        <a:buNone/>
                      </a:pPr>
                      <a:r>
                        <a:rPr lang="en-US" sz="1100" dirty="0">
                          <a:solidFill>
                            <a:srgbClr val="1F2937"/>
                          </a:solidFill>
                        </a:rPr>
                        <a:t>의존하지 </a:t>
                      </a:r>
                      <a:pPr indent="0" marL="0">
                        <a:buNone/>
                      </a:pPr>
                      <a:r>
                        <a:rPr lang="en-US" sz="1100" dirty="0">
                          <a:solidFill>
                            <a:srgbClr val="1F2937"/>
                          </a:solidFill>
                        </a:rPr>
                        <a:t>않고 </a:t>
                      </a:r>
                      <a:pPr indent="0" marL="0">
                        <a:buNone/>
                      </a:pPr>
                      <a:r>
                        <a:rPr lang="en-US" sz="1100" dirty="0">
                          <a:solidFill>
                            <a:srgbClr val="1F2937"/>
                          </a:solidFill>
                        </a:rPr>
                        <a:t>사용자가 </a:t>
                      </a:r>
                      <a:pPr indent="0" marL="0">
                        <a:buNone/>
                      </a:pPr>
                      <a:r>
                        <a:rPr lang="en-US" sz="1100" dirty="0">
                          <a:solidFill>
                            <a:srgbClr val="1F2937"/>
                          </a:solidFill>
                        </a:rPr>
                        <a:t>원하는 </a:t>
                      </a:r>
                      <a:pPr indent="0" marL="0">
                        <a:buNone/>
                      </a:pPr>
                      <a:r>
                        <a:rPr lang="en-US" sz="1100" dirty="0">
                          <a:solidFill>
                            <a:srgbClr val="1F2937"/>
                          </a:solidFill>
                        </a:rPr>
                        <a:t>내용을 </a:t>
                      </a:r>
                      <a:pPr indent="0" marL="0">
                        <a:buNone/>
                      </a:pPr>
                      <a:r>
                        <a:rPr lang="en-US" sz="1100" dirty="0">
                          <a:solidFill>
                            <a:srgbClr val="1F2937"/>
                          </a:solidFill>
                        </a:rPr>
                        <a:t>적을 </a:t>
                      </a:r>
                      <a:pPr indent="0" marL="0">
                        <a:buNone/>
                      </a:pPr>
                      <a:r>
                        <a:rPr lang="en-US" sz="1100" dirty="0">
                          <a:solidFill>
                            <a:srgbClr val="1F2937"/>
                          </a:solidFill>
                        </a:rPr>
                        <a:t>수 </a:t>
                      </a:r>
                      <a:pPr indent="0" marL="0">
                        <a:buNone/>
                      </a:pPr>
                      <a:r>
                        <a:rPr lang="en-US" sz="1100" dirty="0">
                          <a:solidFill>
                            <a:srgbClr val="1F2937"/>
                          </a:solidFill>
                        </a:rPr>
                        <a:t>있음 </a:t>
                      </a:r>
                      <a:pPr indent="0" marL="0">
                        <a:buNone/>
                      </a:pPr>
                      <a:r>
                        <a:rPr lang="en-US" sz="1100" dirty="0">
                          <a:solidFill>
                            <a:srgbClr val="1F2937"/>
                          </a:solidFill>
                        </a:rPr>
                        <a:t>(가정)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기록의 </a:t>
                      </a:r>
                      <a:pPr indent="0" marL="0">
                        <a:buNone/>
                      </a:pPr>
                      <a:r>
                        <a:rPr lang="en-US" sz="1100" dirty="0">
                          <a:solidFill>
                            <a:srgbClr val="1F2937"/>
                          </a:solidFill>
                        </a:rPr>
                        <a:t>형식이 </a:t>
                      </a:r>
                      <a:pPr indent="0" marL="0">
                        <a:buNone/>
                      </a:pPr>
                      <a:r>
                        <a:rPr lang="en-US" sz="1100" dirty="0">
                          <a:solidFill>
                            <a:srgbClr val="1F2937"/>
                          </a:solidFill>
                        </a:rPr>
                        <a:t>일관되지 </a:t>
                      </a:r>
                      <a:pPr indent="0" marL="0">
                        <a:buNone/>
                      </a:pPr>
                      <a:r>
                        <a:rPr lang="en-US" sz="1100" dirty="0">
                          <a:solidFill>
                            <a:srgbClr val="1F2937"/>
                          </a:solidFill>
                        </a:rPr>
                        <a:t>않거나 </a:t>
                      </a:r>
                      <a:pPr indent="0" marL="0">
                        <a:buNone/>
                      </a:pPr>
                      <a:r>
                        <a:rPr lang="en-US" sz="1100" dirty="0">
                          <a:solidFill>
                            <a:srgbClr val="1F2937"/>
                          </a:solidFill>
                        </a:rPr>
                        <a:t>영양값과 </a:t>
                      </a:r>
                      <a:pPr indent="0" marL="0">
                        <a:buNone/>
                      </a:pPr>
                      <a:r>
                        <a:rPr lang="en-US" sz="1100" dirty="0">
                          <a:solidFill>
                            <a:srgbClr val="1F2937"/>
                          </a:solidFill>
                        </a:rPr>
                        <a:t>주간 </a:t>
                      </a:r>
                      <a:pPr indent="0" marL="0">
                        <a:buNone/>
                      </a:pPr>
                      <a:r>
                        <a:rPr lang="en-US" sz="1100" dirty="0">
                          <a:solidFill>
                            <a:srgbClr val="1F2937"/>
                          </a:solidFill>
                        </a:rPr>
                        <a:t>패턴을 </a:t>
                      </a:r>
                      <a:pPr indent="0" marL="0">
                        <a:buNone/>
                      </a:pPr>
                      <a:r>
                        <a:rPr lang="en-US" sz="1100" dirty="0">
                          <a:solidFill>
                            <a:srgbClr val="1F2937"/>
                          </a:solidFill>
                        </a:rPr>
                        <a:t>다시 </a:t>
                      </a:r>
                      <a:pPr indent="0" marL="0">
                        <a:buNone/>
                      </a:pPr>
                      <a:r>
                        <a:rPr lang="en-US" sz="1100" dirty="0">
                          <a:solidFill>
                            <a:srgbClr val="1F2937"/>
                          </a:solidFill>
                        </a:rPr>
                        <a:t>확인하기 </a:t>
                      </a:r>
                      <a:pPr indent="0" marL="0">
                        <a:buNone/>
                      </a:pPr>
                      <a:r>
                        <a:rPr lang="en-US" sz="1100" dirty="0">
                          <a:solidFill>
                            <a:srgbClr val="1F2937"/>
                          </a:solidFill>
                        </a:rPr>
                        <a:t>어려울 </a:t>
                      </a:r>
                      <a:pPr indent="0" marL="0">
                        <a:buNone/>
                      </a:pPr>
                      <a:r>
                        <a:rPr lang="en-US" sz="1100" dirty="0">
                          <a:solidFill>
                            <a:srgbClr val="1F2937"/>
                          </a:solidFill>
                        </a:rPr>
                        <a:t>수 </a:t>
                      </a:r>
                      <a:pPr indent="0" marL="0">
                        <a:buNone/>
                      </a:pPr>
                      <a:r>
                        <a:rPr lang="en-US" sz="1100" dirty="0">
                          <a:solidFill>
                            <a:srgbClr val="1F2937"/>
                          </a:solidFill>
                        </a:rPr>
                        <a:t>있음 </a:t>
                      </a:r>
                      <a:pPr indent="0" marL="0">
                        <a:buNone/>
                      </a:pPr>
                      <a:r>
                        <a:rPr lang="en-US" sz="1100" dirty="0">
                          <a:solidFill>
                            <a:srgbClr val="1F2937"/>
                          </a:solidFill>
                        </a:rPr>
                        <a:t>(가정). </a:t>
                      </a:r>
                      <a:pPr indent="0" marL="0">
                        <a:buNone/>
                      </a:pPr>
                      <a:r>
                        <a:rPr lang="en-US" sz="1100" dirty="0">
                          <a:solidFill>
                            <a:srgbClr val="1F2937"/>
                          </a:solidFill>
                        </a:rPr>
                        <a:t>실제 </a:t>
                      </a:r>
                      <a:pPr indent="0" marL="0">
                        <a:buNone/>
                      </a:pPr>
                      <a:r>
                        <a:rPr lang="en-US" sz="1100" dirty="0">
                          <a:solidFill>
                            <a:srgbClr val="1F2937"/>
                          </a:solidFill>
                        </a:rPr>
                        <a:t>사용 </a:t>
                      </a:r>
                      <a:pPr indent="0" marL="0">
                        <a:buNone/>
                      </a:pPr>
                      <a:r>
                        <a:rPr lang="en-US" sz="1100" dirty="0">
                          <a:solidFill>
                            <a:srgbClr val="1F2937"/>
                          </a:solidFill>
                        </a:rPr>
                        <a:t>행태는 </a:t>
                      </a:r>
                      <a:pPr indent="0" marL="0">
                        <a:buNone/>
                      </a:pPr>
                      <a:r>
                        <a:rPr lang="en-US" sz="1100" dirty="0">
                          <a:solidFill>
                            <a:srgbClr val="1F2937"/>
                          </a:solidFill>
                        </a:rPr>
                        <a:t>조사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 </a:t>
                      </a:r>
                      <a:pPr indent="0" marL="0">
                        <a:buNone/>
                      </a:pPr>
                      <a:r>
                        <a:rPr lang="en-US" sz="1100" dirty="0">
                          <a:solidFill>
                            <a:srgbClr val="1F2937"/>
                          </a:solidFill>
                        </a:rPr>
                        <a:t>시점의 </a:t>
                      </a:r>
                      <a:pPr indent="0" marL="0">
                        <a:buNone/>
                      </a:pPr>
                      <a:r>
                        <a:rPr lang="en-US" sz="1100" dirty="0">
                          <a:solidFill>
                            <a:srgbClr val="1F2937"/>
                          </a:solidFill>
                        </a:rPr>
                        <a:t>음식명·영양값을 </a:t>
                      </a:r>
                      <a:pPr indent="0" marL="0">
                        <a:buNone/>
                      </a:pPr>
                      <a:r>
                        <a:rPr lang="en-US" sz="1100" dirty="0">
                          <a:solidFill>
                            <a:srgbClr val="1F2937"/>
                          </a:solidFill>
                        </a:rPr>
                        <a:t>저장하고, </a:t>
                      </a:r>
                      <a:pPr indent="0" marL="0">
                        <a:buNone/>
                      </a:pPr>
                      <a:r>
                        <a:rPr lang="en-US" sz="1100" dirty="0">
                          <a:solidFill>
                            <a:srgbClr val="1F2937"/>
                          </a:solidFill>
                        </a:rPr>
                        <a:t>기록 </a:t>
                      </a:r>
                      <a:pPr indent="0" marL="0">
                        <a:buNone/>
                      </a:pPr>
                      <a:r>
                        <a:rPr lang="en-US" sz="1100" dirty="0">
                          <a:solidFill>
                            <a:srgbClr val="1F2937"/>
                          </a:solidFill>
                        </a:rPr>
                        <a:t>일수·기록한 </a:t>
                      </a:r>
                      <a:pPr indent="0" marL="0">
                        <a:buNone/>
                      </a:pPr>
                      <a:r>
                        <a:rPr lang="en-US" sz="1100" dirty="0">
                          <a:solidFill>
                            <a:srgbClr val="1F2937"/>
                          </a:solidFill>
                        </a:rPr>
                        <a:t>날의 </a:t>
                      </a:r>
                      <a:pPr indent="0" marL="0">
                        <a:buNone/>
                      </a:pPr>
                      <a:r>
                        <a:rPr lang="en-US" sz="1100" dirty="0">
                          <a:solidFill>
                            <a:srgbClr val="1F2937"/>
                          </a:solidFill>
                        </a:rPr>
                        <a:t>평균 </a:t>
                      </a:r>
                      <a:pPr indent="0" marL="0">
                        <a:buNone/>
                      </a:pPr>
                      <a:r>
                        <a:rPr lang="en-US" sz="1100" dirty="0">
                          <a:solidFill>
                            <a:srgbClr val="1F2937"/>
                          </a:solidFill>
                        </a:rPr>
                        <a:t>영양값·끼니 </a:t>
                      </a:r>
                      <a:pPr indent="0" marL="0">
                        <a:buNone/>
                      </a:pPr>
                      <a:r>
                        <a:rPr lang="en-US" sz="1100" dirty="0">
                          <a:solidFill>
                            <a:srgbClr val="1F2937"/>
                          </a:solidFill>
                        </a:rPr>
                        <a:t>패턴을 </a:t>
                      </a:r>
                      <a:pPr indent="0" marL="0">
                        <a:buNone/>
                      </a:pPr>
                      <a:r>
                        <a:rPr lang="en-US" sz="1100" dirty="0">
                          <a:solidFill>
                            <a:srgbClr val="1F2937"/>
                          </a:solidFill>
                        </a:rPr>
                        <a:t>주간 </a:t>
                      </a:r>
                      <a:pPr indent="0" marL="0">
                        <a:buNone/>
                      </a:pPr>
                      <a:r>
                        <a:rPr lang="en-US" sz="1100" dirty="0">
                          <a:solidFill>
                            <a:srgbClr val="1F2937"/>
                          </a:solidFill>
                        </a:rPr>
                        <a:t>리포트로 </a:t>
                      </a:r>
                      <a:pPr indent="0" marL="0">
                        <a:buNone/>
                      </a:pPr>
                      <a:r>
                        <a:rPr lang="en-US" sz="1100" dirty="0">
                          <a:solidFill>
                            <a:srgbClr val="1F2937"/>
                          </a:solidFill>
                        </a:rPr>
                        <a:t>보여주는 </a:t>
                      </a:r>
                      <a:pPr indent="0" marL="0">
                        <a:buNone/>
                      </a:pPr>
                      <a:r>
                        <a:rPr lang="en-US" sz="1100" dirty="0">
                          <a:solidFill>
                            <a:srgbClr val="1F2937"/>
                          </a:solidFill>
                        </a:rPr>
                        <a:t>방향</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시장 분석 및 경쟁사 현황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경쟁사 조사에서는 국내 음식과 브랜드 상품의 검색 범위, 검색 결과의 정확도, 제공량과 영양 정보의 출처 표시, 정보가 없는 음식의 처리, 기록 수정·삭제, 주간 리포트의 기준을 확인할 필요가 있다.</a:t>
            </a:r>
            <a:endParaRPr lang="en-US" sz="1600" dirty="0"/>
          </a:p>
          <a:p>
            <a:pPr indent="0" marL="0">
              <a:spcAft>
                <a:spcPts val="800"/>
              </a:spcAft>
              <a:buNone/>
            </a:pPr>
            <a:r>
              <a:rPr lang="en-US" sz="1600" dirty="0">
                <a:solidFill>
                  <a:srgbClr val="4B5563"/>
                </a:solidFill>
              </a:rPr>
              <a:t>개인정보 측면에서는 검색어와 식단 기록이 외부 업체로 전달되는지, 기록 데이터가 광고나 제휴에 활용되는지, 계정 삭제 요청과 백업 데이터 삭제가 어떻게 처리되는지도 비교 항목으로 삼을 수 있다. 이 항목들은 조사 제안이며 회의에서 경쟁사별 사실로 확인된 내용은 아니다.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3.3 시장 분석 및 경쟁사 현황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우리의 차별화 방향은 경쟁 제품보다 기능이 많다는 주장에 두기보다, 기록을 쉽게 이어가게 하고 데이터의 한계를 투명하게 설명하는 데 있다. 구체적으로는 음식 검색 실패 시 직접 입력을 지원하고, 영양 정보 없이도 기록을 저장하며, 미기록 날짜를 0으로 표시하지 않고, 기록 당시의 영양값을 보존하는 방향이다.</a:t>
            </a:r>
            <a:endParaRPr lang="en-US" sz="1600" dirty="0"/>
          </a:p>
          <a:p>
            <a:pPr indent="0" marL="0">
              <a:spcAft>
                <a:spcPts val="800"/>
              </a:spcAft>
              <a:buNone/>
            </a:pPr>
            <a:r>
              <a:rPr lang="en-US" sz="1600" dirty="0">
                <a:solidFill>
                  <a:srgbClr val="4B5563"/>
                </a:solidFill>
              </a:rPr>
              <a:t>이 차별화가 실제 사용자 선택에 영향을 주는지는 경쟁 제품 조사와 사용자 테스트를 통해 검증해야 한다.</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 목표</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비즈니스 목표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8주 차에 출시 후보 빌드와 스토어 심사 제출을 목표로 한다.</a:t>
            </a:r>
            <a:pPr indent="0" marL="0">
              <a:spcAft>
                <a:spcPts val="800"/>
              </a:spcAft>
              <a:buNone/>
            </a:pPr>
            <a:r>
              <a:rPr lang="en-US" sz="1600" dirty="0">
                <a:solidFill>
                  <a:srgbClr val="4B5563"/>
                </a:solidFill>
              </a:rPr>
              <a:t> 실제 공개일은 베타 결과와 심사 통과 여부를 확인한 뒤 정하며, 9주 차는 심사 지연에 대비한 완충 기간으로 둔다. </a:t>
            </a:r>
            <a:pPr indent="0" marL="0">
              <a:spcAft>
                <a:spcPts val="800"/>
              </a:spcAft>
              <a:buNone/>
            </a:pPr>
            <a:r>
              <a:rPr lang="en-US" sz="1600" b="1" dirty="0">
                <a:solidFill>
                  <a:srgbClr val="4B5563"/>
                </a:solidFill>
              </a:rPr>
              <a:t>기능 동결은 6주 차 초, 스토어 제출은 7주 차 말 목표</a:t>
            </a:r>
            <a:pPr indent="0" marL="0">
              <a:spcAft>
                <a:spcPts val="800"/>
              </a:spcAft>
              <a:buNone/>
            </a:pPr>
            <a:r>
              <a:rPr lang="en-US" sz="1600" dirty="0">
                <a:solidFill>
                  <a:srgbClr val="4B5563"/>
                </a:solidFill>
              </a:rPr>
              <a:t>로 진행한다.</a:t>
            </a:r>
            <a:endParaRPr lang="en-US" sz="1600" dirty="0"/>
          </a:p>
          <a:p>
            <a:pPr indent="0" marL="0">
              <a:spcAft>
                <a:spcPts val="800"/>
              </a:spcAft>
              <a:buNone/>
            </a:pPr>
            <a:r>
              <a:rPr lang="en-US" sz="1600" dirty="0">
                <a:solidFill>
                  <a:srgbClr val="4B5563"/>
                </a:solidFill>
              </a:rPr>
              <a:t>  · </a:t>
            </a:r>
            <a:pPr indent="0" marL="0">
              <a:spcAft>
                <a:spcPts val="800"/>
              </a:spcAft>
              <a:buNone/>
            </a:pPr>
            <a:r>
              <a:rPr lang="en-US" sz="1600" b="1" dirty="0">
                <a:solidFill>
                  <a:srgbClr val="4B5563"/>
                </a:solidFill>
              </a:rPr>
              <a:t>일정 가정:</a:t>
            </a:r>
            <a:pPr indent="0" marL="0">
              <a:spcAft>
                <a:spcPts val="800"/>
              </a:spcAft>
              <a:buNone/>
            </a:pPr>
            <a:r>
              <a:rPr lang="en-US" sz="1600" dirty="0">
                <a:solidFill>
                  <a:srgbClr val="4B5563"/>
                </a:solidFill>
              </a:rPr>
              <a:t> 개발 지원 인력과 디자인·개발 병행이 계획대로 이뤄지고, 공급처 검토와 심사 준비가 일정에 맞춰 진행되는 경우다. 개발 지원 인력 규모는 확정되지 않았으며, 인력 배정이 달라지면 범위를 다시 조정해야 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비즈니스 목표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MVP를 무료로 출시하고 결제 기능은 넣지 않는다.</a:t>
            </a:r>
            <a:pPr indent="0" marL="0">
              <a:spcAft>
                <a:spcPts val="800"/>
              </a:spcAft>
              <a:buNone/>
            </a:pPr>
            <a:r>
              <a:rPr lang="en-US" sz="1600" dirty="0">
                <a:solidFill>
                  <a:srgbClr val="4B5563"/>
                </a:solidFill>
              </a:rPr>
              <a:t> 베타 운영 후 약 4주간의 실제 사용 자료와 D7 유지율, 주간 기록 일수, 검색 실패율, 리포트 열람률을 검토해 2차 로드맵과 과금 실험을 제안한다. 월 3,900원은 내부 검토용 가설이며 확정 가격이 아니다.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4.1 비즈니스 목표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베타에서 주요 식사 기록 흐름의 완료율 95% 이상, 치명적인 데이터 유실 0건, 크래시 없는 세션 비율 99% 이상을 목표로 검증한다.</a:t>
            </a:r>
            <a:pPr indent="0" marL="0">
              <a:spcAft>
                <a:spcPts val="800"/>
              </a:spcAft>
              <a:buNone/>
            </a:pPr>
            <a:r>
              <a:rPr lang="en-US" sz="1600" dirty="0">
                <a:solidFill>
                  <a:srgbClr val="4B5563"/>
                </a:solidFill>
              </a:rPr>
              <a:t> 회의에서 제시된 베타 품질 목표이며, 참여 인원과 시험 기간을 고려해 결과를 해석한다. 베타 참여 인원은 20~30명으로 계획됐다.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베타 초기 월 운영 비용은 30만 원 안쪽을 검토용 목표로 삼는다.</a:t>
            </a:r>
            <a:pPr indent="0" marL="0">
              <a:spcAft>
                <a:spcPts val="800"/>
              </a:spcAft>
              <a:buNone/>
            </a:pPr>
            <a:r>
              <a:rPr lang="en-US" sz="1600" dirty="0">
                <a:solidFill>
                  <a:srgbClr val="4B5563"/>
                </a:solidFill>
              </a:rPr>
              <a:t> 이는 절대 한도가 아니며, 외부 식품 API 계약과 사용량을 확인한 뒤 비용 추정과 함께 재검토한다. 비용 추정은 사용자 500명·5천 명·5만 명 시나리오를 기준으로 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사용자 목표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첫 실행 후 첫 식사 기록을 2분 이내에 마칠 수 있는지 확인한다.</a:t>
            </a:r>
            <a:pPr indent="0" marL="0">
              <a:spcAft>
                <a:spcPts val="800"/>
              </a:spcAft>
              <a:buNone/>
            </a:pPr>
            <a:r>
              <a:rPr lang="en-US" sz="1600" dirty="0">
                <a:solidFill>
                  <a:srgbClr val="4B5563"/>
                </a:solidFill>
              </a:rPr>
              <a:t> 2분 이내 완료 비율 75% 이상은 검증 가설이며, 베타에서 기준을 확인한다. 검색으로 저장한 경우와 직접 입력한 경우는 구분해 살핀다.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원하는 음식을 검색하거나 최근 기록·즐겨찾기를 활용해 기록하고, 검색 결과가 없거나 API 호출이 실패해도 직접 입력으로 기록을 이어갈 수 있게 한다.</a:t>
            </a:r>
            <a:pPr indent="0" marL="0">
              <a:spcAft>
                <a:spcPts val="800"/>
              </a:spcAft>
              <a:buNone/>
            </a:pPr>
            <a:r>
              <a:rPr lang="en-US" sz="1600" dirty="0">
                <a:solidFill>
                  <a:srgbClr val="4B5563"/>
                </a:solidFill>
              </a:rPr>
              <a:t> 영양 정보를 모르는 음식도 이름만으로 저장할 수 있어야 하며, 기록 완료까지 걸리는 시간과 검색 실패 후 이탈을 베타에서 확인한다.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4.2 사용자 목표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기록한 내용을 날짜별로 다시 확인하고 수정·삭제하며, 주간 리포트에서 지난 기록의 흐름을 파악할 수 있게 한다.</a:t>
            </a:r>
            <a:pPr indent="0" marL="0">
              <a:spcAft>
                <a:spcPts val="800"/>
              </a:spcAft>
              <a:buNone/>
            </a:pPr>
            <a:r>
              <a:rPr lang="en-US" sz="1600" dirty="0">
                <a:solidFill>
                  <a:srgbClr val="4B5563"/>
                </a:solidFill>
              </a:rPr>
              <a:t> 리포트는 한국 시간 기준 월요일부터 일요일까지 완료된 주를 대상으로 하며, 기록 일수와 기록한 날 기준 평균 영양값, 끼니별 기록 패턴을 제공하는 방향이다.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목표를 설정하지 않아도 기록을 사용할 수 있고, 영양 정보의 불확실성이나 기록 누락 때문에 잘못된 평가를 받지 않게 한다.</a:t>
            </a:r>
            <a:pPr indent="0" marL="0">
              <a:spcAft>
                <a:spcPts val="800"/>
              </a:spcAft>
              <a:buNone/>
            </a:pPr>
            <a:r>
              <a:rPr lang="en-US" sz="1600" dirty="0">
                <a:solidFill>
                  <a:srgbClr val="4B5563"/>
                </a:solidFill>
              </a:rPr>
              <a:t> 목표가 없는 사용자는 칼로리 게이지를 보지 않으며, 미기록 날짜와 영양 정보가 없는 상태는 0과 구분한다.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제품 목표 (1/5)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기록 데이터의 일관성을 보장한다.</a:t>
            </a:r>
            <a:pPr indent="0" marL="0">
              <a:spcAft>
                <a:spcPts val="800"/>
              </a:spcAft>
              <a:buNone/>
            </a:pPr>
            <a:r>
              <a:rPr lang="en-US" sz="1600" dirty="0">
                <a:solidFill>
                  <a:srgbClr val="4B5563"/>
                </a:solidFill>
              </a:rPr>
              <a:t> 식사 기록에 기록 당시의 음식명과 영양값을 보존해 외부 음식 데이터가 변경되어도 과거 기록과 리포트가 자동으로 달라지지 않게 한다. 영양 정보가 없는 값은 실제 0과 구분하고, 각 영양소 합계는 해당 영양소 값이 있는 항목만 계산한다.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제품 목표 (2/5)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기록 저장 실패와 재시도로 인한 유실·중복을 방지한다.</a:t>
            </a:r>
            <a:pPr indent="0" marL="0">
              <a:spcAft>
                <a:spcPts val="800"/>
              </a:spcAft>
              <a:buNone/>
            </a:pPr>
            <a:r>
              <a:rPr lang="en-US" sz="1600" dirty="0">
                <a:solidFill>
                  <a:srgbClr val="4B5563"/>
                </a:solidFill>
              </a:rPr>
              <a:t> 입력 중 네트워크가 끊겨도 내용이 보존되는 범위와 재시도 방식은 구현 난이도를 확인해 정한다. 재전송 중복을 막기 위한 요청 ID, 저장 중·완료·실패 상태 표시, 실패 시 입력값 유지가 필요하다. 치명적인 데이터 유실 0건은 베타 품질 목표다.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제품 목표 (3/5)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검색 성능을 내부 처리와 외부 API 처리로 나눠 검증한다. 내부 처리와 외부 API를 포함한 종단 응답 시간 목표는 별도로 확정되지 않았다. 외부 검색 API 응답은 대부분 2초 이내를 목표로 하며, 3초 이상 응답이 없으면 재시도 안내를 제공한다.</a:t>
            </a:r>
            <a:endParaRPr lang="en-US" sz="1600" dirty="0"/>
          </a:p>
          <a:p>
            <a:pPr indent="0" marL="0">
              <a:spcAft>
                <a:spcPts val="800"/>
              </a:spcAft>
              <a:buNone/>
            </a:pPr>
            <a:r>
              <a:rPr lang="en-US" sz="1600" dirty="0">
                <a:solidFill>
                  <a:srgbClr val="4B5563"/>
                </a:solidFill>
              </a:rPr>
              <a:t>한 글자 검색을 허용하고 입력 후 약 350밀리초 동안 대기한 뒤 요청하는 방안은 원문에서 정한 검색 동작이다. 내부 처리 성능의 수치 목표는 검증 후 정한다.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제품 목표 (4/5)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개인정보와 식단 기록의 노출을 최소화한다.</a:t>
            </a:r>
            <a:pPr indent="0" marL="0">
              <a:spcAft>
                <a:spcPts val="800"/>
              </a:spcAft>
              <a:buNone/>
            </a:pPr>
            <a:r>
              <a:rPr lang="en-US" sz="1600" dirty="0">
                <a:solidFill>
                  <a:srgbClr val="4B5563"/>
                </a:solidFill>
              </a:rPr>
              <a:t> 외부 식품 API에는 검색어만 전달하고 사용자 식별 정보나 기록 데이터는 보내지 않는다. 제품 분석 이벤트에는 음식명과 칼로리를 포함하지 않으며, 백업 복구 테스트를 출시 전에 최소 한 번 수행한다.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4.3 제품 목표 (5/5)</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iOS와 안드로이드 공통 앱으로 8주 출시 후보 일정을 추진한다.</a:t>
            </a:r>
            <a:pPr indent="0" marL="0">
              <a:spcAft>
                <a:spcPts val="800"/>
              </a:spcAft>
              <a:buNone/>
            </a:pPr>
            <a:r>
              <a:rPr lang="en-US" sz="1600" dirty="0">
                <a:solidFill>
                  <a:srgbClr val="4B5563"/>
                </a:solidFill>
              </a:rPr>
              <a:t> 크로스플랫폼 개발과 디자인·개발 병행을 전제로 하되, 개발 지원 인력 배정과 로그인·식품 데이터 공급처가 확정되지 않은 항목은 일정 위험으로 관리한다. 일정에 영향이 생기면 사진 자동 인식 등 검증 대상 기능보다 핵심 기록 흐름을 우선한다.</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 대상 사용자</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5.1 사용자 페르소나</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아래 페르소나는 회의에서 확인한 주요 사용자 문제를 바탕으로 구성한 </a:t>
            </a:r>
            <a:pPr indent="0" marL="0">
              <a:spcAft>
                <a:spcPts val="800"/>
              </a:spcAft>
              <a:buNone/>
            </a:pPr>
            <a:r>
              <a:rPr lang="en-US" sz="1600" b="1" dirty="0">
                <a:solidFill>
                  <a:srgbClr val="4B5563"/>
                </a:solidFill>
              </a:rPr>
              <a:t>가상 유형</a:t>
            </a:r>
            <a:pPr indent="0" marL="0">
              <a:spcAft>
                <a:spcPts val="800"/>
              </a:spcAft>
              <a:buNone/>
            </a:pPr>
            <a:r>
              <a:rPr lang="en-US" sz="1600" dirty="0">
                <a:solidFill>
                  <a:srgbClr val="4B5563"/>
                </a:solidFill>
              </a:rPr>
              <a:t>이다. 연령대와 직업은 사용자 인터뷰에서 확인된 사실이 아니며, 실제 대상자의 특성은 인터뷰와 사용성 검증을 통해 확인해야 한다. 회의에서는 현재 식단 앱을 쓰는 사람뿐 아니라 사용을 중단한 사람도 조사하고, 20대와 50대도 일부 포함하는 방안이 논의됐다.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페르소나 1: 기록을 여러 번 시도했지만 번거로워 중단하는 직장인 (1/4)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연령</a:t>
            </a:r>
            <a:pPr indent="0" marL="0">
              <a:spcAft>
                <a:spcPts val="800"/>
              </a:spcAft>
              <a:buNone/>
            </a:pPr>
            <a:r>
              <a:rPr lang="en-US" sz="1600" dirty="0">
                <a:solidFill>
                  <a:srgbClr val="4B5563"/>
                </a:solidFill>
              </a:rPr>
              <a:t>: 30대 (가정)</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직업/직군</a:t>
            </a:r>
            <a:pPr indent="0" marL="0">
              <a:spcAft>
                <a:spcPts val="800"/>
              </a:spcAft>
              <a:buNone/>
            </a:pPr>
            <a:r>
              <a:rPr lang="en-US" sz="1600" dirty="0">
                <a:solidFill>
                  <a:srgbClr val="4B5563"/>
                </a:solidFill>
              </a:rPr>
              <a:t>: 사무직 직장인 (가정)</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기술 수준</a:t>
            </a:r>
            <a:pPr indent="0" marL="0">
              <a:spcAft>
                <a:spcPts val="800"/>
              </a:spcAft>
              <a:buNone/>
            </a:pPr>
            <a:r>
              <a:rPr lang="en-US" sz="1600" dirty="0">
                <a:solidFill>
                  <a:srgbClr val="4B5563"/>
                </a:solidFill>
              </a:rPr>
              <a:t>: 중급 (가정)</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목표</a:t>
            </a:r>
            <a:pPr indent="0" marL="0">
              <a:spcAft>
                <a:spcPts val="800"/>
              </a:spcAft>
              <a:buNone/>
            </a:pPr>
            <a:r>
              <a:rPr lang="en-US" sz="1600" dirty="0">
                <a:solidFill>
                  <a:srgbClr val="4B5563"/>
                </a:solidFill>
              </a:rPr>
              <a:t>:</a:t>
            </a:r>
            <a:endParaRPr lang="en-US" sz="1600" dirty="0"/>
          </a:p>
          <a:p>
            <a:pPr indent="0" marL="0">
              <a:spcAft>
                <a:spcPts val="800"/>
              </a:spcAft>
              <a:buNone/>
            </a:pPr>
            <a:r>
              <a:rPr lang="en-US" sz="1600" dirty="0">
                <a:solidFill>
                  <a:srgbClr val="4B5563"/>
                </a:solidFill>
              </a:rPr>
              <a:t>  · 체중 관리를 위해 먹은 내용을 간단히 기록하고 싶다.</a:t>
            </a:r>
            <a:endParaRPr lang="en-US" sz="1600" dirty="0"/>
          </a:p>
          <a:p>
            <a:pPr indent="0" marL="0">
              <a:spcAft>
                <a:spcPts val="800"/>
              </a:spcAft>
              <a:buNone/>
            </a:pPr>
            <a:r>
              <a:rPr lang="en-US" sz="1600" dirty="0">
                <a:solidFill>
                  <a:srgbClr val="4B5563"/>
                </a:solidFill>
              </a:rPr>
              <a:t>  · 한 끼에 여러 음식을 먹더라도 메뉴를 빠르게 남기고 싶다.</a:t>
            </a:r>
            <a:endParaRPr lang="en-US" sz="1600" dirty="0"/>
          </a:p>
          <a:p>
            <a:pPr indent="0" marL="0">
              <a:spcAft>
                <a:spcPts val="800"/>
              </a:spcAft>
              <a:buNone/>
            </a:pPr>
            <a:r>
              <a:rPr lang="en-US" sz="1600" dirty="0">
                <a:solidFill>
                  <a:srgbClr val="4B5563"/>
                </a:solidFill>
              </a:rPr>
              <a:t>  · 며칠간의 기록을 나중에 한눈에 돌아보고 싶다.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페르소나 1: 기록을 여러 번 시도했지만 번거로워 중단하는 직장인 (2/4)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전문적인 영양 상담보다 기록을 꾸준히 이어가는 데 도움을 받고 싶다.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페인 포인트</a:t>
            </a:r>
            <a:pPr indent="0" marL="0">
              <a:spcAft>
                <a:spcPts val="800"/>
              </a:spcAft>
              <a:buNone/>
            </a:pPr>
            <a:r>
              <a:rPr lang="en-US" sz="1600" dirty="0">
                <a:solidFill>
                  <a:srgbClr val="4B5563"/>
                </a:solidFill>
              </a:rPr>
              <a:t>:</a:t>
            </a:r>
            <a:endParaRPr lang="en-US" sz="1600" dirty="0"/>
          </a:p>
          <a:p>
            <a:pPr indent="0" marL="0">
              <a:spcAft>
                <a:spcPts val="800"/>
              </a:spcAft>
              <a:buNone/>
            </a:pPr>
            <a:r>
              <a:rPr lang="en-US" sz="1600" dirty="0">
                <a:solidFill>
                  <a:srgbClr val="4B5563"/>
                </a:solidFill>
              </a:rPr>
              <a:t>  · 한 끼에 밥, 국, 반찬처럼 여러 메뉴가 있으면 각각 검색하고 기록해야 해 번거롭다.</a:t>
            </a:r>
            <a:endParaRPr lang="en-US" sz="1600" dirty="0"/>
          </a:p>
          <a:p>
            <a:pPr indent="0" marL="0">
              <a:spcAft>
                <a:spcPts val="800"/>
              </a:spcAft>
              <a:buNone/>
            </a:pPr>
            <a:r>
              <a:rPr lang="en-US" sz="1600" dirty="0">
                <a:solidFill>
                  <a:srgbClr val="4B5563"/>
                </a:solidFill>
              </a:rPr>
              <a:t>  · 음식 이름을 찾아도 실제 먹은 양이나 조리법과 맞는지 판단하기 어렵다.</a:t>
            </a:r>
            <a:endParaRPr lang="en-US" sz="1600" dirty="0"/>
          </a:p>
          <a:p>
            <a:pPr indent="0" marL="0">
              <a:spcAft>
                <a:spcPts val="800"/>
              </a:spcAft>
              <a:buNone/>
            </a:pPr>
            <a:r>
              <a:rPr lang="en-US" sz="1600" dirty="0">
                <a:solidFill>
                  <a:srgbClr val="4B5563"/>
                </a:solidFill>
              </a:rPr>
              <a:t>  · 영양 정보를 모르는 음식까지 입력하도록 요구받으면 기록을 포기할 수 있다.</a:t>
            </a:r>
            <a:endParaRPr lang="en-US" sz="1600" dirty="0"/>
          </a:p>
          <a:p>
            <a:pPr indent="0" marL="0">
              <a:spcAft>
                <a:spcPts val="800"/>
              </a:spcAft>
              <a:buNone/>
            </a:pPr>
            <a:r>
              <a:rPr lang="en-US" sz="1600" dirty="0">
                <a:solidFill>
                  <a:srgbClr val="4B5563"/>
                </a:solidFill>
              </a:rPr>
              <a:t>  · 목표 칼로리나 기록 결과가 평가처럼 보이면 부담을 느낄 수 있다.</a:t>
            </a:r>
            <a:endParaRPr lang="en-US" sz="1600" dirty="0"/>
          </a:p>
          <a:p>
            <a:pPr indent="0" marL="0">
              <a:spcAft>
                <a:spcPts val="800"/>
              </a:spcAft>
              <a:buNone/>
            </a:pPr>
            <a:r>
              <a:rPr lang="en-US" sz="1600" dirty="0">
                <a:solidFill>
                  <a:srgbClr val="4B5563"/>
                </a:solidFill>
              </a:rPr>
              <a:t>  · 기록을 마치기 전에 통신이 끊기거나 저장 여부를 알기 어려우면 입력 내용을 잃을까 걱정한다.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페르소나 1: 기록을 여러 번 시도했지만 번거로워 중단하는 직장인 (3/4)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행동 패턴</a:t>
            </a:r>
            <a:pPr indent="0" marL="0">
              <a:spcAft>
                <a:spcPts val="800"/>
              </a:spcAft>
              <a:buNone/>
            </a:pPr>
            <a:r>
              <a:rPr lang="en-US" sz="1600" dirty="0">
                <a:solidFill>
                  <a:srgbClr val="4B5563"/>
                </a:solidFill>
              </a:rPr>
              <a:t>:</a:t>
            </a:r>
            <a:endParaRPr lang="en-US" sz="1600" dirty="0"/>
          </a:p>
          <a:p>
            <a:pPr indent="0" marL="0">
              <a:spcAft>
                <a:spcPts val="800"/>
              </a:spcAft>
              <a:buNone/>
            </a:pPr>
            <a:r>
              <a:rPr lang="en-US" sz="1600" dirty="0">
                <a:solidFill>
                  <a:srgbClr val="4B5563"/>
                </a:solidFill>
              </a:rPr>
              <a:t>  · 식단을 기록해야겠다고 생각해도 입력 단계가 길거나 검색 결과가 맞지 않으면 기록을 미룰 수 있다.</a:t>
            </a:r>
            <a:endParaRPr lang="en-US" sz="1600" dirty="0"/>
          </a:p>
          <a:p>
            <a:pPr indent="0" marL="0">
              <a:spcAft>
                <a:spcPts val="800"/>
              </a:spcAft>
              <a:buNone/>
            </a:pPr>
            <a:r>
              <a:rPr lang="en-US" sz="1600" dirty="0">
                <a:solidFill>
                  <a:srgbClr val="4B5563"/>
                </a:solidFill>
              </a:rPr>
              <a:t>  · 자주 먹는 음식은 최근 기록이나 즐겨찾기로 다시 불러오는 방식이 편리할 수 있다.</a:t>
            </a:r>
            <a:endParaRPr lang="en-US" sz="1600" dirty="0"/>
          </a:p>
          <a:p>
            <a:pPr indent="0" marL="0">
              <a:spcAft>
                <a:spcPts val="800"/>
              </a:spcAft>
              <a:buNone/>
            </a:pPr>
            <a:r>
              <a:rPr lang="en-US" sz="1600" dirty="0">
                <a:solidFill>
                  <a:srgbClr val="4B5563"/>
                </a:solidFill>
              </a:rPr>
              <a:t>  · 음식 검색에 실패하면 직접 입력으로 기록을 이어갈 수 있기를 기대한다.</a:t>
            </a:r>
            <a:endParaRPr lang="en-US" sz="1600" dirty="0"/>
          </a:p>
          <a:p>
            <a:pPr indent="0" marL="0">
              <a:spcAft>
                <a:spcPts val="800"/>
              </a:spcAft>
              <a:buNone/>
            </a:pPr>
            <a:r>
              <a:rPr lang="en-US" sz="1600" dirty="0">
                <a:solidFill>
                  <a:srgbClr val="4B5563"/>
                </a:solidFill>
              </a:rPr>
              <a:t>  · 영양 정보가 확실하지 않더라도 음식 이름만 저장하고, 기록 자체는 남기려는 상황이 있을 수 있다.</a:t>
            </a:r>
            <a:endParaRPr lang="en-US" sz="1600" dirty="0"/>
          </a:p>
          <a:p>
            <a:pPr indent="0" marL="0">
              <a:spcAft>
                <a:spcPts val="800"/>
              </a:spcAft>
              <a:buNone/>
            </a:pPr>
            <a:r>
              <a:rPr lang="en-US" sz="1600" dirty="0">
                <a:solidFill>
                  <a:srgbClr val="4B5563"/>
                </a:solidFill>
              </a:rPr>
              <a:t>  · 주간 리포트에서는 미기록 날짜와 기록된 날의 평균을 구분해 확인하고 싶어 할 수 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페르소나 1: 기록을 여러 번 시도했지만 번거로워 중단하는 직장인 (4/4)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인용구</a:t>
            </a:r>
            <a:pPr indent="0" marL="0">
              <a:spcAft>
                <a:spcPts val="800"/>
              </a:spcAft>
              <a:buNone/>
            </a:pPr>
            <a:r>
              <a:rPr lang="en-US" sz="1600" dirty="0">
                <a:solidFill>
                  <a:srgbClr val="4B5563"/>
                </a:solidFill>
              </a:rPr>
              <a:t>: “한 끼에 메뉴가 여러 개면 칼로리 계산이 귀찮아서 며칠 하다가 접게 되잖아요.”
</a:t>
            </a:r>
            <a:pPr indent="0" marL="0">
              <a:spcAft>
                <a:spcPts val="800"/>
              </a:spcAft>
              <a:buNone/>
            </a:pPr>
            <a:r>
              <a:rPr lang="en-US" sz="1600" i="1" dirty="0">
                <a:solidFill>
                  <a:srgbClr val="4B5563"/>
                </a:solidFill>
              </a:rPr>
              <a:t>(회의에서 이대표가 자신의 경험을 예로 들어 한 발언. 가상의 사용자 인터뷰 발언은 아님.)</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페르소나 2: 목표를 강요받지 않고 식사 패턴을 확인하고 싶은 사용자 (1/4)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연령</a:t>
            </a:r>
            <a:pPr indent="0" marL="0">
              <a:spcAft>
                <a:spcPts val="800"/>
              </a:spcAft>
              <a:buNone/>
            </a:pPr>
            <a:r>
              <a:rPr lang="en-US" sz="1600" dirty="0">
                <a:solidFill>
                  <a:srgbClr val="4B5563"/>
                </a:solidFill>
              </a:rPr>
              <a:t>: 50대 (가정)</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직업/직군</a:t>
            </a:r>
            <a:pPr indent="0" marL="0">
              <a:spcAft>
                <a:spcPts val="800"/>
              </a:spcAft>
              <a:buNone/>
            </a:pPr>
            <a:r>
              <a:rPr lang="en-US" sz="1600" dirty="0">
                <a:solidFill>
                  <a:srgbClr val="4B5563"/>
                </a:solidFill>
              </a:rPr>
              <a:t>: 직업 미정. 사용자 조사에서 다양한 연령대를 포함하기 위한 가상 유형이며, 직업 특성은 확인되지 않음.</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기술 수준</a:t>
            </a:r>
            <a:pPr indent="0" marL="0">
              <a:spcAft>
                <a:spcPts val="800"/>
              </a:spcAft>
              <a:buNone/>
            </a:pPr>
            <a:r>
              <a:rPr lang="en-US" sz="1600" dirty="0">
                <a:solidFill>
                  <a:srgbClr val="4B5563"/>
                </a:solidFill>
              </a:rPr>
              <a:t>: 초급~중급 (가정)</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목표</a:t>
            </a:r>
            <a:pPr indent="0" marL="0">
              <a:spcAft>
                <a:spcPts val="800"/>
              </a:spcAft>
              <a:buNone/>
            </a:pPr>
            <a:r>
              <a:rPr lang="en-US" sz="1600" dirty="0">
                <a:solidFill>
                  <a:srgbClr val="4B5563"/>
                </a:solidFill>
              </a:rPr>
              <a:t>:</a:t>
            </a:r>
            <a:endParaRPr lang="en-US" sz="1600" dirty="0"/>
          </a:p>
          <a:p>
            <a:pPr indent="0" marL="0">
              <a:spcAft>
                <a:spcPts val="800"/>
              </a:spcAft>
              <a:buNone/>
            </a:pPr>
            <a:r>
              <a:rPr lang="en-US" sz="1600" dirty="0">
                <a:solidFill>
                  <a:srgbClr val="4B5563"/>
                </a:solidFill>
              </a:rPr>
              <a:t>  · 체중 관리를 염두에 두되, 신체 정보를 모두 입력하거나 칼로리 목표를 먼저 설정하지 않고 기록을 시작하고 싶다.</a:t>
            </a:r>
            <a:endParaRPr lang="en-US" sz="1600" dirty="0"/>
          </a:p>
          <a:p>
            <a:pPr indent="0" marL="0">
              <a:spcAft>
                <a:spcPts val="800"/>
              </a:spcAft>
              <a:buNone/>
            </a:pPr>
            <a:r>
              <a:rPr lang="en-US" sz="1600" dirty="0">
                <a:solidFill>
                  <a:srgbClr val="4B5563"/>
                </a:solidFill>
              </a:rPr>
              <a:t>  · 특정 날짜에 먹은 음식을 기록하고 나중에 찾아보고 싶다.</a:t>
            </a:r>
            <a:endParaRPr lang="en-US" sz="1600" dirty="0"/>
          </a:p>
          <a:p>
            <a:pPr indent="0" marL="0">
              <a:spcAft>
                <a:spcPts val="800"/>
              </a:spcAft>
              <a:buNone/>
            </a:pPr>
            <a:r>
              <a:rPr lang="en-US" sz="1600" dirty="0">
                <a:solidFill>
                  <a:srgbClr val="4B5563"/>
                </a:solidFill>
              </a:rPr>
              <a:t>  · 기록을 바탕으로 지난주에 며칠 기록했는지, 어떤 식사 구분을 자주 기록했는지 확인하고 싶다.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페르소나 2: 목표를 강요받지 않고 식사 패턴을 확인하고 싶은 사용자 (2/4)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수치에 대한 평가나 건강 점수보다 기록 내용을 중립적으로 살펴보고 싶다.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페인 포인트</a:t>
            </a:r>
            <a:pPr indent="0" marL="0">
              <a:spcAft>
                <a:spcPts val="800"/>
              </a:spcAft>
              <a:buNone/>
            </a:pPr>
            <a:r>
              <a:rPr lang="en-US" sz="1600" dirty="0">
                <a:solidFill>
                  <a:srgbClr val="4B5563"/>
                </a:solidFill>
              </a:rPr>
              <a:t>:</a:t>
            </a:r>
            <a:endParaRPr lang="en-US" sz="1600" dirty="0"/>
          </a:p>
          <a:p>
            <a:pPr indent="0" marL="0">
              <a:spcAft>
                <a:spcPts val="800"/>
              </a:spcAft>
              <a:buNone/>
            </a:pPr>
            <a:r>
              <a:rPr lang="en-US" sz="1600" dirty="0">
                <a:solidFill>
                  <a:srgbClr val="4B5563"/>
                </a:solidFill>
              </a:rPr>
              <a:t>  · 가입 초기에 키·체중·나이·성별 등 민감하게 느낄 수 있는 정보를 한꺼번에 요구받으면 시작을 망설일 수 있다.</a:t>
            </a:r>
            <a:endParaRPr lang="en-US" sz="1600" dirty="0"/>
          </a:p>
          <a:p>
            <a:pPr indent="0" marL="0">
              <a:spcAft>
                <a:spcPts val="800"/>
              </a:spcAft>
              <a:buNone/>
            </a:pPr>
            <a:r>
              <a:rPr lang="en-US" sz="1600" dirty="0">
                <a:solidFill>
                  <a:srgbClr val="4B5563"/>
                </a:solidFill>
              </a:rPr>
              <a:t>  · 자동으로 제안된 칼로리 목표가 근거가 불분명하거나 의학적 권고처럼 보이면 신뢰하기 어렵다.</a:t>
            </a:r>
            <a:endParaRPr lang="en-US" sz="1600" dirty="0"/>
          </a:p>
          <a:p>
            <a:pPr indent="0" marL="0">
              <a:spcAft>
                <a:spcPts val="800"/>
              </a:spcAft>
              <a:buNone/>
            </a:pPr>
            <a:r>
              <a:rPr lang="en-US" sz="1600" dirty="0">
                <a:solidFill>
                  <a:srgbClr val="4B5563"/>
                </a:solidFill>
              </a:rPr>
              <a:t>  · 기록이 없는 날을 0으로 표시하면 실제로 먹지 않은 날로 오해할 수 있다.</a:t>
            </a:r>
            <a:endParaRPr lang="en-US" sz="1600" dirty="0"/>
          </a:p>
          <a:p>
            <a:pPr indent="0" marL="0">
              <a:spcAft>
                <a:spcPts val="800"/>
              </a:spcAft>
              <a:buNone/>
            </a:pPr>
            <a:r>
              <a:rPr lang="en-US" sz="1600" dirty="0">
                <a:solidFill>
                  <a:srgbClr val="4B5563"/>
                </a:solidFill>
              </a:rPr>
              <a:t>  · 영양 정보가 일부 없는 음식이 합계에서 빠지는 이유를 알기 어려우면 리포트를 믿기 어렵다.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페르소나 2: 목표를 강요받지 않고 식사 패턴을 확인하고 싶은 사용자 (3/4)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계정 삭제나 기록 삭제 절차가 불분명하면 자신의 식사 기록과 개인정보가 어떻게 처리되는지 걱정할 수 있다.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행동 패턴</a:t>
            </a:r>
            <a:pPr indent="0" marL="0">
              <a:spcAft>
                <a:spcPts val="800"/>
              </a:spcAft>
              <a:buNone/>
            </a:pPr>
            <a:r>
              <a:rPr lang="en-US" sz="1600" dirty="0">
                <a:solidFill>
                  <a:srgbClr val="4B5563"/>
                </a:solidFill>
              </a:rPr>
              <a:t>:</a:t>
            </a:r>
            <a:endParaRPr lang="en-US" sz="1600" dirty="0"/>
          </a:p>
          <a:p>
            <a:pPr indent="0" marL="0">
              <a:spcAft>
                <a:spcPts val="800"/>
              </a:spcAft>
              <a:buNone/>
            </a:pPr>
            <a:r>
              <a:rPr lang="en-US" sz="1600" dirty="0">
                <a:solidFill>
                  <a:srgbClr val="4B5563"/>
                </a:solidFill>
              </a:rPr>
              <a:t>  · 목표를 설정하지 않고 기록만 시작할 수 있는 선택지가 있는지 확인할 수 있다.</a:t>
            </a:r>
            <a:endParaRPr lang="en-US" sz="1600" dirty="0"/>
          </a:p>
          <a:p>
            <a:pPr indent="0" marL="0">
              <a:spcAft>
                <a:spcPts val="800"/>
              </a:spcAft>
              <a:buNone/>
            </a:pPr>
            <a:r>
              <a:rPr lang="en-US" sz="1600" dirty="0">
                <a:solidFill>
                  <a:srgbClr val="4B5563"/>
                </a:solidFill>
              </a:rPr>
              <a:t>  · 검색 결과의 제공량과 영양 정보 출처를 살펴보고, 값이 없는 음식은 이름 중심으로 기록할 수 있다.</a:t>
            </a:r>
            <a:endParaRPr lang="en-US" sz="1600" dirty="0"/>
          </a:p>
          <a:p>
            <a:pPr indent="0" marL="0">
              <a:spcAft>
                <a:spcPts val="800"/>
              </a:spcAft>
              <a:buNone/>
            </a:pPr>
            <a:r>
              <a:rPr lang="en-US" sz="1600" dirty="0">
                <a:solidFill>
                  <a:srgbClr val="4B5563"/>
                </a:solidFill>
              </a:rPr>
              <a:t>  · 기록을 늦게 입력하는 경우가 있을 수 있으므로, 실제 섭취 날짜를 입력 날짜와 다르게 지정할 수 있기를 원할 수 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페르소나 2: 목표를 강요받지 않고 식사 패턴을 확인하고 싶은 사용자 (4/4)</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 주간 리포트에서 기록된 내용 기준이라는 설명과 영양 정보 누락 안내를 확인할 수 있다.</a:t>
            </a:r>
            <a:endParaRPr lang="en-US" sz="1600" dirty="0"/>
          </a:p>
          <a:p>
            <a:pPr indent="0" marL="0">
              <a:spcAft>
                <a:spcPts val="800"/>
              </a:spcAft>
              <a:buNone/>
            </a:pPr>
            <a:r>
              <a:rPr lang="en-US" sz="1600" dirty="0">
                <a:solidFill>
                  <a:srgbClr val="4B5563"/>
                </a:solidFill>
              </a:rPr>
              <a:t>  · 알림은 필요할 때만 선택하고, 원하지 않으면 앱의 다른 기능을 계속 사용할 수 있기를 기대할 수 있다.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인용구</a:t>
            </a:r>
            <a:pPr indent="0" marL="0">
              <a:spcAft>
                <a:spcPts val="800"/>
              </a:spcAft>
              <a:buNone/>
            </a:pPr>
            <a:r>
              <a:rPr lang="en-US" sz="1600" dirty="0">
                <a:solidFill>
                  <a:srgbClr val="4B5563"/>
                </a:solidFill>
              </a:rPr>
              <a:t>: “가입하자마자 몸무게, 키, 나이, 성별 다 물어보면 빠져나가요. 처음엔 건너뛰기가 있어야 합니다.”
</a:t>
            </a:r>
            <a:pPr indent="0" marL="0">
              <a:spcAft>
                <a:spcPts val="800"/>
              </a:spcAft>
              <a:buNone/>
            </a:pPr>
            <a:r>
              <a:rPr lang="en-US" sz="1600" i="1" dirty="0">
                <a:solidFill>
                  <a:srgbClr val="4B5563"/>
                </a:solidFill>
              </a:rPr>
              <a:t>(회의에서 이대표가 온보딩 입력 부담에 관해 한 발언. 가상의 사용자 인터뷰 발언은 아님.)</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페르소나 요약</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856301"/>
                <a:gridCol w="495014"/>
                <a:gridCol w="742520"/>
                <a:gridCol w="680644"/>
                <a:gridCol w="2227561"/>
                <a:gridCol w="2227561"/>
              </a:tblGrid>
              <a:tr h="0">
                <a:tc>
                  <a:txBody>
                    <a:bodyPr/>
                    <a:lstStyle/>
                    <a:p>
                      <a:pPr indent="0" marL="0">
                        <a:buNone/>
                      </a:pPr>
                      <a:r>
                        <a:rPr lang="en-US" sz="1200" b="1" dirty="0">
                          <a:solidFill>
                            <a:srgbClr val="FFFFFF"/>
                          </a:solidFill>
                        </a:rPr>
                        <a:t>페르소나</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연령</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직업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기술 </a:t>
                      </a:r>
                      <a:pPr indent="0" marL="0">
                        <a:buNone/>
                      </a:pPr>
                      <a:r>
                        <a:rPr lang="en-US" sz="1200" b="1" dirty="0">
                          <a:solidFill>
                            <a:srgbClr val="FFFFFF"/>
                          </a:solidFill>
                        </a:rPr>
                        <a:t>수준</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주요 </a:t>
                      </a:r>
                      <a:pPr indent="0" marL="0">
                        <a:buNone/>
                      </a:pPr>
                      <a:r>
                        <a:rPr lang="en-US" sz="1200" b="1" dirty="0">
                          <a:solidFill>
                            <a:srgbClr val="FFFFFF"/>
                          </a:solidFill>
                        </a:rPr>
                        <a:t>목표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주요 </a:t>
                      </a:r>
                      <a:pPr indent="0" marL="0">
                        <a:buNone/>
                      </a:pPr>
                      <a:r>
                        <a:rPr lang="en-US" sz="1200" b="1" dirty="0">
                          <a:solidFill>
                            <a:srgbClr val="FFFFFF"/>
                          </a:solidFill>
                        </a:rPr>
                        <a:t>페인 </a:t>
                      </a:r>
                      <a:pPr indent="0" marL="0">
                        <a:buNone/>
                      </a:pPr>
                      <a:r>
                        <a:rPr lang="en-US" sz="1200" b="1" dirty="0">
                          <a:solidFill>
                            <a:srgbClr val="FFFFFF"/>
                          </a:solidFill>
                        </a:rPr>
                        <a:t>포인트</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기록을 </a:t>
                      </a:r>
                      <a:pPr indent="0" marL="0">
                        <a:buNone/>
                      </a:pPr>
                      <a:r>
                        <a:rPr lang="en-US" sz="1100" dirty="0">
                          <a:solidFill>
                            <a:srgbClr val="1F2937"/>
                          </a:solidFill>
                        </a:rPr>
                        <a:t>여러 </a:t>
                      </a:r>
                      <a:pPr indent="0" marL="0">
                        <a:buNone/>
                      </a:pPr>
                      <a:r>
                        <a:rPr lang="en-US" sz="1100" dirty="0">
                          <a:solidFill>
                            <a:srgbClr val="1F2937"/>
                          </a:solidFill>
                        </a:rPr>
                        <a:t>번 </a:t>
                      </a:r>
                      <a:pPr indent="0" marL="0">
                        <a:buNone/>
                      </a:pPr>
                      <a:r>
                        <a:rPr lang="en-US" sz="1100" dirty="0">
                          <a:solidFill>
                            <a:srgbClr val="1F2937"/>
                          </a:solidFill>
                        </a:rPr>
                        <a:t>시도했지만 </a:t>
                      </a:r>
                      <a:pPr indent="0" marL="0">
                        <a:buNone/>
                      </a:pPr>
                      <a:r>
                        <a:rPr lang="en-US" sz="1100" dirty="0">
                          <a:solidFill>
                            <a:srgbClr val="1F2937"/>
                          </a:solidFill>
                        </a:rPr>
                        <a:t>번거로워 </a:t>
                      </a:r>
                      <a:pPr indent="0" marL="0">
                        <a:buNone/>
                      </a:pPr>
                      <a:r>
                        <a:rPr lang="en-US" sz="1100" dirty="0">
                          <a:solidFill>
                            <a:srgbClr val="1F2937"/>
                          </a:solidFill>
                        </a:rPr>
                        <a:t>중단하는 </a:t>
                      </a:r>
                      <a:pPr indent="0" marL="0">
                        <a:buNone/>
                      </a:pPr>
                      <a:r>
                        <a:rPr lang="en-US" sz="1100" dirty="0">
                          <a:solidFill>
                            <a:srgbClr val="1F2937"/>
                          </a:solidFill>
                        </a:rPr>
                        <a:t>직장인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30대 </a:t>
                      </a:r>
                      <a:pPr indent="0" marL="0">
                        <a:buNone/>
                      </a:pPr>
                      <a:r>
                        <a:rPr lang="en-US" sz="1100" dirty="0">
                          <a:solidFill>
                            <a:srgbClr val="1F2937"/>
                          </a:solidFill>
                        </a:rPr>
                        <a:t>(가정)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사무직 </a:t>
                      </a:r>
                      <a:pPr indent="0" marL="0">
                        <a:buNone/>
                      </a:pPr>
                      <a:r>
                        <a:rPr lang="en-US" sz="1100" dirty="0">
                          <a:solidFill>
                            <a:srgbClr val="1F2937"/>
                          </a:solidFill>
                        </a:rPr>
                        <a:t>직장인 </a:t>
                      </a:r>
                      <a:pPr indent="0" marL="0">
                        <a:buNone/>
                      </a:pPr>
                      <a:r>
                        <a:rPr lang="en-US" sz="1100" dirty="0">
                          <a:solidFill>
                            <a:srgbClr val="1F2937"/>
                          </a:solidFill>
                        </a:rPr>
                        <a:t>(가정)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중급 </a:t>
                      </a:r>
                      <a:pPr indent="0" marL="0">
                        <a:buNone/>
                      </a:pPr>
                      <a:r>
                        <a:rPr lang="en-US" sz="1100" dirty="0">
                          <a:solidFill>
                            <a:srgbClr val="1F2937"/>
                          </a:solidFill>
                        </a:rPr>
                        <a:t>(가정)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여러 </a:t>
                      </a:r>
                      <a:pPr indent="0" marL="0">
                        <a:buNone/>
                      </a:pPr>
                      <a:r>
                        <a:rPr lang="en-US" sz="1100" dirty="0">
                          <a:solidFill>
                            <a:srgbClr val="1F2937"/>
                          </a:solidFill>
                        </a:rPr>
                        <a:t>음식이 </a:t>
                      </a:r>
                      <a:pPr indent="0" marL="0">
                        <a:buNone/>
                      </a:pPr>
                      <a:r>
                        <a:rPr lang="en-US" sz="1100" dirty="0">
                          <a:solidFill>
                            <a:srgbClr val="1F2937"/>
                          </a:solidFill>
                        </a:rPr>
                        <a:t>포함된 </a:t>
                      </a:r>
                      <a:pPr indent="0" marL="0">
                        <a:buNone/>
                      </a:pPr>
                      <a:r>
                        <a:rPr lang="en-US" sz="1100" dirty="0">
                          <a:solidFill>
                            <a:srgbClr val="1F2937"/>
                          </a:solidFill>
                        </a:rPr>
                        <a:t>한 </a:t>
                      </a:r>
                      <a:pPr indent="0" marL="0">
                        <a:buNone/>
                      </a:pPr>
                      <a:r>
                        <a:rPr lang="en-US" sz="1100" dirty="0">
                          <a:solidFill>
                            <a:srgbClr val="1F2937"/>
                          </a:solidFill>
                        </a:rPr>
                        <a:t>끼를 </a:t>
                      </a:r>
                      <a:pPr indent="0" marL="0">
                        <a:buNone/>
                      </a:pPr>
                      <a:r>
                        <a:rPr lang="en-US" sz="1100" dirty="0">
                          <a:solidFill>
                            <a:srgbClr val="1F2937"/>
                          </a:solidFill>
                        </a:rPr>
                        <a:t>간단히 </a:t>
                      </a:r>
                      <a:pPr indent="0" marL="0">
                        <a:buNone/>
                      </a:pPr>
                      <a:r>
                        <a:rPr lang="en-US" sz="1100" dirty="0">
                          <a:solidFill>
                            <a:srgbClr val="1F2937"/>
                          </a:solidFill>
                        </a:rPr>
                        <a:t>기록하고, </a:t>
                      </a:r>
                      <a:pPr indent="0" marL="0">
                        <a:buNone/>
                      </a:pPr>
                      <a:r>
                        <a:rPr lang="en-US" sz="1100" dirty="0">
                          <a:solidFill>
                            <a:srgbClr val="1F2937"/>
                          </a:solidFill>
                        </a:rPr>
                        <a:t>나중에 </a:t>
                      </a:r>
                      <a:pPr indent="0" marL="0">
                        <a:buNone/>
                      </a:pPr>
                      <a:r>
                        <a:rPr lang="en-US" sz="1100" dirty="0">
                          <a:solidFill>
                            <a:srgbClr val="1F2937"/>
                          </a:solidFill>
                        </a:rPr>
                        <a:t>기록을 </a:t>
                      </a:r>
                      <a:pPr indent="0" marL="0">
                        <a:buNone/>
                      </a:pPr>
                      <a:r>
                        <a:rPr lang="en-US" sz="1100" dirty="0">
                          <a:solidFill>
                            <a:srgbClr val="1F2937"/>
                          </a:solidFill>
                        </a:rPr>
                        <a:t>돌아보기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음식별 </a:t>
                      </a:r>
                      <a:pPr indent="0" marL="0">
                        <a:buNone/>
                      </a:pPr>
                      <a:r>
                        <a:rPr lang="en-US" sz="1100" dirty="0">
                          <a:solidFill>
                            <a:srgbClr val="1F2937"/>
                          </a:solidFill>
                        </a:rPr>
                        <a:t>검색과 </a:t>
                      </a:r>
                      <a:pPr indent="0" marL="0">
                        <a:buNone/>
                      </a:pPr>
                      <a:r>
                        <a:rPr lang="en-US" sz="1100" dirty="0">
                          <a:solidFill>
                            <a:srgbClr val="1F2937"/>
                          </a:solidFill>
                        </a:rPr>
                        <a:t>양 </a:t>
                      </a:r>
                      <a:pPr indent="0" marL="0">
                        <a:buNone/>
                      </a:pPr>
                      <a:r>
                        <a:rPr lang="en-US" sz="1100" dirty="0">
                          <a:solidFill>
                            <a:srgbClr val="1F2937"/>
                          </a:solidFill>
                        </a:rPr>
                        <a:t>입력의 </a:t>
                      </a:r>
                      <a:pPr indent="0" marL="0">
                        <a:buNone/>
                      </a:pPr>
                      <a:r>
                        <a:rPr lang="en-US" sz="1100" dirty="0">
                          <a:solidFill>
                            <a:srgbClr val="1F2937"/>
                          </a:solidFill>
                        </a:rPr>
                        <a:t>번거로움, </a:t>
                      </a:r>
                      <a:pPr indent="0" marL="0">
                        <a:buNone/>
                      </a:pPr>
                      <a:r>
                        <a:rPr lang="en-US" sz="1100" dirty="0">
                          <a:solidFill>
                            <a:srgbClr val="1F2937"/>
                          </a:solidFill>
                        </a:rPr>
                        <a:t>검색 </a:t>
                      </a:r>
                      <a:pPr indent="0" marL="0">
                        <a:buNone/>
                      </a:pPr>
                      <a:r>
                        <a:rPr lang="en-US" sz="1100" dirty="0">
                          <a:solidFill>
                            <a:srgbClr val="1F2937"/>
                          </a:solidFill>
                        </a:rPr>
                        <a:t>실패, </a:t>
                      </a:r>
                      <a:pPr indent="0" marL="0">
                        <a:buNone/>
                      </a:pPr>
                      <a:r>
                        <a:rPr lang="en-US" sz="1100" dirty="0">
                          <a:solidFill>
                            <a:srgbClr val="1F2937"/>
                          </a:solidFill>
                        </a:rPr>
                        <a:t>저장 </a:t>
                      </a:r>
                      <a:pPr indent="0" marL="0">
                        <a:buNone/>
                      </a:pPr>
                      <a:r>
                        <a:rPr lang="en-US" sz="1100" dirty="0">
                          <a:solidFill>
                            <a:srgbClr val="1F2937"/>
                          </a:solidFill>
                        </a:rPr>
                        <a:t>여부 </a:t>
                      </a:r>
                      <a:pPr indent="0" marL="0">
                        <a:buNone/>
                      </a:pPr>
                      <a:r>
                        <a:rPr lang="en-US" sz="1100" dirty="0">
                          <a:solidFill>
                            <a:srgbClr val="1F2937"/>
                          </a:solidFill>
                        </a:rPr>
                        <a:t>불확실성</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목표를 </a:t>
                      </a:r>
                      <a:pPr indent="0" marL="0">
                        <a:buNone/>
                      </a:pPr>
                      <a:r>
                        <a:rPr lang="en-US" sz="1100" dirty="0">
                          <a:solidFill>
                            <a:srgbClr val="1F2937"/>
                          </a:solidFill>
                        </a:rPr>
                        <a:t>강요받지 </a:t>
                      </a:r>
                      <a:pPr indent="0" marL="0">
                        <a:buNone/>
                      </a:pPr>
                      <a:r>
                        <a:rPr lang="en-US" sz="1100" dirty="0">
                          <a:solidFill>
                            <a:srgbClr val="1F2937"/>
                          </a:solidFill>
                        </a:rPr>
                        <a:t>않고 </a:t>
                      </a:r>
                      <a:pPr indent="0" marL="0">
                        <a:buNone/>
                      </a:pPr>
                      <a:r>
                        <a:rPr lang="en-US" sz="1100" dirty="0">
                          <a:solidFill>
                            <a:srgbClr val="1F2937"/>
                          </a:solidFill>
                        </a:rPr>
                        <a:t>식사 </a:t>
                      </a:r>
                      <a:pPr indent="0" marL="0">
                        <a:buNone/>
                      </a:pPr>
                      <a:r>
                        <a:rPr lang="en-US" sz="1100" dirty="0">
                          <a:solidFill>
                            <a:srgbClr val="1F2937"/>
                          </a:solidFill>
                        </a:rPr>
                        <a:t>패턴을 </a:t>
                      </a:r>
                      <a:pPr indent="0" marL="0">
                        <a:buNone/>
                      </a:pPr>
                      <a:r>
                        <a:rPr lang="en-US" sz="1100" dirty="0">
                          <a:solidFill>
                            <a:srgbClr val="1F2937"/>
                          </a:solidFill>
                        </a:rPr>
                        <a:t>확인하고 </a:t>
                      </a:r>
                      <a:pPr indent="0" marL="0">
                        <a:buNone/>
                      </a:pPr>
                      <a:r>
                        <a:rPr lang="en-US" sz="1100" dirty="0">
                          <a:solidFill>
                            <a:srgbClr val="1F2937"/>
                          </a:solidFill>
                        </a:rPr>
                        <a:t>싶은 </a:t>
                      </a:r>
                      <a:pPr indent="0" marL="0">
                        <a:buNone/>
                      </a:pPr>
                      <a:r>
                        <a:rPr lang="en-US" sz="1100" dirty="0">
                          <a:solidFill>
                            <a:srgbClr val="1F2937"/>
                          </a:solidFill>
                        </a:rPr>
                        <a:t>사용자</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50대 </a:t>
                      </a:r>
                      <a:pPr indent="0" marL="0">
                        <a:buNone/>
                      </a:pPr>
                      <a:r>
                        <a:rPr lang="en-US" sz="1100" dirty="0">
                          <a:solidFill>
                            <a:srgbClr val="1F2937"/>
                          </a:solidFill>
                        </a:rPr>
                        <a:t>(가정)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직업 </a:t>
                      </a:r>
                      <a:pPr indent="0" marL="0">
                        <a:buNone/>
                      </a:pPr>
                      <a:r>
                        <a:rPr lang="en-US" sz="1100" dirty="0">
                          <a:solidFill>
                            <a:srgbClr val="1F2937"/>
                          </a:solidFill>
                        </a:rPr>
                        <a:t>미정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초급~중급 </a:t>
                      </a:r>
                      <a:pPr indent="0" marL="0">
                        <a:buNone/>
                      </a:pPr>
                      <a:r>
                        <a:rPr lang="en-US" sz="1100" dirty="0">
                          <a:solidFill>
                            <a:srgbClr val="1F2937"/>
                          </a:solidFill>
                        </a:rPr>
                        <a:t>(가정)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신체 </a:t>
                      </a:r>
                      <a:pPr indent="0" marL="0">
                        <a:buNone/>
                      </a:pPr>
                      <a:r>
                        <a:rPr lang="en-US" sz="1100" dirty="0">
                          <a:solidFill>
                            <a:srgbClr val="1F2937"/>
                          </a:solidFill>
                        </a:rPr>
                        <a:t>정보나 </a:t>
                      </a:r>
                      <a:pPr indent="0" marL="0">
                        <a:buNone/>
                      </a:pPr>
                      <a:r>
                        <a:rPr lang="en-US" sz="1100" dirty="0">
                          <a:solidFill>
                            <a:srgbClr val="1F2937"/>
                          </a:solidFill>
                        </a:rPr>
                        <a:t>목표를 </a:t>
                      </a:r>
                      <a:pPr indent="0" marL="0">
                        <a:buNone/>
                      </a:pPr>
                      <a:r>
                        <a:rPr lang="en-US" sz="1100" dirty="0">
                          <a:solidFill>
                            <a:srgbClr val="1F2937"/>
                          </a:solidFill>
                        </a:rPr>
                        <a:t>입력하지 </a:t>
                      </a:r>
                      <a:pPr indent="0" marL="0">
                        <a:buNone/>
                      </a:pPr>
                      <a:r>
                        <a:rPr lang="en-US" sz="1100" dirty="0">
                          <a:solidFill>
                            <a:srgbClr val="1F2937"/>
                          </a:solidFill>
                        </a:rPr>
                        <a:t>않고 </a:t>
                      </a:r>
                      <a:pPr indent="0" marL="0">
                        <a:buNone/>
                      </a:pPr>
                      <a:r>
                        <a:rPr lang="en-US" sz="1100" dirty="0">
                          <a:solidFill>
                            <a:srgbClr val="1F2937"/>
                          </a:solidFill>
                        </a:rPr>
                        <a:t>시작해 </a:t>
                      </a:r>
                      <a:pPr indent="0" marL="0">
                        <a:buNone/>
                      </a:pPr>
                      <a:r>
                        <a:rPr lang="en-US" sz="1100" dirty="0">
                          <a:solidFill>
                            <a:srgbClr val="1F2937"/>
                          </a:solidFill>
                        </a:rPr>
                        <a:t>기록과 </a:t>
                      </a:r>
                      <a:pPr indent="0" marL="0">
                        <a:buNone/>
                      </a:pPr>
                      <a:r>
                        <a:rPr lang="en-US" sz="1100" dirty="0">
                          <a:solidFill>
                            <a:srgbClr val="1F2937"/>
                          </a:solidFill>
                        </a:rPr>
                        <a:t>주간 </a:t>
                      </a:r>
                      <a:pPr indent="0" marL="0">
                        <a:buNone/>
                      </a:pPr>
                      <a:r>
                        <a:rPr lang="en-US" sz="1100" dirty="0">
                          <a:solidFill>
                            <a:srgbClr val="1F2937"/>
                          </a:solidFill>
                        </a:rPr>
                        <a:t>패턴을 </a:t>
                      </a:r>
                      <a:pPr indent="0" marL="0">
                        <a:buNone/>
                      </a:pPr>
                      <a:r>
                        <a:rPr lang="en-US" sz="1100" dirty="0">
                          <a:solidFill>
                            <a:srgbClr val="1F2937"/>
                          </a:solidFill>
                        </a:rPr>
                        <a:t>확인하기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민감 </a:t>
                      </a:r>
                      <a:pPr indent="0" marL="0">
                        <a:buNone/>
                      </a:pPr>
                      <a:r>
                        <a:rPr lang="en-US" sz="1100" dirty="0">
                          <a:solidFill>
                            <a:srgbClr val="1F2937"/>
                          </a:solidFill>
                        </a:rPr>
                        <a:t>정보 </a:t>
                      </a:r>
                      <a:pPr indent="0" marL="0">
                        <a:buNone/>
                      </a:pPr>
                      <a:r>
                        <a:rPr lang="en-US" sz="1100" dirty="0">
                          <a:solidFill>
                            <a:srgbClr val="1F2937"/>
                          </a:solidFill>
                        </a:rPr>
                        <a:t>입력 </a:t>
                      </a:r>
                      <a:pPr indent="0" marL="0">
                        <a:buNone/>
                      </a:pPr>
                      <a:r>
                        <a:rPr lang="en-US" sz="1100" dirty="0">
                          <a:solidFill>
                            <a:srgbClr val="1F2937"/>
                          </a:solidFill>
                        </a:rPr>
                        <a:t>부담, </a:t>
                      </a:r>
                      <a:pPr indent="0" marL="0">
                        <a:buNone/>
                      </a:pPr>
                      <a:r>
                        <a:rPr lang="en-US" sz="1100" dirty="0">
                          <a:solidFill>
                            <a:srgbClr val="1F2937"/>
                          </a:solidFill>
                        </a:rPr>
                        <a:t>근거가 </a:t>
                      </a:r>
                      <a:pPr indent="0" marL="0">
                        <a:buNone/>
                      </a:pPr>
                      <a:r>
                        <a:rPr lang="en-US" sz="1100" dirty="0">
                          <a:solidFill>
                            <a:srgbClr val="1F2937"/>
                          </a:solidFill>
                        </a:rPr>
                        <a:t>불분명한 </a:t>
                      </a:r>
                      <a:pPr indent="0" marL="0">
                        <a:buNone/>
                      </a:pPr>
                      <a:r>
                        <a:rPr lang="en-US" sz="1100" dirty="0">
                          <a:solidFill>
                            <a:srgbClr val="1F2937"/>
                          </a:solidFill>
                        </a:rPr>
                        <a:t>목표 </a:t>
                      </a:r>
                      <a:pPr indent="0" marL="0">
                        <a:buNone/>
                      </a:pPr>
                      <a:r>
                        <a:rPr lang="en-US" sz="1100" dirty="0">
                          <a:solidFill>
                            <a:srgbClr val="1F2937"/>
                          </a:solidFill>
                        </a:rPr>
                        <a:t>수치, </a:t>
                      </a:r>
                      <a:pPr indent="0" marL="0">
                        <a:buNone/>
                      </a:pPr>
                      <a:r>
                        <a:rPr lang="en-US" sz="1100" dirty="0">
                          <a:solidFill>
                            <a:srgbClr val="1F2937"/>
                          </a:solidFill>
                        </a:rPr>
                        <a:t>미기록·영양 </a:t>
                      </a:r>
                      <a:pPr indent="0" marL="0">
                        <a:buNone/>
                      </a:pPr>
                      <a:r>
                        <a:rPr lang="en-US" sz="1100" dirty="0">
                          <a:solidFill>
                            <a:srgbClr val="1F2937"/>
                          </a:solidFill>
                        </a:rPr>
                        <a:t>정보 </a:t>
                      </a:r>
                      <a:pPr indent="0" marL="0">
                        <a:buNone/>
                      </a:pPr>
                      <a:r>
                        <a:rPr lang="en-US" sz="1100" dirty="0">
                          <a:solidFill>
                            <a:srgbClr val="1F2937"/>
                          </a:solidFill>
                        </a:rPr>
                        <a:t>누락의 </a:t>
                      </a:r>
                      <a:pPr indent="0" marL="0">
                        <a:buNone/>
                      </a:pPr>
                      <a:r>
                        <a:rPr lang="en-US" sz="1100" dirty="0">
                          <a:solidFill>
                            <a:srgbClr val="1F2937"/>
                          </a:solidFill>
                        </a:rPr>
                        <a:t>오해</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5.2 사용자 시나리오</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시나리오 1: 여러 음식이 포함된 한 끼를 빠르게 기록하기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배경</a:t>
            </a:r>
            <a:pPr indent="0" marL="0">
              <a:spcAft>
                <a:spcPts val="800"/>
              </a:spcAft>
              <a:buNone/>
            </a:pPr>
            <a:r>
              <a:rPr lang="en-US" sz="1600" dirty="0">
                <a:solidFill>
                  <a:srgbClr val="4B5563"/>
                </a:solidFill>
              </a:rPr>
              <a:t>: 사용자는 점심으로 밥과 국, 반찬을 먹었다. 한 가지 음식만 고르는 것으로는 실제 식사를 표현하기 어렵고, 먹은 양을 정확한 무게로 알기도 어렵다. 기록을 시작했지만 음식마다 검색하고 세부 정보를 입력해야 한다면 중단할 수 있다.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행동</a:t>
            </a:r>
            <a:pPr indent="0" marL="0">
              <a:spcAft>
                <a:spcPts val="800"/>
              </a:spcAft>
              <a:buNone/>
            </a:pPr>
            <a:r>
              <a:rPr lang="en-US" sz="1600" dirty="0">
                <a:solidFill>
                  <a:srgbClr val="4B5563"/>
                </a:solidFill>
              </a:rPr>
              <a:t>:</a:t>
            </a:r>
            <a:endParaRPr lang="en-US" sz="1600" dirty="0"/>
          </a:p>
          <a:p>
            <a:pPr indent="0" marL="0">
              <a:spcAft>
                <a:spcPts val="800"/>
              </a:spcAft>
              <a:buNone/>
            </a:pPr>
            <a:r>
              <a:rPr lang="en-US" sz="1600" dirty="0">
                <a:solidFill>
                  <a:srgbClr val="4B5563"/>
                </a:solidFill>
              </a:rPr>
              <a:t>  1. 사용자는 홈에서 점심 기록 추가를 선택한다.</a:t>
            </a:r>
            <a:endParaRPr lang="en-US" sz="1600" dirty="0"/>
          </a:p>
          <a:p>
            <a:pPr indent="0" marL="0">
              <a:spcAft>
                <a:spcPts val="800"/>
              </a:spcAft>
              <a:buNone/>
            </a:pPr>
            <a:r>
              <a:rPr lang="en-US" sz="1600" dirty="0">
                <a:solidFill>
                  <a:srgbClr val="4B5563"/>
                </a:solidFill>
              </a:rPr>
              <a:t>  2. 음식 추가 화면에서 최근 기록이나 즐겨찾기를 확인하고, 없는 음식은 검색한다.</a:t>
            </a:r>
            <a:endParaRPr lang="en-US" sz="1600" dirty="0"/>
          </a:p>
          <a:p>
            <a:pPr indent="0" marL="0">
              <a:spcAft>
                <a:spcPts val="800"/>
              </a:spcAft>
              <a:buNone/>
            </a:pPr>
            <a:r>
              <a:rPr lang="en-US" sz="1600" dirty="0">
                <a:solidFill>
                  <a:srgbClr val="4B5563"/>
                </a:solidFill>
              </a:rPr>
              <a:t>  3. 검색 결과에서 음식명과 제공량, 확인 가능한 영양 정보와 출처를 살펴본다.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시나리오 1: 여러 음식이 포함된 한 끼를 빠르게 기록하기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4. 제공량이 있는 음식은 제공량의 배수로 양을 조절하고, 직접 입력 음식은 영양 정보 없이도 저장할 수 있다.</a:t>
            </a:r>
            <a:endParaRPr lang="en-US" sz="1600" dirty="0"/>
          </a:p>
          <a:p>
            <a:pPr indent="0" marL="0">
              <a:spcAft>
                <a:spcPts val="800"/>
              </a:spcAft>
              <a:buNone/>
            </a:pPr>
            <a:r>
              <a:rPr lang="en-US" sz="1600" dirty="0">
                <a:solidFill>
                  <a:srgbClr val="4B5563"/>
                </a:solidFill>
              </a:rPr>
              <a:t>  5. 밥, 국, 반찬을 각각 추가한다. 한 항목을 저장할 때마다 기록에 반영하고, 같은 날짜와 식사 구분의 항목은 점심 기록으로 합산해 보여준다.</a:t>
            </a:r>
            <a:endParaRPr lang="en-US" sz="1600" dirty="0"/>
          </a:p>
          <a:p>
            <a:pPr indent="0" marL="0">
              <a:spcAft>
                <a:spcPts val="800"/>
              </a:spcAft>
              <a:buNone/>
            </a:pPr>
            <a:r>
              <a:rPr lang="en-US" sz="1600" dirty="0">
                <a:solidFill>
                  <a:srgbClr val="4B5563"/>
                </a:solidFill>
              </a:rPr>
              <a:t>  6. 필요한 경우 사용자는 기록을 수정하거나 삭제한다.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목표</a:t>
            </a:r>
            <a:pPr indent="0" marL="0">
              <a:spcAft>
                <a:spcPts val="800"/>
              </a:spcAft>
              <a:buNone/>
            </a:pPr>
            <a:r>
              <a:rPr lang="en-US" sz="1600" dirty="0">
                <a:solidFill>
                  <a:srgbClr val="4B5563"/>
                </a:solidFill>
              </a:rPr>
              <a:t>: 한 끼에 여러 음식이 있어도 기록 흐름이 복잡해지지 않도록 식사를 남긴다.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시나리오 1: 여러 음식이 포함된 한 끼를 빠르게 기록하기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결과</a:t>
            </a:r>
            <a:pPr indent="0" marL="0">
              <a:spcAft>
                <a:spcPts val="800"/>
              </a:spcAft>
              <a:buNone/>
            </a:pPr>
            <a:r>
              <a:rPr lang="en-US" sz="1600" dirty="0">
                <a:solidFill>
                  <a:srgbClr val="4B5563"/>
                </a:solidFill>
              </a:rPr>
              <a:t>: 사용자는 검색 결과가 없거나 영양 정보가 부족해도 직접 입력으로 기록을 마칠 수 있다. 영양 정보가 없는 항목은 0으로 처리하지 않고 영양 합계에서 구분하며, 기록 자체는 남는다. 음식의 영양값은 기록 당시 값으로 보존되어 이후 외부 음식 데이터가 바뀌어도 과거 기록이 조용히 달라지지 않는다.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시나리오 2: 목표 없이 시작해 식사 기록을 확인하기 (1/3)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배경</a:t>
            </a:r>
            <a:pPr indent="0" marL="0">
              <a:spcAft>
                <a:spcPts val="800"/>
              </a:spcAft>
              <a:buNone/>
            </a:pPr>
            <a:r>
              <a:rPr lang="en-US" sz="1600" dirty="0">
                <a:solidFill>
                  <a:srgbClr val="4B5563"/>
                </a:solidFill>
              </a:rPr>
              <a:t>: 사용자는 식사 기록을 해보고 싶지만, 가입 직후 신체 정보를 입력하거나 칼로리 목표를 정하고 싶지는 않다. 영양 수치가 건강에 관한 확정적인 조언이나 평가처럼 보이는 것도 원하지 않는다.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행동</a:t>
            </a:r>
            <a:pPr indent="0" marL="0">
              <a:spcAft>
                <a:spcPts val="800"/>
              </a:spcAft>
              <a:buNone/>
            </a:pPr>
            <a:r>
              <a:rPr lang="en-US" sz="1600" dirty="0">
                <a:solidFill>
                  <a:srgbClr val="4B5563"/>
                </a:solidFill>
              </a:rPr>
              <a:t>:</a:t>
            </a:r>
            <a:endParaRPr lang="en-US" sz="1600" dirty="0"/>
          </a:p>
          <a:p>
            <a:pPr indent="0" marL="0">
              <a:spcAft>
                <a:spcPts val="800"/>
              </a:spcAft>
              <a:buNone/>
            </a:pPr>
            <a:r>
              <a:rPr lang="en-US" sz="1600" dirty="0">
                <a:solidFill>
                  <a:srgbClr val="4B5563"/>
                </a:solidFill>
              </a:rPr>
              <a:t>  1. 사용자는 가입 또는 시작 과정에서 목표 없이 기록하는 선택지를 고른다.</a:t>
            </a:r>
            <a:endParaRPr lang="en-US" sz="1600" dirty="0"/>
          </a:p>
          <a:p>
            <a:pPr indent="0" marL="0">
              <a:spcAft>
                <a:spcPts val="800"/>
              </a:spcAft>
              <a:buNone/>
            </a:pPr>
            <a:r>
              <a:rPr lang="en-US" sz="1600" dirty="0">
                <a:solidFill>
                  <a:srgbClr val="4B5563"/>
                </a:solidFill>
              </a:rPr>
              <a:t>  2. 음식 검색, 최근 기록, 즐겨찾기 또는 직접 입력으로 식사를 기록한다.</a:t>
            </a:r>
            <a:endParaRPr lang="en-US" sz="1600" dirty="0"/>
          </a:p>
          <a:p>
            <a:pPr indent="0" marL="0">
              <a:spcAft>
                <a:spcPts val="800"/>
              </a:spcAft>
              <a:buNone/>
            </a:pPr>
            <a:r>
              <a:rPr lang="en-US" sz="1600" dirty="0">
                <a:solidFill>
                  <a:srgbClr val="4B5563"/>
                </a:solidFill>
              </a:rPr>
              <a:t>  3. 홈에서 칼로리 목표 달성 여부 대신 오늘 기록 상태를 확인한다.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시나리오 2: 목표 없이 시작해 식사 기록을 확인하기 (2/3)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4. 목표가 없는 상태에서는 칼로리 목표 게이지 없이 기록된 식사와 영양 정보를 살펴본다.</a:t>
            </a:r>
            <a:endParaRPr lang="en-US" sz="1600" dirty="0"/>
          </a:p>
          <a:p>
            <a:pPr indent="0" marL="0">
              <a:spcAft>
                <a:spcPts val="800"/>
              </a:spcAft>
              <a:buNone/>
            </a:pPr>
            <a:r>
              <a:rPr lang="en-US" sz="1600" dirty="0">
                <a:solidFill>
                  <a:srgbClr val="4B5563"/>
                </a:solidFill>
              </a:rPr>
              <a:t>  5. 사용자는 지난주 리포트를 열어 기록한 날 수와 기록된 날 기준 평균 영양값, 끼니별 기록 패턴을 확인한다.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목표</a:t>
            </a:r>
            <a:pPr indent="0" marL="0">
              <a:spcAft>
                <a:spcPts val="800"/>
              </a:spcAft>
              <a:buNone/>
            </a:pPr>
            <a:r>
              <a:rPr lang="en-US" sz="1600" dirty="0">
                <a:solidFill>
                  <a:srgbClr val="4B5563"/>
                </a:solidFill>
              </a:rPr>
              <a:t>: 목표 수치를 정하지 않고도 식사 기록과 기록 기반 정보를 이용한다.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시나리오 2: 목표 없이 시작해 식사 기록을 확인하기 (3/3)</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결과</a:t>
            </a:r>
            <a:pPr indent="0" marL="0">
              <a:spcAft>
                <a:spcPts val="800"/>
              </a:spcAft>
              <a:buNone/>
            </a:pPr>
            <a:r>
              <a:rPr lang="en-US" sz="1600" dirty="0">
                <a:solidFill>
                  <a:srgbClr val="4B5563"/>
                </a:solidFill>
              </a:rPr>
              <a:t>: 사용자는 목표 설정이나 신체 정보 입력을 완료하지 않아도 기록을 이어갈 수 있다. 리포트에는 미기록 날짜를 0으로 표시하지 않고, 평균이 기록된 날을 기준으로 계산된다는 점과 실제 섭취량이 아니라 기록된 내용 기준이라는 점을 안내한다. 목표가 없는 경우 목표 비교는 제공하지 않는다.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시나리오 3: 먹은 날과 다른 날에 기록하고 주간 리포트에서 확인하기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배경</a:t>
            </a:r>
            <a:pPr indent="0" marL="0">
              <a:spcAft>
                <a:spcPts val="800"/>
              </a:spcAft>
              <a:buNone/>
            </a:pPr>
            <a:r>
              <a:rPr lang="en-US" sz="1600" dirty="0">
                <a:solidFill>
                  <a:srgbClr val="4B5563"/>
                </a:solidFill>
              </a:rPr>
              <a:t>: 사용자는 어제 먹은 음식을 오늘 뒤늦게 기록하려 한다. 입력한 날짜와 실제 섭취 날짜가 다르면 기록이 잘못된 주간 리포트에 포함될 수 있다.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행동</a:t>
            </a:r>
            <a:pPr indent="0" marL="0">
              <a:spcAft>
                <a:spcPts val="800"/>
              </a:spcAft>
              <a:buNone/>
            </a:pPr>
            <a:r>
              <a:rPr lang="en-US" sz="1600" dirty="0">
                <a:solidFill>
                  <a:srgbClr val="4B5563"/>
                </a:solidFill>
              </a:rPr>
              <a:t>:</a:t>
            </a:r>
            <a:endParaRPr lang="en-US" sz="1600" dirty="0"/>
          </a:p>
          <a:p>
            <a:pPr indent="0" marL="0">
              <a:spcAft>
                <a:spcPts val="800"/>
              </a:spcAft>
              <a:buNone/>
            </a:pPr>
            <a:r>
              <a:rPr lang="en-US" sz="1600" dirty="0">
                <a:solidFill>
                  <a:srgbClr val="4B5563"/>
                </a:solidFill>
              </a:rPr>
              <a:t>  1. 사용자는 기록을 추가하면서 실제 섭취 날짜를 선택한다.</a:t>
            </a:r>
            <a:endParaRPr lang="en-US" sz="1600" dirty="0"/>
          </a:p>
          <a:p>
            <a:pPr indent="0" marL="0">
              <a:spcAft>
                <a:spcPts val="800"/>
              </a:spcAft>
              <a:buNone/>
            </a:pPr>
            <a:r>
              <a:rPr lang="en-US" sz="1600" dirty="0">
                <a:solidFill>
                  <a:srgbClr val="4B5563"/>
                </a:solidFill>
              </a:rPr>
              <a:t>  2. 음식 검색이나 직접 입력으로 먹은 항목을 저장하고, 필요하면 식사 구분과 양을 조정한다.</a:t>
            </a:r>
            <a:endParaRPr lang="en-US" sz="1600" dirty="0"/>
          </a:p>
          <a:p>
            <a:pPr indent="0" marL="0">
              <a:spcAft>
                <a:spcPts val="800"/>
              </a:spcAft>
              <a:buNone/>
            </a:pPr>
            <a:r>
              <a:rPr lang="en-US" sz="1600" dirty="0">
                <a:solidFill>
                  <a:srgbClr val="4B5563"/>
                </a:solidFill>
              </a:rPr>
              <a:t>  3. 사용자는 주간 리포트를 열어 해당 식사가 실제 섭취 날짜 기준으로 반영됐는지 확인한다.</a:t>
            </a:r>
            <a:endParaRPr lang="en-US" sz="1600" dirty="0"/>
          </a:p>
          <a:p>
            <a:pPr indent="0" marL="0">
              <a:spcAft>
                <a:spcPts val="800"/>
              </a:spcAft>
              <a:buNone/>
            </a:pPr>
            <a:r>
              <a:rPr lang="en-US" sz="1600" dirty="0">
                <a:solidFill>
                  <a:srgbClr val="4B5563"/>
                </a:solidFill>
              </a:rPr>
              <a:t>  4. 기록을 수정하거나 삭제한 뒤 리포트를 다시 열어 갱신된 내용을 확인한다.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시나리오 3: 먹은 날과 다른 날에 기록하고 주간 리포트에서 확인하기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목표</a:t>
            </a:r>
            <a:pPr indent="0" marL="0">
              <a:spcAft>
                <a:spcPts val="800"/>
              </a:spcAft>
              <a:buNone/>
            </a:pPr>
            <a:r>
              <a:rPr lang="en-US" sz="1600" dirty="0">
                <a:solidFill>
                  <a:srgbClr val="4B5563"/>
                </a:solidFill>
              </a:rPr>
              <a:t>: 기록을 입력한 시점이 아니라 실제로 먹은 날짜에 맞춰 식사 이력을 관리한다.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결과</a:t>
            </a:r>
            <a:pPr indent="0" marL="0">
              <a:spcAft>
                <a:spcPts val="800"/>
              </a:spcAft>
              <a:buNone/>
            </a:pPr>
            <a:r>
              <a:rPr lang="en-US" sz="1600" dirty="0">
                <a:solidFill>
                  <a:srgbClr val="4B5563"/>
                </a:solidFill>
              </a:rPr>
              <a:t>: 식사에는 기록 시각과 섭취 날짜가 구분되어 보관되고, 리포트는 섭취 날짜를 기준으로 계산된다. 리포트는 사용자가 화면을 열 때 기록 시점의 영양값을 기준으로 계산하며, 수정·삭제 후 다시 열면 갱신한다. 과거 음식 정보의 자동 변경으로 이전 리포트 수치가 달라지지 않는다.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시나리오 4: 기록 알림을 선택적으로 설정하기 (1/2)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배경</a:t>
            </a:r>
            <a:pPr indent="0" marL="0">
              <a:spcAft>
                <a:spcPts val="800"/>
              </a:spcAft>
              <a:buNone/>
            </a:pPr>
            <a:r>
              <a:rPr lang="en-US" sz="1600" dirty="0">
                <a:solidFill>
                  <a:srgbClr val="4B5563"/>
                </a:solidFill>
              </a:rPr>
              <a:t>: 사용자는 식사 기록을 잊지 않도록 알림을 받고 싶을 수 있지만, 알림을 원하지 않거나 잠금 화면에 개인 기록이 표시되는 것을 원하지 않을 수도 있다.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행동</a:t>
            </a:r>
            <a:pPr indent="0" marL="0">
              <a:spcAft>
                <a:spcPts val="800"/>
              </a:spcAft>
              <a:buNone/>
            </a:pPr>
            <a:r>
              <a:rPr lang="en-US" sz="1600" dirty="0">
                <a:solidFill>
                  <a:srgbClr val="4B5563"/>
                </a:solidFill>
              </a:rPr>
              <a:t>:</a:t>
            </a:r>
            <a:endParaRPr lang="en-US" sz="1600" dirty="0"/>
          </a:p>
          <a:p>
            <a:pPr indent="0" marL="0">
              <a:spcAft>
                <a:spcPts val="800"/>
              </a:spcAft>
              <a:buNone/>
            </a:pPr>
            <a:r>
              <a:rPr lang="en-US" sz="1600" dirty="0">
                <a:solidFill>
                  <a:srgbClr val="4B5563"/>
                </a:solidFill>
              </a:rPr>
              <a:t>  1. 사용자는 앱 안에서 기록 알림을 받을지 선택한다.</a:t>
            </a:r>
            <a:endParaRPr lang="en-US" sz="1600" dirty="0"/>
          </a:p>
          <a:p>
            <a:pPr indent="0" marL="0">
              <a:spcAft>
                <a:spcPts val="800"/>
              </a:spcAft>
              <a:buNone/>
            </a:pPr>
            <a:r>
              <a:rPr lang="en-US" sz="1600" dirty="0">
                <a:solidFill>
                  <a:srgbClr val="4B5563"/>
                </a:solidFill>
              </a:rPr>
              <a:t>  2. 알림을 켜기로 한 경우 원하는 시간을 설정하고, 실제 알림에 필요한 운영체제 권한을 요청받는다.</a:t>
            </a:r>
            <a:endParaRPr lang="en-US" sz="1600" dirty="0"/>
          </a:p>
          <a:p>
            <a:pPr indent="0" marL="0">
              <a:spcAft>
                <a:spcPts val="800"/>
              </a:spcAft>
              <a:buNone/>
            </a:pPr>
            <a:r>
              <a:rPr lang="en-US" sz="1600" dirty="0">
                <a:solidFill>
                  <a:srgbClr val="4B5563"/>
                </a:solidFill>
              </a:rPr>
              <a:t>  3. 사용자는 설정 화면에서 알림을 끄거나 시간을 변경한다.</a:t>
            </a:r>
            <a:endParaRPr lang="en-US" sz="1600" dirty="0"/>
          </a:p>
          <a:p>
            <a:pPr indent="0" marL="0">
              <a:spcAft>
                <a:spcPts val="800"/>
              </a:spcAft>
              <a:buNone/>
            </a:pPr>
            <a:r>
              <a:rPr lang="en-US" sz="1600" dirty="0">
                <a:solidFill>
                  <a:srgbClr val="4B5563"/>
                </a:solidFill>
              </a:rPr>
              <a:t>  4. 그날 식사 기록이 한 건 이상 있으면 기록 알림은 발송되지 않는다.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시나리오 4: 기록 알림을 선택적으로 설정하기 (2/2)</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목표</a:t>
            </a:r>
            <a:pPr indent="0" marL="0">
              <a:spcAft>
                <a:spcPts val="800"/>
              </a:spcAft>
              <a:buNone/>
            </a:pPr>
            <a:r>
              <a:rPr lang="en-US" sz="1600" dirty="0">
                <a:solidFill>
                  <a:srgbClr val="4B5563"/>
                </a:solidFill>
              </a:rPr>
              <a:t>: 필요한 경우에만 알림을 받고, 알림을 선택하지 않아도 기록과 리포트 기능을 이용한다.</a:t>
            </a:r>
            <a:endParaRPr lang="en-US" sz="1600" dirty="0"/>
          </a:p>
          <a:p>
            <a:pPr indent="0" marL="0">
              <a:spcAft>
                <a:spcPts val="800"/>
              </a:spcAft>
              <a:buNone/>
            </a:pPr>
            <a:r>
              <a:rPr lang="en-US" sz="1600" dirty="0">
                <a:solidFill>
                  <a:srgbClr val="4B5563"/>
                </a:solidFill>
              </a:rPr>
              <a:t>· </a:t>
            </a:r>
            <a:pPr indent="0" marL="0">
              <a:spcAft>
                <a:spcPts val="800"/>
              </a:spcAft>
              <a:buNone/>
            </a:pPr>
            <a:r>
              <a:rPr lang="en-US" sz="1600" b="1" dirty="0">
                <a:solidFill>
                  <a:srgbClr val="4B5563"/>
                </a:solidFill>
              </a:rPr>
              <a:t>결과</a:t>
            </a:r>
            <a:pPr indent="0" marL="0">
              <a:spcAft>
                <a:spcPts val="800"/>
              </a:spcAft>
              <a:buNone/>
            </a:pPr>
            <a:r>
              <a:rPr lang="en-US" sz="1600" dirty="0">
                <a:solidFill>
                  <a:srgbClr val="4B5563"/>
                </a:solidFill>
              </a:rPr>
              <a:t>: 알림은 기본값으로 켜지지 않으며, 사용자가 선택하지 않아도 가입과 앱 사용이 가능하다. 기록 알림은 하루 최대 한 번으로 제한하고, 알림 문구에는 음식명이나 칼로리 등 개인 기록을 포함하지 않는다. 주간 리포트는 푸시를 켜지 않아도 앱에서 확인할 수 있다.</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6. 기능 요구사항 (Functional Requirements)</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생성 실패: 429 Rate limit reached for gpt-6-luna in organization org-MghvUY0hoQQmIuRZi5oONt5H on tokens per min (TPM): Limit 200000, Used 162617, Requested 63675. Please try again in 7.887s.</a:t>
            </a:r>
            <a:endParaRPr lang="en-US" sz="1600" dirty="0"/>
          </a:p>
          <a:p>
            <a:pPr indent="0" marL="0">
              <a:spcAft>
                <a:spcPts val="800"/>
              </a:spcAft>
              <a:buNone/>
            </a:pPr>
            <a:r>
              <a:rPr lang="en-US" sz="1600" dirty="0">
                <a:solidFill>
                  <a:srgbClr val="4B5563"/>
                </a:solidFill>
              </a:rPr>
              <a:t>Visit </a:t>
            </a:r>
            <a:pPr indent="0" marL="0">
              <a:spcAft>
                <a:spcPts val="800"/>
              </a:spcAft>
              <a:buNone/>
            </a:pPr>
            <a:r>
              <a:rPr lang="en-US" sz="1600" dirty="0">
                <a:solidFill>
                  <a:srgbClr val="4B5563"/>
                </a:solidFill>
              </a:rPr>
              <a:t>https://platform.openai.com/account/rate-limits</a:t>
            </a:r>
            <a:pPr indent="0" marL="0">
              <a:spcAft>
                <a:spcPts val="800"/>
              </a:spcAft>
              <a:buNone/>
            </a:pPr>
            <a:r>
              <a:rPr lang="en-US" sz="1600" dirty="0">
                <a:solidFill>
                  <a:srgbClr val="4B5563"/>
                </a:solidFill>
              </a:rPr>
              <a:t> to learn more.</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7. 비기능 요구사항 (Non-functional Requirements)</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생성 실패: 선행 섹션 확인 필요: functional-req</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8. UI/UX 가이드라인</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생성 실패: 선행 섹션 확인 필요: functional-req</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9. 기술 요구사항</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생성 실패: 선행 섹션 확인 필요: functional-req</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10. 릴리스 계획</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생성 실패: 선행 섹션 확인 필요: functional-req</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11. 비용 및 리소스</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생성 실패: 선행 섹션 확인 필요: release-plan</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12. SaaS 운영 요소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생성 실패: 선행 섹션 확인 필요: functional-req</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13. 리스크 및 대응</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생성 실패: 선행 섹션 확인 필요: release-plan</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14. 성공 기준</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생성 실패: 선행 섹션 확인 필요: release-plan</a:t>
            </a:r>
            <a:endParaRPr lang="en-US" sz="1600" dirty="0"/>
          </a:p>
          <a:p>
            <a:pPr indent="0" marL="0">
              <a:spcAft>
                <a:spcPts val="800"/>
              </a:spcAft>
              <a:buNone/>
            </a:pPr>
            <a:r>
              <a:rPr lang="en-US" sz="1600" dirty="0">
                <a:solidFill>
                  <a:srgbClr val="4B5563"/>
                </a:solidFill>
              </a:rPr>
              <a:t>———</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15. 부록</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15.1 용어 정리 (1/2)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175657"/>
                <a:gridCol w="7053943"/>
              </a:tblGrid>
              <a:tr h="0">
                <a:tc>
                  <a:txBody>
                    <a:bodyPr/>
                    <a:lstStyle/>
                    <a:p>
                      <a:pPr indent="0" marL="0">
                        <a:buNone/>
                      </a:pPr>
                      <a:r>
                        <a:rPr lang="en-US" sz="1200" b="1" dirty="0">
                          <a:solidFill>
                            <a:srgbClr val="FFFFFF"/>
                          </a:solidFill>
                        </a:rPr>
                        <a:t>용어</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MVP</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첫 </a:t>
                      </a:r>
                      <a:pPr indent="0" marL="0">
                        <a:buNone/>
                      </a:pPr>
                      <a:r>
                        <a:rPr lang="en-US" sz="1100" dirty="0">
                          <a:solidFill>
                            <a:srgbClr val="1F2937"/>
                          </a:solidFill>
                        </a:rPr>
                        <a:t>출시에서 </a:t>
                      </a:r>
                      <a:pPr indent="0" marL="0">
                        <a:buNone/>
                      </a:pPr>
                      <a:r>
                        <a:rPr lang="en-US" sz="1100" dirty="0">
                          <a:solidFill>
                            <a:srgbClr val="1F2937"/>
                          </a:solidFill>
                        </a:rPr>
                        <a:t>핵심 </a:t>
                      </a:r>
                      <a:pPr indent="0" marL="0">
                        <a:buNone/>
                      </a:pPr>
                      <a:r>
                        <a:rPr lang="en-US" sz="1100" dirty="0">
                          <a:solidFill>
                            <a:srgbClr val="1F2937"/>
                          </a:solidFill>
                        </a:rPr>
                        <a:t>사용자 </a:t>
                      </a:r>
                      <a:pPr indent="0" marL="0">
                        <a:buNone/>
                      </a:pPr>
                      <a:r>
                        <a:rPr lang="en-US" sz="1100" dirty="0">
                          <a:solidFill>
                            <a:srgbClr val="1F2937"/>
                          </a:solidFill>
                        </a:rPr>
                        <a:t>문제를 </a:t>
                      </a:r>
                      <a:pPr indent="0" marL="0">
                        <a:buNone/>
                      </a:pPr>
                      <a:r>
                        <a:rPr lang="en-US" sz="1100" dirty="0">
                          <a:solidFill>
                            <a:srgbClr val="1F2937"/>
                          </a:solidFill>
                        </a:rPr>
                        <a:t>해결하기 </a:t>
                      </a:r>
                      <a:pPr indent="0" marL="0">
                        <a:buNone/>
                      </a:pPr>
                      <a:r>
                        <a:rPr lang="en-US" sz="1100" dirty="0">
                          <a:solidFill>
                            <a:srgbClr val="1F2937"/>
                          </a:solidFill>
                        </a:rPr>
                        <a:t>위해 </a:t>
                      </a:r>
                      <a:pPr indent="0" marL="0">
                        <a:buNone/>
                      </a:pPr>
                      <a:r>
                        <a:rPr lang="en-US" sz="1100" dirty="0">
                          <a:solidFill>
                            <a:srgbClr val="1F2937"/>
                          </a:solidFill>
                        </a:rPr>
                        <a:t>우선 </a:t>
                      </a:r>
                      <a:pPr indent="0" marL="0">
                        <a:buNone/>
                      </a:pPr>
                      <a:r>
                        <a:rPr lang="en-US" sz="1100" dirty="0">
                          <a:solidFill>
                            <a:srgbClr val="1F2937"/>
                          </a:solidFill>
                        </a:rPr>
                        <a:t>제공하는 </a:t>
                      </a:r>
                      <a:pPr indent="0" marL="0">
                        <a:buNone/>
                      </a:pPr>
                      <a:r>
                        <a:rPr lang="en-US" sz="1100" dirty="0">
                          <a:solidFill>
                            <a:srgbClr val="1F2937"/>
                          </a:solidFill>
                        </a:rPr>
                        <a:t>최소 </a:t>
                      </a:r>
                      <a:pPr indent="0" marL="0">
                        <a:buNone/>
                      </a:pPr>
                      <a:r>
                        <a:rPr lang="en-US" sz="1100" dirty="0">
                          <a:solidFill>
                            <a:srgbClr val="1F2937"/>
                          </a:solidFill>
                        </a:rPr>
                        <a:t>기능 </a:t>
                      </a:r>
                      <a:pPr indent="0" marL="0">
                        <a:buNone/>
                      </a:pPr>
                      <a:r>
                        <a:rPr lang="en-US" sz="1100" dirty="0">
                          <a:solidFill>
                            <a:srgbClr val="1F2937"/>
                          </a:solidFill>
                        </a:rPr>
                        <a:t>제품</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API</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앱과 </a:t>
                      </a:r>
                      <a:pPr indent="0" marL="0">
                        <a:buNone/>
                      </a:pPr>
                      <a:r>
                        <a:rPr lang="en-US" sz="1100" dirty="0">
                          <a:solidFill>
                            <a:srgbClr val="1F2937"/>
                          </a:solidFill>
                        </a:rPr>
                        <a:t>외부 </a:t>
                      </a:r>
                      <a:pPr indent="0" marL="0">
                        <a:buNone/>
                      </a:pPr>
                      <a:r>
                        <a:rPr lang="en-US" sz="1100" dirty="0">
                          <a:solidFill>
                            <a:srgbClr val="1F2937"/>
                          </a:solidFill>
                        </a:rPr>
                        <a:t>서비스 </a:t>
                      </a:r>
                      <a:pPr indent="0" marL="0">
                        <a:buNone/>
                      </a:pPr>
                      <a:r>
                        <a:rPr lang="en-US" sz="1100" dirty="0">
                          <a:solidFill>
                            <a:srgbClr val="1F2937"/>
                          </a:solidFill>
                        </a:rPr>
                        <a:t>또는 </a:t>
                      </a:r>
                      <a:pPr indent="0" marL="0">
                        <a:buNone/>
                      </a:pPr>
                      <a:r>
                        <a:rPr lang="en-US" sz="1100" dirty="0">
                          <a:solidFill>
                            <a:srgbClr val="1F2937"/>
                          </a:solidFill>
                        </a:rPr>
                        <a:t>서버가 </a:t>
                      </a:r>
                      <a:pPr indent="0" marL="0">
                        <a:buNone/>
                      </a:pPr>
                      <a:r>
                        <a:rPr lang="en-US" sz="1100" dirty="0">
                          <a:solidFill>
                            <a:srgbClr val="1F2937"/>
                          </a:solidFill>
                        </a:rPr>
                        <a:t>데이터를 </a:t>
                      </a:r>
                      <a:pPr indent="0" marL="0">
                        <a:buNone/>
                      </a:pPr>
                      <a:r>
                        <a:rPr lang="en-US" sz="1100" dirty="0">
                          <a:solidFill>
                            <a:srgbClr val="1F2937"/>
                          </a:solidFill>
                        </a:rPr>
                        <a:t>주고받기 </a:t>
                      </a:r>
                      <a:pPr indent="0" marL="0">
                        <a:buNone/>
                      </a:pPr>
                      <a:r>
                        <a:rPr lang="en-US" sz="1100" dirty="0">
                          <a:solidFill>
                            <a:srgbClr val="1F2937"/>
                          </a:solidFill>
                        </a:rPr>
                        <a:t>위한 </a:t>
                      </a:r>
                      <a:pPr indent="0" marL="0">
                        <a:buNone/>
                      </a:pPr>
                      <a:r>
                        <a:rPr lang="en-US" sz="1100" dirty="0">
                          <a:solidFill>
                            <a:srgbClr val="1F2937"/>
                          </a:solidFill>
                        </a:rPr>
                        <a:t>연결 </a:t>
                      </a:r>
                      <a:pPr indent="0" marL="0">
                        <a:buNone/>
                      </a:pPr>
                      <a:r>
                        <a:rPr lang="en-US" sz="1100"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SDK</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특정 </a:t>
                      </a:r>
                      <a:pPr indent="0" marL="0">
                        <a:buNone/>
                      </a:pPr>
                      <a:r>
                        <a:rPr lang="en-US" sz="1100" dirty="0">
                          <a:solidFill>
                            <a:srgbClr val="1F2937"/>
                          </a:solidFill>
                        </a:rPr>
                        <a:t>서비스나 </a:t>
                      </a:r>
                      <a:pPr indent="0" marL="0">
                        <a:buNone/>
                      </a:pPr>
                      <a:r>
                        <a:rPr lang="en-US" sz="1100" dirty="0">
                          <a:solidFill>
                            <a:srgbClr val="1F2937"/>
                          </a:solidFill>
                        </a:rPr>
                        <a:t>기능을 </a:t>
                      </a:r>
                      <a:pPr indent="0" marL="0">
                        <a:buNone/>
                      </a:pPr>
                      <a:r>
                        <a:rPr lang="en-US" sz="1100" dirty="0">
                          <a:solidFill>
                            <a:srgbClr val="1F2937"/>
                          </a:solidFill>
                        </a:rPr>
                        <a:t>앱에서 </a:t>
                      </a:r>
                      <a:pPr indent="0" marL="0">
                        <a:buNone/>
                      </a:pPr>
                      <a:r>
                        <a:rPr lang="en-US" sz="1100" dirty="0">
                          <a:solidFill>
                            <a:srgbClr val="1F2937"/>
                          </a:solidFill>
                        </a:rPr>
                        <a:t>사용할 </a:t>
                      </a:r>
                      <a:pPr indent="0" marL="0">
                        <a:buNone/>
                      </a:pPr>
                      <a:r>
                        <a:rPr lang="en-US" sz="1100" dirty="0">
                          <a:solidFill>
                            <a:srgbClr val="1F2937"/>
                          </a:solidFill>
                        </a:rPr>
                        <a:t>수 </a:t>
                      </a:r>
                      <a:pPr indent="0" marL="0">
                        <a:buNone/>
                      </a:pPr>
                      <a:r>
                        <a:rPr lang="en-US" sz="1100" dirty="0">
                          <a:solidFill>
                            <a:srgbClr val="1F2937"/>
                          </a:solidFill>
                        </a:rPr>
                        <a:t>있도록 </a:t>
                      </a:r>
                      <a:pPr indent="0" marL="0">
                        <a:buNone/>
                      </a:pPr>
                      <a:r>
                        <a:rPr lang="en-US" sz="1100" dirty="0">
                          <a:solidFill>
                            <a:srgbClr val="1F2937"/>
                          </a:solidFill>
                        </a:rPr>
                        <a:t>제공하는 </a:t>
                      </a:r>
                      <a:pPr indent="0" marL="0">
                        <a:buNone/>
                      </a:pPr>
                      <a:r>
                        <a:rPr lang="en-US" sz="1100" dirty="0">
                          <a:solidFill>
                            <a:srgbClr val="1F2937"/>
                          </a:solidFill>
                        </a:rPr>
                        <a:t>개발 </a:t>
                      </a:r>
                      <a:pPr indent="0" marL="0">
                        <a:buNone/>
                      </a:pPr>
                      <a:r>
                        <a:rPr lang="en-US" sz="1100" dirty="0">
                          <a:solidFill>
                            <a:srgbClr val="1F2937"/>
                          </a:solidFill>
                        </a:rPr>
                        <a:t>도구 </a:t>
                      </a:r>
                      <a:pPr indent="0" marL="0">
                        <a:buNone/>
                      </a:pPr>
                      <a:r>
                        <a:rPr lang="en-US" sz="1100" dirty="0">
                          <a:solidFill>
                            <a:srgbClr val="1F2937"/>
                          </a:solidFill>
                        </a:rPr>
                        <a:t>모음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DB</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 </a:t>
                      </a:r>
                      <a:pPr indent="0" marL="0">
                        <a:buNone/>
                      </a:pPr>
                      <a:r>
                        <a:rPr lang="en-US" sz="1100" dirty="0">
                          <a:solidFill>
                            <a:srgbClr val="1F2937"/>
                          </a:solidFill>
                        </a:rPr>
                        <a:t>음식, </a:t>
                      </a:r>
                      <a:pPr indent="0" marL="0">
                        <a:buNone/>
                      </a:pPr>
                      <a:r>
                        <a:rPr lang="en-US" sz="1100" dirty="0">
                          <a:solidFill>
                            <a:srgbClr val="1F2937"/>
                          </a:solidFill>
                        </a:rPr>
                        <a:t>식사 </a:t>
                      </a:r>
                      <a:pPr indent="0" marL="0">
                        <a:buNone/>
                      </a:pPr>
                      <a:r>
                        <a:rPr lang="en-US" sz="1100" dirty="0">
                          <a:solidFill>
                            <a:srgbClr val="1F2937"/>
                          </a:solidFill>
                        </a:rPr>
                        <a:t>기록 </a:t>
                      </a:r>
                      <a:pPr indent="0" marL="0">
                        <a:buNone/>
                      </a:pPr>
                      <a:r>
                        <a:rPr lang="en-US" sz="1100" dirty="0">
                          <a:solidFill>
                            <a:srgbClr val="1F2937"/>
                          </a:solidFill>
                        </a:rPr>
                        <a:t>등 </a:t>
                      </a:r>
                      <a:pPr indent="0" marL="0">
                        <a:buNone/>
                      </a:pPr>
                      <a:r>
                        <a:rPr lang="en-US" sz="1100" dirty="0">
                          <a:solidFill>
                            <a:srgbClr val="1F2937"/>
                          </a:solidFill>
                        </a:rPr>
                        <a:t>서비스 </a:t>
                      </a:r>
                      <a:pPr indent="0" marL="0">
                        <a:buNone/>
                      </a:pPr>
                      <a:r>
                        <a:rPr lang="en-US" sz="1100" dirty="0">
                          <a:solidFill>
                            <a:srgbClr val="1F2937"/>
                          </a:solidFill>
                        </a:rPr>
                        <a:t>데이터를 </a:t>
                      </a:r>
                      <a:pPr indent="0" marL="0">
                        <a:buNone/>
                      </a:pPr>
                      <a:r>
                        <a:rPr lang="en-US" sz="1100" dirty="0">
                          <a:solidFill>
                            <a:srgbClr val="1F2937"/>
                          </a:solidFill>
                        </a:rPr>
                        <a:t>저장하는 </a:t>
                      </a:r>
                      <a:pPr indent="0" marL="0">
                        <a:buNone/>
                      </a:pPr>
                      <a:r>
                        <a:rPr lang="en-US" sz="1100" dirty="0">
                          <a:solidFill>
                            <a:srgbClr val="1F2937"/>
                          </a:solidFill>
                        </a:rPr>
                        <a:t>데이터베이스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UTC</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전 </a:t>
                      </a:r>
                      <a:pPr indent="0" marL="0">
                        <a:buNone/>
                      </a:pPr>
                      <a:r>
                        <a:rPr lang="en-US" sz="1100" dirty="0">
                          <a:solidFill>
                            <a:srgbClr val="1F2937"/>
                          </a:solidFill>
                        </a:rPr>
                        <a:t>세계에서 </a:t>
                      </a:r>
                      <a:pPr indent="0" marL="0">
                        <a:buNone/>
                      </a:pPr>
                      <a:r>
                        <a:rPr lang="en-US" sz="1100" dirty="0">
                          <a:solidFill>
                            <a:srgbClr val="1F2937"/>
                          </a:solidFill>
                        </a:rPr>
                        <a:t>공통으로 </a:t>
                      </a:r>
                      <a:pPr indent="0" marL="0">
                        <a:buNone/>
                      </a:pPr>
                      <a:r>
                        <a:rPr lang="en-US" sz="1100" dirty="0">
                          <a:solidFill>
                            <a:srgbClr val="1F2937"/>
                          </a:solidFill>
                        </a:rPr>
                        <a:t>사용하는 </a:t>
                      </a:r>
                      <a:pPr indent="0" marL="0">
                        <a:buNone/>
                      </a:pPr>
                      <a:r>
                        <a:rPr lang="en-US" sz="1100" dirty="0">
                          <a:solidFill>
                            <a:srgbClr val="1F2937"/>
                          </a:solidFill>
                        </a:rPr>
                        <a:t>기준 </a:t>
                      </a:r>
                      <a:pPr indent="0" marL="0">
                        <a:buNone/>
                      </a:pPr>
                      <a:r>
                        <a:rPr lang="en-US" sz="1100" dirty="0">
                          <a:solidFill>
                            <a:srgbClr val="1F2937"/>
                          </a:solidFill>
                        </a:rPr>
                        <a:t>시간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EXIF</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사진 </a:t>
                      </a:r>
                      <a:pPr indent="0" marL="0">
                        <a:buNone/>
                      </a:pPr>
                      <a:r>
                        <a:rPr lang="en-US" sz="1100" dirty="0">
                          <a:solidFill>
                            <a:srgbClr val="1F2937"/>
                          </a:solidFill>
                        </a:rPr>
                        <a:t>파일에 </a:t>
                      </a:r>
                      <a:pPr indent="0" marL="0">
                        <a:buNone/>
                      </a:pPr>
                      <a:r>
                        <a:rPr lang="en-US" sz="1100" dirty="0">
                          <a:solidFill>
                            <a:srgbClr val="1F2937"/>
                          </a:solidFill>
                        </a:rPr>
                        <a:t>포함될 </a:t>
                      </a:r>
                      <a:pPr indent="0" marL="0">
                        <a:buNone/>
                      </a:pPr>
                      <a:r>
                        <a:rPr lang="en-US" sz="1100" dirty="0">
                          <a:solidFill>
                            <a:srgbClr val="1F2937"/>
                          </a:solidFill>
                        </a:rPr>
                        <a:t>수 </a:t>
                      </a:r>
                      <a:pPr indent="0" marL="0">
                        <a:buNone/>
                      </a:pPr>
                      <a:r>
                        <a:rPr lang="en-US" sz="1100" dirty="0">
                          <a:solidFill>
                            <a:srgbClr val="1F2937"/>
                          </a:solidFill>
                        </a:rPr>
                        <a:t>있는 </a:t>
                      </a:r>
                      <a:pPr indent="0" marL="0">
                        <a:buNone/>
                      </a:pPr>
                      <a:r>
                        <a:rPr lang="en-US" sz="1100" dirty="0">
                          <a:solidFill>
                            <a:srgbClr val="1F2937"/>
                          </a:solidFill>
                        </a:rPr>
                        <a:t>촬영 </a:t>
                      </a:r>
                      <a:pPr indent="0" marL="0">
                        <a:buNone/>
                      </a:pPr>
                      <a:r>
                        <a:rPr lang="en-US" sz="1100" dirty="0">
                          <a:solidFill>
                            <a:srgbClr val="1F2937"/>
                          </a:solidFill>
                        </a:rPr>
                        <a:t>시각, </a:t>
                      </a:r>
                      <a:pPr indent="0" marL="0">
                        <a:buNone/>
                      </a:pPr>
                      <a:r>
                        <a:rPr lang="en-US" sz="1100" dirty="0">
                          <a:solidFill>
                            <a:srgbClr val="1F2937"/>
                          </a:solidFill>
                        </a:rPr>
                        <a:t>기기 </a:t>
                      </a:r>
                      <a:pPr indent="0" marL="0">
                        <a:buNone/>
                      </a:pPr>
                      <a:r>
                        <a:rPr lang="en-US" sz="1100" dirty="0">
                          <a:solidFill>
                            <a:srgbClr val="1F2937"/>
                          </a:solidFill>
                        </a:rPr>
                        <a:t>정보, </a:t>
                      </a:r>
                      <a:pPr indent="0" marL="0">
                        <a:buNone/>
                      </a:pPr>
                      <a:r>
                        <a:rPr lang="en-US" sz="1100" dirty="0">
                          <a:solidFill>
                            <a:srgbClr val="1F2937"/>
                          </a:solidFill>
                        </a:rPr>
                        <a:t>위치 </a:t>
                      </a:r>
                      <a:pPr indent="0" marL="0">
                        <a:buNone/>
                      </a:pPr>
                      <a:r>
                        <a:rPr lang="en-US" sz="1100" dirty="0">
                          <a:solidFill>
                            <a:srgbClr val="1F2937"/>
                          </a:solidFill>
                        </a:rPr>
                        <a:t>정보 </a:t>
                      </a:r>
                      <a:pPr indent="0" marL="0">
                        <a:buNone/>
                      </a:pPr>
                      <a:r>
                        <a:rPr lang="en-US" sz="1100" dirty="0">
                          <a:solidFill>
                            <a:srgbClr val="1F2937"/>
                          </a:solidFill>
                        </a:rPr>
                        <a:t>등의 </a:t>
                      </a:r>
                      <a:pPr indent="0" marL="0">
                        <a:buNone/>
                      </a:pPr>
                      <a:r>
                        <a:rPr lang="en-US" sz="1100" dirty="0">
                          <a:solidFill>
                            <a:srgbClr val="1F2937"/>
                          </a:solidFill>
                        </a:rPr>
                        <a:t>메타데이터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크로스플랫폼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하나의 </a:t>
                      </a:r>
                      <a:pPr indent="0" marL="0">
                        <a:buNone/>
                      </a:pPr>
                      <a:r>
                        <a:rPr lang="en-US" sz="1100" dirty="0">
                          <a:solidFill>
                            <a:srgbClr val="1F2937"/>
                          </a:solidFill>
                        </a:rPr>
                        <a:t>공통 </a:t>
                      </a:r>
                      <a:pPr indent="0" marL="0">
                        <a:buNone/>
                      </a:pPr>
                      <a:r>
                        <a:rPr lang="en-US" sz="1100" dirty="0">
                          <a:solidFill>
                            <a:srgbClr val="1F2937"/>
                          </a:solidFill>
                        </a:rPr>
                        <a:t>기술 </a:t>
                      </a:r>
                      <a:pPr indent="0" marL="0">
                        <a:buNone/>
                      </a:pPr>
                      <a:r>
                        <a:rPr lang="en-US" sz="1100" dirty="0">
                          <a:solidFill>
                            <a:srgbClr val="1F2937"/>
                          </a:solidFill>
                        </a:rPr>
                        <a:t>기반으로 </a:t>
                      </a:r>
                      <a:pPr indent="0" marL="0">
                        <a:buNone/>
                      </a:pPr>
                      <a:r>
                        <a:rPr lang="en-US" sz="1100" dirty="0">
                          <a:solidFill>
                            <a:srgbClr val="1F2937"/>
                          </a:solidFill>
                        </a:rPr>
                        <a:t>iOS와 </a:t>
                      </a:r>
                      <a:pPr indent="0" marL="0">
                        <a:buNone/>
                      </a:pPr>
                      <a:r>
                        <a:rPr lang="en-US" sz="1100" dirty="0">
                          <a:solidFill>
                            <a:srgbClr val="1F2937"/>
                          </a:solidFill>
                        </a:rPr>
                        <a:t>안드로이드 </a:t>
                      </a:r>
                      <a:pPr indent="0" marL="0">
                        <a:buNone/>
                      </a:pPr>
                      <a:r>
                        <a:rPr lang="en-US" sz="1100" dirty="0">
                          <a:solidFill>
                            <a:srgbClr val="1F2937"/>
                          </a:solidFill>
                        </a:rPr>
                        <a:t>앱을 </a:t>
                      </a:r>
                      <a:pPr indent="0" marL="0">
                        <a:buNone/>
                      </a:pPr>
                      <a:r>
                        <a:rPr lang="en-US" sz="1100" dirty="0">
                          <a:solidFill>
                            <a:srgbClr val="1F2937"/>
                          </a:solidFill>
                        </a:rPr>
                        <a:t>함께 </a:t>
                      </a:r>
                      <a:pPr indent="0" marL="0">
                        <a:buNone/>
                      </a:pPr>
                      <a:r>
                        <a:rPr lang="en-US" sz="1100" dirty="0">
                          <a:solidFill>
                            <a:srgbClr val="1F2937"/>
                          </a:solidFill>
                        </a:rPr>
                        <a:t>개발하는 </a:t>
                      </a:r>
                      <a:pPr indent="0" marL="0">
                        <a:buNone/>
                      </a:pPr>
                      <a:r>
                        <a:rPr lang="en-US" sz="1100"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디바운스</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입력을 </a:t>
                      </a:r>
                      <a:pPr indent="0" marL="0">
                        <a:buNone/>
                      </a:pPr>
                      <a:r>
                        <a:rPr lang="en-US" sz="1100" dirty="0">
                          <a:solidFill>
                            <a:srgbClr val="1F2937"/>
                          </a:solidFill>
                        </a:rPr>
                        <a:t>잠시 </a:t>
                      </a:r>
                      <a:pPr indent="0" marL="0">
                        <a:buNone/>
                      </a:pPr>
                      <a:r>
                        <a:rPr lang="en-US" sz="1100" dirty="0">
                          <a:solidFill>
                            <a:srgbClr val="1F2937"/>
                          </a:solidFill>
                        </a:rPr>
                        <a:t>멈춘 </a:t>
                      </a:r>
                      <a:pPr indent="0" marL="0">
                        <a:buNone/>
                      </a:pPr>
                      <a:r>
                        <a:rPr lang="en-US" sz="1100" dirty="0">
                          <a:solidFill>
                            <a:srgbClr val="1F2937"/>
                          </a:solidFill>
                        </a:rPr>
                        <a:t>뒤 </a:t>
                      </a:r>
                      <a:pPr indent="0" marL="0">
                        <a:buNone/>
                      </a:pPr>
                      <a:r>
                        <a:rPr lang="en-US" sz="1100" dirty="0">
                          <a:solidFill>
                            <a:srgbClr val="1F2937"/>
                          </a:solidFill>
                        </a:rPr>
                        <a:t>검색 </a:t>
                      </a:r>
                      <a:pPr indent="0" marL="0">
                        <a:buNone/>
                      </a:pPr>
                      <a:r>
                        <a:rPr lang="en-US" sz="1100" dirty="0">
                          <a:solidFill>
                            <a:srgbClr val="1F2937"/>
                          </a:solidFill>
                        </a:rPr>
                        <a:t>요청을 </a:t>
                      </a:r>
                      <a:pPr indent="0" marL="0">
                        <a:buNone/>
                      </a:pPr>
                      <a:r>
                        <a:rPr lang="en-US" sz="1100" dirty="0">
                          <a:solidFill>
                            <a:srgbClr val="1F2937"/>
                          </a:solidFill>
                        </a:rPr>
                        <a:t>보내 </a:t>
                      </a:r>
                      <a:pPr indent="0" marL="0">
                        <a:buNone/>
                      </a:pPr>
                      <a:r>
                        <a:rPr lang="en-US" sz="1100" dirty="0">
                          <a:solidFill>
                            <a:srgbClr val="1F2937"/>
                          </a:solidFill>
                        </a:rPr>
                        <a:t>불필요한 </a:t>
                      </a:r>
                      <a:pPr indent="0" marL="0">
                        <a:buNone/>
                      </a:pPr>
                      <a:r>
                        <a:rPr lang="en-US" sz="1100" dirty="0">
                          <a:solidFill>
                            <a:srgbClr val="1F2937"/>
                          </a:solidFill>
                        </a:rPr>
                        <a:t>호출을 </a:t>
                      </a:r>
                      <a:pPr indent="0" marL="0">
                        <a:buNone/>
                      </a:pPr>
                      <a:r>
                        <a:rPr lang="en-US" sz="1100" dirty="0">
                          <a:solidFill>
                            <a:srgbClr val="1F2937"/>
                          </a:solidFill>
                        </a:rPr>
                        <a:t>줄이는 </a:t>
                      </a:r>
                      <a:pPr indent="0" marL="0">
                        <a:buNone/>
                      </a:pPr>
                      <a:r>
                        <a:rPr lang="en-US" sz="1100" dirty="0">
                          <a:solidFill>
                            <a:srgbClr val="1F2937"/>
                          </a:solidFill>
                        </a:rPr>
                        <a:t>처리 </a:t>
                      </a:r>
                      <a:pPr indent="0" marL="0">
                        <a:buNone/>
                      </a:pPr>
                      <a:r>
                        <a:rPr lang="en-US" sz="1100"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스냅샷</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기록을 </a:t>
                      </a:r>
                      <a:pPr indent="0" marL="0">
                        <a:buNone/>
                      </a:pPr>
                      <a:r>
                        <a:rPr lang="en-US" sz="1100" dirty="0">
                          <a:solidFill>
                            <a:srgbClr val="1F2937"/>
                          </a:solidFill>
                        </a:rPr>
                        <a:t>저장한 </a:t>
                      </a:r>
                      <a:pPr indent="0" marL="0">
                        <a:buNone/>
                      </a:pPr>
                      <a:r>
                        <a:rPr lang="en-US" sz="1100" dirty="0">
                          <a:solidFill>
                            <a:srgbClr val="1F2937"/>
                          </a:solidFill>
                        </a:rPr>
                        <a:t>시점의 </a:t>
                      </a:r>
                      <a:pPr indent="0" marL="0">
                        <a:buNone/>
                      </a:pPr>
                      <a:r>
                        <a:rPr lang="en-US" sz="1100" dirty="0">
                          <a:solidFill>
                            <a:srgbClr val="1F2937"/>
                          </a:solidFill>
                        </a:rPr>
                        <a:t>음식명과 </a:t>
                      </a:r>
                      <a:pPr indent="0" marL="0">
                        <a:buNone/>
                      </a:pPr>
                      <a:r>
                        <a:rPr lang="en-US" sz="1100" dirty="0">
                          <a:solidFill>
                            <a:srgbClr val="1F2937"/>
                          </a:solidFill>
                        </a:rPr>
                        <a:t>영양값을 </a:t>
                      </a:r>
                      <a:pPr indent="0" marL="0">
                        <a:buNone/>
                      </a:pPr>
                      <a:r>
                        <a:rPr lang="en-US" sz="1100" dirty="0">
                          <a:solidFill>
                            <a:srgbClr val="1F2937"/>
                          </a:solidFill>
                        </a:rPr>
                        <a:t>복사해 </a:t>
                      </a:r>
                      <a:pPr indent="0" marL="0">
                        <a:buNone/>
                      </a:pPr>
                      <a:r>
                        <a:rPr lang="en-US" sz="1100" dirty="0">
                          <a:solidFill>
                            <a:srgbClr val="1F2937"/>
                          </a:solidFill>
                        </a:rPr>
                        <a:t>보관하는 </a:t>
                      </a:r>
                      <a:pPr indent="0" marL="0">
                        <a:buNone/>
                      </a:pPr>
                      <a:r>
                        <a:rPr lang="en-US" sz="1100" dirty="0">
                          <a:solidFill>
                            <a:srgbClr val="1F2937"/>
                          </a:solidFill>
                        </a:rPr>
                        <a:t>값</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어댑터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외부 </a:t>
                      </a:r>
                      <a:pPr indent="0" marL="0">
                        <a:buNone/>
                      </a:pPr>
                      <a:r>
                        <a:rPr lang="en-US" sz="1100" dirty="0">
                          <a:solidFill>
                            <a:srgbClr val="1F2937"/>
                          </a:solidFill>
                        </a:rPr>
                        <a:t>식품 </a:t>
                      </a:r>
                      <a:pPr indent="0" marL="0">
                        <a:buNone/>
                      </a:pPr>
                      <a:r>
                        <a:rPr lang="en-US" sz="1100" dirty="0">
                          <a:solidFill>
                            <a:srgbClr val="1F2937"/>
                          </a:solidFill>
                        </a:rPr>
                        <a:t>데이터 </a:t>
                      </a:r>
                      <a:pPr indent="0" marL="0">
                        <a:buNone/>
                      </a:pPr>
                      <a:r>
                        <a:rPr lang="en-US" sz="1100" dirty="0">
                          <a:solidFill>
                            <a:srgbClr val="1F2937"/>
                          </a:solidFill>
                        </a:rPr>
                        <a:t>제공처별 </a:t>
                      </a:r>
                      <a:pPr indent="0" marL="0">
                        <a:buNone/>
                      </a:pPr>
                      <a:r>
                        <a:rPr lang="en-US" sz="1100" dirty="0">
                          <a:solidFill>
                            <a:srgbClr val="1F2937"/>
                          </a:solidFill>
                        </a:rPr>
                        <a:t>응답을 </a:t>
                      </a:r>
                      <a:pPr indent="0" marL="0">
                        <a:buNone/>
                      </a:pPr>
                      <a:r>
                        <a:rPr lang="en-US" sz="1100" dirty="0">
                          <a:solidFill>
                            <a:srgbClr val="1F2937"/>
                          </a:solidFill>
                        </a:rPr>
                        <a:t>앱 </a:t>
                      </a:r>
                      <a:pPr indent="0" marL="0">
                        <a:buNone/>
                      </a:pPr>
                      <a:r>
                        <a:rPr lang="en-US" sz="1100" dirty="0">
                          <a:solidFill>
                            <a:srgbClr val="1F2937"/>
                          </a:solidFill>
                        </a:rPr>
                        <a:t>내부의 </a:t>
                      </a:r>
                      <a:pPr indent="0" marL="0">
                        <a:buNone/>
                      </a:pPr>
                      <a:r>
                        <a:rPr lang="en-US" sz="1100" dirty="0">
                          <a:solidFill>
                            <a:srgbClr val="1F2937"/>
                          </a:solidFill>
                        </a:rPr>
                        <a:t>공통 </a:t>
                      </a:r>
                      <a:pPr indent="0" marL="0">
                        <a:buNone/>
                      </a:pPr>
                      <a:r>
                        <a:rPr lang="en-US" sz="1100" dirty="0">
                          <a:solidFill>
                            <a:srgbClr val="1F2937"/>
                          </a:solidFill>
                        </a:rPr>
                        <a:t>형식으로 </a:t>
                      </a:r>
                      <a:pPr indent="0" marL="0">
                        <a:buNone/>
                      </a:pPr>
                      <a:r>
                        <a:rPr lang="en-US" sz="1100" dirty="0">
                          <a:solidFill>
                            <a:srgbClr val="1F2937"/>
                          </a:solidFill>
                        </a:rPr>
                        <a:t>바꾸는 </a:t>
                      </a:r>
                      <a:pPr indent="0" marL="0">
                        <a:buNone/>
                      </a:pPr>
                      <a:r>
                        <a:rPr lang="en-US" sz="1100" dirty="0">
                          <a:solidFill>
                            <a:srgbClr val="1F2937"/>
                          </a:solidFill>
                        </a:rPr>
                        <a:t>연결 </a:t>
                      </a:r>
                      <a:pPr indent="0" marL="0">
                        <a:buNone/>
                      </a:pPr>
                      <a:r>
                        <a:rPr lang="en-US" sz="1100" dirty="0">
                          <a:solidFill>
                            <a:srgbClr val="1F2937"/>
                          </a:solidFill>
                        </a:rPr>
                        <a:t>구조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캐시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자주 </a:t>
                      </a:r>
                      <a:pPr indent="0" marL="0">
                        <a:buNone/>
                      </a:pPr>
                      <a:r>
                        <a:rPr lang="en-US" sz="1100" dirty="0">
                          <a:solidFill>
                            <a:srgbClr val="1F2937"/>
                          </a:solidFill>
                        </a:rPr>
                        <a:t>쓰는 </a:t>
                      </a:r>
                      <a:pPr indent="0" marL="0">
                        <a:buNone/>
                      </a:pPr>
                      <a:r>
                        <a:rPr lang="en-US" sz="1100" dirty="0">
                          <a:solidFill>
                            <a:srgbClr val="1F2937"/>
                          </a:solidFill>
                        </a:rPr>
                        <a:t>검색 </a:t>
                      </a:r>
                      <a:pPr indent="0" marL="0">
                        <a:buNone/>
                      </a:pPr>
                      <a:r>
                        <a:rPr lang="en-US" sz="1100" dirty="0">
                          <a:solidFill>
                            <a:srgbClr val="1F2937"/>
                          </a:solidFill>
                        </a:rPr>
                        <a:t>결과나 </a:t>
                      </a:r>
                      <a:pPr indent="0" marL="0">
                        <a:buNone/>
                      </a:pPr>
                      <a:r>
                        <a:rPr lang="en-US" sz="1100" dirty="0">
                          <a:solidFill>
                            <a:srgbClr val="1F2937"/>
                          </a:solidFill>
                        </a:rPr>
                        <a:t>계산 </a:t>
                      </a:r>
                      <a:pPr indent="0" marL="0">
                        <a:buNone/>
                      </a:pPr>
                      <a:r>
                        <a:rPr lang="en-US" sz="1100" dirty="0">
                          <a:solidFill>
                            <a:srgbClr val="1F2937"/>
                          </a:solidFill>
                        </a:rPr>
                        <a:t>결과를 </a:t>
                      </a:r>
                      <a:pPr indent="0" marL="0">
                        <a:buNone/>
                      </a:pPr>
                      <a:r>
                        <a:rPr lang="en-US" sz="1100" dirty="0">
                          <a:solidFill>
                            <a:srgbClr val="1F2937"/>
                          </a:solidFill>
                        </a:rPr>
                        <a:t>임시 </a:t>
                      </a:r>
                      <a:pPr indent="0" marL="0">
                        <a:buNone/>
                      </a:pPr>
                      <a:r>
                        <a:rPr lang="en-US" sz="1100" dirty="0">
                          <a:solidFill>
                            <a:srgbClr val="1F2937"/>
                          </a:solidFill>
                        </a:rPr>
                        <a:t>저장해 </a:t>
                      </a:r>
                      <a:pPr indent="0" marL="0">
                        <a:buNone/>
                      </a:pPr>
                      <a:r>
                        <a:rPr lang="en-US" sz="1100" dirty="0">
                          <a:solidFill>
                            <a:srgbClr val="1F2937"/>
                          </a:solidFill>
                        </a:rPr>
                        <a:t>다시 </a:t>
                      </a:r>
                      <a:pPr indent="0" marL="0">
                        <a:buNone/>
                      </a:pPr>
                      <a:r>
                        <a:rPr lang="en-US" sz="1100" dirty="0">
                          <a:solidFill>
                            <a:srgbClr val="1F2937"/>
                          </a:solidFill>
                        </a:rPr>
                        <a:t>활용하는 </a:t>
                      </a:r>
                      <a:pPr indent="0" marL="0">
                        <a:buNone/>
                      </a:pPr>
                      <a:r>
                        <a:rPr lang="en-US" sz="1100"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15.1 용어 정리 (2/2)</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339702"/>
                <a:gridCol w="6889898"/>
              </a:tblGrid>
              <a:tr h="0">
                <a:tc>
                  <a:txBody>
                    <a:bodyPr/>
                    <a:lstStyle/>
                    <a:p>
                      <a:pPr indent="0" marL="0">
                        <a:buNone/>
                      </a:pPr>
                      <a:r>
                        <a:rPr lang="en-US" sz="1200" b="1" dirty="0">
                          <a:solidFill>
                            <a:srgbClr val="FFFFFF"/>
                          </a:solidFill>
                        </a:rPr>
                        <a:t>용어</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설명</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온디맨드 </a:t>
                      </a:r>
                      <a:pPr indent="0" marL="0">
                        <a:buNone/>
                      </a:pPr>
                      <a:r>
                        <a:rPr lang="en-US" sz="1100" dirty="0">
                          <a:solidFill>
                            <a:srgbClr val="1F2937"/>
                          </a:solidFill>
                        </a:rPr>
                        <a:t>계산</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사용자가 </a:t>
                      </a:r>
                      <a:pPr indent="0" marL="0">
                        <a:buNone/>
                      </a:pPr>
                      <a:r>
                        <a:rPr lang="en-US" sz="1100" dirty="0">
                          <a:solidFill>
                            <a:srgbClr val="1F2937"/>
                          </a:solidFill>
                        </a:rPr>
                        <a:t>리포트를 </a:t>
                      </a:r>
                      <a:pPr indent="0" marL="0">
                        <a:buNone/>
                      </a:pPr>
                      <a:r>
                        <a:rPr lang="en-US" sz="1100" dirty="0">
                          <a:solidFill>
                            <a:srgbClr val="1F2937"/>
                          </a:solidFill>
                        </a:rPr>
                        <a:t>열 </a:t>
                      </a:r>
                      <a:pPr indent="0" marL="0">
                        <a:buNone/>
                      </a:pPr>
                      <a:r>
                        <a:rPr lang="en-US" sz="1100" dirty="0">
                          <a:solidFill>
                            <a:srgbClr val="1F2937"/>
                          </a:solidFill>
                        </a:rPr>
                        <a:t>때 </a:t>
                      </a:r>
                      <a:pPr indent="0" marL="0">
                        <a:buNone/>
                      </a:pPr>
                      <a:r>
                        <a:rPr lang="en-US" sz="1100" dirty="0">
                          <a:solidFill>
                            <a:srgbClr val="1F2937"/>
                          </a:solidFill>
                        </a:rPr>
                        <a:t>필요한 </a:t>
                      </a:r>
                      <a:pPr indent="0" marL="0">
                        <a:buNone/>
                      </a:pPr>
                      <a:r>
                        <a:rPr lang="en-US" sz="1100" dirty="0">
                          <a:solidFill>
                            <a:srgbClr val="1F2937"/>
                          </a:solidFill>
                        </a:rPr>
                        <a:t>값을 </a:t>
                      </a:r>
                      <a:pPr indent="0" marL="0">
                        <a:buNone/>
                      </a:pPr>
                      <a:r>
                        <a:rPr lang="en-US" sz="1100" dirty="0">
                          <a:solidFill>
                            <a:srgbClr val="1F2937"/>
                          </a:solidFill>
                        </a:rPr>
                        <a:t>계산하는 </a:t>
                      </a:r>
                      <a:pPr indent="0" marL="0">
                        <a:buNone/>
                      </a:pPr>
                      <a:r>
                        <a:rPr lang="en-US" sz="1100" dirty="0">
                          <a:solidFill>
                            <a:srgbClr val="1F2937"/>
                          </a:solidFill>
                        </a:rPr>
                        <a:t>방식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베타</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정식 </a:t>
                      </a:r>
                      <a:pPr indent="0" marL="0">
                        <a:buNone/>
                      </a:pPr>
                      <a:r>
                        <a:rPr lang="en-US" sz="1100" dirty="0">
                          <a:solidFill>
                            <a:srgbClr val="1F2937"/>
                          </a:solidFill>
                        </a:rPr>
                        <a:t>공개 </a:t>
                      </a:r>
                      <a:pPr indent="0" marL="0">
                        <a:buNone/>
                      </a:pPr>
                      <a:r>
                        <a:rPr lang="en-US" sz="1100" dirty="0">
                          <a:solidFill>
                            <a:srgbClr val="1F2937"/>
                          </a:solidFill>
                        </a:rPr>
                        <a:t>전에 </a:t>
                      </a:r>
                      <a:pPr indent="0" marL="0">
                        <a:buNone/>
                      </a:pPr>
                      <a:r>
                        <a:rPr lang="en-US" sz="1100" dirty="0">
                          <a:solidFill>
                            <a:srgbClr val="1F2937"/>
                          </a:solidFill>
                        </a:rPr>
                        <a:t>제한된 </a:t>
                      </a:r>
                      <a:pPr indent="0" marL="0">
                        <a:buNone/>
                      </a:pPr>
                      <a:r>
                        <a:rPr lang="en-US" sz="1100" dirty="0">
                          <a:solidFill>
                            <a:srgbClr val="1F2937"/>
                          </a:solidFill>
                        </a:rPr>
                        <a:t>사용자에게 </a:t>
                      </a:r>
                      <a:pPr indent="0" marL="0">
                        <a:buNone/>
                      </a:pPr>
                      <a:r>
                        <a:rPr lang="en-US" sz="1100" dirty="0">
                          <a:solidFill>
                            <a:srgbClr val="1F2937"/>
                          </a:solidFill>
                        </a:rPr>
                        <a:t>제공해 </a:t>
                      </a:r>
                      <a:pPr indent="0" marL="0">
                        <a:buNone/>
                      </a:pPr>
                      <a:r>
                        <a:rPr lang="en-US" sz="1100" dirty="0">
                          <a:solidFill>
                            <a:srgbClr val="1F2937"/>
                          </a:solidFill>
                        </a:rPr>
                        <a:t>기능과 </a:t>
                      </a:r>
                      <a:pPr indent="0" marL="0">
                        <a:buNone/>
                      </a:pPr>
                      <a:r>
                        <a:rPr lang="en-US" sz="1100" dirty="0">
                          <a:solidFill>
                            <a:srgbClr val="1F2937"/>
                          </a:solidFill>
                        </a:rPr>
                        <a:t>안정성을 </a:t>
                      </a:r>
                      <a:pPr indent="0" marL="0">
                        <a:buNone/>
                      </a:pPr>
                      <a:r>
                        <a:rPr lang="en-US" sz="1100" dirty="0">
                          <a:solidFill>
                            <a:srgbClr val="1F2937"/>
                          </a:solidFill>
                        </a:rPr>
                        <a:t>확인하는 </a:t>
                      </a:r>
                      <a:pPr indent="0" marL="0">
                        <a:buNone/>
                      </a:pPr>
                      <a:r>
                        <a:rPr lang="en-US" sz="1100" dirty="0">
                          <a:solidFill>
                            <a:srgbClr val="1F2937"/>
                          </a:solidFill>
                        </a:rPr>
                        <a:t>시험 </a:t>
                      </a:r>
                      <a:pPr indent="0" marL="0">
                        <a:buNone/>
                      </a:pPr>
                      <a:r>
                        <a:rPr lang="en-US" sz="1100" dirty="0">
                          <a:solidFill>
                            <a:srgbClr val="1F2937"/>
                          </a:solidFill>
                        </a:rPr>
                        <a:t>운영 </a:t>
                      </a:r>
                      <a:pPr indent="0" marL="0">
                        <a:buNone/>
                      </a:pPr>
                      <a:r>
                        <a:rPr lang="en-US" sz="1100" dirty="0">
                          <a:solidFill>
                            <a:srgbClr val="1F2937"/>
                          </a:solidFill>
                        </a:rPr>
                        <a:t>단계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푸시</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앱이 </a:t>
                      </a:r>
                      <a:pPr indent="0" marL="0">
                        <a:buNone/>
                      </a:pPr>
                      <a:r>
                        <a:rPr lang="en-US" sz="1100" dirty="0">
                          <a:solidFill>
                            <a:srgbClr val="1F2937"/>
                          </a:solidFill>
                        </a:rPr>
                        <a:t>실행 </a:t>
                      </a:r>
                      <a:pPr indent="0" marL="0">
                        <a:buNone/>
                      </a:pPr>
                      <a:r>
                        <a:rPr lang="en-US" sz="1100" dirty="0">
                          <a:solidFill>
                            <a:srgbClr val="1F2937"/>
                          </a:solidFill>
                        </a:rPr>
                        <a:t>중이지 </a:t>
                      </a:r>
                      <a:pPr indent="0" marL="0">
                        <a:buNone/>
                      </a:pPr>
                      <a:r>
                        <a:rPr lang="en-US" sz="1100" dirty="0">
                          <a:solidFill>
                            <a:srgbClr val="1F2937"/>
                          </a:solidFill>
                        </a:rPr>
                        <a:t>않을 </a:t>
                      </a:r>
                      <a:pPr indent="0" marL="0">
                        <a:buNone/>
                      </a:pPr>
                      <a:r>
                        <a:rPr lang="en-US" sz="1100" dirty="0">
                          <a:solidFill>
                            <a:srgbClr val="1F2937"/>
                          </a:solidFill>
                        </a:rPr>
                        <a:t>때도 </a:t>
                      </a:r>
                      <a:pPr indent="0" marL="0">
                        <a:buNone/>
                      </a:pPr>
                      <a:r>
                        <a:rPr lang="en-US" sz="1100" dirty="0">
                          <a:solidFill>
                            <a:srgbClr val="1F2937"/>
                          </a:solidFill>
                        </a:rPr>
                        <a:t>기기에 </a:t>
                      </a:r>
                      <a:pPr indent="0" marL="0">
                        <a:buNone/>
                      </a:pPr>
                      <a:r>
                        <a:rPr lang="en-US" sz="1100" dirty="0">
                          <a:solidFill>
                            <a:srgbClr val="1F2937"/>
                          </a:solidFill>
                        </a:rPr>
                        <a:t>전달되는 </a:t>
                      </a:r>
                      <a:pPr indent="0" marL="0">
                        <a:buNone/>
                      </a:pPr>
                      <a:r>
                        <a:rPr lang="en-US" sz="1100" dirty="0">
                          <a:solidFill>
                            <a:srgbClr val="1F2937"/>
                          </a:solidFill>
                        </a:rPr>
                        <a:t>알림</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로그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서비스 </a:t>
                      </a:r>
                      <a:pPr indent="0" marL="0">
                        <a:buNone/>
                      </a:pPr>
                      <a:r>
                        <a:rPr lang="en-US" sz="1100" dirty="0">
                          <a:solidFill>
                            <a:srgbClr val="1F2937"/>
                          </a:solidFill>
                        </a:rPr>
                        <a:t>동작이나 </a:t>
                      </a:r>
                      <a:pPr indent="0" marL="0">
                        <a:buNone/>
                      </a:pPr>
                      <a:r>
                        <a:rPr lang="en-US" sz="1100" dirty="0">
                          <a:solidFill>
                            <a:srgbClr val="1F2937"/>
                          </a:solidFill>
                        </a:rPr>
                        <a:t>오류를 </a:t>
                      </a:r>
                      <a:pPr indent="0" marL="0">
                        <a:buNone/>
                      </a:pPr>
                      <a:r>
                        <a:rPr lang="en-US" sz="1100" dirty="0">
                          <a:solidFill>
                            <a:srgbClr val="1F2937"/>
                          </a:solidFill>
                        </a:rPr>
                        <a:t>확인하기 </a:t>
                      </a:r>
                      <a:pPr indent="0" marL="0">
                        <a:buNone/>
                      </a:pPr>
                      <a:r>
                        <a:rPr lang="en-US" sz="1100" dirty="0">
                          <a:solidFill>
                            <a:srgbClr val="1F2937"/>
                          </a:solidFill>
                        </a:rPr>
                        <a:t>위해 </a:t>
                      </a:r>
                      <a:pPr indent="0" marL="0">
                        <a:buNone/>
                      </a:pPr>
                      <a:r>
                        <a:rPr lang="en-US" sz="1100" dirty="0">
                          <a:solidFill>
                            <a:srgbClr val="1F2937"/>
                          </a:solidFill>
                        </a:rPr>
                        <a:t>남기는 </a:t>
                      </a:r>
                      <a:pPr indent="0" marL="0">
                        <a:buNone/>
                      </a:pPr>
                      <a:r>
                        <a:rPr lang="en-US" sz="1100" dirty="0">
                          <a:solidFill>
                            <a:srgbClr val="1F2937"/>
                          </a:solidFill>
                        </a:rPr>
                        <a:t>기록</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15.2 참고 자료</a:t>
            </a:r>
            <a:endParaRPr lang="en-US" sz="2800" dirty="0"/>
          </a:p>
        </p:txBody>
      </p:sp>
      <p:sp>
        <p:nvSpPr>
          <p:cNvPr id="3" name="Shape 1"/>
          <p:cNvSpPr/>
          <p:nvPr/>
        </p:nvSpPr>
        <p:spPr>
          <a:xfrm>
            <a:off x="457200" y="1078992"/>
            <a:ext cx="2743200" cy="41148"/>
          </a:xfrm>
          <a:prstGeom prst="rect">
            <a:avLst/>
          </a:prstGeom>
          <a:solidFill>
            <a:srgbClr val="263F59"/>
          </a:solidFill>
          <a:ln/>
        </p:spPr>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939143"/>
                <a:gridCol w="5290457"/>
              </a:tblGrid>
              <a:tr h="0">
                <a:tc>
                  <a:txBody>
                    <a:bodyPr/>
                    <a:lstStyle/>
                    <a:p>
                      <a:pPr indent="0" marL="0">
                        <a:buNone/>
                      </a:pPr>
                      <a:r>
                        <a:rPr lang="en-US" sz="1200" b="1" dirty="0">
                          <a:solidFill>
                            <a:srgbClr val="FFFFFF"/>
                          </a:solidFill>
                        </a:rPr>
                        <a:t>자료</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c>
                  <a:txBody>
                    <a:bodyPr/>
                    <a:lstStyle/>
                    <a:p>
                      <a:pPr indent="0" marL="0">
                        <a:buNone/>
                      </a:pPr>
                      <a:r>
                        <a:rPr lang="en-US" sz="1200" b="1" dirty="0">
                          <a:solidFill>
                            <a:srgbClr val="FFFFFF"/>
                          </a:solidFill>
                        </a:rPr>
                        <a:t>상태</a:t>
                      </a:r>
                      <a:endParaRPr lang="en-US" sz="12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263F59"/>
                    </a:solidFill>
                  </a:tcPr>
                </a:tc>
              </a:tr>
              <a:tr h="0">
                <a:tc>
                  <a:txBody>
                    <a:bodyPr/>
                    <a:lstStyle/>
                    <a:p>
                      <a:pPr indent="0" marL="0">
                        <a:buNone/>
                      </a:pPr>
                      <a:r>
                        <a:rPr lang="en-US" sz="1100" dirty="0">
                          <a:solidFill>
                            <a:srgbClr val="1F2937"/>
                          </a:solidFill>
                        </a:rPr>
                        <a:t>식품 </a:t>
                      </a:r>
                      <a:pPr indent="0" marL="0">
                        <a:buNone/>
                      </a:pPr>
                      <a:r>
                        <a:rPr lang="en-US" sz="1100" dirty="0">
                          <a:solidFill>
                            <a:srgbClr val="1F2937"/>
                          </a:solidFill>
                        </a:rPr>
                        <a:t>데이터 </a:t>
                      </a:r>
                      <a:pPr indent="0" marL="0">
                        <a:buNone/>
                      </a:pPr>
                      <a:r>
                        <a:rPr lang="en-US" sz="1100" dirty="0">
                          <a:solidFill>
                            <a:srgbClr val="1F2937"/>
                          </a:solidFill>
                        </a:rPr>
                        <a:t>제공처 </a:t>
                      </a:r>
                      <a:pPr indent="0" marL="0">
                        <a:buNone/>
                      </a:pPr>
                      <a:r>
                        <a:rPr lang="en-US" sz="1100" dirty="0">
                          <a:solidFill>
                            <a:srgbClr val="1F2937"/>
                          </a:solidFill>
                        </a:rPr>
                        <a:t>비교 </a:t>
                      </a:r>
                      <a:pPr indent="0" marL="0">
                        <a:buNone/>
                      </a:pPr>
                      <a:r>
                        <a:rPr lang="en-US" sz="1100" dirty="0">
                          <a:solidFill>
                            <a:srgbClr val="1F2937"/>
                          </a:solidFill>
                        </a:rPr>
                        <a:t>자료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이번 </a:t>
                      </a:r>
                      <a:pPr indent="0" marL="0">
                        <a:buNone/>
                      </a:pPr>
                      <a:r>
                        <a:rPr lang="en-US" sz="1100" dirty="0">
                          <a:solidFill>
                            <a:srgbClr val="1F2937"/>
                          </a:solidFill>
                        </a:rPr>
                        <a:t>주 </a:t>
                      </a:r>
                      <a:pPr indent="0" marL="0">
                        <a:buNone/>
                      </a:pPr>
                      <a:r>
                        <a:rPr lang="en-US" sz="1100" dirty="0">
                          <a:solidFill>
                            <a:srgbClr val="1F2937"/>
                          </a:solidFill>
                        </a:rPr>
                        <a:t>확인 </a:t>
                      </a:r>
                      <a:pPr indent="0" marL="0">
                        <a:buNone/>
                      </a:pPr>
                      <a:r>
                        <a:rPr lang="en-US" sz="1100" dirty="0">
                          <a:solidFill>
                            <a:srgbClr val="1F2937"/>
                          </a:solidFill>
                        </a:rPr>
                        <a:t>과제. </a:t>
                      </a:r>
                      <a:pPr indent="0" marL="0">
                        <a:buNone/>
                      </a:pPr>
                      <a:r>
                        <a:rPr lang="en-US" sz="1100" dirty="0">
                          <a:solidFill>
                            <a:srgbClr val="1F2937"/>
                          </a:solidFill>
                        </a:rPr>
                        <a:t>제공처별 </a:t>
                      </a:r>
                      <a:pPr indent="0" marL="0">
                        <a:buNone/>
                      </a:pPr>
                      <a:r>
                        <a:rPr lang="en-US" sz="1100" dirty="0">
                          <a:solidFill>
                            <a:srgbClr val="1F2937"/>
                          </a:solidFill>
                        </a:rPr>
                        <a:t>데이터 </a:t>
                      </a:r>
                      <a:pPr indent="0" marL="0">
                        <a:buNone/>
                      </a:pPr>
                      <a:r>
                        <a:rPr lang="en-US" sz="1100" dirty="0">
                          <a:solidFill>
                            <a:srgbClr val="1F2937"/>
                          </a:solidFill>
                        </a:rPr>
                        <a:t>범위, </a:t>
                      </a:r>
                      <a:pPr indent="0" marL="0">
                        <a:buNone/>
                      </a:pPr>
                      <a:r>
                        <a:rPr lang="en-US" sz="1100" dirty="0">
                          <a:solidFill>
                            <a:srgbClr val="1F2937"/>
                          </a:solidFill>
                        </a:rPr>
                        <a:t>이용 </a:t>
                      </a:r>
                      <a:pPr indent="0" marL="0">
                        <a:buNone/>
                      </a:pPr>
                      <a:r>
                        <a:rPr lang="en-US" sz="1100" dirty="0">
                          <a:solidFill>
                            <a:srgbClr val="1F2937"/>
                          </a:solidFill>
                        </a:rPr>
                        <a:t>조건, </a:t>
                      </a:r>
                      <a:pPr indent="0" marL="0">
                        <a:buNone/>
                      </a:pPr>
                      <a:r>
                        <a:rPr lang="en-US" sz="1100" dirty="0">
                          <a:solidFill>
                            <a:srgbClr val="1F2937"/>
                          </a:solidFill>
                        </a:rPr>
                        <a:t>호출 </a:t>
                      </a:r>
                      <a:pPr indent="0" marL="0">
                        <a:buNone/>
                      </a:pPr>
                      <a:r>
                        <a:rPr lang="en-US" sz="1100" dirty="0">
                          <a:solidFill>
                            <a:srgbClr val="1F2937"/>
                          </a:solidFill>
                        </a:rPr>
                        <a:t>제한, </a:t>
                      </a:r>
                      <a:pPr indent="0" marL="0">
                        <a:buNone/>
                      </a:pPr>
                      <a:r>
                        <a:rPr lang="en-US" sz="1100" dirty="0">
                          <a:solidFill>
                            <a:srgbClr val="1F2937"/>
                          </a:solidFill>
                        </a:rPr>
                        <a:t>예상 </a:t>
                      </a:r>
                      <a:pPr indent="0" marL="0">
                        <a:buNone/>
                      </a:pPr>
                      <a:r>
                        <a:rPr lang="en-US" sz="1100" dirty="0">
                          <a:solidFill>
                            <a:srgbClr val="1F2937"/>
                          </a:solidFill>
                        </a:rPr>
                        <a:t>비용, </a:t>
                      </a:r>
                      <a:pPr indent="0" marL="0">
                        <a:buNone/>
                      </a:pPr>
                      <a:r>
                        <a:rPr lang="en-US" sz="1100" dirty="0">
                          <a:solidFill>
                            <a:srgbClr val="1F2937"/>
                          </a:solidFill>
                        </a:rPr>
                        <a:t>갱신 </a:t>
                      </a:r>
                      <a:pPr indent="0" marL="0">
                        <a:buNone/>
                      </a:pPr>
                      <a:r>
                        <a:rPr lang="en-US" sz="1100" dirty="0">
                          <a:solidFill>
                            <a:srgbClr val="1F2937"/>
                          </a:solidFill>
                        </a:rPr>
                        <a:t>주기 </a:t>
                      </a:r>
                      <a:pPr indent="0" marL="0">
                        <a:buNone/>
                      </a:pPr>
                      <a:r>
                        <a:rPr lang="en-US" sz="1100" dirty="0">
                          <a:solidFill>
                            <a:srgbClr val="1F2937"/>
                          </a:solidFill>
                        </a:rPr>
                        <a:t>확인 </a:t>
                      </a:r>
                      <a:pPr indent="0" marL="0">
                        <a:buNone/>
                      </a:pPr>
                      <a:r>
                        <a:rPr lang="en-US" sz="1100" dirty="0">
                          <a:solidFill>
                            <a:srgbClr val="1F2937"/>
                          </a:solidFill>
                        </a:rPr>
                        <a:t>필요. </a:t>
                      </a:r>
                      <a:pPr indent="0" marL="0">
                        <a:buNone/>
                      </a:pPr>
                      <a:r>
                        <a:rPr lang="en-US" sz="1100" dirty="0">
                          <a:solidFill>
                            <a:srgbClr val="1F2937"/>
                          </a:solidFill>
                        </a:rPr>
                        <a:t>문서 </a:t>
                      </a:r>
                      <a:pPr indent="0" marL="0">
                        <a:buNone/>
                      </a:pPr>
                      <a:r>
                        <a:rPr lang="en-US" sz="1100" dirty="0">
                          <a:solidFill>
                            <a:srgbClr val="1F2937"/>
                          </a:solidFill>
                        </a:rPr>
                        <a:t>링크는 </a:t>
                      </a:r>
                      <a:pPr indent="0" marL="0">
                        <a:buNone/>
                      </a:pPr>
                      <a:r>
                        <a:rPr lang="en-US" sz="1100" dirty="0">
                          <a:solidFill>
                            <a:srgbClr val="1F2937"/>
                          </a:solidFill>
                        </a:rPr>
                        <a:t>미제공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API </a:t>
                      </a:r>
                      <a:pPr indent="0" marL="0">
                        <a:buNone/>
                      </a:pPr>
                      <a:r>
                        <a:rPr lang="en-US" sz="1100" dirty="0">
                          <a:solidFill>
                            <a:srgbClr val="1F2937"/>
                          </a:solidFill>
                        </a:rPr>
                        <a:t>응답 </a:t>
                      </a:r>
                      <a:pPr indent="0" marL="0">
                        <a:buNone/>
                      </a:pPr>
                      <a:r>
                        <a:rPr lang="en-US" sz="1100" dirty="0">
                          <a:solidFill>
                            <a:srgbClr val="1F2937"/>
                          </a:solidFill>
                        </a:rPr>
                        <a:t>및 </a:t>
                      </a:r>
                      <a:pPr indent="0" marL="0">
                        <a:buNone/>
                      </a:pPr>
                      <a:r>
                        <a:rPr lang="en-US" sz="1100" dirty="0">
                          <a:solidFill>
                            <a:srgbClr val="1F2937"/>
                          </a:solidFill>
                        </a:rPr>
                        <a:t>필드 </a:t>
                      </a:r>
                      <a:pPr indent="0" marL="0">
                        <a:buNone/>
                      </a:pPr>
                      <a:r>
                        <a:rPr lang="en-US" sz="1100" dirty="0">
                          <a:solidFill>
                            <a:srgbClr val="1F2937"/>
                          </a:solidFill>
                        </a:rPr>
                        <a:t>비교 </a:t>
                      </a:r>
                      <a:pPr indent="0" marL="0">
                        <a:buNone/>
                      </a:pPr>
                      <a:r>
                        <a:rPr lang="en-US" sz="1100" dirty="0">
                          <a:solidFill>
                            <a:srgbClr val="1F2937"/>
                          </a:solidFill>
                        </a:rPr>
                        <a:t>자료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제공처 </a:t>
                      </a:r>
                      <a:pPr indent="0" marL="0">
                        <a:buNone/>
                      </a:pPr>
                      <a:r>
                        <a:rPr lang="en-US" sz="1100" dirty="0">
                          <a:solidFill>
                            <a:srgbClr val="1F2937"/>
                          </a:solidFill>
                        </a:rPr>
                        <a:t>샘플 </a:t>
                      </a:r>
                      <a:pPr indent="0" marL="0">
                        <a:buNone/>
                      </a:pPr>
                      <a:r>
                        <a:rPr lang="en-US" sz="1100" dirty="0">
                          <a:solidFill>
                            <a:srgbClr val="1F2937"/>
                          </a:solidFill>
                        </a:rPr>
                        <a:t>응답을 </a:t>
                      </a:r>
                      <a:pPr indent="0" marL="0">
                        <a:buNone/>
                      </a:pPr>
                      <a:r>
                        <a:rPr lang="en-US" sz="1100" dirty="0">
                          <a:solidFill>
                            <a:srgbClr val="1F2937"/>
                          </a:solidFill>
                        </a:rPr>
                        <a:t>받아 </a:t>
                      </a:r>
                      <a:pPr indent="0" marL="0">
                        <a:buNone/>
                      </a:pPr>
                      <a:r>
                        <a:rPr lang="en-US" sz="1100" dirty="0">
                          <a:solidFill>
                            <a:srgbClr val="1F2937"/>
                          </a:solidFill>
                        </a:rPr>
                        <a:t>정리할 </a:t>
                      </a:r>
                      <a:pPr indent="0" marL="0">
                        <a:buNone/>
                      </a:pPr>
                      <a:r>
                        <a:rPr lang="en-US" sz="1100" dirty="0">
                          <a:solidFill>
                            <a:srgbClr val="1F2937"/>
                          </a:solidFill>
                        </a:rPr>
                        <a:t>예정. </a:t>
                      </a:r>
                      <a:pPr indent="0" marL="0">
                        <a:buNone/>
                      </a:pPr>
                      <a:r>
                        <a:rPr lang="en-US" sz="1100" dirty="0">
                          <a:solidFill>
                            <a:srgbClr val="1F2937"/>
                          </a:solidFill>
                        </a:rPr>
                        <a:t>문서 </a:t>
                      </a:r>
                      <a:pPr indent="0" marL="0">
                        <a:buNone/>
                      </a:pPr>
                      <a:r>
                        <a:rPr lang="en-US" sz="1100" dirty="0">
                          <a:solidFill>
                            <a:srgbClr val="1F2937"/>
                          </a:solidFill>
                        </a:rPr>
                        <a:t>링크는 </a:t>
                      </a:r>
                      <a:pPr indent="0" marL="0">
                        <a:buNone/>
                      </a:pPr>
                      <a:r>
                        <a:rPr lang="en-US" sz="1100" dirty="0">
                          <a:solidFill>
                            <a:srgbClr val="1F2937"/>
                          </a:solidFill>
                        </a:rPr>
                        <a:t>미제공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개인정보 </a:t>
                      </a:r>
                      <a:pPr indent="0" marL="0">
                        <a:buNone/>
                      </a:pPr>
                      <a:r>
                        <a:rPr lang="en-US" sz="1100" dirty="0">
                          <a:solidFill>
                            <a:srgbClr val="1F2937"/>
                          </a:solidFill>
                        </a:rPr>
                        <a:t>데이터 </a:t>
                      </a:r>
                      <a:pPr indent="0" marL="0">
                        <a:buNone/>
                      </a:pPr>
                      <a:r>
                        <a:rPr lang="en-US" sz="1100" dirty="0">
                          <a:solidFill>
                            <a:srgbClr val="1F2937"/>
                          </a:solidFill>
                        </a:rPr>
                        <a:t>흐름도</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작성 </a:t>
                      </a:r>
                      <a:pPr indent="0" marL="0">
                        <a:buNone/>
                      </a:pPr>
                      <a:r>
                        <a:rPr lang="en-US" sz="1100" dirty="0">
                          <a:solidFill>
                            <a:srgbClr val="1F2937"/>
                          </a:solidFill>
                        </a:rPr>
                        <a:t>예정. </a:t>
                      </a:r>
                      <a:pPr indent="0" marL="0">
                        <a:buNone/>
                      </a:pPr>
                      <a:r>
                        <a:rPr lang="en-US" sz="1100" dirty="0">
                          <a:solidFill>
                            <a:srgbClr val="1F2937"/>
                          </a:solidFill>
                        </a:rPr>
                        <a:t>앱, </a:t>
                      </a:r>
                      <a:pPr indent="0" marL="0">
                        <a:buNone/>
                      </a:pPr>
                      <a:r>
                        <a:rPr lang="en-US" sz="1100" dirty="0">
                          <a:solidFill>
                            <a:srgbClr val="1F2937"/>
                          </a:solidFill>
                        </a:rPr>
                        <a:t>서버, </a:t>
                      </a:r>
                      <a:pPr indent="0" marL="0">
                        <a:buNone/>
                      </a:pPr>
                      <a:r>
                        <a:rPr lang="en-US" sz="1100" dirty="0">
                          <a:solidFill>
                            <a:srgbClr val="1F2937"/>
                          </a:solidFill>
                        </a:rPr>
                        <a:t>외부 </a:t>
                      </a:r>
                      <a:pPr indent="0" marL="0">
                        <a:buNone/>
                      </a:pPr>
                      <a:r>
                        <a:rPr lang="en-US" sz="1100" dirty="0">
                          <a:solidFill>
                            <a:srgbClr val="1F2937"/>
                          </a:solidFill>
                        </a:rPr>
                        <a:t>식품 </a:t>
                      </a:r>
                      <a:pPr indent="0" marL="0">
                        <a:buNone/>
                      </a:pPr>
                      <a:r>
                        <a:rPr lang="en-US" sz="1100" dirty="0">
                          <a:solidFill>
                            <a:srgbClr val="1F2937"/>
                          </a:solidFill>
                        </a:rPr>
                        <a:t>API, </a:t>
                      </a:r>
                      <a:pPr indent="0" marL="0">
                        <a:buNone/>
                      </a:pPr>
                      <a:r>
                        <a:rPr lang="en-US" sz="1100" dirty="0">
                          <a:solidFill>
                            <a:srgbClr val="1F2937"/>
                          </a:solidFill>
                        </a:rPr>
                        <a:t>푸시 </a:t>
                      </a:r>
                      <a:pPr indent="0" marL="0">
                        <a:buNone/>
                      </a:pPr>
                      <a:r>
                        <a:rPr lang="en-US" sz="1100" dirty="0">
                          <a:solidFill>
                            <a:srgbClr val="1F2937"/>
                          </a:solidFill>
                        </a:rPr>
                        <a:t>업체, </a:t>
                      </a:r>
                      <a:pPr indent="0" marL="0">
                        <a:buNone/>
                      </a:pPr>
                      <a:r>
                        <a:rPr lang="en-US" sz="1100" dirty="0">
                          <a:solidFill>
                            <a:srgbClr val="1F2937"/>
                          </a:solidFill>
                        </a:rPr>
                        <a:t>분석 </a:t>
                      </a:r>
                      <a:pPr indent="0" marL="0">
                        <a:buNone/>
                      </a:pPr>
                      <a:r>
                        <a:rPr lang="en-US" sz="1100" dirty="0">
                          <a:solidFill>
                            <a:srgbClr val="1F2937"/>
                          </a:solidFill>
                        </a:rPr>
                        <a:t>도구 </a:t>
                      </a:r>
                      <a:pPr indent="0" marL="0">
                        <a:buNone/>
                      </a:pPr>
                      <a:r>
                        <a:rPr lang="en-US" sz="1100" dirty="0">
                          <a:solidFill>
                            <a:srgbClr val="1F2937"/>
                          </a:solidFill>
                        </a:rPr>
                        <a:t>간 </a:t>
                      </a:r>
                      <a:pPr indent="0" marL="0">
                        <a:buNone/>
                      </a:pPr>
                      <a:r>
                        <a:rPr lang="en-US" sz="1100" dirty="0">
                          <a:solidFill>
                            <a:srgbClr val="1F2937"/>
                          </a:solidFill>
                        </a:rPr>
                        <a:t>처리 </a:t>
                      </a:r>
                      <a:pPr indent="0" marL="0">
                        <a:buNone/>
                      </a:pPr>
                      <a:r>
                        <a:rPr lang="en-US" sz="1100" dirty="0">
                          <a:solidFill>
                            <a:srgbClr val="1F2937"/>
                          </a:solidFill>
                        </a:rPr>
                        <a:t>항목과 </a:t>
                      </a:r>
                      <a:pPr indent="0" marL="0">
                        <a:buNone/>
                      </a:pPr>
                      <a:r>
                        <a:rPr lang="en-US" sz="1100" dirty="0">
                          <a:solidFill>
                            <a:srgbClr val="1F2937"/>
                          </a:solidFill>
                        </a:rPr>
                        <a:t>목적을 </a:t>
                      </a:r>
                      <a:pPr indent="0" marL="0">
                        <a:buNone/>
                      </a:pPr>
                      <a:r>
                        <a:rPr lang="en-US" sz="1100" dirty="0">
                          <a:solidFill>
                            <a:srgbClr val="1F2937"/>
                          </a:solidFill>
                        </a:rPr>
                        <a:t>정리할 </a:t>
                      </a:r>
                      <a:pPr indent="0" marL="0">
                        <a:buNone/>
                      </a:pPr>
                      <a:r>
                        <a:rPr lang="en-US" sz="1100" dirty="0">
                          <a:solidFill>
                            <a:srgbClr val="1F2937"/>
                          </a:solidFill>
                        </a:rPr>
                        <a:t>예정</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개인정보 </a:t>
                      </a:r>
                      <a:pPr indent="0" marL="0">
                        <a:buNone/>
                      </a:pPr>
                      <a:r>
                        <a:rPr lang="en-US" sz="1100" dirty="0">
                          <a:solidFill>
                            <a:srgbClr val="1F2937"/>
                          </a:solidFill>
                        </a:rPr>
                        <a:t>처리방침·이용약관 </a:t>
                      </a:r>
                      <a:pPr indent="0" marL="0">
                        <a:buNone/>
                      </a:pPr>
                      <a:r>
                        <a:rPr lang="en-US" sz="1100" dirty="0">
                          <a:solidFill>
                            <a:srgbClr val="1F2937"/>
                          </a:solidFill>
                        </a:rPr>
                        <a:t>검토 </a:t>
                      </a:r>
                      <a:pPr indent="0" marL="0">
                        <a:buNone/>
                      </a:pPr>
                      <a:r>
                        <a:rPr lang="en-US" sz="1100" dirty="0">
                          <a:solidFill>
                            <a:srgbClr val="1F2937"/>
                          </a:solidFill>
                        </a:rPr>
                        <a:t>자료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법무·개인정보 </a:t>
                      </a:r>
                      <a:pPr indent="0" marL="0">
                        <a:buNone/>
                      </a:pPr>
                      <a:r>
                        <a:rPr lang="en-US" sz="1100" dirty="0">
                          <a:solidFill>
                            <a:srgbClr val="1F2937"/>
                          </a:solidFill>
                        </a:rPr>
                        <a:t>담당자 </a:t>
                      </a:r>
                      <a:pPr indent="0" marL="0">
                        <a:buNone/>
                      </a:pPr>
                      <a:r>
                        <a:rPr lang="en-US" sz="1100" dirty="0">
                          <a:solidFill>
                            <a:srgbClr val="1F2937"/>
                          </a:solidFill>
                        </a:rPr>
                        <a:t>확인 </a:t>
                      </a:r>
                      <a:pPr indent="0" marL="0">
                        <a:buNone/>
                      </a:pPr>
                      <a:r>
                        <a:rPr lang="en-US" sz="1100" dirty="0">
                          <a:solidFill>
                            <a:srgbClr val="1F2937"/>
                          </a:solidFill>
                        </a:rPr>
                        <a:t>필요. </a:t>
                      </a:r>
                      <a:pPr indent="0" marL="0">
                        <a:buNone/>
                      </a:pPr>
                      <a:r>
                        <a:rPr lang="en-US" sz="1100" dirty="0">
                          <a:solidFill>
                            <a:srgbClr val="1F2937"/>
                          </a:solidFill>
                        </a:rPr>
                        <a:t>문서 </a:t>
                      </a:r>
                      <a:pPr indent="0" marL="0">
                        <a:buNone/>
                      </a:pPr>
                      <a:r>
                        <a:rPr lang="en-US" sz="1100" dirty="0">
                          <a:solidFill>
                            <a:srgbClr val="1F2937"/>
                          </a:solidFill>
                        </a:rPr>
                        <a:t>링크는 </a:t>
                      </a:r>
                      <a:pPr indent="0" marL="0">
                        <a:buNone/>
                      </a:pPr>
                      <a:r>
                        <a:rPr lang="en-US" sz="1100" dirty="0">
                          <a:solidFill>
                            <a:srgbClr val="1F2937"/>
                          </a:solidFill>
                        </a:rPr>
                        <a:t>미제공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음식 </a:t>
                      </a:r>
                      <a:pPr indent="0" marL="0">
                        <a:buNone/>
                      </a:pPr>
                      <a:r>
                        <a:rPr lang="en-US" sz="1100" dirty="0">
                          <a:solidFill>
                            <a:srgbClr val="1F2937"/>
                          </a:solidFill>
                        </a:rPr>
                        <a:t>검색 </a:t>
                      </a:r>
                      <a:pPr indent="0" marL="0">
                        <a:buNone/>
                      </a:pPr>
                      <a:r>
                        <a:rPr lang="en-US" sz="1100" dirty="0">
                          <a:solidFill>
                            <a:srgbClr val="1F2937"/>
                          </a:solidFill>
                        </a:rPr>
                        <a:t>테스트 </a:t>
                      </a:r>
                      <a:pPr indent="0" marL="0">
                        <a:buNone/>
                      </a:pPr>
                      <a:r>
                        <a:rPr lang="en-US" sz="1100" dirty="0">
                          <a:solidFill>
                            <a:srgbClr val="1F2937"/>
                          </a:solidFill>
                        </a:rPr>
                        <a:t>세트</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대표 </a:t>
                      </a:r>
                      <a:pPr indent="0" marL="0">
                        <a:buNone/>
                      </a:pPr>
                      <a:r>
                        <a:rPr lang="en-US" sz="1100" dirty="0">
                          <a:solidFill>
                            <a:srgbClr val="1F2937"/>
                          </a:solidFill>
                        </a:rPr>
                        <a:t>메뉴 </a:t>
                      </a:r>
                      <a:pPr indent="0" marL="0">
                        <a:buNone/>
                      </a:pPr>
                      <a:r>
                        <a:rPr lang="en-US" sz="1100" dirty="0">
                          <a:solidFill>
                            <a:srgbClr val="1F2937"/>
                          </a:solidFill>
                        </a:rPr>
                        <a:t>50개와 </a:t>
                      </a:r>
                      <a:pPr indent="0" marL="0">
                        <a:buNone/>
                      </a:pPr>
                      <a:r>
                        <a:rPr lang="en-US" sz="1100" dirty="0">
                          <a:solidFill>
                            <a:srgbClr val="1F2937"/>
                          </a:solidFill>
                        </a:rPr>
                        <a:t>브랜드 </a:t>
                      </a:r>
                      <a:pPr indent="0" marL="0">
                        <a:buNone/>
                      </a:pPr>
                      <a:r>
                        <a:rPr lang="en-US" sz="1100" dirty="0">
                          <a:solidFill>
                            <a:srgbClr val="1F2937"/>
                          </a:solidFill>
                        </a:rPr>
                        <a:t>상품 </a:t>
                      </a:r>
                      <a:pPr indent="0" marL="0">
                        <a:buNone/>
                      </a:pPr>
                      <a:r>
                        <a:rPr lang="en-US" sz="1100" dirty="0">
                          <a:solidFill>
                            <a:srgbClr val="1F2937"/>
                          </a:solidFill>
                        </a:rPr>
                        <a:t>20개 </a:t>
                      </a:r>
                      <a:pPr indent="0" marL="0">
                        <a:buNone/>
                      </a:pPr>
                      <a:r>
                        <a:rPr lang="en-US" sz="1100" dirty="0">
                          <a:solidFill>
                            <a:srgbClr val="1F2937"/>
                          </a:solidFill>
                        </a:rPr>
                        <a:t>수준으로 </a:t>
                      </a:r>
                      <a:pPr indent="0" marL="0">
                        <a:buNone/>
                      </a:pPr>
                      <a:r>
                        <a:rPr lang="en-US" sz="1100" dirty="0">
                          <a:solidFill>
                            <a:srgbClr val="1F2937"/>
                          </a:solidFill>
                        </a:rPr>
                        <a:t>구성하는 </a:t>
                      </a:r>
                      <a:pPr indent="0" marL="0">
                        <a:buNone/>
                      </a:pPr>
                      <a:r>
                        <a:rPr lang="en-US" sz="1100" dirty="0">
                          <a:solidFill>
                            <a:srgbClr val="1F2937"/>
                          </a:solidFill>
                        </a:rPr>
                        <a:t>안이 </a:t>
                      </a:r>
                      <a:pPr indent="0" marL="0">
                        <a:buNone/>
                      </a:pPr>
                      <a:r>
                        <a:rPr lang="en-US" sz="1100" dirty="0">
                          <a:solidFill>
                            <a:srgbClr val="1F2937"/>
                          </a:solidFill>
                        </a:rPr>
                        <a:t>논의됨. </a:t>
                      </a:r>
                      <a:pPr indent="0" marL="0">
                        <a:buNone/>
                      </a:pPr>
                      <a:r>
                        <a:rPr lang="en-US" sz="1100" dirty="0">
                          <a:solidFill>
                            <a:srgbClr val="1F2937"/>
                          </a:solidFill>
                        </a:rPr>
                        <a:t>문서 </a:t>
                      </a:r>
                      <a:pPr indent="0" marL="0">
                        <a:buNone/>
                      </a:pPr>
                      <a:r>
                        <a:rPr lang="en-US" sz="1100" dirty="0">
                          <a:solidFill>
                            <a:srgbClr val="1F2937"/>
                          </a:solidFill>
                        </a:rPr>
                        <a:t>링크는 </a:t>
                      </a:r>
                      <a:pPr indent="0" marL="0">
                        <a:buNone/>
                      </a:pPr>
                      <a:r>
                        <a:rPr lang="en-US" sz="1100" dirty="0">
                          <a:solidFill>
                            <a:srgbClr val="1F2937"/>
                          </a:solidFill>
                        </a:rPr>
                        <a:t>미제공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사용자 </a:t>
                      </a:r>
                      <a:pPr indent="0" marL="0">
                        <a:buNone/>
                      </a:pPr>
                      <a:r>
                        <a:rPr lang="en-US" sz="1100" dirty="0">
                          <a:solidFill>
                            <a:srgbClr val="1F2937"/>
                          </a:solidFill>
                        </a:rPr>
                        <a:t>인터뷰·프로토타입 </a:t>
                      </a:r>
                      <a:pPr indent="0" marL="0">
                        <a:buNone/>
                      </a:pPr>
                      <a:r>
                        <a:rPr lang="en-US" sz="1100" dirty="0">
                          <a:solidFill>
                            <a:srgbClr val="1F2937"/>
                          </a:solidFill>
                        </a:rPr>
                        <a:t>테스트 </a:t>
                      </a:r>
                      <a:pPr indent="0" marL="0">
                        <a:buNone/>
                      </a:pPr>
                      <a:r>
                        <a:rPr lang="en-US" sz="1100" dirty="0">
                          <a:solidFill>
                            <a:srgbClr val="1F2937"/>
                          </a:solidFill>
                        </a:rPr>
                        <a:t>자료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인터뷰 </a:t>
                      </a:r>
                      <a:pPr indent="0" marL="0">
                        <a:buNone/>
                      </a:pPr>
                      <a:r>
                        <a:rPr lang="en-US" sz="1100" dirty="0">
                          <a:solidFill>
                            <a:srgbClr val="1F2937"/>
                          </a:solidFill>
                        </a:rPr>
                        <a:t>및 </a:t>
                      </a:r>
                      <a:pPr indent="0" marL="0">
                        <a:buNone/>
                      </a:pPr>
                      <a:r>
                        <a:rPr lang="en-US" sz="1100" dirty="0">
                          <a:solidFill>
                            <a:srgbClr val="1F2937"/>
                          </a:solidFill>
                        </a:rPr>
                        <a:t>테스트 </a:t>
                      </a:r>
                      <a:pPr indent="0" marL="0">
                        <a:buNone/>
                      </a:pPr>
                      <a:r>
                        <a:rPr lang="en-US" sz="1100" dirty="0">
                          <a:solidFill>
                            <a:srgbClr val="1F2937"/>
                          </a:solidFill>
                        </a:rPr>
                        <a:t>계획을 </a:t>
                      </a:r>
                      <a:pPr indent="0" marL="0">
                        <a:buNone/>
                      </a:pPr>
                      <a:r>
                        <a:rPr lang="en-US" sz="1100" dirty="0">
                          <a:solidFill>
                            <a:srgbClr val="1F2937"/>
                          </a:solidFill>
                        </a:rPr>
                        <a:t>마련할 </a:t>
                      </a:r>
                      <a:pPr indent="0" marL="0">
                        <a:buNone/>
                      </a:pPr>
                      <a:r>
                        <a:rPr lang="en-US" sz="1100" dirty="0">
                          <a:solidFill>
                            <a:srgbClr val="1F2937"/>
                          </a:solidFill>
                        </a:rPr>
                        <a:t>예정. </a:t>
                      </a:r>
                      <a:pPr indent="0" marL="0">
                        <a:buNone/>
                      </a:pPr>
                      <a:r>
                        <a:rPr lang="en-US" sz="1100" dirty="0">
                          <a:solidFill>
                            <a:srgbClr val="1F2937"/>
                          </a:solidFill>
                        </a:rPr>
                        <a:t>확정 </a:t>
                      </a:r>
                      <a:pPr indent="0" marL="0">
                        <a:buNone/>
                      </a:pPr>
                      <a:r>
                        <a:rPr lang="en-US" sz="1100" dirty="0">
                          <a:solidFill>
                            <a:srgbClr val="1F2937"/>
                          </a:solidFill>
                        </a:rPr>
                        <a:t>자료와 </a:t>
                      </a:r>
                      <a:pPr indent="0" marL="0">
                        <a:buNone/>
                      </a:pPr>
                      <a:r>
                        <a:rPr lang="en-US" sz="1100" dirty="0">
                          <a:solidFill>
                            <a:srgbClr val="1F2937"/>
                          </a:solidFill>
                        </a:rPr>
                        <a:t>링크는 </a:t>
                      </a:r>
                      <a:pPr indent="0" marL="0">
                        <a:buNone/>
                      </a:pPr>
                      <a:r>
                        <a:rPr lang="en-US" sz="1100" dirty="0">
                          <a:solidFill>
                            <a:srgbClr val="1F2937"/>
                          </a:solidFill>
                        </a:rPr>
                        <a:t>미제공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dirty="0">
                          <a:solidFill>
                            <a:srgbClr val="1F2937"/>
                          </a:solidFill>
                        </a:rPr>
                        <a:t>전문가 </a:t>
                      </a:r>
                      <a:pPr indent="0" marL="0">
                        <a:buNone/>
                      </a:pPr>
                      <a:r>
                        <a:rPr lang="en-US" sz="1100" dirty="0">
                          <a:solidFill>
                            <a:srgbClr val="1F2937"/>
                          </a:solidFill>
                        </a:rPr>
                        <a:t>검토 </a:t>
                      </a:r>
                      <a:pPr indent="0" marL="0">
                        <a:buNone/>
                      </a:pPr>
                      <a:r>
                        <a:rPr lang="en-US" sz="1100" dirty="0">
                          <a:solidFill>
                            <a:srgbClr val="1F2937"/>
                          </a:solidFill>
                        </a:rPr>
                        <a:t>자료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자동 </a:t>
                      </a:r>
                      <a:pPr indent="0" marL="0">
                        <a:buNone/>
                      </a:pPr>
                      <a:r>
                        <a:rPr lang="en-US" sz="1100" dirty="0">
                          <a:solidFill>
                            <a:srgbClr val="1F2937"/>
                          </a:solidFill>
                        </a:rPr>
                        <a:t>칼로리 </a:t>
                      </a:r>
                      <a:pPr indent="0" marL="0">
                        <a:buNone/>
                      </a:pPr>
                      <a:r>
                        <a:rPr lang="en-US" sz="1100" dirty="0">
                          <a:solidFill>
                            <a:srgbClr val="1F2937"/>
                          </a:solidFill>
                        </a:rPr>
                        <a:t>목표와 </a:t>
                      </a:r>
                      <a:pPr indent="0" marL="0">
                        <a:buNone/>
                      </a:pPr>
                      <a:r>
                        <a:rPr lang="en-US" sz="1100" dirty="0">
                          <a:solidFill>
                            <a:srgbClr val="1F2937"/>
                          </a:solidFill>
                        </a:rPr>
                        <a:t>리포트 </a:t>
                      </a:r>
                      <a:pPr indent="0" marL="0">
                        <a:buNone/>
                      </a:pPr>
                      <a:r>
                        <a:rPr lang="en-US" sz="1100" dirty="0">
                          <a:solidFill>
                            <a:srgbClr val="1F2937"/>
                          </a:solidFill>
                        </a:rPr>
                        <a:t>문구 </a:t>
                      </a:r>
                      <a:pPr indent="0" marL="0">
                        <a:buNone/>
                      </a:pPr>
                      <a:r>
                        <a:rPr lang="en-US" sz="1100" dirty="0">
                          <a:solidFill>
                            <a:srgbClr val="1F2937"/>
                          </a:solidFill>
                        </a:rPr>
                        <a:t>등에 </a:t>
                      </a:r>
                      <a:pPr indent="0" marL="0">
                        <a:buNone/>
                      </a:pPr>
                      <a:r>
                        <a:rPr lang="en-US" sz="1100" dirty="0">
                          <a:solidFill>
                            <a:srgbClr val="1F2937"/>
                          </a:solidFill>
                        </a:rPr>
                        <a:t>대한 </a:t>
                      </a:r>
                      <a:pPr indent="0" marL="0">
                        <a:buNone/>
                      </a:pPr>
                      <a:r>
                        <a:rPr lang="en-US" sz="1100" dirty="0">
                          <a:solidFill>
                            <a:srgbClr val="1F2937"/>
                          </a:solidFill>
                        </a:rPr>
                        <a:t>전문가 </a:t>
                      </a:r>
                      <a:pPr indent="0" marL="0">
                        <a:buNone/>
                      </a:pPr>
                      <a:r>
                        <a:rPr lang="en-US" sz="1100" dirty="0">
                          <a:solidFill>
                            <a:srgbClr val="1F2937"/>
                          </a:solidFill>
                        </a:rPr>
                        <a:t>의견 </a:t>
                      </a:r>
                      <a:pPr indent="0" marL="0">
                        <a:buNone/>
                      </a:pPr>
                      <a:r>
                        <a:rPr lang="en-US" sz="1100" dirty="0">
                          <a:solidFill>
                            <a:srgbClr val="1F2937"/>
                          </a:solidFill>
                        </a:rPr>
                        <a:t>확인 </a:t>
                      </a:r>
                      <a:pPr indent="0" marL="0">
                        <a:buNone/>
                      </a:pPr>
                      <a:r>
                        <a:rPr lang="en-US" sz="1100" dirty="0">
                          <a:solidFill>
                            <a:srgbClr val="1F2937"/>
                          </a:solidFill>
                        </a:rPr>
                        <a:t>필요. </a:t>
                      </a:r>
                      <a:pPr indent="0" marL="0">
                        <a:buNone/>
                      </a:pPr>
                      <a:r>
                        <a:rPr lang="en-US" sz="1100" dirty="0">
                          <a:solidFill>
                            <a:srgbClr val="1F2937"/>
                          </a:solidFill>
                        </a:rPr>
                        <a:t>자료 </a:t>
                      </a:r>
                      <a:pPr indent="0" marL="0">
                        <a:buNone/>
                      </a:pPr>
                      <a:r>
                        <a:rPr lang="en-US" sz="1100" dirty="0">
                          <a:solidFill>
                            <a:srgbClr val="1F2937"/>
                          </a:solidFill>
                        </a:rPr>
                        <a:t>링크는 </a:t>
                      </a:r>
                      <a:pPr indent="0" marL="0">
                        <a:buNone/>
                      </a:pPr>
                      <a:r>
                        <a:rPr lang="en-US" sz="1100" dirty="0">
                          <a:solidFill>
                            <a:srgbClr val="1F2937"/>
                          </a:solidFill>
                        </a:rPr>
                        <a:t>미제공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1F2937"/>
                          </a:solidFill>
                        </a:rPr>
                        <a:t>기술 </a:t>
                      </a:r>
                      <a:pPr indent="0" marL="0">
                        <a:buNone/>
                      </a:pPr>
                      <a:r>
                        <a:rPr lang="en-US" sz="1100" dirty="0">
                          <a:solidFill>
                            <a:srgbClr val="1F2937"/>
                          </a:solidFill>
                        </a:rPr>
                        <a:t>참고 </a:t>
                      </a:r>
                      <a:pPr indent="0" marL="0">
                        <a:buNone/>
                      </a:pPr>
                      <a:r>
                        <a:rPr lang="en-US" sz="1100" dirty="0">
                          <a:solidFill>
                            <a:srgbClr val="1F2937"/>
                          </a:solidFill>
                        </a:rPr>
                        <a:t>자료</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c>
                  <a:txBody>
                    <a:bodyPr/>
                    <a:lstStyle/>
                    <a:p>
                      <a:pPr indent="0" marL="0">
                        <a:buNone/>
                      </a:pPr>
                      <a:r>
                        <a:rPr lang="en-US" sz="1100" dirty="0">
                          <a:solidFill>
                            <a:srgbClr val="1F2937"/>
                          </a:solidFill>
                        </a:rPr>
                        <a:t>인증, </a:t>
                      </a:r>
                      <a:pPr indent="0" marL="0">
                        <a:buNone/>
                      </a:pPr>
                      <a:r>
                        <a:rPr lang="en-US" sz="1100" dirty="0">
                          <a:solidFill>
                            <a:srgbClr val="1F2937"/>
                          </a:solidFill>
                        </a:rPr>
                        <a:t>푸시, </a:t>
                      </a:r>
                      <a:pPr indent="0" marL="0">
                        <a:buNone/>
                      </a:pPr>
                      <a:r>
                        <a:rPr lang="en-US" sz="1100" dirty="0">
                          <a:solidFill>
                            <a:srgbClr val="1F2937"/>
                          </a:solidFill>
                        </a:rPr>
                        <a:t>사진 </a:t>
                      </a:r>
                      <a:pPr indent="0" marL="0">
                        <a:buNone/>
                      </a:pPr>
                      <a:r>
                        <a:rPr lang="en-US" sz="1100" dirty="0">
                          <a:solidFill>
                            <a:srgbClr val="1F2937"/>
                          </a:solidFill>
                        </a:rPr>
                        <a:t>저장·메타데이터 </a:t>
                      </a:r>
                      <a:pPr indent="0" marL="0">
                        <a:buNone/>
                      </a:pPr>
                      <a:r>
                        <a:rPr lang="en-US" sz="1100" dirty="0">
                          <a:solidFill>
                            <a:srgbClr val="1F2937"/>
                          </a:solidFill>
                        </a:rPr>
                        <a:t>제거, </a:t>
                      </a:r>
                      <a:pPr indent="0" marL="0">
                        <a:buNone/>
                      </a:pPr>
                      <a:r>
                        <a:rPr lang="en-US" sz="1100" dirty="0">
                          <a:solidFill>
                            <a:srgbClr val="1F2937"/>
                          </a:solidFill>
                        </a:rPr>
                        <a:t>백업·복구 </a:t>
                      </a:r>
                      <a:pPr indent="0" marL="0">
                        <a:buNone/>
                      </a:pPr>
                      <a:r>
                        <a:rPr lang="en-US" sz="1100" dirty="0">
                          <a:solidFill>
                            <a:srgbClr val="1F2937"/>
                          </a:solidFill>
                        </a:rPr>
                        <a:t>관련 </a:t>
                      </a:r>
                      <a:pPr indent="0" marL="0">
                        <a:buNone/>
                      </a:pPr>
                      <a:r>
                        <a:rPr lang="en-US" sz="1100" dirty="0">
                          <a:solidFill>
                            <a:srgbClr val="1F2937"/>
                          </a:solidFill>
                        </a:rPr>
                        <a:t>검토 </a:t>
                      </a:r>
                      <a:pPr indent="0" marL="0">
                        <a:buNone/>
                      </a:pPr>
                      <a:r>
                        <a:rPr lang="en-US" sz="1100" dirty="0">
                          <a:solidFill>
                            <a:srgbClr val="1F2937"/>
                          </a:solidFill>
                        </a:rPr>
                        <a:t>자료는 </a:t>
                      </a:r>
                      <a:pPr indent="0" marL="0">
                        <a:buNone/>
                      </a:pPr>
                      <a:r>
                        <a:rPr lang="en-US" sz="1100" dirty="0">
                          <a:solidFill>
                            <a:srgbClr val="1F2937"/>
                          </a:solidFill>
                        </a:rPr>
                        <a:t>미제공</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3F4F6"/>
                    </a:solidFill>
                  </a:tcPr>
                </a:tc>
              </a:tr>
              <a:tr h="0">
                <a:tc>
                  <a:txBody>
                    <a:bodyPr/>
                    <a:lstStyle/>
                    <a:p>
                      <a:pPr indent="0" marL="0">
                        <a:buNone/>
                      </a:pPr>
                      <a:r>
                        <a:rPr lang="en-US" sz="1100" b="1" dirty="0">
                          <a:solidFill>
                            <a:srgbClr val="1F2937"/>
                          </a:solidFill>
                        </a:rPr>
                        <a:t>API </a:t>
                      </a:r>
                      <a:pPr indent="0" marL="0">
                        <a:buNone/>
                      </a:pPr>
                      <a:r>
                        <a:rPr lang="en-US" sz="1100" b="1" dirty="0">
                          <a:solidFill>
                            <a:srgbClr val="1F2937"/>
                          </a:solidFill>
                        </a:rPr>
                        <a:t>명세서 </a:t>
                      </a:r>
                      <a:pPr indent="0" marL="0">
                        <a:buNone/>
                      </a:pPr>
                      <a:r>
                        <a:rPr lang="en-US" sz="1100" b="1" dirty="0">
                          <a:solidFill>
                            <a:srgbClr val="1F2937"/>
                          </a:solidFill>
                        </a:rPr>
                        <a:t>링크</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c>
                  <a:txBody>
                    <a:bodyPr/>
                    <a:lstStyle/>
                    <a:p>
                      <a:pPr indent="0" marL="0">
                        <a:buNone/>
                      </a:pPr>
                      <a:r>
                        <a:rPr lang="en-US" sz="1100" dirty="0">
                          <a:solidFill>
                            <a:srgbClr val="1F2937"/>
                          </a:solidFill>
                        </a:rPr>
                        <a:t>미정.</a:t>
                      </a:r>
                      <a:pPr indent="0" marL="0">
                        <a:buNone/>
                      </a:pPr>
                      <a:r>
                        <a:rPr lang="en-US" sz="1100" dirty="0">
                          <a:solidFill>
                            <a:srgbClr val="1F2937"/>
                          </a:solidFill>
                          <a:latin typeface="Courier New" pitchFamily="34" charset="0"/>
                          <a:ea typeface="Courier New" pitchFamily="34" charset="-122"/>
                          <a:cs typeface="Courier New" pitchFamily="34" charset="-120"/>
                        </a:rPr>
                        <a:t>/docs/api</a:t>
                      </a:r>
                      <a:pPr indent="0" marL="0">
                        <a:buNone/>
                      </a:pPr>
                      <a:r>
                        <a:rPr lang="en-US" sz="1100" dirty="0">
                          <a:solidFill>
                            <a:srgbClr val="1F2937"/>
                          </a:solidFill>
                        </a:rPr>
                        <a:t>는 </a:t>
                      </a:r>
                      <a:pPr indent="0" marL="0">
                        <a:buNone/>
                      </a:pPr>
                      <a:r>
                        <a:rPr lang="en-US" sz="1100" dirty="0">
                          <a:solidFill>
                            <a:srgbClr val="1F2937"/>
                          </a:solidFill>
                        </a:rPr>
                        <a:t>작성 </a:t>
                      </a:r>
                      <a:pPr indent="0" marL="0">
                        <a:buNone/>
                      </a:pPr>
                      <a:r>
                        <a:rPr lang="en-US" sz="1100" dirty="0">
                          <a:solidFill>
                            <a:srgbClr val="1F2937"/>
                          </a:solidFill>
                        </a:rPr>
                        <a:t>가이드의 </a:t>
                      </a:r>
                      <a:pPr indent="0" marL="0">
                        <a:buNone/>
                      </a:pPr>
                      <a:r>
                        <a:rPr lang="en-US" sz="1100" dirty="0">
                          <a:solidFill>
                            <a:srgbClr val="1F2937"/>
                          </a:solidFill>
                        </a:rPr>
                        <a:t>예시이며, </a:t>
                      </a:r>
                      <a:pPr indent="0" marL="0">
                        <a:buNone/>
                      </a:pPr>
                      <a:r>
                        <a:rPr lang="en-US" sz="1100" dirty="0">
                          <a:solidFill>
                            <a:srgbClr val="1F2937"/>
                          </a:solidFill>
                        </a:rPr>
                        <a:t>실제 </a:t>
                      </a:r>
                      <a:pPr indent="0" marL="0">
                        <a:buNone/>
                      </a:pPr>
                      <a:r>
                        <a:rPr lang="en-US" sz="1100" dirty="0">
                          <a:solidFill>
                            <a:srgbClr val="1F2937"/>
                          </a:solidFill>
                        </a:rPr>
                        <a:t>문서 </a:t>
                      </a:r>
                      <a:pPr indent="0" marL="0">
                        <a:buNone/>
                      </a:pPr>
                      <a:r>
                        <a:rPr lang="en-US" sz="1100" dirty="0">
                          <a:solidFill>
                            <a:srgbClr val="1F2937"/>
                          </a:solidFill>
                        </a:rPr>
                        <a:t>위치는 </a:t>
                      </a:r>
                      <a:pPr indent="0" marL="0">
                        <a:buNone/>
                      </a:pPr>
                      <a:r>
                        <a:rPr lang="en-US" sz="1100" dirty="0">
                          <a:solidFill>
                            <a:srgbClr val="1F2937"/>
                          </a:solidFill>
                        </a:rPr>
                        <a:t>확인 </a:t>
                      </a:r>
                      <a:pPr indent="0" marL="0">
                        <a:buNone/>
                      </a:pPr>
                      <a:r>
                        <a:rPr lang="en-US" sz="1100" dirty="0">
                          <a:solidFill>
                            <a:srgbClr val="1F2937"/>
                          </a:solidFill>
                        </a:rPr>
                        <a:t>필요</a:t>
                      </a:r>
                      <a:endParaRPr lang="en-US" sz="1100" dirty="0"/>
                    </a:p>
                  </a:txBody>
                  <a:tcPr marL="91440" marR="91440" marT="45720" marB="45720" anchor="ctr">
                    <a:lnL w="6350" cap="flat" cmpd="sng" algn="ctr">
                      <a:solidFill>
                        <a:srgbClr val="E5E7EB"/>
                      </a:solidFill>
                      <a:prstDash val="solid"/>
                      <a:round/>
                      <a:headEnd type="none" w="med" len="med"/>
                      <a:tailEnd type="none" w="med" len="med"/>
                    </a:lnL>
                    <a:lnR w="6350" cap="flat" cmpd="sng" algn="ctr">
                      <a:solidFill>
                        <a:srgbClr val="E5E7EB"/>
                      </a:solidFill>
                      <a:prstDash val="solid"/>
                      <a:round/>
                      <a:headEnd type="none" w="med" len="med"/>
                      <a:tailEnd type="none" w="med" len="med"/>
                    </a:lnR>
                    <a:lnT w="6350" cap="flat" cmpd="sng" algn="ctr">
                      <a:solidFill>
                        <a:srgbClr val="E5E7EB"/>
                      </a:solidFill>
                      <a:prstDash val="solid"/>
                      <a:round/>
                      <a:headEnd type="none" w="med" len="med"/>
                      <a:tailEnd type="none" w="med" len="med"/>
                    </a:lnT>
                    <a:lnB w="6350" cap="flat" cmpd="sng" algn="ctr">
                      <a:solidFill>
                        <a:srgbClr val="E5E7E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800" b="1" dirty="0">
                <a:solidFill>
                  <a:srgbClr val="1F2937"/>
                </a:solidFill>
              </a:rPr>
              <a:t>15.2 참고 자료</a:t>
            </a:r>
            <a:endParaRPr lang="en-US" sz="2800" dirty="0"/>
          </a:p>
        </p:txBody>
      </p:sp>
      <p:sp>
        <p:nvSpPr>
          <p:cNvPr id="3" name="Shape 1"/>
          <p:cNvSpPr/>
          <p:nvPr/>
        </p:nvSpPr>
        <p:spPr>
          <a:xfrm>
            <a:off x="457200" y="1078992"/>
            <a:ext cx="2743200" cy="41148"/>
          </a:xfrm>
          <a:prstGeom prst="rect">
            <a:avLst/>
          </a:prstGeom>
          <a:solidFill>
            <a:srgbClr val="263F59"/>
          </a:solidFill>
          <a:ln/>
        </p:spPr>
      </p:sp>
      <p:sp>
        <p:nvSpPr>
          <p:cNvPr id="4" name="Text 2"/>
          <p:cNvSpPr/>
          <p:nvPr/>
        </p:nvSpPr>
        <p:spPr>
          <a:xfrm>
            <a:off x="640080" y="1371600"/>
            <a:ext cx="7863840" cy="4572000"/>
          </a:xfrm>
          <a:prstGeom prst="rect">
            <a:avLst/>
          </a:prstGeom>
          <a:noFill/>
          <a:ln/>
        </p:spPr>
        <p:txBody>
          <a:bodyPr wrap="square" rtlCol="0" anchor="t">
            <a:normAutofit/>
          </a:bodyPr>
          <a:lstStyle/>
          <a:p>
            <a:pPr indent="0" marL="0">
              <a:spcAft>
                <a:spcPts val="800"/>
              </a:spcAft>
              <a:buNone/>
            </a:pPr>
            <a:r>
              <a:rPr lang="en-US" sz="1600" dirty="0">
                <a:solidFill>
                  <a:srgbClr val="4B5563"/>
                </a:solidFill>
              </a:rPr>
              <a:t>———</a:t>
            </a:r>
            <a:endParaRPr lang="en-US" sz="1600" dirty="0"/>
          </a:p>
          <a:p>
            <a:pPr indent="0" marL="0">
              <a:spcAft>
                <a:spcPts val="800"/>
              </a:spcAft>
              <a:buNone/>
            </a:pPr>
            <a:r>
              <a:rPr lang="en-US" sz="1600" dirty="0">
                <a:solidFill>
                  <a:srgbClr val="4B5563"/>
                </a:solidFill>
              </a:rPr>
              <a:t>———</a:t>
            </a:r>
            <a:endParaRPr lang="en-US" sz="1600" dirty="0"/>
          </a:p>
          <a:p>
            <a:pPr indent="0" marL="0">
              <a:spcAft>
                <a:spcPts val="800"/>
              </a:spcAft>
              <a:buNone/>
            </a:pPr>
            <a:r>
              <a:rPr lang="en-US" sz="1600" i="1" dirty="0">
                <a:solidFill>
                  <a:srgbClr val="4B5563"/>
                </a:solidFill>
              </a:rPr>
              <a:t>이 문서는 회의 녹음을 바탕으로 AI가 자동 생성했습니다.</a:t>
            </a:r>
            <a:endParaRPr lang="en-US" sz="1600" dirty="0"/>
          </a:p>
        </p:txBody>
      </p:sp>
      <p:sp>
        <p:nvSpPr>
          <p:cNvPr id="25" name="Slide Number Placeholder 0"/>
          <p:cNvSpPr>
            <a:spLocks noGrp="1"/>
          </p:cNvSpPr>
          <p:nvPr>
            <p:ph type="sldNum" sz="quarter" idx="4294967295"/>
          </p:nvPr>
        </p:nvSpPr>
        <p:spPr>
          <a:xfrm>
            <a:off x="8229600" y="6446520"/>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9CA3AF"/>
                </a:solidFill>
              </a:defRPr>
            </a:lvl1pPr>
          </a:lstStyle>
          <a:p>
            <a:pPr algn="r"/>
            <a:fld id="{F7021451-1387-4CA6-816F-3879F97B5CBC}" type="slidenum">
              <a:rPr b="0" lang="en-US"/>
              <a:t>76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2026-10-06T12:35:54Z</dcterms:created>
  <dcterms:modified xsi:type="dcterms:W3CDTF">2026-10-06T12:35:54Z</dcterms:modified>
</cp:coreProperties>
</file>