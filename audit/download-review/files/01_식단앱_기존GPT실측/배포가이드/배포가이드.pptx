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</p:sldIdLst>
  <p:notesMasterIdLst>
    <p:notesMasterId r:id="rId131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notesMaster" Target="notesMasters/notesMaster1.xml"/><Relationship Id="rId132" Type="http://schemas.openxmlformats.org/officeDocument/2006/relationships/presProps" Target="presProps.xml"/><Relationship Id="rId133" Type="http://schemas.openxmlformats.org/officeDocument/2006/relationships/viewProps" Target="viewProps.xml"/><Relationship Id="rId134" Type="http://schemas.openxmlformats.org/officeDocument/2006/relationships/theme" Target="theme/theme1.xml"/><Relationship Id="rId1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v1.0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DevOps팀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초안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대상 서비스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iOS·안드로이드용 식단 기록 앱 및 이를 지원하는 서버 API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회의에서 확인된 배포 관련 결정과 미정 사항을 구분했습니다. 회의에서 확정되지 않은 클라우드 사업자, 서버 사양, 실제 주소, 배포 도구, 환경변수 이름 및 명령어는 구현 전 확인이 필요합니다. 재현 가능한 배포 흐름을 설명하기 위해 제시한 예시 구성은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이며 회의 합의가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36908"/>
                <a:gridCol w="1394847"/>
                <a:gridCol w="5021451"/>
                <a:gridCol w="97639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앱·서버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DevOps팀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1.1 회의에서 확인된 배포 관련 결정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iOS와 안드로이드 앱을 함께 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React Native를 이용한 크로스플랫폼 개발 방향이 논의됐습니다.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빌드 및 배포 파이프라인은 초기에 마련해야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7주 차 초반 베타 빌드, 7주 차 말 스토어 제출을 목표로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8주 차는 출시 후보 및 심사 제출 목표 주간입니다. 실제 공개일은 베타 결과와 스토어 심사 통과 후 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스토어 심사 지연에 대비해 9주 차를 완충 기간으로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서버는 국내 리전 사용이 가능하다고 논의됐지만, 클라우드 사업자와 실제 배포 구성이 정해진 것은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1.1 회의에서 확인된 배포 관련 결정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자동 백업, 백업 암호화, 접근 권한 관리와 출시 전 복구 시험이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 오류율, 응답 시간, 저장 실패율을 살펴보고, 외부 API와 서버 비용은 사용량 알림 및 호출 제한으로 관리하는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오류·진단 자료에는 앱 버전, 플랫폼, 오류 코드, 요청 ID 등 필요한 정보만 남기고, 음식명·칼로리·체중·자유 입력 내용은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데이터 공급자, 인증 제공자, 푸시 업체, 분석 도구, 실제 서버·스토어 배포 계정과 권한은 미확정입니다.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배포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실제 환경 주소, 데이터베이스 제품, 서버 사양과 배포 플랫폼은 확정되지 않았습니다. 아래 표는 환경 분리와 출시 절차를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제안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실제 주소와 리소스는 개발팀과 운영 담당자가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배포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748145"/>
                <a:gridCol w="2448476"/>
                <a:gridCol w="1564304"/>
                <a:gridCol w="1972383"/>
                <a:gridCol w="14962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환경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주소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데이터베이스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리소스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예: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http://localhost:&lt;서버_포트&gt;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예: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https://api-dev.&lt;도메인&gt;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앱·서버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스테이징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예: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https://api-staging.&lt;도메인&gt;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유사한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승인·베타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스테이징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프로덕션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예: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https://api.&lt;도메인&gt;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Store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Connect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TestFlight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사내·외부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개발·스테이징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Google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Play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Console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내부·비공개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사내·외부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개발·스테이징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Store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프로덕션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Google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Play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프로덕션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모바일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배포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"위 주소 예시는 형식 설명용입니다. 실제 도메인, 서버 사양, 저장소 제품, 시험 배포 방식이 정해졌다는 뜻이 아닙니다."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2.1 환경 분리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개발·스테이징·프로덕션의 데이터베이스와 비밀 정보를 서로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프로덕션 식사 기록을 개발·스테이징 시험에 복사하지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 사용자를 위한 자료는 가상 식단 또는 별도 시험 계정으로 관리합니다. 베타에서 실제 기록을 다루는 경우에는 별도 동의, 사용 목적, 보관 기간 및 삭제 방법을 안내해야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빌드가 어떤 API 환경에 연결되는지 빌드 시점에 명확히 정하고, 스토어 공개 빌드가 개발 서버를 바라보지 않는지 출시 전에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2.1 환경 분리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검색 API의 검색어 전달 조건과 계약을 확인하기 전에는 운영 환경에서 공급자 연동을 활성화하지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분석 수집에 동의하지 않아도 앱 기능을 사용할 수 있어야 합니다. 제품 분석과 보안·장애 대응 로그는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프로덕션 데이터와 비밀 정보에 대한 접근 권한은 필요한 역할로 제한합니다. 구체적인 역할·승인 체계는 운영 정책 확정이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2.2 접근 방식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서버 접속 방식과 접근 주소는 확정되지 않았습니다. 아래는 인증된 운영 계정과 비밀키를 사용하는 경우의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명령 예시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주소·계정·인증 방식은 실제 운영 구성을 확인한 뒤 치환해야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2.2 접근 방식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개발 서버 예시: 실제 접속 주소와 계정은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&lt;개발_계정&gt;@&lt;개발_서버_주소&gt;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스테이징 서버 예시: 실제 접속 주소와 계정은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&lt;스테이징_계정&gt;@&lt;스테이징_서버_주소&gt;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프로덕션 서버 예시: 접근 승인 후 사용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ssh &lt;운영_계정&gt;@&lt;운영_서버_주소&gt;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2.2 접근 방식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프로덕션 접속 자격 증명을 저장소에 올리거나 개인 메신저로 전달하지 않습니다. 서버 직접 접속이 필요한지, 운영 제어창이나 배포 자동화를 통해서만 배포할지는 인프라 확정 단계에서 결정해야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사전 요구사항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로컬 개발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운영체제, React Native 실행 환경, 패키지 관리자 버전은 확정되지 않았습니다. 아래 표는 크로스플랫폼 앱을 개발하기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실제 버전은 개발팀이 앱 저장소의 버전 고정 파일과 빌드 환경에 맞춰 확정해야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로컬 개발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09609"/>
                <a:gridCol w="1941816"/>
                <a:gridCol w="3328827"/>
                <a:gridCol w="18493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macOS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Xcode를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macOS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Node.js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프로젝트가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프로젝트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패키지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잠금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파일과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일치하는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React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Native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프로젝트에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개발·시험·출시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동일한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의존성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Xcode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호환되는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자동화에서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동일한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Android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SDK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호환되는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산출물에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용량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산출물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용량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iOS·안드로이드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iPhone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로컬 개발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설치 확인 명령 예시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로컬 개발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--version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--version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--version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로컬 개발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React Native 프로젝트의 설치·실행 명령은 앱 저장소의 실제 구성에 따라 달라집니다. 다음 명령은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을 사용하는 경우의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예시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이며, 저장소에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yarn.lock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또는 다른 잠금 파일이 있다면 해당 도구를 사용해야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로컬 개발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저장소를 받은 뒤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&lt;앱_저장소_주소&gt;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&lt;앱_저장소_경로&gt;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저장소의 버전 고정 파일을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npm 잠금 파일이 있는 경우에만 사용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3.1 로컬 개발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를 실행하기 전에 저장소에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package-lock.json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있는지 확인합니다. 회의에서는 패키지 관리자나 의존성 설치 명령을 확정하지 않았습니다."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앱 스토어와 배포 계정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출시 준비 전에 다음 항목의 소유자, 접근 권한 및 상태를 확인해야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앱 스토어와 배포 계정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18167"/>
                <a:gridCol w="3444949"/>
                <a:gridCol w="29664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Apple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인증서·프로비저닝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있으나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보유자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Store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Connect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Google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Play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Console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안드로이드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패키지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Apple·Google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연동에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증명과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업체·구성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스크린샷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준비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도메인과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도메인,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갱신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책임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주소·책임자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3.2 앱 스토어와 배포 계정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스토어 계정 승인, 앱 등록, 법인 정보, 서명 인증서와 권한이 준비되지 않으면 제출이 지연될 수 있습니다. 회의에서 이 항목은 일정 위험으로 언급됐으므로, 서버 개발과 별도로 조기에 확인해야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서버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서버 운영체제, 컨테이너 사용 여부, 데이터베이스 제품, 클라우드 사업자 및 배포 플랫폼은 회의에서 확정되지 않았습니다. 다음은 서버 배포를 위한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 점검표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서버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66092"/>
                <a:gridCol w="1899138"/>
                <a:gridCol w="1477108"/>
                <a:gridCol w="358726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개발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스테이징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프로덕션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클라우드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사업자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가능성을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검토하되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사업자·리전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운영체제·실행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컨테이너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종류·버전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(제안)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암호화·접근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제한·복구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밖에서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(제안)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3.3 서버 환경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CPU·메모리·디스크의 구체적인 숫자는 트래픽, API 호출량, 백업 방식과 공급자 가격을 확인한 뒤 산정합니다. 작성 예시에 포함된 사양을 이 서비스의 요구사항으로 간주하지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3.4 배포 전 보유해야 할 자료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및 서버 저장소와 승인된 배포 권한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잠금 파일을 포함한 의존성 및 빌드 설정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개발·스테이징·프로덕션별 API 주소와 환경 설정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제공자와 음식 데이터 공급자의 계약·사용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API의 검색어 보관, 캐시, 호출 제한, 비용 및 재표시 조건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개인정보 처리 흐름도와 법무·보안 검토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서비스에 전달하는 자료 목록과 동의·고지 내용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3.4 배포 전 보유해야 할 자료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iOS·안드로이드 서명 자격 증명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출시 후보 빌드의 버전 번호와 변경 내역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 백업·복구 절차와 복구 시험 결과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장애·오류 모니터링 및 비용 알림 설정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베타 참여자 동의, 시험 자료 보관 및 삭제 절차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환경 변수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회의에서는 실제 환경변수 이름이나 값이 정해지지 않았습니다. 아래 항목은 애플리케이션에서 필요할 수 있는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구성 제안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실제 이름과 저장 위치는 앱·서버 구현에 맞춰 확정합니다.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변수 관리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비밀값을 소스 코드, 앱 저장소, 배포 명령 기록 또는 공개 문서에 저장하지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프로덕션 비밀값은 개발·스테이징과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앱에 포함되는 설정과 서버 비밀값을 구분합니다. 서버 비밀값을 모바일 앱에 넣으면 안 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클라이언트에 포함되는 API 주소 등 공개 설정에도 비밀값이 들어가지 않도록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제공자 비밀키, 데이터베이스 접속 정보, 푸시 자격 증명, 외부 식품 API 키는 운영 접근 권한을 제한합니다.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환경변수 출력 명령으로 비밀값을 배포 기록이나 로그에 노출하지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변수 관리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분석은 선택 동의를 거부해도 앱 기능이 정상 동작하도록 구성합니다.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음식명·칼로리·체중·자유 입력 내용은 제품 분석이나 일반 장애 로그에 전달하지 않도록 구현을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서버에서 검토할 설정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 표의 이름은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예시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이며 실제 구현 변수명이 아닙니다.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서버에서 검토할 설정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79427"/>
                <a:gridCol w="736979"/>
                <a:gridCol w="2333767"/>
                <a:gridCol w="25794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용도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APP_ENV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개발·스테이징·프로덕션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이름·허용값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PORT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수신할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DATABASE_URL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접속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제품·주소·변수명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AUTH_PROVIDER_*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FOOD_PROVIDER_*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공급자·계약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PUSH_PROVIDER_*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공급자·구성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PRODUCT_ANALYTICS_*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서버·앱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동의·국외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ERROR_MONITORING_*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서버·앱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차단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LOG_LEVEL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PUBLIC_API_BASE_URL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APP_VERSION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규칙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서버에서 검토할 설정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FOOD_PROVIDER_*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설정을 실제 운영에 넣기 전에는 공급자의 사용권, 검색어 처리, 비용, 호출 제한, 캐시 허용 조건을 확인해야 합니다. 확인되지 않은 공급자 정보를 프로덕션에 활성화하지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환경별 설정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아래는 변수 이름을 설명하기 위한 예시입니다. 실제 값은 비밀 정보 저장소나 승인된 배포 설정에서 주입하며, 비밀번호·토큰·접속 주소를 문서에 기재하지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환경별 설정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개발 환경 예시. 실제 변수명과 값은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APP_ENV=development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PUBLIC_API_BASE_URL=&lt;개발_API_주소&gt;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DATABASE_URL=&lt;개발용_데이터베이스_접속값&gt;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LOG_LEVEL=&lt;개발용_로그_수준&gt;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환경별 설정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스테이징 환경 예시. 실제 변수명과 값은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APP_ENV=staging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PUBLIC_API_BASE_URL=&lt;스테이징_API_주소&gt;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DATABASE_URL=&lt;스테이징용_데이터베이스_접속값&gt;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LOG_LEVEL=&lt;스테이징용_로그_수준&gt;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환경별 설정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프로덕션 환경 예시. 실제 변수명과 값은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APP_ENV=production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PUBLIC_API_BASE_URL=&lt;프로덕션_API_주소&gt;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DATABASE_URL=&lt;운영용_데이터베이스_접속값&gt;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LOG_LEVEL=&lt;운영용_로그_수준&gt;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설정 검증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구현된 설정 검증 명령이 있는 경우 해당 명령을 사용합니다. 실제 검증 스크립트는 미정이므로 아래는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명령 작성 형태의 예시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설정 검증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실제 저장소에 해당 검증 명령이 있는지 먼저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package.json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설정 검증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다음 명령은 예시이며 실제 등록 여부를 확인해야 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config:check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설정 검증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검증 명령이 없다면 배포 전에 최소한 다음 사항을 수동으로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현재 대상 환경과 앱 빌드의 API 주소가 일치하는가?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필수 인증·음식 검색·푸시 설정이 해당 환경에만 적용됐는가?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개발·스테이징 자료가 프로덕션에서 사용되지 않는가?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음식명·칼로리·체중·자유 입력 내용이 일반 로그나 분석 설정에 포함되지 않는가?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업체의 처리 조건 및 동의 안내가 승인됐는가?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서명 자격 증명과 서버 비밀값이 저장소에 들어 있지 않은가?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빌드 절차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실제 빌드 스크립트, 패키지 관리자, 빌드 자동화 도구와 앱 버전 규칙은 정해지지 않았습니다. 아래 절차는 배포 시 검토할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 흐름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명령어는 저장소에서 실제로 제공하는 스크립트와 일치하는지 확인한 뒤 사용합니다.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공통 사전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저장소 상태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--short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현재 작업 위치와 저장소 구성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pwd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사용 중인 잠금 파일과 프로젝트 명령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-1 package.json package-lock.json yarn.lock pnpm-lock.yaml 2&gt;/dev/null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package.json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공통 사전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배포할 소스는 승인된 변경을 포함한 버전 관리 커밋이어야 합니다. 로컬에서만 수정된 파일이 없는지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공통 사전 확인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저장되지 않은 변경이 있는지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--short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배포 대상 커밋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-1 --oneline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앱 검증 및 빌드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React Native 앱의 실제 검사·시험 명령은 저장소 설정 확인 후 확정합니다. 다음은 스크립트가 등록되어 있는 경우의 예시입니다.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앱 검증 및 빌드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의존성 설치 예시: npm 잠금 파일 사용이 확인된 경우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다음 명령은 저장소에 해당 스크립트가 있을 때만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type-check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앱 검증 및 빌드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저장소에 스크립트가 없으면 임의로 명령을 만들어 실행하지 말고, 실제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package.json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및 빌드 문서에 등록된 검증 절차를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빌드 전 점검: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iOS와 안드로이드가 같은 승인된 앱 버전을 사용하는지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개발·스테이징·프로덕션 API 주소가 의도한 빌드 대상과 일치하는지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출시 빌드에 개발용 서버 주소, 시험용 계정, 임시 자격 증명이 포함되지 않았는지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iOS·안드로이드 서명 설정과 배포 권한을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위치, 주소록 등 불필요한 권한을 요청하지 않는지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앱 검증 및 빌드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알림은 사용자 선택형이며 기본값이 꺼져 있는지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문구에 음식명·칼로리·체중 등 개인 기록이 포함되지 않는지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 이벤트에 음식명·칼로리·체중·자유 입력 내용이 포함되지 않는지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자동 인식과 사진 첨부는 최종 합의된 출시 범위에 맞게 포함 여부를 확인합니다. 회의 결정에서 사진 첨부 관련 상충 내용이 있으므로, 승인되지 않은 기능을 출시 빌드에 임의로 추가하지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없음과 API 오류가 구분되고, 직접 입력 경로가 동작하는지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앱 검증 및 빌드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 시 입력 내용이 보존되고 재시도 중 중복 기록이 생기지 않는지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서버 이미지 또는 실행 산출물 만들기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서버 배포 방식은 회의에서 확정되지 않았습니다. 컨테이너를 사용하는 경우 다음은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제안 예시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실제 저장소에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과 빌드 절차가 마련된 경우에만 실행합니다.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서버 이미지 또는 실행 산출물 만들기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저장소에 Dockerfile이 있는지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-f Dockerfile &amp;&amp; echo "Dockerfile 확인" || echo "Dockerfile 없음"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서버 이미지 또는 실행 산출물 만들기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실제 이미지 이름과 버전을 확정한 뒤 사용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--tag &lt;이미지_저장소&gt;/&lt;서비스명&gt;:&lt;버전_또는_커밋_식별값&gt;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서버 이미지 또는 실행 산출물 만들기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배포 이미지에는 다음 자료가 포함되지 않도록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파일과 비밀값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개발용·스테이징용·프로덕션용 데이터베이스 자료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사용자 기록 또는 운영 데이터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개발자 개인 인증서와 서명 자격 증명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디버그 로그에 남은 사용자 입력값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배포 산출물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배포 전에 다음 정보를 배포 기록에 남깁니다. 기록 위치와 담당자는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5.4 배포 산출물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기록할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커밋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개발·스테이징·프로덕션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커밋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커밋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파일·실행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순서·복구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검색·인증·푸시·분석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내역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개발·QA·운영·개인정보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시작·완료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롤백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판단과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되돌림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배포 절차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배포 플랫폼, 서버 구성, 앱 배포 자동화 도구는 회의에서 확정되지 않았습니다. 이 절차는 플랫폼이 정해진 뒤 구현할 수 있도록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환경별 승인 단계와 안전 통제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를 정의합니다. 아래 명령어는 실제 배포 도구가 확정된 것으로 오해하지 않도록 예시와 확정 필요 항목을 구분합니다.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개발 환경 배포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개발 환경 API 주소, 데이터베이스, 인증·음식 검색 설정을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개발용 데이터베이스가 프로덕션과 분리돼 있는지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변경 내용을 개발 브랜치에 반영하고 검토를 받습니다.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앱·서버 검증을 실행합니다.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서버를 배포하고 데이터베이스 변경을 적용합니다.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개발용 앱 빌드를 설치해 가입, 음식 검색, 직접 입력, 기록 저장·수정·삭제와 리포트 조회를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개발 환경 배포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배포 대상 커밋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 --short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-1 --oneline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저장소에 정의된 검증 명령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아래 명령은 저장소에 실제 등록된 경우에만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lint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개발 환경 배포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서버 배포 명령은 배포 플랫폼 확정 후 작성합니다. 컨테이너 기반인 경우의 형식 예시는 다음과 같습니다.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개발 환경 배포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예시: 실제 이미지 저장소·환경 파일·서비스 이름은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&lt;개발_환경_설정_경로&gt; pull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&lt;개발_환경_설정_경로&gt; up -d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개발 환경 배포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개발 환경 확인 후 문제를 발견하면 개발 환경에서 먼저 수정하고, 같은 변경을 스테이징으로 승격합니다. 환경마다 서로 다른 소스 수정본을 따로 운영하지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스테이징 배포 및 승인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스테이징은 출시 후보와 비슷한 설정으로 검증하되 실제 사용자 정보와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개발 환경의 시험을 통과한 동일한 소스 커밋을 선택합니다.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스테이징 전용 자격 증명과 데이터베이스를 적용합니다.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스테이징 데이터베이스 백업 또는 되돌리기 방법을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데이터베이스 변경을 적용합니다.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앱 시험 빌드를 배포합니다.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iOS·안드로이드 기기별 검증과 API 통합 검증을 진행합니다.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스테이징 배포 및 승인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개인정보, 계정 삭제, 푸시 동의, 오류 로그, 외부 검색어 처리 조건을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주요 결함이 해결되고 출시 승인자가 확인한 뒤 프로덕션 배포를 요청합니다.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스테이징 배포 및 승인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예시: 실제 배포 도구 및 옵션은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&lt;스테이징_환경_설정_경로&gt; pull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&lt;스테이징_환경_설정_경로&gt; up -d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스테이징 배포 및 승인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스테이징 승인 점검에는 다음 항목을 포함합니다.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API 서버 기동 및 데이터베이스 연결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사용자별 음식·기록 데이터 분리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없음과 공급자 오류의 구분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직접 입력한 음식의 영양값 없음 처리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 시점 영양값 스냅샷 유지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한국 시간 기준 날짜 및 주간 리포트 집계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스테이징 배포 및 승인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저장 실패·재시도 시 입력 보존 및 중복 방지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요청과 연관 기록 삭제 흐름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분석 동의 철회 후 제품 분석 중단 여부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알림 기본 꺼짐, 사용자 설정 시간, 당일 기록이 있을 때 발송 생략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본문에 민감한 식단 정보가 없는지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로그에 음식명·칼로리·체중·자유 입력 내용이 없는지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백업 복구 시험 결과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iOS·안드로이드 베타 배포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베타 빌드와 스토어 시험 배포 도구의 실제 설정은 미정입니다. 회의에서는 7주 차 초반 베타 빌드를 목표로 했으며, 프로토타입 테스트와 베타 빌드 테스트를 구분했습니다.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베타 배포 전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프로토타입 시험에는 가상 식단을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식단 기록을 다루는 베타 시험은 목적·수집 자료·보관 기간·삭제 방법을 안내하고 별도 동의를 받습니다.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 계정을 일반 서비스 분석에서 제외하거나 시험 계정임을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 빌드가 프로덕션 API로 연결되지 않도록 주소와 자격 증명을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참가자의 연락처와 사례금 지급 자료가 필요한 경우 시험 자료와 분리해 처리합니다.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시험이 끝난 뒤 식사 기록 등 시험 자료를 삭제할 방법과 시점을 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베타 배포 전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안드로이드 기기 2종 이상, iPhone 2종 이상을 포함한 기기 검증을 준비합니다. 실제 기기 보유 여부와 시험 범위는 확인이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시험 배포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스토어 시험 배포 명령은 회의에서 정하지 않았습니다. 배포 도구의 공식 절차를 확정한 뒤 적용합니다. 배포 기록에는 다음을 남깁니다.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베타 빌드 버전과 소스 커밋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사용한 API 환경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 참여자 범위 및 동의 상태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 기간과 자료 삭제 예정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시험 중 확인할 핵심 시나리오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주요 결함과 수정 빌드 번호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시험 배포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베타에서 볼 지표는 첫 식단 기록 완료율, 기록 완료 시간, 주간 기록 일수, 검색 실패 후 이탈, 직접 입력 비율, 리포트 조회율 등입니다. 사전에 수치 목표를 고정하기보다 기준선을 확보하고 인터뷰·관찰 결과와 함께 해석합니다.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주요 기록 흐름 완료율 95% 이상, 치명적인 데이터 유실 0건, 크래시 없는 세션 비율 99% 이상은 회의에서 제안된 베타 품질 목표이며 실제 승인 기준으로 확정하기 전에 표본과 결과를 확인해야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프로덕션 배포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프로덕션 공개는 8주 안에 보장된 약속이 아닙니다. 8주 차는 후보 빌드 및 심사 제출 목표이고, 실제 공개일은 베타 결과와 스토어 심사 통과 후 정합니다. 9주 차는 심사 지연에 대비한 완충 기간입니다.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프로덕션 배포는 다음 순서를 따르는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운영 제안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스테이징에서 승인된 소스 커밋과 앱 빌드 번호를 확정합니다.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프로덕션 환경 변수와 접근 권한을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프로덕션 데이터베이스의 백업 상태와 복구 가능성을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데이터베이스 변경이 있는 경우 변경 계획과 복구 방안을 승인받습니다.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프로덕션 배포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서버 변경을 배포하고 헬스 상태를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프로덕션 API에 연결하는 iOS·안드로이드 출시 빌드를 제출합니다.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스토어 심사 결과와 베타 결함 현황을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승인 이후에 공개 여부와 공개 시점을 결정합니다.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9. 공개 직후 저장 성공률, 오류율, 응답 시간, 앱 기동·충돌 현황, 비용을 감시합니다.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프로덕션 배포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예시: 실제 도구·환경 파일·서비스 이름은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프로덕션 접근과 배포 승인 후에만 실행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&lt;프로덕션_환경_설정_경로&gt; pull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&lt;프로덕션_환경_설정_경로&gt; up -d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프로덕션 배포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위 예시 명령은 컨테이너 배포를 확정하는 내용이 아닙니다. 실제 배포 플랫폼이 결정되기 전까지 운영 서버에 그대로 복사해 실행해서는 안 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6.5 배포 빈도·시간·중단 시간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32185"/>
                <a:gridCol w="569741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고려해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스토어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계획에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빈도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무중단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인프라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미확정.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보장할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역할·이름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공개일을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심사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통과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데이터베이스 변경 및 마이그레이션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실제 데이터베이스 제품과 마이그레이션 도구, 스크립트 이름은 확정되지 않았습니다. 다음 절차는 데이터 변경이 필요한 경우의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안전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7.1 변경 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개발·스테이징에서 같은 변경을 먼저 실행합니다.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기존 기록에서 음식명·영양값 스냅샷이 보존되는지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영양값 없음과 실제 값 0을 구분하는 자료 형식이 유지되는지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사용자별 소유권과 계정 삭제 연결이 깨지지 않는지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날짜·시간대 변경이 과거 섭취 날짜를 자동으로 바꾸지 않는지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프로덕션 변경 전 데이터베이스 백업이 완료됐는지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되돌리기 어려운 자료 변경은 별도 검토하고 승인 없이 실행하지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마이그레이션 실행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마이그레이션 실행 명령은 미정입니다. 실제 도구가 저장소에 등록되어 있는지 확인한 뒤 사용합니다.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마이그레이션 실행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실제 프로젝트 명령 확인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 package.json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마이그레이션 실행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다음 명령은 형태 예시이며, 실제 등록 여부를 확인해야 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db:migrate:status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db:migrate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마이그레이션 실행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마이그레이션 도구가 별도인 경우 해당 도구의 프로젝트별 절차를 사용합니다. 명령이 존재하지 않는 상태에서 예시를 그대로 실행하지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7.3 변경 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 변경 상태와 앱·서버 버전의 호환 여부를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 조회·수정·삭제를 시험합니다.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과거 기록의 이름·영양값 스냅샷이 변경되지 않았는지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날짜와 영양값이 없는 기록이 0으로 변환되지 않았는지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 계산이 기록된 날 기준으로 동작하는지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흐름과 사용자별 자료 분리가 유지되는지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 오류율, 응답 시간, 저장 실패율이 배포 전후로 악화되지 않았는지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배포 후 점검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헬스체크 경로와 실제 점검 도구는 정해지지 않았습니다. 다음은 배포 뒤 수행할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점검안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헬스체크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또는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/api/health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경로는 회의에서 확정되지 않았습니다. 서버 구현에 해당 경로가 실제 제공되는지 확인하고, 없다면 개인정보를 포함하지 않는 헬스체크 경로를 별도 정의해야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헬스체크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실제 헬스체크 경로와 주소는 추정 필요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--fail --silent --show-error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https://&lt;실제_API_주소&gt;/&lt;실제_헬스체크_경로&gt;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헬스체크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예상 응답 형식은 미정입니다. 상태 코드가 성공이고, 응답 본문에 음식명·사용자 자료·비밀값이 포함되지 않는지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8.2 배포 후 점검 목록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24354"/>
                <a:gridCol w="3323492"/>
                <a:gridCol w="34817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점검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플랫폼의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헬스체크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환경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빌드는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프로덕션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성공·결과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없음·공급자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장애가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수정·삭제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화면·리포트에서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일수·평균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일관됨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거부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사용자에게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8.2 배포 후 점검 목록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29553"/>
                <a:gridCol w="3388659"/>
                <a:gridCol w="37113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점검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기대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내용·체중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TLS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브라우저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시스템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암호화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클라우드·외부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감시가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동작함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백업·복구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8.2 배포 후 점검 목록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헬스체크, 서버 오류율, 응답 시간, 저장 실패율의 임계값과 알림 전달 채널은 확정되지 않았습니다. 운영 규모와 베타 자료를 확인한 뒤 기준을 정합니다. 예시 문서에 있던 수치 임계값을 이 서비스의 확정 목표로 적용하지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8.3 베타·출시 후 관찰 항목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주요 식사 기록 흐름 완료 여부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결과 없음 이후 직접 입력으로 이어지는지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 저장 실패 및 중복 저장 발생 여부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리포트가 기록된 내용 기준으로 계산되는지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iOS·안드로이드 기기별 화면 깨짐과 앱 충돌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동의·권한 거부·알림 해제 동작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삭제와 자료 삭제 요청 처리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8.3 베타·출시 후 관찰 항목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API 호출량과 비용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 응답 시간, 오류율, 저장 실패율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 이벤트에 음식명·칼로리·체중이 포함되지 않는지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출시 후 지표는 표본 크기와 사용자 인터뷰·관찰 결과를 함께 보고 해석합니다. 베타 지표만으로 전체 사용자 행동을 단정하지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롤백 절차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서버 배포 플랫폼, 앱 배포 방식, 데이터베이스 변경 도구가 미정이므로 특정 도구 명령으로 롤백 절차를 확정할 수 없습니다. 아래는 환경과 기능별로 적용할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롤백 운영안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9.1 롤백을 검토할 상황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다음 상황이 발생하면 우선 영향 범위를 확인하고, 사용자가 기록을 잃거나 개인정보가 노출될 위험이 있으면 기능 확장보다 서비스 안정화와 롤백을 먼저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또는 서버가 반복적으로 기동하지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핵심 식사 기록 저장·조회가 정상 동작하지 않음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중복 기록 또는 치명적인 자료 유실이 확인됨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사용자별 자료가 분리되지 않거나 다른 사용자에게 노출될 가능성이 있음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오류 로그·제품 분석에 식사 기록이나 체중이 포함되는 문제가 확인됨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검색 장애가 직접 입력과 기록 흐름까지 막음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9.1 롤백을 검토할 상황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또는 관련 기록 삭제 흐름이 잘못 동작함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 변경으로 기존 기록이나 주간 리포트가 손상됨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비용 또는 외부 API 호출이 예상보다 증가해 서비스 운영 위험이 발생함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서버 롤백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배포를 담당하는 운영 담당자에게 장애를 알립니다.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장애 발생 시각, 환경, 서버 버전, 앱 버전, 요청 ID, 오류 코드 등 비민감 진단 정보를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프로덕션 로그에서 음식명·칼로리·체중·자유 입력 내용이 출력되지 않았는지 함께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변경 전 승인된 서버 버전으로 되돌릴 수 있는지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데이터베이스 변경이 있었다면 되돌리기 스크립트가 있는지, 실행이 자료 손실을 일으키지 않는지 먼저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서버 롤백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위험이 확인되면 데이터베이스 복구 책임자가 백업과 복구 시점을 검토한 뒤 승인된 복구 절차를 진행합니다.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헬스체크, 로그인, 음식 검색, 직접 입력, 기록 생성·수정·삭제, 리포트 조회를 다시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장애 원인과 조치 결과를 기록하고 재배포 여부를 결정합니다.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컨테이너 기반 배포를 실제 채택한 경우의 명령 형식 예시는 다음과 같습니다. 이미지 이름, 버전, 배포 설정은 추정 필요이며 실제 배포 환경이 확정된 후에만 사용합니다.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서버 롤백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예시: 이전에 승인된 버전으로 이미지를 지정해 재배포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&lt;환경_설정_경로&gt;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 &lt;서비스명&gt;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--env-file &lt;환경_설정_경로&gt;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 -d &lt;서비스명&gt;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ps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서버 롤백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"이 명령은 Docker Compose 사용이 확정됐다는 뜻이 아닙니다. 실제 운영 플랫폼에 맞는 롤백 절차를 별도로 마련해야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9.3 모바일 앱 롤백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모바일 앱은 서버처럼 사용자 기기에 설치된 빌드를 즉시 되돌릴 수 없습니다. 스토어에서 이전 빌드로 되돌리는 것이 가능한지와 절차는 플랫폼 정책 및 배포 도구를 확인해야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심사 전 문제를 발견하면 해당 빌드 제출 또는 공개를 중단합니다.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베타에서 문제를 발견하면 새 수정 빌드를 배포하고, 시험 참여자에게 사용 중지 또는 업데이트 안내가 필요한지 결정합니다.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공개 후 문제가 발견되면 서버 측에서 안전하게 제한할 수 있는 기능인지 확인합니다. 기능 제한 장치가 구현돼 있지 않다면 이를 사용할 수 있다고 가정하지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9.3 모바일 앱 롤백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 API 변경은 구버전 앱과 호환되는지 확인합니다. API 호환성이 확인되지 않으면 앱 수정 빌드와 서버 변경을 함께 계획합니다.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공개 일정은 스토어 심사 결과를 확인한 뒤 결정하며, 심사 전 공개를 보장하지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9.4 데이터베이스 롤백 주의사항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 변경을 되돌릴 때 기록 삭제나 영양 스냅샷 손실이 발생하지 않는지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구조 변경과 자료 변환을 한 번에 되돌릴 수 있는지 스테이징에서 시험합니다.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백업 복구는 복구할 시점과 그 이후 생성된 기록의 영향까지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백업은 자동화·암호화·접근 제한을 적용하고 출시 전에 최소 한 번 복구 시험을 수행해야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백업에서의 완전 삭제 시점과 보존 기간은 미정입니다. 임의의 기간을 문서에 확정하지 말고 법무·개인정보 담당 확인 후 정책에 반영합니다.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9.5 롤백 시간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롤백 완료 시간은 회의에서 정해지지 않았으며,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추정 필요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 다음 항목을 실제 환경에서 시험한 뒤 목표를 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이전 서버 버전으로 복귀하는 데 걸리는 시간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 복구가 필요한 경우의 소요 시간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수정 빌드 제작·시험·심사에 필요한 시간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담당자 승인과 연락에 걸리는 시간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사용자에게 장애나 조치를 안내하는 데 걸리는 시간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모니터링 및 알림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모니터링 도구와 알림 채널은 회의에서 확정되지 않았습니다. 도구 선택은 비용, 데이터 처리 위치, 개인정보 보호 조건을 확인한 뒤 진행합니다.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10.1 모니터링 대상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73426"/>
                <a:gridCol w="3816626"/>
                <a:gridCol w="33395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안정성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본문과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성공·실패,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음식명·영양값은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있음·없음,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플랫폼,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음식명·자유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등록·해제,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본문에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건강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열람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음식명·칼로리·체중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API·저장소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견적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10.2 로그 기록 기준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허용할 수 있는 진단 정보의 예시는 다음과 같습니다.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버전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플랫폼과 기기 종류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오류 코드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요청 식별값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오류 발생 시각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 구성요소와 처리 단계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10.2 로그 기록 기준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분석을 위한 최소 행동 이벤트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로그·분석 자료에 포함하지 않을 정보: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음식명 및 검색어 자체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칼로리·탄수화물·단백질·지방 값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체중, 키, 생년월일 등 프로필 정보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자유 입력 내용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인증 토큰, 비밀번호, 외부 API 자격 증명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10.2 로그 기록 기준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기록의 전체 요청·응답 본문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토큰 등 별도 보호가 필요한 식별값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운영자가 사용자 식사 기록을 확인해야 하는 경우에는 사용자 동의와 권한 승인을 거치고 접근 기록을 남깁니다. 관리자 화면이 없는 상태에서 운영자가 임의로 전체 기록을 열람하는 구조를 만들지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10.3 알림 기준과 연락 경로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알림 조건, 임계값, 전달 채널, 담당자는 회의에서 확정되지 않았습니다. 운영팀은 실제 사용 자료와 대응 가능 시간을 확인한 뒤 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10.3 알림 기준과 연락 경로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43050"/>
                <a:gridCol w="3986213"/>
                <a:gridCol w="270033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제안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헬스체크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경로·알림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채널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임계값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넘을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우선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점검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오류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호출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제한·알림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서버·외부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사용량이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도달할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견적과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예산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절차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위치·실패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만료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도메인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만료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도메인·인증서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10.3 알림 기준과 연락 경로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베타 초기 월 운영 비용 30만 원 안쪽이 검토 기준으로 언급됐으나, 절대 한도는 아니며 API 계약과 품질을 확인한 뒤 재검토하기로 했습니다. 이를 확정 예산이나 자동 차단 기준으로 사용하지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 보안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11.1 통신·접근 보호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앱과 서버 사이의 통신은 HTTPS를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데이터베이스는 공용 인터넷에 직접 노출하지 않는 구성을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서버·데이터베이스·클라우드 관리 권한은 업무상 필요한 담당자에게만 부여합니다.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개발·스테이징·프로덕션 자격 증명을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사용자별 음식·기록 자료는 인증된 사용자 소유 여부를 확인한 뒤 접근하도록 구현합니다.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원문 비밀번호를 저장하지 않습니다. 인증 제공자 또는 검토된 인증 구조를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운영자가 사용자 기록을 열람하는 경우 동의, 권한 승인, 접근 기록을 요구합니다.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11.1 통신·접근 보호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 자체 잠금·생체 인증은 MVP에서 제외하는 결정이 확인됐습니다. 네트워크 전송 암호화와 데이터 접근 권한 제한을 우선합니다.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11.2 개인정보·외부 업체 보호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주소록과 위치 정보는 수집하지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API에는 검색어만 전달하고 사용자 ID, 이메일, 기록 날짜, 식사 기록은 보내지 않는 방향입니다.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검색어가 외부 업체에 전달될 수 있으므로 보관 조건, 처리 위치, 이용 조건, 캐시 허용 범위, 계약 내용을 출시 전에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분석 이벤트에는 음식명과 칼로리를 포함하지 않습니다. 체중과 자유 입력 내용도 제품 분석에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선택적 제품 분석은 사용자가 거부할 수 있게 하고, 거부해도 기록 기능은 정상 작동해야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11.2 개인정보·외부 업체 보호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분석과 보안·장애 대응을 위한 최소 로그를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분석·푸시 업체의 데이터 처리 위치와 국외 이전 여부를 확인하고, 확인된 내용을 개인정보 안내와 동의 흐름에 반영합니다.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사진 기능은 회의 결정에서 제외와 포함 내용이 상충합니다. 사진 기능을 출시 범위에 포함하기 전 저장 위치, EXIF 처리, 비공개 접근, 보관·삭제 조건을 확정해야 합니다. 사진 자동 분석은 MVP 필수 기능으로 확정되지 않았습니다.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11.2 개인정보·외부 업체 보호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계정 삭제 요청 시 계정과 연관 기록을 삭제하는 흐름을 구현합니다. 백업에서의 삭제 완료 시점, 보관 기간 및 법적 보관 의무는 별도 확인이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장기 미사용 계정 자동 삭제는 정책이 확정되기 전까지 구현하지 않는 방향입니다.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11.3 비밀값·앱 서명 보호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iOS 서명 자격 증명, 안드로이드 서명 키, 인증 제공자 비밀값, 음식 API 키, 데이터베이스 접속 정보는 저장소에 올리지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 비밀값을 개발자 개인 장비나 공용 문서에 장기간 보관하지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앱에 포함되는 값과 서버에서만 사용해야 하는 비밀값을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서명 자격 증명의 접근 권한과 보관 위치, 분실·교체 절차를 사전에 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스토어 등록 권한은 개발팀이 필요한 범위에서 사용할 수 있게 분리합니다. 회의에서 회사 계정의 신규 앱 등록 권한 보유자를 확인하기로 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11.3 비밀값·앱 서명 보호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프로덕션 배포 전에는 배포 대상 커밋, 앱 버전, 서명 설정, API 주소, 데이터베이스 변경을 함께 검토합니다.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11.4 방화벽과 서버 보호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서버 운영 방식과 네트워크 구성이 정해지지 않아 방화벽 명령이나 포트 목록을 확정할 수 없습니다. 실제 서버 구성 확정 후 다음 원칙을 적용합니다.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공개가 필요한 API 통신만 허용합니다.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데이터베이스와 내부 관리 도구는 외부에 직접 공개하지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서버 관리 접속은 승인된 경로와 계정으로 제한합니다.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 환경에 사용하지 않는 포트와 서비스를 닫습니다.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공급자 호출과 푸시 전달에 필요한 통신만 허용하는 방안을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설정 변경 후 앱의 검색·기록·푸시 기능과 헬스체크를 다시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11.5 출시 전 보안 점검표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프로덕션 API 주소와 HTTPS 연결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개발·스테이징·프로덕션 자격 증명 분리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인증 제공자와 계정 삭제 흐름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사용자별 기록·개인 음식 접근 제한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외부 음식 API에 사용자 식별 정보·식사 기록이 전달되지 않는지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검색어 보관·처리·캐시 조건과 개인정보 안내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분석 동의가 선택 사항이며 거부해도 기능이 동작하는지 확인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11.5 출시 전 보안 점검표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분석 이벤트에 음식명·칼로리·체중이 없는지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오류 로그에 음식명·영양값·자유 입력 내용이 없는지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푸시 내용에 개인 기록이 없는지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계정 탈퇴 시 계정과 연관 기록 삭제 흐름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백업 암호화·접근 권한·복구 시험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앱 서명 자격 증명과 스토어 계정 권한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외부 업체의 데이터 처리 위치, 위탁 조건, 계약 조건 확인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11.5 출시 전 보안 점검표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지원 OS 버전 및 앱 권한 범위 확정 여부 확인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스토어 개인정보·권한 안내와 실제 앱 동작의 일치 여부 확인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개발·스테이징·프로덕션 환경을 구분하고, 미확정 주소·사양을 추정 필요로 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모바일 앱과 서버 API 배포 단계를 구분함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7주 차 베타·스토어 제출 목표, 8주 차 출시 후보, 9주 차 심사 완충을 반영함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환경변수와 비밀값을 분리하고 실제 변수명·값이 미정임을 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데이터베이스 백업·복구 점검을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배포 후 점검과 롤백 절차를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서버 오류율·응답 시간·저장 실패율 및 비용 감시 방안을 포함함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음식명·칼로리·체중·자유 입력 내용을 로그와 제품 분석에서 제외하는 원칙을 반영함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외부 음식 API, 인증 제공자, 푸시 업체와 데이터 처리 확인 사항을 반영함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클라우드 사업자·국내 리전·배포 플랫폼·서버 자원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실제 개발·스테이징·프로덕션 주소 및 헬스체크 경로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데이터베이스 제품·마이그레이션 도구·복구 명령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빌드 스크립트·패키지 관리자·서명·배포 자동화 도구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App Store Connect·Google Play Console 계정 권한과 담당자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모니터링 도구·알림 채널·임계값·대응 담당자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배포 시간대·배포 주기·허용 중단 시간·롤백 완료 목표 확정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첨부 기능의 최종 범위와 관련 저장·삭제 정책 확인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129</Slides>
  <Notes>129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129</vt:i4>
      </vt:variant>
    </vt:vector>
  </HeadingPairs>
  <TitlesOfParts>
    <vt:vector size="1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2026-10-06T12:41:00Z</dcterms:created>
  <dcterms:modified xsi:type="dcterms:W3CDTF">2026-10-06T12:41:00Z</dcterms:modified>
</cp:coreProperties>
</file>