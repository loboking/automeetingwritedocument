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Lst>
  <p:notesMasterIdLst>
    <p:notesMasterId r:id="rId125"/>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notesMaster" Target="notesMasters/notesMaster1.xml"/><Relationship Id="rId126" Type="http://schemas.openxmlformats.org/officeDocument/2006/relationships/presProps" Target="presProps.xml"/><Relationship Id="rId127" Type="http://schemas.openxmlformats.org/officeDocument/2006/relationships/viewProps" Target="viewProps.xml"/><Relationship Id="rId128" Type="http://schemas.openxmlformats.org/officeDocument/2006/relationships/theme" Target="theme/theme1.xml"/><Relationship Id="rId1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R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263F59"/>
          </a:solidFill>
          <a:ln/>
        </p:spPr>
      </p:sp>
      <p:sp>
        <p:nvSpPr>
          <p:cNvPr id="3" name="Text 1"/>
          <p:cNvSpPr/>
          <p:nvPr/>
        </p:nvSpPr>
        <p:spPr>
          <a:xfrm>
            <a:off x="365760" y="6446520"/>
            <a:ext cx="4572000" cy="274320"/>
          </a:xfrm>
          <a:prstGeom prst="rect">
            <a:avLst/>
          </a:prstGeom>
          <a:noFill/>
          <a:ln/>
        </p:spPr>
        <p:txBody>
          <a:bodyPr wrap="square" rtlCol="0" anchor="ctr"/>
          <a:lstStyle/>
          <a:p>
            <a:pPr indent="0" marL="0">
              <a:buNone/>
            </a:pPr>
            <a:r>
              <a:rPr lang="en-US" sz="900" dirty="0">
                <a:solidFill>
                  <a:srgbClr val="9CA3AF"/>
                </a:solidFill>
              </a:rPr>
              <a:t>MeetingAutoDocs</a:t>
            </a:r>
            <a:endParaRPr lang="en-US" sz="9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2.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2.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F59"/>
        </a:solidFill>
      </p:bgPr>
    </p:bg>
    <p:spTree>
      <p:nvGrpSpPr>
        <p:cNvPr id="1" name=""/>
        <p:cNvGrpSpPr/>
        <p:nvPr/>
      </p:nvGrpSpPr>
      <p:grpSpPr>
        <a:xfrm>
          <a:off x="0" y="0"/>
          <a:ext cx="0" cy="0"/>
          <a:chOff x="0" y="0"/>
          <a:chExt cx="0" cy="0"/>
        </a:xfrm>
      </p:grpSpPr>
      <p:sp>
        <p:nvSpPr>
          <p:cNvPr id="2" name="Text 0"/>
          <p:cNvSpPr/>
          <p:nvPr/>
        </p:nvSpPr>
        <p:spPr>
          <a:xfrm>
            <a:off x="457200" y="2377440"/>
            <a:ext cx="8229600" cy="1645920"/>
          </a:xfrm>
          <a:prstGeom prst="rect">
            <a:avLst/>
          </a:prstGeom>
          <a:noFill/>
          <a:ln/>
        </p:spPr>
        <p:txBody>
          <a:bodyPr wrap="square" rtlCol="0" anchor="ctr"/>
          <a:lstStyle/>
          <a:p>
            <a:pPr algn="ctr" indent="0" marL="0">
              <a:buNone/>
            </a:pPr>
            <a:r>
              <a:rPr lang="en-US" sz="4000" b="1" dirty="0">
                <a:solidFill>
                  <a:srgbClr val="FFFFFF"/>
                </a:solidFill>
              </a:rPr>
              <a:t>1. 문서 정보</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880360"/>
                <a:gridCol w="5349240"/>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문서명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WBS(작업 </a:t>
                      </a:r>
                      <a:pPr indent="0" marL="0">
                        <a:buNone/>
                      </a:pPr>
                      <a:r>
                        <a:rPr lang="en-US" sz="1100" dirty="0">
                          <a:solidFill>
                            <a:srgbClr val="1F2937"/>
                          </a:solidFill>
                        </a:rPr>
                        <a:t>분할 </a:t>
                      </a:r>
                      <a:pPr indent="0" marL="0">
                        <a:buNone/>
                      </a:pPr>
                      <a:r>
                        <a:rPr lang="en-US" sz="1100" dirty="0">
                          <a:solidFill>
                            <a:srgbClr val="1F2937"/>
                          </a:solidFill>
                        </a:rPr>
                        <a:t>구조)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버전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v1.0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작성일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작성자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프로젝트 </a:t>
                      </a:r>
                      <a:pPr indent="0" marL="0">
                        <a:buNone/>
                      </a:pPr>
                      <a:r>
                        <a:rPr lang="en-US" sz="1100" dirty="0">
                          <a:solidFill>
                            <a:srgbClr val="1F2937"/>
                          </a:solidFill>
                        </a:rPr>
                        <a:t>관리팀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승인자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승인일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작성 기준:</a:t>
            </a:r>
            <a:pPr indent="0" marL="0">
              <a:spcAft>
                <a:spcPts val="800"/>
              </a:spcAft>
              <a:buNone/>
            </a:pPr>
            <a:r>
              <a:rPr lang="en-US" sz="1600" dirty="0">
                <a:solidFill>
                  <a:srgbClr val="4B5563"/>
                </a:solidFill>
              </a:rPr>
              <a:t> 회의에서 확인된 결정과 미정 항목을 구분했습니다. 회의에 실명 담당자가 지정되지 않은 경우 담당 역할로 표기했습니다. 기간과 인일은 회의에서 확정된 값이 아니므로 일정 운영을 위한 </a:t>
            </a:r>
            <a:pPr indent="0" marL="0">
              <a:spcAft>
                <a:spcPts val="800"/>
              </a:spcAft>
              <a:buNone/>
            </a:pPr>
            <a:r>
              <a:rPr lang="en-US" sz="1600" b="1" dirty="0">
                <a:solidFill>
                  <a:srgbClr val="4B5563"/>
                </a:solidFill>
              </a:rPr>
              <a:t>추정치</a:t>
            </a:r>
            <a:pPr indent="0" marL="0">
              <a:spcAft>
                <a:spcPts val="800"/>
              </a:spcAft>
              <a:buNone/>
            </a:pPr>
            <a:r>
              <a:rPr lang="en-US" sz="1600" dirty="0">
                <a:solidFill>
                  <a:srgbClr val="4B5563"/>
                </a:solidFill>
              </a:rPr>
              <a:t>입니다. 개발 인력 배정, 비용 한도, 법무·보안 정책은 확정 사실로 기재하지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변경 이력</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31653"/>
                <a:gridCol w="1552755"/>
                <a:gridCol w="3881887"/>
                <a:gridCol w="931653"/>
                <a:gridCol w="931653"/>
              </a:tblGrid>
              <a:tr h="0">
                <a:tc>
                  <a:txBody>
                    <a:bodyPr/>
                    <a:lstStyle/>
                    <a:p>
                      <a:pPr indent="0" marL="0">
                        <a:buNone/>
                      </a:pPr>
                      <a:r>
                        <a:rPr lang="en-US" sz="1200" b="1" dirty="0">
                          <a:solidFill>
                            <a:srgbClr val="FFFFFF"/>
                          </a:solidFill>
                        </a:rPr>
                        <a:t>버전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날짜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변경 </a:t>
                      </a:r>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작성자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승인자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v1.0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킥오프 </a:t>
                      </a:r>
                      <a:pPr indent="0" marL="0">
                        <a:buNone/>
                      </a:pPr>
                      <a:r>
                        <a:rPr lang="en-US" sz="1100" dirty="0">
                          <a:solidFill>
                            <a:srgbClr val="1F2937"/>
                          </a:solidFill>
                        </a:rPr>
                        <a:t>회의 </a:t>
                      </a:r>
                      <a:pPr indent="0" marL="0">
                        <a:buNone/>
                      </a:pPr>
                      <a:r>
                        <a:rPr lang="en-US" sz="1100" dirty="0">
                          <a:solidFill>
                            <a:srgbClr val="1F2937"/>
                          </a:solidFill>
                        </a:rPr>
                        <a:t>내용을 </a:t>
                      </a:r>
                      <a:pPr indent="0" marL="0">
                        <a:buNone/>
                      </a:pPr>
                      <a:r>
                        <a:rPr lang="en-US" sz="1100" dirty="0">
                          <a:solidFill>
                            <a:srgbClr val="1F2937"/>
                          </a:solidFill>
                        </a:rPr>
                        <a:t>바탕으로 </a:t>
                      </a:r>
                      <a:pPr indent="0" marL="0">
                        <a:buNone/>
                      </a:pPr>
                      <a:r>
                        <a:rPr lang="en-US" sz="1100" dirty="0">
                          <a:solidFill>
                            <a:srgbClr val="1F2937"/>
                          </a:solidFill>
                        </a:rPr>
                        <a:t>WBS </a:t>
                      </a:r>
                      <a:pPr indent="0" marL="0">
                        <a:buNone/>
                      </a:pPr>
                      <a:r>
                        <a:rPr lang="en-US" sz="1100" dirty="0">
                          <a:solidFill>
                            <a:srgbClr val="1F2937"/>
                          </a:solidFill>
                        </a:rPr>
                        <a:t>초안 </a:t>
                      </a:r>
                      <a:pPr indent="0" marL="0">
                        <a:buNone/>
                      </a:pPr>
                      <a:r>
                        <a:rPr lang="en-US" sz="1100" dirty="0">
                          <a:solidFill>
                            <a:srgbClr val="1F2937"/>
                          </a:solidFill>
                        </a:rPr>
                        <a:t>작성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 프로젝트 개요</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 (1/5)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 프로젝트는 식단을 기록하려다가 입력 부담 때문에 중단하는 국내 일반 사용자를 위해 모바일 식단 기록 앱의 MVP를 만드는 사업입니다. 핵심 목표는 전문적인 영양 상담이나 의학적 권고가 아니라, 음식 검색·최근 기록·즐겨찾기·직접 입력을 통해 식사를 쉽게 기록하고 나중에 다시 확인하도록 돕는 것입니다.</a:t>
            </a:r>
            <a:endParaRPr lang="en-US" sz="1600" dirty="0"/>
          </a:p>
          <a:p>
            <a:pPr indent="0" marL="0">
              <a:spcAft>
                <a:spcPts val="800"/>
              </a:spcAft>
              <a:buNone/>
            </a:pPr>
            <a:r>
              <a:rPr lang="en-US" sz="1600" dirty="0">
                <a:solidFill>
                  <a:srgbClr val="4B5563"/>
                </a:solidFill>
              </a:rPr>
              <a:t>iOS와 안드로이드를 함께 지원하며, 크로스플랫폼 개발은 React Native를 사용하는 방향으로 논의됐습니다.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 (2/5)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MVP에는 가입·로그인, 선택적 목표 설정, 오늘 홈, 음식 검색, 최근 기록, 즐겨찾기, 직접 음식 입력, 식사 기록의 생성·수정·삭제, 날짜별 조회, 기본 주간 리포트, 선택형 기록 알림, 개인정보·계정 설정 및 계정 삭제 흐름이 포함됩니다. 영양 정보는 참고값으로 안내하고, 정보가 없는 음식도 기록할 수 있어야 합니다.</a:t>
            </a:r>
            <a:endParaRPr lang="en-US" sz="1600" dirty="0"/>
          </a:p>
          <a:p>
            <a:pPr indent="0" marL="0">
              <a:spcAft>
                <a:spcPts val="800"/>
              </a:spcAft>
              <a:buNone/>
            </a:pPr>
            <a:r>
              <a:rPr lang="en-US" sz="1600" dirty="0">
                <a:solidFill>
                  <a:srgbClr val="4B5563"/>
                </a:solidFill>
              </a:rPr>
              <a:t>외부 식품 데이터가 바뀌더라도 과거 기록에 저장된 음식 이름과 영양값은 자동으로 변경되지 않도록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 (3/5)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프로젝트 일정은 8주를 기준으로 운영합니다. 8주 차에는 출시 후보 빌드와 스토어 심사 제출을 목표로 하며, 실제 공개일은 베타 결과와 심사 통과 후 확정합니다. 스토어 심사 지연에 대비해 9주 차를 완충 기간으로 둡니다. 기능 동결은 6주 차 초를 목표로 하고, 이후에는 신규 기능보다 결함 수정과 안정화를 우선합니다.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 (4/5)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성공 기준은 사용자가 첫 식사를 쉽게 기록하고, 홈에서 오늘의 기록 상태를 확인하며, 완료된 주의 기록을 주간 리포트에서 다시 보는 핵심 흐름을 구현하는 것입니다. 베타에서는 첫 기록 완료율, 기록 완료 시간, 주간 기록 일수, 검색 실패 후 이탈, 직접 입력 비율, 리포트 열람률 등을 기준선 확인 용도로 살펴봅니다.</a:t>
            </a:r>
            <a:endParaRPr lang="en-US" sz="1600" dirty="0"/>
          </a:p>
          <a:p>
            <a:pPr indent="0" marL="0">
              <a:spcAft>
                <a:spcPts val="800"/>
              </a:spcAft>
              <a:buNone/>
            </a:pPr>
            <a:r>
              <a:rPr lang="en-US" sz="1600" dirty="0">
                <a:solidFill>
                  <a:srgbClr val="4B5563"/>
                </a:solidFill>
              </a:rPr>
              <a:t>회의에서 언급된 수치 목표는 검증 가설 또는 시험 제안이므로, 별도 승인 전까지 확정 성능 기준으로 사용하지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 (5/5)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주요 이해관계자는 사업 책임자인 이대표, 프로젝트 관리와 요구사항·테스트를 맡는 김PM, 화면 설계와 사용성 검증을 맡는 박디자이너, 앱·서버·외부 연동 기술 검토를 맡는 최개발입니다. 외부 식품 데이터 공급자, 법무·개인정보 담당, 보안 검토자, 사용자 조사·베타 참여자도 협업 대상입니다.</a:t>
            </a:r>
            <a:endParaRPr lang="en-US" sz="1600" dirty="0"/>
          </a:p>
          <a:p>
            <a:pPr indent="0" marL="0">
              <a:spcAft>
                <a:spcPts val="800"/>
              </a:spcAft>
              <a:buNone/>
            </a:pPr>
            <a:r>
              <a:rPr lang="en-US" sz="1600" dirty="0">
                <a:solidFill>
                  <a:srgbClr val="4B5563"/>
                </a:solidFill>
              </a:rPr>
              <a:t>전담 QA 인력은 확보되지 않은 것으로 논의됐으며, 앱 개발 지원 인력은 배정 여부 확인이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926077"/>
                <a:gridCol w="6303523"/>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프로젝트명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신규 </a:t>
                      </a:r>
                      <a:pPr indent="0" marL="0">
                        <a:buNone/>
                      </a:pPr>
                      <a:r>
                        <a:rPr lang="en-US" sz="1100" dirty="0">
                          <a:solidFill>
                            <a:srgbClr val="1F2937"/>
                          </a:solidFill>
                        </a:rPr>
                        <a:t>모바일 </a:t>
                      </a:r>
                      <a:pPr indent="0" marL="0">
                        <a:buNone/>
                      </a:pPr>
                      <a:r>
                        <a:rPr lang="en-US" sz="1100" dirty="0">
                          <a:solidFill>
                            <a:srgbClr val="1F2937"/>
                          </a:solidFill>
                        </a:rPr>
                        <a:t>식단 </a:t>
                      </a:r>
                      <a:pPr indent="0" marL="0">
                        <a:buNone/>
                      </a:pPr>
                      <a:r>
                        <a:rPr lang="en-US" sz="1100" dirty="0">
                          <a:solidFill>
                            <a:srgbClr val="1F2937"/>
                          </a:solidFill>
                        </a:rPr>
                        <a:t>기록 </a:t>
                      </a:r>
                      <a:pPr indent="0" marL="0">
                        <a:buNone/>
                      </a:pPr>
                      <a:r>
                        <a:rPr lang="en-US" sz="1100" dirty="0">
                          <a:solidFill>
                            <a:srgbClr val="1F2937"/>
                          </a:solidFill>
                        </a:rPr>
                        <a:t>앱 </a:t>
                      </a:r>
                      <a:pPr indent="0" marL="0">
                        <a:buNone/>
                      </a:pPr>
                      <a:r>
                        <a:rPr lang="en-US" sz="1100" dirty="0">
                          <a:solidFill>
                            <a:srgbClr val="1F2937"/>
                          </a:solidFill>
                        </a:rPr>
                        <a:t>MVP</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프로젝트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PRJ-001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 </a:t>
                      </a:r>
                      <a:pPr indent="0" marL="0">
                        <a:buNone/>
                      </a:pPr>
                      <a:r>
                        <a:rPr lang="en-US" sz="1100" b="1" dirty="0">
                          <a:solidFill>
                            <a:srgbClr val="1F2937"/>
                          </a:solidFill>
                        </a:rPr>
                        <a:t>목표일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2026-11-25, </a:t>
                      </a:r>
                      <a:pPr indent="0" marL="0">
                        <a:buNone/>
                      </a:pPr>
                      <a:r>
                        <a:rPr lang="en-US" sz="1100" dirty="0">
                          <a:solidFill>
                            <a:srgbClr val="1F2937"/>
                          </a:solidFill>
                        </a:rPr>
                        <a:t>8주 </a:t>
                      </a:r>
                      <a:pPr indent="0" marL="0">
                        <a:buNone/>
                      </a:pPr>
                      <a:r>
                        <a:rPr lang="en-US" sz="1100" dirty="0">
                          <a:solidFill>
                            <a:srgbClr val="1F2937"/>
                          </a:solidFill>
                        </a:rPr>
                        <a:t>차 </a:t>
                      </a:r>
                      <a:pPr indent="0" marL="0">
                        <a:buNone/>
                      </a:pPr>
                      <a:r>
                        <a:rPr lang="en-US" sz="1100" dirty="0">
                          <a:solidFill>
                            <a:srgbClr val="1F2937"/>
                          </a:solidFill>
                        </a:rPr>
                        <a:t>종료 </a:t>
                      </a:r>
                      <a:pPr indent="0" marL="0">
                        <a:buNone/>
                      </a:pPr>
                      <a:r>
                        <a:rPr lang="en-US" sz="1100" dirty="0">
                          <a:solidFill>
                            <a:srgbClr val="1F2937"/>
                          </a:solidFill>
                        </a:rPr>
                        <a:t>시점의 </a:t>
                      </a:r>
                      <a:pPr indent="0" marL="0">
                        <a:buNone/>
                      </a:pPr>
                      <a:r>
                        <a:rPr lang="en-US" sz="1100" dirty="0">
                          <a:solidFill>
                            <a:srgbClr val="1F2937"/>
                          </a:solidFill>
                        </a:rPr>
                        <a:t>출시 </a:t>
                      </a:r>
                      <a:pPr indent="0" marL="0">
                        <a:buNone/>
                      </a:pPr>
                      <a:r>
                        <a:rPr lang="en-US" sz="1100" dirty="0">
                          <a:solidFill>
                            <a:srgbClr val="1F2937"/>
                          </a:solidFill>
                        </a:rPr>
                        <a:t>후보·심사 </a:t>
                      </a:r>
                      <a:pPr indent="0" marL="0">
                        <a:buNone/>
                      </a:pPr>
                      <a:r>
                        <a:rPr lang="en-US" sz="1100" dirty="0">
                          <a:solidFill>
                            <a:srgbClr val="1F2937"/>
                          </a:solidFill>
                        </a:rPr>
                        <a:t>제출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완충 </a:t>
                      </a:r>
                      <a:pPr indent="0" marL="0">
                        <a:buNone/>
                      </a:pPr>
                      <a:r>
                        <a:rPr lang="en-US" sz="1100" b="1" dirty="0">
                          <a:solidFill>
                            <a:srgbClr val="1F2937"/>
                          </a:solidFill>
                        </a:rPr>
                        <a:t>기간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2026-11-26~2026-12-02, </a:t>
                      </a:r>
                      <a:pPr indent="0" marL="0">
                        <a:buNone/>
                      </a:pPr>
                      <a:r>
                        <a:rPr lang="en-US" sz="1100" dirty="0">
                          <a:solidFill>
                            <a:srgbClr val="1F2937"/>
                          </a:solidFill>
                        </a:rPr>
                        <a:t>9주 </a:t>
                      </a:r>
                      <a:pPr indent="0" marL="0">
                        <a:buNone/>
                      </a:pPr>
                      <a:r>
                        <a:rPr lang="en-US" sz="1100" dirty="0">
                          <a:solidFill>
                            <a:srgbClr val="1F2937"/>
                          </a:solidFill>
                        </a:rPr>
                        <a:t>차 </a:t>
                      </a:r>
                      <a:pPr indent="0" marL="0">
                        <a:buNone/>
                      </a:pPr>
                      <a:r>
                        <a:rPr lang="en-US" sz="1100" dirty="0">
                          <a:solidFill>
                            <a:srgbClr val="1F2937"/>
                          </a:solidFill>
                        </a:rPr>
                        <a:t>심사 </a:t>
                      </a:r>
                      <a:pPr indent="0" marL="0">
                        <a:buNone/>
                      </a:pPr>
                      <a:r>
                        <a:rPr lang="en-US" sz="1100" dirty="0">
                          <a:solidFill>
                            <a:srgbClr val="1F2937"/>
                          </a:solidFill>
                        </a:rPr>
                        <a:t>대응 </a:t>
                      </a:r>
                      <a:pPr indent="0" marL="0">
                        <a:buNone/>
                      </a:pPr>
                      <a:r>
                        <a:rPr lang="en-US" sz="1100" dirty="0">
                          <a:solidFill>
                            <a:srgbClr val="1F2937"/>
                          </a:solidFill>
                        </a:rPr>
                        <a:t>완충 </a:t>
                      </a:r>
                      <a:pPr indent="0" marL="0">
                        <a:buNone/>
                      </a:pPr>
                      <a:r>
                        <a:rPr lang="en-US" sz="1100" dirty="0">
                          <a:solidFill>
                            <a:srgbClr val="1F2937"/>
                          </a:solidFill>
                        </a:rPr>
                        <a:t>기간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총 </a:t>
                      </a:r>
                      <a:pPr indent="0" marL="0">
                        <a:buNone/>
                      </a:pPr>
                      <a:r>
                        <a:rPr lang="en-US" sz="1100" b="1" dirty="0">
                          <a:solidFill>
                            <a:srgbClr val="1F2937"/>
                          </a:solidFill>
                        </a:rPr>
                        <a:t>기간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8주 </a:t>
                      </a:r>
                      <a:pPr indent="0" marL="0">
                        <a:buNone/>
                      </a:pPr>
                      <a:r>
                        <a:rPr lang="en-US" sz="1100" dirty="0">
                          <a:solidFill>
                            <a:srgbClr val="1F2937"/>
                          </a:solidFill>
                        </a:rPr>
                        <a:t>목표 </a:t>
                      </a:r>
                      <a:pPr indent="0" marL="0">
                        <a:buNone/>
                      </a:pPr>
                      <a:r>
                        <a:rPr lang="en-US" sz="1100" dirty="0">
                          <a:solidFill>
                            <a:srgbClr val="1F2937"/>
                          </a:solidFill>
                        </a:rPr>
                        <a:t>+ </a:t>
                      </a:r>
                      <a:pPr indent="0" marL="0">
                        <a:buNone/>
                      </a:pPr>
                      <a:r>
                        <a:rPr lang="en-US" sz="1100" dirty="0">
                          <a:solidFill>
                            <a:srgbClr val="1F2937"/>
                          </a:solidFill>
                        </a:rPr>
                        <a:t>1주 </a:t>
                      </a:r>
                      <a:pPr indent="0" marL="0">
                        <a:buNone/>
                      </a:pPr>
                      <a:r>
                        <a:rPr lang="en-US" sz="1100" dirty="0">
                          <a:solidFill>
                            <a:srgbClr val="1F2937"/>
                          </a:solidFill>
                        </a:rPr>
                        <a:t>심사 </a:t>
                      </a:r>
                      <a:pPr indent="0" marL="0">
                        <a:buNone/>
                      </a:pPr>
                      <a:r>
                        <a:rPr lang="en-US" sz="1100" dirty="0">
                          <a:solidFill>
                            <a:srgbClr val="1F2937"/>
                          </a:solidFill>
                        </a:rPr>
                        <a:t>완충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예산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 </a:t>
                      </a:r>
                      <a:pPr indent="0" marL="0">
                        <a:buNone/>
                      </a:pPr>
                      <a:r>
                        <a:rPr lang="en-US" sz="1100" dirty="0">
                          <a:solidFill>
                            <a:srgbClr val="1F2937"/>
                          </a:solidFill>
                        </a:rPr>
                        <a:t>회의에서 </a:t>
                      </a:r>
                      <a:pPr indent="0" marL="0">
                        <a:buNone/>
                      </a:pPr>
                      <a:r>
                        <a:rPr lang="en-US" sz="1100" dirty="0">
                          <a:solidFill>
                            <a:srgbClr val="1F2937"/>
                          </a:solidFill>
                        </a:rPr>
                        <a:t>언급된 </a:t>
                      </a:r>
                      <a:pPr indent="0" marL="0">
                        <a:buNone/>
                      </a:pPr>
                      <a:r>
                        <a:rPr lang="en-US" sz="1100" dirty="0">
                          <a:solidFill>
                            <a:srgbClr val="1F2937"/>
                          </a:solidFill>
                        </a:rPr>
                        <a:t>월 </a:t>
                      </a:r>
                      <a:pPr indent="0" marL="0">
                        <a:buNone/>
                      </a:pPr>
                      <a:r>
                        <a:rPr lang="en-US" sz="1100" dirty="0">
                          <a:solidFill>
                            <a:srgbClr val="1F2937"/>
                          </a:solidFill>
                        </a:rPr>
                        <a:t>30만 </a:t>
                      </a:r>
                      <a:pPr indent="0" marL="0">
                        <a:buNone/>
                      </a:pPr>
                      <a:r>
                        <a:rPr lang="en-US" sz="1100" dirty="0">
                          <a:solidFill>
                            <a:srgbClr val="1F2937"/>
                          </a:solidFill>
                        </a:rPr>
                        <a:t>원은 </a:t>
                      </a:r>
                      <a:pPr indent="0" marL="0">
                        <a:buNone/>
                      </a:pPr>
                      <a:r>
                        <a:rPr lang="en-US" sz="1100" dirty="0">
                          <a:solidFill>
                            <a:srgbClr val="1F2937"/>
                          </a:solidFill>
                        </a:rPr>
                        <a:t>계약 </a:t>
                      </a:r>
                      <a:pPr indent="0" marL="0">
                        <a:buNone/>
                      </a:pPr>
                      <a:r>
                        <a:rPr lang="en-US" sz="1100" dirty="0">
                          <a:solidFill>
                            <a:srgbClr val="1F2937"/>
                          </a:solidFill>
                        </a:rPr>
                        <a:t>전 </a:t>
                      </a:r>
                      <a:pPr indent="0" marL="0">
                        <a:buNone/>
                      </a:pPr>
                      <a:r>
                        <a:rPr lang="en-US" sz="1100" dirty="0">
                          <a:solidFill>
                            <a:srgbClr val="1F2937"/>
                          </a:solidFill>
                        </a:rPr>
                        <a:t>검토용이며 </a:t>
                      </a:r>
                      <a:pPr indent="0" marL="0">
                        <a:buNone/>
                      </a:pPr>
                      <a:r>
                        <a:rPr lang="en-US" sz="1100" dirty="0">
                          <a:solidFill>
                            <a:srgbClr val="1F2937"/>
                          </a:solidFill>
                        </a:rPr>
                        <a:t>확정 </a:t>
                      </a:r>
                      <a:pPr indent="0" marL="0">
                        <a:buNone/>
                      </a:pPr>
                      <a:r>
                        <a:rPr lang="en-US" sz="1100" dirty="0">
                          <a:solidFill>
                            <a:srgbClr val="1F2937"/>
                          </a:solidFill>
                        </a:rPr>
                        <a:t>예산 </a:t>
                      </a:r>
                      <a:pPr indent="0" marL="0">
                        <a:buNone/>
                      </a:pPr>
                      <a:r>
                        <a:rPr lang="en-US" sz="1100" dirty="0">
                          <a:solidFill>
                            <a:srgbClr val="1F2937"/>
                          </a:solidFill>
                        </a:rPr>
                        <a:t>상한이 </a:t>
                      </a:r>
                      <a:pPr indent="0" marL="0">
                        <a:buNone/>
                      </a:pPr>
                      <a:r>
                        <a:rPr lang="en-US" sz="1100" dirty="0">
                          <a:solidFill>
                            <a:srgbClr val="1F2937"/>
                          </a:solidFill>
                        </a:rPr>
                        <a:t>아님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개발 </a:t>
                      </a:r>
                      <a:pPr indent="0" marL="0">
                        <a:buNone/>
                      </a:pPr>
                      <a:r>
                        <a:rPr lang="en-US" sz="1100" b="1"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React </a:t>
                      </a:r>
                      <a:pPr indent="0" marL="0">
                        <a:buNone/>
                      </a:pPr>
                      <a:r>
                        <a:rPr lang="en-US" sz="1100" dirty="0">
                          <a:solidFill>
                            <a:srgbClr val="1F2937"/>
                          </a:solidFill>
                        </a:rPr>
                        <a:t>Native </a:t>
                      </a:r>
                      <a:pPr indent="0" marL="0">
                        <a:buNone/>
                      </a:pPr>
                      <a:r>
                        <a:rPr lang="en-US" sz="1100" dirty="0">
                          <a:solidFill>
                            <a:srgbClr val="1F2937"/>
                          </a:solidFill>
                        </a:rPr>
                        <a:t>기반 </a:t>
                      </a:r>
                      <a:pPr indent="0" marL="0">
                        <a:buNone/>
                      </a:pPr>
                      <a:r>
                        <a:rPr lang="en-US" sz="1100" dirty="0">
                          <a:solidFill>
                            <a:srgbClr val="1F2937"/>
                          </a:solidFill>
                        </a:rPr>
                        <a:t>iOS·안드로이드 </a:t>
                      </a:r>
                      <a:pPr indent="0" marL="0">
                        <a:buNone/>
                      </a:pPr>
                      <a:r>
                        <a:rPr lang="en-US" sz="1100" dirty="0">
                          <a:solidFill>
                            <a:srgbClr val="1F2937"/>
                          </a:solidFill>
                        </a:rPr>
                        <a:t>공통 </a:t>
                      </a:r>
                      <a:pPr indent="0" marL="0">
                        <a:buNone/>
                      </a:pPr>
                      <a:r>
                        <a:rPr lang="en-US" sz="1100" dirty="0">
                          <a:solidFill>
                            <a:srgbClr val="1F2937"/>
                          </a:solidFill>
                        </a:rPr>
                        <a:t>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공개일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 </a:t>
                      </a:r>
                      <a:pPr indent="0" marL="0">
                        <a:buNone/>
                      </a:pPr>
                      <a:r>
                        <a:rPr lang="en-US" sz="1100" dirty="0">
                          <a:solidFill>
                            <a:srgbClr val="1F2937"/>
                          </a:solidFill>
                        </a:rPr>
                        <a:t>베타 </a:t>
                      </a:r>
                      <a:pPr indent="0" marL="0">
                        <a:buNone/>
                      </a:pPr>
                      <a:r>
                        <a:rPr lang="en-US" sz="1100" dirty="0">
                          <a:solidFill>
                            <a:srgbClr val="1F2937"/>
                          </a:solidFill>
                        </a:rPr>
                        <a:t>결과 </a:t>
                      </a:r>
                      <a:pPr indent="0" marL="0">
                        <a:buNone/>
                      </a:pPr>
                      <a:r>
                        <a:rPr lang="en-US" sz="1100" dirty="0">
                          <a:solidFill>
                            <a:srgbClr val="1F2937"/>
                          </a:solidFill>
                        </a:rPr>
                        <a:t>및 </a:t>
                      </a:r>
                      <a:pPr indent="0" marL="0">
                        <a:buNone/>
                      </a:pPr>
                      <a:r>
                        <a:rPr lang="en-US" sz="1100" dirty="0">
                          <a:solidFill>
                            <a:srgbClr val="1F2937"/>
                          </a:solidFill>
                        </a:rPr>
                        <a:t>스토어 </a:t>
                      </a:r>
                      <a:pPr indent="0" marL="0">
                        <a:buNone/>
                      </a:pPr>
                      <a:r>
                        <a:rPr lang="en-US" sz="1100" dirty="0">
                          <a:solidFill>
                            <a:srgbClr val="1F2937"/>
                          </a:solidFill>
                        </a:rPr>
                        <a:t>심사 </a:t>
                      </a:r>
                      <a:pPr indent="0" marL="0">
                        <a:buNone/>
                      </a:pPr>
                      <a:r>
                        <a:rPr lang="en-US" sz="1100" dirty="0">
                          <a:solidFill>
                            <a:srgbClr val="1F2937"/>
                          </a:solidFill>
                        </a:rPr>
                        <a:t>통과 </a:t>
                      </a:r>
                      <a:pPr indent="0" marL="0">
                        <a:buNone/>
                      </a:pPr>
                      <a:r>
                        <a:rPr lang="en-US" sz="1100" dirty="0">
                          <a:solidFill>
                            <a:srgbClr val="1F2937"/>
                          </a:solidFill>
                        </a:rPr>
                        <a:t>후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"날짜는 킥오프일인 2026-10-01부터 주차를 계산해 배치한 일정 기준입니다. 주차별 실제 작업일과 휴일·인력 투입 가능일은 일정 담당 확인 후 조정해야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2.2 프로젝트 범위</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포함 범위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iOS·안드로이드 공통 앱의 MVP 개발 및 스토어 제출 준비</a:t>
            </a:r>
            <a:endParaRPr lang="en-US" sz="1600" dirty="0"/>
          </a:p>
          <a:p>
            <a:pPr indent="0" marL="0">
              <a:spcAft>
                <a:spcPts val="800"/>
              </a:spcAft>
              <a:buNone/>
            </a:pPr>
            <a:r>
              <a:rPr lang="en-US" sz="1600" dirty="0">
                <a:solidFill>
                  <a:srgbClr val="4B5563"/>
                </a:solidFill>
              </a:rPr>
              <a:t>· 인증 방식 조사와 결정된 인증 흐름 구현</a:t>
            </a:r>
            <a:endParaRPr lang="en-US" sz="1600" dirty="0"/>
          </a:p>
          <a:p>
            <a:pPr indent="0" marL="0">
              <a:spcAft>
                <a:spcPts val="800"/>
              </a:spcAft>
              <a:buNone/>
            </a:pPr>
            <a:r>
              <a:rPr lang="en-US" sz="1600" dirty="0">
                <a:solidFill>
                  <a:srgbClr val="4B5563"/>
                </a:solidFill>
              </a:rPr>
              <a:t>· 목표 없이 시작할 수 있는 온보딩과 선택적 목표 설정</a:t>
            </a:r>
            <a:endParaRPr lang="en-US" sz="1600" dirty="0"/>
          </a:p>
          <a:p>
            <a:pPr indent="0" marL="0">
              <a:spcAft>
                <a:spcPts val="800"/>
              </a:spcAft>
              <a:buNone/>
            </a:pPr>
            <a:r>
              <a:rPr lang="en-US" sz="1600" dirty="0">
                <a:solidFill>
                  <a:srgbClr val="4B5563"/>
                </a:solidFill>
              </a:rPr>
              <a:t>· 오늘 홈과 날짜별 식사 기록 조회</a:t>
            </a:r>
            <a:endParaRPr lang="en-US" sz="1600" dirty="0"/>
          </a:p>
          <a:p>
            <a:pPr indent="0" marL="0">
              <a:spcAft>
                <a:spcPts val="800"/>
              </a:spcAft>
              <a:buNone/>
            </a:pPr>
            <a:r>
              <a:rPr lang="en-US" sz="1600" dirty="0">
                <a:solidFill>
                  <a:srgbClr val="4B5563"/>
                </a:solidFill>
              </a:rPr>
              <a:t>· 음식 검색, 최근 기록, 즐겨찾기, 직접 음식 입력</a:t>
            </a:r>
            <a:endParaRPr lang="en-US" sz="1600" dirty="0"/>
          </a:p>
          <a:p>
            <a:pPr indent="0" marL="0">
              <a:spcAft>
                <a:spcPts val="800"/>
              </a:spcAft>
              <a:buNone/>
            </a:pPr>
            <a:r>
              <a:rPr lang="en-US" sz="1600" dirty="0">
                <a:solidFill>
                  <a:srgbClr val="4B5563"/>
                </a:solidFill>
              </a:rPr>
              <a:t>· 아침·점심·저녁·간식 구분의 식사 항목 기록</a:t>
            </a:r>
            <a:endParaRPr lang="en-US" sz="1600" dirty="0"/>
          </a:p>
          <a:p>
            <a:pPr indent="0" marL="0">
              <a:spcAft>
                <a:spcPts val="800"/>
              </a:spcAft>
              <a:buNone/>
            </a:pPr>
            <a:r>
              <a:rPr lang="en-US" sz="1600" dirty="0">
                <a:solidFill>
                  <a:srgbClr val="4B5563"/>
                </a:solidFill>
              </a:rPr>
              <a:t>· 음식 항목별 즉시 저장, 기록 수정·개별 삭제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포함 범위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기준 제공량이 있는 음식의 배수 조절 및 직접 입력 음식의 1회분 기본값</a:t>
            </a:r>
            <a:endParaRPr lang="en-US" sz="1600" dirty="0"/>
          </a:p>
          <a:p>
            <a:pPr indent="0" marL="0">
              <a:spcAft>
                <a:spcPts val="800"/>
              </a:spcAft>
              <a:buNone/>
            </a:pPr>
            <a:r>
              <a:rPr lang="en-US" sz="1600" dirty="0">
                <a:solidFill>
                  <a:srgbClr val="4B5563"/>
                </a:solidFill>
              </a:rPr>
              <a:t>· 기록 생성 시각과 실제 섭취 날짜 분리, 미래 날짜 기록 제한</a:t>
            </a:r>
            <a:endParaRPr lang="en-US" sz="1600" dirty="0"/>
          </a:p>
          <a:p>
            <a:pPr indent="0" marL="0">
              <a:spcAft>
                <a:spcPts val="800"/>
              </a:spcAft>
              <a:buNone/>
            </a:pPr>
            <a:r>
              <a:rPr lang="en-US" sz="1600" dirty="0">
                <a:solidFill>
                  <a:srgbClr val="4B5563"/>
                </a:solidFill>
              </a:rPr>
              <a:t>· 기록 시점 음식명·영양값 스냅샷 및 음식 데이터 출처 저장</a:t>
            </a:r>
            <a:endParaRPr lang="en-US" sz="1600" dirty="0"/>
          </a:p>
          <a:p>
            <a:pPr indent="0" marL="0">
              <a:spcAft>
                <a:spcPts val="800"/>
              </a:spcAft>
              <a:buNone/>
            </a:pPr>
            <a:r>
              <a:rPr lang="en-US" sz="1600" dirty="0">
                <a:solidFill>
                  <a:srgbClr val="4B5563"/>
                </a:solidFill>
              </a:rPr>
              <a:t>· 영양 정보 결측과 실제 값 0의 구분</a:t>
            </a:r>
            <a:endParaRPr lang="en-US" sz="1600" dirty="0"/>
          </a:p>
          <a:p>
            <a:pPr indent="0" marL="0">
              <a:spcAft>
                <a:spcPts val="800"/>
              </a:spcAft>
              <a:buNone/>
            </a:pPr>
            <a:r>
              <a:rPr lang="en-US" sz="1600" dirty="0">
                <a:solidFill>
                  <a:srgbClr val="4B5563"/>
                </a:solidFill>
              </a:rPr>
              <a:t>· 기록 일수·기록한 날 기준 평균 영양값·끼니 패턴 중심의 주간 리포트</a:t>
            </a:r>
            <a:endParaRPr lang="en-US" sz="1600" dirty="0"/>
          </a:p>
          <a:p>
            <a:pPr indent="0" marL="0">
              <a:spcAft>
                <a:spcPts val="800"/>
              </a:spcAft>
              <a:buNone/>
            </a:pPr>
            <a:r>
              <a:rPr lang="en-US" sz="1600" dirty="0">
                <a:solidFill>
                  <a:srgbClr val="4B5563"/>
                </a:solidFill>
              </a:rPr>
              <a:t>· 사용자가 선택한 경우에만 발송하는 하루 최대 한 번의 기록 알림</a:t>
            </a:r>
            <a:endParaRPr lang="en-US" sz="1600" dirty="0"/>
          </a:p>
          <a:p>
            <a:pPr indent="0" marL="0">
              <a:spcAft>
                <a:spcPts val="800"/>
              </a:spcAft>
              <a:buNone/>
            </a:pPr>
            <a:r>
              <a:rPr lang="en-US" sz="1600" dirty="0">
                <a:solidFill>
                  <a:srgbClr val="4B5563"/>
                </a:solidFill>
              </a:rPr>
              <a:t>· 서비스 이용약관·개인정보 처리·선택적 제품 분석·푸시 설정의 구분</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포함 범위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계정 삭제 요청과 계정에 연관된 기록 삭제 흐름</a:t>
            </a:r>
            <a:endParaRPr lang="en-US" sz="1600" dirty="0"/>
          </a:p>
          <a:p>
            <a:pPr indent="0" marL="0">
              <a:spcAft>
                <a:spcPts val="800"/>
              </a:spcAft>
              <a:buNone/>
            </a:pPr>
            <a:r>
              <a:rPr lang="en-US" sz="1600" dirty="0">
                <a:solidFill>
                  <a:srgbClr val="4B5563"/>
                </a:solidFill>
              </a:rPr>
              <a:t>· 검색·저장 오류 상태, 요청 식별값 기반 중복 방지, 입력값 임시 보존 가능성 검토</a:t>
            </a:r>
            <a:endParaRPr lang="en-US" sz="1600" dirty="0"/>
          </a:p>
          <a:p>
            <a:pPr indent="0" marL="0">
              <a:spcAft>
                <a:spcPts val="800"/>
              </a:spcAft>
              <a:buNone/>
            </a:pPr>
            <a:r>
              <a:rPr lang="en-US" sz="1600" dirty="0">
                <a:solidFill>
                  <a:srgbClr val="4B5563"/>
                </a:solidFill>
              </a:rPr>
              <a:t>· 자동 백업, 백업 보호 및 출시 전 복구 시험</a:t>
            </a:r>
            <a:endParaRPr lang="en-US" sz="1600" dirty="0"/>
          </a:p>
          <a:p>
            <a:pPr indent="0" marL="0">
              <a:spcAft>
                <a:spcPts val="800"/>
              </a:spcAft>
              <a:buNone/>
            </a:pPr>
            <a:r>
              <a:rPr lang="en-US" sz="1600" dirty="0">
                <a:solidFill>
                  <a:srgbClr val="4B5563"/>
                </a:solidFill>
              </a:rPr>
              <a:t>· 최소 행동 분석 및 개인정보를 제외한 장애 진단</a:t>
            </a:r>
            <a:endParaRPr lang="en-US" sz="1600" dirty="0"/>
          </a:p>
          <a:p>
            <a:pPr indent="0" marL="0">
              <a:spcAft>
                <a:spcPts val="800"/>
              </a:spcAft>
              <a:buNone/>
            </a:pPr>
            <a:r>
              <a:rPr lang="en-US" sz="1600" dirty="0">
                <a:solidFill>
                  <a:srgbClr val="4B5563"/>
                </a:solidFill>
              </a:rPr>
              <a:t>· 접근성 기본 점검, 기기별 UI 검증, 프로토타입 및 베타 시험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포함 범위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식사당 사진 한 장 첨부:</a:t>
            </a:r>
            <a:pPr indent="0" marL="0">
              <a:spcAft>
                <a:spcPts val="800"/>
              </a:spcAft>
              <a:buNone/>
            </a:pPr>
            <a:r>
              <a:rPr lang="en-US" sz="1600" dirty="0">
                <a:solidFill>
                  <a:srgbClr val="4B5563"/>
                </a:solidFill>
              </a:rPr>
              <a:t> 후반 회의에서 포함하는 방향으로 정리됐으나, 앞선 논의에는 사진 첨부 제외 결정도 있습니다. 따라서 기본 일정에서는 핵심 기록 기능과 분리하고 5주 차까지 여건을 확인해 통합하는 조건부 작업으로 관리합니다. 최종 포함 범위와 정책 승인이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불포함 범위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사진을 분석해 음식·양·영양 정보를 자동 산출하는 기능</a:t>
            </a:r>
            <a:endParaRPr lang="en-US" sz="1600" dirty="0"/>
          </a:p>
          <a:p>
            <a:pPr indent="0" marL="0">
              <a:spcAft>
                <a:spcPts val="800"/>
              </a:spcAft>
              <a:buNone/>
            </a:pPr>
            <a:r>
              <a:rPr lang="en-US" sz="1600" dirty="0">
                <a:solidFill>
                  <a:srgbClr val="4B5563"/>
                </a:solidFill>
              </a:rPr>
              <a:t>· 바코드 검색, 친구 공유, 커뮤니티, 전문가 상담</a:t>
            </a:r>
            <a:endParaRPr lang="en-US" sz="1600" dirty="0"/>
          </a:p>
          <a:p>
            <a:pPr indent="0" marL="0">
              <a:spcAft>
                <a:spcPts val="800"/>
              </a:spcAft>
              <a:buNone/>
            </a:pPr>
            <a:r>
              <a:rPr lang="en-US" sz="1600" dirty="0">
                <a:solidFill>
                  <a:srgbClr val="4B5563"/>
                </a:solidFill>
              </a:rPr>
              <a:t>· 운동 기록, 수면 기록, 건강 플랫폼 연동, 기기 건강 앱의 체중 가져오기</a:t>
            </a:r>
            <a:endParaRPr lang="en-US" sz="1600" dirty="0"/>
          </a:p>
          <a:p>
            <a:pPr indent="0" marL="0">
              <a:spcAft>
                <a:spcPts val="800"/>
              </a:spcAft>
              <a:buNone/>
            </a:pPr>
            <a:r>
              <a:rPr lang="en-US" sz="1600" dirty="0">
                <a:solidFill>
                  <a:srgbClr val="4B5563"/>
                </a:solidFill>
              </a:rPr>
              <a:t>· 체중 일별 추적과 체중 그래프</a:t>
            </a:r>
            <a:endParaRPr lang="en-US" sz="1600" dirty="0"/>
          </a:p>
          <a:p>
            <a:pPr indent="0" marL="0">
              <a:spcAft>
                <a:spcPts val="800"/>
              </a:spcAft>
              <a:buNone/>
            </a:pPr>
            <a:r>
              <a:rPr lang="en-US" sz="1600" dirty="0">
                <a:solidFill>
                  <a:srgbClr val="4B5563"/>
                </a:solidFill>
              </a:rPr>
              <a:t>· 자동 권장 칼로리 및 의학적 계산</a:t>
            </a:r>
            <a:endParaRPr lang="en-US" sz="1600" dirty="0"/>
          </a:p>
          <a:p>
            <a:pPr indent="0" marL="0">
              <a:spcAft>
                <a:spcPts val="800"/>
              </a:spcAft>
              <a:buNone/>
            </a:pPr>
            <a:r>
              <a:rPr lang="en-US" sz="1600" dirty="0">
                <a:solidFill>
                  <a:srgbClr val="4B5563"/>
                </a:solidFill>
              </a:rPr>
              <a:t>· 결제 기능, 광고 SDK, 광고·식단 데이터 기반 제휴</a:t>
            </a:r>
            <a:endParaRPr lang="en-US" sz="1600" dirty="0"/>
          </a:p>
          <a:p>
            <a:pPr indent="0" marL="0">
              <a:spcAft>
                <a:spcPts val="800"/>
              </a:spcAft>
              <a:buNone/>
            </a:pPr>
            <a:r>
              <a:rPr lang="en-US" sz="1600" dirty="0">
                <a:solidFill>
                  <a:srgbClr val="4B5563"/>
                </a:solidFill>
              </a:rPr>
              <a:t>· 메모 입력, 사용자 정의 식사 구분 추가·이름 변경</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불포함 범위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그램 환산 및 자유 형식 단위 입력</a:t>
            </a:r>
            <a:endParaRPr lang="en-US" sz="1600" dirty="0"/>
          </a:p>
          <a:p>
            <a:pPr indent="0" marL="0">
              <a:spcAft>
                <a:spcPts val="800"/>
              </a:spcAft>
              <a:buNone/>
            </a:pPr>
            <a:r>
              <a:rPr lang="en-US" sz="1600" dirty="0">
                <a:solidFill>
                  <a:srgbClr val="4B5563"/>
                </a:solidFill>
              </a:rPr>
              <a:t>· 완전한 오프라인 검색·동기화 및 여러 기기 간 충돌 처리</a:t>
            </a:r>
            <a:endParaRPr lang="en-US" sz="1600" dirty="0"/>
          </a:p>
          <a:p>
            <a:pPr indent="0" marL="0">
              <a:spcAft>
                <a:spcPts val="800"/>
              </a:spcAft>
              <a:buNone/>
            </a:pPr>
            <a:r>
              <a:rPr lang="en-US" sz="1600" dirty="0">
                <a:solidFill>
                  <a:srgbClr val="4B5563"/>
                </a:solidFill>
              </a:rPr>
              <a:t>· 계정을 유지한 채 기록 전체를 초기화하는 기능</a:t>
            </a:r>
            <a:endParaRPr lang="en-US" sz="1600" dirty="0"/>
          </a:p>
          <a:p>
            <a:pPr indent="0" marL="0">
              <a:spcAft>
                <a:spcPts val="800"/>
              </a:spcAft>
              <a:buNone/>
            </a:pPr>
            <a:r>
              <a:rPr lang="en-US" sz="1600" dirty="0">
                <a:solidFill>
                  <a:srgbClr val="4B5563"/>
                </a:solidFill>
              </a:rPr>
              <a:t>· 주간 리포트 푸시 알림</a:t>
            </a:r>
            <a:endParaRPr lang="en-US" sz="1600" dirty="0"/>
          </a:p>
          <a:p>
            <a:pPr indent="0" marL="0">
              <a:spcAft>
                <a:spcPts val="800"/>
              </a:spcAft>
              <a:buNone/>
            </a:pPr>
            <a:r>
              <a:rPr lang="en-US" sz="1600" dirty="0">
                <a:solidFill>
                  <a:srgbClr val="4B5563"/>
                </a:solidFill>
              </a:rPr>
              <a:t>· 장기 미사용 계정 자동 삭제</a:t>
            </a:r>
            <a:endParaRPr lang="en-US" sz="1600" dirty="0"/>
          </a:p>
          <a:p>
            <a:pPr indent="0" marL="0">
              <a:spcAft>
                <a:spcPts val="800"/>
              </a:spcAft>
              <a:buNone/>
            </a:pPr>
            <a:r>
              <a:rPr lang="en-US" sz="1600" dirty="0">
                <a:solidFill>
                  <a:srgbClr val="4B5563"/>
                </a:solidFill>
              </a:rPr>
              <a:t>· 데이터 사본 내려받기 기능: 법무·개인정보 검토 후 필요 여부를 확인하며, 확정 전 MVP 범위로 간주하지 않음</a:t>
            </a:r>
            <a:endParaRPr lang="en-US" sz="1600" dirty="0"/>
          </a:p>
          <a:p>
            <a:pPr indent="0" marL="0">
              <a:spcAft>
                <a:spcPts val="800"/>
              </a:spcAft>
              <a:buNone/>
            </a:pPr>
            <a:r>
              <a:rPr lang="en-US" sz="1600" dirty="0">
                <a:solidFill>
                  <a:srgbClr val="4B5563"/>
                </a:solidFill>
              </a:rPr>
              <a:t>· 사진 여러 장 첨부</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2.3 가정 및 제약사항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가정사항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회의 참여 역할을 맡은 인력은 프로젝트 수행 가능 여부를 확인한 뒤 배정됩니다. 실제 배정과 참여율은 추정 필요입니다.</a:t>
            </a:r>
            <a:endParaRPr lang="en-US" sz="1600" dirty="0"/>
          </a:p>
          <a:p>
            <a:pPr indent="0" marL="0">
              <a:spcAft>
                <a:spcPts val="800"/>
              </a:spcAft>
              <a:buNone/>
            </a:pPr>
            <a:r>
              <a:rPr lang="en-US" sz="1600" dirty="0">
                <a:solidFill>
                  <a:srgbClr val="4B5563"/>
                </a:solidFill>
              </a:rPr>
              <a:t>☐ 외부 식품 API 또는 대체 데이터의 샘플과 계약 조건이 일정 내 확인된다고 가정하지 않습니다. 확인 전에는 임시 시험 자료로 개발할 수 있도록 계획합니다.</a:t>
            </a:r>
            <a:endParaRPr lang="en-US" sz="1600" dirty="0"/>
          </a:p>
          <a:p>
            <a:pPr indent="0" marL="0">
              <a:spcAft>
                <a:spcPts val="800"/>
              </a:spcAft>
              <a:buNone/>
            </a:pPr>
            <a:r>
              <a:rPr lang="en-US" sz="1600" dirty="0">
                <a:solidFill>
                  <a:srgbClr val="4B5563"/>
                </a:solidFill>
              </a:rPr>
              <a:t>☐ API 공급처는 1주 차 금요일까지 샘플·계약 조건을 확인하고, 2주 차 화요일까지 미정이면 일정 위험으로 올립니다.</a:t>
            </a:r>
            <a:endParaRPr lang="en-US" sz="1600" dirty="0"/>
          </a:p>
          <a:p>
            <a:pPr indent="0" marL="0">
              <a:spcAft>
                <a:spcPts val="800"/>
              </a:spcAft>
              <a:buNone/>
            </a:pPr>
            <a:r>
              <a:rPr lang="en-US" sz="1600" dirty="0">
                <a:solidFill>
                  <a:srgbClr val="4B5563"/>
                </a:solidFill>
              </a:rPr>
              <a:t>☐ 로그인 제공자 범위는 이번 주 체크포인트에서 검토하고, 다음 주 화요일까지 확정하는 것을 목표로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가정사항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자동 권장 칼로리 안전 기준을 다음 주 화요일까지 확인하지 못하면 자동 칼로리 목표를 MVP에서 제외합니다.</a:t>
            </a:r>
            <a:endParaRPr lang="en-US" sz="1600" dirty="0"/>
          </a:p>
          <a:p>
            <a:pPr indent="0" marL="0">
              <a:spcAft>
                <a:spcPts val="800"/>
              </a:spcAft>
              <a:buNone/>
            </a:pPr>
            <a:r>
              <a:rPr lang="en-US" sz="1600" dirty="0">
                <a:solidFill>
                  <a:srgbClr val="4B5563"/>
                </a:solidFill>
              </a:rPr>
              <a:t>☐ 사진 자동 인식은 1주 차 금요일 기술 검증 후 별도 판단하며, 핵심 기록 기능이나 일정에 영향을 주면 제외합니다.</a:t>
            </a:r>
            <a:endParaRPr lang="en-US" sz="1600" dirty="0"/>
          </a:p>
          <a:p>
            <a:pPr indent="0" marL="0">
              <a:spcAft>
                <a:spcPts val="800"/>
              </a:spcAft>
              <a:buNone/>
            </a:pPr>
            <a:r>
              <a:rPr lang="en-US" sz="1600" dirty="0">
                <a:solidFill>
                  <a:srgbClr val="4B5563"/>
                </a:solidFill>
              </a:rPr>
              <a:t>☐ 디자인과 개발은 순차 전달을 활용해 병렬 진행할 수 있습니다.</a:t>
            </a:r>
            <a:endParaRPr lang="en-US" sz="1600" dirty="0"/>
          </a:p>
          <a:p>
            <a:pPr indent="0" marL="0">
              <a:spcAft>
                <a:spcPts val="800"/>
              </a:spcAft>
              <a:buNone/>
            </a:pPr>
            <a:r>
              <a:rPr lang="en-US" sz="1600" dirty="0">
                <a:solidFill>
                  <a:srgbClr val="4B5563"/>
                </a:solidFill>
              </a:rPr>
              <a:t>☐ 베타 모집 규모는 회의에서 여러 안이 제시됐으므로 최종 모집 인원과 운영 방식은 별도로 확정합니다.</a:t>
            </a:r>
            <a:endParaRPr lang="en-US" sz="1600" dirty="0"/>
          </a:p>
          <a:p>
            <a:pPr indent="0" marL="0">
              <a:spcAft>
                <a:spcPts val="800"/>
              </a:spcAft>
              <a:buNone/>
            </a:pPr>
            <a:r>
              <a:rPr lang="en-US" sz="1600" dirty="0">
                <a:solidFill>
                  <a:srgbClr val="4B5563"/>
                </a:solidFill>
              </a:rPr>
              <a:t>☐ 외부 법무·개인정보·전문가 검토의 회신 일정은 확정되지 않았으며, 검토 지연 시 범위 축소 판단이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가정사항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스토어 계정과 신규 앱 등록 권한이 준비됐는지 확인이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제약사항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일정은 8주 내 출시 후보 빌드와 심사 제출을 목표로 하며, 실제 공개는 스토어 심사 결과에 따라 9주 차 이후가 될 수 있습니다.</a:t>
            </a:r>
            <a:endParaRPr lang="en-US" sz="1600" dirty="0"/>
          </a:p>
          <a:p>
            <a:pPr indent="0" marL="0">
              <a:spcAft>
                <a:spcPts val="800"/>
              </a:spcAft>
              <a:buNone/>
            </a:pPr>
            <a:r>
              <a:rPr lang="en-US" sz="1600" dirty="0">
                <a:solidFill>
                  <a:srgbClr val="4B5563"/>
                </a:solidFill>
              </a:rPr>
              <a:t>☐ 주요 기능 동결 목표는 6주 차 초입니다.</a:t>
            </a:r>
            <a:endParaRPr lang="en-US" sz="1600" dirty="0"/>
          </a:p>
          <a:p>
            <a:pPr indent="0" marL="0">
              <a:spcAft>
                <a:spcPts val="800"/>
              </a:spcAft>
              <a:buNone/>
            </a:pPr>
            <a:r>
              <a:rPr lang="en-US" sz="1600" dirty="0">
                <a:solidFill>
                  <a:srgbClr val="4B5563"/>
                </a:solidFill>
              </a:rPr>
              <a:t>☐ 전담 QA 인력은 없는 것으로 회의에서 공유됐으며, PM·디자이너·개발자가 검증을 나눠 맡아야 합니다.</a:t>
            </a:r>
            <a:endParaRPr lang="en-US" sz="1600" dirty="0"/>
          </a:p>
          <a:p>
            <a:pPr indent="0" marL="0">
              <a:spcAft>
                <a:spcPts val="800"/>
              </a:spcAft>
              <a:buNone/>
            </a:pPr>
            <a:r>
              <a:rPr lang="en-US" sz="1600" dirty="0">
                <a:solidFill>
                  <a:srgbClr val="4B5563"/>
                </a:solidFill>
              </a:rPr>
              <a:t>☐ 개발 지원 인력 배정 여부가 미확정이며, 앱 화면 개발 안정성에 영향을 줄 수 있습니다.</a:t>
            </a:r>
            <a:endParaRPr lang="en-US" sz="1600" dirty="0"/>
          </a:p>
          <a:p>
            <a:pPr indent="0" marL="0">
              <a:spcAft>
                <a:spcPts val="800"/>
              </a:spcAft>
              <a:buNone/>
            </a:pPr>
            <a:r>
              <a:rPr lang="en-US" sz="1600" dirty="0">
                <a:solidFill>
                  <a:srgbClr val="4B5563"/>
                </a:solidFill>
              </a:rPr>
              <a:t>☐ 인증 제공자, 식품 데이터 공급처, API 호출·캐시 계약, 일부 개인정보 정책이 미확정입니다.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제약사항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개인정보는 최소 수집하고, 음식명·칼로리·체중·자유 입력 내용은 제품 분석 및 일반 오류 기록에 포함하지 않는 방향으로 설계합니다.</a:t>
            </a:r>
            <a:endParaRPr lang="en-US" sz="1600" dirty="0"/>
          </a:p>
          <a:p>
            <a:pPr indent="0" marL="0">
              <a:spcAft>
                <a:spcPts val="800"/>
              </a:spcAft>
              <a:buNone/>
            </a:pPr>
            <a:r>
              <a:rPr lang="en-US" sz="1600" dirty="0">
                <a:solidFill>
                  <a:srgbClr val="4B5563"/>
                </a:solidFill>
              </a:rPr>
              <a:t>☐ 외부 식품 API에는 검색어만 전달하고 사용자 식별 정보·기록 날짜·식사 기록은 전달하지 않는 방향입니다.</a:t>
            </a:r>
            <a:endParaRPr lang="en-US" sz="1600" dirty="0"/>
          </a:p>
          <a:p>
            <a:pPr indent="0" marL="0">
              <a:spcAft>
                <a:spcPts val="800"/>
              </a:spcAft>
              <a:buNone/>
            </a:pPr>
            <a:r>
              <a:rPr lang="en-US" sz="1600" dirty="0">
                <a:solidFill>
                  <a:srgbClr val="4B5563"/>
                </a:solidFill>
              </a:rPr>
              <a:t>☐ 월 30만 원은 검토용 예시이며 확정 예산 한도가 아닙니다. 사용자 수별 서버·API 비용 추정이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 WBS 계층 구조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세부 작업은 요구사항 추적과 일정 관리를 위한 분할입니다. 개인별 작업 기간과 공수는 별도 표시가 없는 한 </a:t>
            </a:r>
            <a:pPr indent="0" marL="0">
              <a:spcAft>
                <a:spcPts val="800"/>
              </a:spcAft>
              <a:buNone/>
            </a:pPr>
            <a:r>
              <a:rPr lang="en-US" sz="1600" b="1" dirty="0">
                <a:solidFill>
                  <a:srgbClr val="4B5563"/>
                </a:solidFill>
              </a:rPr>
              <a:t>추정치</a:t>
            </a:r>
            <a:pPr indent="0" marL="0">
              <a:spcAft>
                <a:spcPts val="800"/>
              </a:spcAft>
              <a:buNone/>
            </a:pPr>
            <a:r>
              <a:rPr lang="en-US" sz="1600" dirty="0">
                <a:solidFill>
                  <a:srgbClr val="4B5563"/>
                </a:solidFill>
              </a:rPr>
              <a:t>이며, 회의에서 확정된 담당자는 역할 단위입니다. 작업 패키지와 WBS 연결은 4절에 정리했습니다."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 프로젝트 관리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1.1 착수 및 계획</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1.1.1</a:t>
            </a:r>
            <a:pPr indent="0" marL="0">
              <a:spcAft>
                <a:spcPts val="800"/>
              </a:spcAft>
              <a:buNone/>
            </a:pPr>
            <a:r>
              <a:rPr lang="en-US" sz="1600" dirty="0">
                <a:solidFill>
                  <a:srgbClr val="4B5563"/>
                </a:solidFill>
              </a:rPr>
              <a:t> 킥오프 결정·미정 사항 정리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1.1.2</a:t>
            </a:r>
            <a:pPr indent="0" marL="0">
              <a:spcAft>
                <a:spcPts val="800"/>
              </a:spcAft>
              <a:buNone/>
            </a:pPr>
            <a:r>
              <a:rPr lang="en-US" sz="1600" dirty="0">
                <a:solidFill>
                  <a:srgbClr val="4B5563"/>
                </a:solidFill>
              </a:rPr>
              <a:t> 일정·범위·산출물 기준 수립</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1.1.3</a:t>
            </a:r>
            <a:pPr indent="0" marL="0">
              <a:spcAft>
                <a:spcPts val="800"/>
              </a:spcAft>
              <a:buNone/>
            </a:pPr>
            <a:r>
              <a:rPr lang="en-US" sz="1600" dirty="0">
                <a:solidFill>
                  <a:srgbClr val="4B5563"/>
                </a:solidFill>
              </a:rPr>
              <a:t> 역할·승인 경로·개발 지원 인력 확인</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1.2 일정 및 범위 관리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1.2.1</a:t>
            </a:r>
            <a:pPr indent="0" marL="0">
              <a:spcAft>
                <a:spcPts val="800"/>
              </a:spcAft>
              <a:buNone/>
            </a:pPr>
            <a:r>
              <a:rPr lang="en-US" sz="1600" dirty="0">
                <a:solidFill>
                  <a:srgbClr val="4B5563"/>
                </a:solidFill>
              </a:rPr>
              <a:t> 8주 마스터 일정과 9주 완충 일정 수립</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1.2.2</a:t>
            </a:r>
            <a:pPr indent="0" marL="0">
              <a:spcAft>
                <a:spcPts val="800"/>
              </a:spcAft>
              <a:buNone/>
            </a:pPr>
            <a:r>
              <a:rPr lang="en-US" sz="1600" dirty="0">
                <a:solidFill>
                  <a:srgbClr val="4B5563"/>
                </a:solidFill>
              </a:rPr>
              <a:t> 주 2회 15분 스탠드업 운영</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 프로젝트 관리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1.2.3</a:t>
            </a:r>
            <a:pPr indent="0" marL="0">
              <a:spcAft>
                <a:spcPts val="800"/>
              </a:spcAft>
              <a:buNone/>
            </a:pPr>
            <a:r>
              <a:rPr lang="en-US" sz="1600" dirty="0">
                <a:solidFill>
                  <a:srgbClr val="4B5563"/>
                </a:solidFill>
              </a:rPr>
              <a:t> 첫 2주간 주 2회, 이후 주 1회 디자인 리뷰 운영</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1.2.4</a:t>
            </a:r>
            <a:pPr indent="0" marL="0">
              <a:spcAft>
                <a:spcPts val="800"/>
              </a:spcAft>
              <a:buNone/>
            </a:pPr>
            <a:r>
              <a:rPr lang="en-US" sz="1600" dirty="0">
                <a:solidFill>
                  <a:srgbClr val="4B5563"/>
                </a:solidFill>
              </a:rPr>
              <a:t> 기능 변경 요청을 필수 변경·제안 변경으로 분류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1.2.5</a:t>
            </a:r>
            <a:pPr indent="0" marL="0">
              <a:spcAft>
                <a:spcPts val="800"/>
              </a:spcAft>
              <a:buNone/>
            </a:pPr>
            <a:r>
              <a:rPr lang="en-US" sz="1600" dirty="0">
                <a:solidFill>
                  <a:srgbClr val="4B5563"/>
                </a:solidFill>
              </a:rPr>
              <a:t> 6주 차 초 기능 동결 및 범위 변경 통제</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1.3 위험·이슈·의사결정 관리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1.3.1</a:t>
            </a:r>
            <a:pPr indent="0" marL="0">
              <a:spcAft>
                <a:spcPts val="800"/>
              </a:spcAft>
              <a:buNone/>
            </a:pPr>
            <a:r>
              <a:rPr lang="en-US" sz="1600" dirty="0">
                <a:solidFill>
                  <a:srgbClr val="4B5563"/>
                </a:solidFill>
              </a:rPr>
              <a:t> 위험 등록부 작성 및 갱신</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1.3.2</a:t>
            </a:r>
            <a:pPr indent="0" marL="0">
              <a:spcAft>
                <a:spcPts val="800"/>
              </a:spcAft>
              <a:buNone/>
            </a:pPr>
            <a:r>
              <a:rPr lang="en-US" sz="1600" dirty="0">
                <a:solidFill>
                  <a:srgbClr val="4B5563"/>
                </a:solidFill>
              </a:rPr>
              <a:t> 식품 API·인증·목표 안전 기준 마감 관리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1.3.3</a:t>
            </a:r>
            <a:pPr indent="0" marL="0">
              <a:spcAft>
                <a:spcPts val="800"/>
              </a:spcAft>
              <a:buNone/>
            </a:pPr>
            <a:r>
              <a:rPr lang="en-US" sz="1600" dirty="0">
                <a:solidFill>
                  <a:srgbClr val="4B5563"/>
                </a:solidFill>
              </a:rPr>
              <a:t> 사진 첨부 상충 결정 및 승인 상태 관리</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 프로젝트 관리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1.3.4</a:t>
            </a:r>
            <a:pPr indent="0" marL="0">
              <a:spcAft>
                <a:spcPts val="800"/>
              </a:spcAft>
              <a:buNone/>
            </a:pPr>
            <a:r>
              <a:rPr lang="en-US" sz="1600" dirty="0">
                <a:solidFill>
                  <a:srgbClr val="4B5563"/>
                </a:solidFill>
              </a:rPr>
              <a:t> 스토어 심사·인력·비용 위험 보고</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1.4 커뮤니케이션·문서 관리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1.4.1</a:t>
            </a:r>
            <a:pPr indent="0" marL="0">
              <a:spcAft>
                <a:spcPts val="800"/>
              </a:spcAft>
              <a:buNone/>
            </a:pPr>
            <a:r>
              <a:rPr lang="en-US" sz="1600" dirty="0">
                <a:solidFill>
                  <a:srgbClr val="4B5563"/>
                </a:solidFill>
              </a:rPr>
              <a:t> 회의록·요구사항·설계 문서 관리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1.4.2</a:t>
            </a:r>
            <a:pPr indent="0" marL="0">
              <a:spcAft>
                <a:spcPts val="800"/>
              </a:spcAft>
              <a:buNone/>
            </a:pPr>
            <a:r>
              <a:rPr lang="en-US" sz="1600" dirty="0">
                <a:solidFill>
                  <a:srgbClr val="4B5563"/>
                </a:solidFill>
              </a:rPr>
              <a:t> 주간 진행·위험 보고</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1.4.3</a:t>
            </a:r>
            <a:pPr indent="0" marL="0">
              <a:spcAft>
                <a:spcPts val="800"/>
              </a:spcAft>
              <a:buNone/>
            </a:pPr>
            <a:r>
              <a:rPr lang="en-US" sz="1600" dirty="0">
                <a:solidFill>
                  <a:srgbClr val="4B5563"/>
                </a:solidFill>
              </a:rPr>
              <a:t> 결정 사항·미결정 사항·승인 내역 추적</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1.4.4</a:t>
            </a:r>
            <a:pPr indent="0" marL="0">
              <a:spcAft>
                <a:spcPts val="800"/>
              </a:spcAft>
              <a:buNone/>
            </a:pPr>
            <a:r>
              <a:rPr lang="en-US" sz="1600" dirty="0">
                <a:solidFill>
                  <a:srgbClr val="4B5563"/>
                </a:solidFill>
              </a:rPr>
              <a:t> 요구사항·설계·시험 간 추적표 관리</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2.0 요구사항 및 검증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2.1 사용자 조사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2.1.1</a:t>
            </a:r>
            <a:pPr indent="0" marL="0">
              <a:spcAft>
                <a:spcPts val="800"/>
              </a:spcAft>
              <a:buNone/>
            </a:pPr>
            <a:r>
              <a:rPr lang="en-US" sz="1600" dirty="0">
                <a:solidFill>
                  <a:srgbClr val="4B5563"/>
                </a:solidFill>
              </a:rPr>
              <a:t> 현재 식단 앱 사용·중단 경험자 인터뷰 대상 모집</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2.1.2</a:t>
            </a:r>
            <a:pPr indent="0" marL="0">
              <a:spcAft>
                <a:spcPts val="800"/>
              </a:spcAft>
              <a:buNone/>
            </a:pPr>
            <a:r>
              <a:rPr lang="en-US" sz="1600" dirty="0">
                <a:solidFill>
                  <a:srgbClr val="4B5563"/>
                </a:solidFill>
              </a:rPr>
              <a:t> 20대·50대를 포함한 사용자 조사 진행</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2.1.3</a:t>
            </a:r>
            <a:pPr indent="0" marL="0">
              <a:spcAft>
                <a:spcPts val="800"/>
              </a:spcAft>
              <a:buNone/>
            </a:pPr>
            <a:r>
              <a:rPr lang="en-US" sz="1600" dirty="0">
                <a:solidFill>
                  <a:srgbClr val="4B5563"/>
                </a:solidFill>
              </a:rPr>
              <a:t> 마지막 기록 경험과 중단 이유 중심의 질문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2.1.4</a:t>
            </a:r>
            <a:pPr indent="0" marL="0">
              <a:spcAft>
                <a:spcPts val="800"/>
              </a:spcAft>
              <a:buNone/>
            </a:pPr>
            <a:r>
              <a:rPr lang="en-US" sz="1600" dirty="0">
                <a:solidFill>
                  <a:srgbClr val="4B5563"/>
                </a:solidFill>
              </a:rPr>
              <a:t> 사진 기능의 필요성 탐색. MVP 포함을 약속하지 않음</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2.2 제품 요구사항</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2.2.1</a:t>
            </a:r>
            <a:pPr indent="0" marL="0">
              <a:spcAft>
                <a:spcPts val="800"/>
              </a:spcAft>
              <a:buNone/>
            </a:pPr>
            <a:r>
              <a:rPr lang="en-US" sz="1600" dirty="0">
                <a:solidFill>
                  <a:srgbClr val="4B5563"/>
                </a:solidFill>
              </a:rPr>
              <a:t> MVP 범위와 제외 기능 확정</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2.0 요구사항 및 검증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2.2.2</a:t>
            </a:r>
            <a:pPr indent="0" marL="0">
              <a:spcAft>
                <a:spcPts val="800"/>
              </a:spcAft>
              <a:buNone/>
            </a:pPr>
            <a:r>
              <a:rPr lang="en-US" sz="1600" dirty="0">
                <a:solidFill>
                  <a:srgbClr val="4B5563"/>
                </a:solidFill>
              </a:rPr>
              <a:t> 음식 검색·기록·편집·삭제 사용자 흐름 정의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2.2.3</a:t>
            </a:r>
            <a:pPr indent="0" marL="0">
              <a:spcAft>
                <a:spcPts val="800"/>
              </a:spcAft>
              <a:buNone/>
            </a:pPr>
            <a:r>
              <a:rPr lang="en-US" sz="1600" dirty="0">
                <a:solidFill>
                  <a:srgbClr val="4B5563"/>
                </a:solidFill>
              </a:rPr>
              <a:t> 홈·주간 리포트·알림 동작 기준 정의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2.2.4</a:t>
            </a:r>
            <a:pPr indent="0" marL="0">
              <a:spcAft>
                <a:spcPts val="800"/>
              </a:spcAft>
              <a:buNone/>
            </a:pPr>
            <a:r>
              <a:rPr lang="en-US" sz="1600" dirty="0">
                <a:solidFill>
                  <a:srgbClr val="4B5563"/>
                </a:solidFill>
              </a:rPr>
              <a:t> 음식 제공량·양 배수·식사 구분 기준 정의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2.2.5</a:t>
            </a:r>
            <a:pPr indent="0" marL="0">
              <a:spcAft>
                <a:spcPts val="800"/>
              </a:spcAft>
              <a:buNone/>
            </a:pPr>
            <a:r>
              <a:rPr lang="en-US" sz="1600" dirty="0">
                <a:solidFill>
                  <a:srgbClr val="4B5563"/>
                </a:solidFill>
              </a:rPr>
              <a:t> 목표 설정·영양값 참고 안내 문구 검토</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2.3 외부 연동·인증·개인정보 조사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2.3.1</a:t>
            </a:r>
            <a:pPr indent="0" marL="0">
              <a:spcAft>
                <a:spcPts val="800"/>
              </a:spcAft>
              <a:buNone/>
            </a:pPr>
            <a:r>
              <a:rPr lang="en-US" sz="1600" dirty="0">
                <a:solidFill>
                  <a:srgbClr val="4B5563"/>
                </a:solidFill>
              </a:rPr>
              <a:t> 음식 데이터 공급처 비교 및 샘플 응답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2.3.2</a:t>
            </a:r>
            <a:pPr indent="0" marL="0">
              <a:spcAft>
                <a:spcPts val="800"/>
              </a:spcAft>
              <a:buNone/>
            </a:pPr>
            <a:r>
              <a:rPr lang="en-US" sz="1600" dirty="0">
                <a:solidFill>
                  <a:srgbClr val="4B5563"/>
                </a:solidFill>
              </a:rPr>
              <a:t> 데이터 사용권·재표시·캐시·비용·검색어 처리 조건 확인</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2.0 요구사항 및 검증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2.3.3</a:t>
            </a:r>
            <a:pPr indent="0" marL="0">
              <a:spcAft>
                <a:spcPts val="800"/>
              </a:spcAft>
              <a:buNone/>
            </a:pPr>
            <a:r>
              <a:rPr lang="en-US" sz="1600" dirty="0">
                <a:solidFill>
                  <a:srgbClr val="4B5563"/>
                </a:solidFill>
              </a:rPr>
              <a:t> 이메일·Apple·Google·게스트 인증 방식 비교</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2.3.4</a:t>
            </a:r>
            <a:pPr indent="0" marL="0">
              <a:spcAft>
                <a:spcPts val="800"/>
              </a:spcAft>
              <a:buNone/>
            </a:pPr>
            <a:r>
              <a:rPr lang="en-US" sz="1600" dirty="0">
                <a:solidFill>
                  <a:srgbClr val="4B5563"/>
                </a:solidFill>
              </a:rPr>
              <a:t> 개인정보 데이터 흐름과 외부 위탁 대상 정리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2.3.5</a:t>
            </a:r>
            <a:pPr indent="0" marL="0">
              <a:spcAft>
                <a:spcPts val="800"/>
              </a:spcAft>
              <a:buNone/>
            </a:pPr>
            <a:r>
              <a:rPr lang="en-US" sz="1600" dirty="0">
                <a:solidFill>
                  <a:srgbClr val="4B5563"/>
                </a:solidFill>
              </a:rPr>
              <a:t> 전문가·법무 의견 및 목표 안전 기준 확인</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2.4 문서화·검토</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2.4.1</a:t>
            </a:r>
            <a:pPr indent="0" marL="0">
              <a:spcAft>
                <a:spcPts val="800"/>
              </a:spcAft>
              <a:buNone/>
            </a:pPr>
            <a:r>
              <a:rPr lang="en-US" sz="1600" dirty="0">
                <a:solidFill>
                  <a:srgbClr val="4B5563"/>
                </a:solidFill>
              </a:rPr>
              <a:t> 요구사항·사용자 흐름 문서 작성</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2.4.2</a:t>
            </a:r>
            <a:pPr indent="0" marL="0">
              <a:spcAft>
                <a:spcPts val="800"/>
              </a:spcAft>
              <a:buNone/>
            </a:pPr>
            <a:r>
              <a:rPr lang="en-US" sz="1600" dirty="0">
                <a:solidFill>
                  <a:srgbClr val="4B5563"/>
                </a:solidFill>
              </a:rPr>
              <a:t> 완료 기준·예외 상태·분석 이벤트 정의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2.4.3</a:t>
            </a:r>
            <a:pPr indent="0" marL="0">
              <a:spcAft>
                <a:spcPts val="800"/>
              </a:spcAft>
              <a:buNone/>
            </a:pPr>
            <a:r>
              <a:rPr lang="en-US" sz="1600" dirty="0">
                <a:solidFill>
                  <a:srgbClr val="4B5563"/>
                </a:solidFill>
              </a:rPr>
              <a:t> 이해관계자 검토 및 결정 반영</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2.0 요구사항 및 검증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2.4.4</a:t>
            </a:r>
            <a:pPr indent="0" marL="0">
              <a:spcAft>
                <a:spcPts val="800"/>
              </a:spcAft>
              <a:buNone/>
            </a:pPr>
            <a:r>
              <a:rPr lang="en-US" sz="1600" dirty="0">
                <a:solidFill>
                  <a:srgbClr val="4B5563"/>
                </a:solidFill>
              </a:rPr>
              <a:t> 1주 차 체크포인트와 2주 차 범위 동결</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3.0 디자인 및 기술 설계 (1/5)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3.1 사용자 경험·화면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3.1.1</a:t>
            </a:r>
            <a:pPr indent="0" marL="0">
              <a:spcAft>
                <a:spcPts val="800"/>
              </a:spcAft>
              <a:buNone/>
            </a:pPr>
            <a:r>
              <a:rPr lang="en-US" sz="1600" dirty="0">
                <a:solidFill>
                  <a:srgbClr val="4B5563"/>
                </a:solidFill>
              </a:rPr>
              <a:t> 핵심 사용자 흐름·화면 목록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3.1.2</a:t>
            </a:r>
            <a:pPr indent="0" marL="0">
              <a:spcAft>
                <a:spcPts val="800"/>
              </a:spcAft>
              <a:buNone/>
            </a:pPr>
            <a:r>
              <a:rPr lang="en-US" sz="1600" dirty="0">
                <a:solidFill>
                  <a:srgbClr val="4B5563"/>
                </a:solidFill>
              </a:rPr>
              <a:t> 목표 없는 시작과 선택적 목표 화면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3.1.3</a:t>
            </a:r>
            <a:pPr indent="0" marL="0">
              <a:spcAft>
                <a:spcPts val="800"/>
              </a:spcAft>
              <a:buNone/>
            </a:pPr>
            <a:r>
              <a:rPr lang="en-US" sz="1600" dirty="0">
                <a:solidFill>
                  <a:srgbClr val="4B5563"/>
                </a:solidFill>
              </a:rPr>
              <a:t> 홈·음식 추가·검색·직접 입력 와이어프레임 작성</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3.1.4</a:t>
            </a:r>
            <a:pPr indent="0" marL="0">
              <a:spcAft>
                <a:spcPts val="800"/>
              </a:spcAft>
              <a:buNone/>
            </a:pPr>
            <a:r>
              <a:rPr lang="en-US" sz="1600" dirty="0">
                <a:solidFill>
                  <a:srgbClr val="4B5563"/>
                </a:solidFill>
              </a:rPr>
              <a:t> 날짜별 기록·기록 편집·삭제 화면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3.1.5</a:t>
            </a:r>
            <a:pPr indent="0" marL="0">
              <a:spcAft>
                <a:spcPts val="800"/>
              </a:spcAft>
              <a:buNone/>
            </a:pPr>
            <a:r>
              <a:rPr lang="en-US" sz="1600" dirty="0">
                <a:solidFill>
                  <a:srgbClr val="4B5563"/>
                </a:solidFill>
              </a:rPr>
              <a:t> 주간 리포트·알림·개인정보·계정 삭제 화면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3.1.6</a:t>
            </a:r>
            <a:pPr indent="0" marL="0">
              <a:spcAft>
                <a:spcPts val="800"/>
              </a:spcAft>
              <a:buNone/>
            </a:pPr>
            <a:r>
              <a:rPr lang="en-US" sz="1600" dirty="0">
                <a:solidFill>
                  <a:srgbClr val="4B5563"/>
                </a:solidFill>
              </a:rPr>
              <a:t> 검색 없음·API 오류·저장 실패·권한 거부 상태 설계</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3.0 디자인 및 기술 설계 (2/5)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3.1.7</a:t>
            </a:r>
            <a:pPr indent="0" marL="0">
              <a:spcAft>
                <a:spcPts val="800"/>
              </a:spcAft>
              <a:buNone/>
            </a:pPr>
            <a:r>
              <a:rPr lang="en-US" sz="1600" dirty="0">
                <a:solidFill>
                  <a:srgbClr val="4B5563"/>
                </a:solidFill>
              </a:rPr>
              <a:t> 사진 첨부 화면의 조건부 설계 및 범위 확정</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3.2 디자인 시스템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3.2.1</a:t>
            </a:r>
            <a:pPr indent="0" marL="0">
              <a:spcAft>
                <a:spcPts val="800"/>
              </a:spcAft>
              <a:buNone/>
            </a:pPr>
            <a:r>
              <a:rPr lang="en-US" sz="1600" dirty="0">
                <a:solidFill>
                  <a:srgbClr val="4B5563"/>
                </a:solidFill>
              </a:rPr>
              <a:t> 색상·글자·간격·상태 표시 규칙 정의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3.2.2</a:t>
            </a:r>
            <a:pPr indent="0" marL="0">
              <a:spcAft>
                <a:spcPts val="800"/>
              </a:spcAft>
              <a:buNone/>
            </a:pPr>
            <a:r>
              <a:rPr lang="en-US" sz="1600" dirty="0">
                <a:solidFill>
                  <a:srgbClr val="4B5563"/>
                </a:solidFill>
              </a:rPr>
              <a:t> 입력창·버튼·카드·목록·빈 상태 공통 요소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3.2.3</a:t>
            </a:r>
            <a:pPr indent="0" marL="0">
              <a:spcAft>
                <a:spcPts val="800"/>
              </a:spcAft>
              <a:buNone/>
            </a:pPr>
            <a:r>
              <a:rPr lang="en-US" sz="1600" dirty="0">
                <a:solidFill>
                  <a:srgbClr val="4B5563"/>
                </a:solidFill>
              </a:rPr>
              <a:t> 접근성 기본 기준과 시스템 글자 크기 대응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3.2.4</a:t>
            </a:r>
            <a:pPr indent="0" marL="0">
              <a:spcAft>
                <a:spcPts val="800"/>
              </a:spcAft>
              <a:buNone/>
            </a:pPr>
            <a:r>
              <a:rPr lang="en-US" sz="1600" dirty="0">
                <a:solidFill>
                  <a:srgbClr val="4B5563"/>
                </a:solidFill>
              </a:rPr>
              <a:t> 개발용 공통 컴포넌트·가이드 전달</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3.3 응용 구조·데이터 설계</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3.0 디자인 및 기술 설계 (3/5)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3.3.1</a:t>
            </a:r>
            <a:pPr indent="0" marL="0">
              <a:spcAft>
                <a:spcPts val="800"/>
              </a:spcAft>
              <a:buNone/>
            </a:pPr>
            <a:r>
              <a:rPr lang="en-US" sz="1600" dirty="0">
                <a:solidFill>
                  <a:srgbClr val="4B5563"/>
                </a:solidFill>
              </a:rPr>
              <a:t> 앱·서버·외부 공급자 연동 구조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3.3.2</a:t>
            </a:r>
            <a:pPr indent="0" marL="0">
              <a:spcAft>
                <a:spcPts val="800"/>
              </a:spcAft>
              <a:buNone/>
            </a:pPr>
            <a:r>
              <a:rPr lang="en-US" sz="1600" dirty="0">
                <a:solidFill>
                  <a:srgbClr val="4B5563"/>
                </a:solidFill>
              </a:rPr>
              <a:t> 사용자·프로필·목표 이력 데이터 구조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3.3.3</a:t>
            </a:r>
            <a:pPr indent="0" marL="0">
              <a:spcAft>
                <a:spcPts val="800"/>
              </a:spcAft>
              <a:buNone/>
            </a:pPr>
            <a:r>
              <a:rPr lang="en-US" sz="1600" dirty="0">
                <a:solidFill>
                  <a:srgbClr val="4B5563"/>
                </a:solidFill>
              </a:rPr>
              <a:t> 음식·식사·식사 음식 항목 스냅샷 구조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3.3.4</a:t>
            </a:r>
            <a:pPr indent="0" marL="0">
              <a:spcAft>
                <a:spcPts val="800"/>
              </a:spcAft>
              <a:buNone/>
            </a:pPr>
            <a:r>
              <a:rPr lang="en-US" sz="1600" dirty="0">
                <a:solidFill>
                  <a:srgbClr val="4B5563"/>
                </a:solidFill>
              </a:rPr>
              <a:t> UTC 시각·현지 날짜·사용자 시간대 처리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3.3.5</a:t>
            </a:r>
            <a:pPr indent="0" marL="0">
              <a:spcAft>
                <a:spcPts val="800"/>
              </a:spcAft>
              <a:buNone/>
            </a:pPr>
            <a:r>
              <a:rPr lang="en-US" sz="1600" dirty="0">
                <a:solidFill>
                  <a:srgbClr val="4B5563"/>
                </a:solidFill>
              </a:rPr>
              <a:t> 알림 설정·동의 이력·삭제 요청 구조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3.3.6</a:t>
            </a:r>
            <a:pPr indent="0" marL="0">
              <a:spcAft>
                <a:spcPts val="800"/>
              </a:spcAft>
              <a:buNone/>
            </a:pPr>
            <a:r>
              <a:rPr lang="en-US" sz="1600" dirty="0">
                <a:solidFill>
                  <a:srgbClr val="4B5563"/>
                </a:solidFill>
              </a:rPr>
              <a:t> 사진 첨부 승인 시 저장소 키·삭제 연결 구조 설계</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3.4 API·보안·개인정보 설계</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3.0 디자인 및 기술 설계 (4/5)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3.4.1</a:t>
            </a:r>
            <a:pPr indent="0" marL="0">
              <a:spcAft>
                <a:spcPts val="800"/>
              </a:spcAft>
              <a:buNone/>
            </a:pPr>
            <a:r>
              <a:rPr lang="en-US" sz="1600" dirty="0">
                <a:solidFill>
                  <a:srgbClr val="4B5563"/>
                </a:solidFill>
              </a:rPr>
              <a:t> 인증·사용자 소유권 확인 방식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3.4.2</a:t>
            </a:r>
            <a:pPr indent="0" marL="0">
              <a:spcAft>
                <a:spcPts val="800"/>
              </a:spcAft>
              <a:buNone/>
            </a:pPr>
            <a:r>
              <a:rPr lang="en-US" sz="1600" dirty="0">
                <a:solidFill>
                  <a:srgbClr val="4B5563"/>
                </a:solidFill>
              </a:rPr>
              <a:t> 음식 검색·기록·리포트 API 계약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3.4.3</a:t>
            </a:r>
            <a:pPr indent="0" marL="0">
              <a:spcAft>
                <a:spcPts val="800"/>
              </a:spcAft>
              <a:buNone/>
            </a:pPr>
            <a:r>
              <a:rPr lang="en-US" sz="1600" dirty="0">
                <a:solidFill>
                  <a:srgbClr val="4B5563"/>
                </a:solidFill>
              </a:rPr>
              <a:t> 외부 API 공급자 어댑터·내부 표준 모델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3.4.4</a:t>
            </a:r>
            <a:pPr indent="0" marL="0">
              <a:spcAft>
                <a:spcPts val="800"/>
              </a:spcAft>
              <a:buNone/>
            </a:pPr>
            <a:r>
              <a:rPr lang="en-US" sz="1600" dirty="0">
                <a:solidFill>
                  <a:srgbClr val="4B5563"/>
                </a:solidFill>
              </a:rPr>
              <a:t> 요청 식별값 기반 중복 방지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3.4.5</a:t>
            </a:r>
            <a:pPr indent="0" marL="0">
              <a:spcAft>
                <a:spcPts val="800"/>
              </a:spcAft>
              <a:buNone/>
            </a:pPr>
            <a:r>
              <a:rPr lang="en-US" sz="1600" dirty="0">
                <a:solidFill>
                  <a:srgbClr val="4B5563"/>
                </a:solidFill>
              </a:rPr>
              <a:t> 개인정보 최소화·로그 제외·삭제 흐름 설계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3.4.6</a:t>
            </a:r>
            <a:pPr indent="0" marL="0">
              <a:spcAft>
                <a:spcPts val="800"/>
              </a:spcAft>
              <a:buNone/>
            </a:pPr>
            <a:r>
              <a:rPr lang="en-US" sz="1600" dirty="0">
                <a:solidFill>
                  <a:srgbClr val="4B5563"/>
                </a:solidFill>
              </a:rPr>
              <a:t> 외부 처리 위탁·국외 처리·보유 기간 검토</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3.5 기술 검증</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3.0 디자인 및 기술 설계 (5/5)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3.5.1</a:t>
            </a:r>
            <a:pPr indent="0" marL="0">
              <a:spcAft>
                <a:spcPts val="800"/>
              </a:spcAft>
              <a:buNone/>
            </a:pPr>
            <a:r>
              <a:rPr lang="en-US" sz="1600" dirty="0">
                <a:solidFill>
                  <a:srgbClr val="4B5563"/>
                </a:solidFill>
              </a:rPr>
              <a:t> 음식 데이터 검색·국내 커버리지 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3.5.2</a:t>
            </a:r>
            <a:pPr indent="0" marL="0">
              <a:spcAft>
                <a:spcPts val="800"/>
              </a:spcAft>
              <a:buNone/>
            </a:pPr>
            <a:r>
              <a:rPr lang="en-US" sz="1600" dirty="0">
                <a:solidFill>
                  <a:srgbClr val="4B5563"/>
                </a:solidFill>
              </a:rPr>
              <a:t> 인증 모듈·앱 빌드·배포 구조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3.5.3</a:t>
            </a:r>
            <a:pPr indent="0" marL="0">
              <a:spcAft>
                <a:spcPts val="800"/>
              </a:spcAft>
              <a:buNone/>
            </a:pPr>
            <a:r>
              <a:rPr lang="en-US" sz="1600" dirty="0">
                <a:solidFill>
                  <a:srgbClr val="4B5563"/>
                </a:solidFill>
              </a:rPr>
              <a:t> 사진 자동 인식 기술 가능성 검증만 수행</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3.5.4</a:t>
            </a:r>
            <a:pPr indent="0" marL="0">
              <a:spcAft>
                <a:spcPts val="800"/>
              </a:spcAft>
              <a:buNone/>
            </a:pPr>
            <a:r>
              <a:rPr lang="en-US" sz="1600" dirty="0">
                <a:solidFill>
                  <a:srgbClr val="4B5563"/>
                </a:solidFill>
              </a:rPr>
              <a:t> 임시 식품 자료 사용 시 대체 개발 계획 수립</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4.0 모바일 앱 개발 (1/6)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4.1 앱 기반 및 개발 환경</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4.1.1</a:t>
            </a:r>
            <a:pPr indent="0" marL="0">
              <a:spcAft>
                <a:spcPts val="800"/>
              </a:spcAft>
              <a:buNone/>
            </a:pPr>
            <a:r>
              <a:rPr lang="en-US" sz="1600" dirty="0">
                <a:solidFill>
                  <a:srgbClr val="4B5563"/>
                </a:solidFill>
              </a:rPr>
              <a:t> React Native 앱 초기화</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4.1.2</a:t>
            </a:r>
            <a:pPr indent="0" marL="0">
              <a:spcAft>
                <a:spcPts val="800"/>
              </a:spcAft>
              <a:buNone/>
            </a:pPr>
            <a:r>
              <a:rPr lang="en-US" sz="1600" dirty="0">
                <a:solidFill>
                  <a:srgbClr val="4B5563"/>
                </a:solidFill>
              </a:rPr>
              <a:t> iOS·안드로이드 빌드 환경 구성</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4.1.3</a:t>
            </a:r>
            <a:pPr indent="0" marL="0">
              <a:spcAft>
                <a:spcPts val="800"/>
              </a:spcAft>
              <a:buNone/>
            </a:pPr>
            <a:r>
              <a:rPr lang="en-US" sz="1600" dirty="0">
                <a:solidFill>
                  <a:srgbClr val="4B5563"/>
                </a:solidFill>
              </a:rPr>
              <a:t> 앱 서명·스토어 권한·배포 절차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4.1.4</a:t>
            </a:r>
            <a:pPr indent="0" marL="0">
              <a:spcAft>
                <a:spcPts val="800"/>
              </a:spcAft>
              <a:buNone/>
            </a:pPr>
            <a:r>
              <a:rPr lang="en-US" sz="1600" dirty="0">
                <a:solidFill>
                  <a:srgbClr val="4B5563"/>
                </a:solidFill>
              </a:rPr>
              <a:t> 공통 화면·환경 설정 구조 구축</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4.2 공통 구성 요소</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4.2.1</a:t>
            </a:r>
            <a:pPr indent="0" marL="0">
              <a:spcAft>
                <a:spcPts val="800"/>
              </a:spcAft>
              <a:buNone/>
            </a:pPr>
            <a:r>
              <a:rPr lang="en-US" sz="1600" dirty="0">
                <a:solidFill>
                  <a:srgbClr val="4B5563"/>
                </a:solidFill>
              </a:rPr>
              <a:t> 공통 입력·버튼·카드·목록 요소 개발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4.0 모바일 앱 개발 (2/6)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4.2.2</a:t>
            </a:r>
            <a:pPr indent="0" marL="0">
              <a:spcAft>
                <a:spcPts val="800"/>
              </a:spcAft>
              <a:buNone/>
            </a:pPr>
            <a:r>
              <a:rPr lang="en-US" sz="1600" dirty="0">
                <a:solidFill>
                  <a:srgbClr val="4B5563"/>
                </a:solidFill>
              </a:rPr>
              <a:t> 저장 중·완료·실패 상태 요소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4.2.3</a:t>
            </a:r>
            <a:pPr indent="0" marL="0">
              <a:spcAft>
                <a:spcPts val="800"/>
              </a:spcAft>
              <a:buNone/>
            </a:pPr>
            <a:r>
              <a:rPr lang="en-US" sz="1600" dirty="0">
                <a:solidFill>
                  <a:srgbClr val="4B5563"/>
                </a:solidFill>
              </a:rPr>
              <a:t> 검색 진행·빈 결과·오류 상태 요소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4.2.4</a:t>
            </a:r>
            <a:pPr indent="0" marL="0">
              <a:spcAft>
                <a:spcPts val="800"/>
              </a:spcAft>
              <a:buNone/>
            </a:pPr>
            <a:r>
              <a:rPr lang="en-US" sz="1600" dirty="0">
                <a:solidFill>
                  <a:srgbClr val="4B5563"/>
                </a:solidFill>
              </a:rPr>
              <a:t> 접근성 이름·시스템 글자 크기 대응</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4.3 인증·온보딩·설정 화면</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4.3.1</a:t>
            </a:r>
            <a:pPr indent="0" marL="0">
              <a:spcAft>
                <a:spcPts val="800"/>
              </a:spcAft>
              <a:buNone/>
            </a:pPr>
            <a:r>
              <a:rPr lang="en-US" sz="1600" dirty="0">
                <a:solidFill>
                  <a:srgbClr val="4B5563"/>
                </a:solidFill>
              </a:rPr>
              <a:t> 확정된 인증 제공자 로그인 화면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4.3.2</a:t>
            </a:r>
            <a:pPr indent="0" marL="0">
              <a:spcAft>
                <a:spcPts val="800"/>
              </a:spcAft>
              <a:buNone/>
            </a:pPr>
            <a:r>
              <a:rPr lang="en-US" sz="1600" dirty="0">
                <a:solidFill>
                  <a:srgbClr val="4B5563"/>
                </a:solidFill>
              </a:rPr>
              <a:t> 온보딩과 목표 없이 시작 흐름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4.3.3</a:t>
            </a:r>
            <a:pPr indent="0" marL="0">
              <a:spcAft>
                <a:spcPts val="800"/>
              </a:spcAft>
              <a:buNone/>
            </a:pPr>
            <a:r>
              <a:rPr lang="en-US" sz="1600" dirty="0">
                <a:solidFill>
                  <a:srgbClr val="4B5563"/>
                </a:solidFill>
              </a:rPr>
              <a:t> 선택적 프로필·목표 설정 화면 개발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4.0 모바일 앱 개발 (3/6)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4.3.4</a:t>
            </a:r>
            <a:pPr indent="0" marL="0">
              <a:spcAft>
                <a:spcPts val="800"/>
              </a:spcAft>
              <a:buNone/>
            </a:pPr>
            <a:r>
              <a:rPr lang="en-US" sz="1600" dirty="0">
                <a:solidFill>
                  <a:srgbClr val="4B5563"/>
                </a:solidFill>
              </a:rPr>
              <a:t> 개인정보·동의·알림 설정 화면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4.3.5</a:t>
            </a:r>
            <a:pPr indent="0" marL="0">
              <a:spcAft>
                <a:spcPts val="800"/>
              </a:spcAft>
              <a:buNone/>
            </a:pPr>
            <a:r>
              <a:rPr lang="en-US" sz="1600" dirty="0">
                <a:solidFill>
                  <a:srgbClr val="4B5563"/>
                </a:solidFill>
              </a:rPr>
              <a:t> 계정 삭제 요청 화면 개발</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4.4 음식 탐색·입력 화면</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4.4.1</a:t>
            </a:r>
            <a:pPr indent="0" marL="0">
              <a:spcAft>
                <a:spcPts val="800"/>
              </a:spcAft>
              <a:buNone/>
            </a:pPr>
            <a:r>
              <a:rPr lang="en-US" sz="1600" dirty="0">
                <a:solidFill>
                  <a:srgbClr val="4B5563"/>
                </a:solidFill>
              </a:rPr>
              <a:t> 음식 추가 화면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4.4.2</a:t>
            </a:r>
            <a:pPr indent="0" marL="0">
              <a:spcAft>
                <a:spcPts val="800"/>
              </a:spcAft>
              <a:buNone/>
            </a:pPr>
            <a:r>
              <a:rPr lang="en-US" sz="1600" dirty="0">
                <a:solidFill>
                  <a:srgbClr val="4B5563"/>
                </a:solidFill>
              </a:rPr>
              <a:t> 음식 검색·결과·출처 표시 화면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4.4.3</a:t>
            </a:r>
            <a:pPr indent="0" marL="0">
              <a:spcAft>
                <a:spcPts val="800"/>
              </a:spcAft>
              <a:buNone/>
            </a:pPr>
            <a:r>
              <a:rPr lang="en-US" sz="1600" dirty="0">
                <a:solidFill>
                  <a:srgbClr val="4B5563"/>
                </a:solidFill>
              </a:rPr>
              <a:t> 최근 기록·즐겨찾기 화면 및 동작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4.4.4</a:t>
            </a:r>
            <a:pPr indent="0" marL="0">
              <a:spcAft>
                <a:spcPts val="800"/>
              </a:spcAft>
              <a:buNone/>
            </a:pPr>
            <a:r>
              <a:rPr lang="en-US" sz="1600" dirty="0">
                <a:solidFill>
                  <a:srgbClr val="4B5563"/>
                </a:solidFill>
              </a:rPr>
              <a:t> 음식 상세·기준 제공량·양 배수 조절 개발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4.0 모바일 앱 개발 (4/6)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4.4.5</a:t>
            </a:r>
            <a:pPr indent="0" marL="0">
              <a:spcAft>
                <a:spcPts val="800"/>
              </a:spcAft>
              <a:buNone/>
            </a:pPr>
            <a:r>
              <a:rPr lang="en-US" sz="1600" dirty="0">
                <a:solidFill>
                  <a:srgbClr val="4B5563"/>
                </a:solidFill>
              </a:rPr>
              <a:t> 직접 음식 입력·영양 정보 선택 입력 개발</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4.5 기록·홈 화면</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4.5.1</a:t>
            </a:r>
            <a:pPr indent="0" marL="0">
              <a:spcAft>
                <a:spcPts val="800"/>
              </a:spcAft>
              <a:buNone/>
            </a:pPr>
            <a:r>
              <a:rPr lang="en-US" sz="1600" dirty="0">
                <a:solidFill>
                  <a:srgbClr val="4B5563"/>
                </a:solidFill>
              </a:rPr>
              <a:t> 오늘 홈·기록 상태 화면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4.5.2</a:t>
            </a:r>
            <a:pPr indent="0" marL="0">
              <a:spcAft>
                <a:spcPts val="800"/>
              </a:spcAft>
              <a:buNone/>
            </a:pPr>
            <a:r>
              <a:rPr lang="en-US" sz="1600" dirty="0">
                <a:solidFill>
                  <a:srgbClr val="4B5563"/>
                </a:solidFill>
              </a:rPr>
              <a:t> 식사 구분별 여러 항목·합계 표시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4.5.3</a:t>
            </a:r>
            <a:pPr indent="0" marL="0">
              <a:spcAft>
                <a:spcPts val="800"/>
              </a:spcAft>
              <a:buNone/>
            </a:pPr>
            <a:r>
              <a:rPr lang="en-US" sz="1600" dirty="0">
                <a:solidFill>
                  <a:srgbClr val="4B5563"/>
                </a:solidFill>
              </a:rPr>
              <a:t> 날짜별 기록 조회·날짜 선택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4.5.4</a:t>
            </a:r>
            <a:pPr indent="0" marL="0">
              <a:spcAft>
                <a:spcPts val="800"/>
              </a:spcAft>
              <a:buNone/>
            </a:pPr>
            <a:r>
              <a:rPr lang="en-US" sz="1600" dirty="0">
                <a:solidFill>
                  <a:srgbClr val="4B5563"/>
                </a:solidFill>
              </a:rPr>
              <a:t> 기록 상세·수정·개별 삭제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4.5.5</a:t>
            </a:r>
            <a:pPr indent="0" marL="0">
              <a:spcAft>
                <a:spcPts val="800"/>
              </a:spcAft>
              <a:buNone/>
            </a:pPr>
            <a:r>
              <a:rPr lang="en-US" sz="1600" dirty="0">
                <a:solidFill>
                  <a:srgbClr val="4B5563"/>
                </a:solidFill>
              </a:rPr>
              <a:t> 입력 임시 보존·재시도·저장 상태 표시 개발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4.0 모바일 앱 개발 (5/6)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4.6 리포트·알림 화면</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4.6.1</a:t>
            </a:r>
            <a:pPr indent="0" marL="0">
              <a:spcAft>
                <a:spcPts val="800"/>
              </a:spcAft>
              <a:buNone/>
            </a:pPr>
            <a:r>
              <a:rPr lang="en-US" sz="1600" dirty="0">
                <a:solidFill>
                  <a:srgbClr val="4B5563"/>
                </a:solidFill>
              </a:rPr>
              <a:t> 완료된 지난주 리포트 화면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4.6.2</a:t>
            </a:r>
            <a:pPr indent="0" marL="0">
              <a:spcAft>
                <a:spcPts val="800"/>
              </a:spcAft>
              <a:buNone/>
            </a:pPr>
            <a:r>
              <a:rPr lang="en-US" sz="1600" dirty="0">
                <a:solidFill>
                  <a:srgbClr val="4B5563"/>
                </a:solidFill>
              </a:rPr>
              <a:t> 기록 일수·기록한 날 평균·끼니 패턴 표시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4.6.3</a:t>
            </a:r>
            <a:pPr indent="0" marL="0">
              <a:spcAft>
                <a:spcPts val="800"/>
              </a:spcAft>
              <a:buNone/>
            </a:pPr>
            <a:r>
              <a:rPr lang="en-US" sz="1600" dirty="0">
                <a:solidFill>
                  <a:srgbClr val="4B5563"/>
                </a:solidFill>
              </a:rPr>
              <a:t> 목표가 있는 경우에만 목표 비교 표시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4.6.4</a:t>
            </a:r>
            <a:pPr indent="0" marL="0">
              <a:spcAft>
                <a:spcPts val="800"/>
              </a:spcAft>
              <a:buNone/>
            </a:pPr>
            <a:r>
              <a:rPr lang="en-US" sz="1600" dirty="0">
                <a:solidFill>
                  <a:srgbClr val="4B5563"/>
                </a:solidFill>
              </a:rPr>
              <a:t> 선택형 기록 알림·시간 설정·권한 상태 표시</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4.7 조건부 사진 첨부</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4.7.1</a:t>
            </a:r>
            <a:pPr indent="0" marL="0">
              <a:spcAft>
                <a:spcPts val="800"/>
              </a:spcAft>
              <a:buNone/>
            </a:pPr>
            <a:r>
              <a:rPr lang="en-US" sz="1600" dirty="0">
                <a:solidFill>
                  <a:srgbClr val="4B5563"/>
                </a:solidFill>
              </a:rPr>
              <a:t> 최종 범위 승인 및 저장·삭제 정책 확인</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4.0 모바일 앱 개발 (6/6)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4.7.2</a:t>
            </a:r>
            <a:pPr indent="0" marL="0">
              <a:spcAft>
                <a:spcPts val="800"/>
              </a:spcAft>
              <a:buNone/>
            </a:pPr>
            <a:r>
              <a:rPr lang="en-US" sz="1600" dirty="0">
                <a:solidFill>
                  <a:srgbClr val="4B5563"/>
                </a:solidFill>
              </a:rPr>
              <a:t> 식사 저장 후 사진 한 장 선택·업로드 흐름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4.7.3</a:t>
            </a:r>
            <a:pPr indent="0" marL="0">
              <a:spcAft>
                <a:spcPts val="800"/>
              </a:spcAft>
              <a:buNone/>
            </a:pPr>
            <a:r>
              <a:rPr lang="en-US" sz="1600" dirty="0">
                <a:solidFill>
                  <a:srgbClr val="4B5563"/>
                </a:solidFill>
              </a:rPr>
              <a:t> 업로드 실패·재시도·사진 삭제 처리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4.7.4</a:t>
            </a:r>
            <a:pPr indent="0" marL="0">
              <a:spcAft>
                <a:spcPts val="800"/>
              </a:spcAft>
              <a:buNone/>
            </a:pPr>
            <a:r>
              <a:rPr lang="en-US" sz="1600" dirty="0">
                <a:solidFill>
                  <a:srgbClr val="4B5563"/>
                </a:solidFill>
              </a:rPr>
              <a:t> 사진 보기 화면 개발</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4.8 앱 측 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4.8.1</a:t>
            </a:r>
            <a:pPr indent="0" marL="0">
              <a:spcAft>
                <a:spcPts val="800"/>
              </a:spcAft>
              <a:buNone/>
            </a:pPr>
            <a:r>
              <a:rPr lang="en-US" sz="1600" dirty="0">
                <a:solidFill>
                  <a:srgbClr val="4B5563"/>
                </a:solidFill>
              </a:rPr>
              <a:t> 양 배수·영양값 결측·날짜 처리 단위 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4.8.2</a:t>
            </a:r>
            <a:pPr indent="0" marL="0">
              <a:spcAft>
                <a:spcPts val="800"/>
              </a:spcAft>
              <a:buNone/>
            </a:pPr>
            <a:r>
              <a:rPr lang="en-US" sz="1600" dirty="0">
                <a:solidFill>
                  <a:srgbClr val="4B5563"/>
                </a:solidFill>
              </a:rPr>
              <a:t> 화면·API 연결 통합 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4.8.3</a:t>
            </a:r>
            <a:pPr indent="0" marL="0">
              <a:spcAft>
                <a:spcPts val="800"/>
              </a:spcAft>
              <a:buNone/>
            </a:pPr>
            <a:r>
              <a:rPr lang="en-US" sz="1600" dirty="0">
                <a:solidFill>
                  <a:srgbClr val="4B5563"/>
                </a:solidFill>
              </a:rPr>
              <a:t> 핵심 경로 화면 자동화 시험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5.0 서버·데이터·인프라 개발 (1/6)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5.1 개발 환경·데이터 기반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5.1.1</a:t>
            </a:r>
            <a:pPr indent="0" marL="0">
              <a:spcAft>
                <a:spcPts val="800"/>
              </a:spcAft>
              <a:buNone/>
            </a:pPr>
            <a:r>
              <a:rPr lang="en-US" sz="1600" dirty="0">
                <a:solidFill>
                  <a:srgbClr val="4B5563"/>
                </a:solidFill>
              </a:rPr>
              <a:t> 서버 프로젝트 초기화</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5.1.2</a:t>
            </a:r>
            <a:pPr indent="0" marL="0">
              <a:spcAft>
                <a:spcPts val="800"/>
              </a:spcAft>
              <a:buNone/>
            </a:pPr>
            <a:r>
              <a:rPr lang="en-US" sz="1600" dirty="0">
                <a:solidFill>
                  <a:srgbClr val="4B5563"/>
                </a:solidFill>
              </a:rPr>
              <a:t> 개발·시험·실서비스 환경 구분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5.1.3</a:t>
            </a:r>
            <a:pPr indent="0" marL="0">
              <a:spcAft>
                <a:spcPts val="800"/>
              </a:spcAft>
              <a:buNone/>
            </a:pPr>
            <a:r>
              <a:rPr lang="en-US" sz="1600" dirty="0">
                <a:solidFill>
                  <a:srgbClr val="4B5563"/>
                </a:solidFill>
              </a:rPr>
              <a:t> 데이터베이스 구성 및 접근 권한 설정</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5.1.4</a:t>
            </a:r>
            <a:pPr indent="0" marL="0">
              <a:spcAft>
                <a:spcPts val="800"/>
              </a:spcAft>
              <a:buNone/>
            </a:pPr>
            <a:r>
              <a:rPr lang="en-US" sz="1600" dirty="0">
                <a:solidFill>
                  <a:srgbClr val="4B5563"/>
                </a:solidFill>
              </a:rPr>
              <a:t> 초기 자료 구조와 변경 이력 구성</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5.2 인증·사용자 API</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5.2.1</a:t>
            </a:r>
            <a:pPr indent="0" marL="0">
              <a:spcAft>
                <a:spcPts val="800"/>
              </a:spcAft>
              <a:buNone/>
            </a:pPr>
            <a:r>
              <a:rPr lang="en-US" sz="1600" dirty="0">
                <a:solidFill>
                  <a:srgbClr val="4B5563"/>
                </a:solidFill>
              </a:rPr>
              <a:t> 확정된 인증 제공자 연동</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5.0 서버·데이터·인프라 개발 (2/6)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5.2.2</a:t>
            </a:r>
            <a:pPr indent="0" marL="0">
              <a:spcAft>
                <a:spcPts val="800"/>
              </a:spcAft>
              <a:buNone/>
            </a:pPr>
            <a:r>
              <a:rPr lang="en-US" sz="1600" dirty="0">
                <a:solidFill>
                  <a:srgbClr val="4B5563"/>
                </a:solidFill>
              </a:rPr>
              <a:t> 사용자별 자료 소유권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5.2.3</a:t>
            </a:r>
            <a:pPr indent="0" marL="0">
              <a:spcAft>
                <a:spcPts val="800"/>
              </a:spcAft>
              <a:buNone/>
            </a:pPr>
            <a:r>
              <a:rPr lang="en-US" sz="1600" dirty="0">
                <a:solidFill>
                  <a:srgbClr val="4B5563"/>
                </a:solidFill>
              </a:rPr>
              <a:t> 프로필·목표 이력 조회·수정</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5.2.4</a:t>
            </a:r>
            <a:pPr indent="0" marL="0">
              <a:spcAft>
                <a:spcPts val="800"/>
              </a:spcAft>
              <a:buNone/>
            </a:pPr>
            <a:r>
              <a:rPr lang="en-US" sz="1600" dirty="0">
                <a:solidFill>
                  <a:srgbClr val="4B5563"/>
                </a:solidFill>
              </a:rPr>
              <a:t> 계정 삭제 요청·상태 관리</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5.3 음식·기록 API</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5.3.1</a:t>
            </a:r>
            <a:pPr indent="0" marL="0">
              <a:spcAft>
                <a:spcPts val="800"/>
              </a:spcAft>
              <a:buNone/>
            </a:pPr>
            <a:r>
              <a:rPr lang="en-US" sz="1600" dirty="0">
                <a:solidFill>
                  <a:srgbClr val="4B5563"/>
                </a:solidFill>
              </a:rPr>
              <a:t> 내부 표준 음식 모델과 공급자 어댑터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5.3.2</a:t>
            </a:r>
            <a:pPr indent="0" marL="0">
              <a:spcAft>
                <a:spcPts val="800"/>
              </a:spcAft>
              <a:buNone/>
            </a:pPr>
            <a:r>
              <a:rPr lang="en-US" sz="1600" dirty="0">
                <a:solidFill>
                  <a:srgbClr val="4B5563"/>
                </a:solidFill>
              </a:rPr>
              <a:t> 음식 검색·최근 기록·즐겨찾기 API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5.3.3</a:t>
            </a:r>
            <a:pPr indent="0" marL="0">
              <a:spcAft>
                <a:spcPts val="800"/>
              </a:spcAft>
              <a:buNone/>
            </a:pPr>
            <a:r>
              <a:rPr lang="en-US" sz="1600" dirty="0">
                <a:solidFill>
                  <a:srgbClr val="4B5563"/>
                </a:solidFill>
              </a:rPr>
              <a:t> 개인 음식 생성·조회와 사용자별 접근 제한 개발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5.0 서버·데이터·인프라 개발 (3/6)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5.3.4</a:t>
            </a:r>
            <a:pPr indent="0" marL="0">
              <a:spcAft>
                <a:spcPts val="800"/>
              </a:spcAft>
              <a:buNone/>
            </a:pPr>
            <a:r>
              <a:rPr lang="en-US" sz="1600" dirty="0">
                <a:solidFill>
                  <a:srgbClr val="4B5563"/>
                </a:solidFill>
              </a:rPr>
              <a:t> 식사 기록 생성·수정·삭제·날짜별 조회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5.3.5</a:t>
            </a:r>
            <a:pPr indent="0" marL="0">
              <a:spcAft>
                <a:spcPts val="800"/>
              </a:spcAft>
              <a:buNone/>
            </a:pPr>
            <a:r>
              <a:rPr lang="en-US" sz="1600" dirty="0">
                <a:solidFill>
                  <a:srgbClr val="4B5563"/>
                </a:solidFill>
              </a:rPr>
              <a:t> 기록 당시 음식명·영양값 스냅샷 처리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5.3.6</a:t>
            </a:r>
            <a:pPr indent="0" marL="0">
              <a:spcAft>
                <a:spcPts val="800"/>
              </a:spcAft>
              <a:buNone/>
            </a:pPr>
            <a:r>
              <a:rPr lang="en-US" sz="1600" dirty="0">
                <a:solidFill>
                  <a:srgbClr val="4B5563"/>
                </a:solidFill>
              </a:rPr>
              <a:t> 영양값 0과 미입력 구분 및 영양소별 집계 처리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5.3.7</a:t>
            </a:r>
            <a:pPr indent="0" marL="0">
              <a:spcAft>
                <a:spcPts val="800"/>
              </a:spcAft>
              <a:buNone/>
            </a:pPr>
            <a:r>
              <a:rPr lang="en-US" sz="1600" dirty="0">
                <a:solidFill>
                  <a:srgbClr val="4B5563"/>
                </a:solidFill>
              </a:rPr>
              <a:t> 요청 식별값 기반 중복 저장 방지 처리</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5.4 리포트·알림 API</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5.4.1</a:t>
            </a:r>
            <a:pPr indent="0" marL="0">
              <a:spcAft>
                <a:spcPts val="800"/>
              </a:spcAft>
              <a:buNone/>
            </a:pPr>
            <a:r>
              <a:rPr lang="en-US" sz="1600" dirty="0">
                <a:solidFill>
                  <a:srgbClr val="4B5563"/>
                </a:solidFill>
              </a:rPr>
              <a:t> 한국 시간 기준 완료 주간 집계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5.4.2</a:t>
            </a:r>
            <a:pPr indent="0" marL="0">
              <a:spcAft>
                <a:spcPts val="800"/>
              </a:spcAft>
              <a:buNone/>
            </a:pPr>
            <a:r>
              <a:rPr lang="en-US" sz="1600" dirty="0">
                <a:solidFill>
                  <a:srgbClr val="4B5563"/>
                </a:solidFill>
              </a:rPr>
              <a:t> 기록한 날 기준 평균과 결측 안내 처리</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5.0 서버·데이터·인프라 개발 (4/6)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5.4.3</a:t>
            </a:r>
            <a:pPr indent="0" marL="0">
              <a:spcAft>
                <a:spcPts val="800"/>
              </a:spcAft>
              <a:buNone/>
            </a:pPr>
            <a:r>
              <a:rPr lang="en-US" sz="1600" dirty="0">
                <a:solidFill>
                  <a:srgbClr val="4B5563"/>
                </a:solidFill>
              </a:rPr>
              <a:t> 목표 이력 적용 및 조건부 비교 처리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5.4.4</a:t>
            </a:r>
            <a:pPr indent="0" marL="0">
              <a:spcAft>
                <a:spcPts val="800"/>
              </a:spcAft>
              <a:buNone/>
            </a:pPr>
            <a:r>
              <a:rPr lang="en-US" sz="1600" dirty="0">
                <a:solidFill>
                  <a:srgbClr val="4B5563"/>
                </a:solidFill>
              </a:rPr>
              <a:t> 선택형 기록 알림 설정·발송 조건 개발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5.4.5</a:t>
            </a:r>
            <a:pPr indent="0" marL="0">
              <a:spcAft>
                <a:spcPts val="800"/>
              </a:spcAft>
              <a:buNone/>
            </a:pPr>
            <a:r>
              <a:rPr lang="en-US" sz="1600" dirty="0">
                <a:solidFill>
                  <a:srgbClr val="4B5563"/>
                </a:solidFill>
              </a:rPr>
              <a:t> 발송 직전 최신 설정·해당 날짜 기록 여부 확인</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5.5 보안·삭제·운영 기반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5.5.1</a:t>
            </a:r>
            <a:pPr indent="0" marL="0">
              <a:spcAft>
                <a:spcPts val="800"/>
              </a:spcAft>
              <a:buNone/>
            </a:pPr>
            <a:r>
              <a:rPr lang="en-US" sz="1600" dirty="0">
                <a:solidFill>
                  <a:srgbClr val="4B5563"/>
                </a:solidFill>
              </a:rPr>
              <a:t> 민감 정보 로그 제외 및 권한 제한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5.5.2</a:t>
            </a:r>
            <a:pPr indent="0" marL="0">
              <a:spcAft>
                <a:spcPts val="800"/>
              </a:spcAft>
              <a:buNone/>
            </a:pPr>
            <a:r>
              <a:rPr lang="en-US" sz="1600" dirty="0">
                <a:solidFill>
                  <a:srgbClr val="4B5563"/>
                </a:solidFill>
              </a:rPr>
              <a:t> 동의 이력·제품 분석 선택 상태 관리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5.5.3</a:t>
            </a:r>
            <a:pPr indent="0" marL="0">
              <a:spcAft>
                <a:spcPts val="800"/>
              </a:spcAft>
              <a:buNone/>
            </a:pPr>
            <a:r>
              <a:rPr lang="en-US" sz="1600" dirty="0">
                <a:solidFill>
                  <a:srgbClr val="4B5563"/>
                </a:solidFill>
              </a:rPr>
              <a:t> 계정 삭제와 연관 기록 삭제 처리</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5.0 서버·데이터·인프라 개발 (5/6)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5.5.4</a:t>
            </a:r>
            <a:pPr indent="0" marL="0">
              <a:spcAft>
                <a:spcPts val="800"/>
              </a:spcAft>
              <a:buNone/>
            </a:pPr>
            <a:r>
              <a:rPr lang="en-US" sz="1600" dirty="0">
                <a:solidFill>
                  <a:srgbClr val="4B5563"/>
                </a:solidFill>
              </a:rPr>
              <a:t> 자동 백업·백업 접근 권한·암호화 구성</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5.5.5</a:t>
            </a:r>
            <a:pPr indent="0" marL="0">
              <a:spcAft>
                <a:spcPts val="800"/>
              </a:spcAft>
              <a:buNone/>
            </a:pPr>
            <a:r>
              <a:rPr lang="en-US" sz="1600" dirty="0">
                <a:solidFill>
                  <a:srgbClr val="4B5563"/>
                </a:solidFill>
              </a:rPr>
              <a:t> 오류율·응답 시간·저장 실패율 감시 구성</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5.5.6</a:t>
            </a:r>
            <a:pPr indent="0" marL="0">
              <a:spcAft>
                <a:spcPts val="800"/>
              </a:spcAft>
              <a:buNone/>
            </a:pPr>
            <a:r>
              <a:rPr lang="en-US" sz="1600" dirty="0">
                <a:solidFill>
                  <a:srgbClr val="4B5563"/>
                </a:solidFill>
              </a:rPr>
              <a:t> 서버·외부 API 사용량과 비용 감시 방안 구성</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5.6 조건부 사진 저장</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5.6.1</a:t>
            </a:r>
            <a:pPr indent="0" marL="0">
              <a:spcAft>
                <a:spcPts val="800"/>
              </a:spcAft>
              <a:buNone/>
            </a:pPr>
            <a:r>
              <a:rPr lang="en-US" sz="1600" dirty="0">
                <a:solidFill>
                  <a:srgbClr val="4B5563"/>
                </a:solidFill>
              </a:rPr>
              <a:t> 사진 기능 최종 승인·저장 정책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5.6.2</a:t>
            </a:r>
            <a:pPr indent="0" marL="0">
              <a:spcAft>
                <a:spcPts val="800"/>
              </a:spcAft>
              <a:buNone/>
            </a:pPr>
            <a:r>
              <a:rPr lang="en-US" sz="1600" dirty="0">
                <a:solidFill>
                  <a:srgbClr val="4B5563"/>
                </a:solidFill>
              </a:rPr>
              <a:t> 별도 저장소·데이터베이스 파일 키 구성</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5.6.3</a:t>
            </a:r>
            <a:pPr indent="0" marL="0">
              <a:spcAft>
                <a:spcPts val="800"/>
              </a:spcAft>
              <a:buNone/>
            </a:pPr>
            <a:r>
              <a:rPr lang="en-US" sz="1600" dirty="0">
                <a:solidFill>
                  <a:srgbClr val="4B5563"/>
                </a:solidFill>
              </a:rPr>
              <a:t> 비공개 접근·EXIF 제거·삭제 연계 검토</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5.0 서버·데이터·인프라 개발 (6/6)</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5.6.4</a:t>
            </a:r>
            <a:pPr indent="0" marL="0">
              <a:spcAft>
                <a:spcPts val="800"/>
              </a:spcAft>
              <a:buNone/>
            </a:pPr>
            <a:r>
              <a:rPr lang="en-US" sz="1600" dirty="0">
                <a:solidFill>
                  <a:srgbClr val="4B5563"/>
                </a:solidFill>
              </a:rPr>
              <a:t> 사진 업로드·삭제 연결 처리 개발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6.0 시험·품질·베타 (1/5)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6.1 시험 계획·자료 준비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6.1.1</a:t>
            </a:r>
            <a:pPr indent="0" marL="0">
              <a:spcAft>
                <a:spcPts val="800"/>
              </a:spcAft>
              <a:buNone/>
            </a:pPr>
            <a:r>
              <a:rPr lang="en-US" sz="1600" dirty="0">
                <a:solidFill>
                  <a:srgbClr val="4B5563"/>
                </a:solidFill>
              </a:rPr>
              <a:t> 기능·기기·사용성·개인정보 시험 전략 수립</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6.1.2</a:t>
            </a:r>
            <a:pPr indent="0" marL="0">
              <a:spcAft>
                <a:spcPts val="800"/>
              </a:spcAft>
              <a:buNone/>
            </a:pPr>
            <a:r>
              <a:rPr lang="en-US" sz="1600" dirty="0">
                <a:solidFill>
                  <a:srgbClr val="4B5563"/>
                </a:solidFill>
              </a:rPr>
              <a:t> 검색 대표 메뉴 50개·브랜드 상품 20개 시험 자료 준비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6.1.3</a:t>
            </a:r>
            <a:pPr indent="0" marL="0">
              <a:spcAft>
                <a:spcPts val="800"/>
              </a:spcAft>
              <a:buNone/>
            </a:pPr>
            <a:r>
              <a:rPr lang="en-US" sz="1600" dirty="0">
                <a:solidFill>
                  <a:srgbClr val="4B5563"/>
                </a:solidFill>
              </a:rPr>
              <a:t> 프로토타입용 가상 식단 자료 준비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6.1.4</a:t>
            </a:r>
            <a:pPr indent="0" marL="0">
              <a:spcAft>
                <a:spcPts val="800"/>
              </a:spcAft>
              <a:buNone/>
            </a:pPr>
            <a:r>
              <a:rPr lang="en-US" sz="1600" dirty="0">
                <a:solidFill>
                  <a:srgbClr val="4B5563"/>
                </a:solidFill>
              </a:rPr>
              <a:t> 베타 동의·보관·삭제 안내 준비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6.1.5</a:t>
            </a:r>
            <a:pPr indent="0" marL="0">
              <a:spcAft>
                <a:spcPts val="800"/>
              </a:spcAft>
              <a:buNone/>
            </a:pPr>
            <a:r>
              <a:rPr lang="en-US" sz="1600" dirty="0">
                <a:solidFill>
                  <a:srgbClr val="4B5563"/>
                </a:solidFill>
              </a:rPr>
              <a:t> 시험 계정과 일반 분석 계정 분리 기준 마련</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6.2 개발자 시험·통합 검증</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6.0 시험·품질·베타 (2/5)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6.2.1</a:t>
            </a:r>
            <a:pPr indent="0" marL="0">
              <a:spcAft>
                <a:spcPts val="800"/>
              </a:spcAft>
              <a:buNone/>
            </a:pPr>
            <a:r>
              <a:rPr lang="en-US" sz="1600" dirty="0">
                <a:solidFill>
                  <a:srgbClr val="4B5563"/>
                </a:solidFill>
              </a:rPr>
              <a:t> 양 환산·날짜 변환·주간 집계 단위 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6.2.2</a:t>
            </a:r>
            <a:pPr indent="0" marL="0">
              <a:spcAft>
                <a:spcPts val="800"/>
              </a:spcAft>
              <a:buNone/>
            </a:pPr>
            <a:r>
              <a:rPr lang="en-US" sz="1600" dirty="0">
                <a:solidFill>
                  <a:srgbClr val="4B5563"/>
                </a:solidFill>
              </a:rPr>
              <a:t> 영양값 누락·식사 생성·수정·삭제 통합 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6.2.3</a:t>
            </a:r>
            <a:pPr indent="0" marL="0">
              <a:spcAft>
                <a:spcPts val="800"/>
              </a:spcAft>
              <a:buNone/>
            </a:pPr>
            <a:r>
              <a:rPr lang="en-US" sz="1600" dirty="0">
                <a:solidFill>
                  <a:srgbClr val="4B5563"/>
                </a:solidFill>
              </a:rPr>
              <a:t> 가입·푸시 토큰·계정 삭제 통합 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6.2.4</a:t>
            </a:r>
            <a:pPr indent="0" marL="0">
              <a:spcAft>
                <a:spcPts val="800"/>
              </a:spcAft>
              <a:buNone/>
            </a:pPr>
            <a:r>
              <a:rPr lang="en-US" sz="1600" dirty="0">
                <a:solidFill>
                  <a:srgbClr val="4B5563"/>
                </a:solidFill>
              </a:rPr>
              <a:t> 외부 검색 실패·직접 입력 대체 흐름 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6.2.5</a:t>
            </a:r>
            <a:pPr indent="0" marL="0">
              <a:spcAft>
                <a:spcPts val="800"/>
              </a:spcAft>
              <a:buNone/>
            </a:pPr>
            <a:r>
              <a:rPr lang="en-US" sz="1600" dirty="0">
                <a:solidFill>
                  <a:srgbClr val="4B5563"/>
                </a:solidFill>
              </a:rPr>
              <a:t> 저장 중단·중복 재시도·입력값 보존 시험</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6.3 기기·접근성·개인정보 검증</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6.3.1</a:t>
            </a:r>
            <a:pPr indent="0" marL="0">
              <a:spcAft>
                <a:spcPts val="800"/>
              </a:spcAft>
              <a:buNone/>
            </a:pPr>
            <a:r>
              <a:rPr lang="en-US" sz="1600" dirty="0">
                <a:solidFill>
                  <a:srgbClr val="4B5563"/>
                </a:solidFill>
              </a:rPr>
              <a:t> iOS·안드로이드 기기별 UI 시험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6.0 시험·품질·베타 (3/5)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6.3.2</a:t>
            </a:r>
            <a:pPr indent="0" marL="0">
              <a:spcAft>
                <a:spcPts val="800"/>
              </a:spcAft>
              <a:buNone/>
            </a:pPr>
            <a:r>
              <a:rPr lang="en-US" sz="1600" dirty="0">
                <a:solidFill>
                  <a:srgbClr val="4B5563"/>
                </a:solidFill>
              </a:rPr>
              <a:t> 지원 운영체제 범위 근거 확인 및 기기 시험 범위 확정</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6.3.3</a:t>
            </a:r>
            <a:pPr indent="0" marL="0">
              <a:spcAft>
                <a:spcPts val="800"/>
              </a:spcAft>
              <a:buNone/>
            </a:pPr>
            <a:r>
              <a:rPr lang="en-US" sz="1600" dirty="0">
                <a:solidFill>
                  <a:srgbClr val="4B5563"/>
                </a:solidFill>
              </a:rPr>
              <a:t> 시스템 글자 크기·색상 외 상태 구분·읽을 수 있는 이름 점검</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6.3.4</a:t>
            </a:r>
            <a:pPr indent="0" marL="0">
              <a:spcAft>
                <a:spcPts val="800"/>
              </a:spcAft>
              <a:buNone/>
            </a:pPr>
            <a:r>
              <a:rPr lang="en-US" sz="1600" dirty="0">
                <a:solidFill>
                  <a:srgbClr val="4B5563"/>
                </a:solidFill>
              </a:rPr>
              <a:t> 분석·오류 자료에 음식명·칼로리·체중이 없는지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6.3.5</a:t>
            </a:r>
            <a:pPr indent="0" marL="0">
              <a:spcAft>
                <a:spcPts val="800"/>
              </a:spcAft>
              <a:buNone/>
            </a:pPr>
            <a:r>
              <a:rPr lang="en-US" sz="1600" dirty="0">
                <a:solidFill>
                  <a:srgbClr val="4B5563"/>
                </a:solidFill>
              </a:rPr>
              <a:t> 데이터 삭제·권한 거부·개인정보 처리 흐름 확인</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6.4 사용자 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6.4.1</a:t>
            </a:r>
            <a:pPr indent="0" marL="0">
              <a:spcAft>
                <a:spcPts val="800"/>
              </a:spcAft>
              <a:buNone/>
            </a:pPr>
            <a:r>
              <a:rPr lang="en-US" sz="1600" dirty="0">
                <a:solidFill>
                  <a:srgbClr val="4B5563"/>
                </a:solidFill>
              </a:rPr>
              <a:t> 5~6명 프로토타입 사용성 시험 진행</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6.4.2</a:t>
            </a:r>
            <a:pPr indent="0" marL="0">
              <a:spcAft>
                <a:spcPts val="800"/>
              </a:spcAft>
              <a:buNone/>
            </a:pPr>
            <a:r>
              <a:rPr lang="en-US" sz="1600" dirty="0">
                <a:solidFill>
                  <a:srgbClr val="4B5563"/>
                </a:solidFill>
              </a:rPr>
              <a:t> 첫 기록 과정 관찰 및 입력 장벽 분석</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6.0 시험·품질·베타 (4/5)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6.4.3</a:t>
            </a:r>
            <a:pPr indent="0" marL="0">
              <a:spcAft>
                <a:spcPts val="800"/>
              </a:spcAft>
              <a:buNone/>
            </a:pPr>
            <a:r>
              <a:rPr lang="en-US" sz="1600" dirty="0">
                <a:solidFill>
                  <a:srgbClr val="4B5563"/>
                </a:solidFill>
              </a:rPr>
              <a:t> 사내·외부 베타 참여자 모집과 동의 처리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6.4.4</a:t>
            </a:r>
            <a:pPr indent="0" marL="0">
              <a:spcAft>
                <a:spcPts val="800"/>
              </a:spcAft>
              <a:buNone/>
            </a:pPr>
            <a:r>
              <a:rPr lang="en-US" sz="1600" dirty="0">
                <a:solidFill>
                  <a:srgbClr val="4B5563"/>
                </a:solidFill>
              </a:rPr>
              <a:t> 베타 사용·오류·리포트 이해도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6.4.5</a:t>
            </a:r>
            <a:pPr indent="0" marL="0">
              <a:spcAft>
                <a:spcPts val="800"/>
              </a:spcAft>
              <a:buNone/>
            </a:pPr>
            <a:r>
              <a:rPr lang="en-US" sz="1600" dirty="0">
                <a:solidFill>
                  <a:srgbClr val="4B5563"/>
                </a:solidFill>
              </a:rPr>
              <a:t> 정량 지표와 인터뷰·관찰 결과 종합</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6.5 결함 관리·재시험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6.5.1</a:t>
            </a:r>
            <a:pPr indent="0" marL="0">
              <a:spcAft>
                <a:spcPts val="800"/>
              </a:spcAft>
              <a:buNone/>
            </a:pPr>
            <a:r>
              <a:rPr lang="en-US" sz="1600" dirty="0">
                <a:solidFill>
                  <a:srgbClr val="4B5563"/>
                </a:solidFill>
              </a:rPr>
              <a:t> 결함 등록·심각도 분류</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6.5.2</a:t>
            </a:r>
            <a:pPr indent="0" marL="0">
              <a:spcAft>
                <a:spcPts val="800"/>
              </a:spcAft>
              <a:buNone/>
            </a:pPr>
            <a:r>
              <a:rPr lang="en-US" sz="1600" dirty="0">
                <a:solidFill>
                  <a:srgbClr val="4B5563"/>
                </a:solidFill>
              </a:rPr>
              <a:t> 치명적 데이터 유실·핵심 기록 결함 우선 수정</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6.5.3</a:t>
            </a:r>
            <a:pPr indent="0" marL="0">
              <a:spcAft>
                <a:spcPts val="800"/>
              </a:spcAft>
              <a:buNone/>
            </a:pPr>
            <a:r>
              <a:rPr lang="en-US" sz="1600" dirty="0">
                <a:solidFill>
                  <a:srgbClr val="4B5563"/>
                </a:solidFill>
              </a:rPr>
              <a:t> 수정 기능 재시험·회귀 시험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6.0 시험·품질·베타 (5/5)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6.5.4</a:t>
            </a:r>
            <a:pPr indent="0" marL="0">
              <a:spcAft>
                <a:spcPts val="800"/>
              </a:spcAft>
              <a:buNone/>
            </a:pPr>
            <a:r>
              <a:rPr lang="en-US" sz="1600" dirty="0">
                <a:solidFill>
                  <a:srgbClr val="4B5563"/>
                </a:solidFill>
              </a:rPr>
              <a:t> 후보 빌드 승인 자료 작성</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7.0 출시 준비·배포·운영 인계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7.1 시험용 배포·베타 준비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7.1.1</a:t>
            </a:r>
            <a:pPr indent="0" marL="0">
              <a:spcAft>
                <a:spcPts val="800"/>
              </a:spcAft>
              <a:buNone/>
            </a:pPr>
            <a:r>
              <a:rPr lang="en-US" sz="1600" dirty="0">
                <a:solidFill>
                  <a:srgbClr val="4B5563"/>
                </a:solidFill>
              </a:rPr>
              <a:t> 시험용 배포 환경과 앱 서명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7.1.2</a:t>
            </a:r>
            <a:pPr indent="0" marL="0">
              <a:spcAft>
                <a:spcPts val="800"/>
              </a:spcAft>
              <a:buNone/>
            </a:pPr>
            <a:r>
              <a:rPr lang="en-US" sz="1600" dirty="0">
                <a:solidFill>
                  <a:srgbClr val="4B5563"/>
                </a:solidFill>
              </a:rPr>
              <a:t> 7주 차 초반 베타 빌드 배포 목표</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7.1.3</a:t>
            </a:r>
            <a:pPr indent="0" marL="0">
              <a:spcAft>
                <a:spcPts val="800"/>
              </a:spcAft>
              <a:buNone/>
            </a:pPr>
            <a:r>
              <a:rPr lang="en-US" sz="1600" dirty="0">
                <a:solidFill>
                  <a:srgbClr val="4B5563"/>
                </a:solidFill>
              </a:rPr>
              <a:t> 베타 결과·결함 수정 범위 승인</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7.2 스토어 제출 준비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7.2.1</a:t>
            </a:r>
            <a:pPr indent="0" marL="0">
              <a:spcAft>
                <a:spcPts val="800"/>
              </a:spcAft>
              <a:buNone/>
            </a:pPr>
            <a:r>
              <a:rPr lang="en-US" sz="1600" dirty="0">
                <a:solidFill>
                  <a:srgbClr val="4B5563"/>
                </a:solidFill>
              </a:rPr>
              <a:t> 앱 등록 권한·서명·스토어 계정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7.2.2</a:t>
            </a:r>
            <a:pPr indent="0" marL="0">
              <a:spcAft>
                <a:spcPts val="800"/>
              </a:spcAft>
              <a:buNone/>
            </a:pPr>
            <a:r>
              <a:rPr lang="en-US" sz="1600" dirty="0">
                <a:solidFill>
                  <a:srgbClr val="4B5563"/>
                </a:solidFill>
              </a:rPr>
              <a:t> 소개 문구·화면 자료·개인정보 항목 작성</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7.0 출시 준비·배포·운영 인계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7.2.3</a:t>
            </a:r>
            <a:pPr indent="0" marL="0">
              <a:spcAft>
                <a:spcPts val="800"/>
              </a:spcAft>
              <a:buNone/>
            </a:pPr>
            <a:r>
              <a:rPr lang="en-US" sz="1600" dirty="0">
                <a:solidFill>
                  <a:srgbClr val="4B5563"/>
                </a:solidFill>
              </a:rPr>
              <a:t> 심사 전 개인정보·외부 업체·삭제 흐름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7.2.4</a:t>
            </a:r>
            <a:pPr indent="0" marL="0">
              <a:spcAft>
                <a:spcPts val="800"/>
              </a:spcAft>
              <a:buNone/>
            </a:pPr>
            <a:r>
              <a:rPr lang="en-US" sz="1600" dirty="0">
                <a:solidFill>
                  <a:srgbClr val="4B5563"/>
                </a:solidFill>
              </a:rPr>
              <a:t> 7주 차 말 제출 목표 및 8주 차 수정 대응</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7.3 출시 후보·심사 대응</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7.3.1</a:t>
            </a:r>
            <a:pPr indent="0" marL="0">
              <a:spcAft>
                <a:spcPts val="800"/>
              </a:spcAft>
              <a:buNone/>
            </a:pPr>
            <a:r>
              <a:rPr lang="en-US" sz="1600" dirty="0">
                <a:solidFill>
                  <a:srgbClr val="4B5563"/>
                </a:solidFill>
              </a:rPr>
              <a:t> 8주 차 후보 빌드 생성</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7.3.2</a:t>
            </a:r>
            <a:pPr indent="0" marL="0">
              <a:spcAft>
                <a:spcPts val="800"/>
              </a:spcAft>
              <a:buNone/>
            </a:pPr>
            <a:r>
              <a:rPr lang="en-US" sz="1600" dirty="0">
                <a:solidFill>
                  <a:srgbClr val="4B5563"/>
                </a:solidFill>
              </a:rPr>
              <a:t> 스토어 심사 제출 상태·결과 추적</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7.3.3</a:t>
            </a:r>
            <a:pPr indent="0" marL="0">
              <a:spcAft>
                <a:spcPts val="800"/>
              </a:spcAft>
              <a:buNone/>
            </a:pPr>
            <a:r>
              <a:rPr lang="en-US" sz="1600" dirty="0">
                <a:solidFill>
                  <a:srgbClr val="4B5563"/>
                </a:solidFill>
              </a:rPr>
              <a:t> 반려 시 수정·재제출 및 영향 일정 관리</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7.3.4</a:t>
            </a:r>
            <a:pPr indent="0" marL="0">
              <a:spcAft>
                <a:spcPts val="800"/>
              </a:spcAft>
              <a:buNone/>
            </a:pPr>
            <a:r>
              <a:rPr lang="en-US" sz="1600" dirty="0">
                <a:solidFill>
                  <a:srgbClr val="4B5563"/>
                </a:solidFill>
              </a:rPr>
              <a:t> 베타 결과와 심사 통과 확인 후 공개일 결정</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7.0 출시 준비·배포·운영 인계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7.4 운영 준비·인계</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7.4.1</a:t>
            </a:r>
            <a:pPr indent="0" marL="0">
              <a:spcAft>
                <a:spcPts val="800"/>
              </a:spcAft>
              <a:buNone/>
            </a:pPr>
            <a:r>
              <a:rPr lang="en-US" sz="1600" dirty="0">
                <a:solidFill>
                  <a:srgbClr val="4B5563"/>
                </a:solidFill>
              </a:rPr>
              <a:t> 장애·저장 실패·검색 오류 대응 절차 작성</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7.4.2</a:t>
            </a:r>
            <a:pPr indent="0" marL="0">
              <a:spcAft>
                <a:spcPts val="800"/>
              </a:spcAft>
              <a:buNone/>
            </a:pPr>
            <a:r>
              <a:rPr lang="en-US" sz="1600" dirty="0">
                <a:solidFill>
                  <a:srgbClr val="4B5563"/>
                </a:solidFill>
              </a:rPr>
              <a:t> 문의·음식 오류 신고 처리 흐름 마련</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7.4.3</a:t>
            </a:r>
            <a:pPr indent="0" marL="0">
              <a:spcAft>
                <a:spcPts val="800"/>
              </a:spcAft>
              <a:buNone/>
            </a:pPr>
            <a:r>
              <a:rPr lang="en-US" sz="1600" dirty="0">
                <a:solidFill>
                  <a:srgbClr val="4B5563"/>
                </a:solidFill>
              </a:rPr>
              <a:t> 백업 복구 시험과 결과 기록</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7.4.4</a:t>
            </a:r>
            <a:pPr indent="0" marL="0">
              <a:spcAft>
                <a:spcPts val="800"/>
              </a:spcAft>
              <a:buNone/>
            </a:pPr>
            <a:r>
              <a:rPr lang="en-US" sz="1600" dirty="0">
                <a:solidFill>
                  <a:srgbClr val="4B5563"/>
                </a:solidFill>
              </a:rPr>
              <a:t> 운영 권한·개인정보 접근 기록·비용 감시 확인</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7.4.5</a:t>
            </a:r>
            <a:pPr indent="0" marL="0">
              <a:spcAft>
                <a:spcPts val="800"/>
              </a:spcAft>
              <a:buNone/>
            </a:pPr>
            <a:r>
              <a:rPr lang="en-US" sz="1600" dirty="0">
                <a:solidFill>
                  <a:srgbClr val="4B5563"/>
                </a:solidFill>
              </a:rPr>
              <a:t> 운영 인수 및 초기 지원 준비</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 작업 상세</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일정 기준:</a:t>
            </a:r>
            <a:pPr indent="0" marL="0">
              <a:spcAft>
                <a:spcPts val="800"/>
              </a:spcAft>
              <a:buNone/>
            </a:pPr>
            <a:r>
              <a:rPr lang="en-US" sz="1600" dirty="0">
                <a:solidFill>
                  <a:srgbClr val="4B5563"/>
                </a:solidFill>
              </a:rPr>
              <a:t> W1은 2026-10-01~2026-10-07, 이후 7일 단위로 계산한 상대 일정입니다. 구체 일자는 계획 관리 편의를 위해 산출한 것이며, 휴일·실제 근무일을 반영한 확정 일정은 아닙니다.</a:t>
            </a:r>
            <a:endParaRPr lang="en-US" sz="1600" dirty="0"/>
          </a:p>
          <a:p>
            <a:pPr indent="0" marL="0">
              <a:spcAft>
                <a:spcPts val="800"/>
              </a:spcAft>
              <a:buNone/>
            </a:pPr>
            <a:r>
              <a:rPr lang="en-US" sz="1600" b="1" dirty="0">
                <a:solidFill>
                  <a:srgbClr val="4B5563"/>
                </a:solidFill>
              </a:rPr>
              <a:t>공수 기준:</a:t>
            </a:r>
            <a:pPr indent="0" marL="0">
              <a:spcAft>
                <a:spcPts val="800"/>
              </a:spcAft>
              <a:buNone/>
            </a:pPr>
            <a:r>
              <a:rPr lang="en-US" sz="1600" dirty="0">
                <a:solidFill>
                  <a:srgbClr val="4B5563"/>
                </a:solidFill>
              </a:rPr>
              <a:t> 아래 인일은 역할별 작업량을 합산한 추정치입니다. 원문에 인일 산정이나 확정된 담당자 배정이 없으므로 확정 공수로 취급하지 않습니다. 여러 작업을 같은 기간에 병행하므로 인일 합계가 달력상 기간과 같지는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작업 패키지 요약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41268"/>
                <a:gridCol w="2671948"/>
                <a:gridCol w="1389413"/>
                <a:gridCol w="2244436"/>
                <a:gridCol w="641268"/>
                <a:gridCol w="641268"/>
              </a:tblGrid>
              <a:tr h="0">
                <a:tc>
                  <a:txBody>
                    <a:bodyPr/>
                    <a:lstStyle/>
                    <a:p>
                      <a:pPr indent="0" marL="0">
                        <a:buNone/>
                      </a:pPr>
                      <a:r>
                        <a:rPr lang="en-US" sz="1200" b="1" dirty="0">
                          <a:solidFill>
                            <a:srgbClr val="FFFFFF"/>
                          </a:solidFill>
                        </a:rPr>
                        <a:t>작업 </a:t>
                      </a:r>
                      <a:pPr indent="0" marL="0">
                        <a:buNone/>
                      </a:pPr>
                      <a:r>
                        <a:rPr lang="en-US" sz="1200" b="1" dirty="0">
                          <a:solidFill>
                            <a:srgbClr val="FFFFFF"/>
                          </a:solidFill>
                        </a:rPr>
                        <a:t>ID</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작업명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WBS </a:t>
                      </a:r>
                      <a:pPr indent="0" marL="0">
                        <a:buNone/>
                      </a:pPr>
                      <a:r>
                        <a:rPr lang="en-US" sz="1200" b="1" dirty="0">
                          <a:solidFill>
                            <a:srgbClr val="FFFFFF"/>
                          </a:solidFill>
                        </a:rPr>
                        <a:t>코드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 </a:t>
                      </a:r>
                      <a:pPr indent="0" marL="0">
                        <a:buNone/>
                      </a:pPr>
                      <a:r>
                        <a:rPr lang="en-US" sz="1200" b="1" dirty="0">
                          <a:solidFill>
                            <a:srgbClr val="FFFFFF"/>
                          </a:solidFill>
                        </a:rPr>
                        <a:t>역할</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일정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추정 </a:t>
                      </a:r>
                      <a:pPr indent="0" marL="0">
                        <a:buNone/>
                      </a:pPr>
                      <a:r>
                        <a:rPr lang="en-US" sz="1200" b="1" dirty="0">
                          <a:solidFill>
                            <a:srgbClr val="FFFFFF"/>
                          </a:solidFill>
                        </a:rPr>
                        <a:t>공수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WP-001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프로젝트 </a:t>
                      </a:r>
                      <a:pPr indent="0" marL="0">
                        <a:buNone/>
                      </a:pPr>
                      <a:r>
                        <a:rPr lang="en-US" sz="1100" dirty="0">
                          <a:solidFill>
                            <a:srgbClr val="1F2937"/>
                          </a:solidFill>
                        </a:rPr>
                        <a:t>계획·운영 </a:t>
                      </a:r>
                      <a:pPr indent="0" marL="0">
                        <a:buNone/>
                      </a:pPr>
                      <a:r>
                        <a:rPr lang="en-US" sz="1100" dirty="0">
                          <a:solidFill>
                            <a:srgbClr val="1F2937"/>
                          </a:solidFill>
                        </a:rPr>
                        <a:t>기준 </a:t>
                      </a:r>
                      <a:pPr indent="0" marL="0">
                        <a:buNone/>
                      </a:pPr>
                      <a:r>
                        <a:rPr lang="en-US" sz="1100" dirty="0">
                          <a:solidFill>
                            <a:srgbClr val="1F2937"/>
                          </a:solidFill>
                        </a:rPr>
                        <a:t>수립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1.1, </a:t>
                      </a:r>
                      <a:pPr indent="0" marL="0">
                        <a:buNone/>
                      </a:pPr>
                      <a:r>
                        <a:rPr lang="en-US" sz="1100" dirty="0">
                          <a:solidFill>
                            <a:srgbClr val="1F2937"/>
                          </a:solidFill>
                        </a:rPr>
                        <a:t>1.2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조사·요구사항 </a:t>
                      </a:r>
                      <a:pPr indent="0" marL="0">
                        <a:buNone/>
                      </a:pPr>
                      <a:r>
                        <a:rPr lang="en-US" sz="1100" dirty="0">
                          <a:solidFill>
                            <a:srgbClr val="1F2937"/>
                          </a:solidFill>
                        </a:rPr>
                        <a:t>정리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2.1, </a:t>
                      </a:r>
                      <a:pPr indent="0" marL="0">
                        <a:buNone/>
                      </a:pPr>
                      <a:r>
                        <a:rPr lang="en-US" sz="1100" dirty="0">
                          <a:solidFill>
                            <a:srgbClr val="1F2937"/>
                          </a:solidFill>
                        </a:rPr>
                        <a:t>2.2, </a:t>
                      </a:r>
                      <a:pPr indent="0" marL="0">
                        <a:buNone/>
                      </a:pPr>
                      <a:r>
                        <a:rPr lang="en-US" sz="1100" dirty="0">
                          <a:solidFill>
                            <a:srgbClr val="1F2937"/>
                          </a:solidFill>
                        </a:rPr>
                        <a:t>2.4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박디자이너,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W1~W2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8인일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식품 </a:t>
                      </a:r>
                      <a:pPr indent="0" marL="0">
                        <a:buNone/>
                      </a:pPr>
                      <a:r>
                        <a:rPr lang="en-US" sz="1100" dirty="0">
                          <a:solidFill>
                            <a:srgbClr val="1F2937"/>
                          </a:solidFill>
                        </a:rPr>
                        <a:t>데이터·인증·개인정보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2.3, </a:t>
                      </a:r>
                      <a:pPr indent="0" marL="0">
                        <a:buNone/>
                      </a:pPr>
                      <a:r>
                        <a:rPr lang="en-US" sz="1100" dirty="0">
                          <a:solidFill>
                            <a:srgbClr val="1F2937"/>
                          </a:solidFill>
                        </a:rPr>
                        <a:t>3.5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 </a:t>
                      </a:r>
                      <a:pPr indent="0" marL="0">
                        <a:buNone/>
                      </a:pPr>
                      <a:r>
                        <a:rPr lang="en-US" sz="1100" dirty="0">
                          <a:solidFill>
                            <a:srgbClr val="1F2937"/>
                          </a:solidFill>
                        </a:rPr>
                        <a:t>이대표, </a:t>
                      </a:r>
                      <a:pPr indent="0" marL="0">
                        <a:buNone/>
                      </a:pPr>
                      <a:r>
                        <a:rPr lang="en-US" sz="1100" dirty="0">
                          <a:solidFill>
                            <a:srgbClr val="1F2937"/>
                          </a:solidFill>
                        </a:rPr>
                        <a:t>외부 </a:t>
                      </a:r>
                      <a:pPr indent="0" marL="0">
                        <a:buNone/>
                      </a:pPr>
                      <a:r>
                        <a:rPr lang="en-US" sz="1100" dirty="0">
                          <a:solidFill>
                            <a:srgbClr val="1F2937"/>
                          </a:solidFill>
                        </a:rPr>
                        <a:t>검토자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W1~W2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8인일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화면 </a:t>
                      </a:r>
                      <a:pPr indent="0" marL="0">
                        <a:buNone/>
                      </a:pPr>
                      <a:r>
                        <a:rPr lang="en-US" sz="1100" dirty="0">
                          <a:solidFill>
                            <a:srgbClr val="1F2937"/>
                          </a:solidFill>
                        </a:rPr>
                        <a:t>설계·디자인 </a:t>
                      </a:r>
                      <a:pPr indent="0" marL="0">
                        <a:buNone/>
                      </a:pPr>
                      <a:r>
                        <a:rPr lang="en-US" sz="1100" dirty="0">
                          <a:solidFill>
                            <a:srgbClr val="1F2937"/>
                          </a:solidFill>
                        </a:rPr>
                        <a:t>시스템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3.1, </a:t>
                      </a:r>
                      <a:pPr indent="0" marL="0">
                        <a:buNone/>
                      </a:pPr>
                      <a:r>
                        <a:rPr lang="en-US" sz="1100" dirty="0">
                          <a:solidFill>
                            <a:srgbClr val="1F2937"/>
                          </a:solidFill>
                        </a:rPr>
                        <a:t>3.2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박디자이너,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W1~W5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12인일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앱·데이터·API·보안 </a:t>
                      </a:r>
                      <a:pPr indent="0" marL="0">
                        <a:buNone/>
                      </a:pPr>
                      <a:r>
                        <a:rPr lang="en-US" sz="1100" dirty="0">
                          <a:solidFill>
                            <a:srgbClr val="1F2937"/>
                          </a:solidFill>
                        </a:rPr>
                        <a:t>설계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3.3, </a:t>
                      </a:r>
                      <a:pPr indent="0" marL="0">
                        <a:buNone/>
                      </a:pPr>
                      <a:r>
                        <a:rPr lang="en-US" sz="1100" dirty="0">
                          <a:solidFill>
                            <a:srgbClr val="1F2937"/>
                          </a:solidFill>
                        </a:rPr>
                        <a:t>3.4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W1~W2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9인일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기반·공통 </a:t>
                      </a:r>
                      <a:pPr indent="0" marL="0">
                        <a:buNone/>
                      </a:pPr>
                      <a:r>
                        <a:rPr lang="en-US" sz="1100" dirty="0">
                          <a:solidFill>
                            <a:srgbClr val="1F2937"/>
                          </a:solidFill>
                        </a:rPr>
                        <a:t>구성 </a:t>
                      </a:r>
                      <a:pPr indent="0" marL="0">
                        <a:buNone/>
                      </a:pPr>
                      <a:r>
                        <a:rPr lang="en-US" sz="1100" dirty="0">
                          <a:solidFill>
                            <a:srgbClr val="1F2937"/>
                          </a:solidFill>
                        </a:rPr>
                        <a:t>요소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4.1, </a:t>
                      </a:r>
                      <a:pPr indent="0" marL="0">
                        <a:buNone/>
                      </a:pPr>
                      <a:r>
                        <a:rPr lang="en-US" sz="1100" dirty="0">
                          <a:solidFill>
                            <a:srgbClr val="1F2937"/>
                          </a:solidFill>
                        </a:rPr>
                        <a:t>4.2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앱 </a:t>
                      </a:r>
                      <a:pPr indent="0" marL="0">
                        <a:buNone/>
                      </a:pPr>
                      <a:r>
                        <a:rPr lang="en-US" sz="1100" dirty="0">
                          <a:solidFill>
                            <a:srgbClr val="1F2937"/>
                          </a:solidFill>
                        </a:rPr>
                        <a:t>개발 </a:t>
                      </a:r>
                      <a:pPr indent="0" marL="0">
                        <a:buNone/>
                      </a:pPr>
                      <a:r>
                        <a:rPr lang="en-US" sz="1100" dirty="0">
                          <a:solidFill>
                            <a:srgbClr val="1F2937"/>
                          </a:solidFill>
                        </a:rPr>
                        <a:t>지원 </a:t>
                      </a:r>
                      <a:pPr indent="0" marL="0">
                        <a:buNone/>
                      </a:pPr>
                      <a:r>
                        <a:rPr lang="en-US" sz="1100" dirty="0">
                          <a:solidFill>
                            <a:srgbClr val="1F2937"/>
                          </a:solidFill>
                        </a:rPr>
                        <a:t>인력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W1~W3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8인일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인증·온보딩·프로필·개인정보 </a:t>
                      </a:r>
                      <a:pPr indent="0" marL="0">
                        <a:buNone/>
                      </a:pPr>
                      <a:r>
                        <a:rPr lang="en-US" sz="1100" dirty="0">
                          <a:solidFill>
                            <a:srgbClr val="1F2937"/>
                          </a:solidFill>
                        </a:rPr>
                        <a:t>화면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4.3, </a:t>
                      </a:r>
                      <a:pPr indent="0" marL="0">
                        <a:buNone/>
                      </a:pPr>
                      <a:r>
                        <a:rPr lang="en-US" sz="1100" dirty="0">
                          <a:solidFill>
                            <a:srgbClr val="1F2937"/>
                          </a:solidFill>
                        </a:rPr>
                        <a:t>5.2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최개발,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W2~W4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11인일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검색·직접 </a:t>
                      </a:r>
                      <a:pPr indent="0" marL="0">
                        <a:buNone/>
                      </a:pPr>
                      <a:r>
                        <a:rPr lang="en-US" sz="1100" dirty="0">
                          <a:solidFill>
                            <a:srgbClr val="1F2937"/>
                          </a:solidFill>
                        </a:rPr>
                        <a:t>입력·최근 </a:t>
                      </a:r>
                      <a:pPr indent="0" marL="0">
                        <a:buNone/>
                      </a:pPr>
                      <a:r>
                        <a:rPr lang="en-US" sz="1100" dirty="0">
                          <a:solidFill>
                            <a:srgbClr val="1F2937"/>
                          </a:solidFill>
                        </a:rPr>
                        <a:t>기록·즐겨찾기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4.4, </a:t>
                      </a:r>
                      <a:pPr indent="0" marL="0">
                        <a:buNone/>
                      </a:pPr>
                      <a:r>
                        <a:rPr lang="en-US" sz="1100" dirty="0">
                          <a:solidFill>
                            <a:srgbClr val="1F2937"/>
                          </a:solidFill>
                        </a:rPr>
                        <a:t>5.3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W3~W5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13인일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기록·홈·날짜별 </a:t>
                      </a:r>
                      <a:pPr indent="0" marL="0">
                        <a:buNone/>
                      </a:pPr>
                      <a:r>
                        <a:rPr lang="en-US" sz="1100" dirty="0">
                          <a:solidFill>
                            <a:srgbClr val="1F2937"/>
                          </a:solidFill>
                        </a:rPr>
                        <a:t>조회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4.5, </a:t>
                      </a:r>
                      <a:pPr indent="0" marL="0">
                        <a:buNone/>
                      </a:pPr>
                      <a:r>
                        <a:rPr lang="en-US" sz="1100" dirty="0">
                          <a:solidFill>
                            <a:srgbClr val="1F2937"/>
                          </a:solidFill>
                        </a:rPr>
                        <a:t>5.3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W3~W5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14인일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주간 </a:t>
                      </a:r>
                      <a:pPr indent="0" marL="0">
                        <a:buNone/>
                      </a:pPr>
                      <a:r>
                        <a:rPr lang="en-US" sz="1100" dirty="0">
                          <a:solidFill>
                            <a:srgbClr val="1F2937"/>
                          </a:solidFill>
                        </a:rPr>
                        <a:t>리포트·기록 </a:t>
                      </a:r>
                      <a:pPr indent="0" marL="0">
                        <a:buNone/>
                      </a:pPr>
                      <a:r>
                        <a:rPr lang="en-US" sz="1100" dirty="0">
                          <a:solidFill>
                            <a:srgbClr val="1F2937"/>
                          </a:solidFill>
                        </a:rPr>
                        <a:t>알림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4.6, </a:t>
                      </a:r>
                      <a:pPr indent="0" marL="0">
                        <a:buNone/>
                      </a:pPr>
                      <a:r>
                        <a:rPr lang="en-US" sz="1100" dirty="0">
                          <a:solidFill>
                            <a:srgbClr val="1F2937"/>
                          </a:solidFill>
                        </a:rPr>
                        <a:t>5.4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W5~W6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10인일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WP-011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백엔드·자료 </a:t>
                      </a:r>
                      <a:pPr indent="0" marL="0">
                        <a:buNone/>
                      </a:pPr>
                      <a:r>
                        <a:rPr lang="en-US" sz="1100" dirty="0">
                          <a:solidFill>
                            <a:srgbClr val="1F2937"/>
                          </a:solidFill>
                        </a:rPr>
                        <a:t>구조·운영 </a:t>
                      </a:r>
                      <a:pPr indent="0" marL="0">
                        <a:buNone/>
                      </a:pPr>
                      <a:r>
                        <a:rPr lang="en-US" sz="1100" dirty="0">
                          <a:solidFill>
                            <a:srgbClr val="1F2937"/>
                          </a:solidFill>
                        </a:rPr>
                        <a:t>기반 </a:t>
                      </a:r>
                      <a:pPr indent="0" marL="0">
                        <a:buNone/>
                      </a:pPr>
                      <a:r>
                        <a:rPr lang="en-US" sz="1100" dirty="0">
                          <a:solidFill>
                            <a:srgbClr val="1F2937"/>
                          </a:solidFill>
                        </a:rPr>
                        <a:t>구축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5.1, </a:t>
                      </a:r>
                      <a:pPr indent="0" marL="0">
                        <a:buNone/>
                      </a:pPr>
                      <a:r>
                        <a:rPr lang="en-US" sz="1100" dirty="0">
                          <a:solidFill>
                            <a:srgbClr val="1F2937"/>
                          </a:solidFill>
                        </a:rPr>
                        <a:t>5.5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지원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W1~W6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15인일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작업 패키지 요약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76405"/>
                <a:gridCol w="2141951"/>
                <a:gridCol w="901874"/>
                <a:gridCol w="2254685"/>
                <a:gridCol w="1578279"/>
                <a:gridCol w="676405"/>
              </a:tblGrid>
              <a:tr h="0">
                <a:tc>
                  <a:txBody>
                    <a:bodyPr/>
                    <a:lstStyle/>
                    <a:p>
                      <a:pPr indent="0" marL="0">
                        <a:buNone/>
                      </a:pPr>
                      <a:r>
                        <a:rPr lang="en-US" sz="1200" b="1" dirty="0">
                          <a:solidFill>
                            <a:srgbClr val="FFFFFF"/>
                          </a:solidFill>
                        </a:rPr>
                        <a:t>작업 </a:t>
                      </a:r>
                      <a:pPr indent="0" marL="0">
                        <a:buNone/>
                      </a:pPr>
                      <a:r>
                        <a:rPr lang="en-US" sz="1200" b="1" dirty="0">
                          <a:solidFill>
                            <a:srgbClr val="FFFFFF"/>
                          </a:solidFill>
                        </a:rPr>
                        <a:t>ID</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작업명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WBS </a:t>
                      </a:r>
                      <a:pPr indent="0" marL="0">
                        <a:buNone/>
                      </a:pPr>
                      <a:r>
                        <a:rPr lang="en-US" sz="1200" b="1" dirty="0">
                          <a:solidFill>
                            <a:srgbClr val="FFFFFF"/>
                          </a:solidFill>
                        </a:rPr>
                        <a:t>코드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 </a:t>
                      </a:r>
                      <a:pPr indent="0" marL="0">
                        <a:buNone/>
                      </a:pPr>
                      <a:r>
                        <a:rPr lang="en-US" sz="1200" b="1" dirty="0">
                          <a:solidFill>
                            <a:srgbClr val="FFFFFF"/>
                          </a:solidFill>
                        </a:rPr>
                        <a:t>역할</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일정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추정 </a:t>
                      </a:r>
                      <a:pPr indent="0" marL="0">
                        <a:buNone/>
                      </a:pPr>
                      <a:r>
                        <a:rPr lang="en-US" sz="1200" b="1" dirty="0">
                          <a:solidFill>
                            <a:srgbClr val="FFFFFF"/>
                          </a:solidFill>
                        </a:rPr>
                        <a:t>공수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WP-012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사진 </a:t>
                      </a:r>
                      <a:pPr indent="0" marL="0">
                        <a:buNone/>
                      </a:pPr>
                      <a:r>
                        <a:rPr lang="en-US" sz="1100" dirty="0">
                          <a:solidFill>
                            <a:srgbClr val="1F2937"/>
                          </a:solidFill>
                        </a:rPr>
                        <a:t>한 </a:t>
                      </a:r>
                      <a:pPr indent="0" marL="0">
                        <a:buNone/>
                      </a:pPr>
                      <a:r>
                        <a:rPr lang="en-US" sz="1100" dirty="0">
                          <a:solidFill>
                            <a:srgbClr val="1F2937"/>
                          </a:solidFill>
                        </a:rPr>
                        <a:t>장 </a:t>
                      </a:r>
                      <a:pPr indent="0" marL="0">
                        <a:buNone/>
                      </a:pPr>
                      <a:r>
                        <a:rPr lang="en-US" sz="1100" dirty="0">
                          <a:solidFill>
                            <a:srgbClr val="1F2937"/>
                          </a:solidFill>
                        </a:rPr>
                        <a:t>첨부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4.7, </a:t>
                      </a:r>
                      <a:pPr indent="0" marL="0">
                        <a:buNone/>
                      </a:pPr>
                      <a:r>
                        <a:rPr lang="en-US" sz="1100" dirty="0">
                          <a:solidFill>
                            <a:srgbClr val="1F2937"/>
                          </a:solidFill>
                        </a:rPr>
                        <a:t>5.6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최개발,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W4~W5, </a:t>
                      </a:r>
                      <a:pPr indent="0" marL="0">
                        <a:buNone/>
                      </a:pPr>
                      <a:r>
                        <a:rPr lang="en-US" sz="1100" dirty="0">
                          <a:solidFill>
                            <a:srgbClr val="1F2937"/>
                          </a:solidFill>
                        </a:rPr>
                        <a:t>승인 </a:t>
                      </a:r>
                      <a:pPr indent="0" marL="0">
                        <a:buNone/>
                      </a:pPr>
                      <a:r>
                        <a:rPr lang="en-US" sz="1100" dirty="0">
                          <a:solidFill>
                            <a:srgbClr val="1F2937"/>
                          </a:solidFill>
                        </a:rPr>
                        <a:t>조건부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WP-013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시험 </a:t>
                      </a:r>
                      <a:pPr indent="0" marL="0">
                        <a:buNone/>
                      </a:pPr>
                      <a:r>
                        <a:rPr lang="en-US" sz="1100" dirty="0">
                          <a:solidFill>
                            <a:srgbClr val="1F2937"/>
                          </a:solidFill>
                        </a:rPr>
                        <a:t>계획·단위·통합·기기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6.1~6.3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최개발,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W2~W7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12인일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WP-014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프로토타입·베타 </a:t>
                      </a:r>
                      <a:pPr indent="0" marL="0">
                        <a:buNone/>
                      </a:pPr>
                      <a:r>
                        <a:rPr lang="en-US" sz="1100" dirty="0">
                          <a:solidFill>
                            <a:srgbClr val="1F2937"/>
                          </a:solidFill>
                        </a:rPr>
                        <a:t>시험 </a:t>
                      </a:r>
                      <a:pPr indent="0" marL="0">
                        <a:buNone/>
                      </a:pPr>
                      <a:r>
                        <a:rPr lang="en-US" sz="1100" dirty="0">
                          <a:solidFill>
                            <a:srgbClr val="1F2937"/>
                          </a:solidFill>
                        </a:rPr>
                        <a:t>및 </a:t>
                      </a:r>
                      <a:pPr indent="0" marL="0">
                        <a:buNone/>
                      </a:pPr>
                      <a:r>
                        <a:rPr lang="en-US" sz="1100" dirty="0">
                          <a:solidFill>
                            <a:srgbClr val="1F2937"/>
                          </a:solidFill>
                        </a:rPr>
                        <a:t>결함 </a:t>
                      </a:r>
                      <a:pPr indent="0" marL="0">
                        <a:buNone/>
                      </a:pPr>
                      <a:r>
                        <a:rPr lang="en-US" sz="1100" dirty="0">
                          <a:solidFill>
                            <a:srgbClr val="1F2937"/>
                          </a:solidFill>
                        </a:rPr>
                        <a:t>수정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6.4, </a:t>
                      </a:r>
                      <a:pPr indent="0" marL="0">
                        <a:buNone/>
                      </a:pPr>
                      <a:r>
                        <a:rPr lang="en-US" sz="1100" dirty="0">
                          <a:solidFill>
                            <a:srgbClr val="1F2937"/>
                          </a:solidFill>
                        </a:rPr>
                        <a:t>6.5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박디자이너,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W2~W8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12인일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WP-015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스토어 </a:t>
                      </a:r>
                      <a:pPr indent="0" marL="0">
                        <a:buNone/>
                      </a:pPr>
                      <a:r>
                        <a:rPr lang="en-US" sz="1100" dirty="0">
                          <a:solidFill>
                            <a:srgbClr val="1F2937"/>
                          </a:solidFill>
                        </a:rPr>
                        <a:t>제출·후보 </a:t>
                      </a:r>
                      <a:pPr indent="0" marL="0">
                        <a:buNone/>
                      </a:pPr>
                      <a:r>
                        <a:rPr lang="en-US" sz="1100" dirty="0">
                          <a:solidFill>
                            <a:srgbClr val="1F2937"/>
                          </a:solidFill>
                        </a:rPr>
                        <a:t>빌드·출시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7.1~7.3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최개발, </a:t>
                      </a:r>
                      <a:pPr indent="0" marL="0">
                        <a:buNone/>
                      </a:pPr>
                      <a:r>
                        <a:rPr lang="en-US" sz="1100" dirty="0">
                          <a:solidFill>
                            <a:srgbClr val="1F2937"/>
                          </a:solidFill>
                        </a:rPr>
                        <a:t>박디자이너,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W6~W9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8인일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WP-016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운영 </a:t>
                      </a:r>
                      <a:pPr indent="0" marL="0">
                        <a:buNone/>
                      </a:pPr>
                      <a:r>
                        <a:rPr lang="en-US" sz="1100" dirty="0">
                          <a:solidFill>
                            <a:srgbClr val="1F2937"/>
                          </a:solidFill>
                        </a:rPr>
                        <a:t>준비·인계·비용 </a:t>
                      </a:r>
                      <a:pPr indent="0" marL="0">
                        <a:buNone/>
                      </a:pPr>
                      <a:r>
                        <a:rPr lang="en-US" sz="1100" dirty="0">
                          <a:solidFill>
                            <a:srgbClr val="1F2937"/>
                          </a:solidFill>
                        </a:rPr>
                        <a:t>감시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7.4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 </a:t>
                      </a:r>
                      <a:pPr indent="0" marL="0">
                        <a:buNone/>
                      </a:pPr>
                      <a:r>
                        <a:rPr lang="en-US" sz="1100" dirty="0">
                          <a:solidFill>
                            <a:srgbClr val="1F2937"/>
                          </a:solidFill>
                        </a:rPr>
                        <a:t>운영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W6~W9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5인일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WP-001: 프로젝트 계획·운영 기준 수립</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프로젝트 </a:t>
                      </a:r>
                      <a:pPr indent="0" marL="0">
                        <a:buNone/>
                      </a:pPr>
                      <a:r>
                        <a:rPr lang="en-US" sz="1100" dirty="0">
                          <a:solidFill>
                            <a:srgbClr val="1F2937"/>
                          </a:solidFill>
                        </a:rPr>
                        <a:t>계획·운영 </a:t>
                      </a:r>
                      <a:pPr indent="0" marL="0">
                        <a:buNone/>
                      </a:pPr>
                      <a:r>
                        <a:rPr lang="en-US" sz="1100" dirty="0">
                          <a:solidFill>
                            <a:srgbClr val="1F2937"/>
                          </a:solidFill>
                        </a:rPr>
                        <a:t>기준 </a:t>
                      </a:r>
                      <a:pPr indent="0" marL="0">
                        <a:buNone/>
                      </a:pPr>
                      <a:r>
                        <a:rPr lang="en-US" sz="1100" dirty="0">
                          <a:solidFill>
                            <a:srgbClr val="1F2937"/>
                          </a:solidFill>
                        </a:rPr>
                        <a:t>수립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1.1, </a:t>
                      </a:r>
                      <a:pPr indent="0" marL="0">
                        <a:buNone/>
                      </a:pPr>
                      <a:r>
                        <a:rPr lang="en-US" sz="1100" dirty="0">
                          <a:solidFill>
                            <a:srgbClr val="1F2937"/>
                          </a:solidFill>
                        </a:rPr>
                        <a:t>1.2, </a:t>
                      </a:r>
                      <a:pPr indent="0" marL="0">
                        <a:buNone/>
                      </a:pPr>
                      <a:r>
                        <a:rPr lang="en-US" sz="1100" dirty="0">
                          <a:solidFill>
                            <a:srgbClr val="1F2937"/>
                          </a:solidFill>
                        </a:rPr>
                        <a:t>1.3, </a:t>
                      </a:r>
                      <a:pPr indent="0" marL="0">
                        <a:buNone/>
                      </a:pPr>
                      <a:r>
                        <a:rPr lang="en-US" sz="1100" dirty="0">
                          <a:solidFill>
                            <a:srgbClr val="1F2937"/>
                          </a:solidFill>
                        </a:rPr>
                        <a:t>1.4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2026-10-07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착수 </a:t>
                      </a:r>
                      <a:pPr indent="0" marL="0">
                        <a:buNone/>
                      </a:pPr>
                      <a:r>
                        <a:rPr lang="en-US" sz="1100"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프로젝트 </a:t>
                      </a:r>
                      <a:pPr indent="0" marL="0">
                        <a:buNone/>
                      </a:pPr>
                      <a:r>
                        <a:rPr lang="en-US" sz="1100" dirty="0">
                          <a:solidFill>
                            <a:srgbClr val="1F2937"/>
                          </a:solidFill>
                        </a:rPr>
                        <a:t>일정 </a:t>
                      </a:r>
                      <a:pPr indent="0" marL="0">
                        <a:buNone/>
                      </a:pPr>
                      <a:r>
                        <a:rPr lang="en-US" sz="1100" dirty="0">
                          <a:solidFill>
                            <a:srgbClr val="1F2937"/>
                          </a:solidFill>
                        </a:rPr>
                        <a:t>초안, </a:t>
                      </a:r>
                      <a:pPr indent="0" marL="0">
                        <a:buNone/>
                      </a:pPr>
                      <a:r>
                        <a:rPr lang="en-US" sz="1100" dirty="0">
                          <a:solidFill>
                            <a:srgbClr val="1F2937"/>
                          </a:solidFill>
                        </a:rPr>
                        <a:t>결정·미정 </a:t>
                      </a:r>
                      <a:pPr indent="0" marL="0">
                        <a:buNone/>
                      </a:pPr>
                      <a:r>
                        <a:rPr lang="en-US" sz="1100" dirty="0">
                          <a:solidFill>
                            <a:srgbClr val="1F2937"/>
                          </a:solidFill>
                        </a:rPr>
                        <a:t>항목 </a:t>
                      </a:r>
                      <a:pPr indent="0" marL="0">
                        <a:buNone/>
                      </a:pPr>
                      <a:r>
                        <a:rPr lang="en-US" sz="1100" dirty="0">
                          <a:solidFill>
                            <a:srgbClr val="1F2937"/>
                          </a:solidFill>
                        </a:rPr>
                        <a:t>목록, </a:t>
                      </a:r>
                      <a:pPr indent="0" marL="0">
                        <a:buNone/>
                      </a:pPr>
                      <a:r>
                        <a:rPr lang="en-US" sz="1100" dirty="0">
                          <a:solidFill>
                            <a:srgbClr val="1F2937"/>
                          </a:solidFill>
                        </a:rPr>
                        <a:t>위험 </a:t>
                      </a:r>
                      <a:pPr indent="0" marL="0">
                        <a:buNone/>
                      </a:pPr>
                      <a:r>
                        <a:rPr lang="en-US" sz="1100" dirty="0">
                          <a:solidFill>
                            <a:srgbClr val="1F2937"/>
                          </a:solidFill>
                        </a:rPr>
                        <a:t>등록부, </a:t>
                      </a:r>
                      <a:pPr indent="0" marL="0">
                        <a:buNone/>
                      </a:pPr>
                      <a:r>
                        <a:rPr lang="en-US" sz="1100" dirty="0">
                          <a:solidFill>
                            <a:srgbClr val="1F2937"/>
                          </a:solidFill>
                        </a:rPr>
                        <a:t>회의·문서 </a:t>
                      </a:r>
                      <a:pPr indent="0" marL="0">
                        <a:buNone/>
                      </a:pPr>
                      <a:r>
                        <a:rPr lang="en-US" sz="1100" dirty="0">
                          <a:solidFill>
                            <a:srgbClr val="1F2937"/>
                          </a:solidFill>
                        </a:rPr>
                        <a:t>운영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8주 </a:t>
                      </a:r>
                      <a:pPr indent="0" marL="0">
                        <a:buNone/>
                      </a:pPr>
                      <a:r>
                        <a:rPr lang="en-US" sz="1100" dirty="0">
                          <a:solidFill>
                            <a:srgbClr val="1F2937"/>
                          </a:solidFill>
                        </a:rPr>
                        <a:t>목표·9주 </a:t>
                      </a:r>
                      <a:pPr indent="0" marL="0">
                        <a:buNone/>
                      </a:pPr>
                      <a:r>
                        <a:rPr lang="en-US" sz="1100" dirty="0">
                          <a:solidFill>
                            <a:srgbClr val="1F2937"/>
                          </a:solidFill>
                        </a:rPr>
                        <a:t>완충, </a:t>
                      </a:r>
                      <a:pPr indent="0" marL="0">
                        <a:buNone/>
                      </a:pPr>
                      <a:r>
                        <a:rPr lang="en-US" sz="1100" dirty="0">
                          <a:solidFill>
                            <a:srgbClr val="1F2937"/>
                          </a:solidFill>
                        </a:rPr>
                        <a:t>6주 </a:t>
                      </a:r>
                      <a:pPr indent="0" marL="0">
                        <a:buNone/>
                      </a:pPr>
                      <a:r>
                        <a:rPr lang="en-US" sz="1100" dirty="0">
                          <a:solidFill>
                            <a:srgbClr val="1F2937"/>
                          </a:solidFill>
                        </a:rPr>
                        <a:t>차 </a:t>
                      </a:r>
                      <a:pPr indent="0" marL="0">
                        <a:buNone/>
                      </a:pPr>
                      <a:r>
                        <a:rPr lang="en-US" sz="1100" dirty="0">
                          <a:solidFill>
                            <a:srgbClr val="1F2937"/>
                          </a:solidFill>
                        </a:rPr>
                        <a:t>초 </a:t>
                      </a:r>
                      <a:pPr indent="0" marL="0">
                        <a:buNone/>
                      </a:pPr>
                      <a:r>
                        <a:rPr lang="en-US" sz="1100" dirty="0">
                          <a:solidFill>
                            <a:srgbClr val="1F2937"/>
                          </a:solidFill>
                        </a:rPr>
                        <a:t>기능 </a:t>
                      </a:r>
                      <a:pPr indent="0" marL="0">
                        <a:buNone/>
                      </a:pPr>
                      <a:r>
                        <a:rPr lang="en-US" sz="1100" dirty="0">
                          <a:solidFill>
                            <a:srgbClr val="1F2937"/>
                          </a:solidFill>
                        </a:rPr>
                        <a:t>동결, </a:t>
                      </a:r>
                      <a:pPr indent="0" marL="0">
                        <a:buNone/>
                      </a:pPr>
                      <a:r>
                        <a:rPr lang="en-US" sz="1100" dirty="0">
                          <a:solidFill>
                            <a:srgbClr val="1F2937"/>
                          </a:solidFill>
                        </a:rPr>
                        <a:t>정기 </a:t>
                      </a:r>
                      <a:pPr indent="0" marL="0">
                        <a:buNone/>
                      </a:pPr>
                      <a:r>
                        <a:rPr lang="en-US" sz="1100" dirty="0">
                          <a:solidFill>
                            <a:srgbClr val="1F2937"/>
                          </a:solidFill>
                        </a:rPr>
                        <a:t>회의 </a:t>
                      </a:r>
                      <a:pPr indent="0" marL="0">
                        <a:buNone/>
                      </a:pPr>
                      <a:r>
                        <a:rPr lang="en-US" sz="1100" dirty="0">
                          <a:solidFill>
                            <a:srgbClr val="1F2937"/>
                          </a:solidFill>
                        </a:rPr>
                        <a:t>운영 </a:t>
                      </a:r>
                      <a:pPr indent="0" marL="0">
                        <a:buNone/>
                      </a:pPr>
                      <a:r>
                        <a:rPr lang="en-US" sz="1100" dirty="0">
                          <a:solidFill>
                            <a:srgbClr val="1F2937"/>
                          </a:solidFill>
                        </a:rPr>
                        <a:t>방식, </a:t>
                      </a:r>
                      <a:pPr indent="0" marL="0">
                        <a:buNone/>
                      </a:pPr>
                      <a:r>
                        <a:rPr lang="en-US" sz="1100" dirty="0">
                          <a:solidFill>
                            <a:srgbClr val="1F2937"/>
                          </a:solidFill>
                        </a:rPr>
                        <a:t>담당 </a:t>
                      </a:r>
                      <a:pPr indent="0" marL="0">
                        <a:buNone/>
                      </a:pPr>
                      <a:r>
                        <a:rPr lang="en-US" sz="1100" dirty="0">
                          <a:solidFill>
                            <a:srgbClr val="1F2937"/>
                          </a:solidFill>
                        </a:rPr>
                        <a:t>역할 </a:t>
                      </a:r>
                      <a:pPr indent="0" marL="0">
                        <a:buNone/>
                      </a:pPr>
                      <a:r>
                        <a:rPr lang="en-US" sz="1100" dirty="0">
                          <a:solidFill>
                            <a:srgbClr val="1F2937"/>
                          </a:solidFill>
                        </a:rPr>
                        <a:t>및 </a:t>
                      </a:r>
                      <a:pPr indent="0" marL="0">
                        <a:buNone/>
                      </a:pPr>
                      <a:r>
                        <a:rPr lang="en-US" sz="1100" dirty="0">
                          <a:solidFill>
                            <a:srgbClr val="1F2937"/>
                          </a:solidFill>
                        </a:rPr>
                        <a:t>미확정 </a:t>
                      </a:r>
                      <a:pPr indent="0" marL="0">
                        <a:buNone/>
                      </a:pPr>
                      <a:r>
                        <a:rPr lang="en-US" sz="1100" dirty="0">
                          <a:solidFill>
                            <a:srgbClr val="1F2937"/>
                          </a:solidFill>
                        </a:rPr>
                        <a:t>항목이 </a:t>
                      </a:r>
                      <a:pPr indent="0" marL="0">
                        <a:buNone/>
                      </a:pPr>
                      <a:r>
                        <a:rPr lang="en-US" sz="1100" dirty="0">
                          <a:solidFill>
                            <a:srgbClr val="1F2937"/>
                          </a:solidFill>
                        </a:rPr>
                        <a:t>문서화됨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WP-001: 프로젝트 계획·운영 기준 수립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세부 작업</a:t>
            </a:r>
            <a:endParaRPr lang="en-US" sz="1600" dirty="0"/>
          </a:p>
          <a:p>
            <a:pPr indent="0" marL="0">
              <a:spcAft>
                <a:spcPts val="800"/>
              </a:spcAft>
              <a:buNone/>
            </a:pPr>
            <a:r>
              <a:rPr lang="en-US" sz="1600" dirty="0">
                <a:solidFill>
                  <a:srgbClr val="4B5563"/>
                </a:solidFill>
              </a:rPr>
              <a:t>· 주 2회 15분 스탠드업과 디자인 리뷰 주기를 일정에 반영합니다.</a:t>
            </a:r>
            <a:endParaRPr lang="en-US" sz="1600" dirty="0"/>
          </a:p>
          <a:p>
            <a:pPr indent="0" marL="0">
              <a:spcAft>
                <a:spcPts val="800"/>
              </a:spcAft>
              <a:buNone/>
            </a:pPr>
            <a:r>
              <a:rPr lang="en-US" sz="1600" dirty="0">
                <a:solidFill>
                  <a:srgbClr val="4B5563"/>
                </a:solidFill>
              </a:rPr>
              <a:t>· 첫 2주간 주 2회, 이후 주 1회 디자인 리뷰를 운영합니다.</a:t>
            </a:r>
            <a:endParaRPr lang="en-US" sz="1600" dirty="0"/>
          </a:p>
          <a:p>
            <a:pPr indent="0" marL="0">
              <a:spcAft>
                <a:spcPts val="800"/>
              </a:spcAft>
              <a:buNone/>
            </a:pPr>
            <a:r>
              <a:rPr lang="en-US" sz="1600" dirty="0">
                <a:solidFill>
                  <a:srgbClr val="4B5563"/>
                </a:solidFill>
              </a:rPr>
              <a:t>· 변경 요청을 필수 변경과 제안 변경으로 구분합니다.</a:t>
            </a:r>
            <a:endParaRPr lang="en-US" sz="1600" dirty="0"/>
          </a:p>
          <a:p>
            <a:pPr indent="0" marL="0">
              <a:spcAft>
                <a:spcPts val="800"/>
              </a:spcAft>
              <a:buNone/>
            </a:pPr>
            <a:r>
              <a:rPr lang="en-US" sz="1600" dirty="0">
                <a:solidFill>
                  <a:srgbClr val="4B5563"/>
                </a:solidFill>
              </a:rPr>
              <a:t>· 실제 인력 배정과 앱 개발 지원 인력은 별도 확인 항목으로 둡니다.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WP-002: 사용자 조사·요구사항 정리</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조사·요구사항 </a:t>
                      </a:r>
                      <a:pPr indent="0" marL="0">
                        <a:buNone/>
                      </a:pPr>
                      <a:r>
                        <a:rPr lang="en-US" sz="1100" dirty="0">
                          <a:solidFill>
                            <a:srgbClr val="1F2937"/>
                          </a:solidFill>
                        </a:rPr>
                        <a:t>정리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2.1, </a:t>
                      </a:r>
                      <a:pPr indent="0" marL="0">
                        <a:buNone/>
                      </a:pPr>
                      <a:r>
                        <a:rPr lang="en-US" sz="1100" dirty="0">
                          <a:solidFill>
                            <a:srgbClr val="1F2937"/>
                          </a:solidFill>
                        </a:rPr>
                        <a:t>2.2, </a:t>
                      </a:r>
                      <a:pPr indent="0" marL="0">
                        <a:buNone/>
                      </a:pPr>
                      <a:r>
                        <a:rPr lang="en-US" sz="1100" dirty="0">
                          <a:solidFill>
                            <a:srgbClr val="1F2937"/>
                          </a:solidFill>
                        </a:rPr>
                        <a:t>2.4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박디자이너,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2026-10-14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8인일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 </a:t>
                      </a:r>
                      <a:pPr indent="0" marL="0">
                        <a:buNone/>
                      </a:pPr>
                      <a:r>
                        <a:rPr lang="en-US" sz="1100" dirty="0">
                          <a:solidFill>
                            <a:srgbClr val="1F2937"/>
                          </a:solidFill>
                        </a:rPr>
                        <a:t>WP-001 </a:t>
                      </a:r>
                      <a:pPr indent="0" marL="0">
                        <a:buNone/>
                      </a:pPr>
                      <a:r>
                        <a:rPr lang="en-US" sz="1100" dirty="0">
                          <a:solidFill>
                            <a:srgbClr val="1F2937"/>
                          </a:solidFill>
                        </a:rPr>
                        <a:t>완료 </a:t>
                      </a:r>
                      <a:pPr indent="0" marL="0">
                        <a:buNone/>
                      </a:pPr>
                      <a:r>
                        <a:rPr lang="en-US" sz="1100" dirty="0">
                          <a:solidFill>
                            <a:srgbClr val="1F2937"/>
                          </a:solidFill>
                        </a:rPr>
                        <a:t>후 </a:t>
                      </a:r>
                      <a:pPr indent="0" marL="0">
                        <a:buNone/>
                      </a:pPr>
                      <a:r>
                        <a:rPr lang="en-US" sz="1100" dirty="0">
                          <a:solidFill>
                            <a:srgbClr val="1F2937"/>
                          </a:solidFill>
                        </a:rPr>
                        <a:t>착수. </a:t>
                      </a:r>
                      <a:pPr indent="0" marL="0">
                        <a:buNone/>
                      </a:pPr>
                      <a:r>
                        <a:rPr lang="en-US" sz="1100" dirty="0">
                          <a:solidFill>
                            <a:srgbClr val="1F2937"/>
                          </a:solidFill>
                        </a:rPr>
                        <a:t>SS: </a:t>
                      </a:r>
                      <a:pPr indent="0" marL="0">
                        <a:buNone/>
                      </a:pPr>
                      <a:r>
                        <a:rPr lang="en-US" sz="1100" dirty="0">
                          <a:solidFill>
                            <a:srgbClr val="1F2937"/>
                          </a:solidFill>
                        </a:rPr>
                        <a:t>사용자 </a:t>
                      </a:r>
                      <a:pPr indent="0" marL="0">
                        <a:buNone/>
                      </a:pPr>
                      <a:r>
                        <a:rPr lang="en-US" sz="1100" dirty="0">
                          <a:solidFill>
                            <a:srgbClr val="1F2937"/>
                          </a:solidFill>
                        </a:rPr>
                        <a:t>모집은 </a:t>
                      </a:r>
                      <a:pPr indent="0" marL="0">
                        <a:buNone/>
                      </a:pPr>
                      <a:r>
                        <a:rPr lang="en-US" sz="1100" dirty="0">
                          <a:solidFill>
                            <a:srgbClr val="1F2937"/>
                          </a:solidFill>
                        </a:rPr>
                        <a:t>계획 </a:t>
                      </a:r>
                      <a:pPr indent="0" marL="0">
                        <a:buNone/>
                      </a:pPr>
                      <a:r>
                        <a:rPr lang="en-US" sz="1100" dirty="0">
                          <a:solidFill>
                            <a:srgbClr val="1F2937"/>
                          </a:solidFill>
                        </a:rPr>
                        <a:t>수립과 </a:t>
                      </a:r>
                      <a:pPr indent="0" marL="0">
                        <a:buNone/>
                      </a:pPr>
                      <a:r>
                        <a:rPr lang="en-US" sz="1100" dirty="0">
                          <a:solidFill>
                            <a:srgbClr val="1F2937"/>
                          </a:solidFill>
                        </a:rPr>
                        <a:t>병행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인터뷰 </a:t>
                      </a:r>
                      <a:pPr indent="0" marL="0">
                        <a:buNone/>
                      </a:pPr>
                      <a:r>
                        <a:rPr lang="en-US" sz="1100" dirty="0">
                          <a:solidFill>
                            <a:srgbClr val="1F2937"/>
                          </a:solidFill>
                        </a:rPr>
                        <a:t>질문지, </a:t>
                      </a:r>
                      <a:pPr indent="0" marL="0">
                        <a:buNone/>
                      </a:pPr>
                      <a:r>
                        <a:rPr lang="en-US" sz="1100" dirty="0">
                          <a:solidFill>
                            <a:srgbClr val="1F2937"/>
                          </a:solidFill>
                        </a:rPr>
                        <a:t>사용자 </a:t>
                      </a:r>
                      <a:pPr indent="0" marL="0">
                        <a:buNone/>
                      </a:pPr>
                      <a:r>
                        <a:rPr lang="en-US" sz="1100" dirty="0">
                          <a:solidFill>
                            <a:srgbClr val="1F2937"/>
                          </a:solidFill>
                        </a:rPr>
                        <a:t>조사 </a:t>
                      </a:r>
                      <a:pPr indent="0" marL="0">
                        <a:buNone/>
                      </a:pPr>
                      <a:r>
                        <a:rPr lang="en-US" sz="1100" dirty="0">
                          <a:solidFill>
                            <a:srgbClr val="1F2937"/>
                          </a:solidFill>
                        </a:rPr>
                        <a:t>요약, </a:t>
                      </a:r>
                      <a:pPr indent="0" marL="0">
                        <a:buNone/>
                      </a:pPr>
                      <a:r>
                        <a:rPr lang="en-US" sz="1100" dirty="0">
                          <a:solidFill>
                            <a:srgbClr val="1F2937"/>
                          </a:solidFill>
                        </a:rPr>
                        <a:t>요구사항·사용자 </a:t>
                      </a:r>
                      <a:pPr indent="0" marL="0">
                        <a:buNone/>
                      </a:pPr>
                      <a:r>
                        <a:rPr lang="en-US" sz="1100" dirty="0">
                          <a:solidFill>
                            <a:srgbClr val="1F2937"/>
                          </a:solidFill>
                        </a:rPr>
                        <a:t>흐름 </a:t>
                      </a:r>
                      <a:pPr indent="0" marL="0">
                        <a:buNone/>
                      </a:pPr>
                      <a:r>
                        <a:rPr lang="en-US" sz="1100" dirty="0">
                          <a:solidFill>
                            <a:srgbClr val="1F2937"/>
                          </a:solidFill>
                        </a:rPr>
                        <a:t>문서, </a:t>
                      </a:r>
                      <a:pPr indent="0" marL="0">
                        <a:buNone/>
                      </a:pPr>
                      <a:r>
                        <a:rPr lang="en-US" sz="1100" dirty="0">
                          <a:solidFill>
                            <a:srgbClr val="1F2937"/>
                          </a:solidFill>
                        </a:rPr>
                        <a:t>MVP </a:t>
                      </a:r>
                      <a:pPr indent="0" marL="0">
                        <a:buNone/>
                      </a:pPr>
                      <a:r>
                        <a:rPr lang="en-US" sz="1100" dirty="0">
                          <a:solidFill>
                            <a:srgbClr val="1F2937"/>
                          </a:solidFill>
                        </a:rPr>
                        <a:t>포함·제외 </a:t>
                      </a:r>
                      <a:pPr indent="0" marL="0">
                        <a:buNone/>
                      </a:pPr>
                      <a:r>
                        <a:rPr lang="en-US" sz="1100" dirty="0">
                          <a:solidFill>
                            <a:srgbClr val="1F2937"/>
                          </a:solidFill>
                        </a:rPr>
                        <a:t>목록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식단 </a:t>
                      </a:r>
                      <a:pPr indent="0" marL="0">
                        <a:buNone/>
                      </a:pPr>
                      <a:r>
                        <a:rPr lang="en-US" sz="1100" dirty="0">
                          <a:solidFill>
                            <a:srgbClr val="1F2937"/>
                          </a:solidFill>
                        </a:rPr>
                        <a:t>앱 </a:t>
                      </a:r>
                      <a:pPr indent="0" marL="0">
                        <a:buNone/>
                      </a:pPr>
                      <a:r>
                        <a:rPr lang="en-US" sz="1100" dirty="0">
                          <a:solidFill>
                            <a:srgbClr val="1F2937"/>
                          </a:solidFill>
                        </a:rPr>
                        <a:t>사용·중단 </a:t>
                      </a:r>
                      <a:pPr indent="0" marL="0">
                        <a:buNone/>
                      </a:pPr>
                      <a:r>
                        <a:rPr lang="en-US" sz="1100" dirty="0">
                          <a:solidFill>
                            <a:srgbClr val="1F2937"/>
                          </a:solidFill>
                        </a:rPr>
                        <a:t>경험을 </a:t>
                      </a:r>
                      <a:pPr indent="0" marL="0">
                        <a:buNone/>
                      </a:pPr>
                      <a:r>
                        <a:rPr lang="en-US" sz="1100" dirty="0">
                          <a:solidFill>
                            <a:srgbClr val="1F2937"/>
                          </a:solidFill>
                        </a:rPr>
                        <a:t>포함한 </a:t>
                      </a:r>
                      <a:pPr indent="0" marL="0">
                        <a:buNone/>
                      </a:pPr>
                      <a:r>
                        <a:rPr lang="en-US" sz="1100" dirty="0">
                          <a:solidFill>
                            <a:srgbClr val="1F2937"/>
                          </a:solidFill>
                        </a:rPr>
                        <a:t>조사 </a:t>
                      </a:r>
                      <a:pPr indent="0" marL="0">
                        <a:buNone/>
                      </a:pPr>
                      <a:r>
                        <a:rPr lang="en-US" sz="1100" dirty="0">
                          <a:solidFill>
                            <a:srgbClr val="1F2937"/>
                          </a:solidFill>
                        </a:rPr>
                        <a:t>계획이 </a:t>
                      </a:r>
                      <a:pPr indent="0" marL="0">
                        <a:buNone/>
                      </a:pPr>
                      <a:r>
                        <a:rPr lang="en-US" sz="1100" dirty="0">
                          <a:solidFill>
                            <a:srgbClr val="1F2937"/>
                          </a:solidFill>
                        </a:rPr>
                        <a:t>마련되고, </a:t>
                      </a:r>
                      <a:pPr indent="0" marL="0">
                        <a:buNone/>
                      </a:pPr>
                      <a:r>
                        <a:rPr lang="en-US" sz="1100" dirty="0">
                          <a:solidFill>
                            <a:srgbClr val="1F2937"/>
                          </a:solidFill>
                        </a:rPr>
                        <a:t>핵심 </a:t>
                      </a:r>
                      <a:pPr indent="0" marL="0">
                        <a:buNone/>
                      </a:pPr>
                      <a:r>
                        <a:rPr lang="en-US" sz="1100" dirty="0">
                          <a:solidFill>
                            <a:srgbClr val="1F2937"/>
                          </a:solidFill>
                        </a:rPr>
                        <a:t>기록 </a:t>
                      </a:r>
                      <a:pPr indent="0" marL="0">
                        <a:buNone/>
                      </a:pPr>
                      <a:r>
                        <a:rPr lang="en-US" sz="1100" dirty="0">
                          <a:solidFill>
                            <a:srgbClr val="1F2937"/>
                          </a:solidFill>
                        </a:rPr>
                        <a:t>흐름과 </a:t>
                      </a:r>
                      <a:pPr indent="0" marL="0">
                        <a:buNone/>
                      </a:pPr>
                      <a:r>
                        <a:rPr lang="en-US" sz="1100" dirty="0">
                          <a:solidFill>
                            <a:srgbClr val="1F2937"/>
                          </a:solidFill>
                        </a:rPr>
                        <a:t>MVP </a:t>
                      </a:r>
                      <a:pPr indent="0" marL="0">
                        <a:buNone/>
                      </a:pPr>
                      <a:r>
                        <a:rPr lang="en-US" sz="1100" dirty="0">
                          <a:solidFill>
                            <a:srgbClr val="1F2937"/>
                          </a:solidFill>
                        </a:rPr>
                        <a:t>범위가 </a:t>
                      </a:r>
                      <a:pPr indent="0" marL="0">
                        <a:buNone/>
                      </a:pPr>
                      <a:r>
                        <a:rPr lang="en-US" sz="1100" dirty="0">
                          <a:solidFill>
                            <a:srgbClr val="1F2937"/>
                          </a:solidFill>
                        </a:rPr>
                        <a:t>검토됨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WP-002: 사용자 조사·요구사항 정리</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세부 작업</a:t>
            </a:r>
            <a:endParaRPr lang="en-US" sz="1600" dirty="0"/>
          </a:p>
          <a:p>
            <a:pPr indent="0" marL="0">
              <a:spcAft>
                <a:spcPts val="800"/>
              </a:spcAft>
              <a:buNone/>
            </a:pPr>
            <a:r>
              <a:rPr lang="en-US" sz="1600" dirty="0">
                <a:solidFill>
                  <a:srgbClr val="4B5563"/>
                </a:solidFill>
              </a:rPr>
              <a:t>· 현재 식단 앱을 사용 중인 사람과 사용을 중단한 사람을 모두 고려합니다.</a:t>
            </a:r>
            <a:endParaRPr lang="en-US" sz="1600" dirty="0"/>
          </a:p>
          <a:p>
            <a:pPr indent="0" marL="0">
              <a:spcAft>
                <a:spcPts val="800"/>
              </a:spcAft>
              <a:buNone/>
            </a:pPr>
            <a:r>
              <a:rPr lang="en-US" sz="1600" dirty="0">
                <a:solidFill>
                  <a:srgbClr val="4B5563"/>
                </a:solidFill>
              </a:rPr>
              <a:t>· 20대와 50대를 일부 포함하도록 모집을 진행합니다.</a:t>
            </a:r>
            <a:endParaRPr lang="en-US" sz="1600" dirty="0"/>
          </a:p>
          <a:p>
            <a:pPr indent="0" marL="0">
              <a:spcAft>
                <a:spcPts val="800"/>
              </a:spcAft>
              <a:buNone/>
            </a:pPr>
            <a:r>
              <a:rPr lang="en-US" sz="1600" dirty="0">
                <a:solidFill>
                  <a:srgbClr val="4B5563"/>
                </a:solidFill>
              </a:rPr>
              <a:t>· 기능 선호를 묻기보다 마지막 기록 경험과 중단 이유를 질문합니다.</a:t>
            </a:r>
            <a:endParaRPr lang="en-US" sz="1600" dirty="0"/>
          </a:p>
          <a:p>
            <a:pPr indent="0" marL="0">
              <a:spcAft>
                <a:spcPts val="800"/>
              </a:spcAft>
              <a:buNone/>
            </a:pPr>
            <a:r>
              <a:rPr lang="en-US" sz="1600" dirty="0">
                <a:solidFill>
                  <a:srgbClr val="4B5563"/>
                </a:solidFill>
              </a:rPr>
              <a:t>· 사진 자동 인식은 필요성만 확인하며, MVP 제공 약속으로 제시하지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WP-003: 식품 데이터·인증·개인정보 검토</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식품 </a:t>
                      </a:r>
                      <a:pPr indent="0" marL="0">
                        <a:buNone/>
                      </a:pPr>
                      <a:r>
                        <a:rPr lang="en-US" sz="1100" dirty="0">
                          <a:solidFill>
                            <a:srgbClr val="1F2937"/>
                          </a:solidFill>
                        </a:rPr>
                        <a:t>데이터·인증·개인정보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2.3, </a:t>
                      </a:r>
                      <a:pPr indent="0" marL="0">
                        <a:buNone/>
                      </a:pPr>
                      <a:r>
                        <a:rPr lang="en-US" sz="1100" dirty="0">
                          <a:solidFill>
                            <a:srgbClr val="1F2937"/>
                          </a:solidFill>
                        </a:rPr>
                        <a:t>3.5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 </a:t>
                      </a:r>
                      <a:pPr indent="0" marL="0">
                        <a:buNone/>
                      </a:pPr>
                      <a:r>
                        <a:rPr lang="en-US" sz="1100" dirty="0">
                          <a:solidFill>
                            <a:srgbClr val="1F2937"/>
                          </a:solidFill>
                        </a:rPr>
                        <a:t>이대표, </a:t>
                      </a:r>
                      <a:pPr indent="0" marL="0">
                        <a:buNone/>
                      </a:pPr>
                      <a:r>
                        <a:rPr lang="en-US" sz="1100" dirty="0">
                          <a:solidFill>
                            <a:srgbClr val="1F2937"/>
                          </a:solidFill>
                        </a:rPr>
                        <a:t>법무·개인정보 </a:t>
                      </a:r>
                      <a:pPr indent="0" marL="0">
                        <a:buNone/>
                      </a:pPr>
                      <a:r>
                        <a:rPr lang="en-US" sz="1100" dirty="0">
                          <a:solidFill>
                            <a:srgbClr val="1F2937"/>
                          </a:solidFill>
                        </a:rPr>
                        <a:t>담당자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2026-10-14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8인일 </a:t>
                      </a:r>
                      <a:pPr indent="0" marL="0">
                        <a:buNone/>
                      </a:pPr>
                      <a:r>
                        <a:rPr lang="en-US" sz="1100" dirty="0">
                          <a:solidFill>
                            <a:srgbClr val="1F2937"/>
                          </a:solidFill>
                        </a:rPr>
                        <a:t>추정. </a:t>
                      </a:r>
                      <a:pPr indent="0" marL="0">
                        <a:buNone/>
                      </a:pPr>
                      <a:r>
                        <a:rPr lang="en-US" sz="1100" dirty="0">
                          <a:solidFill>
                            <a:srgbClr val="1F2937"/>
                          </a:solidFill>
                        </a:rPr>
                        <a:t>외부 </a:t>
                      </a:r>
                      <a:pPr indent="0" marL="0">
                        <a:buNone/>
                      </a:pPr>
                      <a:r>
                        <a:rPr lang="en-US" sz="1100" dirty="0">
                          <a:solidFill>
                            <a:srgbClr val="1F2937"/>
                          </a:solidFill>
                        </a:rPr>
                        <a:t>검토자 </a:t>
                      </a:r>
                      <a:pPr indent="0" marL="0">
                        <a:buNone/>
                      </a:pPr>
                      <a:r>
                        <a:rPr lang="en-US" sz="1100" dirty="0">
                          <a:solidFill>
                            <a:srgbClr val="1F2937"/>
                          </a:solidFill>
                        </a:rPr>
                        <a:t>공수는 </a:t>
                      </a:r>
                      <a:pPr indent="0" marL="0">
                        <a:buNone/>
                      </a:pPr>
                      <a:r>
                        <a:rPr lang="en-US" sz="1100" dirty="0">
                          <a:solidFill>
                            <a:srgbClr val="1F2937"/>
                          </a:solidFill>
                        </a:rPr>
                        <a:t>별도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 </a:t>
                      </a:r>
                      <a:pPr indent="0" marL="0">
                        <a:buNone/>
                      </a:pPr>
                      <a:r>
                        <a:rPr lang="en-US" sz="1100" dirty="0">
                          <a:solidFill>
                            <a:srgbClr val="1F2937"/>
                          </a:solidFill>
                        </a:rPr>
                        <a:t>요구사항 </a:t>
                      </a:r>
                      <a:pPr indent="0" marL="0">
                        <a:buNone/>
                      </a:pPr>
                      <a:r>
                        <a:rPr lang="en-US" sz="1100" dirty="0">
                          <a:solidFill>
                            <a:srgbClr val="1F2937"/>
                          </a:solidFill>
                        </a:rPr>
                        <a:t>정리와 </a:t>
                      </a:r>
                      <a:pPr indent="0" marL="0">
                        <a:buNone/>
                      </a:pPr>
                      <a:r>
                        <a:rPr lang="en-US" sz="1100" dirty="0">
                          <a:solidFill>
                            <a:srgbClr val="1F2937"/>
                          </a:solidFill>
                        </a:rPr>
                        <a:t>병행. </a:t>
                      </a:r>
                      <a:pPr indent="0" marL="0">
                        <a:buNone/>
                      </a:pPr>
                      <a:r>
                        <a:rPr lang="en-US" sz="1100" dirty="0">
                          <a:solidFill>
                            <a:srgbClr val="1F2937"/>
                          </a:solidFill>
                        </a:rPr>
                        <a:t>FS: </a:t>
                      </a:r>
                      <a:pPr indent="0" marL="0">
                        <a:buNone/>
                      </a:pPr>
                      <a:r>
                        <a:rPr lang="en-US" sz="1100" dirty="0">
                          <a:solidFill>
                            <a:srgbClr val="1F2937"/>
                          </a:solidFill>
                        </a:rPr>
                        <a:t>실제 </a:t>
                      </a:r>
                      <a:pPr indent="0" marL="0">
                        <a:buNone/>
                      </a:pPr>
                      <a:r>
                        <a:rPr lang="en-US" sz="1100" dirty="0">
                          <a:solidFill>
                            <a:srgbClr val="1F2937"/>
                          </a:solidFill>
                        </a:rPr>
                        <a:t>연동 </a:t>
                      </a:r>
                      <a:pPr indent="0" marL="0">
                        <a:buNone/>
                      </a:pPr>
                      <a:r>
                        <a:rPr lang="en-US" sz="1100" dirty="0">
                          <a:solidFill>
                            <a:srgbClr val="1F2937"/>
                          </a:solidFill>
                        </a:rPr>
                        <a:t>개발은 </a:t>
                      </a:r>
                      <a:pPr indent="0" marL="0">
                        <a:buNone/>
                      </a:pPr>
                      <a:r>
                        <a:rPr lang="en-US" sz="1100" dirty="0">
                          <a:solidFill>
                            <a:srgbClr val="1F2937"/>
                          </a:solidFill>
                        </a:rPr>
                        <a:t>공급처·인증 </a:t>
                      </a:r>
                      <a:pPr indent="0" marL="0">
                        <a:buNone/>
                      </a:pPr>
                      <a:r>
                        <a:rPr lang="en-US" sz="1100" dirty="0">
                          <a:solidFill>
                            <a:srgbClr val="1F2937"/>
                          </a:solidFill>
                        </a:rPr>
                        <a:t>범위 </a:t>
                      </a:r>
                      <a:pPr indent="0" marL="0">
                        <a:buNone/>
                      </a:pPr>
                      <a:r>
                        <a:rPr lang="en-US" sz="1100" dirty="0">
                          <a:solidFill>
                            <a:srgbClr val="1F2937"/>
                          </a:solidFill>
                        </a:rPr>
                        <a:t>결정 </a:t>
                      </a:r>
                      <a:pPr indent="0" marL="0">
                        <a:buNone/>
                      </a:pPr>
                      <a:r>
                        <a:rPr lang="en-US" sz="1100" dirty="0">
                          <a:solidFill>
                            <a:srgbClr val="1F2937"/>
                          </a:solidFill>
                        </a:rPr>
                        <a:t>후 </a:t>
                      </a:r>
                      <a:pPr indent="0" marL="0">
                        <a:buNone/>
                      </a:pPr>
                      <a:r>
                        <a:rPr lang="en-US" sz="1100" dirty="0">
                          <a:solidFill>
                            <a:srgbClr val="1F2937"/>
                          </a:solidFill>
                        </a:rPr>
                        <a:t>진행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식품 </a:t>
                      </a:r>
                      <a:pPr indent="0" marL="0">
                        <a:buNone/>
                      </a:pPr>
                      <a:r>
                        <a:rPr lang="en-US" sz="1100" dirty="0">
                          <a:solidFill>
                            <a:srgbClr val="1F2937"/>
                          </a:solidFill>
                        </a:rPr>
                        <a:t>데이터 </a:t>
                      </a:r>
                      <a:pPr indent="0" marL="0">
                        <a:buNone/>
                      </a:pPr>
                      <a:r>
                        <a:rPr lang="en-US" sz="1100" dirty="0">
                          <a:solidFill>
                            <a:srgbClr val="1F2937"/>
                          </a:solidFill>
                        </a:rPr>
                        <a:t>비교표, </a:t>
                      </a:r>
                      <a:pPr indent="0" marL="0">
                        <a:buNone/>
                      </a:pPr>
                      <a:r>
                        <a:rPr lang="en-US" sz="1100" dirty="0">
                          <a:solidFill>
                            <a:srgbClr val="1F2937"/>
                          </a:solidFill>
                        </a:rPr>
                        <a:t>샘플 </a:t>
                      </a:r>
                      <a:pPr indent="0" marL="0">
                        <a:buNone/>
                      </a:pPr>
                      <a:r>
                        <a:rPr lang="en-US" sz="1100" dirty="0">
                          <a:solidFill>
                            <a:srgbClr val="1F2937"/>
                          </a:solidFill>
                        </a:rPr>
                        <a:t>응답 </a:t>
                      </a:r>
                      <a:pPr indent="0" marL="0">
                        <a:buNone/>
                      </a:pPr>
                      <a:r>
                        <a:rPr lang="en-US" sz="1100" dirty="0">
                          <a:solidFill>
                            <a:srgbClr val="1F2937"/>
                          </a:solidFill>
                        </a:rPr>
                        <a:t>분석, </a:t>
                      </a:r>
                      <a:pPr indent="0" marL="0">
                        <a:buNone/>
                      </a:pPr>
                      <a:r>
                        <a:rPr lang="en-US" sz="1100" dirty="0">
                          <a:solidFill>
                            <a:srgbClr val="1F2937"/>
                          </a:solidFill>
                        </a:rPr>
                        <a:t>인증 </a:t>
                      </a:r>
                      <a:pPr indent="0" marL="0">
                        <a:buNone/>
                      </a:pPr>
                      <a:r>
                        <a:rPr lang="en-US" sz="1100" dirty="0">
                          <a:solidFill>
                            <a:srgbClr val="1F2937"/>
                          </a:solidFill>
                        </a:rPr>
                        <a:t>방식 </a:t>
                      </a:r>
                      <a:pPr indent="0" marL="0">
                        <a:buNone/>
                      </a:pPr>
                      <a:r>
                        <a:rPr lang="en-US" sz="1100" dirty="0">
                          <a:solidFill>
                            <a:srgbClr val="1F2937"/>
                          </a:solidFill>
                        </a:rPr>
                        <a:t>비교, </a:t>
                      </a:r>
                      <a:pPr indent="0" marL="0">
                        <a:buNone/>
                      </a:pPr>
                      <a:r>
                        <a:rPr lang="en-US" sz="1100" dirty="0">
                          <a:solidFill>
                            <a:srgbClr val="1F2937"/>
                          </a:solidFill>
                        </a:rPr>
                        <a:t>개인정보 </a:t>
                      </a:r>
                      <a:pPr indent="0" marL="0">
                        <a:buNone/>
                      </a:pPr>
                      <a:r>
                        <a:rPr lang="en-US" sz="1100" dirty="0">
                          <a:solidFill>
                            <a:srgbClr val="1F2937"/>
                          </a:solidFill>
                        </a:rPr>
                        <a:t>데이터 </a:t>
                      </a:r>
                      <a:pPr indent="0" marL="0">
                        <a:buNone/>
                      </a:pPr>
                      <a:r>
                        <a:rPr lang="en-US" sz="1100" dirty="0">
                          <a:solidFill>
                            <a:srgbClr val="1F2937"/>
                          </a:solidFill>
                        </a:rPr>
                        <a:t>흐름 </a:t>
                      </a:r>
                      <a:pPr indent="0" marL="0">
                        <a:buNone/>
                      </a:pPr>
                      <a:r>
                        <a:rPr lang="en-US" sz="1100" dirty="0">
                          <a:solidFill>
                            <a:srgbClr val="1F2937"/>
                          </a:solidFill>
                        </a:rPr>
                        <a:t>초안, </a:t>
                      </a:r>
                      <a:pPr indent="0" marL="0">
                        <a:buNone/>
                      </a:pPr>
                      <a:r>
                        <a:rPr lang="en-US" sz="1100" dirty="0">
                          <a:solidFill>
                            <a:srgbClr val="1F2937"/>
                          </a:solidFill>
                        </a:rPr>
                        <a:t>미결정 </a:t>
                      </a:r>
                      <a:pPr indent="0" marL="0">
                        <a:buNone/>
                      </a:pPr>
                      <a:r>
                        <a:rPr lang="en-US" sz="1100" dirty="0">
                          <a:solidFill>
                            <a:srgbClr val="1F2937"/>
                          </a:solidFill>
                        </a:rPr>
                        <a:t>항목 </a:t>
                      </a:r>
                      <a:pPr indent="0" marL="0">
                        <a:buNone/>
                      </a:pPr>
                      <a:r>
                        <a:rPr lang="en-US" sz="1100" dirty="0">
                          <a:solidFill>
                            <a:srgbClr val="1F2937"/>
                          </a:solidFill>
                        </a:rPr>
                        <a:t>보고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식품 </a:t>
                      </a:r>
                      <a:pPr indent="0" marL="0">
                        <a:buNone/>
                      </a:pPr>
                      <a:r>
                        <a:rPr lang="en-US" sz="1100" dirty="0">
                          <a:solidFill>
                            <a:srgbClr val="1F2937"/>
                          </a:solidFill>
                        </a:rPr>
                        <a:t>공급처 </a:t>
                      </a:r>
                      <a:pPr indent="0" marL="0">
                        <a:buNone/>
                      </a:pPr>
                      <a:r>
                        <a:rPr lang="en-US" sz="1100" dirty="0">
                          <a:solidFill>
                            <a:srgbClr val="1F2937"/>
                          </a:solidFill>
                        </a:rPr>
                        <a:t>후보의 </a:t>
                      </a:r>
                      <a:pPr indent="0" marL="0">
                        <a:buNone/>
                      </a:pPr>
                      <a:r>
                        <a:rPr lang="en-US" sz="1100" dirty="0">
                          <a:solidFill>
                            <a:srgbClr val="1F2937"/>
                          </a:solidFill>
                        </a:rPr>
                        <a:t>국내 </a:t>
                      </a:r>
                      <a:pPr indent="0" marL="0">
                        <a:buNone/>
                      </a:pPr>
                      <a:r>
                        <a:rPr lang="en-US" sz="1100" dirty="0">
                          <a:solidFill>
                            <a:srgbClr val="1F2937"/>
                          </a:solidFill>
                        </a:rPr>
                        <a:t>커버리지·사용권·캐시·비용·검색어 </a:t>
                      </a:r>
                      <a:pPr indent="0" marL="0">
                        <a:buNone/>
                      </a:pPr>
                      <a:r>
                        <a:rPr lang="en-US" sz="1100" dirty="0">
                          <a:solidFill>
                            <a:srgbClr val="1F2937"/>
                          </a:solidFill>
                        </a:rPr>
                        <a:t>처리 </a:t>
                      </a:r>
                      <a:pPr indent="0" marL="0">
                        <a:buNone/>
                      </a:pPr>
                      <a:r>
                        <a:rPr lang="en-US" sz="1100" dirty="0">
                          <a:solidFill>
                            <a:srgbClr val="1F2937"/>
                          </a:solidFill>
                        </a:rPr>
                        <a:t>조건과 </a:t>
                      </a:r>
                      <a:pPr indent="0" marL="0">
                        <a:buNone/>
                      </a:pPr>
                      <a:r>
                        <a:rPr lang="en-US" sz="1100" dirty="0">
                          <a:solidFill>
                            <a:srgbClr val="1F2937"/>
                          </a:solidFill>
                        </a:rPr>
                        <a:t>인증 </a:t>
                      </a:r>
                      <a:pPr indent="0" marL="0">
                        <a:buNone/>
                      </a:pPr>
                      <a:r>
                        <a:rPr lang="en-US" sz="1100" dirty="0">
                          <a:solidFill>
                            <a:srgbClr val="1F2937"/>
                          </a:solidFill>
                        </a:rPr>
                        <a:t>방식 </a:t>
                      </a:r>
                      <a:pPr indent="0" marL="0">
                        <a:buNone/>
                      </a:pPr>
                      <a:r>
                        <a:rPr lang="en-US" sz="1100" dirty="0">
                          <a:solidFill>
                            <a:srgbClr val="1F2937"/>
                          </a:solidFill>
                        </a:rPr>
                        <a:t>선택 </a:t>
                      </a:r>
                      <a:pPr indent="0" marL="0">
                        <a:buNone/>
                      </a:pPr>
                      <a:r>
                        <a:rPr lang="en-US" sz="1100" dirty="0">
                          <a:solidFill>
                            <a:srgbClr val="1F2937"/>
                          </a:solidFill>
                        </a:rPr>
                        <a:t>기준을 </a:t>
                      </a:r>
                      <a:pPr indent="0" marL="0">
                        <a:buNone/>
                      </a:pPr>
                      <a:r>
                        <a:rPr lang="en-US" sz="1100" dirty="0">
                          <a:solidFill>
                            <a:srgbClr val="1F2937"/>
                          </a:solidFill>
                        </a:rPr>
                        <a:t>검토함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WP-003: 식품 데이터·인증·개인정보 검토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마감·대체 기준</a:t>
            </a:r>
            <a:endParaRPr lang="en-US" sz="1600" dirty="0"/>
          </a:p>
          <a:p>
            <a:pPr indent="0" marL="0">
              <a:spcAft>
                <a:spcPts val="800"/>
              </a:spcAft>
              <a:buNone/>
            </a:pPr>
            <a:r>
              <a:rPr lang="en-US" sz="1600" dirty="0">
                <a:solidFill>
                  <a:srgbClr val="4B5563"/>
                </a:solidFill>
              </a:rPr>
              <a:t>· 1주 차 금요일까지 API 샘플과 계약 조건을 확인하는 것을 목표로 합니다.</a:t>
            </a:r>
            <a:endParaRPr lang="en-US" sz="1600" dirty="0"/>
          </a:p>
          <a:p>
            <a:pPr indent="0" marL="0">
              <a:spcAft>
                <a:spcPts val="800"/>
              </a:spcAft>
              <a:buNone/>
            </a:pPr>
            <a:r>
              <a:rPr lang="en-US" sz="1600" dirty="0">
                <a:solidFill>
                  <a:srgbClr val="4B5563"/>
                </a:solidFill>
              </a:rPr>
              <a:t>· 샘플·계약 조건이 없으면 임시 시험 자료로 개발을 진행합니다.</a:t>
            </a:r>
            <a:endParaRPr lang="en-US" sz="1600" dirty="0"/>
          </a:p>
          <a:p>
            <a:pPr indent="0" marL="0">
              <a:spcAft>
                <a:spcPts val="800"/>
              </a:spcAft>
              <a:buNone/>
            </a:pPr>
            <a:r>
              <a:rPr lang="en-US" sz="1600" dirty="0">
                <a:solidFill>
                  <a:srgbClr val="4B5563"/>
                </a:solidFill>
              </a:rPr>
              <a:t>· 2주 차 화요일까지 공급처가 결정되지 않으면 일정 위험으로 올립니다.</a:t>
            </a:r>
            <a:endParaRPr lang="en-US" sz="1600" dirty="0"/>
          </a:p>
          <a:p>
            <a:pPr indent="0" marL="0">
              <a:spcAft>
                <a:spcPts val="800"/>
              </a:spcAft>
              <a:buNone/>
            </a:pPr>
            <a:r>
              <a:rPr lang="en-US" sz="1600" dirty="0">
                <a:solidFill>
                  <a:srgbClr val="4B5563"/>
                </a:solidFill>
              </a:rPr>
              <a:t>· 외부 API에는 검색어만 전달하고 사용자 식별값·기록 자료는 보내지 않는 방향을 설계합니다.</a:t>
            </a:r>
            <a:endParaRPr lang="en-US" sz="1600" dirty="0"/>
          </a:p>
          <a:p>
            <a:pPr indent="0" marL="0">
              <a:spcAft>
                <a:spcPts val="800"/>
              </a:spcAft>
              <a:buNone/>
            </a:pPr>
            <a:r>
              <a:rPr lang="en-US" sz="1600" dirty="0">
                <a:solidFill>
                  <a:srgbClr val="4B5563"/>
                </a:solidFill>
              </a:rPr>
              <a:t>· 로그인 제공자 범위는 다음 주 화요일까지 동결을 목표로 합니다. 지연 시 제공자 수 또는 게스트 범위 축소를 검토합니다.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WP-004: 화면 설계·디자인 시스템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화면 </a:t>
                      </a:r>
                      <a:pPr indent="0" marL="0">
                        <a:buNone/>
                      </a:pPr>
                      <a:r>
                        <a:rPr lang="en-US" sz="1100" dirty="0">
                          <a:solidFill>
                            <a:srgbClr val="1F2937"/>
                          </a:solidFill>
                        </a:rPr>
                        <a:t>설계·디자인 </a:t>
                      </a:r>
                      <a:pPr indent="0" marL="0">
                        <a:buNone/>
                      </a:pPr>
                      <a:r>
                        <a:rPr lang="en-US" sz="1100" dirty="0">
                          <a:solidFill>
                            <a:srgbClr val="1F2937"/>
                          </a:solidFill>
                        </a:rPr>
                        <a:t>시스템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3.1, </a:t>
                      </a:r>
                      <a:pPr indent="0" marL="0">
                        <a:buNone/>
                      </a:pPr>
                      <a:r>
                        <a:rPr lang="en-US" sz="1100" dirty="0">
                          <a:solidFill>
                            <a:srgbClr val="1F2937"/>
                          </a:solidFill>
                        </a:rPr>
                        <a:t>3.2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박디자이너,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12인일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WP-002 </a:t>
                      </a:r>
                      <a:pPr indent="0" marL="0">
                        <a:buNone/>
                      </a:pPr>
                      <a:r>
                        <a:rPr lang="en-US" sz="1100" dirty="0">
                          <a:solidFill>
                            <a:srgbClr val="1F2937"/>
                          </a:solidFill>
                        </a:rPr>
                        <a:t>일부 </a:t>
                      </a:r>
                      <a:pPr indent="0" marL="0">
                        <a:buNone/>
                      </a:pPr>
                      <a:r>
                        <a:rPr lang="en-US" sz="1100" dirty="0">
                          <a:solidFill>
                            <a:srgbClr val="1F2937"/>
                          </a:solidFill>
                        </a:rPr>
                        <a:t>요구사항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 </a:t>
                      </a:r>
                      <a:pPr indent="0" marL="0">
                        <a:buNone/>
                      </a:pPr>
                      <a:r>
                        <a:rPr lang="en-US" sz="1100" dirty="0">
                          <a:solidFill>
                            <a:srgbClr val="1F2937"/>
                          </a:solidFill>
                        </a:rPr>
                        <a:t>요구사항 </a:t>
                      </a:r>
                      <a:pPr indent="0" marL="0">
                        <a:buNone/>
                      </a:pPr>
                      <a:r>
                        <a:rPr lang="en-US" sz="1100" dirty="0">
                          <a:solidFill>
                            <a:srgbClr val="1F2937"/>
                          </a:solidFill>
                        </a:rPr>
                        <a:t>정리와 </a:t>
                      </a:r>
                      <a:pPr indent="0" marL="0">
                        <a:buNone/>
                      </a:pPr>
                      <a:r>
                        <a:rPr lang="en-US" sz="1100" dirty="0">
                          <a:solidFill>
                            <a:srgbClr val="1F2937"/>
                          </a:solidFill>
                        </a:rPr>
                        <a:t>병행. </a:t>
                      </a:r>
                      <a:pPr indent="0" marL="0">
                        <a:buNone/>
                      </a:pPr>
                      <a:r>
                        <a:rPr lang="en-US" sz="1100" dirty="0">
                          <a:solidFill>
                            <a:srgbClr val="1F2937"/>
                          </a:solidFill>
                        </a:rPr>
                        <a:t>FS: </a:t>
                      </a:r>
                      <a:pPr indent="0" marL="0">
                        <a:buNone/>
                      </a:pPr>
                      <a:r>
                        <a:rPr lang="en-US" sz="1100" dirty="0">
                          <a:solidFill>
                            <a:srgbClr val="1F2937"/>
                          </a:solidFill>
                        </a:rPr>
                        <a:t>핵심 </a:t>
                      </a:r>
                      <a:pPr indent="0" marL="0">
                        <a:buNone/>
                      </a:pPr>
                      <a:r>
                        <a:rPr lang="en-US" sz="1100" dirty="0">
                          <a:solidFill>
                            <a:srgbClr val="1F2937"/>
                          </a:solidFill>
                        </a:rPr>
                        <a:t>화면 </a:t>
                      </a:r>
                      <a:pPr indent="0" marL="0">
                        <a:buNone/>
                      </a:pPr>
                      <a:r>
                        <a:rPr lang="en-US" sz="1100" dirty="0">
                          <a:solidFill>
                            <a:srgbClr val="1F2937"/>
                          </a:solidFill>
                        </a:rPr>
                        <a:t>개발은 </a:t>
                      </a:r>
                      <a:pPr indent="0" marL="0">
                        <a:buNone/>
                      </a:pPr>
                      <a:r>
                        <a:rPr lang="en-US" sz="1100" dirty="0">
                          <a:solidFill>
                            <a:srgbClr val="1F2937"/>
                          </a:solidFill>
                        </a:rPr>
                        <a:t>해당 </a:t>
                      </a:r>
                      <a:pPr indent="0" marL="0">
                        <a:buNone/>
                      </a:pPr>
                      <a:r>
                        <a:rPr lang="en-US" sz="1100" dirty="0">
                          <a:solidFill>
                            <a:srgbClr val="1F2937"/>
                          </a:solidFill>
                        </a:rPr>
                        <a:t>화면의 </a:t>
                      </a:r>
                      <a:pPr indent="0" marL="0">
                        <a:buNone/>
                      </a:pPr>
                      <a:r>
                        <a:rPr lang="en-US" sz="1100" dirty="0">
                          <a:solidFill>
                            <a:srgbClr val="1F2937"/>
                          </a:solidFill>
                        </a:rPr>
                        <a:t>와이어프레임·상태 </a:t>
                      </a:r>
                      <a:pPr indent="0" marL="0">
                        <a:buNone/>
                      </a:pPr>
                      <a:r>
                        <a:rPr lang="en-US" sz="1100" dirty="0">
                          <a:solidFill>
                            <a:srgbClr val="1F2937"/>
                          </a:solidFill>
                        </a:rPr>
                        <a:t>정의 </a:t>
                      </a:r>
                      <a:pPr indent="0" marL="0">
                        <a:buNone/>
                      </a:pPr>
                      <a:r>
                        <a:rPr lang="en-US" sz="1100" dirty="0">
                          <a:solidFill>
                            <a:srgbClr val="1F2937"/>
                          </a:solidFill>
                        </a:rPr>
                        <a:t>전달 </a:t>
                      </a:r>
                      <a:pPr indent="0" marL="0">
                        <a:buNone/>
                      </a:pPr>
                      <a:r>
                        <a:rPr lang="en-US" sz="1100" dirty="0">
                          <a:solidFill>
                            <a:srgbClr val="1F2937"/>
                          </a:solidFill>
                        </a:rPr>
                        <a:t>후 </a:t>
                      </a:r>
                      <a:pPr indent="0" marL="0">
                        <a:buNone/>
                      </a:pPr>
                      <a:r>
                        <a:rPr lang="en-US" sz="1100" dirty="0">
                          <a:solidFill>
                            <a:srgbClr val="1F2937"/>
                          </a:solidFill>
                        </a:rPr>
                        <a:t>시작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흐름도, </a:t>
                      </a:r>
                      <a:pPr indent="0" marL="0">
                        <a:buNone/>
                      </a:pPr>
                      <a:r>
                        <a:rPr lang="en-US" sz="1100" dirty="0">
                          <a:solidFill>
                            <a:srgbClr val="1F2937"/>
                          </a:solidFill>
                        </a:rPr>
                        <a:t>와이어프레임, </a:t>
                      </a:r>
                      <a:pPr indent="0" marL="0">
                        <a:buNone/>
                      </a:pPr>
                      <a:r>
                        <a:rPr lang="en-US" sz="1100" dirty="0">
                          <a:solidFill>
                            <a:srgbClr val="1F2937"/>
                          </a:solidFill>
                        </a:rPr>
                        <a:t>핵심 </a:t>
                      </a:r>
                      <a:pPr indent="0" marL="0">
                        <a:buNone/>
                      </a:pPr>
                      <a:r>
                        <a:rPr lang="en-US" sz="1100" dirty="0">
                          <a:solidFill>
                            <a:srgbClr val="1F2937"/>
                          </a:solidFill>
                        </a:rPr>
                        <a:t>화면 </a:t>
                      </a:r>
                      <a:pPr indent="0" marL="0">
                        <a:buNone/>
                      </a:pPr>
                      <a:r>
                        <a:rPr lang="en-US" sz="1100" dirty="0">
                          <a:solidFill>
                            <a:srgbClr val="1F2937"/>
                          </a:solidFill>
                        </a:rPr>
                        <a:t>시안, </a:t>
                      </a:r>
                      <a:pPr indent="0" marL="0">
                        <a:buNone/>
                      </a:pPr>
                      <a:r>
                        <a:rPr lang="en-US" sz="1100" dirty="0">
                          <a:solidFill>
                            <a:srgbClr val="1F2937"/>
                          </a:solidFill>
                        </a:rPr>
                        <a:t>공통 </a:t>
                      </a:r>
                      <a:pPr indent="0" marL="0">
                        <a:buNone/>
                      </a:pPr>
                      <a:r>
                        <a:rPr lang="en-US" sz="1100" dirty="0">
                          <a:solidFill>
                            <a:srgbClr val="1F2937"/>
                          </a:solidFill>
                        </a:rPr>
                        <a:t>구성 </a:t>
                      </a:r>
                      <a:pPr indent="0" marL="0">
                        <a:buNone/>
                      </a:pPr>
                      <a:r>
                        <a:rPr lang="en-US" sz="1100" dirty="0">
                          <a:solidFill>
                            <a:srgbClr val="1F2937"/>
                          </a:solidFill>
                        </a:rPr>
                        <a:t>요소, </a:t>
                      </a:r>
                      <a:pPr indent="0" marL="0">
                        <a:buNone/>
                      </a:pPr>
                      <a:r>
                        <a:rPr lang="en-US" sz="1100" dirty="0">
                          <a:solidFill>
                            <a:srgbClr val="1F2937"/>
                          </a:solidFill>
                        </a:rPr>
                        <a:t>접근성 </a:t>
                      </a:r>
                      <a:pPr indent="0" marL="0">
                        <a:buNone/>
                      </a:pPr>
                      <a:r>
                        <a:rPr lang="en-US" sz="1100" dirty="0">
                          <a:solidFill>
                            <a:srgbClr val="1F2937"/>
                          </a:solidFill>
                        </a:rPr>
                        <a:t>기본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2주 </a:t>
                      </a:r>
                      <a:pPr indent="0" marL="0">
                        <a:buNone/>
                      </a:pPr>
                      <a:r>
                        <a:rPr lang="en-US" sz="1100" dirty="0">
                          <a:solidFill>
                            <a:srgbClr val="1F2937"/>
                          </a:solidFill>
                        </a:rPr>
                        <a:t>차 </a:t>
                      </a:r>
                      <a:pPr indent="0" marL="0">
                        <a:buNone/>
                      </a:pPr>
                      <a:r>
                        <a:rPr lang="en-US" sz="1100" dirty="0">
                          <a:solidFill>
                            <a:srgbClr val="1F2937"/>
                          </a:solidFill>
                        </a:rPr>
                        <a:t>말까지 </a:t>
                      </a:r>
                      <a:pPr indent="0" marL="0">
                        <a:buNone/>
                      </a:pPr>
                      <a:r>
                        <a:rPr lang="en-US" sz="1100" dirty="0">
                          <a:solidFill>
                            <a:srgbClr val="1F2937"/>
                          </a:solidFill>
                        </a:rPr>
                        <a:t>핵심 </a:t>
                      </a:r>
                      <a:pPr indent="0" marL="0">
                        <a:buNone/>
                      </a:pPr>
                      <a:r>
                        <a:rPr lang="en-US" sz="1100" dirty="0">
                          <a:solidFill>
                            <a:srgbClr val="1F2937"/>
                          </a:solidFill>
                        </a:rPr>
                        <a:t>화면과 </a:t>
                      </a:r>
                      <a:pPr indent="0" marL="0">
                        <a:buNone/>
                      </a:pPr>
                      <a:r>
                        <a:rPr lang="en-US" sz="1100" dirty="0">
                          <a:solidFill>
                            <a:srgbClr val="1F2937"/>
                          </a:solidFill>
                        </a:rPr>
                        <a:t>공통 </a:t>
                      </a:r>
                      <a:pPr indent="0" marL="0">
                        <a:buNone/>
                      </a:pPr>
                      <a:r>
                        <a:rPr lang="en-US" sz="1100" dirty="0">
                          <a:solidFill>
                            <a:srgbClr val="1F2937"/>
                          </a:solidFill>
                        </a:rPr>
                        <a:t>요소를 </a:t>
                      </a:r>
                      <a:pPr indent="0" marL="0">
                        <a:buNone/>
                      </a:pPr>
                      <a:r>
                        <a:rPr lang="en-US" sz="1100" dirty="0">
                          <a:solidFill>
                            <a:srgbClr val="1F2937"/>
                          </a:solidFill>
                        </a:rPr>
                        <a:t>개발에 </a:t>
                      </a:r>
                      <a:pPr indent="0" marL="0">
                        <a:buNone/>
                      </a:pPr>
                      <a:r>
                        <a:rPr lang="en-US" sz="1100" dirty="0">
                          <a:solidFill>
                            <a:srgbClr val="1F2937"/>
                          </a:solidFill>
                        </a:rPr>
                        <a:t>전달하고, </a:t>
                      </a:r>
                      <a:pPr indent="0" marL="0">
                        <a:buNone/>
                      </a:pPr>
                      <a:r>
                        <a:rPr lang="en-US" sz="1100" dirty="0">
                          <a:solidFill>
                            <a:srgbClr val="1F2937"/>
                          </a:solidFill>
                        </a:rPr>
                        <a:t>주요 </a:t>
                      </a:r>
                      <a:pPr indent="0" marL="0">
                        <a:buNone/>
                      </a:pPr>
                      <a:r>
                        <a:rPr lang="en-US" sz="1100" dirty="0">
                          <a:solidFill>
                            <a:srgbClr val="1F2937"/>
                          </a:solidFill>
                        </a:rPr>
                        <a:t>오류·빈 </a:t>
                      </a:r>
                      <a:pPr indent="0" marL="0">
                        <a:buNone/>
                      </a:pPr>
                      <a:r>
                        <a:rPr lang="en-US" sz="1100" dirty="0">
                          <a:solidFill>
                            <a:srgbClr val="1F2937"/>
                          </a:solidFill>
                        </a:rPr>
                        <a:t>상태가 </a:t>
                      </a:r>
                      <a:pPr indent="0" marL="0">
                        <a:buNone/>
                      </a:pPr>
                      <a:r>
                        <a:rPr lang="en-US" sz="1100" dirty="0">
                          <a:solidFill>
                            <a:srgbClr val="1F2937"/>
                          </a:solidFill>
                        </a:rPr>
                        <a:t>정의됨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WP-004: 화면 설계·디자인 시스템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일정 기준</a:t>
            </a:r>
            <a:endParaRPr lang="en-US" sz="1600" dirty="0"/>
          </a:p>
          <a:p>
            <a:pPr indent="0" marL="0">
              <a:spcAft>
                <a:spcPts val="800"/>
              </a:spcAft>
              <a:buNone/>
            </a:pPr>
            <a:r>
              <a:rPr lang="en-US" sz="1600" dirty="0">
                <a:solidFill>
                  <a:srgbClr val="4B5563"/>
                </a:solidFill>
              </a:rPr>
              <a:t>· W1: 핵심 사용자 흐름과 화면 목록 정리</a:t>
            </a:r>
            <a:endParaRPr lang="en-US" sz="1600" dirty="0"/>
          </a:p>
          <a:p>
            <a:pPr indent="0" marL="0">
              <a:spcAft>
                <a:spcPts val="800"/>
              </a:spcAft>
              <a:buNone/>
            </a:pPr>
            <a:r>
              <a:rPr lang="en-US" sz="1600" dirty="0">
                <a:solidFill>
                  <a:srgbClr val="4B5563"/>
                </a:solidFill>
              </a:rPr>
              <a:t>· W2: 홈·음식 추가·기록 화면 우선 확정</a:t>
            </a:r>
            <a:endParaRPr lang="en-US" sz="1600" dirty="0"/>
          </a:p>
          <a:p>
            <a:pPr indent="0" marL="0">
              <a:spcAft>
                <a:spcPts val="800"/>
              </a:spcAft>
              <a:buNone/>
            </a:pPr>
            <a:r>
              <a:rPr lang="en-US" sz="1600" dirty="0">
                <a:solidFill>
                  <a:srgbClr val="4B5563"/>
                </a:solidFill>
              </a:rPr>
              <a:t>· W2~W5: 리포트·설정·오류 상태를 순차 전달</a:t>
            </a:r>
            <a:endParaRPr lang="en-US" sz="1600" dirty="0"/>
          </a:p>
          <a:p>
            <a:pPr indent="0" marL="0">
              <a:spcAft>
                <a:spcPts val="800"/>
              </a:spcAft>
              <a:buNone/>
            </a:pPr>
            <a:r>
              <a:rPr lang="en-US" sz="1600" dirty="0">
                <a:solidFill>
                  <a:srgbClr val="4B5563"/>
                </a:solidFill>
              </a:rPr>
              <a:t>· 리뷰 전 변경 요청을 모으고 필수·제안 변경으로 구분</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WP-005: 앱·데이터·API·보안 설계</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앱·데이터·API·보안 </a:t>
                      </a:r>
                      <a:pPr indent="0" marL="0">
                        <a:buNone/>
                      </a:pPr>
                      <a:r>
                        <a:rPr lang="en-US" sz="1100" dirty="0">
                          <a:solidFill>
                            <a:srgbClr val="1F2937"/>
                          </a:solidFill>
                        </a:rPr>
                        <a:t>설계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3.3, </a:t>
                      </a:r>
                      <a:pPr indent="0" marL="0">
                        <a:buNone/>
                      </a:pPr>
                      <a:r>
                        <a:rPr lang="en-US" sz="1100" dirty="0">
                          <a:solidFill>
                            <a:srgbClr val="1F2937"/>
                          </a:solidFill>
                        </a:rPr>
                        <a:t>3.4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2026-10-14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9인일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WP-001, </a:t>
                      </a:r>
                      <a:pPr indent="0" marL="0">
                        <a:buNone/>
                      </a:pPr>
                      <a:r>
                        <a:rPr lang="en-US" sz="1100" dirty="0">
                          <a:solidFill>
                            <a:srgbClr val="1F2937"/>
                          </a:solidFill>
                        </a:rPr>
                        <a:t>WP-002 </a:t>
                      </a:r>
                      <a:pPr indent="0" marL="0">
                        <a:buNone/>
                      </a:pPr>
                      <a:r>
                        <a:rPr lang="en-US" sz="1100" dirty="0">
                          <a:solidFill>
                            <a:srgbClr val="1F2937"/>
                          </a:solidFill>
                        </a:rPr>
                        <a:t>초안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 </a:t>
                      </a:r>
                      <a:pPr indent="0" marL="0">
                        <a:buNone/>
                      </a:pPr>
                      <a:r>
                        <a:rPr lang="en-US" sz="1100" dirty="0">
                          <a:solidFill>
                            <a:srgbClr val="1F2937"/>
                          </a:solidFill>
                        </a:rPr>
                        <a:t>WP-003 </a:t>
                      </a:r>
                      <a:pPr indent="0" marL="0">
                        <a:buNone/>
                      </a:pPr>
                      <a:r>
                        <a:rPr lang="en-US" sz="1100" dirty="0">
                          <a:solidFill>
                            <a:srgbClr val="1F2937"/>
                          </a:solidFill>
                        </a:rPr>
                        <a:t>조사와 </a:t>
                      </a:r>
                      <a:pPr indent="0" marL="0">
                        <a:buNone/>
                      </a:pPr>
                      <a:r>
                        <a:rPr lang="en-US" sz="1100" dirty="0">
                          <a:solidFill>
                            <a:srgbClr val="1F2937"/>
                          </a:solidFill>
                        </a:rPr>
                        <a:t>병행. </a:t>
                      </a:r>
                      <a:pPr indent="0" marL="0">
                        <a:buNone/>
                      </a:pPr>
                      <a:r>
                        <a:rPr lang="en-US" sz="1100" dirty="0">
                          <a:solidFill>
                            <a:srgbClr val="1F2937"/>
                          </a:solidFill>
                        </a:rPr>
                        <a:t>FF: </a:t>
                      </a:r>
                      <a:pPr indent="0" marL="0">
                        <a:buNone/>
                      </a:pPr>
                      <a:r>
                        <a:rPr lang="en-US" sz="1100" dirty="0">
                          <a:solidFill>
                            <a:srgbClr val="1F2937"/>
                          </a:solidFill>
                        </a:rPr>
                        <a:t>개발 </a:t>
                      </a:r>
                      <a:pPr indent="0" marL="0">
                        <a:buNone/>
                      </a:pPr>
                      <a:r>
                        <a:rPr lang="en-US" sz="1100" dirty="0">
                          <a:solidFill>
                            <a:srgbClr val="1F2937"/>
                          </a:solidFill>
                        </a:rPr>
                        <a:t>착수 </a:t>
                      </a:r>
                      <a:pPr indent="0" marL="0">
                        <a:buNone/>
                      </a:pPr>
                      <a:r>
                        <a:rPr lang="en-US" sz="1100" dirty="0">
                          <a:solidFill>
                            <a:srgbClr val="1F2937"/>
                          </a:solidFill>
                        </a:rPr>
                        <a:t>전 </a:t>
                      </a:r>
                      <a:pPr indent="0" marL="0">
                        <a:buNone/>
                      </a:pPr>
                      <a:r>
                        <a:rPr lang="en-US" sz="1100" dirty="0">
                          <a:solidFill>
                            <a:srgbClr val="1F2937"/>
                          </a:solidFill>
                        </a:rPr>
                        <a:t>주요 </a:t>
                      </a:r>
                      <a:pPr indent="0" marL="0">
                        <a:buNone/>
                      </a:pPr>
                      <a:r>
                        <a:rPr lang="en-US" sz="1100" dirty="0">
                          <a:solidFill>
                            <a:srgbClr val="1F2937"/>
                          </a:solidFill>
                        </a:rPr>
                        <a:t>자료 </a:t>
                      </a:r>
                      <a:pPr indent="0" marL="0">
                        <a:buNone/>
                      </a:pPr>
                      <a:r>
                        <a:rPr lang="en-US" sz="1100" dirty="0">
                          <a:solidFill>
                            <a:srgbClr val="1F2937"/>
                          </a:solidFill>
                        </a:rPr>
                        <a:t>구조·API </a:t>
                      </a:r>
                      <a:pPr indent="0" marL="0">
                        <a:buNone/>
                      </a:pPr>
                      <a:r>
                        <a:rPr lang="en-US" sz="1100" dirty="0">
                          <a:solidFill>
                            <a:srgbClr val="1F2937"/>
                          </a:solidFill>
                        </a:rPr>
                        <a:t>계약의 </a:t>
                      </a:r>
                      <a:pPr indent="0" marL="0">
                        <a:buNone/>
                      </a:pPr>
                      <a:r>
                        <a:rPr lang="en-US" sz="1100" dirty="0">
                          <a:solidFill>
                            <a:srgbClr val="1F2937"/>
                          </a:solidFill>
                        </a:rPr>
                        <a:t>초안 </a:t>
                      </a:r>
                      <a:pPr indent="0" marL="0">
                        <a:buNone/>
                      </a:pPr>
                      <a:r>
                        <a:rPr lang="en-US" sz="1100" dirty="0">
                          <a:solidFill>
                            <a:srgbClr val="1F2937"/>
                          </a:solidFill>
                        </a:rPr>
                        <a:t>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데이터 </a:t>
                      </a:r>
                      <a:pPr indent="0" marL="0">
                        <a:buNone/>
                      </a:pPr>
                      <a:r>
                        <a:rPr lang="en-US" sz="1100" dirty="0">
                          <a:solidFill>
                            <a:srgbClr val="1F2937"/>
                          </a:solidFill>
                        </a:rPr>
                        <a:t>구조 </a:t>
                      </a:r>
                      <a:pPr indent="0" marL="0">
                        <a:buNone/>
                      </a:pPr>
                      <a:r>
                        <a:rPr lang="en-US" sz="1100" dirty="0">
                          <a:solidFill>
                            <a:srgbClr val="1F2937"/>
                          </a:solidFill>
                        </a:rPr>
                        <a:t>초안, </a:t>
                      </a:r>
                      <a:pPr indent="0" marL="0">
                        <a:buNone/>
                      </a:pPr>
                      <a:r>
                        <a:rPr lang="en-US" sz="1100" dirty="0">
                          <a:solidFill>
                            <a:srgbClr val="1F2937"/>
                          </a:solidFill>
                        </a:rPr>
                        <a:t>API </a:t>
                      </a:r>
                      <a:pPr indent="0" marL="0">
                        <a:buNone/>
                      </a:pPr>
                      <a:r>
                        <a:rPr lang="en-US" sz="1100" dirty="0">
                          <a:solidFill>
                            <a:srgbClr val="1F2937"/>
                          </a:solidFill>
                        </a:rPr>
                        <a:t>명세 </a:t>
                      </a:r>
                      <a:pPr indent="0" marL="0">
                        <a:buNone/>
                      </a:pPr>
                      <a:r>
                        <a:rPr lang="en-US" sz="1100" dirty="0">
                          <a:solidFill>
                            <a:srgbClr val="1F2937"/>
                          </a:solidFill>
                        </a:rPr>
                        <a:t>초안, </a:t>
                      </a:r>
                      <a:pPr indent="0" marL="0">
                        <a:buNone/>
                      </a:pPr>
                      <a:r>
                        <a:rPr lang="en-US" sz="1100" dirty="0">
                          <a:solidFill>
                            <a:srgbClr val="1F2937"/>
                          </a:solidFill>
                        </a:rPr>
                        <a:t>외부 </a:t>
                      </a:r>
                      <a:pPr indent="0" marL="0">
                        <a:buNone/>
                      </a:pPr>
                      <a:r>
                        <a:rPr lang="en-US" sz="1100" dirty="0">
                          <a:solidFill>
                            <a:srgbClr val="1F2937"/>
                          </a:solidFill>
                        </a:rPr>
                        <a:t>공급자 </a:t>
                      </a:r>
                      <a:pPr indent="0" marL="0">
                        <a:buNone/>
                      </a:pPr>
                      <a:r>
                        <a:rPr lang="en-US" sz="1100" dirty="0">
                          <a:solidFill>
                            <a:srgbClr val="1F2937"/>
                          </a:solidFill>
                        </a:rPr>
                        <a:t>어댑터 </a:t>
                      </a:r>
                      <a:pPr indent="0" marL="0">
                        <a:buNone/>
                      </a:pPr>
                      <a:r>
                        <a:rPr lang="en-US" sz="1100" dirty="0">
                          <a:solidFill>
                            <a:srgbClr val="1F2937"/>
                          </a:solidFill>
                        </a:rPr>
                        <a:t>설계, </a:t>
                      </a:r>
                      <a:pPr indent="0" marL="0">
                        <a:buNone/>
                      </a:pPr>
                      <a:r>
                        <a:rPr lang="en-US" sz="1100" dirty="0">
                          <a:solidFill>
                            <a:srgbClr val="1F2937"/>
                          </a:solidFill>
                        </a:rPr>
                        <a:t>개인정보·삭제 </a:t>
                      </a:r>
                      <a:pPr indent="0" marL="0">
                        <a:buNone/>
                      </a:pPr>
                      <a:r>
                        <a:rPr lang="en-US" sz="1100" dirty="0">
                          <a:solidFill>
                            <a:srgbClr val="1F2937"/>
                          </a:solidFill>
                        </a:rPr>
                        <a:t>흐름 </a:t>
                      </a:r>
                      <a:pPr indent="0" marL="0">
                        <a:buNone/>
                      </a:pPr>
                      <a:r>
                        <a:rPr lang="en-US" sz="1100" dirty="0">
                          <a:solidFill>
                            <a:srgbClr val="1F2937"/>
                          </a:solidFill>
                        </a:rPr>
                        <a:t>설계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사용자별 </a:t>
                      </a:r>
                      <a:pPr indent="0" marL="0">
                        <a:buNone/>
                      </a:pPr>
                      <a:r>
                        <a:rPr lang="en-US" sz="1100" dirty="0">
                          <a:solidFill>
                            <a:srgbClr val="1F2937"/>
                          </a:solidFill>
                        </a:rPr>
                        <a:t>데이터 </a:t>
                      </a:r>
                      <a:pPr indent="0" marL="0">
                        <a:buNone/>
                      </a:pPr>
                      <a:r>
                        <a:rPr lang="en-US" sz="1100" dirty="0">
                          <a:solidFill>
                            <a:srgbClr val="1F2937"/>
                          </a:solidFill>
                        </a:rPr>
                        <a:t>분리, </a:t>
                      </a:r>
                      <a:pPr indent="0" marL="0">
                        <a:buNone/>
                      </a:pPr>
                      <a:r>
                        <a:rPr lang="en-US" sz="1100" dirty="0">
                          <a:solidFill>
                            <a:srgbClr val="1F2937"/>
                          </a:solidFill>
                        </a:rPr>
                        <a:t>기록 </a:t>
                      </a:r>
                      <a:pPr indent="0" marL="0">
                        <a:buNone/>
                      </a:pPr>
                      <a:r>
                        <a:rPr lang="en-US" sz="1100" dirty="0">
                          <a:solidFill>
                            <a:srgbClr val="1F2937"/>
                          </a:solidFill>
                        </a:rPr>
                        <a:t>스냅샷, </a:t>
                      </a:r>
                      <a:pPr indent="0" marL="0">
                        <a:buNone/>
                      </a:pPr>
                      <a:r>
                        <a:rPr lang="en-US" sz="1100" dirty="0">
                          <a:solidFill>
                            <a:srgbClr val="1F2937"/>
                          </a:solidFill>
                        </a:rPr>
                        <a:t>날짜 </a:t>
                      </a:r>
                      <a:pPr indent="0" marL="0">
                        <a:buNone/>
                      </a:pPr>
                      <a:r>
                        <a:rPr lang="en-US" sz="1100" dirty="0">
                          <a:solidFill>
                            <a:srgbClr val="1F2937"/>
                          </a:solidFill>
                        </a:rPr>
                        <a:t>처리, </a:t>
                      </a:r>
                      <a:pPr indent="0" marL="0">
                        <a:buNone/>
                      </a:pPr>
                      <a:r>
                        <a:rPr lang="en-US" sz="1100" dirty="0">
                          <a:solidFill>
                            <a:srgbClr val="1F2937"/>
                          </a:solidFill>
                        </a:rPr>
                        <a:t>영양 </a:t>
                      </a:r>
                      <a:pPr indent="0" marL="0">
                        <a:buNone/>
                      </a:pPr>
                      <a:r>
                        <a:rPr lang="en-US" sz="1100" dirty="0">
                          <a:solidFill>
                            <a:srgbClr val="1F2937"/>
                          </a:solidFill>
                        </a:rPr>
                        <a:t>결측, </a:t>
                      </a:r>
                      <a:pPr indent="0" marL="0">
                        <a:buNone/>
                      </a:pPr>
                      <a:r>
                        <a:rPr lang="en-US" sz="1100" dirty="0">
                          <a:solidFill>
                            <a:srgbClr val="1F2937"/>
                          </a:solidFill>
                        </a:rPr>
                        <a:t>계정 </a:t>
                      </a:r>
                      <a:pPr indent="0" marL="0">
                        <a:buNone/>
                      </a:pPr>
                      <a:r>
                        <a:rPr lang="en-US" sz="1100" dirty="0">
                          <a:solidFill>
                            <a:srgbClr val="1F2937"/>
                          </a:solidFill>
                        </a:rPr>
                        <a:t>삭제 </a:t>
                      </a:r>
                      <a:pPr indent="0" marL="0">
                        <a:buNone/>
                      </a:pPr>
                      <a:r>
                        <a:rPr lang="en-US" sz="1100" dirty="0">
                          <a:solidFill>
                            <a:srgbClr val="1F2937"/>
                          </a:solidFill>
                        </a:rPr>
                        <a:t>및 </a:t>
                      </a:r>
                      <a:pPr indent="0" marL="0">
                        <a:buNone/>
                      </a:pPr>
                      <a:r>
                        <a:rPr lang="en-US" sz="1100" dirty="0">
                          <a:solidFill>
                            <a:srgbClr val="1F2937"/>
                          </a:solidFill>
                        </a:rPr>
                        <a:t>외부 </a:t>
                      </a:r>
                      <a:pPr indent="0" marL="0">
                        <a:buNone/>
                      </a:pPr>
                      <a:r>
                        <a:rPr lang="en-US" sz="1100" dirty="0">
                          <a:solidFill>
                            <a:srgbClr val="1F2937"/>
                          </a:solidFill>
                        </a:rPr>
                        <a:t>검색 </a:t>
                      </a:r>
                      <a:pPr indent="0" marL="0">
                        <a:buNone/>
                      </a:pPr>
                      <a:r>
                        <a:rPr lang="en-US" sz="1100" dirty="0">
                          <a:solidFill>
                            <a:srgbClr val="1F2937"/>
                          </a:solidFill>
                        </a:rPr>
                        <a:t>분리 </a:t>
                      </a:r>
                      <a:pPr indent="0" marL="0">
                        <a:buNone/>
                      </a:pPr>
                      <a:r>
                        <a:rPr lang="en-US" sz="1100" dirty="0">
                          <a:solidFill>
                            <a:srgbClr val="1F2937"/>
                          </a:solidFill>
                        </a:rPr>
                        <a:t>원칙이 </a:t>
                      </a:r>
                      <a:pPr indent="0" marL="0">
                        <a:buNone/>
                      </a:pPr>
                      <a:r>
                        <a:rPr lang="en-US" sz="1100" dirty="0">
                          <a:solidFill>
                            <a:srgbClr val="1F2937"/>
                          </a:solidFill>
                        </a:rPr>
                        <a:t>구조에 </a:t>
                      </a:r>
                      <a:pPr indent="0" marL="0">
                        <a:buNone/>
                      </a:pPr>
                      <a:r>
                        <a:rPr lang="en-US" sz="1100" dirty="0">
                          <a:solidFill>
                            <a:srgbClr val="1F2937"/>
                          </a:solidFill>
                        </a:rPr>
                        <a:t>반영됨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WP-006: 앱 기반·공통 구성 요소 개발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기반·공통 </a:t>
                      </a:r>
                      <a:pPr indent="0" marL="0">
                        <a:buNone/>
                      </a:pPr>
                      <a:r>
                        <a:rPr lang="en-US" sz="1100" dirty="0">
                          <a:solidFill>
                            <a:srgbClr val="1F2937"/>
                          </a:solidFill>
                        </a:rPr>
                        <a:t>구성 </a:t>
                      </a:r>
                      <a:pPr indent="0" marL="0">
                        <a:buNone/>
                      </a:pPr>
                      <a:r>
                        <a:rPr lang="en-US" sz="1100" dirty="0">
                          <a:solidFill>
                            <a:srgbClr val="1F2937"/>
                          </a:solidFill>
                        </a:rPr>
                        <a:t>요소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4.1, </a:t>
                      </a:r>
                      <a:pPr indent="0" marL="0">
                        <a:buNone/>
                      </a:pPr>
                      <a:r>
                        <a:rPr lang="en-US" sz="1100" dirty="0">
                          <a:solidFill>
                            <a:srgbClr val="1F2937"/>
                          </a:solidFill>
                        </a:rPr>
                        <a:t>4.2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앱 </a:t>
                      </a:r>
                      <a:pPr indent="0" marL="0">
                        <a:buNone/>
                      </a:pPr>
                      <a:r>
                        <a:rPr lang="en-US" sz="1100" dirty="0">
                          <a:solidFill>
                            <a:srgbClr val="1F2937"/>
                          </a:solidFill>
                        </a:rPr>
                        <a:t>개발 </a:t>
                      </a:r>
                      <a:pPr indent="0" marL="0">
                        <a:buNone/>
                      </a:pPr>
                      <a:r>
                        <a:rPr lang="en-US" sz="1100" dirty="0">
                          <a:solidFill>
                            <a:srgbClr val="1F2937"/>
                          </a:solidFill>
                        </a:rPr>
                        <a:t>지원 </a:t>
                      </a:r>
                      <a:pPr indent="0" marL="0">
                        <a:buNone/>
                      </a:pPr>
                      <a:r>
                        <a:rPr lang="en-US" sz="1100" dirty="0">
                          <a:solidFill>
                            <a:srgbClr val="1F2937"/>
                          </a:solidFill>
                        </a:rPr>
                        <a:t>인력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2026-10-21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8인일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WP-001, </a:t>
                      </a:r>
                      <a:pPr indent="0" marL="0">
                        <a:buNone/>
                      </a:pPr>
                      <a:r>
                        <a:rPr lang="en-US" sz="1100" dirty="0">
                          <a:solidFill>
                            <a:srgbClr val="1F2937"/>
                          </a:solidFill>
                        </a:rPr>
                        <a:t>WP-005 </a:t>
                      </a:r>
                      <a:pPr indent="0" marL="0">
                        <a:buNone/>
                      </a:pPr>
                      <a:r>
                        <a:rPr lang="en-US" sz="1100" dirty="0">
                          <a:solidFill>
                            <a:srgbClr val="1F2937"/>
                          </a:solidFill>
                        </a:rPr>
                        <a:t>설계 </a:t>
                      </a:r>
                      <a:pPr indent="0" marL="0">
                        <a:buNone/>
                      </a:pPr>
                      <a:r>
                        <a:rPr lang="en-US" sz="1100" dirty="0">
                          <a:solidFill>
                            <a:srgbClr val="1F2937"/>
                          </a:solidFill>
                        </a:rPr>
                        <a:t>초안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 </a:t>
                      </a:r>
                      <a:pPr indent="0" marL="0">
                        <a:buNone/>
                      </a:pPr>
                      <a:r>
                        <a:rPr lang="en-US" sz="1100" dirty="0">
                          <a:solidFill>
                            <a:srgbClr val="1F2937"/>
                          </a:solidFill>
                        </a:rPr>
                        <a:t>설계 </a:t>
                      </a:r>
                      <a:pPr indent="0" marL="0">
                        <a:buNone/>
                      </a:pPr>
                      <a:r>
                        <a:rPr lang="en-US" sz="1100" dirty="0">
                          <a:solidFill>
                            <a:srgbClr val="1F2937"/>
                          </a:solidFill>
                        </a:rPr>
                        <a:t>작업과 </a:t>
                      </a:r>
                      <a:pPr indent="0" marL="0">
                        <a:buNone/>
                      </a:pPr>
                      <a:r>
                        <a:rPr lang="en-US" sz="1100" dirty="0">
                          <a:solidFill>
                            <a:srgbClr val="1F2937"/>
                          </a:solidFill>
                        </a:rPr>
                        <a:t>병행. </a:t>
                      </a:r>
                      <a:pPr indent="0" marL="0">
                        <a:buNone/>
                      </a:pPr>
                      <a:r>
                        <a:rPr lang="en-US" sz="1100" dirty="0">
                          <a:solidFill>
                            <a:srgbClr val="1F2937"/>
                          </a:solidFill>
                        </a:rPr>
                        <a:t>FS: </a:t>
                      </a:r>
                      <a:pPr indent="0" marL="0">
                        <a:buNone/>
                      </a:pPr>
                      <a:r>
                        <a:rPr lang="en-US" sz="1100" dirty="0">
                          <a:solidFill>
                            <a:srgbClr val="1F2937"/>
                          </a:solidFill>
                        </a:rPr>
                        <a:t>확정된 </a:t>
                      </a:r>
                      <a:pPr indent="0" marL="0">
                        <a:buNone/>
                      </a:pPr>
                      <a:r>
                        <a:rPr lang="en-US" sz="1100" dirty="0">
                          <a:solidFill>
                            <a:srgbClr val="1F2937"/>
                          </a:solidFill>
                        </a:rPr>
                        <a:t>화면 </a:t>
                      </a:r>
                      <a:pPr indent="0" marL="0">
                        <a:buNone/>
                      </a:pPr>
                      <a:r>
                        <a:rPr lang="en-US" sz="1100" dirty="0">
                          <a:solidFill>
                            <a:srgbClr val="1F2937"/>
                          </a:solidFill>
                        </a:rPr>
                        <a:t>구성 </a:t>
                      </a:r>
                      <a:pPr indent="0" marL="0">
                        <a:buNone/>
                      </a:pPr>
                      <a:r>
                        <a:rPr lang="en-US" sz="1100" dirty="0">
                          <a:solidFill>
                            <a:srgbClr val="1F2937"/>
                          </a:solidFill>
                        </a:rPr>
                        <a:t>요소를 </a:t>
                      </a:r>
                      <a:pPr indent="0" marL="0">
                        <a:buNone/>
                      </a:pPr>
                      <a:r>
                        <a:rPr lang="en-US" sz="1100" dirty="0">
                          <a:solidFill>
                            <a:srgbClr val="1F2937"/>
                          </a:solidFill>
                        </a:rPr>
                        <a:t>전달받은 </a:t>
                      </a:r>
                      <a:pPr indent="0" marL="0">
                        <a:buNone/>
                      </a:pPr>
                      <a:r>
                        <a:rPr lang="en-US" sz="1100" dirty="0">
                          <a:solidFill>
                            <a:srgbClr val="1F2937"/>
                          </a:solidFill>
                        </a:rPr>
                        <a:t>뒤 </a:t>
                      </a:r>
                      <a:pPr indent="0" marL="0">
                        <a:buNone/>
                      </a:pPr>
                      <a:r>
                        <a:rPr lang="en-US" sz="1100" dirty="0">
                          <a:solidFill>
                            <a:srgbClr val="1F2937"/>
                          </a:solidFill>
                        </a:rPr>
                        <a:t>세부 </a:t>
                      </a:r>
                      <a:pPr indent="0" marL="0">
                        <a:buNone/>
                      </a:pPr>
                      <a:r>
                        <a:rPr lang="en-US" sz="1100" dirty="0">
                          <a:solidFill>
                            <a:srgbClr val="1F2937"/>
                          </a:solidFill>
                        </a:rPr>
                        <a:t>컴포넌트 </a:t>
                      </a:r>
                      <a:pPr indent="0" marL="0">
                        <a:buNone/>
                      </a:pPr>
                      <a:r>
                        <a:rPr lang="en-US" sz="1100" dirty="0">
                          <a:solidFill>
                            <a:srgbClr val="1F2937"/>
                          </a:solidFill>
                        </a:rPr>
                        <a:t>구현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React </a:t>
                      </a:r>
                      <a:pPr indent="0" marL="0">
                        <a:buNone/>
                      </a:pPr>
                      <a:r>
                        <a:rPr lang="en-US" sz="1100" dirty="0">
                          <a:solidFill>
                            <a:srgbClr val="1F2937"/>
                          </a:solidFill>
                        </a:rPr>
                        <a:t>Native </a:t>
                      </a:r>
                      <a:pPr indent="0" marL="0">
                        <a:buNone/>
                      </a:pPr>
                      <a:r>
                        <a:rPr lang="en-US" sz="1100" dirty="0">
                          <a:solidFill>
                            <a:srgbClr val="1F2937"/>
                          </a:solidFill>
                        </a:rPr>
                        <a:t>앱 </a:t>
                      </a:r>
                      <a:pPr indent="0" marL="0">
                        <a:buNone/>
                      </a:pPr>
                      <a:r>
                        <a:rPr lang="en-US" sz="1100" dirty="0">
                          <a:solidFill>
                            <a:srgbClr val="1F2937"/>
                          </a:solidFill>
                        </a:rPr>
                        <a:t>골격, </a:t>
                      </a:r>
                      <a:pPr indent="0" marL="0">
                        <a:buNone/>
                      </a:pPr>
                      <a:r>
                        <a:rPr lang="en-US" sz="1100" dirty="0">
                          <a:solidFill>
                            <a:srgbClr val="1F2937"/>
                          </a:solidFill>
                        </a:rPr>
                        <a:t>iOS·안드로이드 </a:t>
                      </a:r>
                      <a:pPr indent="0" marL="0">
                        <a:buNone/>
                      </a:pPr>
                      <a:r>
                        <a:rPr lang="en-US" sz="1100" dirty="0">
                          <a:solidFill>
                            <a:srgbClr val="1F2937"/>
                          </a:solidFill>
                        </a:rPr>
                        <a:t>빌드 </a:t>
                      </a:r>
                      <a:pPr indent="0" marL="0">
                        <a:buNone/>
                      </a:pPr>
                      <a:r>
                        <a:rPr lang="en-US" sz="1100" dirty="0">
                          <a:solidFill>
                            <a:srgbClr val="1F2937"/>
                          </a:solidFill>
                        </a:rPr>
                        <a:t>설정, </a:t>
                      </a:r>
                      <a:pPr indent="0" marL="0">
                        <a:buNone/>
                      </a:pPr>
                      <a:r>
                        <a:rPr lang="en-US" sz="1100" dirty="0">
                          <a:solidFill>
                            <a:srgbClr val="1F2937"/>
                          </a:solidFill>
                        </a:rPr>
                        <a:t>공통 </a:t>
                      </a:r>
                      <a:pPr indent="0" marL="0">
                        <a:buNone/>
                      </a:pPr>
                      <a:r>
                        <a:rPr lang="en-US" sz="1100" dirty="0">
                          <a:solidFill>
                            <a:srgbClr val="1F2937"/>
                          </a:solidFill>
                        </a:rPr>
                        <a:t>입력·버튼·상태 </a:t>
                      </a:r>
                      <a:pPr indent="0" marL="0">
                        <a:buNone/>
                      </a:pPr>
                      <a:r>
                        <a:rPr lang="en-US" sz="1100" dirty="0">
                          <a:solidFill>
                            <a:srgbClr val="1F2937"/>
                          </a:solidFill>
                        </a:rPr>
                        <a:t>요소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양 </a:t>
                      </a:r>
                      <a:pPr indent="0" marL="0">
                        <a:buNone/>
                      </a:pPr>
                      <a:r>
                        <a:rPr lang="en-US" sz="1100" dirty="0">
                          <a:solidFill>
                            <a:srgbClr val="1F2937"/>
                          </a:solidFill>
                        </a:rPr>
                        <a:t>플랫폼에서 </a:t>
                      </a:r>
                      <a:pPr indent="0" marL="0">
                        <a:buNone/>
                      </a:pPr>
                      <a:r>
                        <a:rPr lang="en-US" sz="1100" dirty="0">
                          <a:solidFill>
                            <a:srgbClr val="1F2937"/>
                          </a:solidFill>
                        </a:rPr>
                        <a:t>개발 </a:t>
                      </a:r>
                      <a:pPr indent="0" marL="0">
                        <a:buNone/>
                      </a:pPr>
                      <a:r>
                        <a:rPr lang="en-US" sz="1100" dirty="0">
                          <a:solidFill>
                            <a:srgbClr val="1F2937"/>
                          </a:solidFill>
                        </a:rPr>
                        <a:t>빌드를 </a:t>
                      </a:r>
                      <a:pPr indent="0" marL="0">
                        <a:buNone/>
                      </a:pPr>
                      <a:r>
                        <a:rPr lang="en-US" sz="1100" dirty="0">
                          <a:solidFill>
                            <a:srgbClr val="1F2937"/>
                          </a:solidFill>
                        </a:rPr>
                        <a:t>만들 </a:t>
                      </a:r>
                      <a:pPr indent="0" marL="0">
                        <a:buNone/>
                      </a:pPr>
                      <a:r>
                        <a:rPr lang="en-US" sz="1100" dirty="0">
                          <a:solidFill>
                            <a:srgbClr val="1F2937"/>
                          </a:solidFill>
                        </a:rPr>
                        <a:t>수 </a:t>
                      </a:r>
                      <a:pPr indent="0" marL="0">
                        <a:buNone/>
                      </a:pPr>
                      <a:r>
                        <a:rPr lang="en-US" sz="1100" dirty="0">
                          <a:solidFill>
                            <a:srgbClr val="1F2937"/>
                          </a:solidFill>
                        </a:rPr>
                        <a:t>있고, </a:t>
                      </a:r>
                      <a:pPr indent="0" marL="0">
                        <a:buNone/>
                      </a:pPr>
                      <a:r>
                        <a:rPr lang="en-US" sz="1100" dirty="0">
                          <a:solidFill>
                            <a:srgbClr val="1F2937"/>
                          </a:solidFill>
                        </a:rPr>
                        <a:t>공통 </a:t>
                      </a:r>
                      <a:pPr indent="0" marL="0">
                        <a:buNone/>
                      </a:pPr>
                      <a:r>
                        <a:rPr lang="en-US" sz="1100" dirty="0">
                          <a:solidFill>
                            <a:srgbClr val="1F2937"/>
                          </a:solidFill>
                        </a:rPr>
                        <a:t>구성 </a:t>
                      </a:r>
                      <a:pPr indent="0" marL="0">
                        <a:buNone/>
                      </a:pPr>
                      <a:r>
                        <a:rPr lang="en-US" sz="1100" dirty="0">
                          <a:solidFill>
                            <a:srgbClr val="1F2937"/>
                          </a:solidFill>
                        </a:rPr>
                        <a:t>요소로 </a:t>
                      </a:r>
                      <a:pPr indent="0" marL="0">
                        <a:buNone/>
                      </a:pPr>
                      <a:r>
                        <a:rPr lang="en-US" sz="1100" dirty="0">
                          <a:solidFill>
                            <a:srgbClr val="1F2937"/>
                          </a:solidFill>
                        </a:rPr>
                        <a:t>핵심 </a:t>
                      </a:r>
                      <a:pPr indent="0" marL="0">
                        <a:buNone/>
                      </a:pPr>
                      <a:r>
                        <a:rPr lang="en-US" sz="1100" dirty="0">
                          <a:solidFill>
                            <a:srgbClr val="1F2937"/>
                          </a:solidFill>
                        </a:rPr>
                        <a:t>화면 </a:t>
                      </a:r>
                      <a:pPr indent="0" marL="0">
                        <a:buNone/>
                      </a:pPr>
                      <a:r>
                        <a:rPr lang="en-US" sz="1100" dirty="0">
                          <a:solidFill>
                            <a:srgbClr val="1F2937"/>
                          </a:solidFill>
                        </a:rPr>
                        <a:t>구현을 </a:t>
                      </a:r>
                      <a:pPr indent="0" marL="0">
                        <a:buNone/>
                      </a:pPr>
                      <a:r>
                        <a:rPr lang="en-US" sz="1100" dirty="0">
                          <a:solidFill>
                            <a:srgbClr val="1F2937"/>
                          </a:solidFill>
                        </a:rPr>
                        <a:t>시작할 </a:t>
                      </a:r>
                      <a:pPr indent="0" marL="0">
                        <a:buNone/>
                      </a:pPr>
                      <a:r>
                        <a:rPr lang="en-US" sz="1100" dirty="0">
                          <a:solidFill>
                            <a:srgbClr val="1F2937"/>
                          </a:solidFill>
                        </a:rPr>
                        <a:t>수 </a:t>
                      </a:r>
                      <a:pPr indent="0" marL="0">
                        <a:buNone/>
                      </a:pPr>
                      <a:r>
                        <a:rPr lang="en-US" sz="1100" dirty="0">
                          <a:solidFill>
                            <a:srgbClr val="1F2937"/>
                          </a:solidFill>
                        </a:rPr>
                        <a:t>있음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WP-006: 앱 기반·공통 구성 요소 개발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확인 사항</a:t>
            </a:r>
            <a:endParaRPr lang="en-US" sz="1600" dirty="0"/>
          </a:p>
          <a:p>
            <a:pPr indent="0" marL="0">
              <a:spcAft>
                <a:spcPts val="800"/>
              </a:spcAft>
              <a:buNone/>
            </a:pPr>
            <a:r>
              <a:rPr lang="en-US" sz="1600" dirty="0">
                <a:solidFill>
                  <a:srgbClr val="4B5563"/>
                </a:solidFill>
              </a:rPr>
              <a:t>· 스토어 계정 권한, 앱 서명, 푸시 설정 권한 확인이 필요합니다.</a:t>
            </a:r>
            <a:endParaRPr lang="en-US" sz="1600" dirty="0"/>
          </a:p>
          <a:p>
            <a:pPr indent="0" marL="0">
              <a:spcAft>
                <a:spcPts val="800"/>
              </a:spcAft>
              <a:buNone/>
            </a:pPr>
            <a:r>
              <a:rPr lang="en-US" sz="1600" dirty="0">
                <a:solidFill>
                  <a:srgbClr val="4B5563"/>
                </a:solidFill>
              </a:rPr>
              <a:t>· 앱 개발 지원 인력 배정과 투입 시점은 미정입니다.</a:t>
            </a:r>
            <a:endParaRPr lang="en-US" sz="1600" dirty="0"/>
          </a:p>
          <a:p>
            <a:pPr indent="0" marL="0">
              <a:spcAft>
                <a:spcPts val="800"/>
              </a:spcAft>
              <a:buNone/>
            </a:pPr>
            <a:r>
              <a:rPr lang="en-US" sz="1600" dirty="0">
                <a:solidFill>
                  <a:srgbClr val="4B5563"/>
                </a:solidFill>
              </a:rPr>
              <a:t>· 지원 운영체제 버전은 근거 자료 확인 후 결정합니다.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WP-007: 인증·온보딩·프로필·개인정보 화면 개발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인증·온보딩·프로필·개인정보 </a:t>
                      </a:r>
                      <a:pPr indent="0" marL="0">
                        <a:buNone/>
                      </a:pPr>
                      <a:r>
                        <a:rPr lang="en-US" sz="1100" dirty="0">
                          <a:solidFill>
                            <a:srgbClr val="1F2937"/>
                          </a:solidFill>
                        </a:rPr>
                        <a:t>화면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4.3, </a:t>
                      </a:r>
                      <a:pPr indent="0" marL="0">
                        <a:buNone/>
                      </a:pPr>
                      <a:r>
                        <a:rPr lang="en-US" sz="1100" dirty="0">
                          <a:solidFill>
                            <a:srgbClr val="1F2937"/>
                          </a:solidFill>
                        </a:rPr>
                        <a:t>5.2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미정, </a:t>
                      </a:r>
                      <a:pPr indent="0" marL="0">
                        <a:buNone/>
                      </a:pPr>
                      <a:r>
                        <a:rPr lang="en-US" sz="1100" dirty="0">
                          <a:solidFill>
                            <a:srgbClr val="1F2937"/>
                          </a:solidFill>
                        </a:rPr>
                        <a:t>최개발,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2026-10-28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11인일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WP-003 </a:t>
                      </a:r>
                      <a:pPr indent="0" marL="0">
                        <a:buNone/>
                      </a:pPr>
                      <a:r>
                        <a:rPr lang="en-US" sz="1100" dirty="0">
                          <a:solidFill>
                            <a:srgbClr val="1F2937"/>
                          </a:solidFill>
                        </a:rPr>
                        <a:t>인증 </a:t>
                      </a:r>
                      <a:pPr indent="0" marL="0">
                        <a:buNone/>
                      </a:pPr>
                      <a:r>
                        <a:rPr lang="en-US" sz="1100" dirty="0">
                          <a:solidFill>
                            <a:srgbClr val="1F2937"/>
                          </a:solidFill>
                        </a:rPr>
                        <a:t>조사, </a:t>
                      </a:r>
                      <a:pPr indent="0" marL="0">
                        <a:buNone/>
                      </a:pPr>
                      <a:r>
                        <a:rPr lang="en-US" sz="1100" dirty="0">
                          <a:solidFill>
                            <a:srgbClr val="1F2937"/>
                          </a:solidFill>
                        </a:rPr>
                        <a:t>WP-005 </a:t>
                      </a:r>
                      <a:pPr indent="0" marL="0">
                        <a:buNone/>
                      </a:pPr>
                      <a:r>
                        <a:rPr lang="en-US" sz="1100" dirty="0">
                          <a:solidFill>
                            <a:srgbClr val="1F2937"/>
                          </a:solidFill>
                        </a:rPr>
                        <a:t>자료 </a:t>
                      </a:r>
                      <a:pPr indent="0" marL="0">
                        <a:buNone/>
                      </a:pPr>
                      <a:r>
                        <a:rPr lang="en-US" sz="1100" dirty="0">
                          <a:solidFill>
                            <a:srgbClr val="1F2937"/>
                          </a:solidFill>
                        </a:rPr>
                        <a:t>구조 </a:t>
                      </a:r>
                      <a:pPr indent="0" marL="0">
                        <a:buNone/>
                      </a:pPr>
                      <a:r>
                        <a:rPr lang="en-US" sz="1100" dirty="0">
                          <a:solidFill>
                            <a:srgbClr val="1F2937"/>
                          </a:solidFill>
                        </a:rPr>
                        <a:t>초안, </a:t>
                      </a:r>
                      <a:pPr indent="0" marL="0">
                        <a:buNone/>
                      </a:pPr>
                      <a:r>
                        <a:rPr lang="en-US" sz="1100" dirty="0">
                          <a:solidFill>
                            <a:srgbClr val="1F2937"/>
                          </a:solidFill>
                        </a:rPr>
                        <a:t>WP-006 </a:t>
                      </a:r>
                      <a:pPr indent="0" marL="0">
                        <a:buNone/>
                      </a:pPr>
                      <a:r>
                        <a:rPr lang="en-US" sz="1100" dirty="0">
                          <a:solidFill>
                            <a:srgbClr val="1F2937"/>
                          </a:solidFill>
                        </a:rPr>
                        <a:t>앱 </a:t>
                      </a:r>
                      <a:pPr indent="0" marL="0">
                        <a:buNone/>
                      </a:pPr>
                      <a:r>
                        <a:rPr lang="en-US" sz="1100" dirty="0">
                          <a:solidFill>
                            <a:srgbClr val="1F2937"/>
                          </a:solidFill>
                        </a:rPr>
                        <a:t>기반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 </a:t>
                      </a:r>
                      <a:pPr indent="0" marL="0">
                        <a:buNone/>
                      </a:pPr>
                      <a:r>
                        <a:rPr lang="en-US" sz="1100" dirty="0">
                          <a:solidFill>
                            <a:srgbClr val="1F2937"/>
                          </a:solidFill>
                        </a:rPr>
                        <a:t>인증 </a:t>
                      </a:r>
                      <a:pPr indent="0" marL="0">
                        <a:buNone/>
                      </a:pPr>
                      <a:r>
                        <a:rPr lang="en-US" sz="1100" dirty="0">
                          <a:solidFill>
                            <a:srgbClr val="1F2937"/>
                          </a:solidFill>
                        </a:rPr>
                        <a:t>범위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인증 </a:t>
                      </a:r>
                      <a:pPr indent="0" marL="0">
                        <a:buNone/>
                      </a:pPr>
                      <a:r>
                        <a:rPr lang="en-US" sz="1100" dirty="0">
                          <a:solidFill>
                            <a:srgbClr val="1F2937"/>
                          </a:solidFill>
                        </a:rPr>
                        <a:t>구현. </a:t>
                      </a:r>
                      <a:pPr indent="0" marL="0">
                        <a:buNone/>
                      </a:pPr>
                      <a:r>
                        <a:rPr lang="en-US" sz="1100" dirty="0">
                          <a:solidFill>
                            <a:srgbClr val="1F2937"/>
                          </a:solidFill>
                        </a:rPr>
                        <a:t>SS: </a:t>
                      </a:r>
                      <a:pPr indent="0" marL="0">
                        <a:buNone/>
                      </a:pPr>
                      <a:r>
                        <a:rPr lang="en-US" sz="1100" dirty="0">
                          <a:solidFill>
                            <a:srgbClr val="1F2937"/>
                          </a:solidFill>
                        </a:rPr>
                        <a:t>화면 </a:t>
                      </a:r>
                      <a:pPr indent="0" marL="0">
                        <a:buNone/>
                      </a:pPr>
                      <a:r>
                        <a:rPr lang="en-US" sz="1100" dirty="0">
                          <a:solidFill>
                            <a:srgbClr val="1F2937"/>
                          </a:solidFill>
                        </a:rPr>
                        <a:t>틀은 </a:t>
                      </a:r>
                      <a:pPr indent="0" marL="0">
                        <a:buNone/>
                      </a:pPr>
                      <a:r>
                        <a:rPr lang="en-US" sz="1100" dirty="0">
                          <a:solidFill>
                            <a:srgbClr val="1F2937"/>
                          </a:solidFill>
                        </a:rPr>
                        <a:t>확정 </a:t>
                      </a:r>
                      <a:pPr indent="0" marL="0">
                        <a:buNone/>
                      </a:pPr>
                      <a:r>
                        <a:rPr lang="en-US" sz="1100" dirty="0">
                          <a:solidFill>
                            <a:srgbClr val="1F2937"/>
                          </a:solidFill>
                        </a:rPr>
                        <a:t>범위 </a:t>
                      </a:r>
                      <a:pPr indent="0" marL="0">
                        <a:buNone/>
                      </a:pPr>
                      <a:r>
                        <a:rPr lang="en-US" sz="1100" dirty="0">
                          <a:solidFill>
                            <a:srgbClr val="1F2937"/>
                          </a:solidFill>
                        </a:rPr>
                        <a:t>전에도 </a:t>
                      </a:r>
                      <a:pPr indent="0" marL="0">
                        <a:buNone/>
                      </a:pPr>
                      <a:r>
                        <a:rPr lang="en-US" sz="1100" dirty="0">
                          <a:solidFill>
                            <a:srgbClr val="1F2937"/>
                          </a:solidFill>
                        </a:rPr>
                        <a:t>구성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로그인·온보딩·목표 </a:t>
                      </a:r>
                      <a:pPr indent="0" marL="0">
                        <a:buNone/>
                      </a:pPr>
                      <a:r>
                        <a:rPr lang="en-US" sz="1100" dirty="0">
                          <a:solidFill>
                            <a:srgbClr val="1F2937"/>
                          </a:solidFill>
                        </a:rPr>
                        <a:t>없이 </a:t>
                      </a:r>
                      <a:pPr indent="0" marL="0">
                        <a:buNone/>
                      </a:pPr>
                      <a:r>
                        <a:rPr lang="en-US" sz="1100" dirty="0">
                          <a:solidFill>
                            <a:srgbClr val="1F2937"/>
                          </a:solidFill>
                        </a:rPr>
                        <a:t>시작 </a:t>
                      </a:r>
                      <a:pPr indent="0" marL="0">
                        <a:buNone/>
                      </a:pPr>
                      <a:r>
                        <a:rPr lang="en-US" sz="1100" dirty="0">
                          <a:solidFill>
                            <a:srgbClr val="1F2937"/>
                          </a:solidFill>
                        </a:rPr>
                        <a:t>화면, </a:t>
                      </a:r>
                      <a:pPr indent="0" marL="0">
                        <a:buNone/>
                      </a:pPr>
                      <a:r>
                        <a:rPr lang="en-US" sz="1100" dirty="0">
                          <a:solidFill>
                            <a:srgbClr val="1F2937"/>
                          </a:solidFill>
                        </a:rPr>
                        <a:t>프로필·목표 </a:t>
                      </a:r>
                      <a:pPr indent="0" marL="0">
                        <a:buNone/>
                      </a:pPr>
                      <a:r>
                        <a:rPr lang="en-US" sz="1100" dirty="0">
                          <a:solidFill>
                            <a:srgbClr val="1F2937"/>
                          </a:solidFill>
                        </a:rPr>
                        <a:t>설정, </a:t>
                      </a:r>
                      <a:pPr indent="0" marL="0">
                        <a:buNone/>
                      </a:pPr>
                      <a:r>
                        <a:rPr lang="en-US" sz="1100" dirty="0">
                          <a:solidFill>
                            <a:srgbClr val="1F2937"/>
                          </a:solidFill>
                        </a:rPr>
                        <a:t>동의·개인정보·계정 </a:t>
                      </a:r>
                      <a:pPr indent="0" marL="0">
                        <a:buNone/>
                      </a:pPr>
                      <a:r>
                        <a:rPr lang="en-US" sz="1100" dirty="0">
                          <a:solidFill>
                            <a:srgbClr val="1F2937"/>
                          </a:solidFill>
                        </a:rPr>
                        <a:t>삭제 </a:t>
                      </a:r>
                      <a:pPr indent="0" marL="0">
                        <a:buNone/>
                      </a:pPr>
                      <a:r>
                        <a:rPr lang="en-US" sz="1100" dirty="0">
                          <a:solidFill>
                            <a:srgbClr val="1F2937"/>
                          </a:solidFill>
                        </a:rPr>
                        <a:t>화면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없이 </a:t>
                      </a:r>
                      <a:pPr indent="0" marL="0">
                        <a:buNone/>
                      </a:pPr>
                      <a:r>
                        <a:rPr lang="en-US" sz="1100" dirty="0">
                          <a:solidFill>
                            <a:srgbClr val="1F2937"/>
                          </a:solidFill>
                        </a:rPr>
                        <a:t>시작 </a:t>
                      </a:r>
                      <a:pPr indent="0" marL="0">
                        <a:buNone/>
                      </a:pPr>
                      <a:r>
                        <a:rPr lang="en-US" sz="1100" dirty="0">
                          <a:solidFill>
                            <a:srgbClr val="1F2937"/>
                          </a:solidFill>
                        </a:rPr>
                        <a:t>가능하고, </a:t>
                      </a:r>
                      <a:pPr indent="0" marL="0">
                        <a:buNone/>
                      </a:pPr>
                      <a:r>
                        <a:rPr lang="en-US" sz="1100" dirty="0">
                          <a:solidFill>
                            <a:srgbClr val="1F2937"/>
                          </a:solidFill>
                        </a:rPr>
                        <a:t>확정된 </a:t>
                      </a:r>
                      <a:pPr indent="0" marL="0">
                        <a:buNone/>
                      </a:pPr>
                      <a:r>
                        <a:rPr lang="en-US" sz="1100" dirty="0">
                          <a:solidFill>
                            <a:srgbClr val="1F2937"/>
                          </a:solidFill>
                        </a:rPr>
                        <a:t>인증 </a:t>
                      </a:r>
                      <a:pPr indent="0" marL="0">
                        <a:buNone/>
                      </a:pPr>
                      <a:r>
                        <a:rPr lang="en-US" sz="1100" dirty="0">
                          <a:solidFill>
                            <a:srgbClr val="1F2937"/>
                          </a:solidFill>
                        </a:rPr>
                        <a:t>흐름으로 </a:t>
                      </a:r>
                      <a:pPr indent="0" marL="0">
                        <a:buNone/>
                      </a:pPr>
                      <a:r>
                        <a:rPr lang="en-US" sz="1100" dirty="0">
                          <a:solidFill>
                            <a:srgbClr val="1F2937"/>
                          </a:solidFill>
                        </a:rPr>
                        <a:t>계정별 </a:t>
                      </a:r>
                      <a:pPr indent="0" marL="0">
                        <a:buNone/>
                      </a:pPr>
                      <a:r>
                        <a:rPr lang="en-US" sz="1100" dirty="0">
                          <a:solidFill>
                            <a:srgbClr val="1F2937"/>
                          </a:solidFill>
                        </a:rPr>
                        <a:t>자료가 </a:t>
                      </a:r>
                      <a:pPr indent="0" marL="0">
                        <a:buNone/>
                      </a:pPr>
                      <a:r>
                        <a:rPr lang="en-US" sz="1100" dirty="0">
                          <a:solidFill>
                            <a:srgbClr val="1F2937"/>
                          </a:solidFill>
                        </a:rPr>
                        <a:t>분리되며, </a:t>
                      </a:r>
                      <a:pPr indent="0" marL="0">
                        <a:buNone/>
                      </a:pPr>
                      <a:r>
                        <a:rPr lang="en-US" sz="1100" dirty="0">
                          <a:solidFill>
                            <a:srgbClr val="1F2937"/>
                          </a:solidFill>
                        </a:rPr>
                        <a:t>개인정보·삭제 </a:t>
                      </a:r>
                      <a:pPr indent="0" marL="0">
                        <a:buNone/>
                      </a:pPr>
                      <a:r>
                        <a:rPr lang="en-US" sz="1100" dirty="0">
                          <a:solidFill>
                            <a:srgbClr val="1F2937"/>
                          </a:solidFill>
                        </a:rPr>
                        <a:t>화면의 </a:t>
                      </a:r>
                      <a:pPr indent="0" marL="0">
                        <a:buNone/>
                      </a:pPr>
                      <a:r>
                        <a:rPr lang="en-US" sz="1100" dirty="0">
                          <a:solidFill>
                            <a:srgbClr val="1F2937"/>
                          </a:solidFill>
                        </a:rPr>
                        <a:t>주요 </a:t>
                      </a:r>
                      <a:pPr indent="0" marL="0">
                        <a:buNone/>
                      </a:pPr>
                      <a:r>
                        <a:rPr lang="en-US" sz="1100" dirty="0">
                          <a:solidFill>
                            <a:srgbClr val="1F2937"/>
                          </a:solidFill>
                        </a:rPr>
                        <a:t>동작이 </a:t>
                      </a:r>
                      <a:pPr indent="0" marL="0">
                        <a:buNone/>
                      </a:pPr>
                      <a:r>
                        <a:rPr lang="en-US" sz="1100" dirty="0">
                          <a:solidFill>
                            <a:srgbClr val="1F2937"/>
                          </a:solidFill>
                        </a:rPr>
                        <a:t>연결됨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WP-007: 인증·온보딩·프로필·개인정보 화면 개발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미정 사항</a:t>
            </a:r>
            <a:endParaRPr lang="en-US" sz="1600" dirty="0"/>
          </a:p>
          <a:p>
            <a:pPr indent="0" marL="0">
              <a:spcAft>
                <a:spcPts val="800"/>
              </a:spcAft>
              <a:buNone/>
            </a:pPr>
            <a:r>
              <a:rPr lang="en-US" sz="1600" dirty="0">
                <a:solidFill>
                  <a:srgbClr val="4B5563"/>
                </a:solidFill>
              </a:rPr>
              <a:t>· 이메일·Apple·Google·게스트 중 최종 제공자 조합</a:t>
            </a:r>
            <a:endParaRPr lang="en-US" sz="1600" dirty="0"/>
          </a:p>
          <a:p>
            <a:pPr indent="0" marL="0">
              <a:spcAft>
                <a:spcPts val="800"/>
              </a:spcAft>
              <a:buNone/>
            </a:pPr>
            <a:r>
              <a:rPr lang="en-US" sz="1600" dirty="0">
                <a:solidFill>
                  <a:srgbClr val="4B5563"/>
                </a:solidFill>
              </a:rPr>
              <a:t>· 게스트 저장 위치와 로그인 계정 연결·병합 방식</a:t>
            </a:r>
            <a:endParaRPr lang="en-US" sz="1600" dirty="0"/>
          </a:p>
          <a:p>
            <a:pPr indent="0" marL="0">
              <a:spcAft>
                <a:spcPts val="800"/>
              </a:spcAft>
              <a:buNone/>
            </a:pPr>
            <a:r>
              <a:rPr lang="en-US" sz="1600" dirty="0">
                <a:solidFill>
                  <a:srgbClr val="4B5563"/>
                </a:solidFill>
              </a:rPr>
              <a:t>· 신체 정보 항목과 성별 입력 정책</a:t>
            </a:r>
            <a:endParaRPr lang="en-US" sz="1600" dirty="0"/>
          </a:p>
          <a:p>
            <a:pPr indent="0" marL="0">
              <a:spcAft>
                <a:spcPts val="800"/>
              </a:spcAft>
              <a:buNone/>
            </a:pPr>
            <a:r>
              <a:rPr lang="en-US" sz="1600" dirty="0">
                <a:solidFill>
                  <a:srgbClr val="4B5563"/>
                </a:solidFill>
              </a:rPr>
              <a:t>· 데이터 사본 내려받기 필요 여부</a:t>
            </a:r>
            <a:endParaRPr lang="en-US" sz="1600" dirty="0"/>
          </a:p>
          <a:p>
            <a:pPr indent="0" marL="0">
              <a:spcAft>
                <a:spcPts val="800"/>
              </a:spcAft>
              <a:buNone/>
            </a:pPr>
            <a:r>
              <a:rPr lang="en-US" sz="1600" dirty="0">
                <a:solidFill>
                  <a:srgbClr val="4B5563"/>
                </a:solidFill>
              </a:rPr>
              <a:t>· 삭제 요청 처리 시점 및 백업 삭제 정책</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WP-008: 음식 검색·직접 입력·최근 기록·즐겨찾기 개발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검색·직접 </a:t>
                      </a:r>
                      <a:pPr indent="0" marL="0">
                        <a:buNone/>
                      </a:pPr>
                      <a:r>
                        <a:rPr lang="en-US" sz="1100" dirty="0">
                          <a:solidFill>
                            <a:srgbClr val="1F2937"/>
                          </a:solidFill>
                        </a:rPr>
                        <a:t>입력·최근 </a:t>
                      </a:r>
                      <a:pPr indent="0" marL="0">
                        <a:buNone/>
                      </a:pPr>
                      <a:r>
                        <a:rPr lang="en-US" sz="1100" dirty="0">
                          <a:solidFill>
                            <a:srgbClr val="1F2937"/>
                          </a:solidFill>
                        </a:rPr>
                        <a:t>기록·즐겨찾기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4.4, </a:t>
                      </a:r>
                      <a:pPr indent="0" marL="0">
                        <a:buNone/>
                      </a:pPr>
                      <a:r>
                        <a:rPr lang="en-US" sz="1100" dirty="0">
                          <a:solidFill>
                            <a:srgbClr val="1F2937"/>
                          </a:solidFill>
                        </a:rPr>
                        <a:t>5.3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미정,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2026-10-15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13인일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WP-003 </a:t>
                      </a:r>
                      <a:pPr indent="0" marL="0">
                        <a:buNone/>
                      </a:pPr>
                      <a:r>
                        <a:rPr lang="en-US" sz="1100" dirty="0">
                          <a:solidFill>
                            <a:srgbClr val="1F2937"/>
                          </a:solidFill>
                        </a:rPr>
                        <a:t>공급처 </a:t>
                      </a:r>
                      <a:pPr indent="0" marL="0">
                        <a:buNone/>
                      </a:pPr>
                      <a:r>
                        <a:rPr lang="en-US" sz="1100" dirty="0">
                          <a:solidFill>
                            <a:srgbClr val="1F2937"/>
                          </a:solidFill>
                        </a:rPr>
                        <a:t>조사, </a:t>
                      </a:r>
                      <a:pPr indent="0" marL="0">
                        <a:buNone/>
                      </a:pPr>
                      <a:r>
                        <a:rPr lang="en-US" sz="1100" dirty="0">
                          <a:solidFill>
                            <a:srgbClr val="1F2937"/>
                          </a:solidFill>
                        </a:rPr>
                        <a:t>WP-005 </a:t>
                      </a:r>
                      <a:pPr indent="0" marL="0">
                        <a:buNone/>
                      </a:pPr>
                      <a:r>
                        <a:rPr lang="en-US" sz="1100" dirty="0">
                          <a:solidFill>
                            <a:srgbClr val="1F2937"/>
                          </a:solidFill>
                        </a:rPr>
                        <a:t>API·자료 </a:t>
                      </a:r>
                      <a:pPr indent="0" marL="0">
                        <a:buNone/>
                      </a:pPr>
                      <a:r>
                        <a:rPr lang="en-US" sz="1100" dirty="0">
                          <a:solidFill>
                            <a:srgbClr val="1F2937"/>
                          </a:solidFill>
                        </a:rPr>
                        <a:t>설계, </a:t>
                      </a:r>
                      <a:pPr indent="0" marL="0">
                        <a:buNone/>
                      </a:pPr>
                      <a:r>
                        <a:rPr lang="en-US" sz="1100" dirty="0">
                          <a:solidFill>
                            <a:srgbClr val="1F2937"/>
                          </a:solidFill>
                        </a:rPr>
                        <a:t>WP-006 </a:t>
                      </a:r>
                      <a:pPr indent="0" marL="0">
                        <a:buNone/>
                      </a:pPr>
                      <a:r>
                        <a:rPr lang="en-US" sz="1100" dirty="0">
                          <a:solidFill>
                            <a:srgbClr val="1F2937"/>
                          </a:solidFill>
                        </a:rPr>
                        <a:t>앱 </a:t>
                      </a:r>
                      <a:pPr indent="0" marL="0">
                        <a:buNone/>
                      </a:pPr>
                      <a:r>
                        <a:rPr lang="en-US" sz="1100" dirty="0">
                          <a:solidFill>
                            <a:srgbClr val="1F2937"/>
                          </a:solidFill>
                        </a:rPr>
                        <a:t>기반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 </a:t>
                      </a:r>
                      <a:pPr indent="0" marL="0">
                        <a:buNone/>
                      </a:pPr>
                      <a:r>
                        <a:rPr lang="en-US" sz="1100" dirty="0">
                          <a:solidFill>
                            <a:srgbClr val="1F2937"/>
                          </a:solidFill>
                        </a:rPr>
                        <a:t>내부 </a:t>
                      </a:r>
                      <a:pPr indent="0" marL="0">
                        <a:buNone/>
                      </a:pPr>
                      <a:r>
                        <a:rPr lang="en-US" sz="1100" dirty="0">
                          <a:solidFill>
                            <a:srgbClr val="1F2937"/>
                          </a:solidFill>
                        </a:rPr>
                        <a:t>표준 </a:t>
                      </a:r>
                      <a:pPr indent="0" marL="0">
                        <a:buNone/>
                      </a:pPr>
                      <a:r>
                        <a:rPr lang="en-US" sz="1100" dirty="0">
                          <a:solidFill>
                            <a:srgbClr val="1F2937"/>
                          </a:solidFill>
                        </a:rPr>
                        <a:t>모델·시험용 </a:t>
                      </a:r>
                      <a:pPr indent="0" marL="0">
                        <a:buNone/>
                      </a:pPr>
                      <a:r>
                        <a:rPr lang="en-US" sz="1100" dirty="0">
                          <a:solidFill>
                            <a:srgbClr val="1F2937"/>
                          </a:solidFill>
                        </a:rPr>
                        <a:t>자료 </a:t>
                      </a:r>
                      <a:pPr indent="0" marL="0">
                        <a:buNone/>
                      </a:pPr>
                      <a:r>
                        <a:rPr lang="en-US" sz="1100" dirty="0">
                          <a:solidFill>
                            <a:srgbClr val="1F2937"/>
                          </a:solidFill>
                        </a:rPr>
                        <a:t>준비 </a:t>
                      </a:r>
                      <a:pPr indent="0" marL="0">
                        <a:buNone/>
                      </a:pPr>
                      <a:r>
                        <a:rPr lang="en-US" sz="1100" dirty="0">
                          <a:solidFill>
                            <a:srgbClr val="1F2937"/>
                          </a:solidFill>
                        </a:rPr>
                        <a:t>후 </a:t>
                      </a:r>
                      <a:pPr indent="0" marL="0">
                        <a:buNone/>
                      </a:pPr>
                      <a:r>
                        <a:rPr lang="en-US" sz="1100" dirty="0">
                          <a:solidFill>
                            <a:srgbClr val="1F2937"/>
                          </a:solidFill>
                        </a:rPr>
                        <a:t>본격 </a:t>
                      </a:r>
                      <a:pPr indent="0" marL="0">
                        <a:buNone/>
                      </a:pPr>
                      <a:r>
                        <a:rPr lang="en-US" sz="1100" dirty="0">
                          <a:solidFill>
                            <a:srgbClr val="1F2937"/>
                          </a:solidFill>
                        </a:rPr>
                        <a:t>연동. </a:t>
                      </a:r>
                      <a:pPr indent="0" marL="0">
                        <a:buNone/>
                      </a:pPr>
                      <a:r>
                        <a:rPr lang="en-US" sz="1100" dirty="0">
                          <a:solidFill>
                            <a:srgbClr val="1F2937"/>
                          </a:solidFill>
                        </a:rPr>
                        <a:t>SS: </a:t>
                      </a:r>
                      <a:pPr indent="0" marL="0">
                        <a:buNone/>
                      </a:pPr>
                      <a:r>
                        <a:rPr lang="en-US" sz="1100" dirty="0">
                          <a:solidFill>
                            <a:srgbClr val="1F2937"/>
                          </a:solidFill>
                        </a:rPr>
                        <a:t>임시 </a:t>
                      </a:r>
                      <a:pPr indent="0" marL="0">
                        <a:buNone/>
                      </a:pPr>
                      <a:r>
                        <a:rPr lang="en-US" sz="1100" dirty="0">
                          <a:solidFill>
                            <a:srgbClr val="1F2937"/>
                          </a:solidFill>
                        </a:rPr>
                        <a:t>자료로 </a:t>
                      </a:r>
                      <a:pPr indent="0" marL="0">
                        <a:buNone/>
                      </a:pPr>
                      <a:r>
                        <a:rPr lang="en-US" sz="1100" dirty="0">
                          <a:solidFill>
                            <a:srgbClr val="1F2937"/>
                          </a:solidFill>
                        </a:rPr>
                        <a:t>화면 </a:t>
                      </a:r>
                      <a:pPr indent="0" marL="0">
                        <a:buNone/>
                      </a:pPr>
                      <a:r>
                        <a:rPr lang="en-US" sz="1100" dirty="0">
                          <a:solidFill>
                            <a:srgbClr val="1F2937"/>
                          </a:solidFill>
                        </a:rPr>
                        <a:t>개발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검색·결과·빈 </a:t>
                      </a:r>
                      <a:pPr indent="0" marL="0">
                        <a:buNone/>
                      </a:pPr>
                      <a:r>
                        <a:rPr lang="en-US" sz="1100" dirty="0">
                          <a:solidFill>
                            <a:srgbClr val="1F2937"/>
                          </a:solidFill>
                        </a:rPr>
                        <a:t>상태 </a:t>
                      </a:r>
                      <a:pPr indent="0" marL="0">
                        <a:buNone/>
                      </a:pPr>
                      <a:r>
                        <a:rPr lang="en-US" sz="1100" dirty="0">
                          <a:solidFill>
                            <a:srgbClr val="1F2937"/>
                          </a:solidFill>
                        </a:rPr>
                        <a:t>화면, </a:t>
                      </a:r>
                      <a:pPr indent="0" marL="0">
                        <a:buNone/>
                      </a:pPr>
                      <a:r>
                        <a:rPr lang="en-US" sz="1100" dirty="0">
                          <a:solidFill>
                            <a:srgbClr val="1F2937"/>
                          </a:solidFill>
                        </a:rPr>
                        <a:t>공급자 </a:t>
                      </a:r>
                      <a:pPr indent="0" marL="0">
                        <a:buNone/>
                      </a:pPr>
                      <a:r>
                        <a:rPr lang="en-US" sz="1100" dirty="0">
                          <a:solidFill>
                            <a:srgbClr val="1F2937"/>
                          </a:solidFill>
                        </a:rPr>
                        <a:t>어댑터, </a:t>
                      </a:r>
                      <a:pPr indent="0" marL="0">
                        <a:buNone/>
                      </a:pPr>
                      <a:r>
                        <a:rPr lang="en-US" sz="1100" dirty="0">
                          <a:solidFill>
                            <a:srgbClr val="1F2937"/>
                          </a:solidFill>
                        </a:rPr>
                        <a:t>직접 </a:t>
                      </a:r>
                      <a:pPr indent="0" marL="0">
                        <a:buNone/>
                      </a:pPr>
                      <a:r>
                        <a:rPr lang="en-US" sz="1100" dirty="0">
                          <a:solidFill>
                            <a:srgbClr val="1F2937"/>
                          </a:solidFill>
                        </a:rPr>
                        <a:t>입력·최근 </a:t>
                      </a:r>
                      <a:pPr indent="0" marL="0">
                        <a:buNone/>
                      </a:pPr>
                      <a:r>
                        <a:rPr lang="en-US" sz="1100" dirty="0">
                          <a:solidFill>
                            <a:srgbClr val="1F2937"/>
                          </a:solidFill>
                        </a:rPr>
                        <a:t>기록·즐겨찾기 </a:t>
                      </a:r>
                      <a:pPr indent="0" marL="0">
                        <a:buNone/>
                      </a:pPr>
                      <a:r>
                        <a:rPr lang="en-US" sz="1100" dirty="0">
                          <a:solidFill>
                            <a:srgbClr val="1F2937"/>
                          </a:solidFill>
                        </a:rPr>
                        <a:t>기능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결과 </a:t>
                      </a:r>
                      <a:pPr indent="0" marL="0">
                        <a:buNone/>
                      </a:pPr>
                      <a:r>
                        <a:rPr lang="en-US" sz="1100" dirty="0">
                          <a:solidFill>
                            <a:srgbClr val="1F2937"/>
                          </a:solidFill>
                        </a:rPr>
                        <a:t>없음과 </a:t>
                      </a:r>
                      <a:pPr indent="0" marL="0">
                        <a:buNone/>
                      </a:pPr>
                      <a:r>
                        <a:rPr lang="en-US" sz="1100" dirty="0">
                          <a:solidFill>
                            <a:srgbClr val="1F2937"/>
                          </a:solidFill>
                        </a:rPr>
                        <a:t>API </a:t>
                      </a:r>
                      <a:pPr indent="0" marL="0">
                        <a:buNone/>
                      </a:pPr>
                      <a:r>
                        <a:rPr lang="en-US" sz="1100" dirty="0">
                          <a:solidFill>
                            <a:srgbClr val="1F2937"/>
                          </a:solidFill>
                        </a:rPr>
                        <a:t>오류가 </a:t>
                      </a:r>
                      <a:pPr indent="0" marL="0">
                        <a:buNone/>
                      </a:pPr>
                      <a:r>
                        <a:rPr lang="en-US" sz="1100" dirty="0">
                          <a:solidFill>
                            <a:srgbClr val="1F2937"/>
                          </a:solidFill>
                        </a:rPr>
                        <a:t>구분되고, </a:t>
                      </a:r>
                      <a:pPr indent="0" marL="0">
                        <a:buNone/>
                      </a:pPr>
                      <a:r>
                        <a:rPr lang="en-US" sz="1100" dirty="0">
                          <a:solidFill>
                            <a:srgbClr val="1F2937"/>
                          </a:solidFill>
                        </a:rPr>
                        <a:t>실패 </a:t>
                      </a:r>
                      <a:pPr indent="0" marL="0">
                        <a:buNone/>
                      </a:pPr>
                      <a:r>
                        <a:rPr lang="en-US" sz="1100" dirty="0">
                          <a:solidFill>
                            <a:srgbClr val="1F2937"/>
                          </a:solidFill>
                        </a:rPr>
                        <a:t>시에도 </a:t>
                      </a:r>
                      <a:pPr indent="0" marL="0">
                        <a:buNone/>
                      </a:pPr>
                      <a:r>
                        <a:rPr lang="en-US" sz="1100" dirty="0">
                          <a:solidFill>
                            <a:srgbClr val="1F2937"/>
                          </a:solidFill>
                        </a:rPr>
                        <a:t>직접 </a:t>
                      </a:r>
                      <a:pPr indent="0" marL="0">
                        <a:buNone/>
                      </a:pPr>
                      <a:r>
                        <a:rPr lang="en-US" sz="1100" dirty="0">
                          <a:solidFill>
                            <a:srgbClr val="1F2937"/>
                          </a:solidFill>
                        </a:rPr>
                        <a:t>입력·최근 </a:t>
                      </a:r>
                      <a:pPr indent="0" marL="0">
                        <a:buNone/>
                      </a:pPr>
                      <a:r>
                        <a:rPr lang="en-US" sz="1100" dirty="0">
                          <a:solidFill>
                            <a:srgbClr val="1F2937"/>
                          </a:solidFill>
                        </a:rPr>
                        <a:t>기록으로 </a:t>
                      </a:r>
                      <a:pPr indent="0" marL="0">
                        <a:buNone/>
                      </a:pPr>
                      <a:r>
                        <a:rPr lang="en-US" sz="1100" dirty="0">
                          <a:solidFill>
                            <a:srgbClr val="1F2937"/>
                          </a:solidFill>
                        </a:rPr>
                        <a:t>기록을 </a:t>
                      </a:r>
                      <a:pPr indent="0" marL="0">
                        <a:buNone/>
                      </a:pPr>
                      <a:r>
                        <a:rPr lang="en-US" sz="1100" dirty="0">
                          <a:solidFill>
                            <a:srgbClr val="1F2937"/>
                          </a:solidFill>
                        </a:rPr>
                        <a:t>이어갈 </a:t>
                      </a:r>
                      <a:pPr indent="0" marL="0">
                        <a:buNone/>
                      </a:pPr>
                      <a:r>
                        <a:rPr lang="en-US" sz="1100" dirty="0">
                          <a:solidFill>
                            <a:srgbClr val="1F2937"/>
                          </a:solidFill>
                        </a:rPr>
                        <a:t>수 </a:t>
                      </a:r>
                      <a:pPr indent="0" marL="0">
                        <a:buNone/>
                      </a:pPr>
                      <a:r>
                        <a:rPr lang="en-US" sz="1100" dirty="0">
                          <a:solidFill>
                            <a:srgbClr val="1F2937"/>
                          </a:solidFill>
                        </a:rPr>
                        <a:t>있음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WP-008: 음식 검색·직접 입력·최근 기록·즐겨찾기 개발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주요 처리 기준</a:t>
            </a:r>
            <a:endParaRPr lang="en-US" sz="1600" dirty="0"/>
          </a:p>
          <a:p>
            <a:pPr indent="0" marL="0">
              <a:spcAft>
                <a:spcPts val="800"/>
              </a:spcAft>
              <a:buNone/>
            </a:pPr>
            <a:r>
              <a:rPr lang="en-US" sz="1600" dirty="0">
                <a:solidFill>
                  <a:srgbClr val="4B5563"/>
                </a:solidFill>
              </a:rPr>
              <a:t>· 후반 논의에서는 한 글자 검색 허용과 약 350밀리초 대기 방안이 제시됐습니다. 검색 지연 시간은 초반의 두 글자·약 300밀리초 안과 서로 다르므로 최종 구현값 확인이 필요합니다.</a:t>
            </a:r>
            <a:endParaRPr lang="en-US" sz="1600" dirty="0"/>
          </a:p>
          <a:p>
            <a:pPr indent="0" marL="0">
              <a:spcAft>
                <a:spcPts val="800"/>
              </a:spcAft>
              <a:buNone/>
            </a:pPr>
            <a:r>
              <a:rPr lang="en-US" sz="1600" dirty="0">
                <a:solidFill>
                  <a:srgbClr val="4B5563"/>
                </a:solidFill>
              </a:rPr>
              <a:t>· 검색어 자체는 제품 분석 자료에 넣지 않습니다.</a:t>
            </a:r>
            <a:endParaRPr lang="en-US" sz="1600" dirty="0"/>
          </a:p>
          <a:p>
            <a:pPr indent="0" marL="0">
              <a:spcAft>
                <a:spcPts val="800"/>
              </a:spcAft>
              <a:buNone/>
            </a:pPr>
            <a:r>
              <a:rPr lang="en-US" sz="1600" dirty="0">
                <a:solidFill>
                  <a:srgbClr val="4B5563"/>
                </a:solidFill>
              </a:rPr>
              <a:t>· 외부 공급자 호출에는 검색어만 전달합니다.</a:t>
            </a:r>
            <a:endParaRPr lang="en-US" sz="1600" dirty="0"/>
          </a:p>
          <a:p>
            <a:pPr indent="0" marL="0">
              <a:spcAft>
                <a:spcPts val="800"/>
              </a:spcAft>
              <a:buNone/>
            </a:pPr>
            <a:r>
              <a:rPr lang="en-US" sz="1600" dirty="0">
                <a:solidFill>
                  <a:srgbClr val="4B5563"/>
                </a:solidFill>
              </a:rPr>
              <a:t>· 음식 결과는 내부 표준 자료 형식으로 변환하며 부정확한 결과를 자동 선택하지 않습니다.</a:t>
            </a:r>
            <a:endParaRPr lang="en-US" sz="1600" dirty="0"/>
          </a:p>
          <a:p>
            <a:pPr indent="0" marL="0">
              <a:spcAft>
                <a:spcPts val="800"/>
              </a:spcAft>
              <a:buNone/>
            </a:pPr>
            <a:r>
              <a:rPr lang="en-US" sz="1600" dirty="0">
                <a:solidFill>
                  <a:srgbClr val="4B5563"/>
                </a:solidFill>
              </a:rPr>
              <a:t>· 대표 메뉴 50개와 브랜드 상품 20개 시험 자료로 미발견·검색 품질·오매칭을 확인합니다.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WP-008: 음식 검색·직접 입력·최근 기록·즐겨찾기 개발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캐시 가능 기간과 호출 한도는 공급자 계약 확인 후 적용합니다.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WP-009: 기록·홈·날짜별 조회 개발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기록·홈·날짜별 </a:t>
                      </a:r>
                      <a:pPr indent="0" marL="0">
                        <a:buNone/>
                      </a:pPr>
                      <a:r>
                        <a:rPr lang="en-US" sz="1100" dirty="0">
                          <a:solidFill>
                            <a:srgbClr val="1F2937"/>
                          </a:solidFill>
                        </a:rPr>
                        <a:t>조회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4.5, </a:t>
                      </a:r>
                      <a:pPr indent="0" marL="0">
                        <a:buNone/>
                      </a:pPr>
                      <a:r>
                        <a:rPr lang="en-US" sz="1100" dirty="0">
                          <a:solidFill>
                            <a:srgbClr val="1F2937"/>
                          </a:solidFill>
                        </a:rPr>
                        <a:t>5.3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미정,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2026-10-15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14인일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WP-005 </a:t>
                      </a:r>
                      <a:pPr indent="0" marL="0">
                        <a:buNone/>
                      </a:pPr>
                      <a:r>
                        <a:rPr lang="en-US" sz="1100" dirty="0">
                          <a:solidFill>
                            <a:srgbClr val="1F2937"/>
                          </a:solidFill>
                        </a:rPr>
                        <a:t>자료 </a:t>
                      </a:r>
                      <a:pPr indent="0" marL="0">
                        <a:buNone/>
                      </a:pPr>
                      <a:r>
                        <a:rPr lang="en-US" sz="1100" dirty="0">
                          <a:solidFill>
                            <a:srgbClr val="1F2937"/>
                          </a:solidFill>
                        </a:rPr>
                        <a:t>구조, </a:t>
                      </a:r>
                      <a:pPr indent="0" marL="0">
                        <a:buNone/>
                      </a:pPr>
                      <a:r>
                        <a:rPr lang="en-US" sz="1100" dirty="0">
                          <a:solidFill>
                            <a:srgbClr val="1F2937"/>
                          </a:solidFill>
                        </a:rPr>
                        <a:t>WP-008 </a:t>
                      </a:r>
                      <a:pPr indent="0" marL="0">
                        <a:buNone/>
                      </a:pPr>
                      <a:r>
                        <a:rPr lang="en-US" sz="1100" dirty="0">
                          <a:solidFill>
                            <a:srgbClr val="1F2937"/>
                          </a:solidFill>
                        </a:rPr>
                        <a:t>음식 </a:t>
                      </a:r>
                      <a:pPr indent="0" marL="0">
                        <a:buNone/>
                      </a:pPr>
                      <a:r>
                        <a:rPr lang="en-US" sz="1100" dirty="0">
                          <a:solidFill>
                            <a:srgbClr val="1F2937"/>
                          </a:solidFill>
                        </a:rPr>
                        <a:t>선택·입력 </a:t>
                      </a:r>
                      <a:pPr indent="0" marL="0">
                        <a:buNone/>
                      </a:pPr>
                      <a:r>
                        <a:rPr lang="en-US" sz="1100" dirty="0">
                          <a:solidFill>
                            <a:srgbClr val="1F2937"/>
                          </a:solidFill>
                        </a:rPr>
                        <a:t>흐름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 </a:t>
                      </a:r>
                      <a:pPr indent="0" marL="0">
                        <a:buNone/>
                      </a:pPr>
                      <a:r>
                        <a:rPr lang="en-US" sz="1100" dirty="0">
                          <a:solidFill>
                            <a:srgbClr val="1F2937"/>
                          </a:solidFill>
                        </a:rPr>
                        <a:t>기록 </a:t>
                      </a:r>
                      <a:pPr indent="0" marL="0">
                        <a:buNone/>
                      </a:pPr>
                      <a:r>
                        <a:rPr lang="en-US" sz="1100" dirty="0">
                          <a:solidFill>
                            <a:srgbClr val="1F2937"/>
                          </a:solidFill>
                        </a:rPr>
                        <a:t>데이터 </a:t>
                      </a:r>
                      <a:pPr indent="0" marL="0">
                        <a:buNone/>
                      </a:pPr>
                      <a:r>
                        <a:rPr lang="en-US" sz="1100" dirty="0">
                          <a:solidFill>
                            <a:srgbClr val="1F2937"/>
                          </a:solidFill>
                        </a:rPr>
                        <a:t>구조와 </a:t>
                      </a:r>
                      <a:pPr indent="0" marL="0">
                        <a:buNone/>
                      </a:pPr>
                      <a:r>
                        <a:rPr lang="en-US" sz="1100" dirty="0">
                          <a:solidFill>
                            <a:srgbClr val="1F2937"/>
                          </a:solidFill>
                        </a:rPr>
                        <a:t>음식 </a:t>
                      </a:r>
                      <a:pPr indent="0" marL="0">
                        <a:buNone/>
                      </a:pPr>
                      <a:r>
                        <a:rPr lang="en-US" sz="1100" dirty="0">
                          <a:solidFill>
                            <a:srgbClr val="1F2937"/>
                          </a:solidFill>
                        </a:rPr>
                        <a:t>참조 </a:t>
                      </a:r>
                      <a:pPr indent="0" marL="0">
                        <a:buNone/>
                      </a:pPr>
                      <a:r>
                        <a:rPr lang="en-US" sz="1100" dirty="0">
                          <a:solidFill>
                            <a:srgbClr val="1F2937"/>
                          </a:solidFill>
                        </a:rPr>
                        <a:t>규칙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착수. </a:t>
                      </a:r>
                      <a:pPr indent="0" marL="0">
                        <a:buNone/>
                      </a:pPr>
                      <a:r>
                        <a:rPr lang="en-US" sz="1100" dirty="0">
                          <a:solidFill>
                            <a:srgbClr val="1F2937"/>
                          </a:solidFill>
                        </a:rPr>
                        <a:t>SS: </a:t>
                      </a:r>
                      <a:pPr indent="0" marL="0">
                        <a:buNone/>
                      </a:pPr>
                      <a:r>
                        <a:rPr lang="en-US" sz="1100" dirty="0">
                          <a:solidFill>
                            <a:srgbClr val="1F2937"/>
                          </a:solidFill>
                        </a:rPr>
                        <a:t>화면 </a:t>
                      </a:r>
                      <a:pPr indent="0" marL="0">
                        <a:buNone/>
                      </a:pPr>
                      <a:r>
                        <a:rPr lang="en-US" sz="1100" dirty="0">
                          <a:solidFill>
                            <a:srgbClr val="1F2937"/>
                          </a:solidFill>
                        </a:rPr>
                        <a:t>구성은 </a:t>
                      </a:r>
                      <a:pPr indent="0" marL="0">
                        <a:buNone/>
                      </a:pPr>
                      <a:r>
                        <a:rPr lang="en-US" sz="1100" dirty="0">
                          <a:solidFill>
                            <a:srgbClr val="1F2937"/>
                          </a:solidFill>
                        </a:rPr>
                        <a:t>WP-004와 </a:t>
                      </a:r>
                      <a:pPr indent="0" marL="0">
                        <a:buNone/>
                      </a:pPr>
                      <a:r>
                        <a:rPr lang="en-US" sz="1100" dirty="0">
                          <a:solidFill>
                            <a:srgbClr val="1F2937"/>
                          </a:solidFill>
                        </a:rPr>
                        <a:t>병행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홈, </a:t>
                      </a:r>
                      <a:pPr indent="0" marL="0">
                        <a:buNone/>
                      </a:pPr>
                      <a:r>
                        <a:rPr lang="en-US" sz="1100" dirty="0">
                          <a:solidFill>
                            <a:srgbClr val="1F2937"/>
                          </a:solidFill>
                        </a:rPr>
                        <a:t>날짜별 </a:t>
                      </a:r>
                      <a:pPr indent="0" marL="0">
                        <a:buNone/>
                      </a:pPr>
                      <a:r>
                        <a:rPr lang="en-US" sz="1100" dirty="0">
                          <a:solidFill>
                            <a:srgbClr val="1F2937"/>
                          </a:solidFill>
                        </a:rPr>
                        <a:t>기록, </a:t>
                      </a:r>
                      <a:pPr indent="0" marL="0">
                        <a:buNone/>
                      </a:pPr>
                      <a:r>
                        <a:rPr lang="en-US" sz="1100" dirty="0">
                          <a:solidFill>
                            <a:srgbClr val="1F2937"/>
                          </a:solidFill>
                        </a:rPr>
                        <a:t>항목별 </a:t>
                      </a:r>
                      <a:pPr indent="0" marL="0">
                        <a:buNone/>
                      </a:pPr>
                      <a:r>
                        <a:rPr lang="en-US" sz="1100" dirty="0">
                          <a:solidFill>
                            <a:srgbClr val="1F2937"/>
                          </a:solidFill>
                        </a:rPr>
                        <a:t>저장, </a:t>
                      </a:r>
                      <a:pPr indent="0" marL="0">
                        <a:buNone/>
                      </a:pPr>
                      <a:r>
                        <a:rPr lang="en-US" sz="1100" dirty="0">
                          <a:solidFill>
                            <a:srgbClr val="1F2937"/>
                          </a:solidFill>
                        </a:rPr>
                        <a:t>기록 </a:t>
                      </a:r>
                      <a:pPr indent="0" marL="0">
                        <a:buNone/>
                      </a:pPr>
                      <a:r>
                        <a:rPr lang="en-US" sz="1100" dirty="0">
                          <a:solidFill>
                            <a:srgbClr val="1F2937"/>
                          </a:solidFill>
                        </a:rPr>
                        <a:t>상세·수정·삭제, </a:t>
                      </a:r>
                      <a:pPr indent="0" marL="0">
                        <a:buNone/>
                      </a:pPr>
                      <a:r>
                        <a:rPr lang="en-US" sz="1100" dirty="0">
                          <a:solidFill>
                            <a:srgbClr val="1F2937"/>
                          </a:solidFill>
                        </a:rPr>
                        <a:t>저장 </a:t>
                      </a:r>
                      <a:pPr indent="0" marL="0">
                        <a:buNone/>
                      </a:pPr>
                      <a:r>
                        <a:rPr lang="en-US" sz="1100" dirty="0">
                          <a:solidFill>
                            <a:srgbClr val="1F2937"/>
                          </a:solidFill>
                        </a:rPr>
                        <a:t>실패·재시도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한 </a:t>
                      </a:r>
                      <a:pPr indent="0" marL="0">
                        <a:buNone/>
                      </a:pPr>
                      <a:r>
                        <a:rPr lang="en-US" sz="1100" dirty="0">
                          <a:solidFill>
                            <a:srgbClr val="1F2937"/>
                          </a:solidFill>
                        </a:rPr>
                        <a:t>식사 </a:t>
                      </a:r>
                      <a:pPr indent="0" marL="0">
                        <a:buNone/>
                      </a:pPr>
                      <a:r>
                        <a:rPr lang="en-US" sz="1100" dirty="0">
                          <a:solidFill>
                            <a:srgbClr val="1F2937"/>
                          </a:solidFill>
                        </a:rPr>
                        <a:t>구분에 </a:t>
                      </a:r>
                      <a:pPr indent="0" marL="0">
                        <a:buNone/>
                      </a:pPr>
                      <a:r>
                        <a:rPr lang="en-US" sz="1100" dirty="0">
                          <a:solidFill>
                            <a:srgbClr val="1F2937"/>
                          </a:solidFill>
                        </a:rPr>
                        <a:t>여러 </a:t>
                      </a:r>
                      <a:pPr indent="0" marL="0">
                        <a:buNone/>
                      </a:pPr>
                      <a:r>
                        <a:rPr lang="en-US" sz="1100" dirty="0">
                          <a:solidFill>
                            <a:srgbClr val="1F2937"/>
                          </a:solidFill>
                        </a:rPr>
                        <a:t>음식 </a:t>
                      </a:r>
                      <a:pPr indent="0" marL="0">
                        <a:buNone/>
                      </a:pPr>
                      <a:r>
                        <a:rPr lang="en-US" sz="1100" dirty="0">
                          <a:solidFill>
                            <a:srgbClr val="1F2937"/>
                          </a:solidFill>
                        </a:rPr>
                        <a:t>항목을 </a:t>
                      </a:r>
                      <a:pPr indent="0" marL="0">
                        <a:buNone/>
                      </a:pPr>
                      <a:r>
                        <a:rPr lang="en-US" sz="1100" dirty="0">
                          <a:solidFill>
                            <a:srgbClr val="1F2937"/>
                          </a:solidFill>
                        </a:rPr>
                        <a:t>저장·조회할 </a:t>
                      </a:r>
                      <a:pPr indent="0" marL="0">
                        <a:buNone/>
                      </a:pPr>
                      <a:r>
                        <a:rPr lang="en-US" sz="1100" dirty="0">
                          <a:solidFill>
                            <a:srgbClr val="1F2937"/>
                          </a:solidFill>
                        </a:rPr>
                        <a:t>수 </a:t>
                      </a:r>
                      <a:pPr indent="0" marL="0">
                        <a:buNone/>
                      </a:pPr>
                      <a:r>
                        <a:rPr lang="en-US" sz="1100" dirty="0">
                          <a:solidFill>
                            <a:srgbClr val="1F2937"/>
                          </a:solidFill>
                        </a:rPr>
                        <a:t>있고, </a:t>
                      </a:r>
                      <a:pPr indent="0" marL="0">
                        <a:buNone/>
                      </a:pPr>
                      <a:r>
                        <a:rPr lang="en-US" sz="1100" dirty="0">
                          <a:solidFill>
                            <a:srgbClr val="1F2937"/>
                          </a:solidFill>
                        </a:rPr>
                        <a:t>항목별 </a:t>
                      </a:r>
                      <a:pPr indent="0" marL="0">
                        <a:buNone/>
                      </a:pPr>
                      <a:r>
                        <a:rPr lang="en-US" sz="1100" dirty="0">
                          <a:solidFill>
                            <a:srgbClr val="1F2937"/>
                          </a:solidFill>
                        </a:rPr>
                        <a:t>수정·삭제와 </a:t>
                      </a:r>
                      <a:pPr indent="0" marL="0">
                        <a:buNone/>
                      </a:pPr>
                      <a:r>
                        <a:rPr lang="en-US" sz="1100" dirty="0">
                          <a:solidFill>
                            <a:srgbClr val="1F2937"/>
                          </a:solidFill>
                        </a:rPr>
                        <a:t>기록 </a:t>
                      </a:r>
                      <a:pPr indent="0" marL="0">
                        <a:buNone/>
                      </a:pPr>
                      <a:r>
                        <a:rPr lang="en-US" sz="1100" dirty="0">
                          <a:solidFill>
                            <a:srgbClr val="1F2937"/>
                          </a:solidFill>
                        </a:rPr>
                        <a:t>날짜 </a:t>
                      </a:r>
                      <a:pPr indent="0" marL="0">
                        <a:buNone/>
                      </a:pPr>
                      <a:r>
                        <a:rPr lang="en-US" sz="1100" dirty="0">
                          <a:solidFill>
                            <a:srgbClr val="1F2937"/>
                          </a:solidFill>
                        </a:rPr>
                        <a:t>기준 </a:t>
                      </a:r>
                      <a:pPr indent="0" marL="0">
                        <a:buNone/>
                      </a:pPr>
                      <a:r>
                        <a:rPr lang="en-US" sz="1100" dirty="0">
                          <a:solidFill>
                            <a:srgbClr val="1F2937"/>
                          </a:solidFill>
                        </a:rPr>
                        <a:t>집계가 </a:t>
                      </a:r>
                      <a:pPr indent="0" marL="0">
                        <a:buNone/>
                      </a:pPr>
                      <a:r>
                        <a:rPr lang="en-US" sz="1100" dirty="0">
                          <a:solidFill>
                            <a:srgbClr val="1F2937"/>
                          </a:solidFill>
                        </a:rPr>
                        <a:t>동작함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WP-009: 기록·홈·날짜별 조회 개발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주요 처리 기준</a:t>
            </a:r>
            <a:endParaRPr lang="en-US" sz="1600" dirty="0"/>
          </a:p>
          <a:p>
            <a:pPr indent="0" marL="0">
              <a:spcAft>
                <a:spcPts val="800"/>
              </a:spcAft>
              <a:buNone/>
            </a:pPr>
            <a:r>
              <a:rPr lang="en-US" sz="1600" dirty="0">
                <a:solidFill>
                  <a:srgbClr val="4B5563"/>
                </a:solidFill>
              </a:rPr>
              <a:t>· 식사 구분은 아침·점심·저녁·간식 네 가지로 고정합니다.</a:t>
            </a:r>
            <a:endParaRPr lang="en-US" sz="1600" dirty="0"/>
          </a:p>
          <a:p>
            <a:pPr indent="0" marL="0">
              <a:spcAft>
                <a:spcPts val="800"/>
              </a:spcAft>
              <a:buNone/>
            </a:pPr>
            <a:r>
              <a:rPr lang="en-US" sz="1600" dirty="0">
                <a:solidFill>
                  <a:srgbClr val="4B5563"/>
                </a:solidFill>
              </a:rPr>
              <a:t>· 한 식사 구분에 여러 음식 항목을 추가하고 항목별로 즉시 저장합니다.</a:t>
            </a:r>
            <a:endParaRPr lang="en-US" sz="1600" dirty="0"/>
          </a:p>
          <a:p>
            <a:pPr indent="0" marL="0">
              <a:spcAft>
                <a:spcPts val="800"/>
              </a:spcAft>
              <a:buNone/>
            </a:pPr>
            <a:r>
              <a:rPr lang="en-US" sz="1600" dirty="0">
                <a:solidFill>
                  <a:srgbClr val="4B5563"/>
                </a:solidFill>
              </a:rPr>
              <a:t>· 같은 날짜와 식사 구분은 합산해 보여주며 별도 식사 묶음은 두지 않습니다.</a:t>
            </a:r>
            <a:endParaRPr lang="en-US" sz="1600" dirty="0"/>
          </a:p>
          <a:p>
            <a:pPr indent="0" marL="0">
              <a:spcAft>
                <a:spcPts val="800"/>
              </a:spcAft>
              <a:buNone/>
            </a:pPr>
            <a:r>
              <a:rPr lang="en-US" sz="1600" dirty="0">
                <a:solidFill>
                  <a:srgbClr val="4B5563"/>
                </a:solidFill>
              </a:rPr>
              <a:t>· 생성 시각과 섭취 날짜를 분리하고, 리포트는 섭취 날짜 기준으로 계산합니다.</a:t>
            </a:r>
            <a:endParaRPr lang="en-US" sz="1600" dirty="0"/>
          </a:p>
          <a:p>
            <a:pPr indent="0" marL="0">
              <a:spcAft>
                <a:spcPts val="800"/>
              </a:spcAft>
              <a:buNone/>
            </a:pPr>
            <a:r>
              <a:rPr lang="en-US" sz="1600" dirty="0">
                <a:solidFill>
                  <a:srgbClr val="4B5563"/>
                </a:solidFill>
              </a:rPr>
              <a:t>· 영양값이 없는 음식도 저장하며 해당 영양소 합계에서 제외합니다.</a:t>
            </a:r>
            <a:endParaRPr lang="en-US" sz="1600" dirty="0"/>
          </a:p>
          <a:p>
            <a:pPr indent="0" marL="0">
              <a:spcAft>
                <a:spcPts val="800"/>
              </a:spcAft>
              <a:buNone/>
            </a:pPr>
            <a:r>
              <a:rPr lang="en-US" sz="1600" dirty="0">
                <a:solidFill>
                  <a:srgbClr val="4B5563"/>
                </a:solidFill>
              </a:rPr>
              <a:t>· 저장 실패 시 입력값 보존, 저장 상태 표시, 재시도와 중복 방지를 구현합니다.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WP-009: 기록·홈·날짜별 조회 개발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완전한 오프라인 동기화는 제외하고 임시 보존 수준은 난이도 검토 결과에 따라 확정합니다.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WP-010: 주간 리포트·기록 알림 개발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주간 </a:t>
                      </a:r>
                      <a:pPr indent="0" marL="0">
                        <a:buNone/>
                      </a:pPr>
                      <a:r>
                        <a:rPr lang="en-US" sz="1100" dirty="0">
                          <a:solidFill>
                            <a:srgbClr val="1F2937"/>
                          </a:solidFill>
                        </a:rPr>
                        <a:t>리포트·기록 </a:t>
                      </a:r>
                      <a:pPr indent="0" marL="0">
                        <a:buNone/>
                      </a:pPr>
                      <a:r>
                        <a:rPr lang="en-US" sz="1100" dirty="0">
                          <a:solidFill>
                            <a:srgbClr val="1F2937"/>
                          </a:solidFill>
                        </a:rPr>
                        <a:t>알림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4.6, </a:t>
                      </a:r>
                      <a:pPr indent="0" marL="0">
                        <a:buNone/>
                      </a:pPr>
                      <a:r>
                        <a:rPr lang="en-US" sz="1100" dirty="0">
                          <a:solidFill>
                            <a:srgbClr val="1F2937"/>
                          </a:solidFill>
                        </a:rPr>
                        <a:t>5.4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미정, </a:t>
                      </a:r>
                      <a:pPr indent="0" marL="0">
                        <a:buNone/>
                      </a:pPr>
                      <a:r>
                        <a:rPr lang="en-US" sz="1100" dirty="0">
                          <a:solidFill>
                            <a:srgbClr val="1F2937"/>
                          </a:solidFill>
                        </a:rPr>
                        <a:t>최개발,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2026-11-05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2026-11-18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WP-009 </a:t>
                      </a:r>
                      <a:pPr indent="0" marL="0">
                        <a:buNone/>
                      </a:pPr>
                      <a:r>
                        <a:rPr lang="en-US" sz="1100" dirty="0">
                          <a:solidFill>
                            <a:srgbClr val="1F2937"/>
                          </a:solidFill>
                        </a:rPr>
                        <a:t>기록 </a:t>
                      </a:r>
                      <a:pPr indent="0" marL="0">
                        <a:buNone/>
                      </a:pPr>
                      <a:r>
                        <a:rPr lang="en-US" sz="1100" dirty="0">
                          <a:solidFill>
                            <a:srgbClr val="1F2937"/>
                          </a:solidFill>
                        </a:rPr>
                        <a:t>조회·집계 </a:t>
                      </a:r>
                      <a:pPr indent="0" marL="0">
                        <a:buNone/>
                      </a:pPr>
                      <a:r>
                        <a:rPr lang="en-US" sz="1100" dirty="0">
                          <a:solidFill>
                            <a:srgbClr val="1F2937"/>
                          </a:solidFill>
                        </a:rPr>
                        <a:t>자료, </a:t>
                      </a:r>
                      <a:pPr indent="0" marL="0">
                        <a:buNone/>
                      </a:pPr>
                      <a:r>
                        <a:rPr lang="en-US" sz="1100" dirty="0">
                          <a:solidFill>
                            <a:srgbClr val="1F2937"/>
                          </a:solidFill>
                        </a:rPr>
                        <a:t>WP-007 </a:t>
                      </a:r>
                      <a:pPr indent="0" marL="0">
                        <a:buNone/>
                      </a:pPr>
                      <a:r>
                        <a:rPr lang="en-US" sz="1100" dirty="0">
                          <a:solidFill>
                            <a:srgbClr val="1F2937"/>
                          </a:solidFill>
                        </a:rPr>
                        <a:t>알림·동의 </a:t>
                      </a:r>
                      <a:pPr indent="0" marL="0">
                        <a:buNone/>
                      </a:pPr>
                      <a:r>
                        <a:rPr lang="en-US" sz="1100" dirty="0">
                          <a:solidFill>
                            <a:srgbClr val="1F2937"/>
                          </a:solidFill>
                        </a:rPr>
                        <a:t>구조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 </a:t>
                      </a:r>
                      <a:pPr indent="0" marL="0">
                        <a:buNone/>
                      </a:pPr>
                      <a:r>
                        <a:rPr lang="en-US" sz="1100" dirty="0">
                          <a:solidFill>
                            <a:srgbClr val="1F2937"/>
                          </a:solidFill>
                        </a:rPr>
                        <a:t>기록 </a:t>
                      </a:r>
                      <a:pPr indent="0" marL="0">
                        <a:buNone/>
                      </a:pPr>
                      <a:r>
                        <a:rPr lang="en-US" sz="1100" dirty="0">
                          <a:solidFill>
                            <a:srgbClr val="1F2937"/>
                          </a:solidFill>
                        </a:rPr>
                        <a:t>저장·수정·삭제 </a:t>
                      </a:r>
                      <a:pPr indent="0" marL="0">
                        <a:buNone/>
                      </a:pPr>
                      <a:r>
                        <a:rPr lang="en-US" sz="1100" dirty="0">
                          <a:solidFill>
                            <a:srgbClr val="1F2937"/>
                          </a:solidFill>
                        </a:rPr>
                        <a:t>흐름 </a:t>
                      </a:r>
                      <a:pPr indent="0" marL="0">
                        <a:buNone/>
                      </a:pPr>
                      <a:r>
                        <a:rPr lang="en-US" sz="1100" dirty="0">
                          <a:solidFill>
                            <a:srgbClr val="1F2937"/>
                          </a:solidFill>
                        </a:rPr>
                        <a:t>완료 </a:t>
                      </a:r>
                      <a:pPr indent="0" marL="0">
                        <a:buNone/>
                      </a:pPr>
                      <a:r>
                        <a:rPr lang="en-US" sz="1100" dirty="0">
                          <a:solidFill>
                            <a:srgbClr val="1F2937"/>
                          </a:solidFill>
                        </a:rPr>
                        <a:t>후 </a:t>
                      </a:r>
                      <a:pPr indent="0" marL="0">
                        <a:buNone/>
                      </a:pPr>
                      <a:r>
                        <a:rPr lang="en-US" sz="1100" dirty="0">
                          <a:solidFill>
                            <a:srgbClr val="1F2937"/>
                          </a:solidFill>
                        </a:rPr>
                        <a:t>리포트 </a:t>
                      </a:r>
                      <a:pPr indent="0" marL="0">
                        <a:buNone/>
                      </a:pPr>
                      <a:r>
                        <a:rPr lang="en-US" sz="1100" dirty="0">
                          <a:solidFill>
                            <a:srgbClr val="1F2937"/>
                          </a:solidFill>
                        </a:rPr>
                        <a:t>통합. </a:t>
                      </a:r>
                      <a:pPr indent="0" marL="0">
                        <a:buNone/>
                      </a:pPr>
                      <a:r>
                        <a:rPr lang="en-US" sz="1100" dirty="0">
                          <a:solidFill>
                            <a:srgbClr val="1F2937"/>
                          </a:solidFill>
                        </a:rPr>
                        <a:t>SS: </a:t>
                      </a:r>
                      <a:pPr indent="0" marL="0">
                        <a:buNone/>
                      </a:pPr>
                      <a:r>
                        <a:rPr lang="en-US" sz="1100" dirty="0">
                          <a:solidFill>
                            <a:srgbClr val="1F2937"/>
                          </a:solidFill>
                        </a:rPr>
                        <a:t>리포트 </a:t>
                      </a:r>
                      <a:pPr indent="0" marL="0">
                        <a:buNone/>
                      </a:pPr>
                      <a:r>
                        <a:rPr lang="en-US" sz="1100" dirty="0">
                          <a:solidFill>
                            <a:srgbClr val="1F2937"/>
                          </a:solidFill>
                        </a:rPr>
                        <a:t>화면 </a:t>
                      </a:r>
                      <a:pPr indent="0" marL="0">
                        <a:buNone/>
                      </a:pPr>
                      <a:r>
                        <a:rPr lang="en-US" sz="1100" dirty="0">
                          <a:solidFill>
                            <a:srgbClr val="1F2937"/>
                          </a:solidFill>
                        </a:rPr>
                        <a:t>시안은 </a:t>
                      </a:r>
                      <a:pPr indent="0" marL="0">
                        <a:buNone/>
                      </a:pPr>
                      <a:r>
                        <a:rPr lang="en-US" sz="1100" dirty="0">
                          <a:solidFill>
                            <a:srgbClr val="1F2937"/>
                          </a:solidFill>
                        </a:rPr>
                        <a:t>먼저 </a:t>
                      </a:r>
                      <a:pPr indent="0" marL="0">
                        <a:buNone/>
                      </a:pPr>
                      <a:r>
                        <a:rPr lang="en-US" sz="1100" dirty="0">
                          <a:solidFill>
                            <a:srgbClr val="1F2937"/>
                          </a:solidFill>
                        </a:rPr>
                        <a:t>진행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주간 </a:t>
                      </a:r>
                      <a:pPr indent="0" marL="0">
                        <a:buNone/>
                      </a:pPr>
                      <a:r>
                        <a:rPr lang="en-US" sz="1100" dirty="0">
                          <a:solidFill>
                            <a:srgbClr val="1F2937"/>
                          </a:solidFill>
                        </a:rPr>
                        <a:t>리포트 </a:t>
                      </a:r>
                      <a:pPr indent="0" marL="0">
                        <a:buNone/>
                      </a:pPr>
                      <a:r>
                        <a:rPr lang="en-US" sz="1100" dirty="0">
                          <a:solidFill>
                            <a:srgbClr val="1F2937"/>
                          </a:solidFill>
                        </a:rPr>
                        <a:t>집계·화면, </a:t>
                      </a:r>
                      <a:pPr indent="0" marL="0">
                        <a:buNone/>
                      </a:pPr>
                      <a:r>
                        <a:rPr lang="en-US" sz="1100" dirty="0">
                          <a:solidFill>
                            <a:srgbClr val="1F2937"/>
                          </a:solidFill>
                        </a:rPr>
                        <a:t>기록 </a:t>
                      </a:r>
                      <a:pPr indent="0" marL="0">
                        <a:buNone/>
                      </a:pPr>
                      <a:r>
                        <a:rPr lang="en-US" sz="1100" dirty="0">
                          <a:solidFill>
                            <a:srgbClr val="1F2937"/>
                          </a:solidFill>
                        </a:rPr>
                        <a:t>알림 </a:t>
                      </a:r>
                      <a:pPr indent="0" marL="0">
                        <a:buNone/>
                      </a:pPr>
                      <a:r>
                        <a:rPr lang="en-US" sz="1100" dirty="0">
                          <a:solidFill>
                            <a:srgbClr val="1F2937"/>
                          </a:solidFill>
                        </a:rPr>
                        <a:t>설정·발송 </a:t>
                      </a:r>
                      <a:pPr indent="0" marL="0">
                        <a:buNone/>
                      </a:pPr>
                      <a:r>
                        <a:rPr lang="en-US" sz="1100" dirty="0">
                          <a:solidFill>
                            <a:srgbClr val="1F2937"/>
                          </a:solidFill>
                        </a:rPr>
                        <a:t>조건, </a:t>
                      </a:r>
                      <a:pPr indent="0" marL="0">
                        <a:buNone/>
                      </a:pPr>
                      <a:r>
                        <a:rPr lang="en-US" sz="1100" dirty="0">
                          <a:solidFill>
                            <a:srgbClr val="1F2937"/>
                          </a:solidFill>
                        </a:rPr>
                        <a:t>알림 </a:t>
                      </a:r>
                      <a:pPr indent="0" marL="0">
                        <a:buNone/>
                      </a:pPr>
                      <a:r>
                        <a:rPr lang="en-US" sz="1100" dirty="0">
                          <a:solidFill>
                            <a:srgbClr val="1F2937"/>
                          </a:solidFill>
                        </a:rPr>
                        <a:t>권한 </a:t>
                      </a:r>
                      <a:pPr indent="0" marL="0">
                        <a:buNone/>
                      </a:pPr>
                      <a:r>
                        <a:rPr lang="en-US" sz="1100" dirty="0">
                          <a:solidFill>
                            <a:srgbClr val="1F2937"/>
                          </a:solidFill>
                        </a:rPr>
                        <a:t>상태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주의 </a:t>
                      </a:r>
                      <a:pPr indent="0" marL="0">
                        <a:buNone/>
                      </a:pPr>
                      <a:r>
                        <a:rPr lang="en-US" sz="1100" dirty="0">
                          <a:solidFill>
                            <a:srgbClr val="1F2937"/>
                          </a:solidFill>
                        </a:rPr>
                        <a:t>기록 </a:t>
                      </a:r>
                      <a:pPr indent="0" marL="0">
                        <a:buNone/>
                      </a:pPr>
                      <a:r>
                        <a:rPr lang="en-US" sz="1100" dirty="0">
                          <a:solidFill>
                            <a:srgbClr val="1F2937"/>
                          </a:solidFill>
                        </a:rPr>
                        <a:t>일수와 </a:t>
                      </a:r>
                      <a:pPr indent="0" marL="0">
                        <a:buNone/>
                      </a:pPr>
                      <a:r>
                        <a:rPr lang="en-US" sz="1100" dirty="0">
                          <a:solidFill>
                            <a:srgbClr val="1F2937"/>
                          </a:solidFill>
                        </a:rPr>
                        <a:t>기록한 </a:t>
                      </a:r>
                      <a:pPr indent="0" marL="0">
                        <a:buNone/>
                      </a:pPr>
                      <a:r>
                        <a:rPr lang="en-US" sz="1100" dirty="0">
                          <a:solidFill>
                            <a:srgbClr val="1F2937"/>
                          </a:solidFill>
                        </a:rPr>
                        <a:t>날 </a:t>
                      </a:r>
                      <a:pPr indent="0" marL="0">
                        <a:buNone/>
                      </a:pPr>
                      <a:r>
                        <a:rPr lang="en-US" sz="1100" dirty="0">
                          <a:solidFill>
                            <a:srgbClr val="1F2937"/>
                          </a:solidFill>
                        </a:rPr>
                        <a:t>기준 </a:t>
                      </a:r>
                      <a:pPr indent="0" marL="0">
                        <a:buNone/>
                      </a:pPr>
                      <a:r>
                        <a:rPr lang="en-US" sz="1100" dirty="0">
                          <a:solidFill>
                            <a:srgbClr val="1F2937"/>
                          </a:solidFill>
                        </a:rPr>
                        <a:t>평균이 </a:t>
                      </a:r>
                      <a:pPr indent="0" marL="0">
                        <a:buNone/>
                      </a:pPr>
                      <a:r>
                        <a:rPr lang="en-US" sz="1100" dirty="0">
                          <a:solidFill>
                            <a:srgbClr val="1F2937"/>
                          </a:solidFill>
                        </a:rPr>
                        <a:t>표시되며, </a:t>
                      </a:r>
                      <a:pPr indent="0" marL="0">
                        <a:buNone/>
                      </a:pPr>
                      <a:r>
                        <a:rPr lang="en-US" sz="1100" dirty="0">
                          <a:solidFill>
                            <a:srgbClr val="1F2937"/>
                          </a:solidFill>
                        </a:rPr>
                        <a:t>선택형 </a:t>
                      </a:r>
                      <a:pPr indent="0" marL="0">
                        <a:buNone/>
                      </a:pPr>
                      <a:r>
                        <a:rPr lang="en-US" sz="1100" dirty="0">
                          <a:solidFill>
                            <a:srgbClr val="1F2937"/>
                          </a:solidFill>
                        </a:rPr>
                        <a:t>기록 </a:t>
                      </a:r>
                      <a:pPr indent="0" marL="0">
                        <a:buNone/>
                      </a:pPr>
                      <a:r>
                        <a:rPr lang="en-US" sz="1100" dirty="0">
                          <a:solidFill>
                            <a:srgbClr val="1F2937"/>
                          </a:solidFill>
                        </a:rPr>
                        <a:t>알림이 </a:t>
                      </a:r>
                      <a:pPr indent="0" marL="0">
                        <a:buNone/>
                      </a:pPr>
                      <a:r>
                        <a:rPr lang="en-US" sz="1100" dirty="0">
                          <a:solidFill>
                            <a:srgbClr val="1F2937"/>
                          </a:solidFill>
                        </a:rPr>
                        <a:t>설정에 </a:t>
                      </a:r>
                      <a:pPr indent="0" marL="0">
                        <a:buNone/>
                      </a:pPr>
                      <a:r>
                        <a:rPr lang="en-US" sz="1100" dirty="0">
                          <a:solidFill>
                            <a:srgbClr val="1F2937"/>
                          </a:solidFill>
                        </a:rPr>
                        <a:t>따라 </a:t>
                      </a:r>
                      <a:pPr indent="0" marL="0">
                        <a:buNone/>
                      </a:pPr>
                      <a:r>
                        <a:rPr lang="en-US" sz="1100" dirty="0">
                          <a:solidFill>
                            <a:srgbClr val="1F2937"/>
                          </a:solidFill>
                        </a:rPr>
                        <a:t>동작함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WP-010: 주간 리포트·기록 알림 개발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주요 처리 기준</a:t>
            </a:r>
            <a:endParaRPr lang="en-US" sz="1600" dirty="0"/>
          </a:p>
          <a:p>
            <a:pPr indent="0" marL="0">
              <a:spcAft>
                <a:spcPts val="800"/>
              </a:spcAft>
              <a:buNone/>
            </a:pPr>
            <a:r>
              <a:rPr lang="en-US" sz="1600" dirty="0">
                <a:solidFill>
                  <a:srgbClr val="4B5563"/>
                </a:solidFill>
              </a:rPr>
              <a:t>· 주간 리포트는 한국 시간 기준 월요일부터 일요일까지의 완료된 주를 대상으로 합니다.</a:t>
            </a:r>
            <a:endParaRPr lang="en-US" sz="1600" dirty="0"/>
          </a:p>
          <a:p>
            <a:pPr indent="0" marL="0">
              <a:spcAft>
                <a:spcPts val="800"/>
              </a:spcAft>
              <a:buNone/>
            </a:pPr>
            <a:r>
              <a:rPr lang="en-US" sz="1600" dirty="0">
                <a:solidFill>
                  <a:srgbClr val="4B5563"/>
                </a:solidFill>
              </a:rPr>
              <a:t>· 미기록 날짜는 0으로 표시하지 않습니다.</a:t>
            </a:r>
            <a:endParaRPr lang="en-US" sz="1600" dirty="0"/>
          </a:p>
          <a:p>
            <a:pPr indent="0" marL="0">
              <a:spcAft>
                <a:spcPts val="800"/>
              </a:spcAft>
              <a:buNone/>
            </a:pPr>
            <a:r>
              <a:rPr lang="en-US" sz="1600" dirty="0">
                <a:solidFill>
                  <a:srgbClr val="4B5563"/>
                </a:solidFill>
              </a:rPr>
              <a:t>· 칼로리·탄수화물·단백질·지방은 각 영양소별로 값이 있는 항목만 합산합니다.</a:t>
            </a:r>
            <a:endParaRPr lang="en-US" sz="1600" dirty="0"/>
          </a:p>
          <a:p>
            <a:pPr indent="0" marL="0">
              <a:spcAft>
                <a:spcPts val="800"/>
              </a:spcAft>
              <a:buNone/>
            </a:pPr>
            <a:r>
              <a:rPr lang="en-US" sz="1600" dirty="0">
                <a:solidFill>
                  <a:srgbClr val="4B5563"/>
                </a:solidFill>
              </a:rPr>
              <a:t>· 목표가 있는 경우에만 목표 이력을 기준으로 비교하며, 목표가 없던 날짜에는 비교하지 않습니다.</a:t>
            </a:r>
            <a:endParaRPr lang="en-US" sz="1600" dirty="0"/>
          </a:p>
          <a:p>
            <a:pPr indent="0" marL="0">
              <a:spcAft>
                <a:spcPts val="800"/>
              </a:spcAft>
              <a:buNone/>
            </a:pPr>
            <a:r>
              <a:rPr lang="en-US" sz="1600" dirty="0">
                <a:solidFill>
                  <a:srgbClr val="4B5563"/>
                </a:solidFill>
              </a:rPr>
              <a:t>· 리포트 푸시는 MVP에서 제외합니다.</a:t>
            </a:r>
            <a:endParaRPr lang="en-US" sz="1600" dirty="0"/>
          </a:p>
          <a:p>
            <a:pPr indent="0" marL="0">
              <a:spcAft>
                <a:spcPts val="800"/>
              </a:spcAft>
              <a:buNone/>
            </a:pPr>
            <a:r>
              <a:rPr lang="en-US" sz="1600" dirty="0">
                <a:solidFill>
                  <a:srgbClr val="4B5563"/>
                </a:solidFill>
              </a:rPr>
              <a:t>· 기록 알림 기본값은 꺼짐이며 하루 최대 한 번, 해당 날짜에 기록이 한 건 이상이면 발송을 건너뜁니다.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WP-010: 주간 리포트·기록 알림 개발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기본 시간은 저녁 8시로 논의됐습니다. 사용자 시간 변경 방식의 세부 사항은 구현 전에 확정합니다.</a:t>
            </a:r>
            <a:endParaRPr lang="en-US" sz="1600" dirty="0"/>
          </a:p>
          <a:p>
            <a:pPr indent="0" marL="0">
              <a:spcAft>
                <a:spcPts val="800"/>
              </a:spcAft>
              <a:buNone/>
            </a:pPr>
            <a:r>
              <a:rPr lang="en-US" sz="1600" dirty="0">
                <a:solidFill>
                  <a:srgbClr val="4B5563"/>
                </a:solidFill>
              </a:rPr>
              <a:t>· 리포트는 화면 진입 시 계산하는 방식으로 시작하고, 캐시는 성능 확인 후 검토합니다.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WP-011: 백엔드·자료 구조·운영 기반 구축</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백엔드·자료 </a:t>
                      </a:r>
                      <a:pPr indent="0" marL="0">
                        <a:buNone/>
                      </a:pPr>
                      <a:r>
                        <a:rPr lang="en-US" sz="1100" dirty="0">
                          <a:solidFill>
                            <a:srgbClr val="1F2937"/>
                          </a:solidFill>
                        </a:rPr>
                        <a:t>구조·운영 </a:t>
                      </a:r>
                      <a:pPr indent="0" marL="0">
                        <a:buNone/>
                      </a:pPr>
                      <a:r>
                        <a:rPr lang="en-US" sz="1100" dirty="0">
                          <a:solidFill>
                            <a:srgbClr val="1F2937"/>
                          </a:solidFill>
                        </a:rPr>
                        <a:t>기반 </a:t>
                      </a:r>
                      <a:pPr indent="0" marL="0">
                        <a:buNone/>
                      </a:pPr>
                      <a:r>
                        <a:rPr lang="en-US" sz="1100" dirty="0">
                          <a:solidFill>
                            <a:srgbClr val="1F2937"/>
                          </a:solidFill>
                        </a:rPr>
                        <a:t>구축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5.1, </a:t>
                      </a:r>
                      <a:pPr indent="0" marL="0">
                        <a:buNone/>
                      </a:pPr>
                      <a:r>
                        <a:rPr lang="en-US" sz="1100" dirty="0">
                          <a:solidFill>
                            <a:srgbClr val="1F2937"/>
                          </a:solidFill>
                        </a:rPr>
                        <a:t>5.2, </a:t>
                      </a:r>
                      <a:pPr indent="0" marL="0">
                        <a:buNone/>
                      </a:pPr>
                      <a:r>
                        <a:rPr lang="en-US" sz="1100" dirty="0">
                          <a:solidFill>
                            <a:srgbClr val="1F2937"/>
                          </a:solidFill>
                        </a:rPr>
                        <a:t>5.3, </a:t>
                      </a:r>
                      <a:pPr indent="0" marL="0">
                        <a:buNone/>
                      </a:pPr>
                      <a:r>
                        <a:rPr lang="en-US" sz="1100" dirty="0">
                          <a:solidFill>
                            <a:srgbClr val="1F2937"/>
                          </a:solidFill>
                        </a:rPr>
                        <a:t>5.4, </a:t>
                      </a:r>
                      <a:pPr indent="0" marL="0">
                        <a:buNone/>
                      </a:pPr>
                      <a:r>
                        <a:rPr lang="en-US" sz="1100" dirty="0">
                          <a:solidFill>
                            <a:srgbClr val="1F2937"/>
                          </a:solidFill>
                        </a:rPr>
                        <a:t>5.5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지원 </a:t>
                      </a:r>
                      <a:pPr indent="0" marL="0">
                        <a:buNone/>
                      </a:pPr>
                      <a:r>
                        <a:rPr lang="en-US" sz="1100" dirty="0">
                          <a:solidFill>
                            <a:srgbClr val="1F2937"/>
                          </a:solidFill>
                        </a:rPr>
                        <a:t>인력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2026-11-11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15인일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WP-005 </a:t>
                      </a:r>
                      <a:pPr indent="0" marL="0">
                        <a:buNone/>
                      </a:pPr>
                      <a:r>
                        <a:rPr lang="en-US" sz="1100" dirty="0">
                          <a:solidFill>
                            <a:srgbClr val="1F2937"/>
                          </a:solidFill>
                        </a:rPr>
                        <a:t>설계 </a:t>
                      </a:r>
                      <a:pPr indent="0" marL="0">
                        <a:buNone/>
                      </a:pPr>
                      <a:r>
                        <a:rPr lang="en-US" sz="1100" dirty="0">
                          <a:solidFill>
                            <a:srgbClr val="1F2937"/>
                          </a:solidFill>
                        </a:rPr>
                        <a:t>초안. </a:t>
                      </a:r>
                      <a:pPr indent="0" marL="0">
                        <a:buNone/>
                      </a:pPr>
                      <a:r>
                        <a:rPr lang="en-US" sz="1100" dirty="0">
                          <a:solidFill>
                            <a:srgbClr val="1F2937"/>
                          </a:solidFill>
                        </a:rPr>
                        <a:t>음식 </a:t>
                      </a:r>
                      <a:pPr indent="0" marL="0">
                        <a:buNone/>
                      </a:pPr>
                      <a:r>
                        <a:rPr lang="en-US" sz="1100" dirty="0">
                          <a:solidFill>
                            <a:srgbClr val="1F2937"/>
                          </a:solidFill>
                        </a:rPr>
                        <a:t>검색 </a:t>
                      </a:r>
                      <a:pPr indent="0" marL="0">
                        <a:buNone/>
                      </a:pPr>
                      <a:r>
                        <a:rPr lang="en-US" sz="1100" dirty="0">
                          <a:solidFill>
                            <a:srgbClr val="1F2937"/>
                          </a:solidFill>
                        </a:rPr>
                        <a:t>외부 </a:t>
                      </a:r>
                      <a:pPr indent="0" marL="0">
                        <a:buNone/>
                      </a:pPr>
                      <a:r>
                        <a:rPr lang="en-US" sz="1100" dirty="0">
                          <a:solidFill>
                            <a:srgbClr val="1F2937"/>
                          </a:solidFill>
                        </a:rPr>
                        <a:t>연동은 </a:t>
                      </a:r>
                      <a:pPr indent="0" marL="0">
                        <a:buNone/>
                      </a:pPr>
                      <a:r>
                        <a:rPr lang="en-US" sz="1100" dirty="0">
                          <a:solidFill>
                            <a:srgbClr val="1F2937"/>
                          </a:solidFill>
                        </a:rPr>
                        <a:t>WP-003 </a:t>
                      </a:r>
                      <a:pPr indent="0" marL="0">
                        <a:buNone/>
                      </a:pPr>
                      <a:r>
                        <a:rPr lang="en-US" sz="1100" dirty="0">
                          <a:solidFill>
                            <a:srgbClr val="1F2937"/>
                          </a:solidFill>
                        </a:rPr>
                        <a:t>공급처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 </a:t>
                      </a:r>
                      <a:pPr indent="0" marL="0">
                        <a:buNone/>
                      </a:pPr>
                      <a:r>
                        <a:rPr lang="en-US" sz="1100" dirty="0">
                          <a:solidFill>
                            <a:srgbClr val="1F2937"/>
                          </a:solidFill>
                        </a:rPr>
                        <a:t>기술 </a:t>
                      </a:r>
                      <a:pPr indent="0" marL="0">
                        <a:buNone/>
                      </a:pPr>
                      <a:r>
                        <a:rPr lang="en-US" sz="1100" dirty="0">
                          <a:solidFill>
                            <a:srgbClr val="1F2937"/>
                          </a:solidFill>
                        </a:rPr>
                        <a:t>설계와 </a:t>
                      </a:r>
                      <a:pPr indent="0" marL="0">
                        <a:buNone/>
                      </a:pPr>
                      <a:r>
                        <a:rPr lang="en-US" sz="1100" dirty="0">
                          <a:solidFill>
                            <a:srgbClr val="1F2937"/>
                          </a:solidFill>
                        </a:rPr>
                        <a:t>개발 </a:t>
                      </a:r>
                      <a:pPr indent="0" marL="0">
                        <a:buNone/>
                      </a:pPr>
                      <a:r>
                        <a:rPr lang="en-US" sz="1100" dirty="0">
                          <a:solidFill>
                            <a:srgbClr val="1F2937"/>
                          </a:solidFill>
                        </a:rPr>
                        <a:t>환경 </a:t>
                      </a:r>
                      <a:pPr indent="0" marL="0">
                        <a:buNone/>
                      </a:pPr>
                      <a:r>
                        <a:rPr lang="en-US" sz="1100" dirty="0">
                          <a:solidFill>
                            <a:srgbClr val="1F2937"/>
                          </a:solidFill>
                        </a:rPr>
                        <a:t>구축 </a:t>
                      </a:r>
                      <a:pPr indent="0" marL="0">
                        <a:buNone/>
                      </a:pPr>
                      <a:r>
                        <a:rPr lang="en-US" sz="1100" dirty="0">
                          <a:solidFill>
                            <a:srgbClr val="1F2937"/>
                          </a:solidFill>
                        </a:rPr>
                        <a:t>병행. </a:t>
                      </a:r>
                      <a:pPr indent="0" marL="0">
                        <a:buNone/>
                      </a:pPr>
                      <a:r>
                        <a:rPr lang="en-US" sz="1100" dirty="0">
                          <a:solidFill>
                            <a:srgbClr val="1F2937"/>
                          </a:solidFill>
                        </a:rPr>
                        <a:t>FF: </a:t>
                      </a:r>
                      <a:pPr indent="0" marL="0">
                        <a:buNone/>
                      </a:pPr>
                      <a:r>
                        <a:rPr lang="en-US" sz="1100" dirty="0">
                          <a:solidFill>
                            <a:srgbClr val="1F2937"/>
                          </a:solidFill>
                        </a:rPr>
                        <a:t>통합 </a:t>
                      </a:r>
                      <a:pPr indent="0" marL="0">
                        <a:buNone/>
                      </a:pPr>
                      <a:r>
                        <a:rPr lang="en-US" sz="1100" dirty="0">
                          <a:solidFill>
                            <a:srgbClr val="1F2937"/>
                          </a:solidFill>
                        </a:rPr>
                        <a:t>시험 </a:t>
                      </a:r>
                      <a:pPr indent="0" marL="0">
                        <a:buNone/>
                      </a:pPr>
                      <a:r>
                        <a:rPr lang="en-US" sz="1100" dirty="0">
                          <a:solidFill>
                            <a:srgbClr val="1F2937"/>
                          </a:solidFill>
                        </a:rPr>
                        <a:t>전 </a:t>
                      </a:r>
                      <a:pPr indent="0" marL="0">
                        <a:buNone/>
                      </a:pPr>
                      <a:r>
                        <a:rPr lang="en-US" sz="1100" dirty="0">
                          <a:solidFill>
                            <a:srgbClr val="1F2937"/>
                          </a:solidFill>
                        </a:rPr>
                        <a:t>기록·리포트·삭제·감시 </a:t>
                      </a:r>
                      <a:pPr indent="0" marL="0">
                        <a:buNone/>
                      </a:pPr>
                      <a:r>
                        <a:rPr lang="en-US" sz="1100" dirty="0">
                          <a:solidFill>
                            <a:srgbClr val="1F2937"/>
                          </a:solidFill>
                        </a:rPr>
                        <a:t>기본 </a:t>
                      </a:r>
                      <a:pPr indent="0" marL="0">
                        <a:buNone/>
                      </a:pPr>
                      <a:r>
                        <a:rPr lang="en-US" sz="1100" dirty="0">
                          <a:solidFill>
                            <a:srgbClr val="1F2937"/>
                          </a:solidFill>
                        </a:rPr>
                        <a:t>기능 </a:t>
                      </a:r>
                      <a:pPr indent="0" marL="0">
                        <a:buNone/>
                      </a:pPr>
                      <a:r>
                        <a:rPr lang="en-US" sz="1100" dirty="0">
                          <a:solidFill>
                            <a:srgbClr val="1F2937"/>
                          </a:solidFill>
                        </a:rPr>
                        <a:t>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서버·데이터베이스·API, </a:t>
                      </a:r>
                      <a:pPr indent="0" marL="0">
                        <a:buNone/>
                      </a:pPr>
                      <a:r>
                        <a:rPr lang="en-US" sz="1100" dirty="0">
                          <a:solidFill>
                            <a:srgbClr val="1F2937"/>
                          </a:solidFill>
                        </a:rPr>
                        <a:t>내부 </a:t>
                      </a:r>
                      <a:pPr indent="0" marL="0">
                        <a:buNone/>
                      </a:pPr>
                      <a:r>
                        <a:rPr lang="en-US" sz="1100" dirty="0">
                          <a:solidFill>
                            <a:srgbClr val="1F2937"/>
                          </a:solidFill>
                        </a:rPr>
                        <a:t>음식 </a:t>
                      </a:r>
                      <a:pPr indent="0" marL="0">
                        <a:buNone/>
                      </a:pPr>
                      <a:r>
                        <a:rPr lang="en-US" sz="1100" dirty="0">
                          <a:solidFill>
                            <a:srgbClr val="1F2937"/>
                          </a:solidFill>
                        </a:rPr>
                        <a:t>자료 </a:t>
                      </a:r>
                      <a:pPr indent="0" marL="0">
                        <a:buNone/>
                      </a:pPr>
                      <a:r>
                        <a:rPr lang="en-US" sz="1100" dirty="0">
                          <a:solidFill>
                            <a:srgbClr val="1F2937"/>
                          </a:solidFill>
                        </a:rPr>
                        <a:t>모델, </a:t>
                      </a:r>
                      <a:pPr indent="0" marL="0">
                        <a:buNone/>
                      </a:pPr>
                      <a:r>
                        <a:rPr lang="en-US" sz="1100" dirty="0">
                          <a:solidFill>
                            <a:srgbClr val="1F2937"/>
                          </a:solidFill>
                        </a:rPr>
                        <a:t>백업·감시 </a:t>
                      </a:r>
                      <a:pPr indent="0" marL="0">
                        <a:buNone/>
                      </a:pPr>
                      <a:r>
                        <a:rPr lang="en-US" sz="1100" dirty="0">
                          <a:solidFill>
                            <a:srgbClr val="1F2937"/>
                          </a:solidFill>
                        </a:rPr>
                        <a:t>설정, </a:t>
                      </a:r>
                      <a:pPr indent="0" marL="0">
                        <a:buNone/>
                      </a:pPr>
                      <a:r>
                        <a:rPr lang="en-US" sz="1100" dirty="0">
                          <a:solidFill>
                            <a:srgbClr val="1F2937"/>
                          </a:solidFill>
                        </a:rPr>
                        <a:t>개인정보 </a:t>
                      </a:r>
                      <a:pPr indent="0" marL="0">
                        <a:buNone/>
                      </a:pPr>
                      <a:r>
                        <a:rPr lang="en-US" sz="1100" dirty="0">
                          <a:solidFill>
                            <a:srgbClr val="1F2937"/>
                          </a:solidFill>
                        </a:rPr>
                        <a:t>보호 </a:t>
                      </a:r>
                      <a:pPr indent="0" marL="0">
                        <a:buNone/>
                      </a:pPr>
                      <a:r>
                        <a:rPr lang="en-US" sz="1100" dirty="0">
                          <a:solidFill>
                            <a:srgbClr val="1F2937"/>
                          </a:solidFill>
                        </a:rPr>
                        <a:t>구현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사용자별 </a:t>
                      </a:r>
                      <a:pPr indent="0" marL="0">
                        <a:buNone/>
                      </a:pPr>
                      <a:r>
                        <a:rPr lang="en-US" sz="1100" dirty="0">
                          <a:solidFill>
                            <a:srgbClr val="1F2937"/>
                          </a:solidFill>
                        </a:rPr>
                        <a:t>자료 </a:t>
                      </a:r>
                      <a:pPr indent="0" marL="0">
                        <a:buNone/>
                      </a:pPr>
                      <a:r>
                        <a:rPr lang="en-US" sz="1100" dirty="0">
                          <a:solidFill>
                            <a:srgbClr val="1F2937"/>
                          </a:solidFill>
                        </a:rPr>
                        <a:t>접근이 </a:t>
                      </a:r>
                      <a:pPr indent="0" marL="0">
                        <a:buNone/>
                      </a:pPr>
                      <a:r>
                        <a:rPr lang="en-US" sz="1100" dirty="0">
                          <a:solidFill>
                            <a:srgbClr val="1F2937"/>
                          </a:solidFill>
                        </a:rPr>
                        <a:t>분리되고, </a:t>
                      </a:r>
                      <a:pPr indent="0" marL="0">
                        <a:buNone/>
                      </a:pPr>
                      <a:r>
                        <a:rPr lang="en-US" sz="1100" dirty="0">
                          <a:solidFill>
                            <a:srgbClr val="1F2937"/>
                          </a:solidFill>
                        </a:rPr>
                        <a:t>기록·리포트·알림·삭제가 </a:t>
                      </a:r>
                      <a:pPr indent="0" marL="0">
                        <a:buNone/>
                      </a:pPr>
                      <a:r>
                        <a:rPr lang="en-US" sz="1100" dirty="0">
                          <a:solidFill>
                            <a:srgbClr val="1F2937"/>
                          </a:solidFill>
                        </a:rPr>
                        <a:t>동작하며, </a:t>
                      </a:r>
                      <a:pPr indent="0" marL="0">
                        <a:buNone/>
                      </a:pPr>
                      <a:r>
                        <a:rPr lang="en-US" sz="1100" dirty="0">
                          <a:solidFill>
                            <a:srgbClr val="1F2937"/>
                          </a:solidFill>
                        </a:rPr>
                        <a:t>로그에 </a:t>
                      </a:r>
                      <a:pPr indent="0" marL="0">
                        <a:buNone/>
                      </a:pPr>
                      <a:r>
                        <a:rPr lang="en-US" sz="1100" dirty="0">
                          <a:solidFill>
                            <a:srgbClr val="1F2937"/>
                          </a:solidFill>
                        </a:rPr>
                        <a:t>민감 </a:t>
                      </a:r>
                      <a:pPr indent="0" marL="0">
                        <a:buNone/>
                      </a:pPr>
                      <a:r>
                        <a:rPr lang="en-US" sz="1100" dirty="0">
                          <a:solidFill>
                            <a:srgbClr val="1F2937"/>
                          </a:solidFill>
                        </a:rPr>
                        <a:t>기록 </a:t>
                      </a:r>
                      <a:pPr indent="0" marL="0">
                        <a:buNone/>
                      </a:pPr>
                      <a:r>
                        <a:rPr lang="en-US" sz="1100" dirty="0">
                          <a:solidFill>
                            <a:srgbClr val="1F2937"/>
                          </a:solidFill>
                        </a:rPr>
                        <a:t>내용이 </a:t>
                      </a:r>
                      <a:pPr indent="0" marL="0">
                        <a:buNone/>
                      </a:pPr>
                      <a:r>
                        <a:rPr lang="en-US" sz="1100" dirty="0">
                          <a:solidFill>
                            <a:srgbClr val="1F2937"/>
                          </a:solidFill>
                        </a:rPr>
                        <a:t>남지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WP-011: 백엔드·자료 구조·운영 기반 구축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주요 처리 기준</a:t>
            </a:r>
            <a:endParaRPr lang="en-US" sz="1600" dirty="0"/>
          </a:p>
          <a:p>
            <a:pPr indent="0" marL="0">
              <a:spcAft>
                <a:spcPts val="800"/>
              </a:spcAft>
              <a:buNone/>
            </a:pPr>
            <a:r>
              <a:rPr lang="en-US" sz="1600" dirty="0">
                <a:solidFill>
                  <a:srgbClr val="4B5563"/>
                </a:solidFill>
              </a:rPr>
              <a:t>· 데이터베이스에 UTC 시각과 사용자 시간대·섭취 현지 날짜를 함께 고려합니다.</a:t>
            </a:r>
            <a:endParaRPr lang="en-US" sz="1600" dirty="0"/>
          </a:p>
          <a:p>
            <a:pPr indent="0" marL="0">
              <a:spcAft>
                <a:spcPts val="800"/>
              </a:spcAft>
              <a:buNone/>
            </a:pPr>
            <a:r>
              <a:rPr lang="en-US" sz="1600" dirty="0">
                <a:solidFill>
                  <a:srgbClr val="4B5563"/>
                </a:solidFill>
              </a:rPr>
              <a:t>· 음식 마스터와 식사 기록 시점 스냅샷을 분리합니다.</a:t>
            </a:r>
            <a:endParaRPr lang="en-US" sz="1600" dirty="0"/>
          </a:p>
          <a:p>
            <a:pPr indent="0" marL="0">
              <a:spcAft>
                <a:spcPts val="800"/>
              </a:spcAft>
              <a:buNone/>
            </a:pPr>
            <a:r>
              <a:rPr lang="en-US" sz="1600" dirty="0">
                <a:solidFill>
                  <a:srgbClr val="4B5563"/>
                </a:solidFill>
              </a:rPr>
              <a:t>· 목표 변경 이력의 유효 시작일·종료일을 저장합니다.</a:t>
            </a:r>
            <a:endParaRPr lang="en-US" sz="1600" dirty="0"/>
          </a:p>
          <a:p>
            <a:pPr indent="0" marL="0">
              <a:spcAft>
                <a:spcPts val="800"/>
              </a:spcAft>
              <a:buNone/>
            </a:pPr>
            <a:r>
              <a:rPr lang="en-US" sz="1600" dirty="0">
                <a:solidFill>
                  <a:srgbClr val="4B5563"/>
                </a:solidFill>
              </a:rPr>
              <a:t>· 외부 식품 API 어댑터와 내부 표준 모델을 분리합니다.</a:t>
            </a:r>
            <a:endParaRPr lang="en-US" sz="1600" dirty="0"/>
          </a:p>
          <a:p>
            <a:pPr indent="0" marL="0">
              <a:spcAft>
                <a:spcPts val="800"/>
              </a:spcAft>
              <a:buNone/>
            </a:pPr>
            <a:r>
              <a:rPr lang="en-US" sz="1600" dirty="0">
                <a:solidFill>
                  <a:srgbClr val="4B5563"/>
                </a:solidFill>
              </a:rPr>
              <a:t>· 자동 백업을 구성하고, 출시 전에 복구 시험을 수행합니다.</a:t>
            </a:r>
            <a:endParaRPr lang="en-US" sz="1600" dirty="0"/>
          </a:p>
          <a:p>
            <a:pPr indent="0" marL="0">
              <a:spcAft>
                <a:spcPts val="800"/>
              </a:spcAft>
              <a:buNone/>
            </a:pPr>
            <a:r>
              <a:rPr lang="en-US" sz="1600" dirty="0">
                <a:solidFill>
                  <a:srgbClr val="4B5563"/>
                </a:solidFill>
              </a:rPr>
              <a:t>· 오류율·응답 시간·저장 실패율과 외부 호출·비용 감시 방안을 마련합니다.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WP-011: 백엔드·자료 구조·운영 기반 구축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사용자 기록을 운영자가 임의로 조회하지 않도록 접근 권한과 접근 기록을 검토합니다.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WP-012: 사진 한 장 첨부 개발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사진 </a:t>
                      </a:r>
                      <a:pPr indent="0" marL="0">
                        <a:buNone/>
                      </a:pPr>
                      <a:r>
                        <a:rPr lang="en-US" sz="1100" dirty="0">
                          <a:solidFill>
                            <a:srgbClr val="1F2937"/>
                          </a:solidFill>
                        </a:rPr>
                        <a:t>한 </a:t>
                      </a:r>
                      <a:pPr indent="0" marL="0">
                        <a:buNone/>
                      </a:pPr>
                      <a:r>
                        <a:rPr lang="en-US" sz="1100" dirty="0">
                          <a:solidFill>
                            <a:srgbClr val="1F2937"/>
                          </a:solidFill>
                        </a:rPr>
                        <a:t>장 </a:t>
                      </a:r>
                      <a:pPr indent="0" marL="0">
                        <a:buNone/>
                      </a:pPr>
                      <a:r>
                        <a:rPr lang="en-US" sz="1100" dirty="0">
                          <a:solidFill>
                            <a:srgbClr val="1F2937"/>
                          </a:solidFill>
                        </a:rPr>
                        <a:t>첨부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4.7, </a:t>
                      </a:r>
                      <a:pPr indent="0" marL="0">
                        <a:buNone/>
                      </a:pPr>
                      <a:r>
                        <a:rPr lang="en-US" sz="1100" dirty="0">
                          <a:solidFill>
                            <a:srgbClr val="1F2937"/>
                          </a:solidFill>
                        </a:rPr>
                        <a:t>5.6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개발자 </a:t>
                      </a:r>
                      <a:pPr indent="0" marL="0">
                        <a:buNone/>
                      </a:pPr>
                      <a:r>
                        <a:rPr lang="en-US" sz="1100" dirty="0">
                          <a:solidFill>
                            <a:srgbClr val="1F2937"/>
                          </a:solidFill>
                        </a:rPr>
                        <a:t>미정, </a:t>
                      </a:r>
                      <a:pPr indent="0" marL="0">
                        <a:buNone/>
                      </a:pPr>
                      <a:r>
                        <a:rPr lang="en-US" sz="1100" dirty="0">
                          <a:solidFill>
                            <a:srgbClr val="1F2937"/>
                          </a:solidFill>
                        </a:rPr>
                        <a:t>최개발,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2026-10-22, </a:t>
                      </a:r>
                      <a:pPr indent="0" marL="0">
                        <a:buNone/>
                      </a:pPr>
                      <a:r>
                        <a:rPr lang="en-US" sz="1100" dirty="0">
                          <a:solidFill>
                            <a:srgbClr val="1F2937"/>
                          </a:solidFill>
                        </a:rPr>
                        <a:t>범위 </a:t>
                      </a:r>
                      <a:pPr indent="0" marL="0">
                        <a:buNone/>
                      </a:pPr>
                      <a:r>
                        <a:rPr lang="en-US" sz="1100" dirty="0">
                          <a:solidFill>
                            <a:srgbClr val="1F2937"/>
                          </a:solidFill>
                        </a:rPr>
                        <a:t>승인 </a:t>
                      </a:r>
                      <a:pPr indent="0" marL="0">
                        <a:buNone/>
                      </a:pPr>
                      <a:r>
                        <a:rPr lang="en-US" sz="1100" dirty="0">
                          <a:solidFill>
                            <a:srgbClr val="1F2937"/>
                          </a:solidFill>
                        </a:rPr>
                        <a:t>이후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WP-009 </a:t>
                      </a:r>
                      <a:pPr indent="0" marL="0">
                        <a:buNone/>
                      </a:pPr>
                      <a:r>
                        <a:rPr lang="en-US" sz="1100" dirty="0">
                          <a:solidFill>
                            <a:srgbClr val="1F2937"/>
                          </a:solidFill>
                        </a:rPr>
                        <a:t>기록 </a:t>
                      </a:r>
                      <a:pPr indent="0" marL="0">
                        <a:buNone/>
                      </a:pPr>
                      <a:r>
                        <a:rPr lang="en-US" sz="1100" dirty="0">
                          <a:solidFill>
                            <a:srgbClr val="1F2937"/>
                          </a:solidFill>
                        </a:rPr>
                        <a:t>흐름, </a:t>
                      </a:r>
                      <a:pPr indent="0" marL="0">
                        <a:buNone/>
                      </a:pPr>
                      <a:r>
                        <a:rPr lang="en-US" sz="1100" dirty="0">
                          <a:solidFill>
                            <a:srgbClr val="1F2937"/>
                          </a:solidFill>
                        </a:rPr>
                        <a:t>저장소·삭제·개인정보 </a:t>
                      </a:r>
                      <a:pPr indent="0" marL="0">
                        <a:buNone/>
                      </a:pPr>
                      <a:r>
                        <a:rPr lang="en-US" sz="1100" dirty="0">
                          <a:solidFill>
                            <a:srgbClr val="1F2937"/>
                          </a:solidFill>
                        </a:rPr>
                        <a:t>정책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 </a:t>
                      </a:r>
                      <a:pPr indent="0" marL="0">
                        <a:buNone/>
                      </a:pPr>
                      <a:r>
                        <a:rPr lang="en-US" sz="1100" dirty="0">
                          <a:solidFill>
                            <a:srgbClr val="1F2937"/>
                          </a:solidFill>
                        </a:rPr>
                        <a:t>사진 </a:t>
                      </a:r>
                      <a:pPr indent="0" marL="0">
                        <a:buNone/>
                      </a:pPr>
                      <a:r>
                        <a:rPr lang="en-US" sz="1100" dirty="0">
                          <a:solidFill>
                            <a:srgbClr val="1F2937"/>
                          </a:solidFill>
                        </a:rPr>
                        <a:t>첨부 </a:t>
                      </a:r>
                      <a:pPr indent="0" marL="0">
                        <a:buNone/>
                      </a:pPr>
                      <a:r>
                        <a:rPr lang="en-US" sz="1100" dirty="0">
                          <a:solidFill>
                            <a:srgbClr val="1F2937"/>
                          </a:solidFill>
                        </a:rPr>
                        <a:t>범위·보관·삭제·접근 </a:t>
                      </a:r>
                      <a:pPr indent="0" marL="0">
                        <a:buNone/>
                      </a:pPr>
                      <a:r>
                        <a:rPr lang="en-US" sz="1100" dirty="0">
                          <a:solidFill>
                            <a:srgbClr val="1F2937"/>
                          </a:solidFill>
                        </a:rPr>
                        <a:t>정책 </a:t>
                      </a:r>
                      <a:pPr indent="0" marL="0">
                        <a:buNone/>
                      </a:pPr>
                      <a:r>
                        <a:rPr lang="en-US" sz="1100" dirty="0">
                          <a:solidFill>
                            <a:srgbClr val="1F2937"/>
                          </a:solidFill>
                        </a:rPr>
                        <a:t>승인 </a:t>
                      </a:r>
                      <a:pPr indent="0" marL="0">
                        <a:buNone/>
                      </a:pPr>
                      <a:r>
                        <a:rPr lang="en-US" sz="1100" dirty="0">
                          <a:solidFill>
                            <a:srgbClr val="1F2937"/>
                          </a:solidFill>
                        </a:rPr>
                        <a:t>후 </a:t>
                      </a:r>
                      <a:pPr indent="0" marL="0">
                        <a:buNone/>
                      </a:pPr>
                      <a:r>
                        <a:rPr lang="en-US" sz="1100" dirty="0">
                          <a:solidFill>
                            <a:srgbClr val="1F2937"/>
                          </a:solidFill>
                        </a:rPr>
                        <a:t>착수. </a:t>
                      </a:r>
                      <a:pPr indent="0" marL="0">
                        <a:buNone/>
                      </a:pPr>
                      <a:r>
                        <a:rPr lang="en-US" sz="1100" dirty="0">
                          <a:solidFill>
                            <a:srgbClr val="1F2937"/>
                          </a:solidFill>
                        </a:rPr>
                        <a:t>FF: </a:t>
                      </a:r>
                      <a:pPr indent="0" marL="0">
                        <a:buNone/>
                      </a:pPr>
                      <a:r>
                        <a:rPr lang="en-US" sz="1100" dirty="0">
                          <a:solidFill>
                            <a:srgbClr val="1F2937"/>
                          </a:solidFill>
                        </a:rPr>
                        <a:t>5주 </a:t>
                      </a:r>
                      <a:pPr indent="0" marL="0">
                        <a:buNone/>
                      </a:pPr>
                      <a:r>
                        <a:rPr lang="en-US" sz="1100" dirty="0">
                          <a:solidFill>
                            <a:srgbClr val="1F2937"/>
                          </a:solidFill>
                        </a:rPr>
                        <a:t>차까지 </a:t>
                      </a:r>
                      <a:pPr indent="0" marL="0">
                        <a:buNone/>
                      </a:pPr>
                      <a:r>
                        <a:rPr lang="en-US" sz="1100" dirty="0">
                          <a:solidFill>
                            <a:srgbClr val="1F2937"/>
                          </a:solidFill>
                        </a:rPr>
                        <a:t>통합 </a:t>
                      </a:r>
                      <a:pPr indent="0" marL="0">
                        <a:buNone/>
                      </a:pPr>
                      <a:r>
                        <a:rPr lang="en-US" sz="1100" dirty="0">
                          <a:solidFill>
                            <a:srgbClr val="1F2937"/>
                          </a:solidFill>
                        </a:rPr>
                        <a:t>여부와 </a:t>
                      </a:r>
                      <a:pPr indent="0" marL="0">
                        <a:buNone/>
                      </a:pPr>
                      <a:r>
                        <a:rPr lang="en-US" sz="1100" dirty="0">
                          <a:solidFill>
                            <a:srgbClr val="1F2937"/>
                          </a:solidFill>
                        </a:rPr>
                        <a:t>일정 </a:t>
                      </a:r>
                      <a:pPr indent="0" marL="0">
                        <a:buNone/>
                      </a:pPr>
                      <a:r>
                        <a:rPr lang="en-US" sz="1100" dirty="0">
                          <a:solidFill>
                            <a:srgbClr val="1F2937"/>
                          </a:solidFill>
                        </a:rPr>
                        <a:t>영향 </a:t>
                      </a:r>
                      <a:pPr indent="0" marL="0">
                        <a:buNone/>
                      </a:pPr>
                      <a:r>
                        <a:rPr lang="en-US" sz="1100" dirty="0">
                          <a:solidFill>
                            <a:srgbClr val="1F2937"/>
                          </a:solidFill>
                        </a:rPr>
                        <a:t>판단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식사당 </a:t>
                      </a:r>
                      <a:pPr indent="0" marL="0">
                        <a:buNone/>
                      </a:pPr>
                      <a:r>
                        <a:rPr lang="en-US" sz="1100" dirty="0">
                          <a:solidFill>
                            <a:srgbClr val="1F2937"/>
                          </a:solidFill>
                        </a:rPr>
                        <a:t>한 </a:t>
                      </a:r>
                      <a:pPr indent="0" marL="0">
                        <a:buNone/>
                      </a:pPr>
                      <a:r>
                        <a:rPr lang="en-US" sz="1100" dirty="0">
                          <a:solidFill>
                            <a:srgbClr val="1F2937"/>
                          </a:solidFill>
                        </a:rPr>
                        <a:t>장 </a:t>
                      </a:r>
                      <a:pPr indent="0" marL="0">
                        <a:buNone/>
                      </a:pPr>
                      <a:r>
                        <a:rPr lang="en-US" sz="1100" dirty="0">
                          <a:solidFill>
                            <a:srgbClr val="1F2937"/>
                          </a:solidFill>
                        </a:rPr>
                        <a:t>첨부·보기·삭제 </a:t>
                      </a:r>
                      <a:pPr indent="0" marL="0">
                        <a:buNone/>
                      </a:pPr>
                      <a:r>
                        <a:rPr lang="en-US" sz="1100" dirty="0">
                          <a:solidFill>
                            <a:srgbClr val="1F2937"/>
                          </a:solidFill>
                        </a:rPr>
                        <a:t>기능 </a:t>
                      </a:r>
                      <a:pPr indent="0" marL="0">
                        <a:buNone/>
                      </a:pPr>
                      <a:r>
                        <a:rPr lang="en-US" sz="1100" dirty="0">
                          <a:solidFill>
                            <a:srgbClr val="1F2937"/>
                          </a:solidFill>
                        </a:rPr>
                        <a:t>또는 </a:t>
                      </a:r>
                      <a:pPr indent="0" marL="0">
                        <a:buNone/>
                      </a:pPr>
                      <a:r>
                        <a:rPr lang="en-US" sz="1100" dirty="0">
                          <a:solidFill>
                            <a:srgbClr val="1F2937"/>
                          </a:solidFill>
                        </a:rPr>
                        <a:t>제외 </a:t>
                      </a:r>
                      <a:pPr indent="0" marL="0">
                        <a:buNone/>
                      </a:pPr>
                      <a:r>
                        <a:rPr lang="en-US" sz="1100" dirty="0">
                          <a:solidFill>
                            <a:srgbClr val="1F2937"/>
                          </a:solidFill>
                        </a:rPr>
                        <a:t>결정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포함 </a:t>
                      </a:r>
                      <a:pPr indent="0" marL="0">
                        <a:buNone/>
                      </a:pPr>
                      <a:r>
                        <a:rPr lang="en-US" sz="1100" dirty="0">
                          <a:solidFill>
                            <a:srgbClr val="1F2937"/>
                          </a:solidFill>
                        </a:rPr>
                        <a:t>승인 </a:t>
                      </a:r>
                      <a:pPr indent="0" marL="0">
                        <a:buNone/>
                      </a:pPr>
                      <a:r>
                        <a:rPr lang="en-US" sz="1100" dirty="0">
                          <a:solidFill>
                            <a:srgbClr val="1F2937"/>
                          </a:solidFill>
                        </a:rPr>
                        <a:t>시 </a:t>
                      </a:r>
                      <a:pPr indent="0" marL="0">
                        <a:buNone/>
                      </a:pPr>
                      <a:r>
                        <a:rPr lang="en-US" sz="1100" dirty="0">
                          <a:solidFill>
                            <a:srgbClr val="1F2937"/>
                          </a:solidFill>
                        </a:rPr>
                        <a:t>식사 </a:t>
                      </a:r>
                      <a:pPr indent="0" marL="0">
                        <a:buNone/>
                      </a:pPr>
                      <a:r>
                        <a:rPr lang="en-US" sz="1100" dirty="0">
                          <a:solidFill>
                            <a:srgbClr val="1F2937"/>
                          </a:solidFill>
                        </a:rPr>
                        <a:t>저장과 </a:t>
                      </a:r>
                      <a:pPr indent="0" marL="0">
                        <a:buNone/>
                      </a:pPr>
                      <a:r>
                        <a:rPr lang="en-US" sz="1100" dirty="0">
                          <a:solidFill>
                            <a:srgbClr val="1F2937"/>
                          </a:solidFill>
                        </a:rPr>
                        <a:t>사진 </a:t>
                      </a:r>
                      <a:pPr indent="0" marL="0">
                        <a:buNone/>
                      </a:pPr>
                      <a:r>
                        <a:rPr lang="en-US" sz="1100" dirty="0">
                          <a:solidFill>
                            <a:srgbClr val="1F2937"/>
                          </a:solidFill>
                        </a:rPr>
                        <a:t>업로드가 </a:t>
                      </a:r>
                      <a:pPr indent="0" marL="0">
                        <a:buNone/>
                      </a:pPr>
                      <a:r>
                        <a:rPr lang="en-US" sz="1100" dirty="0">
                          <a:solidFill>
                            <a:srgbClr val="1F2937"/>
                          </a:solidFill>
                        </a:rPr>
                        <a:t>분리되고, </a:t>
                      </a:r>
                      <a:pPr indent="0" marL="0">
                        <a:buNone/>
                      </a:pPr>
                      <a:r>
                        <a:rPr lang="en-US" sz="1100" dirty="0">
                          <a:solidFill>
                            <a:srgbClr val="1F2937"/>
                          </a:solidFill>
                        </a:rPr>
                        <a:t>사진 </a:t>
                      </a:r>
                      <a:pPr indent="0" marL="0">
                        <a:buNone/>
                      </a:pPr>
                      <a:r>
                        <a:rPr lang="en-US" sz="1100" dirty="0">
                          <a:solidFill>
                            <a:srgbClr val="1F2937"/>
                          </a:solidFill>
                        </a:rPr>
                        <a:t>업로드 </a:t>
                      </a:r>
                      <a:pPr indent="0" marL="0">
                        <a:buNone/>
                      </a:pPr>
                      <a:r>
                        <a:rPr lang="en-US" sz="1100" dirty="0">
                          <a:solidFill>
                            <a:srgbClr val="1F2937"/>
                          </a:solidFill>
                        </a:rPr>
                        <a:t>실패가 </a:t>
                      </a:r>
                      <a:pPr indent="0" marL="0">
                        <a:buNone/>
                      </a:pPr>
                      <a:r>
                        <a:rPr lang="en-US" sz="1100" dirty="0">
                          <a:solidFill>
                            <a:srgbClr val="1F2937"/>
                          </a:solidFill>
                        </a:rPr>
                        <a:t>식사 </a:t>
                      </a:r>
                      <a:pPr indent="0" marL="0">
                        <a:buNone/>
                      </a:pPr>
                      <a:r>
                        <a:rPr lang="en-US" sz="1100" dirty="0">
                          <a:solidFill>
                            <a:srgbClr val="1F2937"/>
                          </a:solidFill>
                        </a:rPr>
                        <a:t>저장을 </a:t>
                      </a:r>
                      <a:pPr indent="0" marL="0">
                        <a:buNone/>
                      </a:pPr>
                      <a:r>
                        <a:rPr lang="en-US" sz="1100" dirty="0">
                          <a:solidFill>
                            <a:srgbClr val="1F2937"/>
                          </a:solidFill>
                        </a:rPr>
                        <a:t>막지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WP-012: 사진 한 장 첨부 개발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범위 통제</a:t>
            </a:r>
            <a:endParaRPr lang="en-US" sz="1600" dirty="0"/>
          </a:p>
          <a:p>
            <a:pPr indent="0" marL="0">
              <a:spcAft>
                <a:spcPts val="800"/>
              </a:spcAft>
              <a:buNone/>
            </a:pPr>
            <a:r>
              <a:rPr lang="en-US" sz="1600" dirty="0">
                <a:solidFill>
                  <a:srgbClr val="4B5563"/>
                </a:solidFill>
              </a:rPr>
              <a:t>· 원문에는 사진 첨부 제외와 한 장 첨부 포함 결정이 모두 있습니다.</a:t>
            </a:r>
            <a:endParaRPr lang="en-US" sz="1600" dirty="0"/>
          </a:p>
          <a:p>
            <a:pPr indent="0" marL="0">
              <a:spcAft>
                <a:spcPts val="800"/>
              </a:spcAft>
              <a:buNone/>
            </a:pPr>
            <a:r>
              <a:rPr lang="en-US" sz="1600" dirty="0">
                <a:solidFill>
                  <a:srgbClr val="4B5563"/>
                </a:solidFill>
              </a:rPr>
              <a:t>· 후반부에는 한 장 첨부를 포함하되 5주 차까지 여건을 보고 통합하는 방향이 제시됐습니다.</a:t>
            </a:r>
            <a:endParaRPr lang="en-US" sz="1600" dirty="0"/>
          </a:p>
          <a:p>
            <a:pPr indent="0" marL="0">
              <a:spcAft>
                <a:spcPts val="800"/>
              </a:spcAft>
              <a:buNone/>
            </a:pPr>
            <a:r>
              <a:rPr lang="en-US" sz="1600" dirty="0">
                <a:solidFill>
                  <a:srgbClr val="4B5563"/>
                </a:solidFill>
              </a:rPr>
              <a:t>· 본 계획은 후반부의 포함 방향을 조건부 작업으로 반영합니다. 사진 기능의 최종 승인 전에는 핵심 경로 완료 기준이나 8주 출시 목표의 선행 조건으로 두지 않습니다.</a:t>
            </a:r>
            <a:endParaRPr lang="en-US" sz="1600" dirty="0"/>
          </a:p>
          <a:p>
            <a:pPr indent="0" marL="0">
              <a:spcAft>
                <a:spcPts val="800"/>
              </a:spcAft>
              <a:buNone/>
            </a:pPr>
            <a:r>
              <a:rPr lang="en-US" sz="1600" dirty="0">
                <a:solidFill>
                  <a:srgbClr val="4B5563"/>
                </a:solidFill>
              </a:rPr>
              <a:t>· 사진 자동 인식은 이 작업에 포함하지 않습니다.</a:t>
            </a:r>
            <a:endParaRPr lang="en-US" sz="1600" dirty="0"/>
          </a:p>
          <a:p>
            <a:pPr indent="0" marL="0">
              <a:spcAft>
                <a:spcPts val="800"/>
              </a:spcAft>
              <a:buNone/>
            </a:pPr>
            <a:r>
              <a:rPr lang="en-US" sz="1600" dirty="0">
                <a:solidFill>
                  <a:srgbClr val="4B5563"/>
                </a:solidFill>
              </a:rPr>
              <a:t>· EXIF 제거, 파일 접근, 보관·삭제 기간, 업로드 실패 처리, 저장소 비용은 사전 확인이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WP-013: 시험 계획·단위·통합·기기 검증</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시험 </a:t>
                      </a:r>
                      <a:pPr indent="0" marL="0">
                        <a:buNone/>
                      </a:pPr>
                      <a:r>
                        <a:rPr lang="en-US" sz="1100" dirty="0">
                          <a:solidFill>
                            <a:srgbClr val="1F2937"/>
                          </a:solidFill>
                        </a:rPr>
                        <a:t>계획·단위·통합·기기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6.1, </a:t>
                      </a:r>
                      <a:pPr indent="0" marL="0">
                        <a:buNone/>
                      </a:pPr>
                      <a:r>
                        <a:rPr lang="en-US" sz="1100" dirty="0">
                          <a:solidFill>
                            <a:srgbClr val="1F2937"/>
                          </a:solidFill>
                        </a:rPr>
                        <a:t>6.2, </a:t>
                      </a:r>
                      <a:pPr indent="0" marL="0">
                        <a:buNone/>
                      </a:pPr>
                      <a:r>
                        <a:rPr lang="en-US" sz="1100" dirty="0">
                          <a:solidFill>
                            <a:srgbClr val="1F2937"/>
                          </a:solidFill>
                        </a:rPr>
                        <a:t>6.3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최개발,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2026-11-18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12인일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WP-002 </a:t>
                      </a:r>
                      <a:pPr indent="0" marL="0">
                        <a:buNone/>
                      </a:pPr>
                      <a:r>
                        <a:rPr lang="en-US" sz="1100" dirty="0">
                          <a:solidFill>
                            <a:srgbClr val="1F2937"/>
                          </a:solidFill>
                        </a:rPr>
                        <a:t>요구사항 </a:t>
                      </a:r>
                      <a:pPr indent="0" marL="0">
                        <a:buNone/>
                      </a:pPr>
                      <a:r>
                        <a:rPr lang="en-US" sz="1100" dirty="0">
                          <a:solidFill>
                            <a:srgbClr val="1F2937"/>
                          </a:solidFill>
                        </a:rPr>
                        <a:t>초안, </a:t>
                      </a:r>
                      <a:pPr indent="0" marL="0">
                        <a:buNone/>
                      </a:pPr>
                      <a:r>
                        <a:rPr lang="en-US" sz="1100" dirty="0">
                          <a:solidFill>
                            <a:srgbClr val="1F2937"/>
                          </a:solidFill>
                        </a:rPr>
                        <a:t>WP-005 </a:t>
                      </a:r>
                      <a:pPr indent="0" marL="0">
                        <a:buNone/>
                      </a:pPr>
                      <a:r>
                        <a:rPr lang="en-US" sz="1100" dirty="0">
                          <a:solidFill>
                            <a:srgbClr val="1F2937"/>
                          </a:solidFill>
                        </a:rPr>
                        <a:t>시험 </a:t>
                      </a:r>
                      <a:pPr indent="0" marL="0">
                        <a:buNone/>
                      </a:pPr>
                      <a:r>
                        <a:rPr lang="en-US" sz="1100" dirty="0">
                          <a:solidFill>
                            <a:srgbClr val="1F2937"/>
                          </a:solidFill>
                        </a:rPr>
                        <a:t>대상 </a:t>
                      </a:r>
                      <a:pPr indent="0" marL="0">
                        <a:buNone/>
                      </a:pPr>
                      <a:r>
                        <a:rPr lang="en-US" sz="1100" dirty="0">
                          <a:solidFill>
                            <a:srgbClr val="1F2937"/>
                          </a:solidFill>
                        </a:rPr>
                        <a:t>구조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 </a:t>
                      </a:r>
                      <a:pPr indent="0" marL="0">
                        <a:buNone/>
                      </a:pPr>
                      <a:r>
                        <a:rPr lang="en-US" sz="1100" dirty="0">
                          <a:solidFill>
                            <a:srgbClr val="1F2937"/>
                          </a:solidFill>
                        </a:rPr>
                        <a:t>개발과 </a:t>
                      </a:r>
                      <a:pPr indent="0" marL="0">
                        <a:buNone/>
                      </a:pPr>
                      <a:r>
                        <a:rPr lang="en-US" sz="1100" dirty="0">
                          <a:solidFill>
                            <a:srgbClr val="1F2937"/>
                          </a:solidFill>
                        </a:rPr>
                        <a:t>병행해 </a:t>
                      </a:r>
                      <a:pPr indent="0" marL="0">
                        <a:buNone/>
                      </a:pPr>
                      <a:r>
                        <a:rPr lang="en-US" sz="1100" dirty="0">
                          <a:solidFill>
                            <a:srgbClr val="1F2937"/>
                          </a:solidFill>
                        </a:rPr>
                        <a:t>시험 </a:t>
                      </a:r>
                      <a:pPr indent="0" marL="0">
                        <a:buNone/>
                      </a:pPr>
                      <a:r>
                        <a:rPr lang="en-US" sz="1100" dirty="0">
                          <a:solidFill>
                            <a:srgbClr val="1F2937"/>
                          </a:solidFill>
                        </a:rPr>
                        <a:t>자료·시나리오 </a:t>
                      </a:r>
                      <a:pPr indent="0" marL="0">
                        <a:buNone/>
                      </a:pPr>
                      <a:r>
                        <a:rPr lang="en-US" sz="1100" dirty="0">
                          <a:solidFill>
                            <a:srgbClr val="1F2937"/>
                          </a:solidFill>
                        </a:rPr>
                        <a:t>준비. </a:t>
                      </a:r>
                      <a:pPr indent="0" marL="0">
                        <a:buNone/>
                      </a:pPr>
                      <a:r>
                        <a:rPr lang="en-US" sz="1100" dirty="0">
                          <a:solidFill>
                            <a:srgbClr val="1F2937"/>
                          </a:solidFill>
                        </a:rPr>
                        <a:t>FS: </a:t>
                      </a:r>
                      <a:pPr indent="0" marL="0">
                        <a:buNone/>
                      </a:pPr>
                      <a:r>
                        <a:rPr lang="en-US" sz="1100" dirty="0">
                          <a:solidFill>
                            <a:srgbClr val="1F2937"/>
                          </a:solidFill>
                        </a:rPr>
                        <a:t>기능별 </a:t>
                      </a:r>
                      <a:pPr indent="0" marL="0">
                        <a:buNone/>
                      </a:pPr>
                      <a:r>
                        <a:rPr lang="en-US" sz="1100" dirty="0">
                          <a:solidFill>
                            <a:srgbClr val="1F2937"/>
                          </a:solidFill>
                        </a:rPr>
                        <a:t>검증은 </a:t>
                      </a:r>
                      <a:pPr indent="0" marL="0">
                        <a:buNone/>
                      </a:pPr>
                      <a:r>
                        <a:rPr lang="en-US" sz="1100" dirty="0">
                          <a:solidFill>
                            <a:srgbClr val="1F2937"/>
                          </a:solidFill>
                        </a:rPr>
                        <a:t>해당 </a:t>
                      </a:r>
                      <a:pPr indent="0" marL="0">
                        <a:buNone/>
                      </a:pPr>
                      <a:r>
                        <a:rPr lang="en-US" sz="1100" dirty="0">
                          <a:solidFill>
                            <a:srgbClr val="1F2937"/>
                          </a:solidFill>
                        </a:rPr>
                        <a:t>기능 </a:t>
                      </a:r>
                      <a:pPr indent="0" marL="0">
                        <a:buNone/>
                      </a:pPr>
                      <a:r>
                        <a:rPr lang="en-US" sz="1100" dirty="0">
                          <a:solidFill>
                            <a:srgbClr val="1F2937"/>
                          </a:solidFill>
                        </a:rPr>
                        <a:t>구현 </a:t>
                      </a:r>
                      <a:pPr indent="0" marL="0">
                        <a:buNone/>
                      </a:pPr>
                      <a:r>
                        <a:rPr lang="en-US" sz="1100" dirty="0">
                          <a:solidFill>
                            <a:srgbClr val="1F2937"/>
                          </a:solidFill>
                        </a:rPr>
                        <a:t>후 </a:t>
                      </a:r>
                      <a:pPr indent="0" marL="0">
                        <a:buNone/>
                      </a:pPr>
                      <a:r>
                        <a:rPr lang="en-US" sz="1100" dirty="0">
                          <a:solidFill>
                            <a:srgbClr val="1F2937"/>
                          </a:solidFill>
                        </a:rPr>
                        <a:t>수행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시험 </a:t>
                      </a:r>
                      <a:pPr indent="0" marL="0">
                        <a:buNone/>
                      </a:pPr>
                      <a:r>
                        <a:rPr lang="en-US" sz="1100" dirty="0">
                          <a:solidFill>
                            <a:srgbClr val="1F2937"/>
                          </a:solidFill>
                        </a:rPr>
                        <a:t>계획서, </a:t>
                      </a:r>
                      <a:pPr indent="0" marL="0">
                        <a:buNone/>
                      </a:pPr>
                      <a:r>
                        <a:rPr lang="en-US" sz="1100" dirty="0">
                          <a:solidFill>
                            <a:srgbClr val="1F2937"/>
                          </a:solidFill>
                        </a:rPr>
                        <a:t>시험 </a:t>
                      </a:r>
                      <a:pPr indent="0" marL="0">
                        <a:buNone/>
                      </a:pPr>
                      <a:r>
                        <a:rPr lang="en-US" sz="1100" dirty="0">
                          <a:solidFill>
                            <a:srgbClr val="1F2937"/>
                          </a:solidFill>
                        </a:rPr>
                        <a:t>사례, </a:t>
                      </a:r>
                      <a:pPr indent="0" marL="0">
                        <a:buNone/>
                      </a:pPr>
                      <a:r>
                        <a:rPr lang="en-US" sz="1100" dirty="0">
                          <a:solidFill>
                            <a:srgbClr val="1F2937"/>
                          </a:solidFill>
                        </a:rPr>
                        <a:t>검색 </a:t>
                      </a:r>
                      <a:pPr indent="0" marL="0">
                        <a:buNone/>
                      </a:pPr>
                      <a:r>
                        <a:rPr lang="en-US" sz="1100" dirty="0">
                          <a:solidFill>
                            <a:srgbClr val="1F2937"/>
                          </a:solidFill>
                        </a:rPr>
                        <a:t>시험 </a:t>
                      </a:r>
                      <a:pPr indent="0" marL="0">
                        <a:buNone/>
                      </a:pPr>
                      <a:r>
                        <a:rPr lang="en-US" sz="1100" dirty="0">
                          <a:solidFill>
                            <a:srgbClr val="1F2937"/>
                          </a:solidFill>
                        </a:rPr>
                        <a:t>자료, </a:t>
                      </a:r>
                      <a:pPr indent="0" marL="0">
                        <a:buNone/>
                      </a:pPr>
                      <a:r>
                        <a:rPr lang="en-US" sz="1100" dirty="0">
                          <a:solidFill>
                            <a:srgbClr val="1F2937"/>
                          </a:solidFill>
                        </a:rPr>
                        <a:t>접근성·개인정보 </a:t>
                      </a:r>
                      <a:pPr indent="0" marL="0">
                        <a:buNone/>
                      </a:pPr>
                      <a:r>
                        <a:rPr lang="en-US" sz="1100" dirty="0">
                          <a:solidFill>
                            <a:srgbClr val="1F2937"/>
                          </a:solidFill>
                        </a:rPr>
                        <a:t>점검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핵심 </a:t>
                      </a:r>
                      <a:pPr indent="0" marL="0">
                        <a:buNone/>
                      </a:pPr>
                      <a:r>
                        <a:rPr lang="en-US" sz="1100" dirty="0">
                          <a:solidFill>
                            <a:srgbClr val="1F2937"/>
                          </a:solidFill>
                        </a:rPr>
                        <a:t>기록 </a:t>
                      </a:r>
                      <a:pPr indent="0" marL="0">
                        <a:buNone/>
                      </a:pPr>
                      <a:r>
                        <a:rPr lang="en-US" sz="1100" dirty="0">
                          <a:solidFill>
                            <a:srgbClr val="1F2937"/>
                          </a:solidFill>
                        </a:rPr>
                        <a:t>경로와 </a:t>
                      </a:r>
                      <a:pPr indent="0" marL="0">
                        <a:buNone/>
                      </a:pPr>
                      <a:r>
                        <a:rPr lang="en-US" sz="1100" dirty="0">
                          <a:solidFill>
                            <a:srgbClr val="1F2937"/>
                          </a:solidFill>
                        </a:rPr>
                        <a:t>오류·삭제·기기·개인정보 </a:t>
                      </a:r>
                      <a:pPr indent="0" marL="0">
                        <a:buNone/>
                      </a:pPr>
                      <a:r>
                        <a:rPr lang="en-US" sz="1100" dirty="0">
                          <a:solidFill>
                            <a:srgbClr val="1F2937"/>
                          </a:solidFill>
                        </a:rPr>
                        <a:t>시험이 </a:t>
                      </a:r>
                      <a:pPr indent="0" marL="0">
                        <a:buNone/>
                      </a:pPr>
                      <a:r>
                        <a:rPr lang="en-US" sz="1100" dirty="0">
                          <a:solidFill>
                            <a:srgbClr val="1F2937"/>
                          </a:solidFill>
                        </a:rPr>
                        <a:t>수행되고 </a:t>
                      </a:r>
                      <a:pPr indent="0" marL="0">
                        <a:buNone/>
                      </a:pPr>
                      <a:r>
                        <a:rPr lang="en-US" sz="1100" dirty="0">
                          <a:solidFill>
                            <a:srgbClr val="1F2937"/>
                          </a:solidFill>
                        </a:rPr>
                        <a:t>결함이 </a:t>
                      </a:r>
                      <a:pPr indent="0" marL="0">
                        <a:buNone/>
                      </a:pPr>
                      <a:r>
                        <a:rPr lang="en-US" sz="1100" dirty="0">
                          <a:solidFill>
                            <a:srgbClr val="1F2937"/>
                          </a:solidFill>
                        </a:rPr>
                        <a:t>관리됨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WP-013: 시험 계획·단위·통합·기기 검증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시험 범위</a:t>
            </a:r>
            <a:endParaRPr lang="en-US" sz="1600" dirty="0"/>
          </a:p>
          <a:p>
            <a:pPr indent="0" marL="0">
              <a:spcAft>
                <a:spcPts val="800"/>
              </a:spcAft>
              <a:buNone/>
            </a:pPr>
            <a:r>
              <a:rPr lang="en-US" sz="1600" dirty="0">
                <a:solidFill>
                  <a:srgbClr val="4B5563"/>
                </a:solidFill>
              </a:rPr>
              <a:t>· 한글 띄어쓰기·브랜드명 일부 검색, 검색 결과 없음·검색 오류</a:t>
            </a:r>
            <a:endParaRPr lang="en-US" sz="1600" dirty="0"/>
          </a:p>
          <a:p>
            <a:pPr indent="0" marL="0">
              <a:spcAft>
                <a:spcPts val="800"/>
              </a:spcAft>
              <a:buNone/>
            </a:pPr>
            <a:r>
              <a:rPr lang="en-US" sz="1600" dirty="0">
                <a:solidFill>
                  <a:srgbClr val="4B5563"/>
                </a:solidFill>
              </a:rPr>
              <a:t>· 직접 입력과 영양 정보 누락·실제 0 구분</a:t>
            </a:r>
            <a:endParaRPr lang="en-US" sz="1600" dirty="0"/>
          </a:p>
          <a:p>
            <a:pPr indent="0" marL="0">
              <a:spcAft>
                <a:spcPts val="800"/>
              </a:spcAft>
              <a:buNone/>
            </a:pPr>
            <a:r>
              <a:rPr lang="en-US" sz="1600" dirty="0">
                <a:solidFill>
                  <a:srgbClr val="4B5563"/>
                </a:solidFill>
              </a:rPr>
              <a:t>· 기록 생성·수정·삭제·날짜 변경·미래 날짜 차단</a:t>
            </a:r>
            <a:endParaRPr lang="en-US" sz="1600" dirty="0"/>
          </a:p>
          <a:p>
            <a:pPr indent="0" marL="0">
              <a:spcAft>
                <a:spcPts val="800"/>
              </a:spcAft>
              <a:buNone/>
            </a:pPr>
            <a:r>
              <a:rPr lang="en-US" sz="1600" dirty="0">
                <a:solidFill>
                  <a:srgbClr val="4B5563"/>
                </a:solidFill>
              </a:rPr>
              <a:t>· 양 배수, 주간 집계, 목표 이력과 영양소별 결측 처리</a:t>
            </a:r>
            <a:endParaRPr lang="en-US" sz="1600" dirty="0"/>
          </a:p>
          <a:p>
            <a:pPr indent="0" marL="0">
              <a:spcAft>
                <a:spcPts val="800"/>
              </a:spcAft>
              <a:buNone/>
            </a:pPr>
            <a:r>
              <a:rPr lang="en-US" sz="1600" dirty="0">
                <a:solidFill>
                  <a:srgbClr val="4B5563"/>
                </a:solidFill>
              </a:rPr>
              <a:t>· 네트워크 중단·중복 저장·저장 재시도·날짜 변경 후 갱신</a:t>
            </a:r>
            <a:endParaRPr lang="en-US" sz="1600" dirty="0"/>
          </a:p>
          <a:p>
            <a:pPr indent="0" marL="0">
              <a:spcAft>
                <a:spcPts val="800"/>
              </a:spcAft>
              <a:buNone/>
            </a:pPr>
            <a:r>
              <a:rPr lang="en-US" sz="1600" dirty="0">
                <a:solidFill>
                  <a:srgbClr val="4B5563"/>
                </a:solidFill>
              </a:rPr>
              <a:t>· 푸시 설정·권한 거부·계정 삭제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WP-013: 시험 계획·단위·통합·기기 검증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색상만으로 상태를 표시하지 않기, 시스템 글자 크기에서 주요 화면 유지, 버튼에 읽을 수 있는 이름 제공</a:t>
            </a:r>
            <a:endParaRPr lang="en-US" sz="1600" dirty="0"/>
          </a:p>
          <a:p>
            <a:pPr indent="0" marL="0">
              <a:spcAft>
                <a:spcPts val="800"/>
              </a:spcAft>
              <a:buNone/>
            </a:pPr>
            <a:r>
              <a:rPr lang="en-US" sz="1600" dirty="0">
                <a:solidFill>
                  <a:srgbClr val="4B5563"/>
                </a:solidFill>
              </a:rPr>
              <a:t>· 백업 복구 시험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WP-014: 프로토타입·베타 시험 및 결함 수정</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프로토타입·베타 </a:t>
                      </a:r>
                      <a:pPr indent="0" marL="0">
                        <a:buNone/>
                      </a:pPr>
                      <a:r>
                        <a:rPr lang="en-US" sz="1100" dirty="0">
                          <a:solidFill>
                            <a:srgbClr val="1F2937"/>
                          </a:solidFill>
                        </a:rPr>
                        <a:t>시험 </a:t>
                      </a:r>
                      <a:pPr indent="0" marL="0">
                        <a:buNone/>
                      </a:pPr>
                      <a:r>
                        <a:rPr lang="en-US" sz="1100" dirty="0">
                          <a:solidFill>
                            <a:srgbClr val="1F2937"/>
                          </a:solidFill>
                        </a:rPr>
                        <a:t>및 </a:t>
                      </a:r>
                      <a:pPr indent="0" marL="0">
                        <a:buNone/>
                      </a:pPr>
                      <a:r>
                        <a:rPr lang="en-US" sz="1100" dirty="0">
                          <a:solidFill>
                            <a:srgbClr val="1F2937"/>
                          </a:solidFill>
                        </a:rPr>
                        <a:t>결함 </a:t>
                      </a:r>
                      <a:pPr indent="0" marL="0">
                        <a:buNone/>
                      </a:pPr>
                      <a:r>
                        <a:rPr lang="en-US" sz="1100" dirty="0">
                          <a:solidFill>
                            <a:srgbClr val="1F2937"/>
                          </a:solidFill>
                        </a:rPr>
                        <a:t>수정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6.4, </a:t>
                      </a:r>
                      <a:pPr indent="0" marL="0">
                        <a:buNone/>
                      </a:pPr>
                      <a:r>
                        <a:rPr lang="en-US" sz="1100" dirty="0">
                          <a:solidFill>
                            <a:srgbClr val="1F2937"/>
                          </a:solidFill>
                        </a:rPr>
                        <a:t>6.5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박디자이너,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2026-11-25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12인일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WP-004 </a:t>
                      </a:r>
                      <a:pPr indent="0" marL="0">
                        <a:buNone/>
                      </a:pPr>
                      <a:r>
                        <a:rPr lang="en-US" sz="1100" dirty="0">
                          <a:solidFill>
                            <a:srgbClr val="1F2937"/>
                          </a:solidFill>
                        </a:rPr>
                        <a:t>초안 </a:t>
                      </a:r>
                      <a:pPr indent="0" marL="0">
                        <a:buNone/>
                      </a:pPr>
                      <a:r>
                        <a:rPr lang="en-US" sz="1100" dirty="0">
                          <a:solidFill>
                            <a:srgbClr val="1F2937"/>
                          </a:solidFill>
                        </a:rPr>
                        <a:t>화면, </a:t>
                      </a:r>
                      <a:pPr indent="0" marL="0">
                        <a:buNone/>
                      </a:pPr>
                      <a:r>
                        <a:rPr lang="en-US" sz="1100" dirty="0">
                          <a:solidFill>
                            <a:srgbClr val="1F2937"/>
                          </a:solidFill>
                        </a:rPr>
                        <a:t>WP-013 </a:t>
                      </a:r>
                      <a:pPr indent="0" marL="0">
                        <a:buNone/>
                      </a:pPr>
                      <a:r>
                        <a:rPr lang="en-US" sz="1100" dirty="0">
                          <a:solidFill>
                            <a:srgbClr val="1F2937"/>
                          </a:solidFill>
                        </a:rPr>
                        <a:t>시험 </a:t>
                      </a:r>
                      <a:pPr indent="0" marL="0">
                        <a:buNone/>
                      </a:pPr>
                      <a:r>
                        <a:rPr lang="en-US" sz="1100" dirty="0">
                          <a:solidFill>
                            <a:srgbClr val="1F2937"/>
                          </a:solidFill>
                        </a:rPr>
                        <a:t>계획</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 </a:t>
                      </a:r>
                      <a:pPr indent="0" marL="0">
                        <a:buNone/>
                      </a:pPr>
                      <a:r>
                        <a:rPr lang="en-US" sz="1100" dirty="0">
                          <a:solidFill>
                            <a:srgbClr val="1F2937"/>
                          </a:solidFill>
                        </a:rPr>
                        <a:t>프로토타입 </a:t>
                      </a:r>
                      <a:pPr indent="0" marL="0">
                        <a:buNone/>
                      </a:pPr>
                      <a:r>
                        <a:rPr lang="en-US" sz="1100" dirty="0">
                          <a:solidFill>
                            <a:srgbClr val="1F2937"/>
                          </a:solidFill>
                        </a:rPr>
                        <a:t>시험은 </a:t>
                      </a:r>
                      <a:pPr indent="0" marL="0">
                        <a:buNone/>
                      </a:pPr>
                      <a:r>
                        <a:rPr lang="en-US" sz="1100" dirty="0">
                          <a:solidFill>
                            <a:srgbClr val="1F2937"/>
                          </a:solidFill>
                        </a:rPr>
                        <a:t>개발 </a:t>
                      </a:r>
                      <a:pPr indent="0" marL="0">
                        <a:buNone/>
                      </a:pPr>
                      <a:r>
                        <a:rPr lang="en-US" sz="1100" dirty="0">
                          <a:solidFill>
                            <a:srgbClr val="1F2937"/>
                          </a:solidFill>
                        </a:rPr>
                        <a:t>초기와 </a:t>
                      </a:r>
                      <a:pPr indent="0" marL="0">
                        <a:buNone/>
                      </a:pPr>
                      <a:r>
                        <a:rPr lang="en-US" sz="1100" dirty="0">
                          <a:solidFill>
                            <a:srgbClr val="1F2937"/>
                          </a:solidFill>
                        </a:rPr>
                        <a:t>병행. </a:t>
                      </a:r>
                      <a:pPr indent="0" marL="0">
                        <a:buNone/>
                      </a:pPr>
                      <a:r>
                        <a:rPr lang="en-US" sz="1100" dirty="0">
                          <a:solidFill>
                            <a:srgbClr val="1F2937"/>
                          </a:solidFill>
                        </a:rPr>
                        <a:t>FS: </a:t>
                      </a:r>
                      <a:pPr indent="0" marL="0">
                        <a:buNone/>
                      </a:pPr>
                      <a:r>
                        <a:rPr lang="en-US" sz="1100" dirty="0">
                          <a:solidFill>
                            <a:srgbClr val="1F2937"/>
                          </a:solidFill>
                        </a:rPr>
                        <a:t>베타 </a:t>
                      </a:r>
                      <a:pPr indent="0" marL="0">
                        <a:buNone/>
                      </a:pPr>
                      <a:r>
                        <a:rPr lang="en-US" sz="1100" dirty="0">
                          <a:solidFill>
                            <a:srgbClr val="1F2937"/>
                          </a:solidFill>
                        </a:rPr>
                        <a:t>시험은 </a:t>
                      </a:r>
                      <a:pPr indent="0" marL="0">
                        <a:buNone/>
                      </a:pPr>
                      <a:r>
                        <a:rPr lang="en-US" sz="1100" dirty="0">
                          <a:solidFill>
                            <a:srgbClr val="1F2937"/>
                          </a:solidFill>
                        </a:rPr>
                        <a:t>후보 </a:t>
                      </a:r>
                      <a:pPr indent="0" marL="0">
                        <a:buNone/>
                      </a:pPr>
                      <a:r>
                        <a:rPr lang="en-US" sz="1100" dirty="0">
                          <a:solidFill>
                            <a:srgbClr val="1F2937"/>
                          </a:solidFill>
                        </a:rPr>
                        <a:t>빌드 </a:t>
                      </a:r>
                      <a:pPr indent="0" marL="0">
                        <a:buNone/>
                      </a:pPr>
                      <a:r>
                        <a:rPr lang="en-US" sz="1100" dirty="0">
                          <a:solidFill>
                            <a:srgbClr val="1F2937"/>
                          </a:solidFill>
                        </a:rPr>
                        <a:t>준비 </a:t>
                      </a:r>
                      <a:pPr indent="0" marL="0">
                        <a:buNone/>
                      </a:pPr>
                      <a:r>
                        <a:rPr lang="en-US" sz="1100" dirty="0">
                          <a:solidFill>
                            <a:srgbClr val="1F2937"/>
                          </a:solidFill>
                        </a:rPr>
                        <a:t>후 </a:t>
                      </a:r>
                      <a:pPr indent="0" marL="0">
                        <a:buNone/>
                      </a:pPr>
                      <a:r>
                        <a:rPr lang="en-US" sz="1100" dirty="0">
                          <a:solidFill>
                            <a:srgbClr val="1F2937"/>
                          </a:solidFill>
                        </a:rPr>
                        <a:t>시작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프로토타입 </a:t>
                      </a:r>
                      <a:pPr indent="0" marL="0">
                        <a:buNone/>
                      </a:pPr>
                      <a:r>
                        <a:rPr lang="en-US" sz="1100" dirty="0">
                          <a:solidFill>
                            <a:srgbClr val="1F2937"/>
                          </a:solidFill>
                        </a:rPr>
                        <a:t>관찰 </a:t>
                      </a:r>
                      <a:pPr indent="0" marL="0">
                        <a:buNone/>
                      </a:pPr>
                      <a:r>
                        <a:rPr lang="en-US" sz="1100" dirty="0">
                          <a:solidFill>
                            <a:srgbClr val="1F2937"/>
                          </a:solidFill>
                        </a:rPr>
                        <a:t>기록, </a:t>
                      </a:r>
                      <a:pPr indent="0" marL="0">
                        <a:buNone/>
                      </a:pPr>
                      <a:r>
                        <a:rPr lang="en-US" sz="1100" dirty="0">
                          <a:solidFill>
                            <a:srgbClr val="1F2937"/>
                          </a:solidFill>
                        </a:rPr>
                        <a:t>베타 </a:t>
                      </a:r>
                      <a:pPr indent="0" marL="0">
                        <a:buNone/>
                      </a:pPr>
                      <a:r>
                        <a:rPr lang="en-US" sz="1100" dirty="0">
                          <a:solidFill>
                            <a:srgbClr val="1F2937"/>
                          </a:solidFill>
                        </a:rPr>
                        <a:t>결과 </a:t>
                      </a:r>
                      <a:pPr indent="0" marL="0">
                        <a:buNone/>
                      </a:pPr>
                      <a:r>
                        <a:rPr lang="en-US" sz="1100" dirty="0">
                          <a:solidFill>
                            <a:srgbClr val="1F2937"/>
                          </a:solidFill>
                        </a:rPr>
                        <a:t>요약, </a:t>
                      </a:r>
                      <a:pPr indent="0" marL="0">
                        <a:buNone/>
                      </a:pPr>
                      <a:r>
                        <a:rPr lang="en-US" sz="1100" dirty="0">
                          <a:solidFill>
                            <a:srgbClr val="1F2937"/>
                          </a:solidFill>
                        </a:rPr>
                        <a:t>결함 </a:t>
                      </a:r>
                      <a:pPr indent="0" marL="0">
                        <a:buNone/>
                      </a:pPr>
                      <a:r>
                        <a:rPr lang="en-US" sz="1100" dirty="0">
                          <a:solidFill>
                            <a:srgbClr val="1F2937"/>
                          </a:solidFill>
                        </a:rPr>
                        <a:t>목록, </a:t>
                      </a:r>
                      <a:pPr indent="0" marL="0">
                        <a:buNone/>
                      </a:pPr>
                      <a:r>
                        <a:rPr lang="en-US" sz="1100" dirty="0">
                          <a:solidFill>
                            <a:srgbClr val="1F2937"/>
                          </a:solidFill>
                        </a:rPr>
                        <a:t>수정·재시험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핵심 </a:t>
                      </a:r>
                      <a:pPr indent="0" marL="0">
                        <a:buNone/>
                      </a:pPr>
                      <a:r>
                        <a:rPr lang="en-US" sz="1100" dirty="0">
                          <a:solidFill>
                            <a:srgbClr val="1F2937"/>
                          </a:solidFill>
                        </a:rPr>
                        <a:t>기록 </a:t>
                      </a:r>
                      <a:pPr indent="0" marL="0">
                        <a:buNone/>
                      </a:pPr>
                      <a:r>
                        <a:rPr lang="en-US" sz="1100" dirty="0">
                          <a:solidFill>
                            <a:srgbClr val="1F2937"/>
                          </a:solidFill>
                        </a:rPr>
                        <a:t>경로·검색·리포트·개인정보 </a:t>
                      </a:r>
                      <a:pPr indent="0" marL="0">
                        <a:buNone/>
                      </a:pPr>
                      <a:r>
                        <a:rPr lang="en-US" sz="1100" dirty="0">
                          <a:solidFill>
                            <a:srgbClr val="1F2937"/>
                          </a:solidFill>
                        </a:rPr>
                        <a:t>이슈를 </a:t>
                      </a:r>
                      <a:pPr indent="0" marL="0">
                        <a:buNone/>
                      </a:pPr>
                      <a:r>
                        <a:rPr lang="en-US" sz="1100" dirty="0">
                          <a:solidFill>
                            <a:srgbClr val="1F2937"/>
                          </a:solidFill>
                        </a:rPr>
                        <a:t>확인하고, </a:t>
                      </a:r>
                      <a:pPr indent="0" marL="0">
                        <a:buNone/>
                      </a:pPr>
                      <a:r>
                        <a:rPr lang="en-US" sz="1100" dirty="0">
                          <a:solidFill>
                            <a:srgbClr val="1F2937"/>
                          </a:solidFill>
                        </a:rPr>
                        <a:t>치명적인 </a:t>
                      </a:r>
                      <a:pPr indent="0" marL="0">
                        <a:buNone/>
                      </a:pPr>
                      <a:r>
                        <a:rPr lang="en-US" sz="1100" dirty="0">
                          <a:solidFill>
                            <a:srgbClr val="1F2937"/>
                          </a:solidFill>
                        </a:rPr>
                        <a:t>데이터 </a:t>
                      </a:r>
                      <a:pPr indent="0" marL="0">
                        <a:buNone/>
                      </a:pPr>
                      <a:r>
                        <a:rPr lang="en-US" sz="1100" dirty="0">
                          <a:solidFill>
                            <a:srgbClr val="1F2937"/>
                          </a:solidFill>
                        </a:rPr>
                        <a:t>유실을 </a:t>
                      </a:r>
                      <a:pPr indent="0" marL="0">
                        <a:buNone/>
                      </a:pPr>
                      <a:r>
                        <a:rPr lang="en-US" sz="1100" dirty="0">
                          <a:solidFill>
                            <a:srgbClr val="1F2937"/>
                          </a:solidFill>
                        </a:rPr>
                        <a:t>포함한 </a:t>
                      </a:r>
                      <a:pPr indent="0" marL="0">
                        <a:buNone/>
                      </a:pPr>
                      <a:r>
                        <a:rPr lang="en-US" sz="1100" dirty="0">
                          <a:solidFill>
                            <a:srgbClr val="1F2937"/>
                          </a:solidFill>
                        </a:rPr>
                        <a:t>중대 </a:t>
                      </a:r>
                      <a:pPr indent="0" marL="0">
                        <a:buNone/>
                      </a:pPr>
                      <a:r>
                        <a:rPr lang="en-US" sz="1100" dirty="0">
                          <a:solidFill>
                            <a:srgbClr val="1F2937"/>
                          </a:solidFill>
                        </a:rPr>
                        <a:t>결함을 </a:t>
                      </a:r>
                      <a:pPr indent="0" marL="0">
                        <a:buNone/>
                      </a:pPr>
                      <a:r>
                        <a:rPr lang="en-US" sz="1100" dirty="0">
                          <a:solidFill>
                            <a:srgbClr val="1F2937"/>
                          </a:solidFill>
                        </a:rPr>
                        <a:t>관리함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WP-014: 프로토타입·베타 시험 및 결함 수정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시험 운영</a:t>
            </a:r>
            <a:endParaRPr lang="en-US" sz="1600" dirty="0"/>
          </a:p>
          <a:p>
            <a:pPr indent="0" marL="0">
              <a:spcAft>
                <a:spcPts val="800"/>
              </a:spcAft>
              <a:buNone/>
            </a:pPr>
            <a:r>
              <a:rPr lang="en-US" sz="1600" dirty="0">
                <a:solidFill>
                  <a:srgbClr val="4B5563"/>
                </a:solidFill>
              </a:rPr>
              <a:t>· 프로토타입 시험은 5~6명, 가상 식단 사용을 기준으로 준비합니다.</a:t>
            </a:r>
            <a:endParaRPr lang="en-US" sz="1600" dirty="0"/>
          </a:p>
          <a:p>
            <a:pPr indent="0" marL="0">
              <a:spcAft>
                <a:spcPts val="800"/>
              </a:spcAft>
              <a:buNone/>
            </a:pPr>
            <a:r>
              <a:rPr lang="en-US" sz="1600" dirty="0">
                <a:solidFill>
                  <a:srgbClr val="4B5563"/>
                </a:solidFill>
              </a:rPr>
              <a:t>· 베타 규모는 회의에서 사내 10명·외부 10명 안팎과 사내 10명·외부 20~30명 안이 모두 제시돼 확정이 필요합니다.</a:t>
            </a:r>
            <a:endParaRPr lang="en-US" sz="1600" dirty="0"/>
          </a:p>
          <a:p>
            <a:pPr indent="0" marL="0">
              <a:spcAft>
                <a:spcPts val="800"/>
              </a:spcAft>
              <a:buNone/>
            </a:pPr>
            <a:r>
              <a:rPr lang="en-US" sz="1600" dirty="0">
                <a:solidFill>
                  <a:srgbClr val="4B5563"/>
                </a:solidFill>
              </a:rPr>
              <a:t>· 실제 식단 기록 시험에는 별도 동의와 목적·수집 자료·보관 기간·삭제 방법 안내가 필요합니다.</a:t>
            </a:r>
            <a:endParaRPr lang="en-US" sz="1600" dirty="0"/>
          </a:p>
          <a:p>
            <a:pPr indent="0" marL="0">
              <a:spcAft>
                <a:spcPts val="800"/>
              </a:spcAft>
              <a:buNone/>
            </a:pPr>
            <a:r>
              <a:rPr lang="en-US" sz="1600" dirty="0">
                <a:solidFill>
                  <a:srgbClr val="4B5563"/>
                </a:solidFill>
              </a:rPr>
              <a:t>· 테스트 계정은 일반 제품 분석과 분리하거나 별도 표시합니다.</a:t>
            </a:r>
            <a:endParaRPr lang="en-US" sz="1600" dirty="0"/>
          </a:p>
          <a:p>
            <a:pPr indent="0" marL="0">
              <a:spcAft>
                <a:spcPts val="800"/>
              </a:spcAft>
              <a:buNone/>
            </a:pPr>
            <a:r>
              <a:rPr lang="en-US" sz="1600" dirty="0">
                <a:solidFill>
                  <a:srgbClr val="4B5563"/>
                </a:solidFill>
              </a:rPr>
              <a:t>· 첫 기록 2분 이내 완료 비율 75%는 검증 가설이며 확정 성능 목표가 아닙니다.</a:t>
            </a:r>
            <a:endParaRPr lang="en-US" sz="1600" dirty="0"/>
          </a:p>
          <a:p>
            <a:pPr indent="0" marL="0">
              <a:spcAft>
                <a:spcPts val="800"/>
              </a:spcAft>
              <a:buNone/>
            </a:pPr>
            <a:r>
              <a:rPr lang="en-US" sz="1600" dirty="0">
                <a:solidFill>
                  <a:srgbClr val="4B5563"/>
                </a:solidFill>
              </a:rPr>
              <a:t>· 정량 지표는 인터뷰·관찰 결과와 함께 해석합니다.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WP-014: 프로토타입·베타 시험 및 결함 수정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치명적인 데이터 유실이 발견되면 기능 추가보다 우선해 수정합니다.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WP-015: 스토어 제출·후보 빌드·출시 준비</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스토어 </a:t>
                      </a:r>
                      <a:pPr indent="0" marL="0">
                        <a:buNone/>
                      </a:pPr>
                      <a:r>
                        <a:rPr lang="en-US" sz="1100" dirty="0">
                          <a:solidFill>
                            <a:srgbClr val="1F2937"/>
                          </a:solidFill>
                        </a:rPr>
                        <a:t>제출·후보 </a:t>
                      </a:r>
                      <a:pPr indent="0" marL="0">
                        <a:buNone/>
                      </a:pPr>
                      <a:r>
                        <a:rPr lang="en-US" sz="1100" dirty="0">
                          <a:solidFill>
                            <a:srgbClr val="1F2937"/>
                          </a:solidFill>
                        </a:rPr>
                        <a:t>빌드·출시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7.1, </a:t>
                      </a:r>
                      <a:pPr indent="0" marL="0">
                        <a:buNone/>
                      </a:pPr>
                      <a:r>
                        <a:rPr lang="en-US" sz="1100" dirty="0">
                          <a:solidFill>
                            <a:srgbClr val="1F2937"/>
                          </a:solidFill>
                        </a:rPr>
                        <a:t>7.2, </a:t>
                      </a:r>
                      <a:pPr indent="0" marL="0">
                        <a:buNone/>
                      </a:pPr>
                      <a:r>
                        <a:rPr lang="en-US" sz="1100" dirty="0">
                          <a:solidFill>
                            <a:srgbClr val="1F2937"/>
                          </a:solidFill>
                        </a:rPr>
                        <a:t>7.3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최개발, </a:t>
                      </a:r>
                      <a:pPr indent="0" marL="0">
                        <a:buNone/>
                      </a:pPr>
                      <a:r>
                        <a:rPr lang="en-US" sz="1100" dirty="0">
                          <a:solidFill>
                            <a:srgbClr val="1F2937"/>
                          </a:solidFill>
                        </a:rPr>
                        <a:t>박디자이너,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2026-11-05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2026-11-25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8인일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WP-013·WP-014 </a:t>
                      </a:r>
                      <a:pPr indent="0" marL="0">
                        <a:buNone/>
                      </a:pPr>
                      <a:r>
                        <a:rPr lang="en-US" sz="1100" dirty="0">
                          <a:solidFill>
                            <a:srgbClr val="1F2937"/>
                          </a:solidFill>
                        </a:rPr>
                        <a:t>핵심 </a:t>
                      </a:r>
                      <a:pPr indent="0" marL="0">
                        <a:buNone/>
                      </a:pPr>
                      <a:r>
                        <a:rPr lang="en-US" sz="1100" dirty="0">
                          <a:solidFill>
                            <a:srgbClr val="1F2937"/>
                          </a:solidFill>
                        </a:rPr>
                        <a:t>검증, </a:t>
                      </a:r>
                      <a:pPr indent="0" marL="0">
                        <a:buNone/>
                      </a:pPr>
                      <a:r>
                        <a:rPr lang="en-US" sz="1100" dirty="0">
                          <a:solidFill>
                            <a:srgbClr val="1F2937"/>
                          </a:solidFill>
                        </a:rPr>
                        <a:t>WP-011 </a:t>
                      </a:r>
                      <a:pPr indent="0" marL="0">
                        <a:buNone/>
                      </a:pPr>
                      <a:r>
                        <a:rPr lang="en-US" sz="1100" dirty="0">
                          <a:solidFill>
                            <a:srgbClr val="1F2937"/>
                          </a:solidFill>
                        </a:rPr>
                        <a:t>운영·보안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 </a:t>
                      </a:r>
                      <a:pPr indent="0" marL="0">
                        <a:buNone/>
                      </a:pPr>
                      <a:r>
                        <a:rPr lang="en-US" sz="1100" dirty="0">
                          <a:solidFill>
                            <a:srgbClr val="1F2937"/>
                          </a:solidFill>
                        </a:rPr>
                        <a:t>기능 </a:t>
                      </a:r>
                      <a:pPr indent="0" marL="0">
                        <a:buNone/>
                      </a:pPr>
                      <a:r>
                        <a:rPr lang="en-US" sz="1100" dirty="0">
                          <a:solidFill>
                            <a:srgbClr val="1F2937"/>
                          </a:solidFill>
                        </a:rPr>
                        <a:t>동결·후보 </a:t>
                      </a:r>
                      <a:pPr indent="0" marL="0">
                        <a:buNone/>
                      </a:pPr>
                      <a:r>
                        <a:rPr lang="en-US" sz="1100" dirty="0">
                          <a:solidFill>
                            <a:srgbClr val="1F2937"/>
                          </a:solidFill>
                        </a:rPr>
                        <a:t>빌드와 </a:t>
                      </a:r>
                      <a:pPr indent="0" marL="0">
                        <a:buNone/>
                      </a:pPr>
                      <a:r>
                        <a:rPr lang="en-US" sz="1100" dirty="0">
                          <a:solidFill>
                            <a:srgbClr val="1F2937"/>
                          </a:solidFill>
                        </a:rPr>
                        <a:t>필수 </a:t>
                      </a:r>
                      <a:pPr indent="0" marL="0">
                        <a:buNone/>
                      </a:pPr>
                      <a:r>
                        <a:rPr lang="en-US" sz="1100" dirty="0">
                          <a:solidFill>
                            <a:srgbClr val="1F2937"/>
                          </a:solidFill>
                        </a:rPr>
                        <a:t>검토 </a:t>
                      </a:r>
                      <a:pPr indent="0" marL="0">
                        <a:buNone/>
                      </a:pPr>
                      <a:r>
                        <a:rPr lang="en-US" sz="1100" dirty="0">
                          <a:solidFill>
                            <a:srgbClr val="1F2937"/>
                          </a:solidFill>
                        </a:rPr>
                        <a:t>완료 </a:t>
                      </a:r>
                      <a:pPr indent="0" marL="0">
                        <a:buNone/>
                      </a:pPr>
                      <a:r>
                        <a:rPr lang="en-US" sz="1100" dirty="0">
                          <a:solidFill>
                            <a:srgbClr val="1F2937"/>
                          </a:solidFill>
                        </a:rPr>
                        <a:t>후 </a:t>
                      </a:r>
                      <a:pPr indent="0" marL="0">
                        <a:buNone/>
                      </a:pPr>
                      <a:r>
                        <a:rPr lang="en-US" sz="1100" dirty="0">
                          <a:solidFill>
                            <a:srgbClr val="1F2937"/>
                          </a:solidFill>
                        </a:rPr>
                        <a:t>제출. </a:t>
                      </a:r>
                      <a:pPr indent="0" marL="0">
                        <a:buNone/>
                      </a:pPr>
                      <a:r>
                        <a:rPr lang="en-US" sz="1100" dirty="0">
                          <a:solidFill>
                            <a:srgbClr val="1F2937"/>
                          </a:solidFill>
                        </a:rPr>
                        <a:t>SS: </a:t>
                      </a:r>
                      <a:pPr indent="0" marL="0">
                        <a:buNone/>
                      </a:pPr>
                      <a:r>
                        <a:rPr lang="en-US" sz="1100" dirty="0">
                          <a:solidFill>
                            <a:srgbClr val="1F2937"/>
                          </a:solidFill>
                        </a:rPr>
                        <a:t>스토어 </a:t>
                      </a:r>
                      <a:pPr indent="0" marL="0">
                        <a:buNone/>
                      </a:pPr>
                      <a:r>
                        <a:rPr lang="en-US" sz="1100" dirty="0">
                          <a:solidFill>
                            <a:srgbClr val="1F2937"/>
                          </a:solidFill>
                        </a:rPr>
                        <a:t>자료 </a:t>
                      </a:r>
                      <a:pPr indent="0" marL="0">
                        <a:buNone/>
                      </a:pPr>
                      <a:r>
                        <a:rPr lang="en-US" sz="1100" dirty="0">
                          <a:solidFill>
                            <a:srgbClr val="1F2937"/>
                          </a:solidFill>
                        </a:rPr>
                        <a:t>준비는 </a:t>
                      </a:r>
                      <a:pPr indent="0" marL="0">
                        <a:buNone/>
                      </a:pPr>
                      <a:r>
                        <a:rPr lang="en-US" sz="1100" dirty="0">
                          <a:solidFill>
                            <a:srgbClr val="1F2937"/>
                          </a:solidFill>
                        </a:rPr>
                        <a:t>개발과 </a:t>
                      </a:r>
                      <a:pPr indent="0" marL="0">
                        <a:buNone/>
                      </a:pPr>
                      <a:r>
                        <a:rPr lang="en-US" sz="1100" dirty="0">
                          <a:solidFill>
                            <a:srgbClr val="1F2937"/>
                          </a:solidFill>
                        </a:rPr>
                        <a:t>병행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빌드, </a:t>
                      </a:r>
                      <a:pPr indent="0" marL="0">
                        <a:buNone/>
                      </a:pPr>
                      <a:r>
                        <a:rPr lang="en-US" sz="1100" dirty="0">
                          <a:solidFill>
                            <a:srgbClr val="1F2937"/>
                          </a:solidFill>
                        </a:rPr>
                        <a:t>스토어 </a:t>
                      </a:r>
                      <a:pPr indent="0" marL="0">
                        <a:buNone/>
                      </a:pPr>
                      <a:r>
                        <a:rPr lang="en-US" sz="1100" dirty="0">
                          <a:solidFill>
                            <a:srgbClr val="1F2937"/>
                          </a:solidFill>
                        </a:rPr>
                        <a:t>제출 </a:t>
                      </a:r>
                      <a:pPr indent="0" marL="0">
                        <a:buNone/>
                      </a:pPr>
                      <a:r>
                        <a:rPr lang="en-US" sz="1100" dirty="0">
                          <a:solidFill>
                            <a:srgbClr val="1F2937"/>
                          </a:solidFill>
                        </a:rPr>
                        <a:t>자료, </a:t>
                      </a:r>
                      <a:pPr indent="0" marL="0">
                        <a:buNone/>
                      </a:pPr>
                      <a:r>
                        <a:rPr lang="en-US" sz="1100" dirty="0">
                          <a:solidFill>
                            <a:srgbClr val="1F2937"/>
                          </a:solidFill>
                        </a:rPr>
                        <a:t>출시 </a:t>
                      </a:r>
                      <a:pPr indent="0" marL="0">
                        <a:buNone/>
                      </a:pPr>
                      <a:r>
                        <a:rPr lang="en-US" sz="1100" dirty="0">
                          <a:solidFill>
                            <a:srgbClr val="1F2937"/>
                          </a:solidFill>
                        </a:rPr>
                        <a:t>후보 </a:t>
                      </a:r>
                      <a:pPr indent="0" marL="0">
                        <a:buNone/>
                      </a:pPr>
                      <a:r>
                        <a:rPr lang="en-US" sz="1100" dirty="0">
                          <a:solidFill>
                            <a:srgbClr val="1F2937"/>
                          </a:solidFill>
                        </a:rPr>
                        <a:t>빌드, </a:t>
                      </a:r>
                      <a:pPr indent="0" marL="0">
                        <a:buNone/>
                      </a:pPr>
                      <a:r>
                        <a:rPr lang="en-US" sz="1100" dirty="0">
                          <a:solidFill>
                            <a:srgbClr val="1F2937"/>
                          </a:solidFill>
                        </a:rPr>
                        <a:t>심사 </a:t>
                      </a:r>
                      <a:pPr indent="0" marL="0">
                        <a:buNone/>
                      </a:pPr>
                      <a:r>
                        <a:rPr lang="en-US" sz="1100" dirty="0">
                          <a:solidFill>
                            <a:srgbClr val="1F2937"/>
                          </a:solidFill>
                        </a:rPr>
                        <a:t>결과·대응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7주 </a:t>
                      </a:r>
                      <a:pPr indent="0" marL="0">
                        <a:buNone/>
                      </a:pPr>
                      <a:r>
                        <a:rPr lang="en-US" sz="1100" dirty="0">
                          <a:solidFill>
                            <a:srgbClr val="1F2937"/>
                          </a:solidFill>
                        </a:rPr>
                        <a:t>차 </a:t>
                      </a:r>
                      <a:pPr indent="0" marL="0">
                        <a:buNone/>
                      </a:pPr>
                      <a:r>
                        <a:rPr lang="en-US" sz="1100" dirty="0">
                          <a:solidFill>
                            <a:srgbClr val="1F2937"/>
                          </a:solidFill>
                        </a:rPr>
                        <a:t>말 </a:t>
                      </a:r>
                      <a:pPr indent="0" marL="0">
                        <a:buNone/>
                      </a:pPr>
                      <a:r>
                        <a:rPr lang="en-US" sz="1100" dirty="0">
                          <a:solidFill>
                            <a:srgbClr val="1F2937"/>
                          </a:solidFill>
                        </a:rPr>
                        <a:t>스토어 </a:t>
                      </a:r>
                      <a:pPr indent="0" marL="0">
                        <a:buNone/>
                      </a:pPr>
                      <a:r>
                        <a:rPr lang="en-US" sz="1100" dirty="0">
                          <a:solidFill>
                            <a:srgbClr val="1F2937"/>
                          </a:solidFill>
                        </a:rPr>
                        <a:t>제출을 </a:t>
                      </a:r>
                      <a:pPr indent="0" marL="0">
                        <a:buNone/>
                      </a:pPr>
                      <a:r>
                        <a:rPr lang="en-US" sz="1100" dirty="0">
                          <a:solidFill>
                            <a:srgbClr val="1F2937"/>
                          </a:solidFill>
                        </a:rPr>
                        <a:t>목표로 </a:t>
                      </a:r>
                      <a:pPr indent="0" marL="0">
                        <a:buNone/>
                      </a:pPr>
                      <a:r>
                        <a:rPr lang="en-US" sz="1100" dirty="0">
                          <a:solidFill>
                            <a:srgbClr val="1F2937"/>
                          </a:solidFill>
                        </a:rPr>
                        <a:t>하고, </a:t>
                      </a:r>
                      <a:pPr indent="0" marL="0">
                        <a:buNone/>
                      </a:pPr>
                      <a:r>
                        <a:rPr lang="en-US" sz="1100" dirty="0">
                          <a:solidFill>
                            <a:srgbClr val="1F2937"/>
                          </a:solidFill>
                        </a:rPr>
                        <a:t>8주 </a:t>
                      </a:r>
                      <a:pPr indent="0" marL="0">
                        <a:buNone/>
                      </a:pPr>
                      <a:r>
                        <a:rPr lang="en-US" sz="1100" dirty="0">
                          <a:solidFill>
                            <a:srgbClr val="1F2937"/>
                          </a:solidFill>
                        </a:rPr>
                        <a:t>차에 </a:t>
                      </a:r>
                      <a:pPr indent="0" marL="0">
                        <a:buNone/>
                      </a:pPr>
                      <a:r>
                        <a:rPr lang="en-US" sz="1100" dirty="0">
                          <a:solidFill>
                            <a:srgbClr val="1F2937"/>
                          </a:solidFill>
                        </a:rPr>
                        <a:t>후보 </a:t>
                      </a:r>
                      <a:pPr indent="0" marL="0">
                        <a:buNone/>
                      </a:pPr>
                      <a:r>
                        <a:rPr lang="en-US" sz="1100" dirty="0">
                          <a:solidFill>
                            <a:srgbClr val="1F2937"/>
                          </a:solidFill>
                        </a:rPr>
                        <a:t>빌드와 </a:t>
                      </a:r>
                      <a:pPr indent="0" marL="0">
                        <a:buNone/>
                      </a:pPr>
                      <a:r>
                        <a:rPr lang="en-US" sz="1100" dirty="0">
                          <a:solidFill>
                            <a:srgbClr val="1F2937"/>
                          </a:solidFill>
                        </a:rPr>
                        <a:t>심사 </a:t>
                      </a:r>
                      <a:pPr indent="0" marL="0">
                        <a:buNone/>
                      </a:pPr>
                      <a:r>
                        <a:rPr lang="en-US" sz="1100" dirty="0">
                          <a:solidFill>
                            <a:srgbClr val="1F2937"/>
                          </a:solidFill>
                        </a:rPr>
                        <a:t>대응을 </a:t>
                      </a:r>
                      <a:pPr indent="0" marL="0">
                        <a:buNone/>
                      </a:pPr>
                      <a:r>
                        <a:rPr lang="en-US" sz="1100" dirty="0">
                          <a:solidFill>
                            <a:srgbClr val="1F2937"/>
                          </a:solidFill>
                        </a:rPr>
                        <a:t>준비함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WP-015: 스토어 제출·후보 빌드·출시 준비</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일정 원칙</a:t>
            </a:r>
            <a:endParaRPr lang="en-US" sz="1600" dirty="0"/>
          </a:p>
          <a:p>
            <a:pPr indent="0" marL="0">
              <a:spcAft>
                <a:spcPts val="800"/>
              </a:spcAft>
              <a:buNone/>
            </a:pPr>
            <a:r>
              <a:rPr lang="en-US" sz="1600" dirty="0">
                <a:solidFill>
                  <a:srgbClr val="4B5563"/>
                </a:solidFill>
              </a:rPr>
              <a:t>· 기능 동결은 6주 차 초를 목표로 합니다.</a:t>
            </a:r>
            <a:endParaRPr lang="en-US" sz="1600" dirty="0"/>
          </a:p>
          <a:p>
            <a:pPr indent="0" marL="0">
              <a:spcAft>
                <a:spcPts val="800"/>
              </a:spcAft>
              <a:buNone/>
            </a:pPr>
            <a:r>
              <a:rPr lang="en-US" sz="1600" dirty="0">
                <a:solidFill>
                  <a:srgbClr val="4B5563"/>
                </a:solidFill>
              </a:rPr>
              <a:t>· 7주 차 초반 베타 빌드 배포, 7주 차 말 스토어 제출을 목표로 합니다.</a:t>
            </a:r>
            <a:endParaRPr lang="en-US" sz="1600" dirty="0"/>
          </a:p>
          <a:p>
            <a:pPr indent="0" marL="0">
              <a:spcAft>
                <a:spcPts val="800"/>
              </a:spcAft>
              <a:buNone/>
            </a:pPr>
            <a:r>
              <a:rPr lang="en-US" sz="1600" dirty="0">
                <a:solidFill>
                  <a:srgbClr val="4B5563"/>
                </a:solidFill>
              </a:rPr>
              <a:t>· 8주 차는 후보 빌드와 심사 제출 목표이며 공개일을 확정하지 않습니다.</a:t>
            </a:r>
            <a:endParaRPr lang="en-US" sz="1600" dirty="0"/>
          </a:p>
          <a:p>
            <a:pPr indent="0" marL="0">
              <a:spcAft>
                <a:spcPts val="800"/>
              </a:spcAft>
              <a:buNone/>
            </a:pPr>
            <a:r>
              <a:rPr lang="en-US" sz="1600" dirty="0">
                <a:solidFill>
                  <a:srgbClr val="4B5563"/>
                </a:solidFill>
              </a:rPr>
              <a:t>· 심사 지연은 9주 차 완충 기간으로 대응합니다.</a:t>
            </a:r>
            <a:endParaRPr lang="en-US" sz="1600" dirty="0"/>
          </a:p>
          <a:p>
            <a:pPr indent="0" marL="0">
              <a:spcAft>
                <a:spcPts val="800"/>
              </a:spcAft>
              <a:buNone/>
            </a:pPr>
            <a:r>
              <a:rPr lang="en-US" sz="1600" dirty="0">
                <a:solidFill>
                  <a:srgbClr val="4B5563"/>
                </a:solidFill>
              </a:rPr>
              <a:t>· 실제 공개일은 베타 결과와 스토어 심사 통과 후 결정합니다.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WP-016: 운영 준비·인계·비용 감시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작업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작업명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운영 </a:t>
                      </a:r>
                      <a:pPr indent="0" marL="0">
                        <a:buNone/>
                      </a:pPr>
                      <a:r>
                        <a:rPr lang="en-US" sz="1100" dirty="0">
                          <a:solidFill>
                            <a:srgbClr val="1F2937"/>
                          </a:solidFill>
                        </a:rPr>
                        <a:t>준비·인계·비용 </a:t>
                      </a:r>
                      <a:pPr indent="0" marL="0">
                        <a:buNone/>
                      </a:pPr>
                      <a:r>
                        <a:rPr lang="en-US" sz="1100" dirty="0">
                          <a:solidFill>
                            <a:srgbClr val="1F2937"/>
                          </a:solidFill>
                        </a:rPr>
                        <a:t>감시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WBS </a:t>
                      </a:r>
                      <a:pPr indent="0" marL="0">
                        <a:buNone/>
                      </a:pPr>
                      <a:r>
                        <a:rPr lang="en-US" sz="1100" b="1"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7.4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 </a:t>
                      </a:r>
                      <a:pPr indent="0" marL="0">
                        <a:buNone/>
                      </a:pPr>
                      <a:r>
                        <a:rPr lang="en-US" sz="1100" dirty="0">
                          <a:solidFill>
                            <a:srgbClr val="1F2937"/>
                          </a:solidFill>
                        </a:rPr>
                        <a:t>운영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2026-11-05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2026-12-02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공수(인일)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5인일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WP-011 </a:t>
                      </a:r>
                      <a:pPr indent="0" marL="0">
                        <a:buNone/>
                      </a:pPr>
                      <a:r>
                        <a:rPr lang="en-US" sz="1100" dirty="0">
                          <a:solidFill>
                            <a:srgbClr val="1F2937"/>
                          </a:solidFill>
                        </a:rPr>
                        <a:t>운영 </a:t>
                      </a:r>
                      <a:pPr indent="0" marL="0">
                        <a:buNone/>
                      </a:pPr>
                      <a:r>
                        <a:rPr lang="en-US" sz="1100" dirty="0">
                          <a:solidFill>
                            <a:srgbClr val="1F2937"/>
                          </a:solidFill>
                        </a:rPr>
                        <a:t>기반, </a:t>
                      </a:r>
                      <a:pPr indent="0" marL="0">
                        <a:buNone/>
                      </a:pPr>
                      <a:r>
                        <a:rPr lang="en-US" sz="1100" dirty="0">
                          <a:solidFill>
                            <a:srgbClr val="1F2937"/>
                          </a:solidFill>
                        </a:rPr>
                        <a:t>WP-015 </a:t>
                      </a:r>
                      <a:pPr indent="0" marL="0">
                        <a:buNone/>
                      </a:pPr>
                      <a:r>
                        <a:rPr lang="en-US" sz="1100" dirty="0">
                          <a:solidFill>
                            <a:srgbClr val="1F2937"/>
                          </a:solidFill>
                        </a:rPr>
                        <a:t>후보 </a:t>
                      </a:r>
                      <a:pPr indent="0" marL="0">
                        <a:buNone/>
                      </a:pPr>
                      <a:r>
                        <a:rPr lang="en-US" sz="1100" dirty="0">
                          <a:solidFill>
                            <a:srgbClr val="1F2937"/>
                          </a:solidFill>
                        </a:rPr>
                        <a:t>빌드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의존 </a:t>
                      </a:r>
                      <a:pPr indent="0" marL="0">
                        <a:buNone/>
                      </a:pPr>
                      <a:r>
                        <a:rPr lang="en-US" sz="1100" b="1" dirty="0">
                          <a:solidFill>
                            <a:srgbClr val="1F2937"/>
                          </a:solidFill>
                        </a:rPr>
                        <a:t>관계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 </a:t>
                      </a:r>
                      <a:pPr indent="0" marL="0">
                        <a:buNone/>
                      </a:pPr>
                      <a:r>
                        <a:rPr lang="en-US" sz="1100" dirty="0">
                          <a:solidFill>
                            <a:srgbClr val="1F2937"/>
                          </a:solidFill>
                        </a:rPr>
                        <a:t>운영 </a:t>
                      </a:r>
                      <a:pPr indent="0" marL="0">
                        <a:buNone/>
                      </a:pPr>
                      <a:r>
                        <a:rPr lang="en-US" sz="1100" dirty="0">
                          <a:solidFill>
                            <a:srgbClr val="1F2937"/>
                          </a:solidFill>
                        </a:rPr>
                        <a:t>절차 </a:t>
                      </a:r>
                      <a:pPr indent="0" marL="0">
                        <a:buNone/>
                      </a:pPr>
                      <a:r>
                        <a:rPr lang="en-US" sz="1100" dirty="0">
                          <a:solidFill>
                            <a:srgbClr val="1F2937"/>
                          </a:solidFill>
                        </a:rPr>
                        <a:t>준비는 </a:t>
                      </a:r>
                      <a:pPr indent="0" marL="0">
                        <a:buNone/>
                      </a:pPr>
                      <a:r>
                        <a:rPr lang="en-US" sz="1100" dirty="0">
                          <a:solidFill>
                            <a:srgbClr val="1F2937"/>
                          </a:solidFill>
                        </a:rPr>
                        <a:t>베타·출시 </a:t>
                      </a:r>
                      <a:pPr indent="0" marL="0">
                        <a:buNone/>
                      </a:pPr>
                      <a:r>
                        <a:rPr lang="en-US" sz="1100" dirty="0">
                          <a:solidFill>
                            <a:srgbClr val="1F2937"/>
                          </a:solidFill>
                        </a:rPr>
                        <a:t>준비와 </a:t>
                      </a:r>
                      <a:pPr indent="0" marL="0">
                        <a:buNone/>
                      </a:pPr>
                      <a:r>
                        <a:rPr lang="en-US" sz="1100" dirty="0">
                          <a:solidFill>
                            <a:srgbClr val="1F2937"/>
                          </a:solidFill>
                        </a:rPr>
                        <a:t>병행. </a:t>
                      </a:r>
                      <a:pPr indent="0" marL="0">
                        <a:buNone/>
                      </a:pPr>
                      <a:r>
                        <a:rPr lang="en-US" sz="1100" dirty="0">
                          <a:solidFill>
                            <a:srgbClr val="1F2937"/>
                          </a:solidFill>
                        </a:rPr>
                        <a:t>FS: </a:t>
                      </a:r>
                      <a:pPr indent="0" marL="0">
                        <a:buNone/>
                      </a:pPr>
                      <a:r>
                        <a:rPr lang="en-US" sz="1100" dirty="0">
                          <a:solidFill>
                            <a:srgbClr val="1F2937"/>
                          </a:solidFill>
                        </a:rPr>
                        <a:t>공개 </a:t>
                      </a:r>
                      <a:pPr indent="0" marL="0">
                        <a:buNone/>
                      </a:pPr>
                      <a:r>
                        <a:rPr lang="en-US" sz="1100" dirty="0">
                          <a:solidFill>
                            <a:srgbClr val="1F2937"/>
                          </a:solidFill>
                        </a:rPr>
                        <a:t>전 </a:t>
                      </a:r>
                      <a:pPr indent="0" marL="0">
                        <a:buNone/>
                      </a:pPr>
                      <a:r>
                        <a:rPr lang="en-US" sz="1100" dirty="0">
                          <a:solidFill>
                            <a:srgbClr val="1F2937"/>
                          </a:solidFill>
                        </a:rPr>
                        <a:t>복구 </a:t>
                      </a:r>
                      <a:pPr indent="0" marL="0">
                        <a:buNone/>
                      </a:pPr>
                      <a:r>
                        <a:rPr lang="en-US" sz="1100" dirty="0">
                          <a:solidFill>
                            <a:srgbClr val="1F2937"/>
                          </a:solidFill>
                        </a:rPr>
                        <a:t>시험·권한·감시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산출물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운영 </a:t>
                      </a:r>
                      <a:pPr indent="0" marL="0">
                        <a:buNone/>
                      </a:pPr>
                      <a:r>
                        <a:rPr lang="en-US" sz="1100" dirty="0">
                          <a:solidFill>
                            <a:srgbClr val="1F2937"/>
                          </a:solidFill>
                        </a:rPr>
                        <a:t>대응 </a:t>
                      </a:r>
                      <a:pPr indent="0" marL="0">
                        <a:buNone/>
                      </a:pPr>
                      <a:r>
                        <a:rPr lang="en-US" sz="1100" dirty="0">
                          <a:solidFill>
                            <a:srgbClr val="1F2937"/>
                          </a:solidFill>
                        </a:rPr>
                        <a:t>절차, </a:t>
                      </a:r>
                      <a:pPr indent="0" marL="0">
                        <a:buNone/>
                      </a:pPr>
                      <a:r>
                        <a:rPr lang="en-US" sz="1100" dirty="0">
                          <a:solidFill>
                            <a:srgbClr val="1F2937"/>
                          </a:solidFill>
                        </a:rPr>
                        <a:t>문의·음식 </a:t>
                      </a:r>
                      <a:pPr indent="0" marL="0">
                        <a:buNone/>
                      </a:pPr>
                      <a:r>
                        <a:rPr lang="en-US" sz="1100" dirty="0">
                          <a:solidFill>
                            <a:srgbClr val="1F2937"/>
                          </a:solidFill>
                        </a:rPr>
                        <a:t>오류 </a:t>
                      </a:r>
                      <a:pPr indent="0" marL="0">
                        <a:buNone/>
                      </a:pPr>
                      <a:r>
                        <a:rPr lang="en-US" sz="1100" dirty="0">
                          <a:solidFill>
                            <a:srgbClr val="1F2937"/>
                          </a:solidFill>
                        </a:rPr>
                        <a:t>신고 </a:t>
                      </a:r>
                      <a:pPr indent="0" marL="0">
                        <a:buNone/>
                      </a:pPr>
                      <a:r>
                        <a:rPr lang="en-US" sz="1100" dirty="0">
                          <a:solidFill>
                            <a:srgbClr val="1F2937"/>
                          </a:solidFill>
                        </a:rPr>
                        <a:t>처리 </a:t>
                      </a:r>
                      <a:pPr indent="0" marL="0">
                        <a:buNone/>
                      </a:pPr>
                      <a:r>
                        <a:rPr lang="en-US" sz="1100" dirty="0">
                          <a:solidFill>
                            <a:srgbClr val="1F2937"/>
                          </a:solidFill>
                        </a:rPr>
                        <a:t>흐름, </a:t>
                      </a:r>
                      <a:pPr indent="0" marL="0">
                        <a:buNone/>
                      </a:pPr>
                      <a:r>
                        <a:rPr lang="en-US" sz="1100" dirty="0">
                          <a:solidFill>
                            <a:srgbClr val="1F2937"/>
                          </a:solidFill>
                        </a:rPr>
                        <a:t>비용 </a:t>
                      </a:r>
                      <a:pPr indent="0" marL="0">
                        <a:buNone/>
                      </a:pPr>
                      <a:r>
                        <a:rPr lang="en-US" sz="1100" dirty="0">
                          <a:solidFill>
                            <a:srgbClr val="1F2937"/>
                          </a:solidFill>
                        </a:rPr>
                        <a:t>감시 </a:t>
                      </a:r>
                      <a:pPr indent="0" marL="0">
                        <a:buNone/>
                      </a:pPr>
                      <a:r>
                        <a:rPr lang="en-US" sz="1100" dirty="0">
                          <a:solidFill>
                            <a:srgbClr val="1F2937"/>
                          </a:solidFill>
                        </a:rPr>
                        <a:t>기준, </a:t>
                      </a:r>
                      <a:pPr indent="0" marL="0">
                        <a:buNone/>
                      </a:pPr>
                      <a:r>
                        <a:rPr lang="en-US" sz="1100" dirty="0">
                          <a:solidFill>
                            <a:srgbClr val="1F2937"/>
                          </a:solidFill>
                        </a:rPr>
                        <a:t>백업 </a:t>
                      </a:r>
                      <a:pPr indent="0" marL="0">
                        <a:buNone/>
                      </a:pPr>
                      <a:r>
                        <a:rPr lang="en-US" sz="1100" dirty="0">
                          <a:solidFill>
                            <a:srgbClr val="1F2937"/>
                          </a:solidFill>
                        </a:rPr>
                        <a:t>복구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완료 </a:t>
                      </a:r>
                      <a:pPr indent="0" marL="0">
                        <a:buNone/>
                      </a:pPr>
                      <a:r>
                        <a:rPr lang="en-US" sz="1100" b="1"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장애·검색·저장 </a:t>
                      </a:r>
                      <a:pPr indent="0" marL="0">
                        <a:buNone/>
                      </a:pPr>
                      <a:r>
                        <a:rPr lang="en-US" sz="1100" dirty="0">
                          <a:solidFill>
                            <a:srgbClr val="1F2937"/>
                          </a:solidFill>
                        </a:rPr>
                        <a:t>오류 </a:t>
                      </a:r>
                      <a:pPr indent="0" marL="0">
                        <a:buNone/>
                      </a:pPr>
                      <a:r>
                        <a:rPr lang="en-US" sz="1100" dirty="0">
                          <a:solidFill>
                            <a:srgbClr val="1F2937"/>
                          </a:solidFill>
                        </a:rPr>
                        <a:t>대응 </a:t>
                      </a:r>
                      <a:pPr indent="0" marL="0">
                        <a:buNone/>
                      </a:pPr>
                      <a:r>
                        <a:rPr lang="en-US" sz="1100" dirty="0">
                          <a:solidFill>
                            <a:srgbClr val="1F2937"/>
                          </a:solidFill>
                        </a:rPr>
                        <a:t>경로와 </a:t>
                      </a:r>
                      <a:pPr indent="0" marL="0">
                        <a:buNone/>
                      </a:pPr>
                      <a:r>
                        <a:rPr lang="en-US" sz="1100" dirty="0">
                          <a:solidFill>
                            <a:srgbClr val="1F2937"/>
                          </a:solidFill>
                        </a:rPr>
                        <a:t>운영 </a:t>
                      </a:r>
                      <a:pPr indent="0" marL="0">
                        <a:buNone/>
                      </a:pPr>
                      <a:r>
                        <a:rPr lang="en-US" sz="1100" dirty="0">
                          <a:solidFill>
                            <a:srgbClr val="1F2937"/>
                          </a:solidFill>
                        </a:rPr>
                        <a:t>권한·백업 </a:t>
                      </a:r>
                      <a:pPr indent="0" marL="0">
                        <a:buNone/>
                      </a:pPr>
                      <a:r>
                        <a:rPr lang="en-US" sz="1100" dirty="0">
                          <a:solidFill>
                            <a:srgbClr val="1F2937"/>
                          </a:solidFill>
                        </a:rPr>
                        <a:t>복구·비용 </a:t>
                      </a:r>
                      <a:pPr indent="0" marL="0">
                        <a:buNone/>
                      </a:pPr>
                      <a:r>
                        <a:rPr lang="en-US" sz="1100" dirty="0">
                          <a:solidFill>
                            <a:srgbClr val="1F2937"/>
                          </a:solidFill>
                        </a:rPr>
                        <a:t>감시가 </a:t>
                      </a:r>
                      <a:pPr indent="0" marL="0">
                        <a:buNone/>
                      </a:pPr>
                      <a:r>
                        <a:rPr lang="en-US" sz="1100" dirty="0">
                          <a:solidFill>
                            <a:srgbClr val="1F2937"/>
                          </a:solidFill>
                        </a:rPr>
                        <a:t>확인됨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WP-016: 운영 준비·인계·비용 감시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정책 확인 사항</a:t>
            </a:r>
            <a:endParaRPr lang="en-US" sz="1600" dirty="0"/>
          </a:p>
          <a:p>
            <a:pPr indent="0" marL="0">
              <a:spcAft>
                <a:spcPts val="800"/>
              </a:spcAft>
              <a:buNone/>
            </a:pPr>
            <a:r>
              <a:rPr lang="en-US" sz="1600" dirty="0">
                <a:solidFill>
                  <a:srgbClr val="4B5563"/>
                </a:solidFill>
              </a:rPr>
              <a:t>· 계정 삭제 처리 시간, 백업에서의 삭제 시점, 운영 로그 보유 기간은 담당자 검토가 필요합니다.</a:t>
            </a:r>
            <a:endParaRPr lang="en-US" sz="1600" dirty="0"/>
          </a:p>
          <a:p>
            <a:pPr indent="0" marL="0">
              <a:spcAft>
                <a:spcPts val="800"/>
              </a:spcAft>
              <a:buNone/>
            </a:pPr>
            <a:r>
              <a:rPr lang="en-US" sz="1600" dirty="0">
                <a:solidFill>
                  <a:srgbClr val="4B5563"/>
                </a:solidFill>
              </a:rPr>
              <a:t>· 월 30만 원은 확정 상한이 아니며, 사용자 수별 비용 추정과 계약 조건 확인 후 재산정합니다.</a:t>
            </a:r>
            <a:endParaRPr lang="en-US" sz="1600" dirty="0"/>
          </a:p>
          <a:p>
            <a:pPr indent="0" marL="0">
              <a:spcAft>
                <a:spcPts val="800"/>
              </a:spcAft>
              <a:buNone/>
            </a:pPr>
            <a:r>
              <a:rPr lang="en-US" sz="1600" dirty="0">
                <a:solidFill>
                  <a:srgbClr val="4B5563"/>
                </a:solidFill>
              </a:rPr>
              <a:t>· 운영 담당자와 운영 인수 승인자는 미정입니다.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WBS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2274243" y="1463040"/>
            <a:ext cx="4595515"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주요 의존 흐름</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611571"/>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 마일스톤</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999716"/>
                <a:gridCol w="846034"/>
                <a:gridCol w="2768837"/>
                <a:gridCol w="1692067"/>
                <a:gridCol w="922946"/>
              </a:tblGrid>
              <a:tr h="0">
                <a:tc>
                  <a:txBody>
                    <a:bodyPr/>
                    <a:lstStyle/>
                    <a:p>
                      <a:pPr indent="0" marL="0">
                        <a:buNone/>
                      </a:pPr>
                      <a:r>
                        <a:rPr lang="en-US" sz="1200" b="1" dirty="0">
                          <a:solidFill>
                            <a:srgbClr val="FFFFFF"/>
                          </a:solidFill>
                        </a:rPr>
                        <a:t>마일스톤</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목표 </a:t>
                      </a:r>
                      <a:pPr indent="0" marL="0">
                        <a:buNone/>
                      </a:pPr>
                      <a:r>
                        <a:rPr lang="en-US" sz="1200" b="1" dirty="0">
                          <a:solidFill>
                            <a:srgbClr val="FFFFFF"/>
                          </a:solidFill>
                        </a:rPr>
                        <a:t>시점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관련 </a:t>
                      </a:r>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승인자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M1: </a:t>
                      </a:r>
                      <a:pPr indent="0" marL="0">
                        <a:buNone/>
                      </a:pPr>
                      <a:r>
                        <a:rPr lang="en-US" sz="1100" b="1" dirty="0">
                          <a:solidFill>
                            <a:srgbClr val="1F2937"/>
                          </a:solidFill>
                        </a:rPr>
                        <a:t>착수·운영 </a:t>
                      </a:r>
                      <a:pPr indent="0" marL="0">
                        <a:buNone/>
                      </a:pPr>
                      <a:r>
                        <a:rPr lang="en-US" sz="1100" b="1" dirty="0">
                          <a:solidFill>
                            <a:srgbClr val="1F2937"/>
                          </a:solidFill>
                        </a:rPr>
                        <a:t>기준 </a:t>
                      </a:r>
                      <a:pPr indent="0" marL="0">
                        <a:buNone/>
                      </a:pPr>
                      <a:r>
                        <a:rPr lang="en-US" sz="1100" b="1" dirty="0">
                          <a:solidFill>
                            <a:srgbClr val="1F2937"/>
                          </a:solidFill>
                        </a:rPr>
                        <a:t>수립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W1 </a:t>
                      </a:r>
                      <a:pPr indent="0" marL="0">
                        <a:buNone/>
                      </a:pPr>
                      <a:r>
                        <a:rPr lang="en-US" sz="1100" dirty="0">
                          <a:solidFill>
                            <a:srgbClr val="1F2937"/>
                          </a:solidFill>
                        </a:rPr>
                        <a:t>종료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일정·범위·미정 </a:t>
                      </a:r>
                      <a:pPr indent="0" marL="0">
                        <a:buNone/>
                      </a:pPr>
                      <a:r>
                        <a:rPr lang="en-US" sz="1100" dirty="0">
                          <a:solidFill>
                            <a:srgbClr val="1F2937"/>
                          </a:solidFill>
                        </a:rPr>
                        <a:t>항목·회의 </a:t>
                      </a:r>
                      <a:pPr indent="0" marL="0">
                        <a:buNone/>
                      </a:pPr>
                      <a:r>
                        <a:rPr lang="en-US" sz="1100" dirty="0">
                          <a:solidFill>
                            <a:srgbClr val="1F2937"/>
                          </a:solidFill>
                        </a:rPr>
                        <a:t>운영 </a:t>
                      </a:r>
                      <a:pPr indent="0" marL="0">
                        <a:buNone/>
                      </a:pPr>
                      <a:r>
                        <a:rPr lang="en-US" sz="1100" dirty="0">
                          <a:solidFill>
                            <a:srgbClr val="1F2937"/>
                          </a:solidFill>
                        </a:rPr>
                        <a:t>방식 </a:t>
                      </a:r>
                      <a:pPr indent="0" marL="0">
                        <a:buNone/>
                      </a:pPr>
                      <a:r>
                        <a:rPr lang="en-US" sz="1100" dirty="0">
                          <a:solidFill>
                            <a:srgbClr val="1F2937"/>
                          </a:solidFill>
                        </a:rPr>
                        <a:t>문서화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승인자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M2: </a:t>
                      </a:r>
                      <a:pPr indent="0" marL="0">
                        <a:buNone/>
                      </a:pPr>
                      <a:r>
                        <a:rPr lang="en-US" sz="1100" b="1" dirty="0">
                          <a:solidFill>
                            <a:srgbClr val="1F2937"/>
                          </a:solidFill>
                        </a:rPr>
                        <a:t>사용자 </a:t>
                      </a:r>
                      <a:pPr indent="0" marL="0">
                        <a:buNone/>
                      </a:pPr>
                      <a:r>
                        <a:rPr lang="en-US" sz="1100" b="1" dirty="0">
                          <a:solidFill>
                            <a:srgbClr val="1F2937"/>
                          </a:solidFill>
                        </a:rPr>
                        <a:t>요구·외부 </a:t>
                      </a:r>
                      <a:pPr indent="0" marL="0">
                        <a:buNone/>
                      </a:pPr>
                      <a:r>
                        <a:rPr lang="en-US" sz="1100" b="1" dirty="0">
                          <a:solidFill>
                            <a:srgbClr val="1F2937"/>
                          </a:solidFill>
                        </a:rPr>
                        <a:t>연동 </a:t>
                      </a:r>
                      <a:pPr indent="0" marL="0">
                        <a:buNone/>
                      </a:pPr>
                      <a:r>
                        <a:rPr lang="en-US" sz="1100" b="1" dirty="0">
                          <a:solidFill>
                            <a:srgbClr val="1F2937"/>
                          </a:solidFill>
                        </a:rPr>
                        <a:t>1차 </a:t>
                      </a:r>
                      <a:pPr indent="0" marL="0">
                        <a:buNone/>
                      </a:pPr>
                      <a:r>
                        <a:rPr lang="en-US" sz="1100" b="1" dirty="0">
                          <a:solidFill>
                            <a:srgbClr val="1F2937"/>
                          </a:solidFill>
                        </a:rPr>
                        <a:t>점검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W1 </a:t>
                      </a:r>
                      <a:pPr indent="0" marL="0">
                        <a:buNone/>
                      </a:pPr>
                      <a:r>
                        <a:rPr lang="en-US" sz="1100" dirty="0">
                          <a:solidFill>
                            <a:srgbClr val="1F2937"/>
                          </a:solidFill>
                        </a:rPr>
                        <a:t>금요일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식품 </a:t>
                      </a:r>
                      <a:pPr indent="0" marL="0">
                        <a:buNone/>
                      </a:pPr>
                      <a:r>
                        <a:rPr lang="en-US" sz="1100" dirty="0">
                          <a:solidFill>
                            <a:srgbClr val="1F2937"/>
                          </a:solidFill>
                        </a:rPr>
                        <a:t>API </a:t>
                      </a:r>
                      <a:pPr indent="0" marL="0">
                        <a:buNone/>
                      </a:pPr>
                      <a:r>
                        <a:rPr lang="en-US" sz="1100" dirty="0">
                          <a:solidFill>
                            <a:srgbClr val="1F2937"/>
                          </a:solidFill>
                        </a:rPr>
                        <a:t>샘플·계약 </a:t>
                      </a:r>
                      <a:pPr indent="0" marL="0">
                        <a:buNone/>
                      </a:pPr>
                      <a:r>
                        <a:rPr lang="en-US" sz="1100" dirty="0">
                          <a:solidFill>
                            <a:srgbClr val="1F2937"/>
                          </a:solidFill>
                        </a:rPr>
                        <a:t>조건 </a:t>
                      </a:r>
                      <a:pPr indent="0" marL="0">
                        <a:buNone/>
                      </a:pPr>
                      <a:r>
                        <a:rPr lang="en-US" sz="1100" dirty="0">
                          <a:solidFill>
                            <a:srgbClr val="1F2937"/>
                          </a:solidFill>
                        </a:rPr>
                        <a:t>및 </a:t>
                      </a:r>
                      <a:pPr indent="0" marL="0">
                        <a:buNone/>
                      </a:pPr>
                      <a:r>
                        <a:rPr lang="en-US" sz="1100" dirty="0">
                          <a:solidFill>
                            <a:srgbClr val="1F2937"/>
                          </a:solidFill>
                        </a:rPr>
                        <a:t>인증·개인정보 </a:t>
                      </a:r>
                      <a:pPr indent="0" marL="0">
                        <a:buNone/>
                      </a:pPr>
                      <a:r>
                        <a:rPr lang="en-US" sz="1100" dirty="0">
                          <a:solidFill>
                            <a:srgbClr val="1F2937"/>
                          </a:solidFill>
                        </a:rPr>
                        <a:t>조사 </a:t>
                      </a:r>
                      <a:pPr indent="0" marL="0">
                        <a:buNone/>
                      </a:pPr>
                      <a:r>
                        <a:rPr lang="en-US" sz="1100" dirty="0">
                          <a:solidFill>
                            <a:srgbClr val="1F2937"/>
                          </a:solidFill>
                        </a:rPr>
                        <a:t>현황 </a:t>
                      </a:r>
                      <a:pPr indent="0" marL="0">
                        <a:buNone/>
                      </a:pPr>
                      <a:r>
                        <a:rPr lang="en-US" sz="1100" dirty="0">
                          <a:solidFill>
                            <a:srgbClr val="1F2937"/>
                          </a:solidFill>
                        </a:rPr>
                        <a:t>공유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WP-002, </a:t>
                      </a:r>
                      <a:pPr indent="0" marL="0">
                        <a:buNone/>
                      </a:pPr>
                      <a:r>
                        <a:rPr lang="en-US" sz="1100" dirty="0">
                          <a:solidFill>
                            <a:srgbClr val="1F2937"/>
                          </a:solidFill>
                        </a:rPr>
                        <a:t>WP-003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이대표·김PM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M3: </a:t>
                      </a:r>
                      <a:pPr indent="0" marL="0">
                        <a:buNone/>
                      </a:pPr>
                      <a:r>
                        <a:rPr lang="en-US" sz="1100" b="1" dirty="0">
                          <a:solidFill>
                            <a:srgbClr val="1F2937"/>
                          </a:solidFill>
                        </a:rPr>
                        <a:t>핵심 </a:t>
                      </a:r>
                      <a:pPr indent="0" marL="0">
                        <a:buNone/>
                      </a:pPr>
                      <a:r>
                        <a:rPr lang="en-US" sz="1100" b="1" dirty="0">
                          <a:solidFill>
                            <a:srgbClr val="1F2937"/>
                          </a:solidFill>
                        </a:rPr>
                        <a:t>화면·데이터 </a:t>
                      </a:r>
                      <a:pPr indent="0" marL="0">
                        <a:buNone/>
                      </a:pPr>
                      <a:r>
                        <a:rPr lang="en-US" sz="1100" b="1" dirty="0">
                          <a:solidFill>
                            <a:srgbClr val="1F2937"/>
                          </a:solidFill>
                        </a:rPr>
                        <a:t>구조 </a:t>
                      </a:r>
                      <a:pPr indent="0" marL="0">
                        <a:buNone/>
                      </a:pPr>
                      <a:r>
                        <a:rPr lang="en-US" sz="1100" b="1"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W2 </a:t>
                      </a:r>
                      <a:pPr indent="0" marL="0">
                        <a:buNone/>
                      </a:pPr>
                      <a:r>
                        <a:rPr lang="en-US" sz="1100" dirty="0">
                          <a:solidFill>
                            <a:srgbClr val="1F2937"/>
                          </a:solidFill>
                        </a:rPr>
                        <a:t>종료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홈·기록 </a:t>
                      </a:r>
                      <a:pPr indent="0" marL="0">
                        <a:buNone/>
                      </a:pPr>
                      <a:r>
                        <a:rPr lang="en-US" sz="1100" dirty="0">
                          <a:solidFill>
                            <a:srgbClr val="1F2937"/>
                          </a:solidFill>
                        </a:rPr>
                        <a:t>화면 </a:t>
                      </a:r>
                      <a:pPr indent="0" marL="0">
                        <a:buNone/>
                      </a:pPr>
                      <a:r>
                        <a:rPr lang="en-US" sz="1100" dirty="0">
                          <a:solidFill>
                            <a:srgbClr val="1F2937"/>
                          </a:solidFill>
                        </a:rPr>
                        <a:t>우선 </a:t>
                      </a:r>
                      <a:pPr indent="0" marL="0">
                        <a:buNone/>
                      </a:pPr>
                      <a:r>
                        <a:rPr lang="en-US" sz="1100" dirty="0">
                          <a:solidFill>
                            <a:srgbClr val="1F2937"/>
                          </a:solidFill>
                        </a:rPr>
                        <a:t>확정, </a:t>
                      </a:r>
                      <a:pPr indent="0" marL="0">
                        <a:buNone/>
                      </a:pPr>
                      <a:r>
                        <a:rPr lang="en-US" sz="1100" dirty="0">
                          <a:solidFill>
                            <a:srgbClr val="1F2937"/>
                          </a:solidFill>
                        </a:rPr>
                        <a:t>DB/API </a:t>
                      </a:r>
                      <a:pPr indent="0" marL="0">
                        <a:buNone/>
                      </a:pPr>
                      <a:r>
                        <a:rPr lang="en-US" sz="1100" dirty="0">
                          <a:solidFill>
                            <a:srgbClr val="1F2937"/>
                          </a:solidFill>
                        </a:rPr>
                        <a:t>골격과 </a:t>
                      </a:r>
                      <a:pPr indent="0" marL="0">
                        <a:buNone/>
                      </a:pPr>
                      <a:r>
                        <a:rPr lang="en-US" sz="1100" dirty="0">
                          <a:solidFill>
                            <a:srgbClr val="1F2937"/>
                          </a:solidFill>
                        </a:rPr>
                        <a:t>인증·목표 </a:t>
                      </a:r>
                      <a:pPr indent="0" marL="0">
                        <a:buNone/>
                      </a:pPr>
                      <a:r>
                        <a:rPr lang="en-US" sz="1100" dirty="0">
                          <a:solidFill>
                            <a:srgbClr val="1F2937"/>
                          </a:solidFill>
                        </a:rPr>
                        <a:t>범위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WP-004, </a:t>
                      </a:r>
                      <a:pPr indent="0" marL="0">
                        <a:buNone/>
                      </a:pPr>
                      <a:r>
                        <a:rPr lang="en-US" sz="1100" dirty="0">
                          <a:solidFill>
                            <a:srgbClr val="1F2937"/>
                          </a:solidFill>
                        </a:rPr>
                        <a:t>WP-005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승인자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M4: </a:t>
                      </a:r>
                      <a:pPr indent="0" marL="0">
                        <a:buNone/>
                      </a:pPr>
                      <a:r>
                        <a:rPr lang="en-US" sz="1100" b="1" dirty="0">
                          <a:solidFill>
                            <a:srgbClr val="1F2937"/>
                          </a:solidFill>
                        </a:rPr>
                        <a:t>목표 </a:t>
                      </a:r>
                      <a:pPr indent="0" marL="0">
                        <a:buNone/>
                      </a:pPr>
                      <a:r>
                        <a:rPr lang="en-US" sz="1100" b="1" dirty="0">
                          <a:solidFill>
                            <a:srgbClr val="1F2937"/>
                          </a:solidFill>
                        </a:rPr>
                        <a:t>기능 </a:t>
                      </a:r>
                      <a:pPr indent="0" marL="0">
                        <a:buNone/>
                      </a:pPr>
                      <a:r>
                        <a:rPr lang="en-US" sz="1100" b="1" dirty="0">
                          <a:solidFill>
                            <a:srgbClr val="1F2937"/>
                          </a:solidFill>
                        </a:rPr>
                        <a:t>범위 </a:t>
                      </a:r>
                      <a:pPr indent="0" marL="0">
                        <a:buNone/>
                      </a:pPr>
                      <a:r>
                        <a:rPr lang="en-US" sz="1100" b="1" dirty="0">
                          <a:solidFill>
                            <a:srgbClr val="1F2937"/>
                          </a:solidFill>
                        </a:rPr>
                        <a:t>동결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다음 </a:t>
                      </a:r>
                      <a:pPr indent="0" marL="0">
                        <a:buNone/>
                      </a:pPr>
                      <a:r>
                        <a:rPr lang="en-US" sz="1100" dirty="0">
                          <a:solidFill>
                            <a:srgbClr val="1F2937"/>
                          </a:solidFill>
                        </a:rPr>
                        <a:t>주 </a:t>
                      </a:r>
                      <a:pPr indent="0" marL="0">
                        <a:buNone/>
                      </a:pPr>
                      <a:r>
                        <a:rPr lang="en-US" sz="1100" dirty="0">
                          <a:solidFill>
                            <a:srgbClr val="1F2937"/>
                          </a:solidFill>
                        </a:rPr>
                        <a:t>화요일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안전 </a:t>
                      </a:r>
                      <a:pPr indent="0" marL="0">
                        <a:buNone/>
                      </a:pPr>
                      <a:r>
                        <a:rPr lang="en-US" sz="1100" dirty="0">
                          <a:solidFill>
                            <a:srgbClr val="1F2937"/>
                          </a:solidFill>
                        </a:rPr>
                        <a:t>기준 </a:t>
                      </a:r>
                      <a:pPr indent="0" marL="0">
                        <a:buNone/>
                      </a:pPr>
                      <a:r>
                        <a:rPr lang="en-US" sz="1100" dirty="0">
                          <a:solidFill>
                            <a:srgbClr val="1F2937"/>
                          </a:solidFill>
                        </a:rPr>
                        <a:t>미확인 </a:t>
                      </a:r>
                      <a:pPr indent="0" marL="0">
                        <a:buNone/>
                      </a:pPr>
                      <a:r>
                        <a:rPr lang="en-US" sz="1100" dirty="0">
                          <a:solidFill>
                            <a:srgbClr val="1F2937"/>
                          </a:solidFill>
                        </a:rPr>
                        <a:t>시 </a:t>
                      </a:r>
                      <a:pPr indent="0" marL="0">
                        <a:buNone/>
                      </a:pPr>
                      <a:r>
                        <a:rPr lang="en-US" sz="1100" dirty="0">
                          <a:solidFill>
                            <a:srgbClr val="1F2937"/>
                          </a:solidFill>
                        </a:rPr>
                        <a:t>자동 </a:t>
                      </a:r>
                      <a:pPr indent="0" marL="0">
                        <a:buNone/>
                      </a:pPr>
                      <a:r>
                        <a:rPr lang="en-US" sz="1100" dirty="0">
                          <a:solidFill>
                            <a:srgbClr val="1F2937"/>
                          </a:solidFill>
                        </a:rPr>
                        <a:t>칼로리 </a:t>
                      </a:r>
                      <a:pPr indent="0" marL="0">
                        <a:buNone/>
                      </a:pPr>
                      <a:r>
                        <a:rPr lang="en-US" sz="1100" dirty="0">
                          <a:solidFill>
                            <a:srgbClr val="1F2937"/>
                          </a:solidFill>
                        </a:rPr>
                        <a:t>목표 </a:t>
                      </a:r>
                      <a:pPr indent="0" marL="0">
                        <a:buNone/>
                      </a:pPr>
                      <a:r>
                        <a:rPr lang="en-US" sz="1100" dirty="0">
                          <a:solidFill>
                            <a:srgbClr val="1F2937"/>
                          </a:solidFill>
                        </a:rPr>
                        <a:t>제외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WP-003, </a:t>
                      </a:r>
                      <a:pPr indent="0" marL="0">
                        <a:buNone/>
                      </a:pPr>
                      <a:r>
                        <a:rPr lang="en-US" sz="1100" dirty="0">
                          <a:solidFill>
                            <a:srgbClr val="1F2937"/>
                          </a:solidFill>
                        </a:rPr>
                        <a:t>WP-007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이대표·김PM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M5: </a:t>
                      </a:r>
                      <a:pPr indent="0" marL="0">
                        <a:buNone/>
                      </a:pPr>
                      <a:r>
                        <a:rPr lang="en-US" sz="1100" b="1" dirty="0">
                          <a:solidFill>
                            <a:srgbClr val="1F2937"/>
                          </a:solidFill>
                        </a:rPr>
                        <a:t>기록 </a:t>
                      </a:r>
                      <a:pPr indent="0" marL="0">
                        <a:buNone/>
                      </a:pPr>
                      <a:r>
                        <a:rPr lang="en-US" sz="1100" b="1" dirty="0">
                          <a:solidFill>
                            <a:srgbClr val="1F2937"/>
                          </a:solidFill>
                        </a:rPr>
                        <a:t>기능 </a:t>
                      </a:r>
                      <a:pPr indent="0" marL="0">
                        <a:buNone/>
                      </a:pPr>
                      <a:r>
                        <a:rPr lang="en-US" sz="1100" b="1" dirty="0">
                          <a:solidFill>
                            <a:srgbClr val="1F2937"/>
                          </a:solidFill>
                        </a:rPr>
                        <a:t>알파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W4 </a:t>
                      </a:r>
                      <a:pPr indent="0" marL="0">
                        <a:buNone/>
                      </a:pPr>
                      <a:r>
                        <a:rPr lang="en-US" sz="1100" dirty="0">
                          <a:solidFill>
                            <a:srgbClr val="1F2937"/>
                          </a:solidFill>
                        </a:rPr>
                        <a:t>종료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검색·직접 </a:t>
                      </a:r>
                      <a:pPr indent="0" marL="0">
                        <a:buNone/>
                      </a:pPr>
                      <a:r>
                        <a:rPr lang="en-US" sz="1100" dirty="0">
                          <a:solidFill>
                            <a:srgbClr val="1F2937"/>
                          </a:solidFill>
                        </a:rPr>
                        <a:t>입력·기록 </a:t>
                      </a:r>
                      <a:pPr indent="0" marL="0">
                        <a:buNone/>
                      </a:pPr>
                      <a:r>
                        <a:rPr lang="en-US" sz="1100" dirty="0">
                          <a:solidFill>
                            <a:srgbClr val="1F2937"/>
                          </a:solidFill>
                        </a:rPr>
                        <a:t>생성·수정·삭제의 </a:t>
                      </a:r>
                      <a:pPr indent="0" marL="0">
                        <a:buNone/>
                      </a:pPr>
                      <a:r>
                        <a:rPr lang="en-US" sz="1100" dirty="0">
                          <a:solidFill>
                            <a:srgbClr val="1F2937"/>
                          </a:solidFill>
                        </a:rPr>
                        <a:t>알파 </a:t>
                      </a:r>
                      <a:pPr indent="0" marL="0">
                        <a:buNone/>
                      </a:pPr>
                      <a:r>
                        <a:rPr lang="en-US" sz="1100" dirty="0">
                          <a:solidFill>
                            <a:srgbClr val="1F2937"/>
                          </a:solidFill>
                        </a:rPr>
                        <a:t>흐름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WP-008, </a:t>
                      </a:r>
                      <a:pPr indent="0" marL="0">
                        <a:buNone/>
                      </a:pPr>
                      <a:r>
                        <a:rPr lang="en-US" sz="1100" dirty="0">
                          <a:solidFill>
                            <a:srgbClr val="1F2937"/>
                          </a:solidFill>
                        </a:rPr>
                        <a:t>WP-009, </a:t>
                      </a:r>
                      <a:pPr indent="0" marL="0">
                        <a:buNone/>
                      </a:pPr>
                      <a:r>
                        <a:rPr lang="en-US" sz="1100" dirty="0">
                          <a:solidFill>
                            <a:srgbClr val="1F2937"/>
                          </a:solidFill>
                        </a:rPr>
                        <a:t>WP-011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최개발·김PM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M6: </a:t>
                      </a:r>
                      <a:pPr indent="0" marL="0">
                        <a:buNone/>
                      </a:pPr>
                      <a:r>
                        <a:rPr lang="en-US" sz="1100" b="1" dirty="0">
                          <a:solidFill>
                            <a:srgbClr val="1F2937"/>
                          </a:solidFill>
                        </a:rPr>
                        <a:t>주요 </a:t>
                      </a:r>
                      <a:pPr indent="0" marL="0">
                        <a:buNone/>
                      </a:pPr>
                      <a:r>
                        <a:rPr lang="en-US" sz="1100" b="1" dirty="0">
                          <a:solidFill>
                            <a:srgbClr val="1F2937"/>
                          </a:solidFill>
                        </a:rPr>
                        <a:t>기능 </a:t>
                      </a:r>
                      <a:pPr indent="0" marL="0">
                        <a:buNone/>
                      </a:pPr>
                      <a:r>
                        <a:rPr lang="en-US" sz="1100" b="1" dirty="0">
                          <a:solidFill>
                            <a:srgbClr val="1F2937"/>
                          </a:solidFill>
                        </a:rPr>
                        <a:t>동결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W6 </a:t>
                      </a:r>
                      <a:pPr indent="0" marL="0">
                        <a:buNone/>
                      </a:pPr>
                      <a:r>
                        <a:rPr lang="en-US" sz="1100" dirty="0">
                          <a:solidFill>
                            <a:srgbClr val="1F2937"/>
                          </a:solidFill>
                        </a:rPr>
                        <a:t>초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핵심 </a:t>
                      </a:r>
                      <a:pPr indent="0" marL="0">
                        <a:buNone/>
                      </a:pPr>
                      <a:r>
                        <a:rPr lang="en-US" sz="1100" dirty="0">
                          <a:solidFill>
                            <a:srgbClr val="1F2937"/>
                          </a:solidFill>
                        </a:rPr>
                        <a:t>기능 </a:t>
                      </a:r>
                      <a:pPr indent="0" marL="0">
                        <a:buNone/>
                      </a:pPr>
                      <a:r>
                        <a:rPr lang="en-US" sz="1100" dirty="0">
                          <a:solidFill>
                            <a:srgbClr val="1F2937"/>
                          </a:solidFill>
                        </a:rPr>
                        <a:t>구현을 </a:t>
                      </a:r>
                      <a:pPr indent="0" marL="0">
                        <a:buNone/>
                      </a:pPr>
                      <a:r>
                        <a:rPr lang="en-US" sz="1100" dirty="0">
                          <a:solidFill>
                            <a:srgbClr val="1F2937"/>
                          </a:solidFill>
                        </a:rPr>
                        <a:t>마치고 </a:t>
                      </a:r>
                      <a:pPr indent="0" marL="0">
                        <a:buNone/>
                      </a:pPr>
                      <a:r>
                        <a:rPr lang="en-US" sz="1100" dirty="0">
                          <a:solidFill>
                            <a:srgbClr val="1F2937"/>
                          </a:solidFill>
                        </a:rPr>
                        <a:t>결함 </a:t>
                      </a:r>
                      <a:pPr indent="0" marL="0">
                        <a:buNone/>
                      </a:pPr>
                      <a:r>
                        <a:rPr lang="en-US" sz="1100" dirty="0">
                          <a:solidFill>
                            <a:srgbClr val="1F2937"/>
                          </a:solidFill>
                        </a:rPr>
                        <a:t>수정·안정화로 </a:t>
                      </a:r>
                      <a:pPr indent="0" marL="0">
                        <a:buNone/>
                      </a:pPr>
                      <a:r>
                        <a:rPr lang="en-US" sz="1100" dirty="0">
                          <a:solidFill>
                            <a:srgbClr val="1F2937"/>
                          </a:solidFill>
                        </a:rPr>
                        <a:t>전환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WP-007~WP-012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승인자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M7: </a:t>
                      </a:r>
                      <a:pPr indent="0" marL="0">
                        <a:buNone/>
                      </a:pPr>
                      <a:r>
                        <a:rPr lang="en-US" sz="1100" b="1" dirty="0">
                          <a:solidFill>
                            <a:srgbClr val="1F2937"/>
                          </a:solidFill>
                        </a:rPr>
                        <a:t>베타 </a:t>
                      </a:r>
                      <a:pPr indent="0" marL="0">
                        <a:buNone/>
                      </a:pPr>
                      <a:r>
                        <a:rPr lang="en-US" sz="1100" b="1" dirty="0">
                          <a:solidFill>
                            <a:srgbClr val="1F2937"/>
                          </a:solidFill>
                        </a:rPr>
                        <a:t>빌드 </a:t>
                      </a:r>
                      <a:pPr indent="0" marL="0">
                        <a:buNone/>
                      </a:pPr>
                      <a:r>
                        <a:rPr lang="en-US" sz="1100" b="1" dirty="0">
                          <a:solidFill>
                            <a:srgbClr val="1F2937"/>
                          </a:solidFill>
                        </a:rPr>
                        <a:t>배포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W7 </a:t>
                      </a:r>
                      <a:pPr indent="0" marL="0">
                        <a:buNone/>
                      </a:pPr>
                      <a:r>
                        <a:rPr lang="en-US" sz="1100" dirty="0">
                          <a:solidFill>
                            <a:srgbClr val="1F2937"/>
                          </a:solidFill>
                        </a:rPr>
                        <a:t>초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시험 </a:t>
                      </a:r>
                      <a:pPr indent="0" marL="0">
                        <a:buNone/>
                      </a:pPr>
                      <a:r>
                        <a:rPr lang="en-US" sz="1100" dirty="0">
                          <a:solidFill>
                            <a:srgbClr val="1F2937"/>
                          </a:solidFill>
                        </a:rPr>
                        <a:t>참여자에게 </a:t>
                      </a:r>
                      <a:pPr indent="0" marL="0">
                        <a:buNone/>
                      </a:pPr>
                      <a:r>
                        <a:rPr lang="en-US" sz="1100" dirty="0">
                          <a:solidFill>
                            <a:srgbClr val="1F2937"/>
                          </a:solidFill>
                        </a:rPr>
                        <a:t>시험 </a:t>
                      </a:r>
                      <a:pPr indent="0" marL="0">
                        <a:buNone/>
                      </a:pPr>
                      <a:r>
                        <a:rPr lang="en-US" sz="1100" dirty="0">
                          <a:solidFill>
                            <a:srgbClr val="1F2937"/>
                          </a:solidFill>
                        </a:rPr>
                        <a:t>빌드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WP-014, </a:t>
                      </a:r>
                      <a:pPr indent="0" marL="0">
                        <a:buNone/>
                      </a:pPr>
                      <a:r>
                        <a:rPr lang="en-US" sz="1100" dirty="0">
                          <a:solidFill>
                            <a:srgbClr val="1F2937"/>
                          </a:solidFill>
                        </a:rPr>
                        <a:t>WP-015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김PM·최개발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M8: </a:t>
                      </a:r>
                      <a:pPr indent="0" marL="0">
                        <a:buNone/>
                      </a:pPr>
                      <a:r>
                        <a:rPr lang="en-US" sz="1100" b="1" dirty="0">
                          <a:solidFill>
                            <a:srgbClr val="1F2937"/>
                          </a:solidFill>
                        </a:rPr>
                        <a:t>스토어 </a:t>
                      </a:r>
                      <a:pPr indent="0" marL="0">
                        <a:buNone/>
                      </a:pPr>
                      <a:r>
                        <a:rPr lang="en-US" sz="1100" b="1" dirty="0">
                          <a:solidFill>
                            <a:srgbClr val="1F2937"/>
                          </a:solidFill>
                        </a:rPr>
                        <a:t>제출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W7 </a:t>
                      </a:r>
                      <a:pPr indent="0" marL="0">
                        <a:buNone/>
                      </a:pPr>
                      <a:r>
                        <a:rPr lang="en-US" sz="1100" dirty="0">
                          <a:solidFill>
                            <a:srgbClr val="1F2937"/>
                          </a:solidFill>
                        </a:rPr>
                        <a:t>말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필수 </a:t>
                      </a:r>
                      <a:pPr indent="0" marL="0">
                        <a:buNone/>
                      </a:pPr>
                      <a:r>
                        <a:rPr lang="en-US" sz="1100" dirty="0">
                          <a:solidFill>
                            <a:srgbClr val="1F2937"/>
                          </a:solidFill>
                        </a:rPr>
                        <a:t>시험·개인정보 </a:t>
                      </a:r>
                      <a:pPr indent="0" marL="0">
                        <a:buNone/>
                      </a:pPr>
                      <a:r>
                        <a:rPr lang="en-US" sz="1100" dirty="0">
                          <a:solidFill>
                            <a:srgbClr val="1F2937"/>
                          </a:solidFill>
                        </a:rPr>
                        <a:t>검토·스토어 </a:t>
                      </a:r>
                      <a:pPr indent="0" marL="0">
                        <a:buNone/>
                      </a:pPr>
                      <a:r>
                        <a:rPr lang="en-US" sz="1100" dirty="0">
                          <a:solidFill>
                            <a:srgbClr val="1F2937"/>
                          </a:solidFill>
                        </a:rPr>
                        <a:t>자료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제출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WP-013~WP-015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제출 </a:t>
                      </a:r>
                      <a:pPr indent="0" marL="0">
                        <a:buNone/>
                      </a:pPr>
                      <a:r>
                        <a:rPr lang="en-US" sz="1100" dirty="0">
                          <a:solidFill>
                            <a:srgbClr val="1F2937"/>
                          </a:solidFill>
                        </a:rPr>
                        <a:t>승인자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M9: </a:t>
                      </a:r>
                      <a:pPr indent="0" marL="0">
                        <a:buNone/>
                      </a:pPr>
                      <a:r>
                        <a:rPr lang="en-US" sz="1100" b="1" dirty="0">
                          <a:solidFill>
                            <a:srgbClr val="1F2937"/>
                          </a:solidFill>
                        </a:rPr>
                        <a:t>출시 </a:t>
                      </a:r>
                      <a:pPr indent="0" marL="0">
                        <a:buNone/>
                      </a:pPr>
                      <a:r>
                        <a:rPr lang="en-US" sz="1100" b="1" dirty="0">
                          <a:solidFill>
                            <a:srgbClr val="1F2937"/>
                          </a:solidFill>
                        </a:rPr>
                        <a:t>후보 </a:t>
                      </a:r>
                      <a:pPr indent="0" marL="0">
                        <a:buNone/>
                      </a:pPr>
                      <a:r>
                        <a:rPr lang="en-US" sz="1100" b="1" dirty="0">
                          <a:solidFill>
                            <a:srgbClr val="1F2937"/>
                          </a:solidFill>
                        </a:rPr>
                        <a:t>주간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후보 </a:t>
                      </a:r>
                      <a:pPr indent="0" marL="0">
                        <a:buNone/>
                      </a:pPr>
                      <a:r>
                        <a:rPr lang="en-US" sz="1100" dirty="0">
                          <a:solidFill>
                            <a:srgbClr val="1F2937"/>
                          </a:solidFill>
                        </a:rPr>
                        <a:t>빌드 </a:t>
                      </a:r>
                      <a:pPr indent="0" marL="0">
                        <a:buNone/>
                      </a:pPr>
                      <a:r>
                        <a:rPr lang="en-US" sz="1100" dirty="0">
                          <a:solidFill>
                            <a:srgbClr val="1F2937"/>
                          </a:solidFill>
                        </a:rPr>
                        <a:t>준비 </a:t>
                      </a:r>
                      <a:pPr indent="0" marL="0">
                        <a:buNone/>
                      </a:pPr>
                      <a:r>
                        <a:rPr lang="en-US" sz="1100" dirty="0">
                          <a:solidFill>
                            <a:srgbClr val="1F2937"/>
                          </a:solidFill>
                        </a:rPr>
                        <a:t>및 </a:t>
                      </a:r>
                      <a:pPr indent="0" marL="0">
                        <a:buNone/>
                      </a:pPr>
                      <a:r>
                        <a:rPr lang="en-US" sz="1100" dirty="0">
                          <a:solidFill>
                            <a:srgbClr val="1F2937"/>
                          </a:solidFill>
                        </a:rPr>
                        <a:t>심사 </a:t>
                      </a:r>
                      <a:pPr indent="0" marL="0">
                        <a:buNone/>
                      </a:pPr>
                      <a:r>
                        <a:rPr lang="en-US" sz="1100" dirty="0">
                          <a:solidFill>
                            <a:srgbClr val="1F2937"/>
                          </a:solidFill>
                        </a:rPr>
                        <a:t>대응. </a:t>
                      </a:r>
                      <a:pPr indent="0" marL="0">
                        <a:buNone/>
                      </a:pPr>
                      <a:r>
                        <a:rPr lang="en-US" sz="1100" dirty="0">
                          <a:solidFill>
                            <a:srgbClr val="1F2937"/>
                          </a:solidFill>
                        </a:rPr>
                        <a:t>공개일은 </a:t>
                      </a:r>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WP-015, </a:t>
                      </a:r>
                      <a:pPr indent="0" marL="0">
                        <a:buNone/>
                      </a:pPr>
                      <a:r>
                        <a:rPr lang="en-US" sz="1100" dirty="0">
                          <a:solidFill>
                            <a:srgbClr val="1F2937"/>
                          </a:solidFill>
                        </a:rPr>
                        <a:t>WP-016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이대표 </a:t>
                      </a:r>
                      <a:pPr indent="0" marL="0">
                        <a:buNone/>
                      </a:pPr>
                      <a:r>
                        <a:rPr lang="en-US" sz="1100" dirty="0">
                          <a:solidFill>
                            <a:srgbClr val="1F2937"/>
                          </a:solidFill>
                        </a:rPr>
                        <a:t>승인 </a:t>
                      </a:r>
                      <a:pPr indent="0" marL="0">
                        <a:buNone/>
                      </a:pPr>
                      <a:r>
                        <a:rPr lang="en-US" sz="1100" dirty="0">
                          <a:solidFill>
                            <a:srgbClr val="1F2937"/>
                          </a:solidFill>
                        </a:rPr>
                        <a:t>여부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M10: </a:t>
                      </a:r>
                      <a:pPr indent="0" marL="0">
                        <a:buNone/>
                      </a:pPr>
                      <a:r>
                        <a:rPr lang="en-US" sz="1100" b="1" dirty="0">
                          <a:solidFill>
                            <a:srgbClr val="1F2937"/>
                          </a:solidFill>
                        </a:rPr>
                        <a:t>심사 </a:t>
                      </a:r>
                      <a:pPr indent="0" marL="0">
                        <a:buNone/>
                      </a:pPr>
                      <a:r>
                        <a:rPr lang="en-US" sz="1100" b="1" dirty="0">
                          <a:solidFill>
                            <a:srgbClr val="1F2937"/>
                          </a:solidFill>
                        </a:rPr>
                        <a:t>완충 </a:t>
                      </a:r>
                      <a:pPr indent="0" marL="0">
                        <a:buNone/>
                      </a:pPr>
                      <a:r>
                        <a:rPr lang="en-US" sz="1100" b="1" dirty="0">
                          <a:solidFill>
                            <a:srgbClr val="1F2937"/>
                          </a:solidFill>
                        </a:rPr>
                        <a:t>종료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심사 </a:t>
                      </a:r>
                      <a:pPr indent="0" marL="0">
                        <a:buNone/>
                      </a:pPr>
                      <a:r>
                        <a:rPr lang="en-US" sz="1100" dirty="0">
                          <a:solidFill>
                            <a:srgbClr val="1F2937"/>
                          </a:solidFill>
                        </a:rPr>
                        <a:t>결과와 </a:t>
                      </a:r>
                      <a:pPr indent="0" marL="0">
                        <a:buNone/>
                      </a:pPr>
                      <a:r>
                        <a:rPr lang="en-US" sz="1100" dirty="0">
                          <a:solidFill>
                            <a:srgbClr val="1F2937"/>
                          </a:solidFill>
                        </a:rPr>
                        <a:t>베타 </a:t>
                      </a:r>
                      <a:pPr indent="0" marL="0">
                        <a:buNone/>
                      </a:pPr>
                      <a:r>
                        <a:rPr lang="en-US" sz="1100" dirty="0">
                          <a:solidFill>
                            <a:srgbClr val="1F2937"/>
                          </a:solidFill>
                        </a:rPr>
                        <a:t>검토 </a:t>
                      </a:r>
                      <a:pPr indent="0" marL="0">
                        <a:buNone/>
                      </a:pPr>
                      <a:r>
                        <a:rPr lang="en-US" sz="1100" dirty="0">
                          <a:solidFill>
                            <a:srgbClr val="1F2937"/>
                          </a:solidFill>
                        </a:rPr>
                        <a:t>후 </a:t>
                      </a:r>
                      <a:pPr indent="0" marL="0">
                        <a:buNone/>
                      </a:pPr>
                      <a:r>
                        <a:rPr lang="en-US" sz="1100" dirty="0">
                          <a:solidFill>
                            <a:srgbClr val="1F2937"/>
                          </a:solidFill>
                        </a:rPr>
                        <a:t>공개 </a:t>
                      </a:r>
                      <a:pPr indent="0" marL="0">
                        <a:buNone/>
                      </a:pPr>
                      <a:r>
                        <a:rPr lang="en-US" sz="1100" dirty="0">
                          <a:solidFill>
                            <a:srgbClr val="1F2937"/>
                          </a:solidFill>
                        </a:rPr>
                        <a:t>또는 </a:t>
                      </a:r>
                      <a:pPr indent="0" marL="0">
                        <a:buNone/>
                      </a:pPr>
                      <a:r>
                        <a:rPr lang="en-US" sz="1100" dirty="0">
                          <a:solidFill>
                            <a:srgbClr val="1F2937"/>
                          </a:solidFill>
                        </a:rPr>
                        <a:t>재제출 </a:t>
                      </a:r>
                      <a:pPr indent="0" marL="0">
                        <a:buNone/>
                      </a:pPr>
                      <a:r>
                        <a:rPr lang="en-US" sz="1100" dirty="0">
                          <a:solidFill>
                            <a:srgbClr val="1F2937"/>
                          </a:solidFill>
                        </a:rPr>
                        <a:t>일정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WP-015, </a:t>
                      </a:r>
                      <a:pPr indent="0" marL="0">
                        <a:buNone/>
                      </a:pPr>
                      <a:r>
                        <a:rPr lang="en-US" sz="1100" dirty="0">
                          <a:solidFill>
                            <a:srgbClr val="1F2937"/>
                          </a:solidFill>
                        </a:rPr>
                        <a:t>WP-016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승인자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 마일스톤</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"M5의 W4 기록 기능 알파는 회의 요약에 제시된 일정안입니다. 실제 범위·완료 기준과 다른 기능의 선행 완료 여부는 W2 일정 검토에서 확정해야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간트 차트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38948"/>
                <a:gridCol w="718019"/>
                <a:gridCol w="773251"/>
                <a:gridCol w="828483"/>
                <a:gridCol w="828483"/>
                <a:gridCol w="773251"/>
                <a:gridCol w="773251"/>
                <a:gridCol w="828483"/>
                <a:gridCol w="828483"/>
                <a:gridCol w="938948"/>
              </a:tblGrid>
              <a:tr h="0">
                <a:tc>
                  <a:txBody>
                    <a:bodyPr/>
                    <a:lstStyle/>
                    <a:p>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W1</a:t>
                      </a:r>
                      <a:endParaRPr lang="en-US" sz="1200" dirty="0"/>
                    </a:p>
                    <a:p>
                      <a:pPr indent="0" marL="0">
                        <a:buNone/>
                      </a:pPr>
                      <a:r>
                        <a:rPr lang="en-US" sz="1200" b="1" dirty="0">
                          <a:solidFill>
                            <a:srgbClr val="FFFFFF"/>
                          </a:solidFill>
                        </a:rPr>
                        <a:t>10/1~10/7</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W2</a:t>
                      </a:r>
                      <a:endParaRPr lang="en-US" sz="1200" dirty="0"/>
                    </a:p>
                    <a:p>
                      <a:pPr indent="0" marL="0">
                        <a:buNone/>
                      </a:pPr>
                      <a:r>
                        <a:rPr lang="en-US" sz="1200" b="1" dirty="0">
                          <a:solidFill>
                            <a:srgbClr val="FFFFFF"/>
                          </a:solidFill>
                        </a:rPr>
                        <a:t>10/8~10/14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W3</a:t>
                      </a:r>
                      <a:endParaRPr lang="en-US" sz="1200" dirty="0"/>
                    </a:p>
                    <a:p>
                      <a:pPr indent="0" marL="0">
                        <a:buNone/>
                      </a:pPr>
                      <a:r>
                        <a:rPr lang="en-US" sz="1200" b="1" dirty="0">
                          <a:solidFill>
                            <a:srgbClr val="FFFFFF"/>
                          </a:solidFill>
                        </a:rPr>
                        <a:t>10/15~10/21</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W4</a:t>
                      </a:r>
                      <a:endParaRPr lang="en-US" sz="1200" dirty="0"/>
                    </a:p>
                    <a:p>
                      <a:pPr indent="0" marL="0">
                        <a:buNone/>
                      </a:pPr>
                      <a:r>
                        <a:rPr lang="en-US" sz="1200" b="1" dirty="0">
                          <a:solidFill>
                            <a:srgbClr val="FFFFFF"/>
                          </a:solidFill>
                        </a:rPr>
                        <a:t>10/22~10/28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W5</a:t>
                      </a:r>
                      <a:endParaRPr lang="en-US" sz="1200" dirty="0"/>
                    </a:p>
                    <a:p>
                      <a:pPr indent="0" marL="0">
                        <a:buNone/>
                      </a:pPr>
                      <a:r>
                        <a:rPr lang="en-US" sz="1200" b="1" dirty="0">
                          <a:solidFill>
                            <a:srgbClr val="FFFFFF"/>
                          </a:solidFill>
                        </a:rPr>
                        <a:t>10/29~11/4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W6</a:t>
                      </a:r>
                      <a:endParaRPr lang="en-US" sz="1200" dirty="0"/>
                    </a:p>
                    <a:p>
                      <a:pPr indent="0" marL="0">
                        <a:buNone/>
                      </a:pPr>
                      <a:r>
                        <a:rPr lang="en-US" sz="1200" b="1" dirty="0">
                          <a:solidFill>
                            <a:srgbClr val="FFFFFF"/>
                          </a:solidFill>
                        </a:rPr>
                        <a:t>11/5~11/11</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W7</a:t>
                      </a:r>
                      <a:endParaRPr lang="en-US" sz="1200" dirty="0"/>
                    </a:p>
                    <a:p>
                      <a:pPr indent="0" marL="0">
                        <a:buNone/>
                      </a:pPr>
                      <a:r>
                        <a:rPr lang="en-US" sz="1200" b="1" dirty="0">
                          <a:solidFill>
                            <a:srgbClr val="FFFFFF"/>
                          </a:solidFill>
                        </a:rPr>
                        <a:t>11/12~11/18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W8</a:t>
                      </a:r>
                      <a:endParaRPr lang="en-US" sz="1200" dirty="0"/>
                    </a:p>
                    <a:p>
                      <a:pPr indent="0" marL="0">
                        <a:buNone/>
                      </a:pPr>
                      <a:r>
                        <a:rPr lang="en-US" sz="1200" b="1" dirty="0">
                          <a:solidFill>
                            <a:srgbClr val="FFFFFF"/>
                          </a:solidFill>
                        </a:rPr>
                        <a:t>11/19~11/25</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W9 </a:t>
                      </a:r>
                      <a:pPr indent="0" marL="0">
                        <a:buNone/>
                      </a:pPr>
                      <a:r>
                        <a:rPr lang="en-US" sz="1200" b="1" dirty="0">
                          <a:solidFill>
                            <a:srgbClr val="FFFFFF"/>
                          </a:solidFill>
                        </a:rPr>
                        <a:t>완충</a:t>
                      </a:r>
                      <a:endParaRPr lang="en-US" sz="1200" dirty="0"/>
                    </a:p>
                    <a:p>
                      <a:pPr indent="0" marL="0">
                        <a:buNone/>
                      </a:pPr>
                      <a:r>
                        <a:rPr lang="en-US" sz="1200" b="1" dirty="0">
                          <a:solidFill>
                            <a:srgbClr val="FFFFFF"/>
                          </a:solidFill>
                        </a:rPr>
                        <a:t>11/26~12/2</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프로젝트 </a:t>
                      </a:r>
                      <a:pPr indent="0" marL="0">
                        <a:buNone/>
                      </a:pPr>
                      <a:r>
                        <a:rPr lang="en-US" sz="1100" dirty="0">
                          <a:solidFill>
                            <a:srgbClr val="1F2937"/>
                          </a:solidFill>
                        </a:rPr>
                        <a:t>관리·운영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사용자 </a:t>
                      </a:r>
                      <a:pPr indent="0" marL="0">
                        <a:buNone/>
                      </a:pPr>
                      <a:r>
                        <a:rPr lang="en-US" sz="1100" dirty="0">
                          <a:solidFill>
                            <a:srgbClr val="1F2937"/>
                          </a:solidFill>
                        </a:rPr>
                        <a:t>조사·요구사항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식품 </a:t>
                      </a:r>
                      <a:pPr indent="0" marL="0">
                        <a:buNone/>
                      </a:pPr>
                      <a:r>
                        <a:rPr lang="en-US" sz="1100" dirty="0">
                          <a:solidFill>
                            <a:srgbClr val="1F2937"/>
                          </a:solidFill>
                        </a:rPr>
                        <a:t>API·인증·개인정보 </a:t>
                      </a:r>
                      <a:pPr indent="0" marL="0">
                        <a:buNone/>
                      </a:pPr>
                      <a:r>
                        <a:rPr lang="en-US" sz="1100" dirty="0">
                          <a:solidFill>
                            <a:srgbClr val="1F2937"/>
                          </a:solidFill>
                        </a:rPr>
                        <a:t>조사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화면·디자인 </a:t>
                      </a:r>
                      <a:pPr indent="0" marL="0">
                        <a:buNone/>
                      </a:pPr>
                      <a:r>
                        <a:rPr lang="en-US" sz="1100" dirty="0">
                          <a:solidFill>
                            <a:srgbClr val="1F2937"/>
                          </a:solidFill>
                        </a:rPr>
                        <a:t>시스템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데이터·API·보안 </a:t>
                      </a:r>
                      <a:pPr indent="0" marL="0">
                        <a:buNone/>
                      </a:pPr>
                      <a:r>
                        <a:rPr lang="en-US" sz="1100" dirty="0">
                          <a:solidFill>
                            <a:srgbClr val="1F2937"/>
                          </a:solidFill>
                        </a:rPr>
                        <a:t>설계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앱 </a:t>
                      </a:r>
                      <a:pPr indent="0" marL="0">
                        <a:buNone/>
                      </a:pPr>
                      <a:r>
                        <a:rPr lang="en-US" sz="1100" dirty="0">
                          <a:solidFill>
                            <a:srgbClr val="1F2937"/>
                          </a:solidFill>
                        </a:rPr>
                        <a:t>기반·공통 </a:t>
                      </a:r>
                      <a:pPr indent="0" marL="0">
                        <a:buNone/>
                      </a:pPr>
                      <a:r>
                        <a:rPr lang="en-US" sz="1100" dirty="0">
                          <a:solidFill>
                            <a:srgbClr val="1F2937"/>
                          </a:solidFill>
                        </a:rPr>
                        <a:t>요소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인증·온보딩·설정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검색·직접 </a:t>
                      </a:r>
                      <a:pPr indent="0" marL="0">
                        <a:buNone/>
                      </a:pPr>
                      <a:r>
                        <a:rPr lang="en-US" sz="1100" dirty="0">
                          <a:solidFill>
                            <a:srgbClr val="1F2937"/>
                          </a:solidFill>
                        </a:rPr>
                        <a:t>입력·즐겨찾기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기록·홈·날짜별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주간 </a:t>
                      </a:r>
                      <a:pPr indent="0" marL="0">
                        <a:buNone/>
                      </a:pPr>
                      <a:r>
                        <a:rPr lang="en-US" sz="1100" dirty="0">
                          <a:solidFill>
                            <a:srgbClr val="1F2937"/>
                          </a:solidFill>
                        </a:rPr>
                        <a:t>리포트·기록 </a:t>
                      </a:r>
                      <a:pPr indent="0" marL="0">
                        <a:buNone/>
                      </a:pPr>
                      <a:r>
                        <a:rPr lang="en-US" sz="1100" dirty="0">
                          <a:solidFill>
                            <a:srgbClr val="1F2937"/>
                          </a:solidFill>
                        </a:rPr>
                        <a:t>알림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사진 </a:t>
                      </a:r>
                      <a:pPr indent="0" marL="0">
                        <a:buNone/>
                      </a:pPr>
                      <a:r>
                        <a:rPr lang="en-US" sz="1100" dirty="0">
                          <a:solidFill>
                            <a:srgbClr val="1F2937"/>
                          </a:solidFill>
                        </a:rPr>
                        <a:t>한 </a:t>
                      </a:r>
                      <a:pPr indent="0" marL="0">
                        <a:buNone/>
                      </a:pPr>
                      <a:r>
                        <a:rPr lang="en-US" sz="1100" dirty="0">
                          <a:solidFill>
                            <a:srgbClr val="1F2937"/>
                          </a:solidFill>
                        </a:rPr>
                        <a:t>장 </a:t>
                      </a:r>
                      <a:pPr indent="0" marL="0">
                        <a:buNone/>
                      </a:pPr>
                      <a:r>
                        <a:rPr lang="en-US" sz="1100" dirty="0">
                          <a:solidFill>
                            <a:srgbClr val="1F2937"/>
                          </a:solidFill>
                        </a:rPr>
                        <a:t>첨부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간트 차트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85800"/>
                <a:gridCol w="742950"/>
                <a:gridCol w="800100"/>
                <a:gridCol w="857250"/>
                <a:gridCol w="857250"/>
                <a:gridCol w="800100"/>
                <a:gridCol w="800100"/>
                <a:gridCol w="857250"/>
                <a:gridCol w="857250"/>
                <a:gridCol w="971550"/>
              </a:tblGrid>
              <a:tr h="0">
                <a:tc>
                  <a:txBody>
                    <a:bodyPr/>
                    <a:lstStyle/>
                    <a:p>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W1</a:t>
                      </a:r>
                      <a:endParaRPr lang="en-US" sz="1200" dirty="0"/>
                    </a:p>
                    <a:p>
                      <a:pPr indent="0" marL="0">
                        <a:buNone/>
                      </a:pPr>
                      <a:r>
                        <a:rPr lang="en-US" sz="1200" b="1" dirty="0">
                          <a:solidFill>
                            <a:srgbClr val="FFFFFF"/>
                          </a:solidFill>
                        </a:rPr>
                        <a:t>10/1~10/7</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W2</a:t>
                      </a:r>
                      <a:endParaRPr lang="en-US" sz="1200" dirty="0"/>
                    </a:p>
                    <a:p>
                      <a:pPr indent="0" marL="0">
                        <a:buNone/>
                      </a:pPr>
                      <a:r>
                        <a:rPr lang="en-US" sz="1200" b="1" dirty="0">
                          <a:solidFill>
                            <a:srgbClr val="FFFFFF"/>
                          </a:solidFill>
                        </a:rPr>
                        <a:t>10/8~10/14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W3</a:t>
                      </a:r>
                      <a:endParaRPr lang="en-US" sz="1200" dirty="0"/>
                    </a:p>
                    <a:p>
                      <a:pPr indent="0" marL="0">
                        <a:buNone/>
                      </a:pPr>
                      <a:r>
                        <a:rPr lang="en-US" sz="1200" b="1" dirty="0">
                          <a:solidFill>
                            <a:srgbClr val="FFFFFF"/>
                          </a:solidFill>
                        </a:rPr>
                        <a:t>10/15~10/21</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W4</a:t>
                      </a:r>
                      <a:endParaRPr lang="en-US" sz="1200" dirty="0"/>
                    </a:p>
                    <a:p>
                      <a:pPr indent="0" marL="0">
                        <a:buNone/>
                      </a:pPr>
                      <a:r>
                        <a:rPr lang="en-US" sz="1200" b="1" dirty="0">
                          <a:solidFill>
                            <a:srgbClr val="FFFFFF"/>
                          </a:solidFill>
                        </a:rPr>
                        <a:t>10/22~10/28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W5</a:t>
                      </a:r>
                      <a:endParaRPr lang="en-US" sz="1200" dirty="0"/>
                    </a:p>
                    <a:p>
                      <a:pPr indent="0" marL="0">
                        <a:buNone/>
                      </a:pPr>
                      <a:r>
                        <a:rPr lang="en-US" sz="1200" b="1" dirty="0">
                          <a:solidFill>
                            <a:srgbClr val="FFFFFF"/>
                          </a:solidFill>
                        </a:rPr>
                        <a:t>10/29~11/4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W6</a:t>
                      </a:r>
                      <a:endParaRPr lang="en-US" sz="1200" dirty="0"/>
                    </a:p>
                    <a:p>
                      <a:pPr indent="0" marL="0">
                        <a:buNone/>
                      </a:pPr>
                      <a:r>
                        <a:rPr lang="en-US" sz="1200" b="1" dirty="0">
                          <a:solidFill>
                            <a:srgbClr val="FFFFFF"/>
                          </a:solidFill>
                        </a:rPr>
                        <a:t>11/5~11/11</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W7</a:t>
                      </a:r>
                      <a:endParaRPr lang="en-US" sz="1200" dirty="0"/>
                    </a:p>
                    <a:p>
                      <a:pPr indent="0" marL="0">
                        <a:buNone/>
                      </a:pPr>
                      <a:r>
                        <a:rPr lang="en-US" sz="1200" b="1" dirty="0">
                          <a:solidFill>
                            <a:srgbClr val="FFFFFF"/>
                          </a:solidFill>
                        </a:rPr>
                        <a:t>11/12~11/18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W8</a:t>
                      </a:r>
                      <a:endParaRPr lang="en-US" sz="1200" dirty="0"/>
                    </a:p>
                    <a:p>
                      <a:pPr indent="0" marL="0">
                        <a:buNone/>
                      </a:pPr>
                      <a:r>
                        <a:rPr lang="en-US" sz="1200" b="1" dirty="0">
                          <a:solidFill>
                            <a:srgbClr val="FFFFFF"/>
                          </a:solidFill>
                        </a:rPr>
                        <a:t>11/19~11/25</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W9 </a:t>
                      </a:r>
                      <a:pPr indent="0" marL="0">
                        <a:buNone/>
                      </a:pPr>
                      <a:r>
                        <a:rPr lang="en-US" sz="1200" b="1" dirty="0">
                          <a:solidFill>
                            <a:srgbClr val="FFFFFF"/>
                          </a:solidFill>
                        </a:rPr>
                        <a:t>완충</a:t>
                      </a:r>
                      <a:endParaRPr lang="en-US" sz="1200" dirty="0"/>
                    </a:p>
                    <a:p>
                      <a:pPr indent="0" marL="0">
                        <a:buNone/>
                      </a:pPr>
                      <a:r>
                        <a:rPr lang="en-US" sz="1200" b="1" dirty="0">
                          <a:solidFill>
                            <a:srgbClr val="FFFFFF"/>
                          </a:solidFill>
                        </a:rPr>
                        <a:t>11/26~12/2</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단위·통합·기기 </a:t>
                      </a:r>
                      <a:pPr indent="0" marL="0">
                        <a:buNone/>
                      </a:pPr>
                      <a:r>
                        <a:rPr lang="en-US" sz="1100" dirty="0">
                          <a:solidFill>
                            <a:srgbClr val="1F2937"/>
                          </a:solidFill>
                        </a:rPr>
                        <a:t>시험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프로토타입 </a:t>
                      </a:r>
                      <a:pPr indent="0" marL="0">
                        <a:buNone/>
                      </a:pPr>
                      <a:r>
                        <a:rPr lang="en-US" sz="1100" dirty="0">
                          <a:solidFill>
                            <a:srgbClr val="1F2937"/>
                          </a:solidFill>
                        </a:rPr>
                        <a:t>시험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베타 </a:t>
                      </a:r>
                      <a:pPr indent="0" marL="0">
                        <a:buNone/>
                      </a:pPr>
                      <a:r>
                        <a:rPr lang="en-US" sz="1100" dirty="0">
                          <a:solidFill>
                            <a:srgbClr val="1F2937"/>
                          </a:solidFill>
                        </a:rPr>
                        <a:t>시험·결함 </a:t>
                      </a:r>
                      <a:pPr indent="0" marL="0">
                        <a:buNone/>
                      </a:pPr>
                      <a:r>
                        <a:rPr lang="en-US" sz="1100" dirty="0">
                          <a:solidFill>
                            <a:srgbClr val="1F2937"/>
                          </a:solidFill>
                        </a:rPr>
                        <a:t>수정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스토어 </a:t>
                      </a:r>
                      <a:pPr indent="0" marL="0">
                        <a:buNone/>
                      </a:pPr>
                      <a:r>
                        <a:rPr lang="en-US" sz="1100" dirty="0">
                          <a:solidFill>
                            <a:srgbClr val="1F2937"/>
                          </a:solidFill>
                        </a:rPr>
                        <a:t>제출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스토어 </a:t>
                      </a:r>
                      <a:pPr indent="0" marL="0">
                        <a:buNone/>
                      </a:pPr>
                      <a:r>
                        <a:rPr lang="en-US" sz="1100" dirty="0">
                          <a:solidFill>
                            <a:srgbClr val="1F2937"/>
                          </a:solidFill>
                        </a:rPr>
                        <a:t>심사·공개 </a:t>
                      </a:r>
                      <a:pPr indent="0" marL="0">
                        <a:buNone/>
                      </a:pPr>
                      <a:r>
                        <a:rPr lang="en-US" sz="1100" dirty="0">
                          <a:solidFill>
                            <a:srgbClr val="1F2937"/>
                          </a:solidFill>
                        </a:rPr>
                        <a:t>판단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간트 차트</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범례:</a:t>
            </a:r>
            <a:pPr indent="0" marL="0">
              <a:spcAft>
                <a:spcPts val="800"/>
              </a:spcAft>
              <a:buNone/>
            </a:pPr>
            <a:r>
              <a:rPr lang="en-US" sz="1600" dirty="0">
                <a:solidFill>
                  <a:srgbClr val="4B5563"/>
                </a:solidFill>
              </a:rPr>
              <a:t> █ 계획된 작업 기간, △ 승인·일정 여건에 따라 수행하는 조건부 작업.</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일정 검산 및 통제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요구사항과 기술 조사, 화면 설계를 W1부터 병렬로 진행합니다.</a:t>
            </a:r>
            <a:endParaRPr lang="en-US" sz="1600" dirty="0"/>
          </a:p>
          <a:p>
            <a:pPr indent="0" marL="0">
              <a:spcAft>
                <a:spcPts val="800"/>
              </a:spcAft>
              <a:buNone/>
            </a:pPr>
            <a:r>
              <a:rPr lang="en-US" sz="1600" dirty="0">
                <a:solidFill>
                  <a:srgbClr val="4B5563"/>
                </a:solidFill>
              </a:rPr>
              <a:t>· W2 말까지 핵심 화면과 데이터·API 골격을 확정한 뒤 W3부터 검색·기록 본개발을 진행합니다.</a:t>
            </a:r>
            <a:endParaRPr lang="en-US" sz="1600" dirty="0"/>
          </a:p>
          <a:p>
            <a:pPr indent="0" marL="0">
              <a:spcAft>
                <a:spcPts val="800"/>
              </a:spcAft>
              <a:buNone/>
            </a:pPr>
            <a:r>
              <a:rPr lang="en-US" sz="1600" dirty="0">
                <a:solidFill>
                  <a:srgbClr val="4B5563"/>
                </a:solidFill>
              </a:rPr>
              <a:t>· W6 초 기능 동결 뒤 통합 시험과 결함 수정에 집중합니다.</a:t>
            </a:r>
            <a:endParaRPr lang="en-US" sz="1600" dirty="0"/>
          </a:p>
          <a:p>
            <a:pPr indent="0" marL="0">
              <a:spcAft>
                <a:spcPts val="800"/>
              </a:spcAft>
              <a:buNone/>
            </a:pPr>
            <a:r>
              <a:rPr lang="en-US" sz="1600" dirty="0">
                <a:solidFill>
                  <a:srgbClr val="4B5563"/>
                </a:solidFill>
              </a:rPr>
              <a:t>· 베타 빌드는 W7 초반, 스토어 제출은 W7 말 목표로 배치합니다.</a:t>
            </a:r>
            <a:endParaRPr lang="en-US" sz="1600" dirty="0"/>
          </a:p>
          <a:p>
            <a:pPr indent="0" marL="0">
              <a:spcAft>
                <a:spcPts val="800"/>
              </a:spcAft>
              <a:buNone/>
            </a:pPr>
            <a:r>
              <a:rPr lang="en-US" sz="1600" dirty="0">
                <a:solidFill>
                  <a:srgbClr val="4B5563"/>
                </a:solidFill>
              </a:rPr>
              <a:t>· 공개는 심사 결과 전 확정하지 않으며 W9를 완충으로 둡니다.</a:t>
            </a:r>
            <a:endParaRPr lang="en-US" sz="1600" dirty="0"/>
          </a:p>
          <a:p>
            <a:pPr indent="0" marL="0">
              <a:spcAft>
                <a:spcPts val="800"/>
              </a:spcAft>
              <a:buNone/>
            </a:pPr>
            <a:r>
              <a:rPr lang="en-US" sz="1600" dirty="0">
                <a:solidFill>
                  <a:srgbClr val="4B5563"/>
                </a:solidFill>
              </a:rPr>
              <a:t>· 식품 API가 W2 화요일까지 미정이면 출시 위험으로 상향하고, 임시 자료 개발과 범위 축소 여부를 결정합니다.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일정 검산 및 통제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자동 칼로리 목표의 안전 기준을 정해진 확인 시점까지 확보하지 못하면 해당 기능을 제외합니다.</a:t>
            </a:r>
            <a:endParaRPr lang="en-US" sz="1600" dirty="0"/>
          </a:p>
          <a:p>
            <a:pPr indent="0" marL="0">
              <a:spcAft>
                <a:spcPts val="800"/>
              </a:spcAft>
              <a:buNone/>
            </a:pPr>
            <a:r>
              <a:rPr lang="en-US" sz="1600" dirty="0">
                <a:solidFill>
                  <a:srgbClr val="4B5563"/>
                </a:solidFill>
              </a:rPr>
              <a:t>· 사진 첨부는 포함·제외 결정이 상충하므로 승인 전 핵심 일정의 선행 조건으로 두지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리스크 관리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70263"/>
                <a:gridCol w="1802674"/>
                <a:gridCol w="470263"/>
                <a:gridCol w="470263"/>
                <a:gridCol w="2821577"/>
                <a:gridCol w="1567543"/>
                <a:gridCol w="627017"/>
              </a:tblGrid>
              <a:tr h="0">
                <a:tc>
                  <a:txBody>
                    <a:bodyPr/>
                    <a:lstStyle/>
                    <a:p>
                      <a:pPr indent="0" marL="0">
                        <a:buNone/>
                      </a:pPr>
                      <a:r>
                        <a:rPr lang="en-US" sz="1200" b="1" dirty="0">
                          <a:solidFill>
                            <a:srgbClr val="FFFFFF"/>
                          </a:solidFill>
                        </a:rPr>
                        <a:t>리스크 </a:t>
                      </a:r>
                      <a:pPr indent="0" marL="0">
                        <a:buNone/>
                      </a:pPr>
                      <a:r>
                        <a:rPr lang="en-US" sz="1200" b="1" dirty="0">
                          <a:solidFill>
                            <a:srgbClr val="FFFFFF"/>
                          </a:solidFill>
                        </a:rPr>
                        <a:t>ID</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리스크명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영향도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발생 </a:t>
                      </a:r>
                      <a:pPr indent="0" marL="0">
                        <a:buNone/>
                      </a:pPr>
                      <a:r>
                        <a:rPr lang="en-US" sz="1200" b="1" dirty="0">
                          <a:solidFill>
                            <a:srgbClr val="FFFFFF"/>
                          </a:solidFill>
                        </a:rPr>
                        <a:t>가능성</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대응 </a:t>
                      </a:r>
                      <a:pPr indent="0" marL="0">
                        <a:buNone/>
                      </a:pPr>
                      <a:r>
                        <a:rPr lang="en-US" sz="1200" b="1" dirty="0">
                          <a:solidFill>
                            <a:srgbClr val="FFFFFF"/>
                          </a:solidFill>
                        </a:rPr>
                        <a:t>전략</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R-001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식품 </a:t>
                      </a:r>
                      <a:pPr indent="0" marL="0">
                        <a:buNone/>
                      </a:pPr>
                      <a:r>
                        <a:rPr lang="en-US" sz="1100" dirty="0">
                          <a:solidFill>
                            <a:srgbClr val="1F2937"/>
                          </a:solidFill>
                        </a:rPr>
                        <a:t>데이터 </a:t>
                      </a:r>
                      <a:pPr indent="0" marL="0">
                        <a:buNone/>
                      </a:pPr>
                      <a:r>
                        <a:rPr lang="en-US" sz="1100" dirty="0">
                          <a:solidFill>
                            <a:srgbClr val="1F2937"/>
                          </a:solidFill>
                        </a:rPr>
                        <a:t>공급처·사용권 </a:t>
                      </a:r>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W1 </a:t>
                      </a:r>
                      <a:pPr indent="0" marL="0">
                        <a:buNone/>
                      </a:pPr>
                      <a:r>
                        <a:rPr lang="en-US" sz="1100" dirty="0">
                          <a:solidFill>
                            <a:srgbClr val="1F2937"/>
                          </a:solidFill>
                        </a:rPr>
                        <a:t>금요일까지 </a:t>
                      </a:r>
                      <a:pPr indent="0" marL="0">
                        <a:buNone/>
                      </a:pPr>
                      <a:r>
                        <a:rPr lang="en-US" sz="1100" dirty="0">
                          <a:solidFill>
                            <a:srgbClr val="1F2937"/>
                          </a:solidFill>
                        </a:rPr>
                        <a:t>샘플·계약 </a:t>
                      </a:r>
                      <a:pPr indent="0" marL="0">
                        <a:buNone/>
                      </a:pPr>
                      <a:r>
                        <a:rPr lang="en-US" sz="1100" dirty="0">
                          <a:solidFill>
                            <a:srgbClr val="1F2937"/>
                          </a:solidFill>
                        </a:rPr>
                        <a:t>조건을 </a:t>
                      </a:r>
                      <a:pPr indent="0" marL="0">
                        <a:buNone/>
                      </a:pPr>
                      <a:r>
                        <a:rPr lang="en-US" sz="1100" dirty="0">
                          <a:solidFill>
                            <a:srgbClr val="1F2937"/>
                          </a:solidFill>
                        </a:rPr>
                        <a:t>확인하고, </a:t>
                      </a:r>
                      <a:pPr indent="0" marL="0">
                        <a:buNone/>
                      </a:pPr>
                      <a:r>
                        <a:rPr lang="en-US" sz="1100" dirty="0">
                          <a:solidFill>
                            <a:srgbClr val="1F2937"/>
                          </a:solidFill>
                        </a:rPr>
                        <a:t>미확정 </a:t>
                      </a:r>
                      <a:pPr indent="0" marL="0">
                        <a:buNone/>
                      </a:pPr>
                      <a:r>
                        <a:rPr lang="en-US" sz="1100" dirty="0">
                          <a:solidFill>
                            <a:srgbClr val="1F2937"/>
                          </a:solidFill>
                        </a:rPr>
                        <a:t>시 </a:t>
                      </a:r>
                      <a:pPr indent="0" marL="0">
                        <a:buNone/>
                      </a:pPr>
                      <a:r>
                        <a:rPr lang="en-US" sz="1100" dirty="0">
                          <a:solidFill>
                            <a:srgbClr val="1F2937"/>
                          </a:solidFill>
                        </a:rPr>
                        <a:t>임시 </a:t>
                      </a:r>
                      <a:pPr indent="0" marL="0">
                        <a:buNone/>
                      </a:pPr>
                      <a:r>
                        <a:rPr lang="en-US" sz="1100" dirty="0">
                          <a:solidFill>
                            <a:srgbClr val="1F2937"/>
                          </a:solidFill>
                        </a:rPr>
                        <a:t>시험 </a:t>
                      </a:r>
                      <a:pPr indent="0" marL="0">
                        <a:buNone/>
                      </a:pPr>
                      <a:r>
                        <a:rPr lang="en-US" sz="1100" dirty="0">
                          <a:solidFill>
                            <a:srgbClr val="1F2937"/>
                          </a:solidFill>
                        </a:rPr>
                        <a:t>자료로 </a:t>
                      </a:r>
                      <a:pPr indent="0" marL="0">
                        <a:buNone/>
                      </a:pPr>
                      <a:r>
                        <a:rPr lang="en-US" sz="1100" dirty="0">
                          <a:solidFill>
                            <a:srgbClr val="1F2937"/>
                          </a:solidFill>
                        </a:rPr>
                        <a:t>개발합니다. </a:t>
                      </a:r>
                      <a:pPr indent="0" marL="0">
                        <a:buNone/>
                      </a:pPr>
                      <a:r>
                        <a:rPr lang="en-US" sz="1100" dirty="0">
                          <a:solidFill>
                            <a:srgbClr val="1F2937"/>
                          </a:solidFill>
                        </a:rPr>
                        <a:t>W2 </a:t>
                      </a:r>
                      <a:pPr indent="0" marL="0">
                        <a:buNone/>
                      </a:pPr>
                      <a:r>
                        <a:rPr lang="en-US" sz="1100" dirty="0">
                          <a:solidFill>
                            <a:srgbClr val="1F2937"/>
                          </a:solidFill>
                        </a:rPr>
                        <a:t>화요일까지 </a:t>
                      </a:r>
                      <a:pPr indent="0" marL="0">
                        <a:buNone/>
                      </a:pPr>
                      <a:r>
                        <a:rPr lang="en-US" sz="1100" dirty="0">
                          <a:solidFill>
                            <a:srgbClr val="1F2937"/>
                          </a:solidFill>
                        </a:rPr>
                        <a:t>미정이면 </a:t>
                      </a:r>
                      <a:pPr indent="0" marL="0">
                        <a:buNone/>
                      </a:pPr>
                      <a:r>
                        <a:rPr lang="en-US" sz="1100" dirty="0">
                          <a:solidFill>
                            <a:srgbClr val="1F2937"/>
                          </a:solidFill>
                        </a:rPr>
                        <a:t>일정 </a:t>
                      </a:r>
                      <a:pPr indent="0" marL="0">
                        <a:buNone/>
                      </a:pPr>
                      <a:r>
                        <a:rPr lang="en-US" sz="1100" dirty="0">
                          <a:solidFill>
                            <a:srgbClr val="1F2937"/>
                          </a:solidFill>
                        </a:rPr>
                        <a:t>위험으로 </a:t>
                      </a:r>
                      <a:pPr indent="0" marL="0">
                        <a:buNone/>
                      </a:pPr>
                      <a:r>
                        <a:rPr lang="en-US" sz="1100" dirty="0">
                          <a:solidFill>
                            <a:srgbClr val="1F2937"/>
                          </a:solidFill>
                        </a:rPr>
                        <a:t>올립니다.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진행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R-002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국내 </a:t>
                      </a:r>
                      <a:pPr indent="0" marL="0">
                        <a:buNone/>
                      </a:pPr>
                      <a:r>
                        <a:rPr lang="en-US" sz="1100" dirty="0">
                          <a:solidFill>
                            <a:srgbClr val="1F2937"/>
                          </a:solidFill>
                        </a:rPr>
                        <a:t>음식·브랜드 </a:t>
                      </a:r>
                      <a:pPr indent="0" marL="0">
                        <a:buNone/>
                      </a:pPr>
                      <a:r>
                        <a:rPr lang="en-US" sz="1100" dirty="0">
                          <a:solidFill>
                            <a:srgbClr val="1F2937"/>
                          </a:solidFill>
                        </a:rPr>
                        <a:t>검색 </a:t>
                      </a:r>
                      <a:pPr indent="0" marL="0">
                        <a:buNone/>
                      </a:pPr>
                      <a:r>
                        <a:rPr lang="en-US" sz="1100" dirty="0">
                          <a:solidFill>
                            <a:srgbClr val="1F2937"/>
                          </a:solidFill>
                        </a:rPr>
                        <a:t>품질 </a:t>
                      </a:r>
                      <a:pPr indent="0" marL="0">
                        <a:buNone/>
                      </a:pPr>
                      <a:r>
                        <a:rPr lang="en-US" sz="1100" dirty="0">
                          <a:solidFill>
                            <a:srgbClr val="1F2937"/>
                          </a:solidFill>
                        </a:rPr>
                        <a:t>부족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대표 </a:t>
                      </a:r>
                      <a:pPr indent="0" marL="0">
                        <a:buNone/>
                      </a:pPr>
                      <a:r>
                        <a:rPr lang="en-US" sz="1100" dirty="0">
                          <a:solidFill>
                            <a:srgbClr val="1F2937"/>
                          </a:solidFill>
                        </a:rPr>
                        <a:t>메뉴 </a:t>
                      </a:r>
                      <a:pPr indent="0" marL="0">
                        <a:buNone/>
                      </a:pPr>
                      <a:r>
                        <a:rPr lang="en-US" sz="1100" dirty="0">
                          <a:solidFill>
                            <a:srgbClr val="1F2937"/>
                          </a:solidFill>
                        </a:rPr>
                        <a:t>50개·브랜드 </a:t>
                      </a:r>
                      <a:pPr indent="0" marL="0">
                        <a:buNone/>
                      </a:pPr>
                      <a:r>
                        <a:rPr lang="en-US" sz="1100" dirty="0">
                          <a:solidFill>
                            <a:srgbClr val="1F2937"/>
                          </a:solidFill>
                        </a:rPr>
                        <a:t>상품 </a:t>
                      </a:r>
                      <a:pPr indent="0" marL="0">
                        <a:buNone/>
                      </a:pPr>
                      <a:r>
                        <a:rPr lang="en-US" sz="1100" dirty="0">
                          <a:solidFill>
                            <a:srgbClr val="1F2937"/>
                          </a:solidFill>
                        </a:rPr>
                        <a:t>20개 </a:t>
                      </a:r>
                      <a:pPr indent="0" marL="0">
                        <a:buNone/>
                      </a:pPr>
                      <a:r>
                        <a:rPr lang="en-US" sz="1100" dirty="0">
                          <a:solidFill>
                            <a:srgbClr val="1F2937"/>
                          </a:solidFill>
                        </a:rPr>
                        <a:t>시험 </a:t>
                      </a:r>
                      <a:pPr indent="0" marL="0">
                        <a:buNone/>
                      </a:pPr>
                      <a:r>
                        <a:rPr lang="en-US" sz="1100" dirty="0">
                          <a:solidFill>
                            <a:srgbClr val="1F2937"/>
                          </a:solidFill>
                        </a:rPr>
                        <a:t>자료로 </a:t>
                      </a:r>
                      <a:pPr indent="0" marL="0">
                        <a:buNone/>
                      </a:pPr>
                      <a:r>
                        <a:rPr lang="en-US" sz="1100" dirty="0">
                          <a:solidFill>
                            <a:srgbClr val="1F2937"/>
                          </a:solidFill>
                        </a:rPr>
                        <a:t>미발견·오매칭을 </a:t>
                      </a:r>
                      <a:pPr indent="0" marL="0">
                        <a:buNone/>
                      </a:pPr>
                      <a:r>
                        <a:rPr lang="en-US" sz="1100" dirty="0">
                          <a:solidFill>
                            <a:srgbClr val="1F2937"/>
                          </a:solidFill>
                        </a:rPr>
                        <a:t>확인하고, </a:t>
                      </a:r>
                      <a:pPr indent="0" marL="0">
                        <a:buNone/>
                      </a:pPr>
                      <a:r>
                        <a:rPr lang="en-US" sz="1100" dirty="0">
                          <a:solidFill>
                            <a:srgbClr val="1F2937"/>
                          </a:solidFill>
                        </a:rPr>
                        <a:t>직접 </a:t>
                      </a:r>
                      <a:pPr indent="0" marL="0">
                        <a:buNone/>
                      </a:pPr>
                      <a:r>
                        <a:rPr lang="en-US" sz="1100" dirty="0">
                          <a:solidFill>
                            <a:srgbClr val="1F2937"/>
                          </a:solidFill>
                        </a:rPr>
                        <a:t>입력·최근 </a:t>
                      </a:r>
                      <a:pPr indent="0" marL="0">
                        <a:buNone/>
                      </a:pPr>
                      <a:r>
                        <a:rPr lang="en-US" sz="1100" dirty="0">
                          <a:solidFill>
                            <a:srgbClr val="1F2937"/>
                          </a:solidFill>
                        </a:rPr>
                        <a:t>기록을 </a:t>
                      </a:r>
                      <a:pPr indent="0" marL="0">
                        <a:buNone/>
                      </a:pPr>
                      <a:r>
                        <a:rPr lang="en-US" sz="1100" dirty="0">
                          <a:solidFill>
                            <a:srgbClr val="1F2937"/>
                          </a:solidFill>
                        </a:rPr>
                        <a:t>대안으로 </a:t>
                      </a:r>
                      <a:pPr indent="0" marL="0">
                        <a:buNone/>
                      </a:pPr>
                      <a:r>
                        <a:rPr lang="en-US" sz="1100" dirty="0">
                          <a:solidFill>
                            <a:srgbClr val="1F2937"/>
                          </a:solidFill>
                        </a:rPr>
                        <a:t>제공합니다.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진행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검색어의 </a:t>
                      </a:r>
                      <a:pPr indent="0" marL="0">
                        <a:buNone/>
                      </a:pPr>
                      <a:r>
                        <a:rPr lang="en-US" sz="1100" dirty="0">
                          <a:solidFill>
                            <a:srgbClr val="1F2937"/>
                          </a:solidFill>
                        </a:rPr>
                        <a:t>외부 </a:t>
                      </a:r>
                      <a:pPr indent="0" marL="0">
                        <a:buNone/>
                      </a:pPr>
                      <a:r>
                        <a:rPr lang="en-US" sz="1100" dirty="0">
                          <a:solidFill>
                            <a:srgbClr val="1F2937"/>
                          </a:solidFill>
                        </a:rPr>
                        <a:t>업체 </a:t>
                      </a:r>
                      <a:pPr indent="0" marL="0">
                        <a:buNone/>
                      </a:pPr>
                      <a:r>
                        <a:rPr lang="en-US" sz="1100" dirty="0">
                          <a:solidFill>
                            <a:srgbClr val="1F2937"/>
                          </a:solidFill>
                        </a:rPr>
                        <a:t>처리 </a:t>
                      </a:r>
                      <a:pPr indent="0" marL="0">
                        <a:buNone/>
                      </a:pPr>
                      <a:r>
                        <a:rPr lang="en-US" sz="1100" dirty="0">
                          <a:solidFill>
                            <a:srgbClr val="1F2937"/>
                          </a:solidFill>
                        </a:rPr>
                        <a:t>조건 </a:t>
                      </a:r>
                      <a:pPr indent="0" marL="0">
                        <a:buNone/>
                      </a:pPr>
                      <a:r>
                        <a:rPr lang="en-US" sz="1100" dirty="0">
                          <a:solidFill>
                            <a:srgbClr val="1F2937"/>
                          </a:solidFill>
                        </a:rPr>
                        <a:t>불명확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보관·처리·국외 </a:t>
                      </a:r>
                      <a:pPr indent="0" marL="0">
                        <a:buNone/>
                      </a:pPr>
                      <a:r>
                        <a:rPr lang="en-US" sz="1100" dirty="0">
                          <a:solidFill>
                            <a:srgbClr val="1F2937"/>
                          </a:solidFill>
                        </a:rPr>
                        <a:t>이전·캐시 </a:t>
                      </a:r>
                      <a:pPr indent="0" marL="0">
                        <a:buNone/>
                      </a:pPr>
                      <a:r>
                        <a:rPr lang="en-US" sz="1100" dirty="0">
                          <a:solidFill>
                            <a:srgbClr val="1F2937"/>
                          </a:solidFill>
                        </a:rPr>
                        <a:t>조건을 </a:t>
                      </a:r>
                      <a:pPr indent="0" marL="0">
                        <a:buNone/>
                      </a:pPr>
                      <a:r>
                        <a:rPr lang="en-US" sz="1100" dirty="0">
                          <a:solidFill>
                            <a:srgbClr val="1F2937"/>
                          </a:solidFill>
                        </a:rPr>
                        <a:t>확인하고 </a:t>
                      </a:r>
                      <a:pPr indent="0" marL="0">
                        <a:buNone/>
                      </a:pPr>
                      <a:r>
                        <a:rPr lang="en-US" sz="1100" dirty="0">
                          <a:solidFill>
                            <a:srgbClr val="1F2937"/>
                          </a:solidFill>
                        </a:rPr>
                        <a:t>개인정보 </a:t>
                      </a:r>
                      <a:pPr indent="0" marL="0">
                        <a:buNone/>
                      </a:pPr>
                      <a:r>
                        <a:rPr lang="en-US" sz="1100" dirty="0">
                          <a:solidFill>
                            <a:srgbClr val="1F2937"/>
                          </a:solidFill>
                        </a:rPr>
                        <a:t>안내에 </a:t>
                      </a:r>
                      <a:pPr indent="0" marL="0">
                        <a:buNone/>
                      </a:pPr>
                      <a:r>
                        <a:rPr lang="en-US" sz="1100" dirty="0">
                          <a:solidFill>
                            <a:srgbClr val="1F2937"/>
                          </a:solidFill>
                        </a:rPr>
                        <a:t>반영합니다. </a:t>
                      </a:r>
                      <a:pPr indent="0" marL="0">
                        <a:buNone/>
                      </a:pPr>
                      <a:r>
                        <a:rPr lang="en-US" sz="1100" dirty="0">
                          <a:solidFill>
                            <a:srgbClr val="1F2937"/>
                          </a:solidFill>
                        </a:rPr>
                        <a:t>외부 </a:t>
                      </a:r>
                      <a:pPr indent="0" marL="0">
                        <a:buNone/>
                      </a:pPr>
                      <a:r>
                        <a:rPr lang="en-US" sz="1100" dirty="0">
                          <a:solidFill>
                            <a:srgbClr val="1F2937"/>
                          </a:solidFill>
                        </a:rPr>
                        <a:t>API에는 </a:t>
                      </a:r>
                      <a:pPr indent="0" marL="0">
                        <a:buNone/>
                      </a:pPr>
                      <a:r>
                        <a:rPr lang="en-US" sz="1100" dirty="0">
                          <a:solidFill>
                            <a:srgbClr val="1F2937"/>
                          </a:solidFill>
                        </a:rPr>
                        <a:t>검색어만 </a:t>
                      </a:r>
                      <a:pPr indent="0" marL="0">
                        <a:buNone/>
                      </a:pPr>
                      <a:r>
                        <a:rPr lang="en-US" sz="1100" dirty="0">
                          <a:solidFill>
                            <a:srgbClr val="1F2937"/>
                          </a:solidFill>
                        </a:rPr>
                        <a:t>전달합니다.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최개발, </a:t>
                      </a:r>
                      <a:pPr indent="0" marL="0">
                        <a:buNone/>
                      </a:pPr>
                      <a:r>
                        <a:rPr lang="en-US" sz="1100" dirty="0">
                          <a:solidFill>
                            <a:srgbClr val="1F2937"/>
                          </a:solidFill>
                        </a:rPr>
                        <a:t>개인정보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제공자·게스트 </a:t>
                      </a:r>
                      <a:pPr indent="0" marL="0">
                        <a:buNone/>
                      </a:pPr>
                      <a:r>
                        <a:rPr lang="en-US" sz="1100" dirty="0">
                          <a:solidFill>
                            <a:srgbClr val="1F2937"/>
                          </a:solidFill>
                        </a:rPr>
                        <a:t>병합 </a:t>
                      </a:r>
                      <a:pPr indent="0" marL="0">
                        <a:buNone/>
                      </a:pPr>
                      <a:r>
                        <a:rPr lang="en-US" sz="1100" dirty="0">
                          <a:solidFill>
                            <a:srgbClr val="1F2937"/>
                          </a:solidFill>
                        </a:rPr>
                        <a:t>범위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제공자·심사 </a:t>
                      </a:r>
                      <a:pPr indent="0" marL="0">
                        <a:buNone/>
                      </a:pPr>
                      <a:r>
                        <a:rPr lang="en-US" sz="1100" dirty="0">
                          <a:solidFill>
                            <a:srgbClr val="1F2937"/>
                          </a:solidFill>
                        </a:rPr>
                        <a:t>조건·계정 </a:t>
                      </a:r>
                      <a:pPr indent="0" marL="0">
                        <a:buNone/>
                      </a:pPr>
                      <a:r>
                        <a:rPr lang="en-US" sz="1100" dirty="0">
                          <a:solidFill>
                            <a:srgbClr val="1F2937"/>
                          </a:solidFill>
                        </a:rPr>
                        <a:t>연결 </a:t>
                      </a:r>
                      <a:pPr indent="0" marL="0">
                        <a:buNone/>
                      </a:pPr>
                      <a:r>
                        <a:rPr lang="en-US" sz="1100" dirty="0">
                          <a:solidFill>
                            <a:srgbClr val="1F2937"/>
                          </a:solidFill>
                        </a:rPr>
                        <a:t>방식을 </a:t>
                      </a:r>
                      <a:pPr indent="0" marL="0">
                        <a:buNone/>
                      </a:pPr>
                      <a:r>
                        <a:rPr lang="en-US" sz="1100" dirty="0">
                          <a:solidFill>
                            <a:srgbClr val="1F2937"/>
                          </a:solidFill>
                        </a:rPr>
                        <a:t>비교하고 </a:t>
                      </a:r>
                      <a:pPr indent="0" marL="0">
                        <a:buNone/>
                      </a:pPr>
                      <a:r>
                        <a:rPr lang="en-US" sz="1100" dirty="0">
                          <a:solidFill>
                            <a:srgbClr val="1F2937"/>
                          </a:solidFill>
                        </a:rPr>
                        <a:t>목표 </a:t>
                      </a:r>
                      <a:pPr indent="0" marL="0">
                        <a:buNone/>
                      </a:pPr>
                      <a:r>
                        <a:rPr lang="en-US" sz="1100" dirty="0">
                          <a:solidFill>
                            <a:srgbClr val="1F2937"/>
                          </a:solidFill>
                        </a:rPr>
                        <a:t>시점까지 </a:t>
                      </a:r>
                      <a:pPr indent="0" marL="0">
                        <a:buNone/>
                      </a:pPr>
                      <a:r>
                        <a:rPr lang="en-US" sz="1100" dirty="0">
                          <a:solidFill>
                            <a:srgbClr val="1F2937"/>
                          </a:solidFill>
                        </a:rPr>
                        <a:t>확정합니다. </a:t>
                      </a:r>
                      <a:pPr indent="0" marL="0">
                        <a:buNone/>
                      </a:pPr>
                      <a:r>
                        <a:rPr lang="en-US" sz="1100" dirty="0">
                          <a:solidFill>
                            <a:srgbClr val="1F2937"/>
                          </a:solidFill>
                        </a:rPr>
                        <a:t>지연 </a:t>
                      </a:r>
                      <a:pPr indent="0" marL="0">
                        <a:buNone/>
                      </a:pPr>
                      <a:r>
                        <a:rPr lang="en-US" sz="1100" dirty="0">
                          <a:solidFill>
                            <a:srgbClr val="1F2937"/>
                          </a:solidFill>
                        </a:rPr>
                        <a:t>시 </a:t>
                      </a:r>
                      <a:pPr indent="0" marL="0">
                        <a:buNone/>
                      </a:pPr>
                      <a:r>
                        <a:rPr lang="en-US" sz="1100" dirty="0">
                          <a:solidFill>
                            <a:srgbClr val="1F2937"/>
                          </a:solidFill>
                        </a:rPr>
                        <a:t>제공자 </a:t>
                      </a:r>
                      <a:pPr indent="0" marL="0">
                        <a:buNone/>
                      </a:pPr>
                      <a:r>
                        <a:rPr lang="en-US" sz="1100" dirty="0">
                          <a:solidFill>
                            <a:srgbClr val="1F2937"/>
                          </a:solidFill>
                        </a:rPr>
                        <a:t>수나 </a:t>
                      </a:r>
                      <a:pPr indent="0" marL="0">
                        <a:buNone/>
                      </a:pPr>
                      <a:r>
                        <a:rPr lang="en-US" sz="1100" dirty="0">
                          <a:solidFill>
                            <a:srgbClr val="1F2937"/>
                          </a:solidFill>
                        </a:rPr>
                        <a:t>게스트 </a:t>
                      </a:r>
                      <a:pPr indent="0" marL="0">
                        <a:buNone/>
                      </a:pPr>
                      <a:r>
                        <a:rPr lang="en-US" sz="1100" dirty="0">
                          <a:solidFill>
                            <a:srgbClr val="1F2937"/>
                          </a:solidFill>
                        </a:rPr>
                        <a:t>범위를 </a:t>
                      </a:r>
                      <a:pPr indent="0" marL="0">
                        <a:buNone/>
                      </a:pPr>
                      <a:r>
                        <a:rPr lang="en-US" sz="1100" dirty="0">
                          <a:solidFill>
                            <a:srgbClr val="1F2937"/>
                          </a:solidFill>
                        </a:rPr>
                        <a:t>줄입니다.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자동 </a:t>
                      </a:r>
                      <a:pPr indent="0" marL="0">
                        <a:buNone/>
                      </a:pPr>
                      <a:r>
                        <a:rPr lang="en-US" sz="1100" dirty="0">
                          <a:solidFill>
                            <a:srgbClr val="1F2937"/>
                          </a:solidFill>
                        </a:rPr>
                        <a:t>칼로리 </a:t>
                      </a:r>
                      <a:pPr indent="0" marL="0">
                        <a:buNone/>
                      </a:pPr>
                      <a:r>
                        <a:rPr lang="en-US" sz="1100" dirty="0">
                          <a:solidFill>
                            <a:srgbClr val="1F2937"/>
                          </a:solidFill>
                        </a:rPr>
                        <a:t>목표의 </a:t>
                      </a:r>
                      <a:pPr indent="0" marL="0">
                        <a:buNone/>
                      </a:pPr>
                      <a:r>
                        <a:rPr lang="en-US" sz="1100" dirty="0">
                          <a:solidFill>
                            <a:srgbClr val="1F2937"/>
                          </a:solidFill>
                        </a:rPr>
                        <a:t>안전 </a:t>
                      </a:r>
                      <a:pPr indent="0" marL="0">
                        <a:buNone/>
                      </a:pPr>
                      <a:r>
                        <a:rPr lang="en-US" sz="1100" dirty="0">
                          <a:solidFill>
                            <a:srgbClr val="1F2937"/>
                          </a:solidFill>
                        </a:rPr>
                        <a:t>기준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전문가·법무 </a:t>
                      </a:r>
                      <a:pPr indent="0" marL="0">
                        <a:buNone/>
                      </a:pPr>
                      <a:r>
                        <a:rPr lang="en-US" sz="1100" dirty="0">
                          <a:solidFill>
                            <a:srgbClr val="1F2937"/>
                          </a:solidFill>
                        </a:rPr>
                        <a:t>검토를 </a:t>
                      </a:r>
                      <a:pPr indent="0" marL="0">
                        <a:buNone/>
                      </a:pPr>
                      <a:r>
                        <a:rPr lang="en-US" sz="1100" dirty="0">
                          <a:solidFill>
                            <a:srgbClr val="1F2937"/>
                          </a:solidFill>
                        </a:rPr>
                        <a:t>진행하고, </a:t>
                      </a:r>
                      <a:pPr indent="0" marL="0">
                        <a:buNone/>
                      </a:pPr>
                      <a:r>
                        <a:rPr lang="en-US" sz="1100" dirty="0">
                          <a:solidFill>
                            <a:srgbClr val="1F2937"/>
                          </a:solidFill>
                        </a:rPr>
                        <a:t>확인되지 </a:t>
                      </a:r>
                      <a:pPr indent="0" marL="0">
                        <a:buNone/>
                      </a:pPr>
                      <a:r>
                        <a:rPr lang="en-US" sz="1100" dirty="0">
                          <a:solidFill>
                            <a:srgbClr val="1F2937"/>
                          </a:solidFill>
                        </a:rPr>
                        <a:t>않으면 </a:t>
                      </a:r>
                      <a:pPr indent="0" marL="0">
                        <a:buNone/>
                      </a:pPr>
                      <a:r>
                        <a:rPr lang="en-US" sz="1100" dirty="0">
                          <a:solidFill>
                            <a:srgbClr val="1F2937"/>
                          </a:solidFill>
                        </a:rPr>
                        <a:t>자동 </a:t>
                      </a:r>
                      <a:pPr indent="0" marL="0">
                        <a:buNone/>
                      </a:pPr>
                      <a:r>
                        <a:rPr lang="en-US" sz="1100" dirty="0">
                          <a:solidFill>
                            <a:srgbClr val="1F2937"/>
                          </a:solidFill>
                        </a:rPr>
                        <a:t>권장 </a:t>
                      </a:r>
                      <a:pPr indent="0" marL="0">
                        <a:buNone/>
                      </a:pPr>
                      <a:r>
                        <a:rPr lang="en-US" sz="1100" dirty="0">
                          <a:solidFill>
                            <a:srgbClr val="1F2937"/>
                          </a:solidFill>
                        </a:rPr>
                        <a:t>칼로리를 </a:t>
                      </a:r>
                      <a:pPr indent="0" marL="0">
                        <a:buNone/>
                      </a:pPr>
                      <a:r>
                        <a:rPr lang="en-US" sz="1100" dirty="0">
                          <a:solidFill>
                            <a:srgbClr val="1F2937"/>
                          </a:solidFill>
                        </a:rPr>
                        <a:t>MVP에서 </a:t>
                      </a:r>
                      <a:pPr indent="0" marL="0">
                        <a:buNone/>
                      </a:pPr>
                      <a:r>
                        <a:rPr lang="en-US" sz="1100" dirty="0">
                          <a:solidFill>
                            <a:srgbClr val="1F2937"/>
                          </a:solidFill>
                        </a:rPr>
                        <a:t>제외합니다. </a:t>
                      </a:r>
                      <a:pPr indent="0" marL="0">
                        <a:buNone/>
                      </a:pPr>
                      <a:r>
                        <a:rPr lang="en-US" sz="1100" dirty="0">
                          <a:solidFill>
                            <a:srgbClr val="1F2937"/>
                          </a:solidFill>
                        </a:rPr>
                        <a:t>목표 </a:t>
                      </a:r>
                      <a:pPr indent="0" marL="0">
                        <a:buNone/>
                      </a:pPr>
                      <a:r>
                        <a:rPr lang="en-US" sz="1100" dirty="0">
                          <a:solidFill>
                            <a:srgbClr val="1F2937"/>
                          </a:solidFill>
                        </a:rPr>
                        <a:t>없이 </a:t>
                      </a:r>
                      <a:pPr indent="0" marL="0">
                        <a:buNone/>
                      </a:pPr>
                      <a:r>
                        <a:rPr lang="en-US" sz="1100" dirty="0">
                          <a:solidFill>
                            <a:srgbClr val="1F2937"/>
                          </a:solidFill>
                        </a:rPr>
                        <a:t>기록하는 </a:t>
                      </a:r>
                      <a:pPr indent="0" marL="0">
                        <a:buNone/>
                      </a:pPr>
                      <a:r>
                        <a:rPr lang="en-US" sz="1100" dirty="0">
                          <a:solidFill>
                            <a:srgbClr val="1F2937"/>
                          </a:solidFill>
                        </a:rPr>
                        <a:t>흐름은 </a:t>
                      </a:r>
                      <a:pPr indent="0" marL="0">
                        <a:buNone/>
                      </a:pPr>
                      <a:r>
                        <a:rPr lang="en-US" sz="1100" dirty="0">
                          <a:solidFill>
                            <a:srgbClr val="1F2937"/>
                          </a:solidFill>
                        </a:rPr>
                        <a:t>유지합니다.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이대표,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R-006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사진 </a:t>
                      </a:r>
                      <a:pPr indent="0" marL="0">
                        <a:buNone/>
                      </a:pPr>
                      <a:r>
                        <a:rPr lang="en-US" sz="1100" dirty="0">
                          <a:solidFill>
                            <a:srgbClr val="1F2937"/>
                          </a:solidFill>
                        </a:rPr>
                        <a:t>첨부 </a:t>
                      </a:r>
                      <a:pPr indent="0" marL="0">
                        <a:buNone/>
                      </a:pPr>
                      <a:r>
                        <a:rPr lang="en-US" sz="1100" dirty="0">
                          <a:solidFill>
                            <a:srgbClr val="1F2937"/>
                          </a:solidFill>
                        </a:rPr>
                        <a:t>포함 </a:t>
                      </a:r>
                      <a:pPr indent="0" marL="0">
                        <a:buNone/>
                      </a:pPr>
                      <a:r>
                        <a:rPr lang="en-US" sz="1100" dirty="0">
                          <a:solidFill>
                            <a:srgbClr val="1F2937"/>
                          </a:solidFill>
                        </a:rPr>
                        <a:t>여부의 </a:t>
                      </a:r>
                      <a:pPr indent="0" marL="0">
                        <a:buNone/>
                      </a:pPr>
                      <a:r>
                        <a:rPr lang="en-US" sz="1100" dirty="0">
                          <a:solidFill>
                            <a:srgbClr val="1F2937"/>
                          </a:solidFill>
                        </a:rPr>
                        <a:t>회의 </a:t>
                      </a:r>
                      <a:pPr indent="0" marL="0">
                        <a:buNone/>
                      </a:pPr>
                      <a:r>
                        <a:rPr lang="en-US" sz="1100" dirty="0">
                          <a:solidFill>
                            <a:srgbClr val="1F2937"/>
                          </a:solidFill>
                        </a:rPr>
                        <a:t>내 </a:t>
                      </a:r>
                      <a:pPr indent="0" marL="0">
                        <a:buNone/>
                      </a:pPr>
                      <a:r>
                        <a:rPr lang="en-US" sz="1100" dirty="0">
                          <a:solidFill>
                            <a:srgbClr val="1F2937"/>
                          </a:solidFill>
                        </a:rPr>
                        <a:t>상충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후반부의 </a:t>
                      </a:r>
                      <a:pPr indent="0" marL="0">
                        <a:buNone/>
                      </a:pPr>
                      <a:r>
                        <a:rPr lang="en-US" sz="1100" dirty="0">
                          <a:solidFill>
                            <a:srgbClr val="1F2937"/>
                          </a:solidFill>
                        </a:rPr>
                        <a:t>한 </a:t>
                      </a:r>
                      <a:pPr indent="0" marL="0">
                        <a:buNone/>
                      </a:pPr>
                      <a:r>
                        <a:rPr lang="en-US" sz="1100" dirty="0">
                          <a:solidFill>
                            <a:srgbClr val="1F2937"/>
                          </a:solidFill>
                        </a:rPr>
                        <a:t>장 </a:t>
                      </a:r>
                      <a:pPr indent="0" marL="0">
                        <a:buNone/>
                      </a:pPr>
                      <a:r>
                        <a:rPr lang="en-US" sz="1100" dirty="0">
                          <a:solidFill>
                            <a:srgbClr val="1F2937"/>
                          </a:solidFill>
                        </a:rPr>
                        <a:t>첨부 </a:t>
                      </a:r>
                      <a:pPr indent="0" marL="0">
                        <a:buNone/>
                      </a:pPr>
                      <a:r>
                        <a:rPr lang="en-US" sz="1100" dirty="0">
                          <a:solidFill>
                            <a:srgbClr val="1F2937"/>
                          </a:solidFill>
                        </a:rPr>
                        <a:t>포함 </a:t>
                      </a:r>
                      <a:pPr indent="0" marL="0">
                        <a:buNone/>
                      </a:pPr>
                      <a:r>
                        <a:rPr lang="en-US" sz="1100" dirty="0">
                          <a:solidFill>
                            <a:srgbClr val="1F2937"/>
                          </a:solidFill>
                        </a:rPr>
                        <a:t>방향을 </a:t>
                      </a:r>
                      <a:pPr indent="0" marL="0">
                        <a:buNone/>
                      </a:pPr>
                      <a:r>
                        <a:rPr lang="en-US" sz="1100" dirty="0">
                          <a:solidFill>
                            <a:srgbClr val="1F2937"/>
                          </a:solidFill>
                        </a:rPr>
                        <a:t>조건부 </a:t>
                      </a:r>
                      <a:pPr indent="0" marL="0">
                        <a:buNone/>
                      </a:pPr>
                      <a:r>
                        <a:rPr lang="en-US" sz="1100" dirty="0">
                          <a:solidFill>
                            <a:srgbClr val="1F2937"/>
                          </a:solidFill>
                        </a:rPr>
                        <a:t>계획으로 </a:t>
                      </a:r>
                      <a:pPr indent="0" marL="0">
                        <a:buNone/>
                      </a:pPr>
                      <a:r>
                        <a:rPr lang="en-US" sz="1100" dirty="0">
                          <a:solidFill>
                            <a:srgbClr val="1F2937"/>
                          </a:solidFill>
                        </a:rPr>
                        <a:t>반영하되, </a:t>
                      </a:r>
                      <a:pPr indent="0" marL="0">
                        <a:buNone/>
                      </a:pPr>
                      <a:r>
                        <a:rPr lang="en-US" sz="1100" dirty="0">
                          <a:solidFill>
                            <a:srgbClr val="1F2937"/>
                          </a:solidFill>
                        </a:rPr>
                        <a:t>저장·삭제·개인정보 </a:t>
                      </a:r>
                      <a:pPr indent="0" marL="0">
                        <a:buNone/>
                      </a:pPr>
                      <a:r>
                        <a:rPr lang="en-US" sz="1100" dirty="0">
                          <a:solidFill>
                            <a:srgbClr val="1F2937"/>
                          </a:solidFill>
                        </a:rPr>
                        <a:t>정책 </a:t>
                      </a:r>
                      <a:pPr indent="0" marL="0">
                        <a:buNone/>
                      </a:pPr>
                      <a:r>
                        <a:rPr lang="en-US" sz="1100" dirty="0">
                          <a:solidFill>
                            <a:srgbClr val="1F2937"/>
                          </a:solidFill>
                        </a:rPr>
                        <a:t>승인 </a:t>
                      </a:r>
                      <a:pPr indent="0" marL="0">
                        <a:buNone/>
                      </a:pPr>
                      <a:r>
                        <a:rPr lang="en-US" sz="1100" dirty="0">
                          <a:solidFill>
                            <a:srgbClr val="1F2937"/>
                          </a:solidFill>
                        </a:rPr>
                        <a:t>전에는 </a:t>
                      </a:r>
                      <a:pPr indent="0" marL="0">
                        <a:buNone/>
                      </a:pPr>
                      <a:r>
                        <a:rPr lang="en-US" sz="1100" dirty="0">
                          <a:solidFill>
                            <a:srgbClr val="1F2937"/>
                          </a:solidFill>
                        </a:rPr>
                        <a:t>착수하지 </a:t>
                      </a:r>
                      <a:pPr indent="0" marL="0">
                        <a:buNone/>
                      </a:pPr>
                      <a:r>
                        <a:rPr lang="en-US" sz="1100" dirty="0">
                          <a:solidFill>
                            <a:srgbClr val="1F2937"/>
                          </a:solidFill>
                        </a:rPr>
                        <a:t>않습니다. </a:t>
                      </a:r>
                      <a:pPr indent="0" marL="0">
                        <a:buNone/>
                      </a:pPr>
                      <a:r>
                        <a:rPr lang="en-US" sz="1100" dirty="0">
                          <a:solidFill>
                            <a:srgbClr val="1F2937"/>
                          </a:solidFill>
                        </a:rPr>
                        <a:t>일정이 </a:t>
                      </a:r>
                      <a:pPr indent="0" marL="0">
                        <a:buNone/>
                      </a:pPr>
                      <a:r>
                        <a:rPr lang="en-US" sz="1100" dirty="0">
                          <a:solidFill>
                            <a:srgbClr val="1F2937"/>
                          </a:solidFill>
                        </a:rPr>
                        <a:t>밀리면 </a:t>
                      </a:r>
                      <a:pPr indent="0" marL="0">
                        <a:buNone/>
                      </a:pPr>
                      <a:r>
                        <a:rPr lang="en-US" sz="1100" dirty="0">
                          <a:solidFill>
                            <a:srgbClr val="1F2937"/>
                          </a:solidFill>
                        </a:rPr>
                        <a:t>제외합니다.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이대표, </a:t>
                      </a:r>
                      <a:pPr indent="0" marL="0">
                        <a:buNone/>
                      </a:pPr>
                      <a:r>
                        <a:rPr lang="en-US" sz="1100" dirty="0">
                          <a:solidFill>
                            <a:srgbClr val="1F2937"/>
                          </a:solidFill>
                        </a:rPr>
                        <a:t>김PM,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결정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R-007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개발 </a:t>
                      </a:r>
                      <a:pPr indent="0" marL="0">
                        <a:buNone/>
                      </a:pPr>
                      <a:r>
                        <a:rPr lang="en-US" sz="1100" dirty="0">
                          <a:solidFill>
                            <a:srgbClr val="1F2937"/>
                          </a:solidFill>
                        </a:rPr>
                        <a:t>지원 </a:t>
                      </a:r>
                      <a:pPr indent="0" marL="0">
                        <a:buNone/>
                      </a:pPr>
                      <a:r>
                        <a:rPr lang="en-US" sz="1100" dirty="0">
                          <a:solidFill>
                            <a:srgbClr val="1F2937"/>
                          </a:solidFill>
                        </a:rPr>
                        <a:t>인력 </a:t>
                      </a:r>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지원 </a:t>
                      </a:r>
                      <a:pPr indent="0" marL="0">
                        <a:buNone/>
                      </a:pPr>
                      <a:r>
                        <a:rPr lang="en-US" sz="1100" dirty="0">
                          <a:solidFill>
                            <a:srgbClr val="1F2937"/>
                          </a:solidFill>
                        </a:rPr>
                        <a:t>인력·참여율을 </a:t>
                      </a:r>
                      <a:pPr indent="0" marL="0">
                        <a:buNone/>
                      </a:pPr>
                      <a:r>
                        <a:rPr lang="en-US" sz="1100" dirty="0">
                          <a:solidFill>
                            <a:srgbClr val="1F2937"/>
                          </a:solidFill>
                        </a:rPr>
                        <a:t>확인합니다. </a:t>
                      </a:r>
                      <a:pPr indent="0" marL="0">
                        <a:buNone/>
                      </a:pPr>
                      <a:r>
                        <a:rPr lang="en-US" sz="1100" dirty="0">
                          <a:solidFill>
                            <a:srgbClr val="1F2937"/>
                          </a:solidFill>
                        </a:rPr>
                        <a:t>확보되지 </a:t>
                      </a:r>
                      <a:pPr indent="0" marL="0">
                        <a:buNone/>
                      </a:pPr>
                      <a:r>
                        <a:rPr lang="en-US" sz="1100" dirty="0">
                          <a:solidFill>
                            <a:srgbClr val="1F2937"/>
                          </a:solidFill>
                        </a:rPr>
                        <a:t>않으면 </a:t>
                      </a:r>
                      <a:pPr indent="0" marL="0">
                        <a:buNone/>
                      </a:pPr>
                      <a:r>
                        <a:rPr lang="en-US" sz="1100" dirty="0">
                          <a:solidFill>
                            <a:srgbClr val="1F2937"/>
                          </a:solidFill>
                        </a:rPr>
                        <a:t>핵심 </a:t>
                      </a:r>
                      <a:pPr indent="0" marL="0">
                        <a:buNone/>
                      </a:pPr>
                      <a:r>
                        <a:rPr lang="en-US" sz="1100" dirty="0">
                          <a:solidFill>
                            <a:srgbClr val="1F2937"/>
                          </a:solidFill>
                        </a:rPr>
                        <a:t>기능 </a:t>
                      </a:r>
                      <a:pPr indent="0" marL="0">
                        <a:buNone/>
                      </a:pPr>
                      <a:r>
                        <a:rPr lang="en-US" sz="1100" dirty="0">
                          <a:solidFill>
                            <a:srgbClr val="1F2937"/>
                          </a:solidFill>
                        </a:rPr>
                        <a:t>우선순위와 </a:t>
                      </a:r>
                      <a:pPr indent="0" marL="0">
                        <a:buNone/>
                      </a:pPr>
                      <a:r>
                        <a:rPr lang="en-US" sz="1100" dirty="0">
                          <a:solidFill>
                            <a:srgbClr val="1F2937"/>
                          </a:solidFill>
                        </a:rPr>
                        <a:t>일정 </a:t>
                      </a:r>
                      <a:pPr indent="0" marL="0">
                        <a:buNone/>
                      </a:pPr>
                      <a:r>
                        <a:rPr lang="en-US" sz="1100" dirty="0">
                          <a:solidFill>
                            <a:srgbClr val="1F2937"/>
                          </a:solidFill>
                        </a:rPr>
                        <a:t>영향을 </a:t>
                      </a:r>
                      <a:pPr indent="0" marL="0">
                        <a:buNone/>
                      </a:pPr>
                      <a:r>
                        <a:rPr lang="en-US" sz="1100" dirty="0">
                          <a:solidFill>
                            <a:srgbClr val="1F2937"/>
                          </a:solidFill>
                        </a:rPr>
                        <a:t>재산정합니다.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R-008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스토어 </a:t>
                      </a:r>
                      <a:pPr indent="0" marL="0">
                        <a:buNone/>
                      </a:pPr>
                      <a:r>
                        <a:rPr lang="en-US" sz="1100" dirty="0">
                          <a:solidFill>
                            <a:srgbClr val="1F2937"/>
                          </a:solidFill>
                        </a:rPr>
                        <a:t>심사 </a:t>
                      </a:r>
                      <a:pPr indent="0" marL="0">
                        <a:buNone/>
                      </a:pPr>
                      <a:r>
                        <a:rPr lang="en-US" sz="1100" dirty="0">
                          <a:solidFill>
                            <a:srgbClr val="1F2937"/>
                          </a:solidFill>
                        </a:rPr>
                        <a:t>지연·계정 </a:t>
                      </a:r>
                      <a:pPr indent="0" marL="0">
                        <a:buNone/>
                      </a:pPr>
                      <a:r>
                        <a:rPr lang="en-US" sz="1100" dirty="0">
                          <a:solidFill>
                            <a:srgbClr val="1F2937"/>
                          </a:solidFill>
                        </a:rPr>
                        <a:t>권한 </a:t>
                      </a:r>
                      <a:pPr indent="0" marL="0">
                        <a:buNone/>
                      </a:pPr>
                      <a:r>
                        <a:rPr lang="en-US" sz="1100" dirty="0">
                          <a:solidFill>
                            <a:srgbClr val="1F2937"/>
                          </a:solidFill>
                        </a:rPr>
                        <a:t>미비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스토어 </a:t>
                      </a:r>
                      <a:pPr indent="0" marL="0">
                        <a:buNone/>
                      </a:pPr>
                      <a:r>
                        <a:rPr lang="en-US" sz="1100" dirty="0">
                          <a:solidFill>
                            <a:srgbClr val="1F2937"/>
                          </a:solidFill>
                        </a:rPr>
                        <a:t>계정·앱 </a:t>
                      </a:r>
                      <a:pPr indent="0" marL="0">
                        <a:buNone/>
                      </a:pPr>
                      <a:r>
                        <a:rPr lang="en-US" sz="1100" dirty="0">
                          <a:solidFill>
                            <a:srgbClr val="1F2937"/>
                          </a:solidFill>
                        </a:rPr>
                        <a:t>등록 </a:t>
                      </a:r>
                      <a:pPr indent="0" marL="0">
                        <a:buNone/>
                      </a:pPr>
                      <a:r>
                        <a:rPr lang="en-US" sz="1100" dirty="0">
                          <a:solidFill>
                            <a:srgbClr val="1F2937"/>
                          </a:solidFill>
                        </a:rPr>
                        <a:t>권한·서명·심사 </a:t>
                      </a:r>
                      <a:pPr indent="0" marL="0">
                        <a:buNone/>
                      </a:pPr>
                      <a:r>
                        <a:rPr lang="en-US" sz="1100" dirty="0">
                          <a:solidFill>
                            <a:srgbClr val="1F2937"/>
                          </a:solidFill>
                        </a:rPr>
                        <a:t>자료를 </a:t>
                      </a:r>
                      <a:pPr indent="0" marL="0">
                        <a:buNone/>
                      </a:pPr>
                      <a:r>
                        <a:rPr lang="en-US" sz="1100" dirty="0">
                          <a:solidFill>
                            <a:srgbClr val="1F2937"/>
                          </a:solidFill>
                        </a:rPr>
                        <a:t>조기에 </a:t>
                      </a:r>
                      <a:pPr indent="0" marL="0">
                        <a:buNone/>
                      </a:pPr>
                      <a:r>
                        <a:rPr lang="en-US" sz="1100" dirty="0">
                          <a:solidFill>
                            <a:srgbClr val="1F2937"/>
                          </a:solidFill>
                        </a:rPr>
                        <a:t>확인하고 </a:t>
                      </a:r>
                      <a:pPr indent="0" marL="0">
                        <a:buNone/>
                      </a:pPr>
                      <a:r>
                        <a:rPr lang="en-US" sz="1100" dirty="0">
                          <a:solidFill>
                            <a:srgbClr val="1F2937"/>
                          </a:solidFill>
                        </a:rPr>
                        <a:t>W7 </a:t>
                      </a:r>
                      <a:pPr indent="0" marL="0">
                        <a:buNone/>
                      </a:pPr>
                      <a:r>
                        <a:rPr lang="en-US" sz="1100" dirty="0">
                          <a:solidFill>
                            <a:srgbClr val="1F2937"/>
                          </a:solidFill>
                        </a:rPr>
                        <a:t>제출, </a:t>
                      </a:r>
                      <a:pPr indent="0" marL="0">
                        <a:buNone/>
                      </a:pPr>
                      <a:r>
                        <a:rPr lang="en-US" sz="1100" dirty="0">
                          <a:solidFill>
                            <a:srgbClr val="1F2937"/>
                          </a:solidFill>
                        </a:rPr>
                        <a:t>W9 </a:t>
                      </a:r>
                      <a:pPr indent="0" marL="0">
                        <a:buNone/>
                      </a:pPr>
                      <a:r>
                        <a:rPr lang="en-US" sz="1100" dirty="0">
                          <a:solidFill>
                            <a:srgbClr val="1F2937"/>
                          </a:solidFill>
                        </a:rPr>
                        <a:t>완충으로 </a:t>
                      </a:r>
                      <a:pPr indent="0" marL="0">
                        <a:buNone/>
                      </a:pPr>
                      <a:r>
                        <a:rPr lang="en-US" sz="1100" dirty="0">
                          <a:solidFill>
                            <a:srgbClr val="1F2937"/>
                          </a:solidFill>
                        </a:rPr>
                        <a:t>대응합니다.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R-009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네트워크 </a:t>
                      </a:r>
                      <a:pPr indent="0" marL="0">
                        <a:buNone/>
                      </a:pPr>
                      <a:r>
                        <a:rPr lang="en-US" sz="1100" dirty="0">
                          <a:solidFill>
                            <a:srgbClr val="1F2937"/>
                          </a:solidFill>
                        </a:rPr>
                        <a:t>실패 </a:t>
                      </a:r>
                      <a:pPr indent="0" marL="0">
                        <a:buNone/>
                      </a:pPr>
                      <a:r>
                        <a:rPr lang="en-US" sz="1100" dirty="0">
                          <a:solidFill>
                            <a:srgbClr val="1F2937"/>
                          </a:solidFill>
                        </a:rPr>
                        <a:t>시 </a:t>
                      </a:r>
                      <a:pPr indent="0" marL="0">
                        <a:buNone/>
                      </a:pPr>
                      <a:r>
                        <a:rPr lang="en-US" sz="1100" dirty="0">
                          <a:solidFill>
                            <a:srgbClr val="1F2937"/>
                          </a:solidFill>
                        </a:rPr>
                        <a:t>기록 </a:t>
                      </a:r>
                      <a:pPr indent="0" marL="0">
                        <a:buNone/>
                      </a:pPr>
                      <a:r>
                        <a:rPr lang="en-US" sz="1100" dirty="0">
                          <a:solidFill>
                            <a:srgbClr val="1F2937"/>
                          </a:solidFill>
                        </a:rPr>
                        <a:t>유실·중복 </a:t>
                      </a:r>
                      <a:pPr indent="0" marL="0">
                        <a:buNone/>
                      </a:pPr>
                      <a:r>
                        <a:rPr lang="en-US" sz="1100" dirty="0">
                          <a:solidFill>
                            <a:srgbClr val="1F2937"/>
                          </a:solidFill>
                        </a:rPr>
                        <a:t>저장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임시 </a:t>
                      </a:r>
                      <a:pPr indent="0" marL="0">
                        <a:buNone/>
                      </a:pPr>
                      <a:r>
                        <a:rPr lang="en-US" sz="1100" dirty="0">
                          <a:solidFill>
                            <a:srgbClr val="1F2937"/>
                          </a:solidFill>
                        </a:rPr>
                        <a:t>보존, </a:t>
                      </a:r>
                      <a:pPr indent="0" marL="0">
                        <a:buNone/>
                      </a:pPr>
                      <a:r>
                        <a:rPr lang="en-US" sz="1100" dirty="0">
                          <a:solidFill>
                            <a:srgbClr val="1F2937"/>
                          </a:solidFill>
                        </a:rPr>
                        <a:t>저장 </a:t>
                      </a:r>
                      <a:pPr indent="0" marL="0">
                        <a:buNone/>
                      </a:pPr>
                      <a:r>
                        <a:rPr lang="en-US" sz="1100" dirty="0">
                          <a:solidFill>
                            <a:srgbClr val="1F2937"/>
                          </a:solidFill>
                        </a:rPr>
                        <a:t>상태 </a:t>
                      </a:r>
                      <a:pPr indent="0" marL="0">
                        <a:buNone/>
                      </a:pPr>
                      <a:r>
                        <a:rPr lang="en-US" sz="1100" dirty="0">
                          <a:solidFill>
                            <a:srgbClr val="1F2937"/>
                          </a:solidFill>
                        </a:rPr>
                        <a:t>표시, </a:t>
                      </a:r>
                      <a:pPr indent="0" marL="0">
                        <a:buNone/>
                      </a:pPr>
                      <a:r>
                        <a:rPr lang="en-US" sz="1100" dirty="0">
                          <a:solidFill>
                            <a:srgbClr val="1F2937"/>
                          </a:solidFill>
                        </a:rPr>
                        <a:t>요청 </a:t>
                      </a:r>
                      <a:pPr indent="0" marL="0">
                        <a:buNone/>
                      </a:pPr>
                      <a:r>
                        <a:rPr lang="en-US" sz="1100" dirty="0">
                          <a:solidFill>
                            <a:srgbClr val="1F2937"/>
                          </a:solidFill>
                        </a:rPr>
                        <a:t>식별값 </a:t>
                      </a:r>
                      <a:pPr indent="0" marL="0">
                        <a:buNone/>
                      </a:pPr>
                      <a:r>
                        <a:rPr lang="en-US" sz="1100" dirty="0">
                          <a:solidFill>
                            <a:srgbClr val="1F2937"/>
                          </a:solidFill>
                        </a:rPr>
                        <a:t>기반 </a:t>
                      </a:r>
                      <a:pPr indent="0" marL="0">
                        <a:buNone/>
                      </a:pPr>
                      <a:r>
                        <a:rPr lang="en-US" sz="1100" dirty="0">
                          <a:solidFill>
                            <a:srgbClr val="1F2937"/>
                          </a:solidFill>
                        </a:rPr>
                        <a:t>중복 </a:t>
                      </a:r>
                      <a:pPr indent="0" marL="0">
                        <a:buNone/>
                      </a:pPr>
                      <a:r>
                        <a:rPr lang="en-US" sz="1100" dirty="0">
                          <a:solidFill>
                            <a:srgbClr val="1F2937"/>
                          </a:solidFill>
                        </a:rPr>
                        <a:t>방지, </a:t>
                      </a:r>
                      <a:pPr indent="0" marL="0">
                        <a:buNone/>
                      </a:pPr>
                      <a:r>
                        <a:rPr lang="en-US" sz="1100" dirty="0">
                          <a:solidFill>
                            <a:srgbClr val="1F2937"/>
                          </a:solidFill>
                        </a:rPr>
                        <a:t>재시도 </a:t>
                      </a:r>
                      <a:pPr indent="0" marL="0">
                        <a:buNone/>
                      </a:pPr>
                      <a:r>
                        <a:rPr lang="en-US" sz="1100" dirty="0">
                          <a:solidFill>
                            <a:srgbClr val="1F2937"/>
                          </a:solidFill>
                        </a:rPr>
                        <a:t>시험을 </a:t>
                      </a:r>
                      <a:pPr indent="0" marL="0">
                        <a:buNone/>
                      </a:pPr>
                      <a:r>
                        <a:rPr lang="en-US" sz="1100" dirty="0">
                          <a:solidFill>
                            <a:srgbClr val="1F2937"/>
                          </a:solidFill>
                        </a:rPr>
                        <a:t>수행합니다.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진행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영양값 </a:t>
                      </a:r>
                      <a:pPr indent="0" marL="0">
                        <a:buNone/>
                      </a:pPr>
                      <a:r>
                        <a:rPr lang="en-US" sz="1100" dirty="0">
                          <a:solidFill>
                            <a:srgbClr val="1F2937"/>
                          </a:solidFill>
                        </a:rPr>
                        <a:t>결측이 </a:t>
                      </a:r>
                      <a:pPr indent="0" marL="0">
                        <a:buNone/>
                      </a:pPr>
                      <a:r>
                        <a:rPr lang="en-US" sz="1100" dirty="0">
                          <a:solidFill>
                            <a:srgbClr val="1F2937"/>
                          </a:solidFill>
                        </a:rPr>
                        <a:t>0으로 </a:t>
                      </a:r>
                      <a:pPr indent="0" marL="0">
                        <a:buNone/>
                      </a:pPr>
                      <a:r>
                        <a:rPr lang="en-US" sz="1100" dirty="0">
                          <a:solidFill>
                            <a:srgbClr val="1F2937"/>
                          </a:solidFill>
                        </a:rPr>
                        <a:t>처리되어 </a:t>
                      </a:r>
                      <a:pPr indent="0" marL="0">
                        <a:buNone/>
                      </a:pPr>
                      <a:r>
                        <a:rPr lang="en-US" sz="1100" dirty="0">
                          <a:solidFill>
                            <a:srgbClr val="1F2937"/>
                          </a:solidFill>
                        </a:rPr>
                        <a:t>리포트 </a:t>
                      </a:r>
                      <a:pPr indent="0" marL="0">
                        <a:buNone/>
                      </a:pPr>
                      <a:r>
                        <a:rPr lang="en-US" sz="1100" dirty="0">
                          <a:solidFill>
                            <a:srgbClr val="1F2937"/>
                          </a:solidFill>
                        </a:rPr>
                        <a:t>왜곡</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0과 </a:t>
                      </a:r>
                      <a:pPr indent="0" marL="0">
                        <a:buNone/>
                      </a:pPr>
                      <a:r>
                        <a:rPr lang="en-US" sz="1100" dirty="0">
                          <a:solidFill>
                            <a:srgbClr val="1F2937"/>
                          </a:solidFill>
                        </a:rPr>
                        <a:t>미입력을 </a:t>
                      </a:r>
                      <a:pPr indent="0" marL="0">
                        <a:buNone/>
                      </a:pPr>
                      <a:r>
                        <a:rPr lang="en-US" sz="1100" dirty="0">
                          <a:solidFill>
                            <a:srgbClr val="1F2937"/>
                          </a:solidFill>
                        </a:rPr>
                        <a:t>구분하고 </a:t>
                      </a:r>
                      <a:pPr indent="0" marL="0">
                        <a:buNone/>
                      </a:pPr>
                      <a:r>
                        <a:rPr lang="en-US" sz="1100" dirty="0">
                          <a:solidFill>
                            <a:srgbClr val="1F2937"/>
                          </a:solidFill>
                        </a:rPr>
                        <a:t>영양소별로 </a:t>
                      </a:r>
                      <a:pPr indent="0" marL="0">
                        <a:buNone/>
                      </a:pPr>
                      <a:r>
                        <a:rPr lang="en-US" sz="1100" dirty="0">
                          <a:solidFill>
                            <a:srgbClr val="1F2937"/>
                          </a:solidFill>
                        </a:rPr>
                        <a:t>값이 </a:t>
                      </a:r>
                      <a:pPr indent="0" marL="0">
                        <a:buNone/>
                      </a:pPr>
                      <a:r>
                        <a:rPr lang="en-US" sz="1100" dirty="0">
                          <a:solidFill>
                            <a:srgbClr val="1F2937"/>
                          </a:solidFill>
                        </a:rPr>
                        <a:t>있는 </a:t>
                      </a:r>
                      <a:pPr indent="0" marL="0">
                        <a:buNone/>
                      </a:pPr>
                      <a:r>
                        <a:rPr lang="en-US" sz="1100" dirty="0">
                          <a:solidFill>
                            <a:srgbClr val="1F2937"/>
                          </a:solidFill>
                        </a:rPr>
                        <a:t>항목만 </a:t>
                      </a:r>
                      <a:pPr indent="0" marL="0">
                        <a:buNone/>
                      </a:pPr>
                      <a:r>
                        <a:rPr lang="en-US" sz="1100" dirty="0">
                          <a:solidFill>
                            <a:srgbClr val="1F2937"/>
                          </a:solidFill>
                        </a:rPr>
                        <a:t>계산합니다.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설계 </a:t>
                      </a:r>
                      <a:pPr indent="0" marL="0">
                        <a:buNone/>
                      </a:pPr>
                      <a:r>
                        <a:rPr lang="en-US" sz="1100" dirty="0">
                          <a:solidFill>
                            <a:srgbClr val="1F2937"/>
                          </a:solidFill>
                        </a:rPr>
                        <a:t>반영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R-011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개인정보·보안 </a:t>
                      </a:r>
                      <a:pPr indent="0" marL="0">
                        <a:buNone/>
                      </a:pPr>
                      <a:r>
                        <a:rPr lang="en-US" sz="1100" dirty="0">
                          <a:solidFill>
                            <a:srgbClr val="1F2937"/>
                          </a:solidFill>
                        </a:rPr>
                        <a:t>검토 </a:t>
                      </a:r>
                      <a:pPr indent="0" marL="0">
                        <a:buNone/>
                      </a:pPr>
                      <a:r>
                        <a:rPr lang="en-US" sz="1100" dirty="0">
                          <a:solidFill>
                            <a:srgbClr val="1F2937"/>
                          </a:solidFill>
                        </a:rPr>
                        <a:t>지연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데이터 </a:t>
                      </a:r>
                      <a:pPr indent="0" marL="0">
                        <a:buNone/>
                      </a:pPr>
                      <a:r>
                        <a:rPr lang="en-US" sz="1100" dirty="0">
                          <a:solidFill>
                            <a:srgbClr val="1F2937"/>
                          </a:solidFill>
                        </a:rPr>
                        <a:t>흐름을 </a:t>
                      </a:r>
                      <a:pPr indent="0" marL="0">
                        <a:buNone/>
                      </a:pPr>
                      <a:r>
                        <a:rPr lang="en-US" sz="1100" dirty="0">
                          <a:solidFill>
                            <a:srgbClr val="1F2937"/>
                          </a:solidFill>
                        </a:rPr>
                        <a:t>조기에 </a:t>
                      </a:r>
                      <a:pPr indent="0" marL="0">
                        <a:buNone/>
                      </a:pPr>
                      <a:r>
                        <a:rPr lang="en-US" sz="1100" dirty="0">
                          <a:solidFill>
                            <a:srgbClr val="1F2937"/>
                          </a:solidFill>
                        </a:rPr>
                        <a:t>문서화하고 </a:t>
                      </a:r>
                      <a:pPr indent="0" marL="0">
                        <a:buNone/>
                      </a:pPr>
                      <a:r>
                        <a:rPr lang="en-US" sz="1100" dirty="0">
                          <a:solidFill>
                            <a:srgbClr val="1F2937"/>
                          </a:solidFill>
                        </a:rPr>
                        <a:t>법무·개인정보 </a:t>
                      </a:r>
                      <a:pPr indent="0" marL="0">
                        <a:buNone/>
                      </a:pPr>
                      <a:r>
                        <a:rPr lang="en-US" sz="1100" dirty="0">
                          <a:solidFill>
                            <a:srgbClr val="1F2937"/>
                          </a:solidFill>
                        </a:rPr>
                        <a:t>검토를 </a:t>
                      </a:r>
                      <a:pPr indent="0" marL="0">
                        <a:buNone/>
                      </a:pPr>
                      <a:r>
                        <a:rPr lang="en-US" sz="1100" dirty="0">
                          <a:solidFill>
                            <a:srgbClr val="1F2937"/>
                          </a:solidFill>
                        </a:rPr>
                        <a:t>개발과 </a:t>
                      </a:r>
                      <a:pPr indent="0" marL="0">
                        <a:buNone/>
                      </a:pPr>
                      <a:r>
                        <a:rPr lang="en-US" sz="1100" dirty="0">
                          <a:solidFill>
                            <a:srgbClr val="1F2937"/>
                          </a:solidFill>
                        </a:rPr>
                        <a:t>병행합니다. </a:t>
                      </a:r>
                      <a:pPr indent="0" marL="0">
                        <a:buNone/>
                      </a:pPr>
                      <a:r>
                        <a:rPr lang="en-US" sz="1100" dirty="0">
                          <a:solidFill>
                            <a:srgbClr val="1F2937"/>
                          </a:solidFill>
                        </a:rPr>
                        <a:t>미확인 </a:t>
                      </a:r>
                      <a:pPr indent="0" marL="0">
                        <a:buNone/>
                      </a:pPr>
                      <a:r>
                        <a:rPr lang="en-US" sz="1100" dirty="0">
                          <a:solidFill>
                            <a:srgbClr val="1F2937"/>
                          </a:solidFill>
                        </a:rPr>
                        <a:t>외부 </a:t>
                      </a:r>
                      <a:pPr indent="0" marL="0">
                        <a:buNone/>
                      </a:pPr>
                      <a:r>
                        <a:rPr lang="en-US" sz="1100" dirty="0">
                          <a:solidFill>
                            <a:srgbClr val="1F2937"/>
                          </a:solidFill>
                        </a:rPr>
                        <a:t>처리는 </a:t>
                      </a:r>
                      <a:pPr indent="0" marL="0">
                        <a:buNone/>
                      </a:pPr>
                      <a:r>
                        <a:rPr lang="en-US" sz="1100" dirty="0">
                          <a:solidFill>
                            <a:srgbClr val="1F2937"/>
                          </a:solidFill>
                        </a:rPr>
                        <a:t>출시 </a:t>
                      </a:r>
                      <a:pPr indent="0" marL="0">
                        <a:buNone/>
                      </a:pPr>
                      <a:r>
                        <a:rPr lang="en-US" sz="1100" dirty="0">
                          <a:solidFill>
                            <a:srgbClr val="1F2937"/>
                          </a:solidFill>
                        </a:rPr>
                        <a:t>전 </a:t>
                      </a:r>
                      <a:pPr indent="0" marL="0">
                        <a:buNone/>
                      </a:pPr>
                      <a:r>
                        <a:rPr lang="en-US" sz="1100" dirty="0">
                          <a:solidFill>
                            <a:srgbClr val="1F2937"/>
                          </a:solidFill>
                        </a:rPr>
                        <a:t>확인 </a:t>
                      </a:r>
                      <a:pPr indent="0" marL="0">
                        <a:buNone/>
                      </a:pPr>
                      <a:r>
                        <a:rPr lang="en-US" sz="1100" dirty="0">
                          <a:solidFill>
                            <a:srgbClr val="1F2937"/>
                          </a:solidFill>
                        </a:rPr>
                        <a:t>항목으로 </a:t>
                      </a:r>
                      <a:pPr indent="0" marL="0">
                        <a:buNone/>
                      </a:pPr>
                      <a:r>
                        <a:rPr lang="en-US" sz="1100" dirty="0">
                          <a:solidFill>
                            <a:srgbClr val="1F2937"/>
                          </a:solidFill>
                        </a:rPr>
                        <a:t>둡니다.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이대표, </a:t>
                      </a:r>
                      <a:pPr indent="0" marL="0">
                        <a:buNone/>
                      </a:pPr>
                      <a:r>
                        <a:rPr lang="en-US" sz="1100" dirty="0">
                          <a:solidFill>
                            <a:srgbClr val="1F2937"/>
                          </a:solidFill>
                        </a:rPr>
                        <a:t>개인정보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진행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리스크 관리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84094"/>
                <a:gridCol w="1775012"/>
                <a:gridCol w="484094"/>
                <a:gridCol w="484094"/>
                <a:gridCol w="2904565"/>
                <a:gridCol w="1613647"/>
                <a:gridCol w="484094"/>
              </a:tblGrid>
              <a:tr h="0">
                <a:tc>
                  <a:txBody>
                    <a:bodyPr/>
                    <a:lstStyle/>
                    <a:p>
                      <a:pPr indent="0" marL="0">
                        <a:buNone/>
                      </a:pPr>
                      <a:r>
                        <a:rPr lang="en-US" sz="1200" b="1" dirty="0">
                          <a:solidFill>
                            <a:srgbClr val="FFFFFF"/>
                          </a:solidFill>
                        </a:rPr>
                        <a:t>리스크 </a:t>
                      </a:r>
                      <a:pPr indent="0" marL="0">
                        <a:buNone/>
                      </a:pPr>
                      <a:r>
                        <a:rPr lang="en-US" sz="1200" b="1" dirty="0">
                          <a:solidFill>
                            <a:srgbClr val="FFFFFF"/>
                          </a:solidFill>
                        </a:rPr>
                        <a:t>ID</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리스크명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영향도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발생 </a:t>
                      </a:r>
                      <a:pPr indent="0" marL="0">
                        <a:buNone/>
                      </a:pPr>
                      <a:r>
                        <a:rPr lang="en-US" sz="1200" b="1" dirty="0">
                          <a:solidFill>
                            <a:srgbClr val="FFFFFF"/>
                          </a:solidFill>
                        </a:rPr>
                        <a:t>가능성</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대응 </a:t>
                      </a:r>
                      <a:pPr indent="0" marL="0">
                        <a:buNone/>
                      </a:pPr>
                      <a:r>
                        <a:rPr lang="en-US" sz="1200" b="1" dirty="0">
                          <a:solidFill>
                            <a:srgbClr val="FFFFFF"/>
                          </a:solidFill>
                        </a:rPr>
                        <a:t>전략</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R-012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삭제·백업 </a:t>
                      </a:r>
                      <a:pPr indent="0" marL="0">
                        <a:buNone/>
                      </a:pPr>
                      <a:r>
                        <a:rPr lang="en-US" sz="1100" dirty="0">
                          <a:solidFill>
                            <a:srgbClr val="1F2937"/>
                          </a:solidFill>
                        </a:rPr>
                        <a:t>삭제 </a:t>
                      </a:r>
                      <a:pPr indent="0" marL="0">
                        <a:buNone/>
                      </a:pPr>
                      <a:r>
                        <a:rPr lang="en-US" sz="1100" dirty="0">
                          <a:solidFill>
                            <a:srgbClr val="1F2937"/>
                          </a:solidFill>
                        </a:rPr>
                        <a:t>정책 </a:t>
                      </a:r>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삭제와 </a:t>
                      </a:r>
                      <a:pPr indent="0" marL="0">
                        <a:buNone/>
                      </a:pPr>
                      <a:r>
                        <a:rPr lang="en-US" sz="1100" dirty="0">
                          <a:solidFill>
                            <a:srgbClr val="1F2937"/>
                          </a:solidFill>
                        </a:rPr>
                        <a:t>연관 </a:t>
                      </a:r>
                      <a:pPr indent="0" marL="0">
                        <a:buNone/>
                      </a:pPr>
                      <a:r>
                        <a:rPr lang="en-US" sz="1100" dirty="0">
                          <a:solidFill>
                            <a:srgbClr val="1F2937"/>
                          </a:solidFill>
                        </a:rPr>
                        <a:t>기록 </a:t>
                      </a:r>
                      <a:pPr indent="0" marL="0">
                        <a:buNone/>
                      </a:pPr>
                      <a:r>
                        <a:rPr lang="en-US" sz="1100" dirty="0">
                          <a:solidFill>
                            <a:srgbClr val="1F2937"/>
                          </a:solidFill>
                        </a:rPr>
                        <a:t>삭제를 </a:t>
                      </a:r>
                      <a:pPr indent="0" marL="0">
                        <a:buNone/>
                      </a:pPr>
                      <a:r>
                        <a:rPr lang="en-US" sz="1100" dirty="0">
                          <a:solidFill>
                            <a:srgbClr val="1F2937"/>
                          </a:solidFill>
                        </a:rPr>
                        <a:t>우선 </a:t>
                      </a:r>
                      <a:pPr indent="0" marL="0">
                        <a:buNone/>
                      </a:pPr>
                      <a:r>
                        <a:rPr lang="en-US" sz="1100" dirty="0">
                          <a:solidFill>
                            <a:srgbClr val="1F2937"/>
                          </a:solidFill>
                        </a:rPr>
                        <a:t>구현하고, </a:t>
                      </a:r>
                      <a:pPr indent="0" marL="0">
                        <a:buNone/>
                      </a:pPr>
                      <a:r>
                        <a:rPr lang="en-US" sz="1100" dirty="0">
                          <a:solidFill>
                            <a:srgbClr val="1F2937"/>
                          </a:solidFill>
                        </a:rPr>
                        <a:t>처리 </a:t>
                      </a:r>
                      <a:pPr indent="0" marL="0">
                        <a:buNone/>
                      </a:pPr>
                      <a:r>
                        <a:rPr lang="en-US" sz="1100" dirty="0">
                          <a:solidFill>
                            <a:srgbClr val="1F2937"/>
                          </a:solidFill>
                        </a:rPr>
                        <a:t>시간·백업 </a:t>
                      </a:r>
                      <a:pPr indent="0" marL="0">
                        <a:buNone/>
                      </a:pPr>
                      <a:r>
                        <a:rPr lang="en-US" sz="1100" dirty="0">
                          <a:solidFill>
                            <a:srgbClr val="1F2937"/>
                          </a:solidFill>
                        </a:rPr>
                        <a:t>삭제 </a:t>
                      </a:r>
                      <a:pPr indent="0" marL="0">
                        <a:buNone/>
                      </a:pPr>
                      <a:r>
                        <a:rPr lang="en-US" sz="1100" dirty="0">
                          <a:solidFill>
                            <a:srgbClr val="1F2937"/>
                          </a:solidFill>
                        </a:rPr>
                        <a:t>시점·보유 </a:t>
                      </a:r>
                      <a:pPr indent="0" marL="0">
                        <a:buNone/>
                      </a:pPr>
                      <a:r>
                        <a:rPr lang="en-US" sz="1100" dirty="0">
                          <a:solidFill>
                            <a:srgbClr val="1F2937"/>
                          </a:solidFill>
                        </a:rPr>
                        <a:t>기간은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안내합니다.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최개발, </a:t>
                      </a:r>
                      <a:pPr indent="0" marL="0">
                        <a:buNone/>
                      </a:pPr>
                      <a:r>
                        <a:rPr lang="en-US" sz="1100" dirty="0">
                          <a:solidFill>
                            <a:srgbClr val="1F2937"/>
                          </a:solidFill>
                        </a:rPr>
                        <a:t>개인정보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R-013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전담 </a:t>
                      </a:r>
                      <a:pPr indent="0" marL="0">
                        <a:buNone/>
                      </a:pPr>
                      <a:r>
                        <a:rPr lang="en-US" sz="1100" dirty="0">
                          <a:solidFill>
                            <a:srgbClr val="1F2937"/>
                          </a:solidFill>
                        </a:rPr>
                        <a:t>QA </a:t>
                      </a:r>
                      <a:pPr indent="0" marL="0">
                        <a:buNone/>
                      </a:pPr>
                      <a:r>
                        <a:rPr lang="en-US" sz="1100" dirty="0">
                          <a:solidFill>
                            <a:srgbClr val="1F2937"/>
                          </a:solidFill>
                        </a:rPr>
                        <a:t>부재 </a:t>
                      </a:r>
                      <a:pPr indent="0" marL="0">
                        <a:buNone/>
                      </a:pPr>
                      <a:r>
                        <a:rPr lang="en-US" sz="1100" dirty="0">
                          <a:solidFill>
                            <a:srgbClr val="1F2937"/>
                          </a:solidFill>
                        </a:rPr>
                        <a:t>및 </a:t>
                      </a:r>
                      <a:pPr indent="0" marL="0">
                        <a:buNone/>
                      </a:pPr>
                      <a:r>
                        <a:rPr lang="en-US" sz="1100" dirty="0">
                          <a:solidFill>
                            <a:srgbClr val="1F2937"/>
                          </a:solidFill>
                        </a:rPr>
                        <a:t>기기 </a:t>
                      </a:r>
                      <a:pPr indent="0" marL="0">
                        <a:buNone/>
                      </a:pPr>
                      <a:r>
                        <a:rPr lang="en-US" sz="1100" dirty="0">
                          <a:solidFill>
                            <a:srgbClr val="1F2937"/>
                          </a:solidFill>
                        </a:rPr>
                        <a:t>시험 </a:t>
                      </a:r>
                      <a:pPr indent="0" marL="0">
                        <a:buNone/>
                      </a:pPr>
                      <a:r>
                        <a:rPr lang="en-US" sz="1100" dirty="0">
                          <a:solidFill>
                            <a:srgbClr val="1F2937"/>
                          </a:solidFill>
                        </a:rPr>
                        <a:t>범위 </a:t>
                      </a:r>
                      <a:pPr indent="0" marL="0">
                        <a:buNone/>
                      </a:pPr>
                      <a:r>
                        <a:rPr lang="en-US" sz="1100" dirty="0">
                          <a:solidFill>
                            <a:srgbClr val="1F2937"/>
                          </a:solidFill>
                        </a:rPr>
                        <a:t>부족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PM·디자이너·개발자가 </a:t>
                      </a:r>
                      <a:pPr indent="0" marL="0">
                        <a:buNone/>
                      </a:pPr>
                      <a:r>
                        <a:rPr lang="en-US" sz="1100" dirty="0">
                          <a:solidFill>
                            <a:srgbClr val="1F2937"/>
                          </a:solidFill>
                        </a:rPr>
                        <a:t>기능·기기·사용성·개인정보 </a:t>
                      </a:r>
                      <a:pPr indent="0" marL="0">
                        <a:buNone/>
                      </a:pPr>
                      <a:r>
                        <a:rPr lang="en-US" sz="1100" dirty="0">
                          <a:solidFill>
                            <a:srgbClr val="1F2937"/>
                          </a:solidFill>
                        </a:rPr>
                        <a:t>검증을 </a:t>
                      </a:r>
                      <a:pPr indent="0" marL="0">
                        <a:buNone/>
                      </a:pPr>
                      <a:r>
                        <a:rPr lang="en-US" sz="1100" dirty="0">
                          <a:solidFill>
                            <a:srgbClr val="1F2937"/>
                          </a:solidFill>
                        </a:rPr>
                        <a:t>나누고, </a:t>
                      </a:r>
                      <a:pPr indent="0" marL="0">
                        <a:buNone/>
                      </a:pPr>
                      <a:r>
                        <a:rPr lang="en-US" sz="1100" dirty="0">
                          <a:solidFill>
                            <a:srgbClr val="1F2937"/>
                          </a:solidFill>
                        </a:rPr>
                        <a:t>지원 </a:t>
                      </a:r>
                      <a:pPr indent="0" marL="0">
                        <a:buNone/>
                      </a:pPr>
                      <a:r>
                        <a:rPr lang="en-US" sz="1100" dirty="0">
                          <a:solidFill>
                            <a:srgbClr val="1F2937"/>
                          </a:solidFill>
                        </a:rPr>
                        <a:t>OS </a:t>
                      </a:r>
                      <a:pPr indent="0" marL="0">
                        <a:buNone/>
                      </a:pPr>
                      <a:r>
                        <a:rPr lang="en-US" sz="1100" dirty="0">
                          <a:solidFill>
                            <a:srgbClr val="1F2937"/>
                          </a:solidFill>
                        </a:rPr>
                        <a:t>범위와 </a:t>
                      </a:r>
                      <a:pPr indent="0" marL="0">
                        <a:buNone/>
                      </a:pPr>
                      <a:r>
                        <a:rPr lang="en-US" sz="1100" dirty="0">
                          <a:solidFill>
                            <a:srgbClr val="1F2937"/>
                          </a:solidFill>
                        </a:rPr>
                        <a:t>기기 </a:t>
                      </a:r>
                      <a:pPr indent="0" marL="0">
                        <a:buNone/>
                      </a:pPr>
                      <a:r>
                        <a:rPr lang="en-US" sz="1100" dirty="0">
                          <a:solidFill>
                            <a:srgbClr val="1F2937"/>
                          </a:solidFill>
                        </a:rPr>
                        <a:t>확보를 </a:t>
                      </a:r>
                      <a:pPr indent="0" marL="0">
                        <a:buNone/>
                      </a:pPr>
                      <a:r>
                        <a:rPr lang="en-US" sz="1100" dirty="0">
                          <a:solidFill>
                            <a:srgbClr val="1F2937"/>
                          </a:solidFill>
                        </a:rPr>
                        <a:t>확인합니다.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박디자이너,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진행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R-014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추가로 </a:t>
                      </a:r>
                      <a:pPr indent="0" marL="0">
                        <a:buNone/>
                      </a:pPr>
                      <a:r>
                        <a:rPr lang="en-US" sz="1100" dirty="0">
                          <a:solidFill>
                            <a:srgbClr val="1F2937"/>
                          </a:solidFill>
                        </a:rPr>
                        <a:t>통합·안정화 </a:t>
                      </a:r>
                      <a:pPr indent="0" marL="0">
                        <a:buNone/>
                      </a:pPr>
                      <a:r>
                        <a:rPr lang="en-US" sz="1100" dirty="0">
                          <a:solidFill>
                            <a:srgbClr val="1F2937"/>
                          </a:solidFill>
                        </a:rPr>
                        <a:t>시간 </a:t>
                      </a:r>
                      <a:pPr indent="0" marL="0">
                        <a:buNone/>
                      </a:pPr>
                      <a:r>
                        <a:rPr lang="en-US" sz="1100" dirty="0">
                          <a:solidFill>
                            <a:srgbClr val="1F2937"/>
                          </a:solidFill>
                        </a:rPr>
                        <a:t>부족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W6 </a:t>
                      </a:r>
                      <a:pPr indent="0" marL="0">
                        <a:buNone/>
                      </a:pPr>
                      <a:r>
                        <a:rPr lang="en-US" sz="1100" dirty="0">
                          <a:solidFill>
                            <a:srgbClr val="1F2937"/>
                          </a:solidFill>
                        </a:rPr>
                        <a:t>초 </a:t>
                      </a:r>
                      <a:pPr indent="0" marL="0">
                        <a:buNone/>
                      </a:pPr>
                      <a:r>
                        <a:rPr lang="en-US" sz="1100" dirty="0">
                          <a:solidFill>
                            <a:srgbClr val="1F2937"/>
                          </a:solidFill>
                        </a:rPr>
                        <a:t>기능 </a:t>
                      </a:r>
                      <a:pPr indent="0" marL="0">
                        <a:buNone/>
                      </a:pPr>
                      <a:r>
                        <a:rPr lang="en-US" sz="1100" dirty="0">
                          <a:solidFill>
                            <a:srgbClr val="1F2937"/>
                          </a:solidFill>
                        </a:rPr>
                        <a:t>동결, </a:t>
                      </a:r>
                      <a:pPr indent="0" marL="0">
                        <a:buNone/>
                      </a:pPr>
                      <a:r>
                        <a:rPr lang="en-US" sz="1100" dirty="0">
                          <a:solidFill>
                            <a:srgbClr val="1F2937"/>
                          </a:solidFill>
                        </a:rPr>
                        <a:t>신규 </a:t>
                      </a:r>
                      <a:pPr indent="0" marL="0">
                        <a:buNone/>
                      </a:pPr>
                      <a:r>
                        <a:rPr lang="en-US" sz="1100" dirty="0">
                          <a:solidFill>
                            <a:srgbClr val="1F2937"/>
                          </a:solidFill>
                        </a:rPr>
                        <a:t>기능보다 </a:t>
                      </a:r>
                      <a:pPr indent="0" marL="0">
                        <a:buNone/>
                      </a:pPr>
                      <a:r>
                        <a:rPr lang="en-US" sz="1100" dirty="0">
                          <a:solidFill>
                            <a:srgbClr val="1F2937"/>
                          </a:solidFill>
                        </a:rPr>
                        <a:t>결함 </a:t>
                      </a:r>
                      <a:pPr indent="0" marL="0">
                        <a:buNone/>
                      </a:pPr>
                      <a:r>
                        <a:rPr lang="en-US" sz="1100" dirty="0">
                          <a:solidFill>
                            <a:srgbClr val="1F2937"/>
                          </a:solidFill>
                        </a:rPr>
                        <a:t>수정 </a:t>
                      </a:r>
                      <a:pPr indent="0" marL="0">
                        <a:buNone/>
                      </a:pPr>
                      <a:r>
                        <a:rPr lang="en-US" sz="1100" dirty="0">
                          <a:solidFill>
                            <a:srgbClr val="1F2937"/>
                          </a:solidFill>
                        </a:rPr>
                        <a:t>우선 </a:t>
                      </a:r>
                      <a:pPr indent="0" marL="0">
                        <a:buNone/>
                      </a:pPr>
                      <a:r>
                        <a:rPr lang="en-US" sz="1100" dirty="0">
                          <a:solidFill>
                            <a:srgbClr val="1F2937"/>
                          </a:solidFill>
                        </a:rPr>
                        <a:t>원칙을 </a:t>
                      </a:r>
                      <a:pPr indent="0" marL="0">
                        <a:buNone/>
                      </a:pPr>
                      <a:r>
                        <a:rPr lang="en-US" sz="1100" dirty="0">
                          <a:solidFill>
                            <a:srgbClr val="1F2937"/>
                          </a:solidFill>
                        </a:rPr>
                        <a:t>적용합니다.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전 </a:t>
                      </a:r>
                      <a:pPr indent="0" marL="0">
                        <a:buNone/>
                      </a:pPr>
                      <a:r>
                        <a:rPr lang="en-US" sz="1100" dirty="0">
                          <a:solidFill>
                            <a:srgbClr val="1F2937"/>
                          </a:solidFill>
                        </a:rPr>
                        <a:t>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진행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R-015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외부 </a:t>
                      </a:r>
                      <a:pPr indent="0" marL="0">
                        <a:buNone/>
                      </a:pPr>
                      <a:r>
                        <a:rPr lang="en-US" sz="1100" dirty="0">
                          <a:solidFill>
                            <a:srgbClr val="1F2937"/>
                          </a:solidFill>
                        </a:rPr>
                        <a:t>API·서버 </a:t>
                      </a:r>
                      <a:pPr indent="0" marL="0">
                        <a:buNone/>
                      </a:pPr>
                      <a:r>
                        <a:rPr lang="en-US" sz="1100" dirty="0">
                          <a:solidFill>
                            <a:srgbClr val="1F2937"/>
                          </a:solidFill>
                        </a:rPr>
                        <a:t>비용 </a:t>
                      </a:r>
                      <a:pPr indent="0" marL="0">
                        <a:buNone/>
                      </a:pPr>
                      <a:r>
                        <a:rPr lang="en-US" sz="1100" dirty="0">
                          <a:solidFill>
                            <a:srgbClr val="1F2937"/>
                          </a:solidFill>
                        </a:rPr>
                        <a:t>불확실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수별 </a:t>
                      </a:r>
                      <a:pPr indent="0" marL="0">
                        <a:buNone/>
                      </a:pPr>
                      <a:r>
                        <a:rPr lang="en-US" sz="1100" dirty="0">
                          <a:solidFill>
                            <a:srgbClr val="1F2937"/>
                          </a:solidFill>
                        </a:rPr>
                        <a:t>사용량·캐시 </a:t>
                      </a:r>
                      <a:pPr indent="0" marL="0">
                        <a:buNone/>
                      </a:pPr>
                      <a:r>
                        <a:rPr lang="en-US" sz="1100" dirty="0">
                          <a:solidFill>
                            <a:srgbClr val="1F2937"/>
                          </a:solidFill>
                        </a:rPr>
                        <a:t>적용 </a:t>
                      </a:r>
                      <a:pPr indent="0" marL="0">
                        <a:buNone/>
                      </a:pPr>
                      <a:r>
                        <a:rPr lang="en-US" sz="1100" dirty="0">
                          <a:solidFill>
                            <a:srgbClr val="1F2937"/>
                          </a:solidFill>
                        </a:rPr>
                        <a:t>전후 </a:t>
                      </a:r>
                      <a:pPr indent="0" marL="0">
                        <a:buNone/>
                      </a:pPr>
                      <a:r>
                        <a:rPr lang="en-US" sz="1100" dirty="0">
                          <a:solidFill>
                            <a:srgbClr val="1F2937"/>
                          </a:solidFill>
                        </a:rPr>
                        <a:t>비용을 </a:t>
                      </a:r>
                      <a:pPr indent="0" marL="0">
                        <a:buNone/>
                      </a:pPr>
                      <a:r>
                        <a:rPr lang="en-US" sz="1100" dirty="0">
                          <a:solidFill>
                            <a:srgbClr val="1F2937"/>
                          </a:solidFill>
                        </a:rPr>
                        <a:t>추정하고 </a:t>
                      </a:r>
                      <a:pPr indent="0" marL="0">
                        <a:buNone/>
                      </a:pPr>
                      <a:r>
                        <a:rPr lang="en-US" sz="1100" dirty="0">
                          <a:solidFill>
                            <a:srgbClr val="1F2937"/>
                          </a:solidFill>
                        </a:rPr>
                        <a:t>계약의 </a:t>
                      </a:r>
                      <a:pPr indent="0" marL="0">
                        <a:buNone/>
                      </a:pPr>
                      <a:r>
                        <a:rPr lang="en-US" sz="1100" dirty="0">
                          <a:solidFill>
                            <a:srgbClr val="1F2937"/>
                          </a:solidFill>
                        </a:rPr>
                        <a:t>최소 </a:t>
                      </a:r>
                      <a:pPr indent="0" marL="0">
                        <a:buNone/>
                      </a:pPr>
                      <a:r>
                        <a:rPr lang="en-US" sz="1100" dirty="0">
                          <a:solidFill>
                            <a:srgbClr val="1F2937"/>
                          </a:solidFill>
                        </a:rPr>
                        <a:t>금액·자동 </a:t>
                      </a:r>
                      <a:pPr indent="0" marL="0">
                        <a:buNone/>
                      </a:pPr>
                      <a:r>
                        <a:rPr lang="en-US" sz="1100" dirty="0">
                          <a:solidFill>
                            <a:srgbClr val="1F2937"/>
                          </a:solidFill>
                        </a:rPr>
                        <a:t>결제·해지 </a:t>
                      </a:r>
                      <a:pPr indent="0" marL="0">
                        <a:buNone/>
                      </a:pPr>
                      <a:r>
                        <a:rPr lang="en-US" sz="1100" dirty="0">
                          <a:solidFill>
                            <a:srgbClr val="1F2937"/>
                          </a:solidFill>
                        </a:rPr>
                        <a:t>조건을 </a:t>
                      </a:r>
                      <a:pPr indent="0" marL="0">
                        <a:buNone/>
                      </a:pPr>
                      <a:r>
                        <a:rPr lang="en-US" sz="1100" dirty="0">
                          <a:solidFill>
                            <a:srgbClr val="1F2937"/>
                          </a:solidFill>
                        </a:rPr>
                        <a:t>확인합니다. </a:t>
                      </a:r>
                      <a:pPr indent="0" marL="0">
                        <a:buNone/>
                      </a:pPr>
                      <a:r>
                        <a:rPr lang="en-US" sz="1100" dirty="0">
                          <a:solidFill>
                            <a:srgbClr val="1F2937"/>
                          </a:solidFill>
                        </a:rPr>
                        <a:t>월 </a:t>
                      </a:r>
                      <a:pPr indent="0" marL="0">
                        <a:buNone/>
                      </a:pPr>
                      <a:r>
                        <a:rPr lang="en-US" sz="1100" dirty="0">
                          <a:solidFill>
                            <a:srgbClr val="1F2937"/>
                          </a:solidFill>
                        </a:rPr>
                        <a:t>30만 </a:t>
                      </a:r>
                      <a:pPr indent="0" marL="0">
                        <a:buNone/>
                      </a:pPr>
                      <a:r>
                        <a:rPr lang="en-US" sz="1100" dirty="0">
                          <a:solidFill>
                            <a:srgbClr val="1F2937"/>
                          </a:solidFill>
                        </a:rPr>
                        <a:t>원을 </a:t>
                      </a:r>
                      <a:pPr indent="0" marL="0">
                        <a:buNone/>
                      </a:pPr>
                      <a:r>
                        <a:rPr lang="en-US" sz="1100" dirty="0">
                          <a:solidFill>
                            <a:srgbClr val="1F2937"/>
                          </a:solidFill>
                        </a:rPr>
                        <a:t>확정 </a:t>
                      </a:r>
                      <a:pPr indent="0" marL="0">
                        <a:buNone/>
                      </a:pPr>
                      <a:r>
                        <a:rPr lang="en-US" sz="1100" dirty="0">
                          <a:solidFill>
                            <a:srgbClr val="1F2937"/>
                          </a:solidFill>
                        </a:rPr>
                        <a:t>상한으로 </a:t>
                      </a:r>
                      <a:pPr indent="0" marL="0">
                        <a:buNone/>
                      </a:pPr>
                      <a:r>
                        <a:rPr lang="en-US" sz="1100" dirty="0">
                          <a:solidFill>
                            <a:srgbClr val="1F2937"/>
                          </a:solidFill>
                        </a:rPr>
                        <a:t>사용하지 </a:t>
                      </a:r>
                      <a:pPr indent="0" marL="0">
                        <a:buNone/>
                      </a:pPr>
                      <a:r>
                        <a:rPr lang="en-US" sz="1100" dirty="0">
                          <a:solidFill>
                            <a:srgbClr val="1F2937"/>
                          </a:solidFill>
                        </a:rPr>
                        <a:t>않습니다.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이대표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R-016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분석·오류 </a:t>
                      </a:r>
                      <a:pPr indent="0" marL="0">
                        <a:buNone/>
                      </a:pPr>
                      <a:r>
                        <a:rPr lang="en-US" sz="1100" dirty="0">
                          <a:solidFill>
                            <a:srgbClr val="1F2937"/>
                          </a:solidFill>
                        </a:rPr>
                        <a:t>로그에 </a:t>
                      </a:r>
                      <a:pPr indent="0" marL="0">
                        <a:buNone/>
                      </a:pPr>
                      <a:r>
                        <a:rPr lang="en-US" sz="1100" dirty="0">
                          <a:solidFill>
                            <a:srgbClr val="1F2937"/>
                          </a:solidFill>
                        </a:rPr>
                        <a:t>식단 </a:t>
                      </a:r>
                      <a:pPr indent="0" marL="0">
                        <a:buNone/>
                      </a:pPr>
                      <a:r>
                        <a:rPr lang="en-US" sz="1100" dirty="0">
                          <a:solidFill>
                            <a:srgbClr val="1F2937"/>
                          </a:solidFill>
                        </a:rPr>
                        <a:t>내용 </a:t>
                      </a:r>
                      <a:pPr indent="0" marL="0">
                        <a:buNone/>
                      </a:pPr>
                      <a:r>
                        <a:rPr lang="en-US" sz="1100" dirty="0">
                          <a:solidFill>
                            <a:srgbClr val="1F2937"/>
                          </a:solidFill>
                        </a:rPr>
                        <a:t>포함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분석 </a:t>
                      </a:r>
                      <a:pPr indent="0" marL="0">
                        <a:buNone/>
                      </a:pPr>
                      <a:r>
                        <a:rPr lang="en-US" sz="1100" dirty="0">
                          <a:solidFill>
                            <a:srgbClr val="1F2937"/>
                          </a:solidFill>
                        </a:rPr>
                        <a:t>이벤트·오류 </a:t>
                      </a:r>
                      <a:pPr indent="0" marL="0">
                        <a:buNone/>
                      </a:pPr>
                      <a:r>
                        <a:rPr lang="en-US" sz="1100" dirty="0">
                          <a:solidFill>
                            <a:srgbClr val="1F2937"/>
                          </a:solidFill>
                        </a:rPr>
                        <a:t>로그 </a:t>
                      </a:r>
                      <a:pPr indent="0" marL="0">
                        <a:buNone/>
                      </a:pPr>
                      <a:r>
                        <a:rPr lang="en-US" sz="1100" dirty="0">
                          <a:solidFill>
                            <a:srgbClr val="1F2937"/>
                          </a:solidFill>
                        </a:rPr>
                        <a:t>기준을 </a:t>
                      </a:r>
                      <a:pPr indent="0" marL="0">
                        <a:buNone/>
                      </a:pPr>
                      <a:r>
                        <a:rPr lang="en-US" sz="1100" dirty="0">
                          <a:solidFill>
                            <a:srgbClr val="1F2937"/>
                          </a:solidFill>
                        </a:rPr>
                        <a:t>분리하고 </a:t>
                      </a:r>
                      <a:pPr indent="0" marL="0">
                        <a:buNone/>
                      </a:pPr>
                      <a:r>
                        <a:rPr lang="en-US" sz="1100" dirty="0">
                          <a:solidFill>
                            <a:srgbClr val="1F2937"/>
                          </a:solidFill>
                        </a:rPr>
                        <a:t>음식명·칼로리·체중·자유 </a:t>
                      </a:r>
                      <a:pPr indent="0" marL="0">
                        <a:buNone/>
                      </a:pPr>
                      <a:r>
                        <a:rPr lang="en-US" sz="1100" dirty="0">
                          <a:solidFill>
                            <a:srgbClr val="1F2937"/>
                          </a:solidFill>
                        </a:rPr>
                        <a:t>입력 </a:t>
                      </a:r>
                      <a:pPr indent="0" marL="0">
                        <a:buNone/>
                      </a:pPr>
                      <a:r>
                        <a:rPr lang="en-US" sz="1100" dirty="0">
                          <a:solidFill>
                            <a:srgbClr val="1F2937"/>
                          </a:solidFill>
                        </a:rPr>
                        <a:t>내용을 </a:t>
                      </a:r>
                      <a:pPr indent="0" marL="0">
                        <a:buNone/>
                      </a:pPr>
                      <a:r>
                        <a:rPr lang="en-US" sz="1100" dirty="0">
                          <a:solidFill>
                            <a:srgbClr val="1F2937"/>
                          </a:solidFill>
                        </a:rPr>
                        <a:t>전송하지 </a:t>
                      </a:r>
                      <a:pPr indent="0" marL="0">
                        <a:buNone/>
                      </a:pPr>
                      <a:r>
                        <a:rPr lang="en-US" sz="1100" dirty="0">
                          <a:solidFill>
                            <a:srgbClr val="1F2937"/>
                          </a:solidFill>
                        </a:rPr>
                        <a:t>않는지 </a:t>
                      </a:r>
                      <a:pPr indent="0" marL="0">
                        <a:buNone/>
                      </a:pPr>
                      <a:r>
                        <a:rPr lang="en-US" sz="1100" dirty="0">
                          <a:solidFill>
                            <a:srgbClr val="1F2937"/>
                          </a:solidFill>
                        </a:rPr>
                        <a:t>코드 </a:t>
                      </a:r>
                      <a:pPr indent="0" marL="0">
                        <a:buNone/>
                      </a:pPr>
                      <a:r>
                        <a:rPr lang="en-US" sz="1100" dirty="0">
                          <a:solidFill>
                            <a:srgbClr val="1F2937"/>
                          </a:solidFill>
                        </a:rPr>
                        <a:t>검토와 </a:t>
                      </a:r>
                      <a:pPr indent="0" marL="0">
                        <a:buNone/>
                      </a:pPr>
                      <a:r>
                        <a:rPr lang="en-US" sz="1100" dirty="0">
                          <a:solidFill>
                            <a:srgbClr val="1F2937"/>
                          </a:solidFill>
                        </a:rPr>
                        <a:t>시험을 </a:t>
                      </a:r>
                      <a:pPr indent="0" marL="0">
                        <a:buNone/>
                      </a:pPr>
                      <a:r>
                        <a:rPr lang="en-US" sz="1100" dirty="0">
                          <a:solidFill>
                            <a:srgbClr val="1F2937"/>
                          </a:solidFill>
                        </a:rPr>
                        <a:t>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진행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R-017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표본이 </a:t>
                      </a:r>
                      <a:pPr indent="0" marL="0">
                        <a:buNone/>
                      </a:pPr>
                      <a:r>
                        <a:rPr lang="en-US" sz="1100" dirty="0">
                          <a:solidFill>
                            <a:srgbClr val="1F2937"/>
                          </a:solidFill>
                        </a:rPr>
                        <a:t>적어 </a:t>
                      </a:r>
                      <a:pPr indent="0" marL="0">
                        <a:buNone/>
                      </a:pPr>
                      <a:r>
                        <a:rPr lang="en-US" sz="1100" dirty="0">
                          <a:solidFill>
                            <a:srgbClr val="1F2937"/>
                          </a:solidFill>
                        </a:rPr>
                        <a:t>결과 </a:t>
                      </a:r>
                      <a:pPr indent="0" marL="0">
                        <a:buNone/>
                      </a:pPr>
                      <a:r>
                        <a:rPr lang="en-US" sz="1100" dirty="0">
                          <a:solidFill>
                            <a:srgbClr val="1F2937"/>
                          </a:solidFill>
                        </a:rPr>
                        <a:t>해석이 </a:t>
                      </a:r>
                      <a:pPr indent="0" marL="0">
                        <a:buNone/>
                      </a:pPr>
                      <a:r>
                        <a:rPr lang="en-US" sz="1100" dirty="0">
                          <a:solidFill>
                            <a:srgbClr val="1F2937"/>
                          </a:solidFill>
                        </a:rPr>
                        <a:t>불안정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수치 </a:t>
                      </a:r>
                      <a:pPr indent="0" marL="0">
                        <a:buNone/>
                      </a:pPr>
                      <a:r>
                        <a:rPr lang="en-US" sz="1100" dirty="0">
                          <a:solidFill>
                            <a:srgbClr val="1F2937"/>
                          </a:solidFill>
                        </a:rPr>
                        <a:t>목표를 </a:t>
                      </a:r>
                      <a:pPr indent="0" marL="0">
                        <a:buNone/>
                      </a:pPr>
                      <a:r>
                        <a:rPr lang="en-US" sz="1100" dirty="0">
                          <a:solidFill>
                            <a:srgbClr val="1F2937"/>
                          </a:solidFill>
                        </a:rPr>
                        <a:t>사전 </a:t>
                      </a:r>
                      <a:pPr indent="0" marL="0">
                        <a:buNone/>
                      </a:pPr>
                      <a:r>
                        <a:rPr lang="en-US" sz="1100" dirty="0">
                          <a:solidFill>
                            <a:srgbClr val="1F2937"/>
                          </a:solidFill>
                        </a:rPr>
                        <a:t>고정하지 </a:t>
                      </a:r>
                      <a:pPr indent="0" marL="0">
                        <a:buNone/>
                      </a:pPr>
                      <a:r>
                        <a:rPr lang="en-US" sz="1100" dirty="0">
                          <a:solidFill>
                            <a:srgbClr val="1F2937"/>
                          </a:solidFill>
                        </a:rPr>
                        <a:t>않고 </a:t>
                      </a:r>
                      <a:pPr indent="0" marL="0">
                        <a:buNone/>
                      </a:pPr>
                      <a:r>
                        <a:rPr lang="en-US" sz="1100" dirty="0">
                          <a:solidFill>
                            <a:srgbClr val="1F2937"/>
                          </a:solidFill>
                        </a:rPr>
                        <a:t>인터뷰·사용 </a:t>
                      </a:r>
                      <a:pPr indent="0" marL="0">
                        <a:buNone/>
                      </a:pPr>
                      <a:r>
                        <a:rPr lang="en-US" sz="1100" dirty="0">
                          <a:solidFill>
                            <a:srgbClr val="1F2937"/>
                          </a:solidFill>
                        </a:rPr>
                        <a:t>관찰과 </a:t>
                      </a:r>
                      <a:pPr indent="0" marL="0">
                        <a:buNone/>
                      </a:pPr>
                      <a:r>
                        <a:rPr lang="en-US" sz="1100" dirty="0">
                          <a:solidFill>
                            <a:srgbClr val="1F2937"/>
                          </a:solidFill>
                        </a:rPr>
                        <a:t>함께 </a:t>
                      </a:r>
                      <a:pPr indent="0" marL="0">
                        <a:buNone/>
                      </a:pPr>
                      <a:r>
                        <a:rPr lang="en-US" sz="1100" dirty="0">
                          <a:solidFill>
                            <a:srgbClr val="1F2937"/>
                          </a:solidFill>
                        </a:rPr>
                        <a:t>해석합니다. </a:t>
                      </a:r>
                      <a:pPr indent="0" marL="0">
                        <a:buNone/>
                      </a:pPr>
                      <a:r>
                        <a:rPr lang="en-US" sz="1100" dirty="0">
                          <a:solidFill>
                            <a:srgbClr val="1F2937"/>
                          </a:solidFill>
                        </a:rPr>
                        <a:t>표본 </a:t>
                      </a:r>
                      <a:pPr indent="0" marL="0">
                        <a:buNone/>
                      </a:pPr>
                      <a:r>
                        <a:rPr lang="en-US" sz="1100" dirty="0">
                          <a:solidFill>
                            <a:srgbClr val="1F2937"/>
                          </a:solidFill>
                        </a:rPr>
                        <a:t>수와 </a:t>
                      </a:r>
                      <a:pPr indent="0" marL="0">
                        <a:buNone/>
                      </a:pPr>
                      <a:r>
                        <a:rPr lang="en-US" sz="1100" dirty="0">
                          <a:solidFill>
                            <a:srgbClr val="1F2937"/>
                          </a:solidFill>
                        </a:rPr>
                        <a:t>테스트 </a:t>
                      </a:r>
                      <a:pPr indent="0" marL="0">
                        <a:buNone/>
                      </a:pPr>
                      <a:r>
                        <a:rPr lang="en-US" sz="1100" dirty="0">
                          <a:solidFill>
                            <a:srgbClr val="1F2937"/>
                          </a:solidFill>
                        </a:rPr>
                        <a:t>방식은 </a:t>
                      </a:r>
                      <a:pPr indent="0" marL="0">
                        <a:buNone/>
                      </a:pPr>
                      <a:r>
                        <a:rPr lang="en-US" sz="1100" dirty="0">
                          <a:solidFill>
                            <a:srgbClr val="1F2937"/>
                          </a:solidFill>
                        </a:rPr>
                        <a:t>확정합니다.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계획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R-018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사진 </a:t>
                      </a:r>
                      <a:pPr indent="0" marL="0">
                        <a:buNone/>
                      </a:pPr>
                      <a:r>
                        <a:rPr lang="en-US" sz="1100" dirty="0">
                          <a:solidFill>
                            <a:srgbClr val="1F2937"/>
                          </a:solidFill>
                        </a:rPr>
                        <a:t>저장·삭제·EXIF </a:t>
                      </a:r>
                      <a:pPr indent="0" marL="0">
                        <a:buNone/>
                      </a:pPr>
                      <a:r>
                        <a:rPr lang="en-US" sz="1100" dirty="0">
                          <a:solidFill>
                            <a:srgbClr val="1F2937"/>
                          </a:solidFill>
                        </a:rPr>
                        <a:t>처리 </a:t>
                      </a:r>
                      <a:pPr indent="0" marL="0">
                        <a:buNone/>
                      </a:pPr>
                      <a:r>
                        <a:rPr lang="en-US" sz="1100" dirty="0">
                          <a:solidFill>
                            <a:srgbClr val="1F2937"/>
                          </a:solidFill>
                        </a:rPr>
                        <a:t>부담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사진 </a:t>
                      </a:r>
                      <a:pPr indent="0" marL="0">
                        <a:buNone/>
                      </a:pPr>
                      <a:r>
                        <a:rPr lang="en-US" sz="1100" dirty="0">
                          <a:solidFill>
                            <a:srgbClr val="1F2937"/>
                          </a:solidFill>
                        </a:rPr>
                        <a:t>첨부 </a:t>
                      </a:r>
                      <a:pPr indent="0" marL="0">
                        <a:buNone/>
                      </a:pPr>
                      <a:r>
                        <a:rPr lang="en-US" sz="1100" dirty="0">
                          <a:solidFill>
                            <a:srgbClr val="1F2937"/>
                          </a:solidFill>
                        </a:rPr>
                        <a:t>최종 </a:t>
                      </a:r>
                      <a:pPr indent="0" marL="0">
                        <a:buNone/>
                      </a:pPr>
                      <a:r>
                        <a:rPr lang="en-US" sz="1100" dirty="0">
                          <a:solidFill>
                            <a:srgbClr val="1F2937"/>
                          </a:solidFill>
                        </a:rPr>
                        <a:t>승인 </a:t>
                      </a:r>
                      <a:pPr indent="0" marL="0">
                        <a:buNone/>
                      </a:pPr>
                      <a:r>
                        <a:rPr lang="en-US" sz="1100" dirty="0">
                          <a:solidFill>
                            <a:srgbClr val="1F2937"/>
                          </a:solidFill>
                        </a:rPr>
                        <a:t>후에만 </a:t>
                      </a:r>
                      <a:pPr indent="0" marL="0">
                        <a:buNone/>
                      </a:pPr>
                      <a:r>
                        <a:rPr lang="en-US" sz="1100" dirty="0">
                          <a:solidFill>
                            <a:srgbClr val="1F2937"/>
                          </a:solidFill>
                        </a:rPr>
                        <a:t>구현하고, </a:t>
                      </a:r>
                      <a:pPr indent="0" marL="0">
                        <a:buNone/>
                      </a:pPr>
                      <a:r>
                        <a:rPr lang="en-US" sz="1100" dirty="0">
                          <a:solidFill>
                            <a:srgbClr val="1F2937"/>
                          </a:solidFill>
                        </a:rPr>
                        <a:t>별도 </a:t>
                      </a:r>
                      <a:pPr indent="0" marL="0">
                        <a:buNone/>
                      </a:pPr>
                      <a:r>
                        <a:rPr lang="en-US" sz="1100" dirty="0">
                          <a:solidFill>
                            <a:srgbClr val="1F2937"/>
                          </a:solidFill>
                        </a:rPr>
                        <a:t>저장소·EXIF </a:t>
                      </a:r>
                      <a:pPr indent="0" marL="0">
                        <a:buNone/>
                      </a:pPr>
                      <a:r>
                        <a:rPr lang="en-US" sz="1100" dirty="0">
                          <a:solidFill>
                            <a:srgbClr val="1F2937"/>
                          </a:solidFill>
                        </a:rPr>
                        <a:t>제거·접근 </a:t>
                      </a:r>
                      <a:pPr indent="0" marL="0">
                        <a:buNone/>
                      </a:pPr>
                      <a:r>
                        <a:rPr lang="en-US" sz="1100" dirty="0">
                          <a:solidFill>
                            <a:srgbClr val="1F2937"/>
                          </a:solidFill>
                        </a:rPr>
                        <a:t>제한·삭제 </a:t>
                      </a:r>
                      <a:pPr indent="0" marL="0">
                        <a:buNone/>
                      </a:pPr>
                      <a:r>
                        <a:rPr lang="en-US" sz="1100" dirty="0">
                          <a:solidFill>
                            <a:srgbClr val="1F2937"/>
                          </a:solidFill>
                        </a:rPr>
                        <a:t>연결·업로드 </a:t>
                      </a:r>
                      <a:pPr indent="0" marL="0">
                        <a:buNone/>
                      </a:pPr>
                      <a:r>
                        <a:rPr lang="en-US" sz="1100" dirty="0">
                          <a:solidFill>
                            <a:srgbClr val="1F2937"/>
                          </a:solidFill>
                        </a:rPr>
                        <a:t>실패 </a:t>
                      </a:r>
                      <a:pPr indent="0" marL="0">
                        <a:buNone/>
                      </a:pPr>
                      <a:r>
                        <a:rPr lang="en-US" sz="1100" dirty="0">
                          <a:solidFill>
                            <a:srgbClr val="1F2937"/>
                          </a:solidFill>
                        </a:rPr>
                        <a:t>처리를 </a:t>
                      </a:r>
                      <a:pPr indent="0" marL="0">
                        <a:buNone/>
                      </a:pPr>
                      <a:r>
                        <a:rPr lang="en-US" sz="1100" dirty="0">
                          <a:solidFill>
                            <a:srgbClr val="1F2937"/>
                          </a:solidFill>
                        </a:rPr>
                        <a:t>확인합니다.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조건부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R-019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지연 </a:t>
                      </a:r>
                      <a:pPr indent="0" marL="0">
                        <a:buNone/>
                      </a:pPr>
                      <a:r>
                        <a:rPr lang="en-US" sz="1100" dirty="0">
                          <a:solidFill>
                            <a:srgbClr val="1F2937"/>
                          </a:solidFill>
                        </a:rPr>
                        <a:t>기준과 </a:t>
                      </a:r>
                      <a:pPr indent="0" marL="0">
                        <a:buNone/>
                      </a:pPr>
                      <a:r>
                        <a:rPr lang="en-US" sz="1100" dirty="0">
                          <a:solidFill>
                            <a:srgbClr val="1F2937"/>
                          </a:solidFill>
                        </a:rPr>
                        <a:t>입력 </a:t>
                      </a:r>
                      <a:pPr indent="0" marL="0">
                        <a:buNone/>
                      </a:pPr>
                      <a:r>
                        <a:rPr lang="en-US" sz="1100" dirty="0">
                          <a:solidFill>
                            <a:srgbClr val="1F2937"/>
                          </a:solidFill>
                        </a:rPr>
                        <a:t>조건 </a:t>
                      </a:r>
                      <a:pPr indent="0" marL="0">
                        <a:buNone/>
                      </a:pPr>
                      <a:r>
                        <a:rPr lang="en-US" sz="1100" dirty="0">
                          <a:solidFill>
                            <a:srgbClr val="1F2937"/>
                          </a:solidFill>
                        </a:rPr>
                        <a:t>상충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한 </a:t>
                      </a:r>
                      <a:pPr indent="0" marL="0">
                        <a:buNone/>
                      </a:pPr>
                      <a:r>
                        <a:rPr lang="en-US" sz="1100" dirty="0">
                          <a:solidFill>
                            <a:srgbClr val="1F2937"/>
                          </a:solidFill>
                        </a:rPr>
                        <a:t>글자 </a:t>
                      </a:r>
                      <a:pPr indent="0" marL="0">
                        <a:buNone/>
                      </a:pPr>
                      <a:r>
                        <a:rPr lang="en-US" sz="1100" dirty="0">
                          <a:solidFill>
                            <a:srgbClr val="1F2937"/>
                          </a:solidFill>
                        </a:rPr>
                        <a:t>허용 </a:t>
                      </a:r>
                      <a:pPr indent="0" marL="0">
                        <a:buNone/>
                      </a:pPr>
                      <a:r>
                        <a:rPr lang="en-US" sz="1100" dirty="0">
                          <a:solidFill>
                            <a:srgbClr val="1F2937"/>
                          </a:solidFill>
                        </a:rPr>
                        <a:t>여부와 </a:t>
                      </a:r>
                      <a:pPr indent="0" marL="0">
                        <a:buNone/>
                      </a:pPr>
                      <a:r>
                        <a:rPr lang="en-US" sz="1100" dirty="0">
                          <a:solidFill>
                            <a:srgbClr val="1F2937"/>
                          </a:solidFill>
                        </a:rPr>
                        <a:t>약 </a:t>
                      </a:r>
                      <a:pPr indent="0" marL="0">
                        <a:buNone/>
                      </a:pPr>
                      <a:r>
                        <a:rPr lang="en-US" sz="1100" dirty="0">
                          <a:solidFill>
                            <a:srgbClr val="1F2937"/>
                          </a:solidFill>
                        </a:rPr>
                        <a:t>300밀리초·350밀리초 </a:t>
                      </a:r>
                      <a:pPr indent="0" marL="0">
                        <a:buNone/>
                      </a:pPr>
                      <a:r>
                        <a:rPr lang="en-US" sz="1100" dirty="0">
                          <a:solidFill>
                            <a:srgbClr val="1F2937"/>
                          </a:solidFill>
                        </a:rPr>
                        <a:t>대기 </a:t>
                      </a:r>
                      <a:pPr indent="0" marL="0">
                        <a:buNone/>
                      </a:pPr>
                      <a:r>
                        <a:rPr lang="en-US" sz="1100" dirty="0">
                          <a:solidFill>
                            <a:srgbClr val="1F2937"/>
                          </a:solidFill>
                        </a:rPr>
                        <a:t>안을 </a:t>
                      </a:r>
                      <a:pPr indent="0" marL="0">
                        <a:buNone/>
                      </a:pPr>
                      <a:r>
                        <a:rPr lang="en-US" sz="1100" dirty="0">
                          <a:solidFill>
                            <a:srgbClr val="1F2937"/>
                          </a:solidFill>
                        </a:rPr>
                        <a:t>공급자 </a:t>
                      </a:r>
                      <a:pPr indent="0" marL="0">
                        <a:buNone/>
                      </a:pPr>
                      <a:r>
                        <a:rPr lang="en-US" sz="1100" dirty="0">
                          <a:solidFill>
                            <a:srgbClr val="1F2937"/>
                          </a:solidFill>
                        </a:rPr>
                        <a:t>호출 </a:t>
                      </a:r>
                      <a:pPr indent="0" marL="0">
                        <a:buNone/>
                      </a:pPr>
                      <a:r>
                        <a:rPr lang="en-US" sz="1100" dirty="0">
                          <a:solidFill>
                            <a:srgbClr val="1F2937"/>
                          </a:solidFill>
                        </a:rPr>
                        <a:t>제한·시험 </a:t>
                      </a:r>
                      <a:pPr indent="0" marL="0">
                        <a:buNone/>
                      </a:pPr>
                      <a:r>
                        <a:rPr lang="en-US" sz="1100" dirty="0">
                          <a:solidFill>
                            <a:srgbClr val="1F2937"/>
                          </a:solidFill>
                        </a:rPr>
                        <a:t>결과에 </a:t>
                      </a:r>
                      <a:pPr indent="0" marL="0">
                        <a:buNone/>
                      </a:pPr>
                      <a:r>
                        <a:rPr lang="en-US" sz="1100" dirty="0">
                          <a:solidFill>
                            <a:srgbClr val="1F2937"/>
                          </a:solidFill>
                        </a:rPr>
                        <a:t>따라 </a:t>
                      </a:r>
                      <a:pPr indent="0" marL="0">
                        <a:buNone/>
                      </a:pPr>
                      <a:r>
                        <a:rPr lang="en-US" sz="1100" dirty="0">
                          <a:solidFill>
                            <a:srgbClr val="1F2937"/>
                          </a:solidFill>
                        </a:rPr>
                        <a:t>확정합니다.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박디자이너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결정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R-020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지원 </a:t>
                      </a:r>
                      <a:pPr indent="0" marL="0">
                        <a:buNone/>
                      </a:pPr>
                      <a:r>
                        <a:rPr lang="en-US" sz="1100" dirty="0">
                          <a:solidFill>
                            <a:srgbClr val="1F2937"/>
                          </a:solidFill>
                        </a:rPr>
                        <a:t>운영체제 </a:t>
                      </a:r>
                      <a:pPr indent="0" marL="0">
                        <a:buNone/>
                      </a:pPr>
                      <a:r>
                        <a:rPr lang="en-US" sz="1100" dirty="0">
                          <a:solidFill>
                            <a:srgbClr val="1F2937"/>
                          </a:solidFill>
                        </a:rPr>
                        <a:t>기준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범위에 </a:t>
                      </a:r>
                      <a:pPr indent="0" marL="0">
                        <a:buNone/>
                      </a:pPr>
                      <a:r>
                        <a:rPr lang="en-US" sz="1100" dirty="0">
                          <a:solidFill>
                            <a:srgbClr val="1F2937"/>
                          </a:solidFill>
                        </a:rPr>
                        <a:t>미치는 </a:t>
                      </a:r>
                      <a:pPr indent="0" marL="0">
                        <a:buNone/>
                      </a:pPr>
                      <a:r>
                        <a:rPr lang="en-US" sz="1100" dirty="0">
                          <a:solidFill>
                            <a:srgbClr val="1F2937"/>
                          </a:solidFill>
                        </a:rPr>
                        <a:t>영향 </a:t>
                      </a:r>
                      <a:pPr indent="0" marL="0">
                        <a:buNone/>
                      </a:pPr>
                      <a:r>
                        <a:rPr lang="en-US" sz="1100" dirty="0">
                          <a:solidFill>
                            <a:srgbClr val="1F2937"/>
                          </a:solidFill>
                        </a:rPr>
                        <a:t>근거를 </a:t>
                      </a:r>
                      <a:pPr indent="0" marL="0">
                        <a:buNone/>
                      </a:pPr>
                      <a:r>
                        <a:rPr lang="en-US" sz="1100" dirty="0">
                          <a:solidFill>
                            <a:srgbClr val="1F2937"/>
                          </a:solidFill>
                        </a:rPr>
                        <a:t>확인하고 </a:t>
                      </a:r>
                      <a:pPr indent="0" marL="0">
                        <a:buNone/>
                      </a:pPr>
                      <a:r>
                        <a:rPr lang="en-US" sz="1100" dirty="0">
                          <a:solidFill>
                            <a:srgbClr val="1F2937"/>
                          </a:solidFill>
                        </a:rPr>
                        <a:t>지원 </a:t>
                      </a:r>
                      <a:pPr indent="0" marL="0">
                        <a:buNone/>
                      </a:pPr>
                      <a:r>
                        <a:rPr lang="en-US" sz="1100" dirty="0">
                          <a:solidFill>
                            <a:srgbClr val="1F2937"/>
                          </a:solidFill>
                        </a:rPr>
                        <a:t>버전 </a:t>
                      </a:r>
                      <a:pPr indent="0" marL="0">
                        <a:buNone/>
                      </a:pPr>
                      <a:r>
                        <a:rPr lang="en-US" sz="1100" dirty="0">
                          <a:solidFill>
                            <a:srgbClr val="1F2937"/>
                          </a:solidFill>
                        </a:rPr>
                        <a:t>및 </a:t>
                      </a:r>
                      <a:pPr indent="0" marL="0">
                        <a:buNone/>
                      </a:pPr>
                      <a:r>
                        <a:rPr lang="en-US" sz="1100" dirty="0">
                          <a:solidFill>
                            <a:srgbClr val="1F2937"/>
                          </a:solidFill>
                        </a:rPr>
                        <a:t>시험 </a:t>
                      </a:r>
                      <a:pPr indent="0" marL="0">
                        <a:buNone/>
                      </a:pPr>
                      <a:r>
                        <a:rPr lang="en-US" sz="1100" dirty="0">
                          <a:solidFill>
                            <a:srgbClr val="1F2937"/>
                          </a:solidFill>
                        </a:rPr>
                        <a:t>기기를 </a:t>
                      </a:r>
                      <a:pPr indent="0" marL="0">
                        <a:buNone/>
                      </a:pPr>
                      <a:r>
                        <a:rPr lang="en-US" sz="1100" dirty="0">
                          <a:solidFill>
                            <a:srgbClr val="1F2937"/>
                          </a:solidFill>
                        </a:rPr>
                        <a:t>결정합니다.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 자원 계획</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9.1 인력 구성</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45931"/>
                <a:gridCol w="1702676"/>
                <a:gridCol w="1135117"/>
                <a:gridCol w="2364828"/>
                <a:gridCol w="2081048"/>
              </a:tblGrid>
              <a:tr h="0">
                <a:tc>
                  <a:txBody>
                    <a:bodyPr/>
                    <a:lstStyle/>
                    <a:p>
                      <a:pPr indent="0" marL="0">
                        <a:buNone/>
                      </a:pPr>
                      <a:r>
                        <a:rPr lang="en-US" sz="1200" b="1" dirty="0">
                          <a:solidFill>
                            <a:srgbClr val="FFFFFF"/>
                          </a:solidFill>
                        </a:rPr>
                        <a:t>역할</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인원·참여 </a:t>
                      </a:r>
                      <a:pPr indent="0" marL="0">
                        <a:buNone/>
                      </a:pPr>
                      <a:r>
                        <a:rPr lang="en-US" sz="1200" b="1" dirty="0">
                          <a:solidFill>
                            <a:srgbClr val="FFFFFF"/>
                          </a:solidFill>
                        </a:rPr>
                        <a:t>수준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참여 </a:t>
                      </a:r>
                      <a:pPr indent="0" marL="0">
                        <a:buNone/>
                      </a:pPr>
                      <a:r>
                        <a:rPr lang="en-US" sz="1200" b="1" dirty="0">
                          <a:solidFill>
                            <a:srgbClr val="FFFFFF"/>
                          </a:solidFill>
                        </a:rPr>
                        <a:t>기간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책임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확정 </a:t>
                      </a:r>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프로젝트 </a:t>
                      </a:r>
                      <a:pPr indent="0" marL="0">
                        <a:buNone/>
                      </a:pPr>
                      <a:r>
                        <a:rPr lang="en-US" sz="1100" dirty="0">
                          <a:solidFill>
                            <a:srgbClr val="1F2937"/>
                          </a:solidFill>
                        </a:rPr>
                        <a:t>관리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투입률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W1~W9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일정·요구사항·시험·위험·문서 </a:t>
                      </a:r>
                      <a:pPr indent="0" marL="0">
                        <a:buNone/>
                      </a:pPr>
                      <a:r>
                        <a:rPr lang="en-US" sz="1100" dirty="0">
                          <a:solidFill>
                            <a:srgbClr val="1F2937"/>
                          </a:solidFill>
                        </a:rPr>
                        <a:t>관리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역할 </a:t>
                      </a:r>
                      <a:pPr indent="0" marL="0">
                        <a:buNone/>
                      </a:pPr>
                      <a:r>
                        <a:rPr lang="en-US" sz="1100" dirty="0">
                          <a:solidFill>
                            <a:srgbClr val="1F2937"/>
                          </a:solidFill>
                        </a:rPr>
                        <a:t>확인, </a:t>
                      </a:r>
                      <a:pPr indent="0" marL="0">
                        <a:buNone/>
                      </a:pPr>
                      <a:r>
                        <a:rPr lang="en-US" sz="1100" dirty="0">
                          <a:solidFill>
                            <a:srgbClr val="1F2937"/>
                          </a:solidFill>
                        </a:rPr>
                        <a:t>투입률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사업 </a:t>
                      </a:r>
                      <a:pPr indent="0" marL="0">
                        <a:buNone/>
                      </a:pPr>
                      <a:r>
                        <a:rPr lang="en-US" sz="1100" dirty="0">
                          <a:solidFill>
                            <a:srgbClr val="1F2937"/>
                          </a:solidFill>
                        </a:rPr>
                        <a:t>책임자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이대표, </a:t>
                      </a:r>
                      <a:pPr indent="0" marL="0">
                        <a:buNone/>
                      </a:pPr>
                      <a:r>
                        <a:rPr lang="en-US" sz="1100" dirty="0">
                          <a:solidFill>
                            <a:srgbClr val="1F2937"/>
                          </a:solidFill>
                        </a:rPr>
                        <a:t>투입률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주요 </a:t>
                      </a:r>
                      <a:pPr indent="0" marL="0">
                        <a:buNone/>
                      </a:pPr>
                      <a:r>
                        <a:rPr lang="en-US" sz="1100" dirty="0">
                          <a:solidFill>
                            <a:srgbClr val="1F2937"/>
                          </a:solidFill>
                        </a:rPr>
                        <a:t>결정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범위·비용·외부 </a:t>
                      </a:r>
                      <a:pPr indent="0" marL="0">
                        <a:buNone/>
                      </a:pPr>
                      <a:r>
                        <a:rPr lang="en-US" sz="1100" dirty="0">
                          <a:solidFill>
                            <a:srgbClr val="1F2937"/>
                          </a:solidFill>
                        </a:rPr>
                        <a:t>자원·최종 </a:t>
                      </a:r>
                      <a:pPr indent="0" marL="0">
                        <a:buNone/>
                      </a:pPr>
                      <a:r>
                        <a:rPr lang="en-US" sz="1100" dirty="0">
                          <a:solidFill>
                            <a:srgbClr val="1F2937"/>
                          </a:solidFill>
                        </a:rPr>
                        <a:t>의사결정 </a:t>
                      </a:r>
                      <a:pPr indent="0" marL="0">
                        <a:buNone/>
                      </a:pPr>
                      <a:r>
                        <a:rPr lang="en-US" sz="1100" dirty="0">
                          <a:solidFill>
                            <a:srgbClr val="1F2937"/>
                          </a:solidFill>
                        </a:rPr>
                        <a:t>지원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역할 </a:t>
                      </a:r>
                      <a:pPr indent="0" marL="0">
                        <a:buNone/>
                      </a:pPr>
                      <a:r>
                        <a:rPr lang="en-US" sz="1100" dirty="0">
                          <a:solidFill>
                            <a:srgbClr val="1F2937"/>
                          </a:solidFill>
                        </a:rPr>
                        <a:t>확인, </a:t>
                      </a:r>
                      <a:pPr indent="0" marL="0">
                        <a:buNone/>
                      </a:pPr>
                      <a:r>
                        <a:rPr lang="en-US" sz="1100" dirty="0">
                          <a:solidFill>
                            <a:srgbClr val="1F2937"/>
                          </a:solidFill>
                        </a:rPr>
                        <a:t>승인 </a:t>
                      </a:r>
                      <a:pPr indent="0" marL="0">
                        <a:buNone/>
                      </a:pPr>
                      <a:r>
                        <a:rPr lang="en-US" sz="1100" dirty="0">
                          <a:solidFill>
                            <a:srgbClr val="1F2937"/>
                          </a:solidFill>
                        </a:rPr>
                        <a:t>권한 </a:t>
                      </a:r>
                      <a:pPr indent="0" marL="0">
                        <a:buNone/>
                      </a:pPr>
                      <a:r>
                        <a:rPr lang="en-US" sz="1100" dirty="0">
                          <a:solidFill>
                            <a:srgbClr val="1F2937"/>
                          </a:solidFill>
                        </a:rPr>
                        <a:t>구체화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박디자이너, </a:t>
                      </a:r>
                      <a:pPr indent="0" marL="0">
                        <a:buNone/>
                      </a:pPr>
                      <a:r>
                        <a:rPr lang="en-US" sz="1100" dirty="0">
                          <a:solidFill>
                            <a:srgbClr val="1F2937"/>
                          </a:solidFill>
                        </a:rPr>
                        <a:t>투입률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W1~W7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흐름·화면·디자인 </a:t>
                      </a:r>
                      <a:pPr indent="0" marL="0">
                        <a:buNone/>
                      </a:pPr>
                      <a:r>
                        <a:rPr lang="en-US" sz="1100" dirty="0">
                          <a:solidFill>
                            <a:srgbClr val="1F2937"/>
                          </a:solidFill>
                        </a:rPr>
                        <a:t>시스템·사용성 </a:t>
                      </a:r>
                      <a:pPr indent="0" marL="0">
                        <a:buNone/>
                      </a:pPr>
                      <a:r>
                        <a:rPr lang="en-US" sz="1100" dirty="0">
                          <a:solidFill>
                            <a:srgbClr val="1F2937"/>
                          </a:solidFill>
                        </a:rPr>
                        <a:t>시험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역할 </a:t>
                      </a:r>
                      <a:pPr indent="0" marL="0">
                        <a:buNone/>
                      </a:pPr>
                      <a:r>
                        <a:rPr lang="en-US" sz="1100" dirty="0">
                          <a:solidFill>
                            <a:srgbClr val="1F2937"/>
                          </a:solidFill>
                        </a:rPr>
                        <a:t>확인, </a:t>
                      </a:r>
                      <a:pPr indent="0" marL="0">
                        <a:buNone/>
                      </a:pPr>
                      <a:r>
                        <a:rPr lang="en-US" sz="1100" dirty="0">
                          <a:solidFill>
                            <a:srgbClr val="1F2937"/>
                          </a:solidFill>
                        </a:rPr>
                        <a:t>투입률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앱·서버 </a:t>
                      </a:r>
                      <a:pPr indent="0" marL="0">
                        <a:buNone/>
                      </a:pPr>
                      <a:r>
                        <a:rPr lang="en-US" sz="1100" dirty="0">
                          <a:solidFill>
                            <a:srgbClr val="1F2937"/>
                          </a:solidFill>
                        </a:rPr>
                        <a:t>개발자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최개발, </a:t>
                      </a:r>
                      <a:pPr indent="0" marL="0">
                        <a:buNone/>
                      </a:pPr>
                      <a:r>
                        <a:rPr lang="en-US" sz="1100" dirty="0">
                          <a:solidFill>
                            <a:srgbClr val="1F2937"/>
                          </a:solidFill>
                        </a:rPr>
                        <a:t>투입률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W1~W9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기술 </a:t>
                      </a:r>
                      <a:pPr indent="0" marL="0">
                        <a:buNone/>
                      </a:pPr>
                      <a:r>
                        <a:rPr lang="en-US" sz="1100" dirty="0">
                          <a:solidFill>
                            <a:srgbClr val="1F2937"/>
                          </a:solidFill>
                        </a:rPr>
                        <a:t>설계, </a:t>
                      </a:r>
                      <a:pPr indent="0" marL="0">
                        <a:buNone/>
                      </a:pPr>
                      <a:r>
                        <a:rPr lang="en-US" sz="1100" dirty="0">
                          <a:solidFill>
                            <a:srgbClr val="1F2937"/>
                          </a:solidFill>
                        </a:rPr>
                        <a:t>서버·API·인증·연동·운영 </a:t>
                      </a:r>
                      <a:pPr indent="0" marL="0">
                        <a:buNone/>
                      </a:pPr>
                      <a:r>
                        <a:rPr lang="en-US" sz="1100" dirty="0">
                          <a:solidFill>
                            <a:srgbClr val="1F2937"/>
                          </a:solidFill>
                        </a:rPr>
                        <a:t>기반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역할 </a:t>
                      </a:r>
                      <a:pPr indent="0" marL="0">
                        <a:buNone/>
                      </a:pPr>
                      <a:r>
                        <a:rPr lang="en-US" sz="1100" dirty="0">
                          <a:solidFill>
                            <a:srgbClr val="1F2937"/>
                          </a:solidFill>
                        </a:rPr>
                        <a:t>확인. </a:t>
                      </a:r>
                      <a:pPr indent="0" marL="0">
                        <a:buNone/>
                      </a:pPr>
                      <a:r>
                        <a:rPr lang="en-US" sz="1100" dirty="0">
                          <a:solidFill>
                            <a:srgbClr val="1F2937"/>
                          </a:solidFill>
                        </a:rPr>
                        <a:t>단독 </a:t>
                      </a:r>
                      <a:pPr indent="0" marL="0">
                        <a:buNone/>
                      </a:pPr>
                      <a:r>
                        <a:rPr lang="en-US" sz="1100" dirty="0">
                          <a:solidFill>
                            <a:srgbClr val="1F2937"/>
                          </a:solidFill>
                        </a:rPr>
                        <a:t>수행 </a:t>
                      </a:r>
                      <a:pPr indent="0" marL="0">
                        <a:buNone/>
                      </a:pPr>
                      <a:r>
                        <a:rPr lang="en-US" sz="1100" dirty="0">
                          <a:solidFill>
                            <a:srgbClr val="1F2937"/>
                          </a:solidFill>
                        </a:rPr>
                        <a:t>부담 </a:t>
                      </a:r>
                      <a:pPr indent="0" marL="0">
                        <a:buNone/>
                      </a:pPr>
                      <a:r>
                        <a:rPr lang="en-US" sz="1100" dirty="0">
                          <a:solidFill>
                            <a:srgbClr val="1F2937"/>
                          </a:solidFill>
                        </a:rPr>
                        <a:t>우려 </a:t>
                      </a:r>
                      <a:pPr indent="0" marL="0">
                        <a:buNone/>
                      </a:pPr>
                      <a:r>
                        <a:rPr lang="en-US" sz="1100" dirty="0">
                          <a:solidFill>
                            <a:srgbClr val="1F2937"/>
                          </a:solidFill>
                        </a:rPr>
                        <a:t>논의됨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앱 </a:t>
                      </a:r>
                      <a:pPr indent="0" marL="0">
                        <a:buNone/>
                      </a:pPr>
                      <a:r>
                        <a:rPr lang="en-US" sz="1100" dirty="0">
                          <a:solidFill>
                            <a:srgbClr val="1F2937"/>
                          </a:solidFill>
                        </a:rPr>
                        <a:t>개발 </a:t>
                      </a:r>
                      <a:pPr indent="0" marL="0">
                        <a:buNone/>
                      </a:pPr>
                      <a:r>
                        <a:rPr lang="en-US" sz="1100" dirty="0">
                          <a:solidFill>
                            <a:srgbClr val="1F2937"/>
                          </a:solidFill>
                        </a:rPr>
                        <a:t>지원 </a:t>
                      </a:r>
                      <a:pPr indent="0" marL="0">
                        <a:buNone/>
                      </a:pPr>
                      <a:r>
                        <a:rPr lang="en-US" sz="1100" dirty="0">
                          <a:solidFill>
                            <a:srgbClr val="1F2937"/>
                          </a:solidFill>
                        </a:rPr>
                        <a:t>인력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약 </a:t>
                      </a:r>
                      <a:pPr indent="0" marL="0">
                        <a:buNone/>
                      </a:pPr>
                      <a:r>
                        <a:rPr lang="en-US" sz="1100" dirty="0">
                          <a:solidFill>
                            <a:srgbClr val="1F2937"/>
                          </a:solidFill>
                        </a:rPr>
                        <a:t>0.5명 </a:t>
                      </a:r>
                      <a:pPr indent="0" marL="0">
                        <a:buNone/>
                      </a:pPr>
                      <a:r>
                        <a:rPr lang="en-US" sz="1100" dirty="0">
                          <a:solidFill>
                            <a:srgbClr val="1F2937"/>
                          </a:solidFill>
                        </a:rPr>
                        <a:t>수준 </a:t>
                      </a:r>
                      <a:pPr indent="0" marL="0">
                        <a:buNone/>
                      </a:pPr>
                      <a:r>
                        <a:rPr lang="en-US" sz="1100" dirty="0">
                          <a:solidFill>
                            <a:srgbClr val="1F2937"/>
                          </a:solidFill>
                        </a:rPr>
                        <a:t>지원 </a:t>
                      </a:r>
                      <a:pPr indent="0" marL="0">
                        <a:buNone/>
                      </a:pPr>
                      <a:r>
                        <a:rPr lang="en-US" sz="1100" dirty="0">
                          <a:solidFill>
                            <a:srgbClr val="1F2937"/>
                          </a:solidFill>
                        </a:rPr>
                        <a:t>의견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투입 </a:t>
                      </a:r>
                      <a:pPr indent="0" marL="0">
                        <a:buNone/>
                      </a:pPr>
                      <a:r>
                        <a:rPr lang="en-US" sz="1100" dirty="0">
                          <a:solidFill>
                            <a:srgbClr val="1F2937"/>
                          </a:solidFill>
                        </a:rPr>
                        <a:t>시점·기간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UI </a:t>
                      </a:r>
                      <a:pPr indent="0" marL="0">
                        <a:buNone/>
                      </a:pPr>
                      <a:r>
                        <a:rPr lang="en-US" sz="1100" dirty="0">
                          <a:solidFill>
                            <a:srgbClr val="1F2937"/>
                          </a:solidFill>
                        </a:rPr>
                        <a:t>병렬 </a:t>
                      </a:r>
                      <a:pPr indent="0" marL="0">
                        <a:buNone/>
                      </a:pPr>
                      <a:r>
                        <a:rPr lang="en-US" sz="1100" dirty="0">
                          <a:solidFill>
                            <a:srgbClr val="1F2937"/>
                          </a:solidFill>
                        </a:rPr>
                        <a:t>개발 </a:t>
                      </a:r>
                      <a:pPr indent="0" marL="0">
                        <a:buNone/>
                      </a:pPr>
                      <a:r>
                        <a:rPr lang="en-US" sz="1100" dirty="0">
                          <a:solidFill>
                            <a:srgbClr val="1F2937"/>
                          </a:solidFill>
                        </a:rPr>
                        <a:t>지원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배정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법무·개인정보 </a:t>
                      </a:r>
                      <a:pPr indent="0" marL="0">
                        <a:buNone/>
                      </a:pPr>
                      <a:r>
                        <a:rPr lang="en-US" sz="1100" dirty="0">
                          <a:solidFill>
                            <a:srgbClr val="1F2937"/>
                          </a:solidFill>
                        </a:rPr>
                        <a:t>담당</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W1~W8 </a:t>
                      </a:r>
                      <a:pPr indent="0" marL="0">
                        <a:buNone/>
                      </a:pPr>
                      <a:r>
                        <a:rPr lang="en-US" sz="1100" dirty="0">
                          <a:solidFill>
                            <a:srgbClr val="1F2937"/>
                          </a:solidFill>
                        </a:rPr>
                        <a:t>병행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개인정보 </a:t>
                      </a:r>
                      <a:pPr indent="0" marL="0">
                        <a:buNone/>
                      </a:pPr>
                      <a:r>
                        <a:rPr lang="en-US" sz="1100" dirty="0">
                          <a:solidFill>
                            <a:srgbClr val="1F2937"/>
                          </a:solidFill>
                        </a:rPr>
                        <a:t>처리·위탁·국외 </a:t>
                      </a:r>
                      <a:pPr indent="0" marL="0">
                        <a:buNone/>
                      </a:pPr>
                      <a:r>
                        <a:rPr lang="en-US" sz="1100" dirty="0">
                          <a:solidFill>
                            <a:srgbClr val="1F2937"/>
                          </a:solidFill>
                        </a:rPr>
                        <a:t>처리·삭제 </a:t>
                      </a:r>
                      <a:pPr indent="0" marL="0">
                        <a:buNone/>
                      </a:pPr>
                      <a:r>
                        <a:rPr lang="en-US" sz="1100" dirty="0">
                          <a:solidFill>
                            <a:srgbClr val="1F2937"/>
                          </a:solidFill>
                        </a:rPr>
                        <a:t>정책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담당자 </a:t>
                      </a:r>
                      <a:pPr indent="0" marL="0">
                        <a:buNone/>
                      </a:pPr>
                      <a:r>
                        <a:rPr lang="en-US" sz="1100" dirty="0">
                          <a:solidFill>
                            <a:srgbClr val="1F2937"/>
                          </a:solidFill>
                        </a:rPr>
                        <a:t>지정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전문가 </a:t>
                      </a:r>
                      <a:pPr indent="0" marL="0">
                        <a:buNone/>
                      </a:pPr>
                      <a:r>
                        <a:rPr lang="en-US" sz="1100" dirty="0">
                          <a:solidFill>
                            <a:srgbClr val="1F2937"/>
                          </a:solidFill>
                        </a:rPr>
                        <a:t>자문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인원·투입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W1~W2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자동 </a:t>
                      </a:r>
                      <a:pPr indent="0" marL="0">
                        <a:buNone/>
                      </a:pPr>
                      <a:r>
                        <a:rPr lang="en-US" sz="1100" dirty="0">
                          <a:solidFill>
                            <a:srgbClr val="1F2937"/>
                          </a:solidFill>
                        </a:rPr>
                        <a:t>목표·건강 </a:t>
                      </a:r>
                      <a:pPr indent="0" marL="0">
                        <a:buNone/>
                      </a:pPr>
                      <a:r>
                        <a:rPr lang="en-US" sz="1100" dirty="0">
                          <a:solidFill>
                            <a:srgbClr val="1F2937"/>
                          </a:solidFill>
                        </a:rPr>
                        <a:t>관련 </a:t>
                      </a:r>
                      <a:pPr indent="0" marL="0">
                        <a:buNone/>
                      </a:pPr>
                      <a:r>
                        <a:rPr lang="en-US" sz="1100" dirty="0">
                          <a:solidFill>
                            <a:srgbClr val="1F2937"/>
                          </a:solidFill>
                        </a:rPr>
                        <a:t>문구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연결 </a:t>
                      </a:r>
                      <a:pPr indent="0" marL="0">
                        <a:buNone/>
                      </a:pPr>
                      <a:r>
                        <a:rPr lang="en-US" sz="1100" dirty="0">
                          <a:solidFill>
                            <a:srgbClr val="1F2937"/>
                          </a:solidFill>
                        </a:rPr>
                        <a:t>여부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QA </a:t>
                      </a:r>
                      <a:pPr indent="0" marL="0">
                        <a:buNone/>
                      </a:pPr>
                      <a:r>
                        <a:rPr lang="en-US" sz="1100" dirty="0">
                          <a:solidFill>
                            <a:srgbClr val="1F2937"/>
                          </a:solidFill>
                        </a:rPr>
                        <a:t>전담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현재 </a:t>
                      </a:r>
                      <a:pPr indent="0" marL="0">
                        <a:buNone/>
                      </a:pPr>
                      <a:r>
                        <a:rPr lang="en-US" sz="1100" dirty="0">
                          <a:solidFill>
                            <a:srgbClr val="1F2937"/>
                          </a:solidFill>
                        </a:rPr>
                        <a:t>미배정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PM·디자이너·개발자가 </a:t>
                      </a:r>
                      <a:pPr indent="0" marL="0">
                        <a:buNone/>
                      </a:pPr>
                      <a:r>
                        <a:rPr lang="en-US" sz="1100" dirty="0">
                          <a:solidFill>
                            <a:srgbClr val="1F2937"/>
                          </a:solidFill>
                        </a:rPr>
                        <a:t>시험 </a:t>
                      </a:r>
                      <a:pPr indent="0" marL="0">
                        <a:buNone/>
                      </a:pPr>
                      <a:r>
                        <a:rPr lang="en-US" sz="1100" dirty="0">
                          <a:solidFill>
                            <a:srgbClr val="1F2937"/>
                          </a:solidFill>
                        </a:rPr>
                        <a:t>분담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전담 </a:t>
                      </a:r>
                      <a:pPr indent="0" marL="0">
                        <a:buNone/>
                      </a:pPr>
                      <a:r>
                        <a:rPr lang="en-US" sz="1100" dirty="0">
                          <a:solidFill>
                            <a:srgbClr val="1F2937"/>
                          </a:solidFill>
                        </a:rPr>
                        <a:t>없음으로 </a:t>
                      </a:r>
                      <a:pPr indent="0" marL="0">
                        <a:buNone/>
                      </a:pPr>
                      <a:r>
                        <a:rPr lang="en-US" sz="1100" dirty="0">
                          <a:solidFill>
                            <a:srgbClr val="1F2937"/>
                          </a:solidFill>
                        </a:rPr>
                        <a:t>공유됨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베타 </a:t>
                      </a:r>
                      <a:pPr indent="0" marL="0">
                        <a:buNone/>
                      </a:pPr>
                      <a:r>
                        <a:rPr lang="en-US" sz="1100" dirty="0">
                          <a:solidFill>
                            <a:srgbClr val="1F2937"/>
                          </a:solidFill>
                        </a:rPr>
                        <a:t>참여자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사내·외부 </a:t>
                      </a:r>
                      <a:pPr indent="0" marL="0">
                        <a:buNone/>
                      </a:pPr>
                      <a:r>
                        <a:rPr lang="en-US" sz="1100" dirty="0">
                          <a:solidFill>
                            <a:srgbClr val="1F2937"/>
                          </a:solidFill>
                        </a:rPr>
                        <a:t>인원, </a:t>
                      </a:r>
                      <a:pPr indent="0" marL="0">
                        <a:buNone/>
                      </a:pPr>
                      <a:r>
                        <a:rPr lang="en-US" sz="1100" dirty="0">
                          <a:solidFill>
                            <a:srgbClr val="1F2937"/>
                          </a:solidFill>
                        </a:rPr>
                        <a:t>최종 </a:t>
                      </a:r>
                      <a:pPr indent="0" marL="0">
                        <a:buNone/>
                      </a:pPr>
                      <a:r>
                        <a:rPr lang="en-US" sz="1100" dirty="0">
                          <a:solidFill>
                            <a:srgbClr val="1F2937"/>
                          </a:solidFill>
                        </a:rPr>
                        <a:t>규모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W6~W8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사용성·기능·기기·베타 </a:t>
                      </a:r>
                      <a:pPr indent="0" marL="0">
                        <a:buNone/>
                      </a:pPr>
                      <a:r>
                        <a:rPr lang="en-US" sz="1100" dirty="0">
                          <a:solidFill>
                            <a:srgbClr val="1F2937"/>
                          </a:solidFill>
                        </a:rPr>
                        <a:t>시험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모집·동의 </a:t>
                      </a:r>
                      <a:pPr indent="0" marL="0">
                        <a:buNone/>
                      </a:pPr>
                      <a:r>
                        <a:rPr lang="en-US" sz="1100" dirty="0">
                          <a:solidFill>
                            <a:srgbClr val="1F2937"/>
                          </a:solidFill>
                        </a:rPr>
                        <a:t>계획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운영 </a:t>
                      </a:r>
                      <a:pPr indent="0" marL="0">
                        <a:buNone/>
                      </a:pPr>
                      <a:r>
                        <a:rPr lang="en-US" sz="1100" dirty="0">
                          <a:solidFill>
                            <a:srgbClr val="1F2937"/>
                          </a:solidFill>
                        </a:rPr>
                        <a:t>담당</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출시 </a:t>
                      </a:r>
                      <a:pPr indent="0" marL="0">
                        <a:buNone/>
                      </a:pPr>
                      <a:r>
                        <a:rPr lang="en-US" sz="1100" dirty="0">
                          <a:solidFill>
                            <a:srgbClr val="1F2937"/>
                          </a:solidFill>
                        </a:rPr>
                        <a:t>전~W9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문의·오류 </a:t>
                      </a:r>
                      <a:pPr indent="0" marL="0">
                        <a:buNone/>
                      </a:pPr>
                      <a:r>
                        <a:rPr lang="en-US" sz="1100" dirty="0">
                          <a:solidFill>
                            <a:srgbClr val="1F2937"/>
                          </a:solidFill>
                        </a:rPr>
                        <a:t>신고·운영 </a:t>
                      </a:r>
                      <a:pPr indent="0" marL="0">
                        <a:buNone/>
                      </a:pPr>
                      <a:r>
                        <a:rPr lang="en-US" sz="1100" dirty="0">
                          <a:solidFill>
                            <a:srgbClr val="1F2937"/>
                          </a:solidFill>
                        </a:rPr>
                        <a:t>감시 </a:t>
                      </a:r>
                      <a:pPr indent="0" marL="0">
                        <a:buNone/>
                      </a:pPr>
                      <a:r>
                        <a:rPr lang="en-US" sz="1100" dirty="0">
                          <a:solidFill>
                            <a:srgbClr val="1F2937"/>
                          </a:solidFill>
                        </a:rPr>
                        <a:t>인수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지정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9.1 인력 구성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일부 시험 인원 규모가 여러 안으로 제시됐습니다. 프로토타입은 5</a:t>
            </a:r>
            <a:pPr indent="0" marL="0">
              <a:spcAft>
                <a:spcPts val="800"/>
              </a:spcAft>
              <a:buNone/>
            </a:pPr>
            <a:r>
              <a:rPr lang="en-US" sz="1600" strike="sngStrike" dirty="0">
                <a:solidFill>
                  <a:srgbClr val="4B5563"/>
                </a:solidFill>
              </a:rPr>
              <a:t>6명 안이 논의됐고, 베타는 사내 10명·외부 10명 안팎과 사내 10명·외부 20</a:t>
            </a:r>
            <a:pPr indent="0" marL="0">
              <a:spcAft>
                <a:spcPts val="800"/>
              </a:spcAft>
              <a:buNone/>
            </a:pPr>
            <a:r>
              <a:rPr lang="en-US" sz="1600" dirty="0">
                <a:solidFill>
                  <a:srgbClr val="4B5563"/>
                </a:solidFill>
              </a:rPr>
              <a:t>30명 안이 모두 나왔습니다. 최종 규모는 모집 가능 인원과 동의·운영 부담을 확인한 후 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9.2 총 공수 추정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아래는 4절 작업 패키지 공수를 역할별로 다시 묶은 </a:t>
            </a:r>
            <a:pPr indent="0" marL="0">
              <a:spcAft>
                <a:spcPts val="800"/>
              </a:spcAft>
              <a:buNone/>
            </a:pPr>
            <a:r>
              <a:rPr lang="en-US" sz="1600" b="1" dirty="0">
                <a:solidFill>
                  <a:srgbClr val="4B5563"/>
                </a:solidFill>
              </a:rPr>
              <a:t>초기 추정</a:t>
            </a:r>
            <a:pPr indent="0" marL="0">
              <a:spcAft>
                <a:spcPts val="800"/>
              </a:spcAft>
              <a:buNone/>
            </a:pPr>
            <a:r>
              <a:rPr lang="en-US" sz="1600" dirty="0">
                <a:solidFill>
                  <a:srgbClr val="4B5563"/>
                </a:solidFill>
              </a:rPr>
              <a:t>입니다. 여러 역할이 같은 기간에 병렬 참여할 수 있어 실제 인력 투입 계획과는 차이가 날 수 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9.2 총 공수 추정</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52357"/>
                <a:gridCol w="1392702"/>
                <a:gridCol w="1012874"/>
                <a:gridCol w="3671668"/>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추정 </a:t>
                      </a:r>
                      <a:pPr indent="0" marL="0">
                        <a:buNone/>
                      </a:pPr>
                      <a:r>
                        <a:rPr lang="en-US" sz="1200" b="1" dirty="0">
                          <a:solidFill>
                            <a:srgbClr val="FFFFFF"/>
                          </a:solidFill>
                        </a:rPr>
                        <a:t>공수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비중</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산정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프로젝트 </a:t>
                      </a:r>
                      <a:pPr indent="0" marL="0">
                        <a:buNone/>
                      </a:pPr>
                      <a:r>
                        <a:rPr lang="en-US" sz="1100" dirty="0">
                          <a:solidFill>
                            <a:srgbClr val="1F2937"/>
                          </a:solidFill>
                        </a:rPr>
                        <a:t>관리·운영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계획 </a:t>
                      </a:r>
                      <a:pPr indent="0" marL="0">
                        <a:buNone/>
                      </a:pPr>
                      <a:r>
                        <a:rPr lang="en-US" sz="1100" dirty="0">
                          <a:solidFill>
                            <a:srgbClr val="1F2937"/>
                          </a:solidFill>
                        </a:rPr>
                        <a:t>수립 </a:t>
                      </a:r>
                      <a:pPr indent="0" marL="0">
                        <a:buNone/>
                      </a:pPr>
                      <a:r>
                        <a:rPr lang="en-US" sz="1100" dirty="0">
                          <a:solidFill>
                            <a:srgbClr val="1F2937"/>
                          </a:solidFill>
                        </a:rPr>
                        <a:t>패키지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요구사항·사용자 </a:t>
                      </a:r>
                      <a:pPr indent="0" marL="0">
                        <a:buNone/>
                      </a:pPr>
                      <a:r>
                        <a:rPr lang="en-US" sz="1100" dirty="0">
                          <a:solidFill>
                            <a:srgbClr val="1F2937"/>
                          </a:solidFill>
                        </a:rPr>
                        <a:t>조사·외부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16인일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WP-002, </a:t>
                      </a:r>
                      <a:pPr indent="0" marL="0">
                        <a:buNone/>
                      </a:pPr>
                      <a:r>
                        <a:rPr lang="en-US" sz="1100" dirty="0">
                          <a:solidFill>
                            <a:srgbClr val="1F2937"/>
                          </a:solidFill>
                        </a:rPr>
                        <a:t>WP-003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디자인·기술 </a:t>
                      </a:r>
                      <a:pPr indent="0" marL="0">
                        <a:buNone/>
                      </a:pPr>
                      <a:r>
                        <a:rPr lang="en-US" sz="1100" dirty="0">
                          <a:solidFill>
                            <a:srgbClr val="1F2937"/>
                          </a:solidFill>
                        </a:rPr>
                        <a:t>설계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21인일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WP-004, </a:t>
                      </a:r>
                      <a:pPr indent="0" marL="0">
                        <a:buNone/>
                      </a:pPr>
                      <a:r>
                        <a:rPr lang="en-US" sz="1100" dirty="0">
                          <a:solidFill>
                            <a:srgbClr val="1F2937"/>
                          </a:solidFill>
                        </a:rPr>
                        <a:t>WP-005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앱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46인일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32%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WP-006~WP-010, </a:t>
                      </a:r>
                      <a:pPr indent="0" marL="0">
                        <a:buNone/>
                      </a:pPr>
                      <a:r>
                        <a:rPr lang="en-US" sz="1100" dirty="0">
                          <a:solidFill>
                            <a:srgbClr val="1F2937"/>
                          </a:solidFill>
                        </a:rPr>
                        <a:t>조건부 </a:t>
                      </a:r>
                      <a:pPr indent="0" marL="0">
                        <a:buNone/>
                      </a:pPr>
                      <a:r>
                        <a:rPr lang="en-US" sz="1100" dirty="0">
                          <a:solidFill>
                            <a:srgbClr val="1F2937"/>
                          </a:solidFill>
                        </a:rPr>
                        <a:t>사진 </a:t>
                      </a:r>
                      <a:pPr indent="0" marL="0">
                        <a:buNone/>
                      </a:pPr>
                      <a:r>
                        <a:rPr lang="en-US" sz="1100" dirty="0">
                          <a:solidFill>
                            <a:srgbClr val="1F2937"/>
                          </a:solidFill>
                        </a:rPr>
                        <a:t>작업 </a:t>
                      </a:r>
                      <a:pPr indent="0" marL="0">
                        <a:buNone/>
                      </a:pPr>
                      <a:r>
                        <a:rPr lang="en-US" sz="1100" dirty="0">
                          <a:solidFill>
                            <a:srgbClr val="1F2937"/>
                          </a:solidFill>
                        </a:rPr>
                        <a:t>일부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서버·자료·인프라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15인일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WP-011 </a:t>
                      </a:r>
                      <a:pPr indent="0" marL="0">
                        <a:buNone/>
                      </a:pPr>
                      <a:r>
                        <a:rPr lang="en-US" sz="1100" dirty="0">
                          <a:solidFill>
                            <a:srgbClr val="1F2937"/>
                          </a:solidFill>
                        </a:rPr>
                        <a:t>중심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시험·베타·결함 </a:t>
                      </a:r>
                      <a:pPr indent="0" marL="0">
                        <a:buNone/>
                      </a:pPr>
                      <a:r>
                        <a:rPr lang="en-US" sz="1100" dirty="0">
                          <a:solidFill>
                            <a:srgbClr val="1F2937"/>
                          </a:solidFill>
                        </a:rPr>
                        <a:t>수정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24인일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WP-013, </a:t>
                      </a:r>
                      <a:pPr indent="0" marL="0">
                        <a:buNone/>
                      </a:pPr>
                      <a:r>
                        <a:rPr lang="en-US" sz="1100" dirty="0">
                          <a:solidFill>
                            <a:srgbClr val="1F2937"/>
                          </a:solidFill>
                        </a:rPr>
                        <a:t>WP-014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출시·운영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13인일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WP-015, </a:t>
                      </a:r>
                      <a:pPr indent="0" marL="0">
                        <a:buNone/>
                      </a:pPr>
                      <a:r>
                        <a:rPr lang="en-US" sz="1100" dirty="0">
                          <a:solidFill>
                            <a:srgbClr val="1F2937"/>
                          </a:solidFill>
                        </a:rPr>
                        <a:t>WP-016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합계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b="1" dirty="0">
                          <a:solidFill>
                            <a:srgbClr val="1F2937"/>
                          </a:solidFill>
                        </a:rPr>
                        <a:t>약 </a:t>
                      </a:r>
                      <a:pPr indent="0" marL="0">
                        <a:buNone/>
                      </a:pPr>
                      <a:r>
                        <a:rPr lang="en-US" sz="1100" b="1" dirty="0">
                          <a:solidFill>
                            <a:srgbClr val="1F2937"/>
                          </a:solidFill>
                        </a:rPr>
                        <a:t>139인일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b="1" dirty="0">
                          <a:solidFill>
                            <a:srgbClr val="1F2937"/>
                          </a:solidFill>
                        </a:rPr>
                        <a:t>100%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b="1" dirty="0">
                          <a:solidFill>
                            <a:srgbClr val="1F2937"/>
                          </a:solidFill>
                        </a:rPr>
                        <a:t>추정치이며 </a:t>
                      </a:r>
                      <a:pPr indent="0" marL="0">
                        <a:buNone/>
                      </a:pPr>
                      <a:r>
                        <a:rPr lang="en-US" sz="1100" b="1" dirty="0">
                          <a:solidFill>
                            <a:srgbClr val="1F2937"/>
                          </a:solidFill>
                        </a:rPr>
                        <a:t>인력 </a:t>
                      </a:r>
                      <a:pPr indent="0" marL="0">
                        <a:buNone/>
                      </a:pPr>
                      <a:r>
                        <a:rPr lang="en-US" sz="1100" b="1" dirty="0">
                          <a:solidFill>
                            <a:srgbClr val="1F2937"/>
                          </a:solidFill>
                        </a:rPr>
                        <a:t>배정·세부 </a:t>
                      </a:r>
                      <a:pPr indent="0" marL="0">
                        <a:buNone/>
                      </a:pPr>
                      <a:r>
                        <a:rPr lang="en-US" sz="1100" b="1" dirty="0">
                          <a:solidFill>
                            <a:srgbClr val="1F2937"/>
                          </a:solidFill>
                        </a:rPr>
                        <a:t>범위 </a:t>
                      </a:r>
                      <a:pPr indent="0" marL="0">
                        <a:buNone/>
                      </a:pPr>
                      <a:r>
                        <a:rPr lang="en-US" sz="1100" b="1" dirty="0">
                          <a:solidFill>
                            <a:srgbClr val="1F2937"/>
                          </a:solidFill>
                        </a:rPr>
                        <a:t>확인 </a:t>
                      </a:r>
                      <a:pPr indent="0" marL="0">
                        <a:buNone/>
                      </a:pPr>
                      <a:r>
                        <a:rPr lang="en-US" sz="1100" b="1" dirty="0">
                          <a:solidFill>
                            <a:srgbClr val="1F2937"/>
                          </a:solidFill>
                        </a:rPr>
                        <a:t>후 </a:t>
                      </a:r>
                      <a:pPr indent="0" marL="0">
                        <a:buNone/>
                      </a:pPr>
                      <a:r>
                        <a:rPr lang="en-US" sz="1100" b="1" dirty="0">
                          <a:solidFill>
                            <a:srgbClr val="1F2937"/>
                          </a:solidFill>
                        </a:rPr>
                        <a:t>갱신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9.2 총 공수 추정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"사진 첨부의 최종 포함 여부와 개발 지원 인력에 따라 앱·시험 공수는 달라질 수 있습니다. 이 공수는 확정 견적이나 약속된 인력 용량이 아닙니다."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 작업 의존 관계 (1/3)</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609474"/>
                <a:gridCol w="2887579"/>
                <a:gridCol w="866274"/>
                <a:gridCol w="866274"/>
              </a:tblGrid>
              <a:tr h="0">
                <a:tc>
                  <a:txBody>
                    <a:bodyPr/>
                    <a:lstStyle/>
                    <a:p>
                      <a:pPr indent="0" marL="0">
                        <a:buNone/>
                      </a:pPr>
                      <a:r>
                        <a:rPr lang="en-US" sz="1200" b="1" dirty="0">
                          <a:solidFill>
                            <a:srgbClr val="FFFFFF"/>
                          </a:solidFill>
                        </a:rPr>
                        <a:t>선행 </a:t>
                      </a:r>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후속 </a:t>
                      </a:r>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의존 </a:t>
                      </a:r>
                      <a:pPr indent="0" marL="0">
                        <a:buNone/>
                      </a:pPr>
                      <a:r>
                        <a:rPr lang="en-US" sz="1200" b="1" dirty="0">
                          <a:solidFill>
                            <a:srgbClr val="FFFFFF"/>
                          </a:solidFill>
                        </a:rPr>
                        <a:t>유형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지연</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WP-001 </a:t>
                      </a:r>
                      <a:pPr indent="0" marL="0">
                        <a:buNone/>
                      </a:pPr>
                      <a:r>
                        <a:rPr lang="en-US" sz="1100" dirty="0">
                          <a:solidFill>
                            <a:srgbClr val="1F2937"/>
                          </a:solidFill>
                        </a:rPr>
                        <a:t>프로젝트 </a:t>
                      </a:r>
                      <a:pPr indent="0" marL="0">
                        <a:buNone/>
                      </a:pPr>
                      <a:r>
                        <a:rPr lang="en-US" sz="1100" dirty="0">
                          <a:solidFill>
                            <a:srgbClr val="1F2937"/>
                          </a:solidFill>
                        </a:rPr>
                        <a:t>계획</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WP-002 </a:t>
                      </a:r>
                      <a:pPr indent="0" marL="0">
                        <a:buNone/>
                      </a:pPr>
                      <a:r>
                        <a:rPr lang="en-US" sz="1100" dirty="0">
                          <a:solidFill>
                            <a:srgbClr val="1F2937"/>
                          </a:solidFill>
                        </a:rPr>
                        <a:t>사용자 </a:t>
                      </a:r>
                      <a:pPr indent="0" marL="0">
                        <a:buNone/>
                      </a:pPr>
                      <a:r>
                        <a:rPr lang="en-US" sz="1100" dirty="0">
                          <a:solidFill>
                            <a:srgbClr val="1F2937"/>
                          </a:solidFill>
                        </a:rPr>
                        <a:t>조사·요구사항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WP-001 </a:t>
                      </a:r>
                      <a:pPr indent="0" marL="0">
                        <a:buNone/>
                      </a:pPr>
                      <a:r>
                        <a:rPr lang="en-US" sz="1100" dirty="0">
                          <a:solidFill>
                            <a:srgbClr val="1F2937"/>
                          </a:solidFill>
                        </a:rPr>
                        <a:t>프로젝트 </a:t>
                      </a:r>
                      <a:pPr indent="0" marL="0">
                        <a:buNone/>
                      </a:pPr>
                      <a:r>
                        <a:rPr lang="en-US" sz="1100" dirty="0">
                          <a:solidFill>
                            <a:srgbClr val="1F2937"/>
                          </a:solidFill>
                        </a:rPr>
                        <a:t>계획</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WP-003 </a:t>
                      </a:r>
                      <a:pPr indent="0" marL="0">
                        <a:buNone/>
                      </a:pPr>
                      <a:r>
                        <a:rPr lang="en-US" sz="1100" dirty="0">
                          <a:solidFill>
                            <a:srgbClr val="1F2937"/>
                          </a:solidFill>
                        </a:rPr>
                        <a:t>외부 </a:t>
                      </a:r>
                      <a:pPr indent="0" marL="0">
                        <a:buNone/>
                      </a:pPr>
                      <a:r>
                        <a:rPr lang="en-US" sz="1100" dirty="0">
                          <a:solidFill>
                            <a:srgbClr val="1F2937"/>
                          </a:solidFill>
                        </a:rPr>
                        <a:t>연동·개인정보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WP-002 </a:t>
                      </a:r>
                      <a:pPr indent="0" marL="0">
                        <a:buNone/>
                      </a:pPr>
                      <a:r>
                        <a:rPr lang="en-US" sz="1100" dirty="0">
                          <a:solidFill>
                            <a:srgbClr val="1F2937"/>
                          </a:solidFill>
                        </a:rPr>
                        <a:t>요구사항 </a:t>
                      </a:r>
                      <a:pPr indent="0" marL="0">
                        <a:buNone/>
                      </a:pPr>
                      <a:r>
                        <a:rPr lang="en-US" sz="1100" dirty="0">
                          <a:solidFill>
                            <a:srgbClr val="1F2937"/>
                          </a:solidFill>
                        </a:rPr>
                        <a:t>초안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WP-004 </a:t>
                      </a:r>
                      <a:pPr indent="0" marL="0">
                        <a:buNone/>
                      </a:pPr>
                      <a:r>
                        <a:rPr lang="en-US" sz="1100" dirty="0">
                          <a:solidFill>
                            <a:srgbClr val="1F2937"/>
                          </a:solidFill>
                        </a:rPr>
                        <a:t>화면 </a:t>
                      </a:r>
                      <a:pPr indent="0" marL="0">
                        <a:buNone/>
                      </a:pPr>
                      <a:r>
                        <a:rPr lang="en-US" sz="1100" dirty="0">
                          <a:solidFill>
                            <a:srgbClr val="1F2937"/>
                          </a:solidFill>
                        </a:rPr>
                        <a:t>설계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WP-002 </a:t>
                      </a:r>
                      <a:pPr indent="0" marL="0">
                        <a:buNone/>
                      </a:pPr>
                      <a:r>
                        <a:rPr lang="en-US" sz="1100" dirty="0">
                          <a:solidFill>
                            <a:srgbClr val="1F2937"/>
                          </a:solidFill>
                        </a:rPr>
                        <a:t>요구사항 </a:t>
                      </a:r>
                      <a:pPr indent="0" marL="0">
                        <a:buNone/>
                      </a:pPr>
                      <a:r>
                        <a:rPr lang="en-US" sz="1100" dirty="0">
                          <a:solidFill>
                            <a:srgbClr val="1F2937"/>
                          </a:solidFill>
                        </a:rPr>
                        <a:t>초안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WP-005 </a:t>
                      </a:r>
                      <a:pPr indent="0" marL="0">
                        <a:buNone/>
                      </a:pPr>
                      <a:r>
                        <a:rPr lang="en-US" sz="1100" dirty="0">
                          <a:solidFill>
                            <a:srgbClr val="1F2937"/>
                          </a:solidFill>
                        </a:rPr>
                        <a:t>기술 </a:t>
                      </a:r>
                      <a:pPr indent="0" marL="0">
                        <a:buNone/>
                      </a:pPr>
                      <a:r>
                        <a:rPr lang="en-US" sz="1100" dirty="0">
                          <a:solidFill>
                            <a:srgbClr val="1F2937"/>
                          </a:solidFill>
                        </a:rPr>
                        <a:t>설계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SS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WP-003 </a:t>
                      </a:r>
                      <a:pPr indent="0" marL="0">
                        <a:buNone/>
                      </a:pPr>
                      <a:r>
                        <a:rPr lang="en-US" sz="1100" dirty="0">
                          <a:solidFill>
                            <a:srgbClr val="1F2937"/>
                          </a:solidFill>
                        </a:rPr>
                        <a:t>음식 </a:t>
                      </a:r>
                      <a:pPr indent="0" marL="0">
                        <a:buNone/>
                      </a:pPr>
                      <a:r>
                        <a:rPr lang="en-US" sz="1100" dirty="0">
                          <a:solidFill>
                            <a:srgbClr val="1F2937"/>
                          </a:solidFill>
                        </a:rPr>
                        <a:t>API·인증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WP-005 </a:t>
                      </a:r>
                      <a:pPr indent="0" marL="0">
                        <a:buNone/>
                      </a:pPr>
                      <a:r>
                        <a:rPr lang="en-US" sz="1100" dirty="0">
                          <a:solidFill>
                            <a:srgbClr val="1F2937"/>
                          </a:solidFill>
                        </a:rPr>
                        <a:t>API·자료 </a:t>
                      </a:r>
                      <a:pPr indent="0" marL="0">
                        <a:buNone/>
                      </a:pPr>
                      <a:r>
                        <a:rPr lang="en-US" sz="1100" dirty="0">
                          <a:solidFill>
                            <a:srgbClr val="1F2937"/>
                          </a:solidFill>
                        </a:rPr>
                        <a:t>설계 </a:t>
                      </a:r>
                      <a:pPr indent="0" marL="0">
                        <a:buNone/>
                      </a:pPr>
                      <a:r>
                        <a:rPr lang="en-US" sz="1100"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WP-004 </a:t>
                      </a:r>
                      <a:pPr indent="0" marL="0">
                        <a:buNone/>
                      </a:pPr>
                      <a:r>
                        <a:rPr lang="en-US" sz="1100" dirty="0">
                          <a:solidFill>
                            <a:srgbClr val="1F2937"/>
                          </a:solidFill>
                        </a:rPr>
                        <a:t>공통 </a:t>
                      </a:r>
                      <a:pPr indent="0" marL="0">
                        <a:buNone/>
                      </a:pPr>
                      <a:r>
                        <a:rPr lang="en-US" sz="1100" dirty="0">
                          <a:solidFill>
                            <a:srgbClr val="1F2937"/>
                          </a:solidFill>
                        </a:rPr>
                        <a:t>화면 </a:t>
                      </a:r>
                      <a:pPr indent="0" marL="0">
                        <a:buNone/>
                      </a:pPr>
                      <a:r>
                        <a:rPr lang="en-US" sz="1100" dirty="0">
                          <a:solidFill>
                            <a:srgbClr val="1F2937"/>
                          </a:solidFill>
                        </a:rPr>
                        <a:t>요소 </a:t>
                      </a:r>
                      <a:pPr indent="0" marL="0">
                        <a:buNone/>
                      </a:pPr>
                      <a:r>
                        <a:rPr lang="en-US" sz="1100" dirty="0">
                          <a:solidFill>
                            <a:srgbClr val="1F2937"/>
                          </a:solidFill>
                        </a:rPr>
                        <a:t>전달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WP-006 </a:t>
                      </a:r>
                      <a:pPr indent="0" marL="0">
                        <a:buNone/>
                      </a:pPr>
                      <a:r>
                        <a:rPr lang="en-US" sz="1100" dirty="0">
                          <a:solidFill>
                            <a:srgbClr val="1F2937"/>
                          </a:solidFill>
                        </a:rPr>
                        <a:t>앱 </a:t>
                      </a:r>
                      <a:pPr indent="0" marL="0">
                        <a:buNone/>
                      </a:pPr>
                      <a:r>
                        <a:rPr lang="en-US" sz="1100" dirty="0">
                          <a:solidFill>
                            <a:srgbClr val="1F2937"/>
                          </a:solidFill>
                        </a:rPr>
                        <a:t>기반·공통 </a:t>
                      </a:r>
                      <a:pPr indent="0" marL="0">
                        <a:buNone/>
                      </a:pPr>
                      <a:r>
                        <a:rPr lang="en-US" sz="1100" dirty="0">
                          <a:solidFill>
                            <a:srgbClr val="1F2937"/>
                          </a:solidFill>
                        </a:rPr>
                        <a:t>요소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SS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WP-005 </a:t>
                      </a:r>
                      <a:pPr indent="0" marL="0">
                        <a:buNone/>
                      </a:pPr>
                      <a:r>
                        <a:rPr lang="en-US" sz="1100" dirty="0">
                          <a:solidFill>
                            <a:srgbClr val="1F2937"/>
                          </a:solidFill>
                        </a:rPr>
                        <a:t>데이터·API </a:t>
                      </a:r>
                      <a:pPr indent="0" marL="0">
                        <a:buNone/>
                      </a:pPr>
                      <a:r>
                        <a:rPr lang="en-US" sz="1100" dirty="0">
                          <a:solidFill>
                            <a:srgbClr val="1F2937"/>
                          </a:solidFill>
                        </a:rPr>
                        <a:t>초안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WP-011 </a:t>
                      </a:r>
                      <a:pPr indent="0" marL="0">
                        <a:buNone/>
                      </a:pPr>
                      <a:r>
                        <a:rPr lang="en-US" sz="1100" dirty="0">
                          <a:solidFill>
                            <a:srgbClr val="1F2937"/>
                          </a:solidFill>
                        </a:rPr>
                        <a:t>서버·자료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WP-006 </a:t>
                      </a:r>
                      <a:pPr indent="0" marL="0">
                        <a:buNone/>
                      </a:pPr>
                      <a:r>
                        <a:rPr lang="en-US" sz="1100" dirty="0">
                          <a:solidFill>
                            <a:srgbClr val="1F2937"/>
                          </a:solidFill>
                        </a:rPr>
                        <a:t>앱 </a:t>
                      </a:r>
                      <a:pPr indent="0" marL="0">
                        <a:buNone/>
                      </a:pPr>
                      <a:r>
                        <a:rPr lang="en-US" sz="1100" dirty="0">
                          <a:solidFill>
                            <a:srgbClr val="1F2937"/>
                          </a:solidFill>
                        </a:rPr>
                        <a:t>기반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WP-007 </a:t>
                      </a:r>
                      <a:pPr indent="0" marL="0">
                        <a:buNone/>
                      </a:pPr>
                      <a:r>
                        <a:rPr lang="en-US" sz="1100" dirty="0">
                          <a:solidFill>
                            <a:srgbClr val="1F2937"/>
                          </a:solidFill>
                        </a:rPr>
                        <a:t>인증·설정 </a:t>
                      </a:r>
                      <a:pPr indent="0" marL="0">
                        <a:buNone/>
                      </a:pPr>
                      <a:r>
                        <a:rPr lang="en-US" sz="1100" dirty="0">
                          <a:solidFill>
                            <a:srgbClr val="1F2937"/>
                          </a:solidFill>
                        </a:rPr>
                        <a:t>화면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WP-005 </a:t>
                      </a:r>
                      <a:pPr indent="0" marL="0">
                        <a:buNone/>
                      </a:pPr>
                      <a:r>
                        <a:rPr lang="en-US" sz="1100" dirty="0">
                          <a:solidFill>
                            <a:srgbClr val="1F2937"/>
                          </a:solidFill>
                        </a:rPr>
                        <a:t>자료 </a:t>
                      </a:r>
                      <a:pPr indent="0" marL="0">
                        <a:buNone/>
                      </a:pPr>
                      <a:r>
                        <a:rPr lang="en-US" sz="1100" dirty="0">
                          <a:solidFill>
                            <a:srgbClr val="1F2937"/>
                          </a:solidFill>
                        </a:rPr>
                        <a:t>구조 </a:t>
                      </a:r>
                      <a:pPr indent="0" marL="0">
                        <a:buNone/>
                      </a:pPr>
                      <a:r>
                        <a:rPr lang="en-US" sz="1100" dirty="0">
                          <a:solidFill>
                            <a:srgbClr val="1F2937"/>
                          </a:solidFill>
                        </a:rPr>
                        <a:t>설계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WP-008 </a:t>
                      </a:r>
                      <a:pPr indent="0" marL="0">
                        <a:buNone/>
                      </a:pPr>
                      <a:r>
                        <a:rPr lang="en-US" sz="1100" dirty="0">
                          <a:solidFill>
                            <a:srgbClr val="1F2937"/>
                          </a:solidFill>
                        </a:rPr>
                        <a:t>검색·직접 </a:t>
                      </a:r>
                      <a:pPr indent="0" marL="0">
                        <a:buNone/>
                      </a:pPr>
                      <a:r>
                        <a:rPr lang="en-US" sz="1100" dirty="0">
                          <a:solidFill>
                            <a:srgbClr val="1F2937"/>
                          </a:solidFill>
                        </a:rPr>
                        <a:t>입력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WP-003 </a:t>
                      </a:r>
                      <a:pPr indent="0" marL="0">
                        <a:buNone/>
                      </a:pPr>
                      <a:r>
                        <a:rPr lang="en-US" sz="1100" dirty="0">
                          <a:solidFill>
                            <a:srgbClr val="1F2937"/>
                          </a:solidFill>
                        </a:rPr>
                        <a:t>식품 </a:t>
                      </a:r>
                      <a:pPr indent="0" marL="0">
                        <a:buNone/>
                      </a:pPr>
                      <a:r>
                        <a:rPr lang="en-US" sz="1100" dirty="0">
                          <a:solidFill>
                            <a:srgbClr val="1F2937"/>
                          </a:solidFill>
                        </a:rPr>
                        <a:t>공급처 </a:t>
                      </a:r>
                      <a:pPr indent="0" marL="0">
                        <a:buNone/>
                      </a:pPr>
                      <a:r>
                        <a:rPr lang="en-US" sz="1100" dirty="0">
                          <a:solidFill>
                            <a:srgbClr val="1F2937"/>
                          </a:solidFill>
                        </a:rPr>
                        <a:t>또는 </a:t>
                      </a:r>
                      <a:pPr indent="0" marL="0">
                        <a:buNone/>
                      </a:pPr>
                      <a:r>
                        <a:rPr lang="en-US" sz="1100" dirty="0">
                          <a:solidFill>
                            <a:srgbClr val="1F2937"/>
                          </a:solidFill>
                        </a:rPr>
                        <a:t>임시 </a:t>
                      </a:r>
                      <a:pPr indent="0" marL="0">
                        <a:buNone/>
                      </a:pPr>
                      <a:r>
                        <a:rPr lang="en-US" sz="1100" dirty="0">
                          <a:solidFill>
                            <a:srgbClr val="1F2937"/>
                          </a:solidFill>
                        </a:rPr>
                        <a:t>자료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WP-008 </a:t>
                      </a:r>
                      <a:pPr indent="0" marL="0">
                        <a:buNone/>
                      </a:pPr>
                      <a:r>
                        <a:rPr lang="en-US" sz="1100" dirty="0">
                          <a:solidFill>
                            <a:srgbClr val="1F2937"/>
                          </a:solidFill>
                        </a:rPr>
                        <a:t>검색 </a:t>
                      </a:r>
                      <a:pPr indent="0" marL="0">
                        <a:buNone/>
                      </a:pPr>
                      <a:r>
                        <a:rPr lang="en-US" sz="1100" dirty="0">
                          <a:solidFill>
                            <a:srgbClr val="1F2937"/>
                          </a:solidFill>
                        </a:rPr>
                        <a:t>연동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WP-005 </a:t>
                      </a:r>
                      <a:pPr indent="0" marL="0">
                        <a:buNone/>
                      </a:pPr>
                      <a:r>
                        <a:rPr lang="en-US" sz="1100" dirty="0">
                          <a:solidFill>
                            <a:srgbClr val="1F2937"/>
                          </a:solidFill>
                        </a:rPr>
                        <a:t>자료 </a:t>
                      </a:r>
                      <a:pPr indent="0" marL="0">
                        <a:buNone/>
                      </a:pPr>
                      <a:r>
                        <a:rPr lang="en-US" sz="1100" dirty="0">
                          <a:solidFill>
                            <a:srgbClr val="1F2937"/>
                          </a:solidFill>
                        </a:rPr>
                        <a:t>구조 </a:t>
                      </a:r>
                      <a:pPr indent="0" marL="0">
                        <a:buNone/>
                      </a:pPr>
                      <a:r>
                        <a:rPr lang="en-US" sz="1100" dirty="0">
                          <a:solidFill>
                            <a:srgbClr val="1F2937"/>
                          </a:solidFill>
                        </a:rPr>
                        <a:t>설계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WP-009 </a:t>
                      </a:r>
                      <a:pPr indent="0" marL="0">
                        <a:buNone/>
                      </a:pPr>
                      <a:r>
                        <a:rPr lang="en-US" sz="1100" dirty="0">
                          <a:solidFill>
                            <a:srgbClr val="1F2937"/>
                          </a:solidFill>
                        </a:rPr>
                        <a:t>기록·홈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 작업 의존 관계 (2/3)</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326860"/>
                <a:gridCol w="2801566"/>
                <a:gridCol w="1050587"/>
                <a:gridCol w="1050587"/>
              </a:tblGrid>
              <a:tr h="0">
                <a:tc>
                  <a:txBody>
                    <a:bodyPr/>
                    <a:lstStyle/>
                    <a:p>
                      <a:pPr indent="0" marL="0">
                        <a:buNone/>
                      </a:pPr>
                      <a:r>
                        <a:rPr lang="en-US" sz="1200" b="1" dirty="0">
                          <a:solidFill>
                            <a:srgbClr val="FFFFFF"/>
                          </a:solidFill>
                        </a:rPr>
                        <a:t>선행 </a:t>
                      </a:r>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후속 </a:t>
                      </a:r>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의존 </a:t>
                      </a:r>
                      <a:pPr indent="0" marL="0">
                        <a:buNone/>
                      </a:pPr>
                      <a:r>
                        <a:rPr lang="en-US" sz="1200" b="1" dirty="0">
                          <a:solidFill>
                            <a:srgbClr val="FFFFFF"/>
                          </a:solidFill>
                        </a:rPr>
                        <a:t>유형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지연</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WP-008 </a:t>
                      </a:r>
                      <a:pPr indent="0" marL="0">
                        <a:buNone/>
                      </a:pPr>
                      <a:r>
                        <a:rPr lang="en-US" sz="1100" dirty="0">
                          <a:solidFill>
                            <a:srgbClr val="1F2937"/>
                          </a:solidFill>
                        </a:rPr>
                        <a:t>음식 </a:t>
                      </a:r>
                      <a:pPr indent="0" marL="0">
                        <a:buNone/>
                      </a:pPr>
                      <a:r>
                        <a:rPr lang="en-US" sz="1100" dirty="0">
                          <a:solidFill>
                            <a:srgbClr val="1F2937"/>
                          </a:solidFill>
                        </a:rPr>
                        <a:t>선택 </a:t>
                      </a:r>
                      <a:pPr indent="0" marL="0">
                        <a:buNone/>
                      </a:pPr>
                      <a:r>
                        <a:rPr lang="en-US" sz="1100" dirty="0">
                          <a:solidFill>
                            <a:srgbClr val="1F2937"/>
                          </a:solidFill>
                        </a:rPr>
                        <a:t>기능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WP-009 </a:t>
                      </a:r>
                      <a:pPr indent="0" marL="0">
                        <a:buNone/>
                      </a:pPr>
                      <a:r>
                        <a:rPr lang="en-US" sz="1100" dirty="0">
                          <a:solidFill>
                            <a:srgbClr val="1F2937"/>
                          </a:solidFill>
                        </a:rPr>
                        <a:t>식사 </a:t>
                      </a:r>
                      <a:pPr indent="0" marL="0">
                        <a:buNone/>
                      </a:pPr>
                      <a:r>
                        <a:rPr lang="en-US" sz="1100" dirty="0">
                          <a:solidFill>
                            <a:srgbClr val="1F2937"/>
                          </a:solidFill>
                        </a:rPr>
                        <a:t>기록 </a:t>
                      </a:r>
                      <a:pPr indent="0" marL="0">
                        <a:buNone/>
                      </a:pPr>
                      <a:r>
                        <a:rPr lang="en-US" sz="1100" dirty="0">
                          <a:solidFill>
                            <a:srgbClr val="1F2937"/>
                          </a:solidFill>
                        </a:rPr>
                        <a:t>통합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WP-009 </a:t>
                      </a:r>
                      <a:pPr indent="0" marL="0">
                        <a:buNone/>
                      </a:pPr>
                      <a:r>
                        <a:rPr lang="en-US" sz="1100" dirty="0">
                          <a:solidFill>
                            <a:srgbClr val="1F2937"/>
                          </a:solidFill>
                        </a:rPr>
                        <a:t>기록 </a:t>
                      </a:r>
                      <a:pPr indent="0" marL="0">
                        <a:buNone/>
                      </a:pPr>
                      <a:r>
                        <a:rPr lang="en-US" sz="1100" dirty="0">
                          <a:solidFill>
                            <a:srgbClr val="1F2937"/>
                          </a:solidFill>
                        </a:rPr>
                        <a:t>자료·집계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WP-010 </a:t>
                      </a:r>
                      <a:pPr indent="0" marL="0">
                        <a:buNone/>
                      </a:pPr>
                      <a:r>
                        <a:rPr lang="en-US" sz="1100" dirty="0">
                          <a:solidFill>
                            <a:srgbClr val="1F2937"/>
                          </a:solidFill>
                        </a:rPr>
                        <a:t>주간 </a:t>
                      </a:r>
                      <a:pPr indent="0" marL="0">
                        <a:buNone/>
                      </a:pPr>
                      <a:r>
                        <a:rPr lang="en-US" sz="1100" dirty="0">
                          <a:solidFill>
                            <a:srgbClr val="1F2937"/>
                          </a:solidFill>
                        </a:rPr>
                        <a:t>리포트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WP-007 </a:t>
                      </a:r>
                      <a:pPr indent="0" marL="0">
                        <a:buNone/>
                      </a:pPr>
                      <a:r>
                        <a:rPr lang="en-US" sz="1100" dirty="0">
                          <a:solidFill>
                            <a:srgbClr val="1F2937"/>
                          </a:solidFill>
                        </a:rPr>
                        <a:t>알림·동의 </a:t>
                      </a:r>
                      <a:pPr indent="0" marL="0">
                        <a:buNone/>
                      </a:pPr>
                      <a:r>
                        <a:rPr lang="en-US" sz="1100" dirty="0">
                          <a:solidFill>
                            <a:srgbClr val="1F2937"/>
                          </a:solidFill>
                        </a:rPr>
                        <a:t>구조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WP-010 </a:t>
                      </a:r>
                      <a:pPr indent="0" marL="0">
                        <a:buNone/>
                      </a:pPr>
                      <a:r>
                        <a:rPr lang="en-US" sz="1100" dirty="0">
                          <a:solidFill>
                            <a:srgbClr val="1F2937"/>
                          </a:solidFill>
                        </a:rPr>
                        <a:t>기록 </a:t>
                      </a:r>
                      <a:pPr indent="0" marL="0">
                        <a:buNone/>
                      </a:pPr>
                      <a:r>
                        <a:rPr lang="en-US" sz="1100" dirty="0">
                          <a:solidFill>
                            <a:srgbClr val="1F2937"/>
                          </a:solidFill>
                        </a:rPr>
                        <a:t>알림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WP-009 </a:t>
                      </a:r>
                      <a:pPr indent="0" marL="0">
                        <a:buNone/>
                      </a:pPr>
                      <a:r>
                        <a:rPr lang="en-US" sz="1100" dirty="0">
                          <a:solidFill>
                            <a:srgbClr val="1F2937"/>
                          </a:solidFill>
                        </a:rPr>
                        <a:t>기록 </a:t>
                      </a:r>
                      <a:pPr indent="0" marL="0">
                        <a:buNone/>
                      </a:pPr>
                      <a:r>
                        <a:rPr lang="en-US" sz="1100" dirty="0">
                          <a:solidFill>
                            <a:srgbClr val="1F2937"/>
                          </a:solidFill>
                        </a:rPr>
                        <a:t>기능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WP-012 </a:t>
                      </a:r>
                      <a:pPr indent="0" marL="0">
                        <a:buNone/>
                      </a:pPr>
                      <a:r>
                        <a:rPr lang="en-US" sz="1100" dirty="0">
                          <a:solidFill>
                            <a:srgbClr val="1F2937"/>
                          </a:solidFill>
                        </a:rPr>
                        <a:t>사진 </a:t>
                      </a:r>
                      <a:pPr indent="0" marL="0">
                        <a:buNone/>
                      </a:pPr>
                      <a:r>
                        <a:rPr lang="en-US" sz="1100" dirty="0">
                          <a:solidFill>
                            <a:srgbClr val="1F2937"/>
                          </a:solidFill>
                        </a:rPr>
                        <a:t>첨부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사진 </a:t>
                      </a:r>
                      <a:pPr indent="0" marL="0">
                        <a:buNone/>
                      </a:pPr>
                      <a:r>
                        <a:rPr lang="en-US" sz="1100" dirty="0">
                          <a:solidFill>
                            <a:srgbClr val="1F2937"/>
                          </a:solidFill>
                        </a:rPr>
                        <a:t>범위·보관·삭제 </a:t>
                      </a:r>
                      <a:pPr indent="0" marL="0">
                        <a:buNone/>
                      </a:pPr>
                      <a:r>
                        <a:rPr lang="en-US" sz="1100" dirty="0">
                          <a:solidFill>
                            <a:srgbClr val="1F2937"/>
                          </a:solidFill>
                        </a:rPr>
                        <a:t>정책 </a:t>
                      </a:r>
                      <a:pPr indent="0" marL="0">
                        <a:buNone/>
                      </a:pPr>
                      <a:r>
                        <a:rPr lang="en-US" sz="1100" dirty="0">
                          <a:solidFill>
                            <a:srgbClr val="1F2937"/>
                          </a:solidFill>
                        </a:rPr>
                        <a:t>승인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WP-012 </a:t>
                      </a:r>
                      <a:pPr indent="0" marL="0">
                        <a:buNone/>
                      </a:pPr>
                      <a:r>
                        <a:rPr lang="en-US" sz="1100" dirty="0">
                          <a:solidFill>
                            <a:srgbClr val="1F2937"/>
                          </a:solidFill>
                        </a:rPr>
                        <a:t>사진 </a:t>
                      </a:r>
                      <a:pPr indent="0" marL="0">
                        <a:buNone/>
                      </a:pPr>
                      <a:r>
                        <a:rPr lang="en-US" sz="1100" dirty="0">
                          <a:solidFill>
                            <a:srgbClr val="1F2937"/>
                          </a:solidFill>
                        </a:rPr>
                        <a:t>첨부 </a:t>
                      </a:r>
                      <a:pPr indent="0" marL="0">
                        <a:buNone/>
                      </a:pPr>
                      <a:r>
                        <a:rPr lang="en-US" sz="1100" dirty="0">
                          <a:solidFill>
                            <a:srgbClr val="1F2937"/>
                          </a:solidFill>
                        </a:rPr>
                        <a:t>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기능 </a:t>
                      </a:r>
                      <a:pPr indent="0" marL="0">
                        <a:buNone/>
                      </a:pPr>
                      <a:r>
                        <a:rPr lang="en-US" sz="1100" dirty="0">
                          <a:solidFill>
                            <a:srgbClr val="1F2937"/>
                          </a:solidFill>
                        </a:rPr>
                        <a:t>요구사항 </a:t>
                      </a:r>
                      <a:pPr indent="0" marL="0">
                        <a:buNone/>
                      </a:pPr>
                      <a:r>
                        <a:rPr lang="en-US" sz="1100" dirty="0">
                          <a:solidFill>
                            <a:srgbClr val="1F2937"/>
                          </a:solidFill>
                        </a:rPr>
                        <a:t>초안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WP-013 </a:t>
                      </a:r>
                      <a:pPr indent="0" marL="0">
                        <a:buNone/>
                      </a:pPr>
                      <a:r>
                        <a:rPr lang="en-US" sz="1100" dirty="0">
                          <a:solidFill>
                            <a:srgbClr val="1F2937"/>
                          </a:solidFill>
                        </a:rPr>
                        <a:t>시험 </a:t>
                      </a:r>
                      <a:pPr indent="0" marL="0">
                        <a:buNone/>
                      </a:pPr>
                      <a:r>
                        <a:rPr lang="en-US" sz="1100" dirty="0">
                          <a:solidFill>
                            <a:srgbClr val="1F2937"/>
                          </a:solidFill>
                        </a:rPr>
                        <a:t>계획 </a:t>
                      </a:r>
                      <a:pPr indent="0" marL="0">
                        <a:buNone/>
                      </a:pPr>
                      <a:r>
                        <a:rPr lang="en-US" sz="1100" dirty="0">
                          <a:solidFill>
                            <a:srgbClr val="1F2937"/>
                          </a:solidFill>
                        </a:rPr>
                        <a:t>작성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SS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WP-008·WP-009 </a:t>
                      </a:r>
                      <a:pPr indent="0" marL="0">
                        <a:buNone/>
                      </a:pPr>
                      <a:r>
                        <a:rPr lang="en-US" sz="1100" dirty="0">
                          <a:solidFill>
                            <a:srgbClr val="1F2937"/>
                          </a:solidFill>
                        </a:rPr>
                        <a:t>기능 </a:t>
                      </a:r>
                      <a:pPr indent="0" marL="0">
                        <a:buNone/>
                      </a:pPr>
                      <a:r>
                        <a:rPr lang="en-US" sz="1100" dirty="0">
                          <a:solidFill>
                            <a:srgbClr val="1F2937"/>
                          </a:solidFill>
                        </a:rPr>
                        <a:t>구현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WP-013 </a:t>
                      </a:r>
                      <a:pPr indent="0" marL="0">
                        <a:buNone/>
                      </a:pPr>
                      <a:r>
                        <a:rPr lang="en-US" sz="1100" dirty="0">
                          <a:solidFill>
                            <a:srgbClr val="1F2937"/>
                          </a:solidFill>
                        </a:rPr>
                        <a:t>기능 </a:t>
                      </a:r>
                      <a:pPr indent="0" marL="0">
                        <a:buNone/>
                      </a:pPr>
                      <a:r>
                        <a:rPr lang="en-US" sz="1100" dirty="0">
                          <a:solidFill>
                            <a:srgbClr val="1F2937"/>
                          </a:solidFill>
                        </a:rPr>
                        <a:t>시험 </a:t>
                      </a:r>
                      <a:pPr indent="0" marL="0">
                        <a:buNone/>
                      </a:pPr>
                      <a:r>
                        <a:rPr lang="en-US" sz="1100" dirty="0">
                          <a:solidFill>
                            <a:srgbClr val="1F2937"/>
                          </a:solidFill>
                        </a:rPr>
                        <a:t>수행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WP-004 </a:t>
                      </a:r>
                      <a:pPr indent="0" marL="0">
                        <a:buNone/>
                      </a:pPr>
                      <a:r>
                        <a:rPr lang="en-US" sz="1100" dirty="0">
                          <a:solidFill>
                            <a:srgbClr val="1F2937"/>
                          </a:solidFill>
                        </a:rPr>
                        <a:t>프로토타입 </a:t>
                      </a:r>
                      <a:pPr indent="0" marL="0">
                        <a:buNone/>
                      </a:pPr>
                      <a:r>
                        <a:rPr lang="en-US" sz="1100" dirty="0">
                          <a:solidFill>
                            <a:srgbClr val="1F2937"/>
                          </a:solidFill>
                        </a:rPr>
                        <a:t>화면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WP-014 </a:t>
                      </a:r>
                      <a:pPr indent="0" marL="0">
                        <a:buNone/>
                      </a:pPr>
                      <a:r>
                        <a:rPr lang="en-US" sz="1100" dirty="0">
                          <a:solidFill>
                            <a:srgbClr val="1F2937"/>
                          </a:solidFill>
                        </a:rPr>
                        <a:t>프로토타입 </a:t>
                      </a:r>
                      <a:pPr indent="0" marL="0">
                        <a:buNone/>
                      </a:pPr>
                      <a:r>
                        <a:rPr lang="en-US" sz="1100" dirty="0">
                          <a:solidFill>
                            <a:srgbClr val="1F2937"/>
                          </a:solidFill>
                        </a:rPr>
                        <a:t>시험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핵심 </a:t>
                      </a:r>
                      <a:pPr indent="0" marL="0">
                        <a:buNone/>
                      </a:pPr>
                      <a:r>
                        <a:rPr lang="en-US" sz="1100" dirty="0">
                          <a:solidFill>
                            <a:srgbClr val="1F2937"/>
                          </a:solidFill>
                        </a:rPr>
                        <a:t>화면·기록 </a:t>
                      </a:r>
                      <a:pPr indent="0" marL="0">
                        <a:buNone/>
                      </a:pPr>
                      <a:r>
                        <a:rPr lang="en-US" sz="1100" dirty="0">
                          <a:solidFill>
                            <a:srgbClr val="1F2937"/>
                          </a:solidFill>
                        </a:rPr>
                        <a:t>기능 </a:t>
                      </a:r>
                      <a:pPr indent="0" marL="0">
                        <a:buNone/>
                      </a:pPr>
                      <a:r>
                        <a:rPr lang="en-US" sz="1100" dirty="0">
                          <a:solidFill>
                            <a:srgbClr val="1F2937"/>
                          </a:solidFill>
                        </a:rPr>
                        <a:t>구현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WP-014 </a:t>
                      </a:r>
                      <a:pPr indent="0" marL="0">
                        <a:buNone/>
                      </a:pPr>
                      <a:r>
                        <a:rPr lang="en-US" sz="1100" dirty="0">
                          <a:solidFill>
                            <a:srgbClr val="1F2937"/>
                          </a:solidFill>
                        </a:rPr>
                        <a:t>베타 </a:t>
                      </a:r>
                      <a:pPr indent="0" marL="0">
                        <a:buNone/>
                      </a:pPr>
                      <a:r>
                        <a:rPr lang="en-US" sz="1100" dirty="0">
                          <a:solidFill>
                            <a:srgbClr val="1F2937"/>
                          </a:solidFill>
                        </a:rPr>
                        <a:t>시험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WP-013·WP-014 </a:t>
                      </a:r>
                      <a:pPr indent="0" marL="0">
                        <a:buNone/>
                      </a:pPr>
                      <a:r>
                        <a:rPr lang="en-US" sz="1100" dirty="0">
                          <a:solidFill>
                            <a:srgbClr val="1F2937"/>
                          </a:solidFill>
                        </a:rPr>
                        <a:t>시험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WP-015 </a:t>
                      </a:r>
                      <a:pPr indent="0" marL="0">
                        <a:buNone/>
                      </a:pPr>
                      <a:r>
                        <a:rPr lang="en-US" sz="1100" dirty="0">
                          <a:solidFill>
                            <a:srgbClr val="1F2937"/>
                          </a:solidFill>
                        </a:rPr>
                        <a:t>스토어 </a:t>
                      </a:r>
                      <a:pPr indent="0" marL="0">
                        <a:buNone/>
                      </a:pPr>
                      <a:r>
                        <a:rPr lang="en-US" sz="1100" dirty="0">
                          <a:solidFill>
                            <a:srgbClr val="1F2937"/>
                          </a:solidFill>
                        </a:rPr>
                        <a:t>제출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WP-011 </a:t>
                      </a:r>
                      <a:pPr indent="0" marL="0">
                        <a:buNone/>
                      </a:pPr>
                      <a:r>
                        <a:rPr lang="en-US" sz="1100" dirty="0">
                          <a:solidFill>
                            <a:srgbClr val="1F2937"/>
                          </a:solidFill>
                        </a:rPr>
                        <a:t>백업·감시 </a:t>
                      </a:r>
                      <a:pPr indent="0" marL="0">
                        <a:buNone/>
                      </a:pPr>
                      <a:r>
                        <a:rPr lang="en-US" sz="1100" dirty="0">
                          <a:solidFill>
                            <a:srgbClr val="1F2937"/>
                          </a:solidFill>
                        </a:rPr>
                        <a:t>기반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WP-016 </a:t>
                      </a:r>
                      <a:pPr indent="0" marL="0">
                        <a:buNone/>
                      </a:pPr>
                      <a:r>
                        <a:rPr lang="en-US" sz="1100" dirty="0">
                          <a:solidFill>
                            <a:srgbClr val="1F2937"/>
                          </a:solidFill>
                        </a:rPr>
                        <a:t>운영 </a:t>
                      </a:r>
                      <a:pPr indent="0" marL="0">
                        <a:buNone/>
                      </a:pPr>
                      <a:r>
                        <a:rPr lang="en-US" sz="1100" dirty="0">
                          <a:solidFill>
                            <a:srgbClr val="1F2937"/>
                          </a:solidFill>
                        </a:rPr>
                        <a:t>준비·인계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 작업 의존 관계 (3/3)</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526971"/>
                <a:gridCol w="1175657"/>
                <a:gridCol w="1175657"/>
                <a:gridCol w="2351314"/>
              </a:tblGrid>
              <a:tr h="0">
                <a:tc>
                  <a:txBody>
                    <a:bodyPr/>
                    <a:lstStyle/>
                    <a:p>
                      <a:pPr indent="0" marL="0">
                        <a:buNone/>
                      </a:pPr>
                      <a:r>
                        <a:rPr lang="en-US" sz="1200" b="1" dirty="0">
                          <a:solidFill>
                            <a:srgbClr val="FFFFFF"/>
                          </a:solidFill>
                        </a:rPr>
                        <a:t>선행 </a:t>
                      </a:r>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후속 </a:t>
                      </a:r>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의존 </a:t>
                      </a:r>
                      <a:pPr indent="0" marL="0">
                        <a:buNone/>
                      </a:pPr>
                      <a:r>
                        <a:rPr lang="en-US" sz="1200" b="1" dirty="0">
                          <a:solidFill>
                            <a:srgbClr val="FFFFFF"/>
                          </a:solidFill>
                        </a:rPr>
                        <a:t>유형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지연</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WP-015 </a:t>
                      </a:r>
                      <a:pPr indent="0" marL="0">
                        <a:buNone/>
                      </a:pPr>
                      <a:r>
                        <a:rPr lang="en-US" sz="1100" dirty="0">
                          <a:solidFill>
                            <a:srgbClr val="1F2937"/>
                          </a:solidFill>
                        </a:rPr>
                        <a:t>후보 </a:t>
                      </a:r>
                      <a:pPr indent="0" marL="0">
                        <a:buNone/>
                      </a:pPr>
                      <a:r>
                        <a:rPr lang="en-US" sz="1100" dirty="0">
                          <a:solidFill>
                            <a:srgbClr val="1F2937"/>
                          </a:solidFill>
                        </a:rPr>
                        <a:t>빌드·심사 </a:t>
                      </a:r>
                      <a:pPr indent="0" marL="0">
                        <a:buNone/>
                      </a:pPr>
                      <a:r>
                        <a:rPr lang="en-US" sz="1100" dirty="0">
                          <a:solidFill>
                            <a:srgbClr val="1F2937"/>
                          </a:solidFill>
                        </a:rPr>
                        <a:t>제출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공개일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심사 </a:t>
                      </a:r>
                      <a:pPr indent="0" marL="0">
                        <a:buNone/>
                      </a:pPr>
                      <a:r>
                        <a:rPr lang="en-US" sz="1100" dirty="0">
                          <a:solidFill>
                            <a:srgbClr val="1F2937"/>
                          </a:solidFill>
                        </a:rPr>
                        <a:t>결과에 </a:t>
                      </a:r>
                      <a:pPr indent="0" marL="0">
                        <a:buNone/>
                      </a:pPr>
                      <a:r>
                        <a:rPr lang="en-US" sz="1100" dirty="0">
                          <a:solidFill>
                            <a:srgbClr val="1F2937"/>
                          </a:solidFill>
                        </a:rPr>
                        <a:t>따라 </a:t>
                      </a:r>
                      <a:pPr indent="0" marL="0">
                        <a:buNone/>
                      </a:pPr>
                      <a:r>
                        <a:rPr lang="en-US" sz="1100" dirty="0">
                          <a:solidFill>
                            <a:srgbClr val="1F2937"/>
                          </a:solidFill>
                        </a:rPr>
                        <a:t>변동</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의존 관계 해석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FS(완료 후 시작)</a:t>
            </a:r>
            <a:pPr indent="0" marL="0">
              <a:spcAft>
                <a:spcPts val="800"/>
              </a:spcAft>
              <a:buNone/>
            </a:pPr>
            <a:r>
              <a:rPr lang="en-US" sz="1600" dirty="0">
                <a:solidFill>
                  <a:srgbClr val="4B5563"/>
                </a:solidFill>
              </a:rPr>
              <a:t>: 선행 작업의 완료 후 후속 작업을 시작합니다.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SS(동시 시작)</a:t>
            </a:r>
            <a:pPr indent="0" marL="0">
              <a:spcAft>
                <a:spcPts val="800"/>
              </a:spcAft>
              <a:buNone/>
            </a:pPr>
            <a:r>
              <a:rPr lang="en-US" sz="1600" dirty="0">
                <a:solidFill>
                  <a:srgbClr val="4B5563"/>
                </a:solidFill>
              </a:rPr>
              <a:t>: 선행 작업이 시작되면 후속 작업을 병행할 수 있습니다. 단, 결과물 확정 전에는 실제 연동·화면 고정을 제한합니다.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FF(동시 완료)</a:t>
            </a:r>
            <a:pPr indent="0" marL="0">
              <a:spcAft>
                <a:spcPts val="800"/>
              </a:spcAft>
              <a:buNone/>
            </a:pPr>
            <a:r>
              <a:rPr lang="en-US" sz="1600" dirty="0">
                <a:solidFill>
                  <a:srgbClr val="4B5563"/>
                </a:solidFill>
              </a:rPr>
              <a:t>: 관련 작업이 같은 완료 시점까지 마무리돼야 합니다.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SF(시작 후 완료)</a:t>
            </a:r>
            <a:pPr indent="0" marL="0">
              <a:spcAft>
                <a:spcPts val="800"/>
              </a:spcAft>
              <a:buNone/>
            </a:pPr>
            <a:r>
              <a:rPr lang="en-US" sz="1600" dirty="0">
                <a:solidFill>
                  <a:srgbClr val="4B5563"/>
                </a:solidFill>
              </a:rPr>
              <a:t>: 선행 작업의 시작을 기준으로 후속 작업을 완료하는 관계입니다. 본 계획에는 적용되는 작업이 없습니다.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의존 관계 해석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사진 첨부</a:t>
            </a:r>
            <a:pPr indent="0" marL="0">
              <a:spcAft>
                <a:spcPts val="800"/>
              </a:spcAft>
              <a:buNone/>
            </a:pPr>
            <a:r>
              <a:rPr lang="en-US" sz="1600" dirty="0">
                <a:solidFill>
                  <a:srgbClr val="4B5563"/>
                </a:solidFill>
              </a:rPr>
              <a:t>: 최종 범위 승인과 삭제·저장 정책 확인 전에는 개발 착수를 진행하지 않는 FS 관계입니다.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공개 일정</a:t>
            </a:r>
            <a:pPr indent="0" marL="0">
              <a:spcAft>
                <a:spcPts val="800"/>
              </a:spcAft>
              <a:buNone/>
            </a:pPr>
            <a:r>
              <a:rPr lang="en-US" sz="1600" dirty="0">
                <a:solidFill>
                  <a:srgbClr val="4B5563"/>
                </a:solidFill>
              </a:rPr>
              <a:t>: 스토어 심사 완료가 공개 결정의 선행 조건이며, W8 내 실제 공개를 보장하지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작성 완료 후 확인사항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프로젝트 기간을 킥오프일과 8주 목표·9주 완충으로 구분함</a:t>
            </a:r>
            <a:endParaRPr lang="en-US" sz="1600" dirty="0"/>
          </a:p>
          <a:p>
            <a:pPr indent="0" marL="0">
              <a:spcAft>
                <a:spcPts val="800"/>
              </a:spcAft>
              <a:buNone/>
            </a:pPr>
            <a:r>
              <a:rPr lang="en-US" sz="1600" dirty="0">
                <a:solidFill>
                  <a:srgbClr val="4B5563"/>
                </a:solidFill>
              </a:rPr>
              <a:t>☑ WBS를 대분류·중분류·소분류의 최소 3단계로 분할함</a:t>
            </a:r>
            <a:endParaRPr lang="en-US" sz="1600" dirty="0"/>
          </a:p>
          <a:p>
            <a:pPr indent="0" marL="0">
              <a:spcAft>
                <a:spcPts val="800"/>
              </a:spcAft>
              <a:buNone/>
            </a:pPr>
            <a:r>
              <a:rPr lang="en-US" sz="1600" dirty="0">
                <a:solidFill>
                  <a:srgbClr val="4B5563"/>
                </a:solidFill>
              </a:rPr>
              <a:t>☑ 담당자를 실명이 확정된 경우에만 이름으로, 그 외에는 역할·미정으로 표시함</a:t>
            </a:r>
            <a:endParaRPr lang="en-US" sz="1600" dirty="0"/>
          </a:p>
          <a:p>
            <a:pPr indent="0" marL="0">
              <a:spcAft>
                <a:spcPts val="800"/>
              </a:spcAft>
              <a:buNone/>
            </a:pPr>
            <a:r>
              <a:rPr lang="en-US" sz="1600" dirty="0">
                <a:solidFill>
                  <a:srgbClr val="4B5563"/>
                </a:solidFill>
              </a:rPr>
              <a:t>☑ 작업 기간·선행 작업·의존 유형·산출물·완료 기준을 작업 패키지에 기재함</a:t>
            </a:r>
            <a:endParaRPr lang="en-US" sz="1600" dirty="0"/>
          </a:p>
          <a:p>
            <a:pPr indent="0" marL="0">
              <a:spcAft>
                <a:spcPts val="800"/>
              </a:spcAft>
              <a:buNone/>
            </a:pPr>
            <a:r>
              <a:rPr lang="en-US" sz="1600" dirty="0">
                <a:solidFill>
                  <a:srgbClr val="4B5563"/>
                </a:solidFill>
              </a:rPr>
              <a:t>☑ 마일스톤과 선행 검증 조건을 정리함</a:t>
            </a:r>
            <a:endParaRPr lang="en-US" sz="1600" dirty="0"/>
          </a:p>
          <a:p>
            <a:pPr indent="0" marL="0">
              <a:spcAft>
                <a:spcPts val="800"/>
              </a:spcAft>
              <a:buNone/>
            </a:pPr>
            <a:r>
              <a:rPr lang="en-US" sz="1600" dirty="0">
                <a:solidFill>
                  <a:srgbClr val="4B5563"/>
                </a:solidFill>
              </a:rPr>
              <a:t>☑ 사진 첨부의 상충 내용과 조건부 범위를 구분함</a:t>
            </a:r>
            <a:endParaRPr lang="en-US" sz="1600" dirty="0"/>
          </a:p>
          <a:p>
            <a:pPr indent="0" marL="0">
              <a:spcAft>
                <a:spcPts val="800"/>
              </a:spcAft>
              <a:buNone/>
            </a:pPr>
            <a:r>
              <a:rPr lang="en-US" sz="1600" dirty="0">
                <a:solidFill>
                  <a:srgbClr val="4B5563"/>
                </a:solidFill>
              </a:rPr>
              <a:t>☑ 비용·인력·성능 목표가 확정되지 않은 사항을 추정 필요로 표시함</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작성 완료 후 확인사항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스토어 심사 변수와 W9 완충을 일정에 반영함</a:t>
            </a:r>
            <a:endParaRPr lang="en-US" sz="1600" dirty="0"/>
          </a:p>
          <a:p>
            <a:pPr indent="0" marL="0">
              <a:spcAft>
                <a:spcPts val="800"/>
              </a:spcAft>
              <a:buNone/>
            </a:pPr>
            <a:r>
              <a:rPr lang="en-US" sz="1600" dirty="0">
                <a:solidFill>
                  <a:srgbClr val="4B5563"/>
                </a:solidFill>
              </a:rPr>
              <a:t>☑ 위험 관리와 자원 계획을 포함함</a:t>
            </a:r>
            <a:endParaRPr lang="en-US" sz="1600" dirty="0"/>
          </a:p>
          <a:p>
            <a:pPr indent="0" marL="0">
              <a:spcAft>
                <a:spcPts val="800"/>
              </a:spcAft>
              <a:buNone/>
            </a:pPr>
            <a:r>
              <a:rPr lang="en-US" sz="1600" dirty="0">
                <a:solidFill>
                  <a:srgbClr val="4B5563"/>
                </a:solidFill>
              </a:rPr>
              <a:t>☐ 앱 개발 지원 인력의 인원·투입 시점 확정 필요</a:t>
            </a:r>
            <a:endParaRPr lang="en-US" sz="1600" dirty="0"/>
          </a:p>
          <a:p>
            <a:pPr indent="0" marL="0">
              <a:spcAft>
                <a:spcPts val="800"/>
              </a:spcAft>
              <a:buNone/>
            </a:pPr>
            <a:r>
              <a:rPr lang="en-US" sz="1600" dirty="0">
                <a:solidFill>
                  <a:srgbClr val="4B5563"/>
                </a:solidFill>
              </a:rPr>
              <a:t>☐ 인증 제공자 및 게스트 계정·병합 방식 결정 필요</a:t>
            </a:r>
            <a:endParaRPr lang="en-US" sz="1600" dirty="0"/>
          </a:p>
          <a:p>
            <a:pPr indent="0" marL="0">
              <a:spcAft>
                <a:spcPts val="800"/>
              </a:spcAft>
              <a:buNone/>
            </a:pPr>
            <a:r>
              <a:rPr lang="en-US" sz="1600" dirty="0">
                <a:solidFill>
                  <a:srgbClr val="4B5563"/>
                </a:solidFill>
              </a:rPr>
              <a:t>☐ 식품 데이터 공급처·계약·캐시·검색어 처리 조건 확정 필요</a:t>
            </a:r>
            <a:endParaRPr lang="en-US" sz="1600" dirty="0"/>
          </a:p>
          <a:p>
            <a:pPr indent="0" marL="0">
              <a:spcAft>
                <a:spcPts val="800"/>
              </a:spcAft>
              <a:buNone/>
            </a:pPr>
            <a:r>
              <a:rPr lang="en-US" sz="1600" dirty="0">
                <a:solidFill>
                  <a:srgbClr val="4B5563"/>
                </a:solidFill>
              </a:rPr>
              <a:t>☐ 사진 첨부의 최종 포함 여부와 정책 승인 필요</a:t>
            </a:r>
            <a:endParaRPr lang="en-US" sz="1600" dirty="0"/>
          </a:p>
          <a:p>
            <a:pPr indent="0" marL="0">
              <a:spcAft>
                <a:spcPts val="800"/>
              </a:spcAft>
              <a:buNone/>
            </a:pPr>
            <a:r>
              <a:rPr lang="en-US" sz="1600" dirty="0">
                <a:solidFill>
                  <a:srgbClr val="4B5563"/>
                </a:solidFill>
              </a:rPr>
              <a:t>☐ 자동 목표 안전 기준 전문가 검토 필요</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작성 완료 후 확인사항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개인정보·계정 삭제·백업 보존 정책 검토 필요</a:t>
            </a:r>
            <a:endParaRPr lang="en-US" sz="1600" dirty="0"/>
          </a:p>
          <a:p>
            <a:pPr indent="0" marL="0">
              <a:spcAft>
                <a:spcPts val="800"/>
              </a:spcAft>
              <a:buNone/>
            </a:pPr>
            <a:r>
              <a:rPr lang="en-US" sz="1600" dirty="0">
                <a:solidFill>
                  <a:srgbClr val="4B5563"/>
                </a:solidFill>
              </a:rPr>
              <a:t>☐ 지원 운영체제 버전과 기기별 시험 범위 확정 필요</a:t>
            </a:r>
            <a:endParaRPr lang="en-US" sz="1600" dirty="0"/>
          </a:p>
          <a:p>
            <a:pPr indent="0" marL="0">
              <a:spcAft>
                <a:spcPts val="800"/>
              </a:spcAft>
              <a:buNone/>
            </a:pPr>
            <a:r>
              <a:rPr lang="en-US" sz="1600" dirty="0">
                <a:solidFill>
                  <a:srgbClr val="4B5563"/>
                </a:solidFill>
              </a:rPr>
              <a:t>☐ 베타 참가 규모·동의·보관·삭제 절차 확정 필요</a:t>
            </a:r>
            <a:endParaRPr lang="en-US" sz="1600" dirty="0"/>
          </a:p>
          <a:p>
            <a:pPr indent="0" marL="0">
              <a:spcAft>
                <a:spcPts val="800"/>
              </a:spcAft>
              <a:buNone/>
            </a:pPr>
            <a:r>
              <a:rPr lang="en-US" sz="1600" dirty="0">
                <a:solidFill>
                  <a:srgbClr val="4B5563"/>
                </a:solidFill>
              </a:rPr>
              <a:t>☐ 비용 추정과 예산 승인 절차 확정 필요</a:t>
            </a:r>
            <a:endParaRPr lang="en-US" sz="1600" dirty="0"/>
          </a:p>
          <a:p>
            <a:pPr indent="0" marL="0">
              <a:spcAft>
                <a:spcPts val="800"/>
              </a:spcAft>
              <a:buNone/>
            </a:pPr>
            <a:r>
              <a:rPr lang="en-US" sz="1600" dirty="0">
                <a:solidFill>
                  <a:srgbClr val="4B5563"/>
                </a:solidFill>
              </a:rPr>
              <a:t>☐ 승인자·운영 담당자 지정 필요</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123</Slides>
  <Notes>123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123</vt:i4>
      </vt:variant>
    </vt:vector>
  </HeadingPairs>
  <TitlesOfParts>
    <vt:vector size="1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2026-10-06T12:40:13Z</dcterms:created>
  <dcterms:modified xsi:type="dcterms:W3CDTF">2026-10-06T12:40:13Z</dcterms:modified>
</cp:coreProperties>
</file>