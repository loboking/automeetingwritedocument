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Lst>
  <p:notesMasterIdLst>
    <p:notesMasterId r:id="rId102"/>
  </p:notesMasterIdLst>
  <p:sldSz cx="9144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notesMaster" Target="notesMasters/notesMaster1.xml"/><Relationship Id="rId103" Type="http://schemas.openxmlformats.org/officeDocument/2006/relationships/presProps" Target="presProps.xml"/><Relationship Id="rId104" Type="http://schemas.openxmlformats.org/officeDocument/2006/relationships/viewProps" Target="viewProps.xml"/><Relationship Id="rId105" Type="http://schemas.openxmlformats.org/officeDocument/2006/relationships/theme" Target="theme/theme1.xml"/><Relationship Id="rId10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RAND">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46304"/>
          </a:xfrm>
          <a:prstGeom prst="rect">
            <a:avLst/>
          </a:prstGeom>
          <a:solidFill>
            <a:srgbClr val="263F59"/>
          </a:solidFill>
          <a:ln/>
        </p:spPr>
      </p:sp>
      <p:sp>
        <p:nvSpPr>
          <p:cNvPr id="3" name="Text 1"/>
          <p:cNvSpPr/>
          <p:nvPr/>
        </p:nvSpPr>
        <p:spPr>
          <a:xfrm>
            <a:off x="365760" y="6446520"/>
            <a:ext cx="4572000" cy="274320"/>
          </a:xfrm>
          <a:prstGeom prst="rect">
            <a:avLst/>
          </a:prstGeom>
          <a:noFill/>
          <a:ln/>
        </p:spPr>
        <p:txBody>
          <a:bodyPr wrap="square" rtlCol="0" anchor="ctr"/>
          <a:lstStyle/>
          <a:p>
            <a:pPr indent="0" marL="0">
              <a:buNone/>
            </a:pPr>
            <a:r>
              <a:rPr lang="en-US" sz="900" dirty="0">
                <a:solidFill>
                  <a:srgbClr val="9CA3AF"/>
                </a:solidFill>
              </a:rPr>
              <a:t>MeetingAutoDocs</a:t>
            </a:r>
            <a:endParaRPr lang="en-US" sz="9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2.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slideLayout" Target="../slideLayouts/slideLayout2.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image-84-1.png"/><Relationship Id="rId2" Type="http://schemas.openxmlformats.org/officeDocument/2006/relationships/slideLayout" Target="../slideLayouts/slideLayout2.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image-89-1.png"/><Relationship Id="rId2" Type="http://schemas.openxmlformats.org/officeDocument/2006/relationships/slideLayout" Target="../slideLayouts/slideLayout2.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63F59"/>
        </a:solidFill>
      </p:bgPr>
    </p:bg>
    <p:spTree>
      <p:nvGrpSpPr>
        <p:cNvPr id="1" name=""/>
        <p:cNvGrpSpPr/>
        <p:nvPr/>
      </p:nvGrpSpPr>
      <p:grpSpPr>
        <a:xfrm>
          <a:off x="0" y="0"/>
          <a:ext cx="0" cy="0"/>
          <a:chOff x="0" y="0"/>
          <a:chExt cx="0" cy="0"/>
        </a:xfrm>
      </p:grpSpPr>
      <p:sp>
        <p:nvSpPr>
          <p:cNvPr id="2" name="Text 0"/>
          <p:cNvSpPr/>
          <p:nvPr/>
        </p:nvSpPr>
        <p:spPr>
          <a:xfrm>
            <a:off x="457200" y="2377440"/>
            <a:ext cx="8229600" cy="1645920"/>
          </a:xfrm>
          <a:prstGeom prst="rect">
            <a:avLst/>
          </a:prstGeom>
          <a:noFill/>
          <a:ln/>
        </p:spPr>
        <p:txBody>
          <a:bodyPr wrap="square" rtlCol="0" anchor="ctr"/>
          <a:lstStyle/>
          <a:p>
            <a:pPr algn="ctr" indent="0" marL="0">
              <a:buNone/>
            </a:pPr>
            <a:r>
              <a:rPr lang="en-US" sz="4000" b="1" dirty="0">
                <a:solidFill>
                  <a:srgbClr val="FFFFFF"/>
                </a:solidFill>
              </a:rPr>
              <a:t>1. 문서 정보</a:t>
            </a:r>
            <a:endParaRPr lang="en-US" sz="4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1. 문서 정보</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2400300"/>
                <a:gridCol w="5829300"/>
              </a:tblGrid>
              <a:tr h="0">
                <a:tc>
                  <a:txBody>
                    <a:bodyPr/>
                    <a:lstStyle/>
                    <a:p>
                      <a:pPr indent="0" marL="0">
                        <a:buNone/>
                      </a:pPr>
                      <a:r>
                        <a:rPr lang="en-US" sz="1200" b="1" dirty="0">
                          <a:solidFill>
                            <a:srgbClr val="FFFFFF"/>
                          </a:solidFill>
                        </a:rPr>
                        <a:t>항목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내용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b="1" dirty="0">
                          <a:solidFill>
                            <a:srgbClr val="1F2937"/>
                          </a:solidFill>
                        </a:rPr>
                        <a:t>문서명</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식단 </a:t>
                      </a:r>
                      <a:pPr indent="0" marL="0">
                        <a:buNone/>
                      </a:pPr>
                      <a:r>
                        <a:rPr lang="en-US" sz="1100" dirty="0">
                          <a:solidFill>
                            <a:srgbClr val="1F2937"/>
                          </a:solidFill>
                        </a:rPr>
                        <a:t>기록 </a:t>
                      </a:r>
                      <a:pPr indent="0" marL="0">
                        <a:buNone/>
                      </a:pPr>
                      <a:r>
                        <a:rPr lang="en-US" sz="1100" dirty="0">
                          <a:solidFill>
                            <a:srgbClr val="1F2937"/>
                          </a:solidFill>
                        </a:rPr>
                        <a:t>앱 </a:t>
                      </a:r>
                      <a:pPr indent="0" marL="0">
                        <a:buNone/>
                      </a:pPr>
                      <a:r>
                        <a:rPr lang="en-US" sz="1100" dirty="0">
                          <a:solidFill>
                            <a:srgbClr val="1F2937"/>
                          </a:solidFill>
                        </a:rPr>
                        <a:t>핵심 </a:t>
                      </a:r>
                      <a:pPr indent="0" marL="0">
                        <a:buNone/>
                      </a:pPr>
                      <a:r>
                        <a:rPr lang="en-US" sz="1100" dirty="0">
                          <a:solidFill>
                            <a:srgbClr val="1F2937"/>
                          </a:solidFill>
                        </a:rPr>
                        <a:t>이용 </a:t>
                      </a:r>
                      <a:pPr indent="0" marL="0">
                        <a:buNone/>
                      </a:pPr>
                      <a:r>
                        <a:rPr lang="en-US" sz="1100" dirty="0">
                          <a:solidFill>
                            <a:srgbClr val="1F2937"/>
                          </a:solidFill>
                        </a:rPr>
                        <a:t>흐름도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버전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v1.0</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작성일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2026-10-01</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작성자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프로세스 </a:t>
                      </a:r>
                      <a:pPr indent="0" marL="0">
                        <a:buNone/>
                      </a:pPr>
                      <a:r>
                        <a:rPr lang="en-US" sz="1100" dirty="0">
                          <a:solidFill>
                            <a:srgbClr val="1F2937"/>
                          </a:solidFill>
                        </a:rPr>
                        <a:t>설계팀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승인자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1. 문서 정보</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a:t>
            </a:r>
            <a:pPr indent="0" marL="0">
              <a:spcAft>
                <a:spcPts val="800"/>
              </a:spcAft>
              <a:buNone/>
            </a:pPr>
            <a:r>
              <a:rPr lang="en-US" sz="1600" b="1" dirty="0">
                <a:solidFill>
                  <a:srgbClr val="4B5563"/>
                </a:solidFill>
              </a:rPr>
              <a:t>표기 원칙:</a:t>
            </a:r>
            <a:pPr indent="0" marL="0">
              <a:spcAft>
                <a:spcPts val="800"/>
              </a:spcAft>
              <a:buNone/>
            </a:pPr>
            <a:r>
              <a:rPr lang="en-US" sz="1600" dirty="0">
                <a:solidFill>
                  <a:srgbClr val="4B5563"/>
                </a:solidFill>
              </a:rPr>
              <a:t> 회의에서 명시적으로 정리된 범위와 미결정 항목을 구분했습니다. 구현 방식이나 운영 세부가 회의에서 확정되지 않은 경우에는 </a:t>
            </a:r>
            <a:pPr indent="0" marL="0">
              <a:spcAft>
                <a:spcPts val="800"/>
              </a:spcAft>
              <a:buNone/>
            </a:pPr>
            <a:r>
              <a:rPr lang="en-US" sz="1600" b="1" dirty="0">
                <a:solidFill>
                  <a:srgbClr val="4B5563"/>
                </a:solidFill>
              </a:rPr>
              <a:t>추정 필요</a:t>
            </a:r>
            <a:pPr indent="0" marL="0">
              <a:spcAft>
                <a:spcPts val="800"/>
              </a:spcAft>
              <a:buNone/>
            </a:pPr>
            <a:r>
              <a:rPr lang="en-US" sz="1600" dirty="0">
                <a:solidFill>
                  <a:srgbClr val="4B5563"/>
                </a:solidFill>
              </a:rPr>
              <a:t>로 표시했습니다. 단계별 처리 시간도 별도 합의가 없는 한 </a:t>
            </a:r>
            <a:pPr indent="0" marL="0">
              <a:spcAft>
                <a:spcPts val="800"/>
              </a:spcAft>
              <a:buNone/>
            </a:pPr>
            <a:r>
              <a:rPr lang="en-US" sz="1600" b="1" dirty="0">
                <a:solidFill>
                  <a:srgbClr val="4B5563"/>
                </a:solidFill>
              </a:rPr>
              <a:t>추정 필요</a:t>
            </a:r>
            <a:pPr indent="0" marL="0">
              <a:spcAft>
                <a:spcPts val="800"/>
              </a:spcAft>
              <a:buNone/>
            </a:pPr>
            <a:r>
              <a:rPr lang="en-US" sz="1600" dirty="0">
                <a:solidFill>
                  <a:srgbClr val="4B5563"/>
                </a:solidFill>
              </a:rPr>
              <a:t>입니다. 다이어그램의 입력·출력은 회의에서 논의된 사용자 흐름과 데이터 구조를 바탕으로 정리했습니다."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2. 프로세스 개요</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2.1 프로세스 정보 (1/5)</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이 문서는 체중 관리를 원하는 일반 사용자가 식사 기록을 시작하고, 음식 정보를 찾아 기록한 뒤, 기록을 수정·삭제하고, 주간 리포트에서 다시 확인하는 MVP 핵심 흐름을 정의합니다. 이 프로세스의 목적은 영양 상담이나 정확한 섭취량 측정이 아니라 기록 부담을 낮추고, 사용자가 기록한 내용을 신뢰할 수 있게 보존하는 것입니다.</a:t>
            </a:r>
            <a:endParaRPr lang="en-US" sz="1600" dirty="0"/>
          </a:p>
          <a:p>
            <a:pPr indent="0" marL="0">
              <a:spcAft>
                <a:spcPts val="800"/>
              </a:spcAft>
              <a:buNone/>
            </a:pPr>
            <a:r>
              <a:rPr lang="en-US" sz="1600" dirty="0">
                <a:solidFill>
                  <a:srgbClr val="4B5563"/>
                </a:solidFill>
              </a:rPr>
              <a:t>영양 정보는 참고값으로 다루며, 실제 섭취량을 확정적으로 보여주지 않습니다.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2.1 프로세스 정보 (2/5)</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범위에는 iOS·안드로이드 공통 앱에서의 가입·온보딩, 선택적 목표 설정, 홈, 음식 검색·최근 기록·즐겨찾기·직접 입력, 식사 기록·수정·삭제, 주간 리포트, 선택형 기록 알림, 계정 삭제가 포함됩니다. 한 식사 구분에 여러 음식 항목을 추가하고, 각 항목은 개별 저장합니다.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2.1 프로세스 정보 (3/5)</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MVP의 사진 기능은 회의 후반에 식사당 사진 한 장 첨부를 포함하는 방향으로 정리됐으나, 핵심 기록 저장과 분리하고 5주 차까지 개발 여건을 확인해 통합하는 순서입니다. 사진 자동 인식은 출시 필수 기능으로 확정되지 않았으며, 기술 검증 결과와 일정 영향을 보고 판단합니다.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2.1 프로세스 정보 (4/5)</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사진 자동 인식, 바코드, 친구 공유, 전문가 상담, 운동·수면 기록, 건강 플랫폼 연동, 체중 일별 추적, 결제 및 광고는 MVP 범위에서 제외합니다. 자동 권장 칼로리는 전문가 검토가 완료되지 않으면 MVP에서 제외하기로 했고, 사용자가 목표 없이 기록하는 흐름은 허용합니다.</a:t>
            </a:r>
            <a:endParaRPr lang="en-US" sz="1600" dirty="0"/>
          </a:p>
          <a:p>
            <a:pPr indent="0" marL="0">
              <a:spcAft>
                <a:spcPts val="800"/>
              </a:spcAft>
              <a:buNone/>
            </a:pPr>
            <a:r>
              <a:rPr lang="en-US" sz="1600" dirty="0">
                <a:solidFill>
                  <a:srgbClr val="4B5563"/>
                </a:solidFill>
              </a:rPr>
              <a:t>외부 식품 API 공급처, 로그인 제공자 범위, 오프라인 임시 보존의 구현 수준, 기록 전체 초기화, 지원 OS 버전, 데이터 내보내기, 보관·삭제 세부 정책 등은 확정되지 않았습니다.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2.1 프로세스 정보 (5/5)</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프로세스는 사용자 앱, 앱 서버, 데이터베이스, 외부 식품 데이터 공급자, 푸시 전달 체계, 제품 분석 도구 및 스토어 심사 절차와 관계됩니다. 외부 식품 API에는 검색어만 전달하고 사용자 식별 정보나 식사 기록은 전달하지 않는 방향입니다.</a:t>
            </a:r>
            <a:endParaRPr lang="en-US" sz="1600" dirty="0"/>
          </a:p>
          <a:p>
            <a:pPr indent="0" marL="0">
              <a:spcAft>
                <a:spcPts val="800"/>
              </a:spcAft>
              <a:buNone/>
            </a:pPr>
            <a:r>
              <a:rPr lang="en-US" sz="1600" dirty="0">
                <a:solidFill>
                  <a:srgbClr val="4B5563"/>
                </a:solidFill>
              </a:rPr>
              <a:t>기록 당시 음식명과 영양값은 스냅샷으로 저장해 외부 음식 정보가 변경되어도 기존 기록과 리포트가 바뀌지 않도록 합니다. 외부 공급자의 약관·보관 조건·재표시 권한, 개인정보 처리와 국외 이전 여부는 출시 전 확인해야 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2.1 프로세스 정보</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1926077"/>
                <a:gridCol w="6303523"/>
              </a:tblGrid>
              <a:tr h="0">
                <a:tc>
                  <a:txBody>
                    <a:bodyPr/>
                    <a:lstStyle/>
                    <a:p>
                      <a:pPr indent="0" marL="0">
                        <a:buNone/>
                      </a:pPr>
                      <a:r>
                        <a:rPr lang="en-US" sz="1200" b="1" dirty="0">
                          <a:solidFill>
                            <a:srgbClr val="FFFFFF"/>
                          </a:solidFill>
                        </a:rPr>
                        <a:t>항목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내용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b="1" dirty="0">
                          <a:solidFill>
                            <a:srgbClr val="1F2937"/>
                          </a:solidFill>
                        </a:rPr>
                        <a:t>프로세스 </a:t>
                      </a:r>
                      <a:pPr indent="0" marL="0">
                        <a:buNone/>
                      </a:pPr>
                      <a:r>
                        <a:rPr lang="en-US" sz="1100" b="1" dirty="0">
                          <a:solidFill>
                            <a:srgbClr val="1F2937"/>
                          </a:solidFill>
                        </a:rPr>
                        <a:t>명</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식사 </a:t>
                      </a:r>
                      <a:pPr indent="0" marL="0">
                        <a:buNone/>
                      </a:pPr>
                      <a:r>
                        <a:rPr lang="en-US" sz="1100" dirty="0">
                          <a:solidFill>
                            <a:srgbClr val="1F2937"/>
                          </a:solidFill>
                        </a:rPr>
                        <a:t>기록 </a:t>
                      </a:r>
                      <a:pPr indent="0" marL="0">
                        <a:buNone/>
                      </a:pPr>
                      <a:r>
                        <a:rPr lang="en-US" sz="1100" dirty="0">
                          <a:solidFill>
                            <a:srgbClr val="1F2937"/>
                          </a:solidFill>
                        </a:rPr>
                        <a:t>및 </a:t>
                      </a:r>
                      <a:pPr indent="0" marL="0">
                        <a:buNone/>
                      </a:pPr>
                      <a:r>
                        <a:rPr lang="en-US" sz="1100" dirty="0">
                          <a:solidFill>
                            <a:srgbClr val="1F2937"/>
                          </a:solidFill>
                        </a:rPr>
                        <a:t>기록 </a:t>
                      </a:r>
                      <a:pPr indent="0" marL="0">
                        <a:buNone/>
                      </a:pPr>
                      <a:r>
                        <a:rPr lang="en-US" sz="1100" dirty="0">
                          <a:solidFill>
                            <a:srgbClr val="1F2937"/>
                          </a:solidFill>
                        </a:rPr>
                        <a:t>기반 </a:t>
                      </a:r>
                      <a:pPr indent="0" marL="0">
                        <a:buNone/>
                      </a:pPr>
                      <a:r>
                        <a:rPr lang="en-US" sz="1100" dirty="0">
                          <a:solidFill>
                            <a:srgbClr val="1F2937"/>
                          </a:solidFill>
                        </a:rPr>
                        <a:t>주간 </a:t>
                      </a:r>
                      <a:pPr indent="0" marL="0">
                        <a:buNone/>
                      </a:pPr>
                      <a:r>
                        <a:rPr lang="en-US" sz="1100" dirty="0">
                          <a:solidFill>
                            <a:srgbClr val="1F2937"/>
                          </a:solidFill>
                        </a:rPr>
                        <a:t>리포트 </a:t>
                      </a:r>
                      <a:pPr indent="0" marL="0">
                        <a:buNone/>
                      </a:pPr>
                      <a:r>
                        <a:rPr lang="en-US" sz="1100" dirty="0">
                          <a:solidFill>
                            <a:srgbClr val="1F2937"/>
                          </a:solidFill>
                        </a:rPr>
                        <a:t>제공</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프로세스 </a:t>
                      </a:r>
                      <a:pPr indent="0" marL="0">
                        <a:buNone/>
                      </a:pPr>
                      <a:r>
                        <a:rPr lang="en-US" sz="1100" b="1" dirty="0">
                          <a:solidFill>
                            <a:srgbClr val="1F2937"/>
                          </a:solidFill>
                        </a:rPr>
                        <a:t>ID</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P-001</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목적</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사용자가 </a:t>
                      </a:r>
                      <a:pPr indent="0" marL="0">
                        <a:buNone/>
                      </a:pPr>
                      <a:r>
                        <a:rPr lang="en-US" sz="1100" dirty="0">
                          <a:solidFill>
                            <a:srgbClr val="1F2937"/>
                          </a:solidFill>
                        </a:rPr>
                        <a:t>식사를 </a:t>
                      </a:r>
                      <a:pPr indent="0" marL="0">
                        <a:buNone/>
                      </a:pPr>
                      <a:r>
                        <a:rPr lang="en-US" sz="1100" dirty="0">
                          <a:solidFill>
                            <a:srgbClr val="1F2937"/>
                          </a:solidFill>
                        </a:rPr>
                        <a:t>쉽게 </a:t>
                      </a:r>
                      <a:pPr indent="0" marL="0">
                        <a:buNone/>
                      </a:pPr>
                      <a:r>
                        <a:rPr lang="en-US" sz="1100" dirty="0">
                          <a:solidFill>
                            <a:srgbClr val="1F2937"/>
                          </a:solidFill>
                        </a:rPr>
                        <a:t>기록하고, </a:t>
                      </a:r>
                      <a:pPr indent="0" marL="0">
                        <a:buNone/>
                      </a:pPr>
                      <a:r>
                        <a:rPr lang="en-US" sz="1100" dirty="0">
                          <a:solidFill>
                            <a:srgbClr val="1F2937"/>
                          </a:solidFill>
                        </a:rPr>
                        <a:t>기록된 </a:t>
                      </a:r>
                      <a:pPr indent="0" marL="0">
                        <a:buNone/>
                      </a:pPr>
                      <a:r>
                        <a:rPr lang="en-US" sz="1100" dirty="0">
                          <a:solidFill>
                            <a:srgbClr val="1F2937"/>
                          </a:solidFill>
                        </a:rPr>
                        <a:t>내용과 </a:t>
                      </a:r>
                      <a:pPr indent="0" marL="0">
                        <a:buNone/>
                      </a:pPr>
                      <a:r>
                        <a:rPr lang="en-US" sz="1100" dirty="0">
                          <a:solidFill>
                            <a:srgbClr val="1F2937"/>
                          </a:solidFill>
                        </a:rPr>
                        <a:t>주간 </a:t>
                      </a:r>
                      <a:pPr indent="0" marL="0">
                        <a:buNone/>
                      </a:pPr>
                      <a:r>
                        <a:rPr lang="en-US" sz="1100" dirty="0">
                          <a:solidFill>
                            <a:srgbClr val="1F2937"/>
                          </a:solidFill>
                        </a:rPr>
                        <a:t>패턴을 </a:t>
                      </a:r>
                      <a:pPr indent="0" marL="0">
                        <a:buNone/>
                      </a:pPr>
                      <a:r>
                        <a:rPr lang="en-US" sz="1100" dirty="0">
                          <a:solidFill>
                            <a:srgbClr val="1F2937"/>
                          </a:solidFill>
                        </a:rPr>
                        <a:t>다시 </a:t>
                      </a:r>
                      <a:pPr indent="0" marL="0">
                        <a:buNone/>
                      </a:pPr>
                      <a:r>
                        <a:rPr lang="en-US" sz="1100" dirty="0">
                          <a:solidFill>
                            <a:srgbClr val="1F2937"/>
                          </a:solidFill>
                        </a:rPr>
                        <a:t>확인할 </a:t>
                      </a:r>
                      <a:pPr indent="0" marL="0">
                        <a:buNone/>
                      </a:pPr>
                      <a:r>
                        <a:rPr lang="en-US" sz="1100" dirty="0">
                          <a:solidFill>
                            <a:srgbClr val="1F2937"/>
                          </a:solidFill>
                        </a:rPr>
                        <a:t>수 </a:t>
                      </a:r>
                      <a:pPr indent="0" marL="0">
                        <a:buNone/>
                      </a:pPr>
                      <a:r>
                        <a:rPr lang="en-US" sz="1100" dirty="0">
                          <a:solidFill>
                            <a:srgbClr val="1F2937"/>
                          </a:solidFill>
                        </a:rPr>
                        <a:t>있도록 </a:t>
                      </a:r>
                      <a:pPr indent="0" marL="0">
                        <a:buNone/>
                      </a:pPr>
                      <a:r>
                        <a:rPr lang="en-US" sz="1100" dirty="0">
                          <a:solidFill>
                            <a:srgbClr val="1F2937"/>
                          </a:solidFill>
                        </a:rPr>
                        <a:t>지원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소유자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PM </a:t>
                      </a:r>
                      <a:pPr indent="0" marL="0">
                        <a:buNone/>
                      </a:pPr>
                      <a:r>
                        <a:rPr lang="en-US" sz="1100" dirty="0">
                          <a:solidFill>
                            <a:srgbClr val="1F2937"/>
                          </a:solidFill>
                        </a:rPr>
                        <a:t>— </a:t>
                      </a:r>
                      <a:pPr indent="0" marL="0">
                        <a:buNone/>
                      </a:pPr>
                      <a:r>
                        <a:rPr lang="en-US" sz="1100" dirty="0">
                          <a:solidFill>
                            <a:srgbClr val="1F2937"/>
                          </a:solidFill>
                        </a:rPr>
                        <a:t>프로세스 </a:t>
                      </a:r>
                      <a:pPr indent="0" marL="0">
                        <a:buNone/>
                      </a:pPr>
                      <a:r>
                        <a:rPr lang="en-US" sz="1100" dirty="0">
                          <a:solidFill>
                            <a:srgbClr val="1F2937"/>
                          </a:solidFill>
                        </a:rPr>
                        <a:t>전반과 </a:t>
                      </a:r>
                      <a:pPr indent="0" marL="0">
                        <a:buNone/>
                      </a:pPr>
                      <a:r>
                        <a:rPr lang="en-US" sz="1100" dirty="0">
                          <a:solidFill>
                            <a:srgbClr val="1F2937"/>
                          </a:solidFill>
                        </a:rPr>
                        <a:t>요구사항 </a:t>
                      </a:r>
                      <a:pPr indent="0" marL="0">
                        <a:buNone/>
                      </a:pPr>
                      <a:r>
                        <a:rPr lang="en-US" sz="1100" dirty="0">
                          <a:solidFill>
                            <a:srgbClr val="1F2937"/>
                          </a:solidFill>
                        </a:rPr>
                        <a:t>관리. </a:t>
                      </a:r>
                      <a:pPr indent="0" marL="0">
                        <a:buNone/>
                      </a:pPr>
                      <a:r>
                        <a:rPr lang="en-US" sz="1100" dirty="0">
                          <a:solidFill>
                            <a:srgbClr val="1F2937"/>
                          </a:solidFill>
                        </a:rPr>
                        <a:t>상세 </a:t>
                      </a:r>
                      <a:pPr indent="0" marL="0">
                        <a:buNone/>
                      </a:pPr>
                      <a:r>
                        <a:rPr lang="en-US" sz="1100" dirty="0">
                          <a:solidFill>
                            <a:srgbClr val="1F2937"/>
                          </a:solidFill>
                        </a:rPr>
                        <a:t>운영 </a:t>
                      </a:r>
                      <a:pPr indent="0" marL="0">
                        <a:buNone/>
                      </a:pPr>
                      <a:r>
                        <a:rPr lang="en-US" sz="1100" dirty="0">
                          <a:solidFill>
                            <a:srgbClr val="1F2937"/>
                          </a:solidFill>
                        </a:rPr>
                        <a:t>책임자는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관련 </a:t>
                      </a:r>
                      <a:pPr indent="0" marL="0">
                        <a:buNone/>
                      </a:pPr>
                      <a:r>
                        <a:rPr lang="en-US" sz="1100" b="1" dirty="0">
                          <a:solidFill>
                            <a:srgbClr val="1F2937"/>
                          </a:solidFill>
                        </a:rPr>
                        <a:t>시스템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iOS·안드로이드 </a:t>
                      </a:r>
                      <a:pPr indent="0" marL="0">
                        <a:buNone/>
                      </a:pPr>
                      <a:r>
                        <a:rPr lang="en-US" sz="1100" dirty="0">
                          <a:solidFill>
                            <a:srgbClr val="1F2937"/>
                          </a:solidFill>
                        </a:rPr>
                        <a:t>공통 </a:t>
                      </a:r>
                      <a:pPr indent="0" marL="0">
                        <a:buNone/>
                      </a:pPr>
                      <a:r>
                        <a:rPr lang="en-US" sz="1100" dirty="0">
                          <a:solidFill>
                            <a:srgbClr val="1F2937"/>
                          </a:solidFill>
                        </a:rPr>
                        <a:t>앱, </a:t>
                      </a:r>
                      <a:pPr indent="0" marL="0">
                        <a:buNone/>
                      </a:pPr>
                      <a:r>
                        <a:rPr lang="en-US" sz="1100" dirty="0">
                          <a:solidFill>
                            <a:srgbClr val="1F2937"/>
                          </a:solidFill>
                        </a:rPr>
                        <a:t>앱 </a:t>
                      </a:r>
                      <a:pPr indent="0" marL="0">
                        <a:buNone/>
                      </a:pPr>
                      <a:r>
                        <a:rPr lang="en-US" sz="1100" dirty="0">
                          <a:solidFill>
                            <a:srgbClr val="1F2937"/>
                          </a:solidFill>
                        </a:rPr>
                        <a:t>서버, </a:t>
                      </a:r>
                      <a:pPr indent="0" marL="0">
                        <a:buNone/>
                      </a:pPr>
                      <a:r>
                        <a:rPr lang="en-US" sz="1100" dirty="0">
                          <a:solidFill>
                            <a:srgbClr val="1F2937"/>
                          </a:solidFill>
                        </a:rPr>
                        <a:t>데이터베이스, </a:t>
                      </a:r>
                      <a:pPr indent="0" marL="0">
                        <a:buNone/>
                      </a:pPr>
                      <a:r>
                        <a:rPr lang="en-US" sz="1100" dirty="0">
                          <a:solidFill>
                            <a:srgbClr val="1F2937"/>
                          </a:solidFill>
                        </a:rPr>
                        <a:t>외부 </a:t>
                      </a:r>
                      <a:pPr indent="0" marL="0">
                        <a:buNone/>
                      </a:pPr>
                      <a:r>
                        <a:rPr lang="en-US" sz="1100" dirty="0">
                          <a:solidFill>
                            <a:srgbClr val="1F2937"/>
                          </a:solidFill>
                        </a:rPr>
                        <a:t>식품 </a:t>
                      </a:r>
                      <a:pPr indent="0" marL="0">
                        <a:buNone/>
                      </a:pPr>
                      <a:r>
                        <a:rPr lang="en-US" sz="1100" dirty="0">
                          <a:solidFill>
                            <a:srgbClr val="1F2937"/>
                          </a:solidFill>
                        </a:rPr>
                        <a:t>데이터 </a:t>
                      </a:r>
                      <a:pPr indent="0" marL="0">
                        <a:buNone/>
                      </a:pPr>
                      <a:r>
                        <a:rPr lang="en-US" sz="1100" dirty="0">
                          <a:solidFill>
                            <a:srgbClr val="1F2937"/>
                          </a:solidFill>
                        </a:rPr>
                        <a:t>API, </a:t>
                      </a:r>
                      <a:pPr indent="0" marL="0">
                        <a:buNone/>
                      </a:pPr>
                      <a:r>
                        <a:rPr lang="en-US" sz="1100" dirty="0">
                          <a:solidFill>
                            <a:srgbClr val="1F2937"/>
                          </a:solidFill>
                        </a:rPr>
                        <a:t>푸시 </a:t>
                      </a:r>
                      <a:pPr indent="0" marL="0">
                        <a:buNone/>
                      </a:pPr>
                      <a:r>
                        <a:rPr lang="en-US" sz="1100" dirty="0">
                          <a:solidFill>
                            <a:srgbClr val="1F2937"/>
                          </a:solidFill>
                        </a:rPr>
                        <a:t>전달 </a:t>
                      </a:r>
                      <a:pPr indent="0" marL="0">
                        <a:buNone/>
                      </a:pPr>
                      <a:r>
                        <a:rPr lang="en-US" sz="1100" dirty="0">
                          <a:solidFill>
                            <a:srgbClr val="1F2937"/>
                          </a:solidFill>
                        </a:rPr>
                        <a:t>체계, </a:t>
                      </a:r>
                      <a:pPr indent="0" marL="0">
                        <a:buNone/>
                      </a:pPr>
                      <a:r>
                        <a:rPr lang="en-US" sz="1100" dirty="0">
                          <a:solidFill>
                            <a:srgbClr val="1F2937"/>
                          </a:solidFill>
                        </a:rPr>
                        <a:t>선택적 </a:t>
                      </a:r>
                      <a:pPr indent="0" marL="0">
                        <a:buNone/>
                      </a:pPr>
                      <a:r>
                        <a:rPr lang="en-US" sz="1100" dirty="0">
                          <a:solidFill>
                            <a:srgbClr val="1F2937"/>
                          </a:solidFill>
                        </a:rPr>
                        <a:t>제품 </a:t>
                      </a:r>
                      <a:pPr indent="0" marL="0">
                        <a:buNone/>
                      </a:pPr>
                      <a:r>
                        <a:rPr lang="en-US" sz="1100" dirty="0">
                          <a:solidFill>
                            <a:srgbClr val="1F2937"/>
                          </a:solidFill>
                        </a:rPr>
                        <a:t>분석 </a:t>
                      </a:r>
                      <a:pPr indent="0" marL="0">
                        <a:buNone/>
                      </a:pPr>
                      <a:r>
                        <a:rPr lang="en-US" sz="1100" dirty="0">
                          <a:solidFill>
                            <a:srgbClr val="1F2937"/>
                          </a:solidFill>
                        </a:rPr>
                        <a:t>도구, </a:t>
                      </a:r>
                      <a:pPr indent="0" marL="0">
                        <a:buNone/>
                      </a:pPr>
                      <a:r>
                        <a:rPr lang="en-US" sz="1100" dirty="0">
                          <a:solidFill>
                            <a:srgbClr val="1F2937"/>
                          </a:solidFill>
                        </a:rPr>
                        <a:t>앱 </a:t>
                      </a:r>
                      <a:pPr indent="0" marL="0">
                        <a:buNone/>
                      </a:pPr>
                      <a:r>
                        <a:rPr lang="en-US" sz="1100" dirty="0">
                          <a:solidFill>
                            <a:srgbClr val="1F2937"/>
                          </a:solidFill>
                        </a:rPr>
                        <a:t>스토어·플레이 </a:t>
                      </a:r>
                      <a:pPr indent="0" marL="0">
                        <a:buNone/>
                      </a:pPr>
                      <a:r>
                        <a:rPr lang="en-US" sz="1100" dirty="0">
                          <a:solidFill>
                            <a:srgbClr val="1F2937"/>
                          </a:solidFill>
                        </a:rPr>
                        <a:t>스토어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F2937"/>
                          </a:solidFill>
                        </a:rPr>
                        <a:t>선행 </a:t>
                      </a:r>
                      <a:pPr indent="0" marL="0">
                        <a:buNone/>
                      </a:pPr>
                      <a:r>
                        <a:rPr lang="en-US" sz="1100" b="1" dirty="0">
                          <a:solidFill>
                            <a:srgbClr val="1F2937"/>
                          </a:solidFill>
                        </a:rPr>
                        <a:t>프로세스</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MVP </a:t>
                      </a:r>
                      <a:pPr indent="0" marL="0">
                        <a:buNone/>
                      </a:pPr>
                      <a:r>
                        <a:rPr lang="en-US" sz="1100" dirty="0">
                          <a:solidFill>
                            <a:srgbClr val="1F2937"/>
                          </a:solidFill>
                        </a:rPr>
                        <a:t>범위·화면·데이터 </a:t>
                      </a:r>
                      <a:pPr indent="0" marL="0">
                        <a:buNone/>
                      </a:pPr>
                      <a:r>
                        <a:rPr lang="en-US" sz="1100" dirty="0">
                          <a:solidFill>
                            <a:srgbClr val="1F2937"/>
                          </a:solidFill>
                        </a:rPr>
                        <a:t>구조 </a:t>
                      </a:r>
                      <a:pPr indent="0" marL="0">
                        <a:buNone/>
                      </a:pPr>
                      <a:r>
                        <a:rPr lang="en-US" sz="1100" dirty="0">
                          <a:solidFill>
                            <a:srgbClr val="1F2937"/>
                          </a:solidFill>
                        </a:rPr>
                        <a:t>확정, </a:t>
                      </a:r>
                      <a:pPr indent="0" marL="0">
                        <a:buNone/>
                      </a:pPr>
                      <a:r>
                        <a:rPr lang="en-US" sz="1100" dirty="0">
                          <a:solidFill>
                            <a:srgbClr val="1F2937"/>
                          </a:solidFill>
                        </a:rPr>
                        <a:t>외부 </a:t>
                      </a:r>
                      <a:pPr indent="0" marL="0">
                        <a:buNone/>
                      </a:pPr>
                      <a:r>
                        <a:rPr lang="en-US" sz="1100" dirty="0">
                          <a:solidFill>
                            <a:srgbClr val="1F2937"/>
                          </a:solidFill>
                        </a:rPr>
                        <a:t>식품 </a:t>
                      </a:r>
                      <a:pPr indent="0" marL="0">
                        <a:buNone/>
                      </a:pPr>
                      <a:r>
                        <a:rPr lang="en-US" sz="1100" dirty="0">
                          <a:solidFill>
                            <a:srgbClr val="1F2937"/>
                          </a:solidFill>
                        </a:rPr>
                        <a:t>API </a:t>
                      </a:r>
                      <a:pPr indent="0" marL="0">
                        <a:buNone/>
                      </a:pPr>
                      <a:r>
                        <a:rPr lang="en-US" sz="1100" dirty="0">
                          <a:solidFill>
                            <a:srgbClr val="1F2937"/>
                          </a:solidFill>
                        </a:rPr>
                        <a:t>및 </a:t>
                      </a:r>
                      <a:pPr indent="0" marL="0">
                        <a:buNone/>
                      </a:pPr>
                      <a:r>
                        <a:rPr lang="en-US" sz="1100" dirty="0">
                          <a:solidFill>
                            <a:srgbClr val="1F2937"/>
                          </a:solidFill>
                        </a:rPr>
                        <a:t>인증 </a:t>
                      </a:r>
                      <a:pPr indent="0" marL="0">
                        <a:buNone/>
                      </a:pPr>
                      <a:r>
                        <a:rPr lang="en-US" sz="1100" dirty="0">
                          <a:solidFill>
                            <a:srgbClr val="1F2937"/>
                          </a:solidFill>
                        </a:rPr>
                        <a:t>방식 </a:t>
                      </a:r>
                      <a:pPr indent="0" marL="0">
                        <a:buNone/>
                      </a:pPr>
                      <a:r>
                        <a:rPr lang="en-US" sz="1100" dirty="0">
                          <a:solidFill>
                            <a:srgbClr val="1F2937"/>
                          </a:solidFill>
                        </a:rPr>
                        <a:t>검토, </a:t>
                      </a:r>
                      <a:pPr indent="0" marL="0">
                        <a:buNone/>
                      </a:pPr>
                      <a:r>
                        <a:rPr lang="en-US" sz="1100" dirty="0">
                          <a:solidFill>
                            <a:srgbClr val="1F2937"/>
                          </a:solidFill>
                        </a:rPr>
                        <a:t>개인정보·보안 </a:t>
                      </a:r>
                      <a:pPr indent="0" marL="0">
                        <a:buNone/>
                      </a:pPr>
                      <a:r>
                        <a:rPr lang="en-US" sz="1100" dirty="0">
                          <a:solidFill>
                            <a:srgbClr val="1F2937"/>
                          </a:solidFill>
                        </a:rPr>
                        <a:t>검토</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후행 </a:t>
                      </a:r>
                      <a:pPr indent="0" marL="0">
                        <a:buNone/>
                      </a:pPr>
                      <a:r>
                        <a:rPr lang="en-US" sz="1100" b="1" dirty="0">
                          <a:solidFill>
                            <a:srgbClr val="1F2937"/>
                          </a:solidFill>
                        </a:rPr>
                        <a:t>프로세스</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베타 </a:t>
                      </a:r>
                      <a:pPr indent="0" marL="0">
                        <a:buNone/>
                      </a:pPr>
                      <a:r>
                        <a:rPr lang="en-US" sz="1100" dirty="0">
                          <a:solidFill>
                            <a:srgbClr val="1F2937"/>
                          </a:solidFill>
                        </a:rPr>
                        <a:t>검증, </a:t>
                      </a:r>
                      <a:pPr indent="0" marL="0">
                        <a:buNone/>
                      </a:pPr>
                      <a:r>
                        <a:rPr lang="en-US" sz="1100" dirty="0">
                          <a:solidFill>
                            <a:srgbClr val="1F2937"/>
                          </a:solidFill>
                        </a:rPr>
                        <a:t>오류·데이터 </a:t>
                      </a:r>
                      <a:pPr indent="0" marL="0">
                        <a:buNone/>
                      </a:pPr>
                      <a:r>
                        <a:rPr lang="en-US" sz="1100" dirty="0">
                          <a:solidFill>
                            <a:srgbClr val="1F2937"/>
                          </a:solidFill>
                        </a:rPr>
                        <a:t>품질 </a:t>
                      </a:r>
                      <a:pPr indent="0" marL="0">
                        <a:buNone/>
                      </a:pPr>
                      <a:r>
                        <a:rPr lang="en-US" sz="1100" dirty="0">
                          <a:solidFill>
                            <a:srgbClr val="1F2937"/>
                          </a:solidFill>
                        </a:rPr>
                        <a:t>개선, </a:t>
                      </a:r>
                      <a:pPr indent="0" marL="0">
                        <a:buNone/>
                      </a:pPr>
                      <a:r>
                        <a:rPr lang="en-US" sz="1100" dirty="0">
                          <a:solidFill>
                            <a:srgbClr val="1F2937"/>
                          </a:solidFill>
                        </a:rPr>
                        <a:t>공개 </a:t>
                      </a:r>
                      <a:pPr indent="0" marL="0">
                        <a:buNone/>
                      </a:pPr>
                      <a:r>
                        <a:rPr lang="en-US" sz="1100" dirty="0">
                          <a:solidFill>
                            <a:srgbClr val="1F2937"/>
                          </a:solidFill>
                        </a:rPr>
                        <a:t>출시 </a:t>
                      </a:r>
                      <a:pPr indent="0" marL="0">
                        <a:buNone/>
                      </a:pPr>
                      <a:r>
                        <a:rPr lang="en-US" sz="1100" dirty="0">
                          <a:solidFill>
                            <a:srgbClr val="1F2937"/>
                          </a:solidFill>
                        </a:rPr>
                        <a:t>및 </a:t>
                      </a:r>
                      <a:pPr indent="0" marL="0">
                        <a:buNone/>
                      </a:pPr>
                      <a:r>
                        <a:rPr lang="en-US" sz="1100" dirty="0">
                          <a:solidFill>
                            <a:srgbClr val="1F2937"/>
                          </a:solidFill>
                        </a:rPr>
                        <a:t>출시 </a:t>
                      </a:r>
                      <a:pPr indent="0" marL="0">
                        <a:buNone/>
                      </a:pPr>
                      <a:r>
                        <a:rPr lang="en-US" sz="1100" dirty="0">
                          <a:solidFill>
                            <a:srgbClr val="1F2937"/>
                          </a:solidFill>
                        </a:rPr>
                        <a:t>후 </a:t>
                      </a:r>
                      <a:pPr indent="0" marL="0">
                        <a:buNone/>
                      </a:pPr>
                      <a:r>
                        <a:rPr lang="en-US" sz="1100" dirty="0">
                          <a:solidFill>
                            <a:srgbClr val="1F2937"/>
                          </a:solidFill>
                        </a:rPr>
                        <a:t>지표·과금 </a:t>
                      </a:r>
                      <a:pPr indent="0" marL="0">
                        <a:buNone/>
                      </a:pPr>
                      <a:r>
                        <a:rPr lang="en-US" sz="1100" dirty="0">
                          <a:solidFill>
                            <a:srgbClr val="1F2937"/>
                          </a:solidFill>
                        </a:rPr>
                        <a:t>방향 </a:t>
                      </a:r>
                      <a:pPr indent="0" marL="0">
                        <a:buNone/>
                      </a:pPr>
                      <a:r>
                        <a:rPr lang="en-US" sz="1100" dirty="0">
                          <a:solidFill>
                            <a:srgbClr val="1F2937"/>
                          </a:solidFill>
                        </a:rPr>
                        <a:t>검토</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2.2 프로세스 목표</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사용자가 목표 설정을 강요받지 않고 앱을 시작할 수 있게 한다.</a:t>
            </a:r>
            <a:endParaRPr lang="en-US" sz="1600" dirty="0"/>
          </a:p>
          <a:p>
            <a:pPr indent="0" marL="0">
              <a:spcAft>
                <a:spcPts val="800"/>
              </a:spcAft>
              <a:buNone/>
            </a:pPr>
            <a:r>
              <a:rPr lang="en-US" sz="1600" dirty="0">
                <a:solidFill>
                  <a:srgbClr val="4B5563"/>
                </a:solidFill>
              </a:rPr>
              <a:t>☐ 검색 결과가 없거나 외부 API가 실패해도 직접 입력이나 최근 기록으로 기록을 이어갈 수 있게 한다.</a:t>
            </a:r>
            <a:endParaRPr lang="en-US" sz="1600" dirty="0"/>
          </a:p>
          <a:p>
            <a:pPr indent="0" marL="0">
              <a:spcAft>
                <a:spcPts val="800"/>
              </a:spcAft>
              <a:buNone/>
            </a:pPr>
            <a:r>
              <a:rPr lang="en-US" sz="1600" dirty="0">
                <a:solidFill>
                  <a:srgbClr val="4B5563"/>
                </a:solidFill>
              </a:rPr>
              <a:t>☐ 영양 정보의 미입력과 실제 값 0을 구분하고, 기록 자체는 영양 정보 없이도 저장할 수 있게 한다.</a:t>
            </a:r>
            <a:endParaRPr lang="en-US" sz="1600" dirty="0"/>
          </a:p>
          <a:p>
            <a:pPr indent="0" marL="0">
              <a:spcAft>
                <a:spcPts val="800"/>
              </a:spcAft>
              <a:buNone/>
            </a:pPr>
            <a:r>
              <a:rPr lang="en-US" sz="1600" dirty="0">
                <a:solidFill>
                  <a:srgbClr val="4B5563"/>
                </a:solidFill>
              </a:rPr>
              <a:t>☐ 기록 당시 음식명과 영양값을 보존해 과거 기록과 리포트의 일관성을 유지한다.</a:t>
            </a:r>
            <a:endParaRPr lang="en-US" sz="1600" dirty="0"/>
          </a:p>
          <a:p>
            <a:pPr indent="0" marL="0">
              <a:spcAft>
                <a:spcPts val="800"/>
              </a:spcAft>
              <a:buNone/>
            </a:pPr>
            <a:r>
              <a:rPr lang="en-US" sz="1600" dirty="0">
                <a:solidFill>
                  <a:srgbClr val="4B5563"/>
                </a:solidFill>
              </a:rPr>
              <a:t>☐ 기록 일수, 기록한 날 기준 평균 영양값, 끼니별 기록 패턴을 중립적인 표현으로 제공한다.</a:t>
            </a:r>
            <a:endParaRPr lang="en-US" sz="1600" dirty="0"/>
          </a:p>
          <a:p>
            <a:pPr indent="0" marL="0">
              <a:spcAft>
                <a:spcPts val="800"/>
              </a:spcAft>
              <a:buNone/>
            </a:pPr>
            <a:r>
              <a:rPr lang="en-US" sz="1600" dirty="0">
                <a:solidFill>
                  <a:srgbClr val="4B5563"/>
                </a:solidFill>
              </a:rPr>
              <a:t>☐ 계정·기록·검색어·분석 정보의 처리 범위를 구분하고 개인정보 노출을 최소화한다.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3. 주요 시나리오 플로우</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3.1 앱 시작·가입·온보딩·로그인 플로우</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프로세스 설명 (1/4)</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프로세스는 사용자가 앱을 처음 실행하거나 기존 계정으로 앱에 진입할 때 시작합니다. 종료 조건은 홈 화면 진입입니다. 홈 진입 후에는 목표가 설정되지 않은 상태에서도 식사 기록을 이용할 수 있어야 합니다. 앱은 iOS와 안드로이드에서 제공하며, 리액트 네이티브 기반의 공통 앱으로 개발하는 방향이 정리됐습니다.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프로세스 설명 (2/4)</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사용자와 앱이 직접 수행하는 단계는 화면 안내, 동의 선택, 인증 방식 선택, 목표 설정 선택입니다. 로그인 방식은 회의에서 게스트 모드와 이메일·애플·구글 로그인이 논의됐으나 확정되지 않았습니다. 후반부에는 이메일·애플·구글 인증을 우선 검토하고 카카오는 2차로 두는 안이 정리됐지만, 최종 제공자 범위는 다음 주 화요일까지 동결하기로 했습니다.</a:t>
            </a:r>
            <a:endParaRPr lang="en-US" sz="1600" dirty="0"/>
          </a:p>
          <a:p>
            <a:pPr indent="0" marL="0">
              <a:spcAft>
                <a:spcPts val="800"/>
              </a:spcAft>
              <a:buNone/>
            </a:pPr>
            <a:r>
              <a:rPr lang="en-US" sz="1600" dirty="0">
                <a:solidFill>
                  <a:srgbClr val="4B5563"/>
                </a:solidFill>
              </a:rPr>
              <a:t>따라서 이 문서에서는 가입 절차나 인증 제공자를 확정된 기능으로 단정하지 않습니다.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프로세스 설명 (3/4)</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서비스 이용약관, 개인정보 처리 동의, 푸시 알림 수신 동의는 서로 구분하고, 선택 동의를 미리 선택하지 않는 방향입니다. 알림 동의는 가입이나 기본 이용의 전제 조건이 아니며, 알림을 원하지 않는 사용자도 앱을 계속 사용할 수 있어야 합니다. 게스트 계정의 저장 위치, 앱 삭제 시 데이터 처리, 게스트 기록과 인증 계정의 병합 방식은 미정입니다.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프로세스 설명 (4/4)</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완료 기준은 사용자에게 필요한 약관·개인정보 안내를 제공하고, 회의에서 확정될 계정 정책에 따른 시작 절차를 거쳐 홈에 도달하는 것입니다. 회원 생성 방식, 인증 실패 시 복구 방법, 세션 유지 기준은 구현·정책 확정이 필요합니다. 가입 완료까지의 처리 시간과 온보딩 소요 시간은 </a:t>
            </a:r>
            <a:pPr indent="0" marL="0">
              <a:spcAft>
                <a:spcPts val="800"/>
              </a:spcAft>
              <a:buNone/>
            </a:pPr>
            <a:r>
              <a:rPr lang="en-US" sz="1600" b="1" dirty="0">
                <a:solidFill>
                  <a:srgbClr val="4B5563"/>
                </a:solidFill>
              </a:rPr>
              <a:t>추정 필요</a:t>
            </a:r>
            <a:pPr indent="0" marL="0">
              <a:spcAft>
                <a:spcPts val="800"/>
              </a:spcAft>
              <a:buNone/>
            </a:pPr>
            <a:r>
              <a:rPr lang="en-US" sz="1600" dirty="0">
                <a:solidFill>
                  <a:srgbClr val="4B5563"/>
                </a:solidFill>
              </a:rPr>
              <a:t>입니다.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단계별 상세</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379828"/>
                <a:gridCol w="1392702"/>
                <a:gridCol w="822960"/>
                <a:gridCol w="2025748"/>
                <a:gridCol w="949569"/>
                <a:gridCol w="2278966"/>
                <a:gridCol w="379828"/>
              </a:tblGrid>
              <a:tr h="0">
                <a:tc>
                  <a:txBody>
                    <a:bodyPr/>
                    <a:lstStyle/>
                    <a:p>
                      <a:pPr indent="0" marL="0">
                        <a:buNone/>
                      </a:pPr>
                      <a:r>
                        <a:rPr lang="en-US" sz="1200" b="1" dirty="0">
                          <a:solidFill>
                            <a:srgbClr val="FFFFFF"/>
                          </a:solidFill>
                        </a:rPr>
                        <a:t>단계</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활동</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담당</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입력</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출력</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완료 </a:t>
                      </a:r>
                      <a:pPr indent="0" marL="0">
                        <a:buNone/>
                      </a:pPr>
                      <a:r>
                        <a:rPr lang="en-US" sz="1200" b="1" dirty="0">
                          <a:solidFill>
                            <a:srgbClr val="FFFFFF"/>
                          </a:solidFill>
                        </a:rPr>
                        <a:t>기준</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소요 </a:t>
                      </a:r>
                      <a:pPr indent="0" marL="0">
                        <a:buNone/>
                      </a:pPr>
                      <a:r>
                        <a:rPr lang="en-US" sz="1200" b="1" dirty="0">
                          <a:solidFill>
                            <a:srgbClr val="FFFFFF"/>
                          </a:solidFill>
                        </a:rPr>
                        <a:t>시간</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1</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앱 </a:t>
                      </a:r>
                      <a:pPr indent="0" marL="0">
                        <a:buNone/>
                      </a:pPr>
                      <a:r>
                        <a:rPr lang="en-US" sz="1100" dirty="0">
                          <a:solidFill>
                            <a:srgbClr val="1F2937"/>
                          </a:solidFill>
                        </a:rPr>
                        <a:t>실행 </a:t>
                      </a:r>
                      <a:pPr indent="0" marL="0">
                        <a:buNone/>
                      </a:pPr>
                      <a:r>
                        <a:rPr lang="en-US" sz="1100" dirty="0">
                          <a:solidFill>
                            <a:srgbClr val="1F2937"/>
                          </a:solidFill>
                        </a:rPr>
                        <a:t>및 </a:t>
                      </a:r>
                      <a:pPr indent="0" marL="0">
                        <a:buNone/>
                      </a:pPr>
                      <a:r>
                        <a:rPr lang="en-US" sz="1100" dirty="0">
                          <a:solidFill>
                            <a:srgbClr val="1F2937"/>
                          </a:solidFill>
                        </a:rPr>
                        <a:t>시작 </a:t>
                      </a:r>
                      <a:pPr indent="0" marL="0">
                        <a:buNone/>
                      </a:pPr>
                      <a:r>
                        <a:rPr lang="en-US" sz="1100" dirty="0">
                          <a:solidFill>
                            <a:srgbClr val="1F2937"/>
                          </a:solidFill>
                        </a:rPr>
                        <a:t>화면 </a:t>
                      </a:r>
                      <a:pPr indent="0" marL="0">
                        <a:buNone/>
                      </a:pPr>
                      <a:r>
                        <a:rPr lang="en-US" sz="1100" dirty="0">
                          <a:solidFill>
                            <a:srgbClr val="1F2937"/>
                          </a:solidFill>
                        </a:rPr>
                        <a:t>표시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사용자·앱</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앱 </a:t>
                      </a:r>
                      <a:pPr indent="0" marL="0">
                        <a:buNone/>
                      </a:pPr>
                      <a:r>
                        <a:rPr lang="en-US" sz="1100" dirty="0">
                          <a:solidFill>
                            <a:srgbClr val="1F2937"/>
                          </a:solidFill>
                        </a:rPr>
                        <a:t>실행, </a:t>
                      </a:r>
                      <a:pPr indent="0" marL="0">
                        <a:buNone/>
                      </a:pPr>
                      <a:r>
                        <a:rPr lang="en-US" sz="1100" dirty="0">
                          <a:solidFill>
                            <a:srgbClr val="1F2937"/>
                          </a:solidFill>
                        </a:rPr>
                        <a:t>기기·앱 </a:t>
                      </a:r>
                      <a:pPr indent="0" marL="0">
                        <a:buNone/>
                      </a:pPr>
                      <a:r>
                        <a:rPr lang="en-US" sz="1100" dirty="0">
                          <a:solidFill>
                            <a:srgbClr val="1F2937"/>
                          </a:solidFill>
                        </a:rPr>
                        <a:t>상태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시작 </a:t>
                      </a:r>
                      <a:pPr indent="0" marL="0">
                        <a:buNone/>
                      </a:pPr>
                      <a:r>
                        <a:rPr lang="en-US" sz="1100" dirty="0">
                          <a:solidFill>
                            <a:srgbClr val="1F2937"/>
                          </a:solidFill>
                        </a:rPr>
                        <a:t>화면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시작 </a:t>
                      </a:r>
                      <a:pPr indent="0" marL="0">
                        <a:buNone/>
                      </a:pPr>
                      <a:r>
                        <a:rPr lang="en-US" sz="1100" dirty="0">
                          <a:solidFill>
                            <a:srgbClr val="1F2937"/>
                          </a:solidFill>
                        </a:rPr>
                        <a:t>화면 </a:t>
                      </a:r>
                      <a:pPr indent="0" marL="0">
                        <a:buNone/>
                      </a:pPr>
                      <a:r>
                        <a:rPr lang="en-US" sz="1100" dirty="0">
                          <a:solidFill>
                            <a:srgbClr val="1F2937"/>
                          </a:solidFill>
                        </a:rPr>
                        <a:t>표시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2</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이용 </a:t>
                      </a:r>
                      <a:pPr indent="0" marL="0">
                        <a:buNone/>
                      </a:pPr>
                      <a:r>
                        <a:rPr lang="en-US" sz="1100" dirty="0">
                          <a:solidFill>
                            <a:srgbClr val="1F2937"/>
                          </a:solidFill>
                        </a:rPr>
                        <a:t>안내 </a:t>
                      </a:r>
                      <a:pPr indent="0" marL="0">
                        <a:buNone/>
                      </a:pPr>
                      <a:r>
                        <a:rPr lang="en-US" sz="1100" dirty="0">
                          <a:solidFill>
                            <a:srgbClr val="1F2937"/>
                          </a:solidFill>
                        </a:rPr>
                        <a:t>및 </a:t>
                      </a:r>
                      <a:pPr indent="0" marL="0">
                        <a:buNone/>
                      </a:pPr>
                      <a:r>
                        <a:rPr lang="en-US" sz="1100" dirty="0">
                          <a:solidFill>
                            <a:srgbClr val="1F2937"/>
                          </a:solidFill>
                        </a:rPr>
                        <a:t>필수·선택 </a:t>
                      </a:r>
                      <a:pPr indent="0" marL="0">
                        <a:buNone/>
                      </a:pPr>
                      <a:r>
                        <a:rPr lang="en-US" sz="1100" dirty="0">
                          <a:solidFill>
                            <a:srgbClr val="1F2937"/>
                          </a:solidFill>
                        </a:rPr>
                        <a:t>동의 </a:t>
                      </a:r>
                      <a:pPr indent="0" marL="0">
                        <a:buNone/>
                      </a:pPr>
                      <a:r>
                        <a:rPr lang="en-US" sz="1100" dirty="0">
                          <a:solidFill>
                            <a:srgbClr val="1F2937"/>
                          </a:solidFill>
                        </a:rPr>
                        <a:t>항목 </a:t>
                      </a:r>
                      <a:pPr indent="0" marL="0">
                        <a:buNone/>
                      </a:pPr>
                      <a:r>
                        <a:rPr lang="en-US" sz="1100" dirty="0">
                          <a:solidFill>
                            <a:srgbClr val="1F2937"/>
                          </a:solidFill>
                        </a:rPr>
                        <a:t>확인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사용자·앱</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이용약관, </a:t>
                      </a:r>
                      <a:pPr indent="0" marL="0">
                        <a:buNone/>
                      </a:pPr>
                      <a:r>
                        <a:rPr lang="en-US" sz="1100" dirty="0">
                          <a:solidFill>
                            <a:srgbClr val="1F2937"/>
                          </a:solidFill>
                        </a:rPr>
                        <a:t>개인정보 </a:t>
                      </a:r>
                      <a:pPr indent="0" marL="0">
                        <a:buNone/>
                      </a:pPr>
                      <a:r>
                        <a:rPr lang="en-US" sz="1100" dirty="0">
                          <a:solidFill>
                            <a:srgbClr val="1F2937"/>
                          </a:solidFill>
                        </a:rPr>
                        <a:t>처리 </a:t>
                      </a:r>
                      <a:pPr indent="0" marL="0">
                        <a:buNone/>
                      </a:pPr>
                      <a:r>
                        <a:rPr lang="en-US" sz="1100" dirty="0">
                          <a:solidFill>
                            <a:srgbClr val="1F2937"/>
                          </a:solidFill>
                        </a:rPr>
                        <a:t>안내, </a:t>
                      </a:r>
                      <a:pPr indent="0" marL="0">
                        <a:buNone/>
                      </a:pPr>
                      <a:r>
                        <a:rPr lang="en-US" sz="1100" dirty="0">
                          <a:solidFill>
                            <a:srgbClr val="1F2937"/>
                          </a:solidFill>
                        </a:rPr>
                        <a:t>동의 </a:t>
                      </a:r>
                      <a:pPr indent="0" marL="0">
                        <a:buNone/>
                      </a:pPr>
                      <a:r>
                        <a:rPr lang="en-US" sz="1100" dirty="0">
                          <a:solidFill>
                            <a:srgbClr val="1F2937"/>
                          </a:solidFill>
                        </a:rPr>
                        <a:t>항목</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동의 </a:t>
                      </a:r>
                      <a:pPr indent="0" marL="0">
                        <a:buNone/>
                      </a:pPr>
                      <a:r>
                        <a:rPr lang="en-US" sz="1100" dirty="0">
                          <a:solidFill>
                            <a:srgbClr val="1F2937"/>
                          </a:solidFill>
                        </a:rPr>
                        <a:t>선택 </a:t>
                      </a:r>
                      <a:pPr indent="0" marL="0">
                        <a:buNone/>
                      </a:pPr>
                      <a:r>
                        <a:rPr lang="en-US" sz="1100" dirty="0">
                          <a:solidFill>
                            <a:srgbClr val="1F2937"/>
                          </a:solidFill>
                        </a:rPr>
                        <a:t>상태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필수 </a:t>
                      </a:r>
                      <a:pPr indent="0" marL="0">
                        <a:buNone/>
                      </a:pPr>
                      <a:r>
                        <a:rPr lang="en-US" sz="1100" dirty="0">
                          <a:solidFill>
                            <a:srgbClr val="1F2937"/>
                          </a:solidFill>
                        </a:rPr>
                        <a:t>동의 </a:t>
                      </a:r>
                      <a:pPr indent="0" marL="0">
                        <a:buNone/>
                      </a:pPr>
                      <a:r>
                        <a:rPr lang="en-US" sz="1100" dirty="0">
                          <a:solidFill>
                            <a:srgbClr val="1F2937"/>
                          </a:solidFill>
                        </a:rPr>
                        <a:t>항목의 </a:t>
                      </a:r>
                      <a:pPr indent="0" marL="0">
                        <a:buNone/>
                      </a:pPr>
                      <a:r>
                        <a:rPr lang="en-US" sz="1100" dirty="0">
                          <a:solidFill>
                            <a:srgbClr val="1F2937"/>
                          </a:solidFill>
                        </a:rPr>
                        <a:t>처리 </a:t>
                      </a:r>
                      <a:pPr indent="0" marL="0">
                        <a:buNone/>
                      </a:pPr>
                      <a:r>
                        <a:rPr lang="en-US" sz="1100" dirty="0">
                          <a:solidFill>
                            <a:srgbClr val="1F2937"/>
                          </a:solidFill>
                        </a:rPr>
                        <a:t>방식 </a:t>
                      </a:r>
                      <a:pPr indent="0" marL="0">
                        <a:buNone/>
                      </a:pPr>
                      <a:r>
                        <a:rPr lang="en-US" sz="1100" dirty="0">
                          <a:solidFill>
                            <a:srgbClr val="1F2937"/>
                          </a:solidFill>
                        </a:rPr>
                        <a:t>확인. </a:t>
                      </a:r>
                      <a:pPr indent="0" marL="0">
                        <a:buNone/>
                      </a:pPr>
                      <a:r>
                        <a:rPr lang="en-US" sz="1100" dirty="0">
                          <a:solidFill>
                            <a:srgbClr val="1F2937"/>
                          </a:solidFill>
                        </a:rPr>
                        <a:t>선택 </a:t>
                      </a:r>
                      <a:pPr indent="0" marL="0">
                        <a:buNone/>
                      </a:pPr>
                      <a:r>
                        <a:rPr lang="en-US" sz="1100" dirty="0">
                          <a:solidFill>
                            <a:srgbClr val="1F2937"/>
                          </a:solidFill>
                        </a:rPr>
                        <a:t>동의는 </a:t>
                      </a:r>
                      <a:pPr indent="0" marL="0">
                        <a:buNone/>
                      </a:pPr>
                      <a:r>
                        <a:rPr lang="en-US" sz="1100" dirty="0">
                          <a:solidFill>
                            <a:srgbClr val="1F2937"/>
                          </a:solidFill>
                        </a:rPr>
                        <a:t>미리 </a:t>
                      </a:r>
                      <a:pPr indent="0" marL="0">
                        <a:buNone/>
                      </a:pPr>
                      <a:r>
                        <a:rPr lang="en-US" sz="1100" dirty="0">
                          <a:solidFill>
                            <a:srgbClr val="1F2937"/>
                          </a:solidFill>
                        </a:rPr>
                        <a:t>선택하지 </a:t>
                      </a:r>
                      <a:pPr indent="0" marL="0">
                        <a:buNone/>
                      </a:pPr>
                      <a:r>
                        <a:rPr lang="en-US" sz="1100" dirty="0">
                          <a:solidFill>
                            <a:srgbClr val="1F2937"/>
                          </a:solidFill>
                        </a:rPr>
                        <a:t>않음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3</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계정 </a:t>
                      </a:r>
                      <a:pPr indent="0" marL="0">
                        <a:buNone/>
                      </a:pPr>
                      <a:r>
                        <a:rPr lang="en-US" sz="1100" dirty="0">
                          <a:solidFill>
                            <a:srgbClr val="1F2937"/>
                          </a:solidFill>
                        </a:rPr>
                        <a:t>없이 </a:t>
                      </a:r>
                      <a:pPr indent="0" marL="0">
                        <a:buNone/>
                      </a:pPr>
                      <a:r>
                        <a:rPr lang="en-US" sz="1100" dirty="0">
                          <a:solidFill>
                            <a:srgbClr val="1F2937"/>
                          </a:solidFill>
                        </a:rPr>
                        <a:t>시작 </a:t>
                      </a:r>
                      <a:pPr indent="0" marL="0">
                        <a:buNone/>
                      </a:pPr>
                      <a:r>
                        <a:rPr lang="en-US" sz="1100" dirty="0">
                          <a:solidFill>
                            <a:srgbClr val="1F2937"/>
                          </a:solidFill>
                        </a:rPr>
                        <a:t>또는 </a:t>
                      </a:r>
                      <a:pPr indent="0" marL="0">
                        <a:buNone/>
                      </a:pPr>
                      <a:r>
                        <a:rPr lang="en-US" sz="1100" dirty="0">
                          <a:solidFill>
                            <a:srgbClr val="1F2937"/>
                          </a:solidFill>
                        </a:rPr>
                        <a:t>인증 </a:t>
                      </a:r>
                      <a:pPr indent="0" marL="0">
                        <a:buNone/>
                      </a:pPr>
                      <a:r>
                        <a:rPr lang="en-US" sz="1100" dirty="0">
                          <a:solidFill>
                            <a:srgbClr val="1F2937"/>
                          </a:solidFill>
                        </a:rPr>
                        <a:t>방식 </a:t>
                      </a:r>
                      <a:pPr indent="0" marL="0">
                        <a:buNone/>
                      </a:pPr>
                      <a:r>
                        <a:rPr lang="en-US" sz="1100" dirty="0">
                          <a:solidFill>
                            <a:srgbClr val="1F2937"/>
                          </a:solidFill>
                        </a:rPr>
                        <a:t>선택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사용자·앱</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계정 </a:t>
                      </a:r>
                      <a:pPr indent="0" marL="0">
                        <a:buNone/>
                      </a:pPr>
                      <a:r>
                        <a:rPr lang="en-US" sz="1100" dirty="0">
                          <a:solidFill>
                            <a:srgbClr val="1F2937"/>
                          </a:solidFill>
                        </a:rPr>
                        <a:t>정책, </a:t>
                      </a:r>
                      <a:pPr indent="0" marL="0">
                        <a:buNone/>
                      </a:pPr>
                      <a:r>
                        <a:rPr lang="en-US" sz="1100" dirty="0">
                          <a:solidFill>
                            <a:srgbClr val="1F2937"/>
                          </a:solidFill>
                        </a:rPr>
                        <a:t>사용자의 </a:t>
                      </a:r>
                      <a:pPr indent="0" marL="0">
                        <a:buNone/>
                      </a:pPr>
                      <a:r>
                        <a:rPr lang="en-US" sz="1100" dirty="0">
                          <a:solidFill>
                            <a:srgbClr val="1F2937"/>
                          </a:solidFill>
                        </a:rPr>
                        <a:t>선택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시작 </a:t>
                      </a:r>
                      <a:pPr indent="0" marL="0">
                        <a:buNone/>
                      </a:pPr>
                      <a:r>
                        <a:rPr lang="en-US" sz="1100" dirty="0">
                          <a:solidFill>
                            <a:srgbClr val="1F2937"/>
                          </a:solidFill>
                        </a:rPr>
                        <a:t>방식 </a:t>
                      </a:r>
                      <a:pPr indent="0" marL="0">
                        <a:buNone/>
                      </a:pPr>
                      <a:r>
                        <a:rPr lang="en-US" sz="1100" dirty="0">
                          <a:solidFill>
                            <a:srgbClr val="1F2937"/>
                          </a:solidFill>
                        </a:rPr>
                        <a:t>선택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로그인·게스트 </a:t>
                      </a:r>
                      <a:pPr indent="0" marL="0">
                        <a:buNone/>
                      </a:pPr>
                      <a:r>
                        <a:rPr lang="en-US" sz="1100" dirty="0">
                          <a:solidFill>
                            <a:srgbClr val="1F2937"/>
                          </a:solidFill>
                        </a:rPr>
                        <a:t>제공 </a:t>
                      </a:r>
                      <a:pPr indent="0" marL="0">
                        <a:buNone/>
                      </a:pPr>
                      <a:r>
                        <a:rPr lang="en-US" sz="1100" dirty="0">
                          <a:solidFill>
                            <a:srgbClr val="1F2937"/>
                          </a:solidFill>
                        </a:rPr>
                        <a:t>범위가 </a:t>
                      </a:r>
                      <a:pPr indent="0" marL="0">
                        <a:buNone/>
                      </a:pPr>
                      <a:r>
                        <a:rPr lang="en-US" sz="1100" dirty="0">
                          <a:solidFill>
                            <a:srgbClr val="1F2937"/>
                          </a:solidFill>
                        </a:rPr>
                        <a:t>확정된 </a:t>
                      </a:r>
                      <a:pPr indent="0" marL="0">
                        <a:buNone/>
                      </a:pPr>
                      <a:r>
                        <a:rPr lang="en-US" sz="1100" dirty="0">
                          <a:solidFill>
                            <a:srgbClr val="1F2937"/>
                          </a:solidFill>
                        </a:rPr>
                        <a:t>뒤 </a:t>
                      </a:r>
                      <a:pPr indent="0" marL="0">
                        <a:buNone/>
                      </a:pPr>
                      <a:r>
                        <a:rPr lang="en-US" sz="1100" dirty="0">
                          <a:solidFill>
                            <a:srgbClr val="1F2937"/>
                          </a:solidFill>
                        </a:rPr>
                        <a:t>해당 </a:t>
                      </a:r>
                      <a:pPr indent="0" marL="0">
                        <a:buNone/>
                      </a:pPr>
                      <a:r>
                        <a:rPr lang="en-US" sz="1100" dirty="0">
                          <a:solidFill>
                            <a:srgbClr val="1F2937"/>
                          </a:solidFill>
                        </a:rPr>
                        <a:t>방식으로 </a:t>
                      </a:r>
                      <a:pPr indent="0" marL="0">
                        <a:buNone/>
                      </a:pPr>
                      <a:r>
                        <a:rPr lang="en-US" sz="1100" dirty="0">
                          <a:solidFill>
                            <a:srgbClr val="1F2937"/>
                          </a:solidFill>
                        </a:rPr>
                        <a:t>진행</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정책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4</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인증 </a:t>
                      </a:r>
                      <a:pPr indent="0" marL="0">
                        <a:buNone/>
                      </a:pPr>
                      <a:r>
                        <a:rPr lang="en-US" sz="1100" dirty="0">
                          <a:solidFill>
                            <a:srgbClr val="1F2937"/>
                          </a:solidFill>
                        </a:rPr>
                        <a:t>제공자 </a:t>
                      </a:r>
                      <a:pPr indent="0" marL="0">
                        <a:buNone/>
                      </a:pPr>
                      <a:r>
                        <a:rPr lang="en-US" sz="1100" dirty="0">
                          <a:solidFill>
                            <a:srgbClr val="1F2937"/>
                          </a:solidFill>
                        </a:rPr>
                        <a:t>인증 </a:t>
                      </a:r>
                      <a:pPr indent="0" marL="0">
                        <a:buNone/>
                      </a:pPr>
                      <a:r>
                        <a:rPr lang="en-US" sz="1100" dirty="0">
                          <a:solidFill>
                            <a:srgbClr val="1F2937"/>
                          </a:solidFill>
                        </a:rPr>
                        <a:t>또는 </a:t>
                      </a:r>
                      <a:pPr indent="0" marL="0">
                        <a:buNone/>
                      </a:pPr>
                      <a:r>
                        <a:rPr lang="en-US" sz="1100" dirty="0">
                          <a:solidFill>
                            <a:srgbClr val="1F2937"/>
                          </a:solidFill>
                        </a:rPr>
                        <a:t>게스트 </a:t>
                      </a:r>
                      <a:pPr indent="0" marL="0">
                        <a:buNone/>
                      </a:pPr>
                      <a:r>
                        <a:rPr lang="en-US" sz="1100" dirty="0">
                          <a:solidFill>
                            <a:srgbClr val="1F2937"/>
                          </a:solidFill>
                        </a:rPr>
                        <a:t>초기화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앱·인증 </a:t>
                      </a:r>
                      <a:pPr indent="0" marL="0">
                        <a:buNone/>
                      </a:pPr>
                      <a:r>
                        <a:rPr lang="en-US" sz="1100" dirty="0">
                          <a:solidFill>
                            <a:srgbClr val="1F2937"/>
                          </a:solidFill>
                        </a:rPr>
                        <a:t>제공자·앱 </a:t>
                      </a:r>
                      <a:pPr indent="0" marL="0">
                        <a:buNone/>
                      </a:pPr>
                      <a:r>
                        <a:rPr lang="en-US" sz="1100" dirty="0">
                          <a:solidFill>
                            <a:srgbClr val="1F2937"/>
                          </a:solidFill>
                        </a:rPr>
                        <a:t>서버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인증 </a:t>
                      </a:r>
                      <a:pPr indent="0" marL="0">
                        <a:buNone/>
                      </a:pPr>
                      <a:r>
                        <a:rPr lang="en-US" sz="1100" dirty="0">
                          <a:solidFill>
                            <a:srgbClr val="1F2937"/>
                          </a:solidFill>
                        </a:rPr>
                        <a:t>정보 </a:t>
                      </a:r>
                      <a:pPr indent="0" marL="0">
                        <a:buNone/>
                      </a:pPr>
                      <a:r>
                        <a:rPr lang="en-US" sz="1100" dirty="0">
                          <a:solidFill>
                            <a:srgbClr val="1F2937"/>
                          </a:solidFill>
                        </a:rPr>
                        <a:t>또는 </a:t>
                      </a:r>
                      <a:pPr indent="0" marL="0">
                        <a:buNone/>
                      </a:pPr>
                      <a:r>
                        <a:rPr lang="en-US" sz="1100" dirty="0">
                          <a:solidFill>
                            <a:srgbClr val="1F2937"/>
                          </a:solidFill>
                        </a:rPr>
                        <a:t>게스트 </a:t>
                      </a:r>
                      <a:pPr indent="0" marL="0">
                        <a:buNone/>
                      </a:pPr>
                      <a:r>
                        <a:rPr lang="en-US" sz="1100" dirty="0">
                          <a:solidFill>
                            <a:srgbClr val="1F2937"/>
                          </a:solidFill>
                        </a:rPr>
                        <a:t>식별 </a:t>
                      </a:r>
                      <a:pPr indent="0" marL="0">
                        <a:buNone/>
                      </a:pPr>
                      <a:r>
                        <a:rPr lang="en-US" sz="1100" dirty="0">
                          <a:solidFill>
                            <a:srgbClr val="1F2937"/>
                          </a:solidFill>
                        </a:rPr>
                        <a:t>정보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인증 </a:t>
                      </a:r>
                      <a:pPr indent="0" marL="0">
                        <a:buNone/>
                      </a:pPr>
                      <a:r>
                        <a:rPr lang="en-US" sz="1100" dirty="0">
                          <a:solidFill>
                            <a:srgbClr val="1F2937"/>
                          </a:solidFill>
                        </a:rPr>
                        <a:t>결과 </a:t>
                      </a:r>
                      <a:pPr indent="0" marL="0">
                        <a:buNone/>
                      </a:pPr>
                      <a:r>
                        <a:rPr lang="en-US" sz="1100" dirty="0">
                          <a:solidFill>
                            <a:srgbClr val="1F2937"/>
                          </a:solidFill>
                        </a:rPr>
                        <a:t>또는 </a:t>
                      </a:r>
                      <a:pPr indent="0" marL="0">
                        <a:buNone/>
                      </a:pPr>
                      <a:r>
                        <a:rPr lang="en-US" sz="1100" dirty="0">
                          <a:solidFill>
                            <a:srgbClr val="1F2937"/>
                          </a:solidFill>
                        </a:rPr>
                        <a:t>게스트 </a:t>
                      </a:r>
                      <a:pPr indent="0" marL="0">
                        <a:buNone/>
                      </a:pPr>
                      <a:r>
                        <a:rPr lang="en-US" sz="1100" dirty="0">
                          <a:solidFill>
                            <a:srgbClr val="1F2937"/>
                          </a:solidFill>
                        </a:rPr>
                        <a:t>상태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인증 </a:t>
                      </a:r>
                      <a:pPr indent="0" marL="0">
                        <a:buNone/>
                      </a:pPr>
                      <a:r>
                        <a:rPr lang="en-US" sz="1100" dirty="0">
                          <a:solidFill>
                            <a:srgbClr val="1F2937"/>
                          </a:solidFill>
                        </a:rPr>
                        <a:t>성공 </a:t>
                      </a:r>
                      <a:pPr indent="0" marL="0">
                        <a:buNone/>
                      </a:pPr>
                      <a:r>
                        <a:rPr lang="en-US" sz="1100" dirty="0">
                          <a:solidFill>
                            <a:srgbClr val="1F2937"/>
                          </a:solidFill>
                        </a:rPr>
                        <a:t>또는 </a:t>
                      </a:r>
                      <a:pPr indent="0" marL="0">
                        <a:buNone/>
                      </a:pPr>
                      <a:r>
                        <a:rPr lang="en-US" sz="1100" dirty="0">
                          <a:solidFill>
                            <a:srgbClr val="1F2937"/>
                          </a:solidFill>
                        </a:rPr>
                        <a:t>게스트 </a:t>
                      </a:r>
                      <a:pPr indent="0" marL="0">
                        <a:buNone/>
                      </a:pPr>
                      <a:r>
                        <a:rPr lang="en-US" sz="1100" dirty="0">
                          <a:solidFill>
                            <a:srgbClr val="1F2937"/>
                          </a:solidFill>
                        </a:rPr>
                        <a:t>사용 </a:t>
                      </a:r>
                      <a:pPr indent="0" marL="0">
                        <a:buNone/>
                      </a:pPr>
                      <a:r>
                        <a:rPr lang="en-US" sz="1100" dirty="0">
                          <a:solidFill>
                            <a:srgbClr val="1F2937"/>
                          </a:solidFill>
                        </a:rPr>
                        <a:t>가능 </a:t>
                      </a:r>
                      <a:pPr indent="0" marL="0">
                        <a:buNone/>
                      </a:pPr>
                      <a:r>
                        <a:rPr lang="en-US" sz="1100" dirty="0">
                          <a:solidFill>
                            <a:srgbClr val="1F2937"/>
                          </a:solidFill>
                        </a:rPr>
                        <a:t>상태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5</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온보딩에서 </a:t>
                      </a:r>
                      <a:pPr indent="0" marL="0">
                        <a:buNone/>
                      </a:pPr>
                      <a:r>
                        <a:rPr lang="en-US" sz="1100" dirty="0">
                          <a:solidFill>
                            <a:srgbClr val="1F2937"/>
                          </a:solidFill>
                        </a:rPr>
                        <a:t>시작 </a:t>
                      </a:r>
                      <a:pPr indent="0" marL="0">
                        <a:buNone/>
                      </a:pPr>
                      <a:r>
                        <a:rPr lang="en-US" sz="1100" dirty="0">
                          <a:solidFill>
                            <a:srgbClr val="1F2937"/>
                          </a:solidFill>
                        </a:rPr>
                        <a:t>방식 </a:t>
                      </a:r>
                      <a:pPr indent="0" marL="0">
                        <a:buNone/>
                      </a:pPr>
                      <a:r>
                        <a:rPr lang="en-US" sz="1100" dirty="0">
                          <a:solidFill>
                            <a:srgbClr val="1F2937"/>
                          </a:solidFill>
                        </a:rPr>
                        <a:t>선택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사용자·앱</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식사 </a:t>
                      </a:r>
                      <a:pPr indent="0" marL="0">
                        <a:buNone/>
                      </a:pPr>
                      <a:r>
                        <a:rPr lang="en-US" sz="1100" dirty="0">
                          <a:solidFill>
                            <a:srgbClr val="1F2937"/>
                          </a:solidFill>
                        </a:rPr>
                        <a:t>습관 </a:t>
                      </a:r>
                      <a:pPr indent="0" marL="0">
                        <a:buNone/>
                      </a:pPr>
                      <a:r>
                        <a:rPr lang="en-US" sz="1100" dirty="0">
                          <a:solidFill>
                            <a:srgbClr val="1F2937"/>
                          </a:solidFill>
                        </a:rPr>
                        <a:t>확인, </a:t>
                      </a:r>
                      <a:pPr indent="0" marL="0">
                        <a:buNone/>
                      </a:pPr>
                      <a:r>
                        <a:rPr lang="en-US" sz="1100" dirty="0">
                          <a:solidFill>
                            <a:srgbClr val="1F2937"/>
                          </a:solidFill>
                        </a:rPr>
                        <a:t>체중 </a:t>
                      </a:r>
                      <a:pPr indent="0" marL="0">
                        <a:buNone/>
                      </a:pPr>
                      <a:r>
                        <a:rPr lang="en-US" sz="1100" dirty="0">
                          <a:solidFill>
                            <a:srgbClr val="1F2937"/>
                          </a:solidFill>
                        </a:rPr>
                        <a:t>목표 </a:t>
                      </a:r>
                      <a:pPr indent="0" marL="0">
                        <a:buNone/>
                      </a:pPr>
                      <a:r>
                        <a:rPr lang="en-US" sz="1100" dirty="0">
                          <a:solidFill>
                            <a:srgbClr val="1F2937"/>
                          </a:solidFill>
                        </a:rPr>
                        <a:t>설정, </a:t>
                      </a:r>
                      <a:pPr indent="0" marL="0">
                        <a:buNone/>
                      </a:pPr>
                      <a:r>
                        <a:rPr lang="en-US" sz="1100" dirty="0">
                          <a:solidFill>
                            <a:srgbClr val="1F2937"/>
                          </a:solidFill>
                        </a:rPr>
                        <a:t>목표 </a:t>
                      </a:r>
                      <a:pPr indent="0" marL="0">
                        <a:buNone/>
                      </a:pPr>
                      <a:r>
                        <a:rPr lang="en-US" sz="1100" dirty="0">
                          <a:solidFill>
                            <a:srgbClr val="1F2937"/>
                          </a:solidFill>
                        </a:rPr>
                        <a:t>없이 </a:t>
                      </a:r>
                      <a:pPr indent="0" marL="0">
                        <a:buNone/>
                      </a:pPr>
                      <a:r>
                        <a:rPr lang="en-US" sz="1100" dirty="0">
                          <a:solidFill>
                            <a:srgbClr val="1F2937"/>
                          </a:solidFill>
                        </a:rPr>
                        <a:t>기록 </a:t>
                      </a:r>
                      <a:pPr indent="0" marL="0">
                        <a:buNone/>
                      </a:pPr>
                      <a:r>
                        <a:rPr lang="en-US" sz="1100" dirty="0">
                          <a:solidFill>
                            <a:srgbClr val="1F2937"/>
                          </a:solidFill>
                        </a:rPr>
                        <a:t>선택지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선택한 </a:t>
                      </a:r>
                      <a:pPr indent="0" marL="0">
                        <a:buNone/>
                      </a:pPr>
                      <a:r>
                        <a:rPr lang="en-US" sz="1100" dirty="0">
                          <a:solidFill>
                            <a:srgbClr val="1F2937"/>
                          </a:solidFill>
                        </a:rPr>
                        <a:t>시작 </a:t>
                      </a:r>
                      <a:pPr indent="0" marL="0">
                        <a:buNone/>
                      </a:pPr>
                      <a:r>
                        <a:rPr lang="en-US" sz="1100" dirty="0">
                          <a:solidFill>
                            <a:srgbClr val="1F2937"/>
                          </a:solidFill>
                        </a:rPr>
                        <a:t>방식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목표 </a:t>
                      </a:r>
                      <a:pPr indent="0" marL="0">
                        <a:buNone/>
                      </a:pPr>
                      <a:r>
                        <a:rPr lang="en-US" sz="1100" dirty="0">
                          <a:solidFill>
                            <a:srgbClr val="1F2937"/>
                          </a:solidFill>
                        </a:rPr>
                        <a:t>입력을 </a:t>
                      </a:r>
                      <a:pPr indent="0" marL="0">
                        <a:buNone/>
                      </a:pPr>
                      <a:r>
                        <a:rPr lang="en-US" sz="1100" dirty="0">
                          <a:solidFill>
                            <a:srgbClr val="1F2937"/>
                          </a:solidFill>
                        </a:rPr>
                        <a:t>건너뛰어도 </a:t>
                      </a:r>
                      <a:pPr indent="0" marL="0">
                        <a:buNone/>
                      </a:pPr>
                      <a:r>
                        <a:rPr lang="en-US" sz="1100" dirty="0">
                          <a:solidFill>
                            <a:srgbClr val="1F2937"/>
                          </a:solidFill>
                        </a:rPr>
                        <a:t>다음 </a:t>
                      </a:r>
                      <a:pPr indent="0" marL="0">
                        <a:buNone/>
                      </a:pPr>
                      <a:r>
                        <a:rPr lang="en-US" sz="1100" dirty="0">
                          <a:solidFill>
                            <a:srgbClr val="1F2937"/>
                          </a:solidFill>
                        </a:rPr>
                        <a:t>단계로 </a:t>
                      </a:r>
                      <a:pPr indent="0" marL="0">
                        <a:buNone/>
                      </a:pPr>
                      <a:r>
                        <a:rPr lang="en-US" sz="1100" dirty="0">
                          <a:solidFill>
                            <a:srgbClr val="1F2937"/>
                          </a:solidFill>
                        </a:rPr>
                        <a:t>진행</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6</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프로필·목표 </a:t>
                      </a:r>
                      <a:pPr indent="0" marL="0">
                        <a:buNone/>
                      </a:pPr>
                      <a:r>
                        <a:rPr lang="en-US" sz="1100" dirty="0">
                          <a:solidFill>
                            <a:srgbClr val="1F2937"/>
                          </a:solidFill>
                        </a:rPr>
                        <a:t>정보 </a:t>
                      </a:r>
                      <a:pPr indent="0" marL="0">
                        <a:buNone/>
                      </a:pPr>
                      <a:r>
                        <a:rPr lang="en-US" sz="1100" dirty="0">
                          <a:solidFill>
                            <a:srgbClr val="1F2937"/>
                          </a:solidFill>
                        </a:rPr>
                        <a:t>선택 </a:t>
                      </a:r>
                      <a:pPr indent="0" marL="0">
                        <a:buNone/>
                      </a:pPr>
                      <a:r>
                        <a:rPr lang="en-US" sz="1100" dirty="0">
                          <a:solidFill>
                            <a:srgbClr val="1F2937"/>
                          </a:solidFill>
                        </a:rPr>
                        <a:t>입력</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사용자·앱</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선택한 </a:t>
                      </a:r>
                      <a:pPr indent="0" marL="0">
                        <a:buNone/>
                      </a:pPr>
                      <a:r>
                        <a:rPr lang="en-US" sz="1100" dirty="0">
                          <a:solidFill>
                            <a:srgbClr val="1F2937"/>
                          </a:solidFill>
                        </a:rPr>
                        <a:t>경우에 </a:t>
                      </a:r>
                      <a:pPr indent="0" marL="0">
                        <a:buNone/>
                      </a:pPr>
                      <a:r>
                        <a:rPr lang="en-US" sz="1100" dirty="0">
                          <a:solidFill>
                            <a:srgbClr val="1F2937"/>
                          </a:solidFill>
                        </a:rPr>
                        <a:t>한해 </a:t>
                      </a:r>
                      <a:pPr indent="0" marL="0">
                        <a:buNone/>
                      </a:pPr>
                      <a:r>
                        <a:rPr lang="en-US" sz="1100" dirty="0">
                          <a:solidFill>
                            <a:srgbClr val="1F2937"/>
                          </a:solidFill>
                        </a:rPr>
                        <a:t>필요한 </a:t>
                      </a:r>
                      <a:pPr indent="0" marL="0">
                        <a:buNone/>
                      </a:pPr>
                      <a:r>
                        <a:rPr lang="en-US" sz="1100" dirty="0">
                          <a:solidFill>
                            <a:srgbClr val="1F2937"/>
                          </a:solidFill>
                        </a:rPr>
                        <a:t>프로필·목표 </a:t>
                      </a:r>
                      <a:pPr indent="0" marL="0">
                        <a:buNone/>
                      </a:pPr>
                      <a:r>
                        <a:rPr lang="en-US" sz="1100" dirty="0">
                          <a:solidFill>
                            <a:srgbClr val="1F2937"/>
                          </a:solidFill>
                        </a:rPr>
                        <a:t>정보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저장 </a:t>
                      </a:r>
                      <a:pPr indent="0" marL="0">
                        <a:buNone/>
                      </a:pPr>
                      <a:r>
                        <a:rPr lang="en-US" sz="1100" dirty="0">
                          <a:solidFill>
                            <a:srgbClr val="1F2937"/>
                          </a:solidFill>
                        </a:rPr>
                        <a:t>요청값 </a:t>
                      </a:r>
                      <a:pPr indent="0" marL="0">
                        <a:buNone/>
                      </a:pPr>
                      <a:r>
                        <a:rPr lang="en-US" sz="1100" dirty="0">
                          <a:solidFill>
                            <a:srgbClr val="1F2937"/>
                          </a:solidFill>
                        </a:rPr>
                        <a:t>또는 </a:t>
                      </a:r>
                      <a:pPr indent="0" marL="0">
                        <a:buNone/>
                      </a:pPr>
                      <a:r>
                        <a:rPr lang="en-US" sz="1100" dirty="0">
                          <a:solidFill>
                            <a:srgbClr val="1F2937"/>
                          </a:solidFill>
                        </a:rPr>
                        <a:t>입력 </a:t>
                      </a:r>
                      <a:pPr indent="0" marL="0">
                        <a:buNone/>
                      </a:pPr>
                      <a:r>
                        <a:rPr lang="en-US" sz="1100" dirty="0">
                          <a:solidFill>
                            <a:srgbClr val="1F2937"/>
                          </a:solidFill>
                        </a:rPr>
                        <a:t>없음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필수 </a:t>
                      </a:r>
                      <a:pPr indent="0" marL="0">
                        <a:buNone/>
                      </a:pPr>
                      <a:r>
                        <a:rPr lang="en-US" sz="1100" dirty="0">
                          <a:solidFill>
                            <a:srgbClr val="1F2937"/>
                          </a:solidFill>
                        </a:rPr>
                        <a:t>입력을 </a:t>
                      </a:r>
                      <a:pPr indent="0" marL="0">
                        <a:buNone/>
                      </a:pPr>
                      <a:r>
                        <a:rPr lang="en-US" sz="1100" dirty="0">
                          <a:solidFill>
                            <a:srgbClr val="1F2937"/>
                          </a:solidFill>
                        </a:rPr>
                        <a:t>강제하지 </a:t>
                      </a:r>
                      <a:pPr indent="0" marL="0">
                        <a:buNone/>
                      </a:pPr>
                      <a:r>
                        <a:rPr lang="en-US" sz="1100" dirty="0">
                          <a:solidFill>
                            <a:srgbClr val="1F2937"/>
                          </a:solidFill>
                        </a:rPr>
                        <a:t>않음. </a:t>
                      </a:r>
                      <a:pPr indent="0" marL="0">
                        <a:buNone/>
                      </a:pPr>
                      <a:r>
                        <a:rPr lang="en-US" sz="1100" dirty="0">
                          <a:solidFill>
                            <a:srgbClr val="1F2937"/>
                          </a:solidFill>
                        </a:rPr>
                        <a:t>자동 </a:t>
                      </a:r>
                      <a:pPr indent="0" marL="0">
                        <a:buNone/>
                      </a:pPr>
                      <a:r>
                        <a:rPr lang="en-US" sz="1100" dirty="0">
                          <a:solidFill>
                            <a:srgbClr val="1F2937"/>
                          </a:solidFill>
                        </a:rPr>
                        <a:t>권장 </a:t>
                      </a:r>
                      <a:pPr indent="0" marL="0">
                        <a:buNone/>
                      </a:pPr>
                      <a:r>
                        <a:rPr lang="en-US" sz="1100" dirty="0">
                          <a:solidFill>
                            <a:srgbClr val="1F2937"/>
                          </a:solidFill>
                        </a:rPr>
                        <a:t>칼로리 </a:t>
                      </a:r>
                      <a:pPr indent="0" marL="0">
                        <a:buNone/>
                      </a:pPr>
                      <a:r>
                        <a:rPr lang="en-US" sz="1100" dirty="0">
                          <a:solidFill>
                            <a:srgbClr val="1F2937"/>
                          </a:solidFill>
                        </a:rPr>
                        <a:t>기준 </a:t>
                      </a:r>
                      <a:pPr indent="0" marL="0">
                        <a:buNone/>
                      </a:pPr>
                      <a:r>
                        <a:rPr lang="en-US" sz="1100" dirty="0">
                          <a:solidFill>
                            <a:srgbClr val="1F2937"/>
                          </a:solidFill>
                        </a:rPr>
                        <a:t>미확정 </a:t>
                      </a:r>
                      <a:pPr indent="0" marL="0">
                        <a:buNone/>
                      </a:pPr>
                      <a:r>
                        <a:rPr lang="en-US" sz="1100" dirty="0">
                          <a:solidFill>
                            <a:srgbClr val="1F2937"/>
                          </a:solidFill>
                        </a:rPr>
                        <a:t>시 </a:t>
                      </a:r>
                      <a:pPr indent="0" marL="0">
                        <a:buNone/>
                      </a:pPr>
                      <a:r>
                        <a:rPr lang="en-US" sz="1100" dirty="0">
                          <a:solidFill>
                            <a:srgbClr val="1F2937"/>
                          </a:solidFill>
                        </a:rPr>
                        <a:t>수치를 </a:t>
                      </a:r>
                      <a:pPr indent="0" marL="0">
                        <a:buNone/>
                      </a:pPr>
                      <a:r>
                        <a:rPr lang="en-US" sz="1100" dirty="0">
                          <a:solidFill>
                            <a:srgbClr val="1F2937"/>
                          </a:solidFill>
                        </a:rPr>
                        <a:t>만들지 </a:t>
                      </a:r>
                      <a:pPr indent="0" marL="0">
                        <a:buNone/>
                      </a:pPr>
                      <a:r>
                        <a:rPr lang="en-US" sz="1100" dirty="0">
                          <a:solidFill>
                            <a:srgbClr val="1F2937"/>
                          </a:solidFill>
                        </a:rPr>
                        <a:t>않음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7</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알림 </a:t>
                      </a:r>
                      <a:pPr indent="0" marL="0">
                        <a:buNone/>
                      </a:pPr>
                      <a:r>
                        <a:rPr lang="en-US" sz="1100" dirty="0">
                          <a:solidFill>
                            <a:srgbClr val="1F2937"/>
                          </a:solidFill>
                        </a:rPr>
                        <a:t>안내와 </a:t>
                      </a:r>
                      <a:pPr indent="0" marL="0">
                        <a:buNone/>
                      </a:pPr>
                      <a:r>
                        <a:rPr lang="en-US" sz="1100" dirty="0">
                          <a:solidFill>
                            <a:srgbClr val="1F2937"/>
                          </a:solidFill>
                        </a:rPr>
                        <a:t>선택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사용자·앱</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기록 </a:t>
                      </a:r>
                      <a:pPr indent="0" marL="0">
                        <a:buNone/>
                      </a:pPr>
                      <a:r>
                        <a:rPr lang="en-US" sz="1100" dirty="0">
                          <a:solidFill>
                            <a:srgbClr val="1F2937"/>
                          </a:solidFill>
                        </a:rPr>
                        <a:t>알림 </a:t>
                      </a:r>
                      <a:pPr indent="0" marL="0">
                        <a:buNone/>
                      </a:pPr>
                      <a:r>
                        <a:rPr lang="en-US" sz="1100" dirty="0">
                          <a:solidFill>
                            <a:srgbClr val="1F2937"/>
                          </a:solidFill>
                        </a:rPr>
                        <a:t>안내, </a:t>
                      </a:r>
                      <a:pPr indent="0" marL="0">
                        <a:buNone/>
                      </a:pPr>
                      <a:r>
                        <a:rPr lang="en-US" sz="1100" dirty="0">
                          <a:solidFill>
                            <a:srgbClr val="1F2937"/>
                          </a:solidFill>
                        </a:rPr>
                        <a:t>기본 </a:t>
                      </a:r>
                      <a:pPr indent="0" marL="0">
                        <a:buNone/>
                      </a:pPr>
                      <a:r>
                        <a:rPr lang="en-US" sz="1100" dirty="0">
                          <a:solidFill>
                            <a:srgbClr val="1F2937"/>
                          </a:solidFill>
                        </a:rPr>
                        <a:t>시간 </a:t>
                      </a:r>
                      <a:pPr indent="0" marL="0">
                        <a:buNone/>
                      </a:pPr>
                      <a:r>
                        <a:rPr lang="en-US" sz="1100" dirty="0">
                          <a:solidFill>
                            <a:srgbClr val="1F2937"/>
                          </a:solidFill>
                        </a:rPr>
                        <a:t>저녁 </a:t>
                      </a:r>
                      <a:pPr indent="0" marL="0">
                        <a:buNone/>
                      </a:pPr>
                      <a:r>
                        <a:rPr lang="en-US" sz="1100" dirty="0">
                          <a:solidFill>
                            <a:srgbClr val="1F2937"/>
                          </a:solidFill>
                        </a:rPr>
                        <a:t>8시 </a:t>
                      </a:r>
                      <a:pPr indent="0" marL="0">
                        <a:buNone/>
                      </a:pPr>
                      <a:r>
                        <a:rPr lang="en-US" sz="1100" dirty="0">
                          <a:solidFill>
                            <a:srgbClr val="1F2937"/>
                          </a:solidFill>
                        </a:rPr>
                        <a:t>제안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앱 </a:t>
                      </a:r>
                      <a:pPr indent="0" marL="0">
                        <a:buNone/>
                      </a:pPr>
                      <a:r>
                        <a:rPr lang="en-US" sz="1100" dirty="0">
                          <a:solidFill>
                            <a:srgbClr val="1F2937"/>
                          </a:solidFill>
                        </a:rPr>
                        <a:t>내 </a:t>
                      </a:r>
                      <a:pPr indent="0" marL="0">
                        <a:buNone/>
                      </a:pPr>
                      <a:r>
                        <a:rPr lang="en-US" sz="1100" dirty="0">
                          <a:solidFill>
                            <a:srgbClr val="1F2937"/>
                          </a:solidFill>
                        </a:rPr>
                        <a:t>알림 </a:t>
                      </a:r>
                      <a:pPr indent="0" marL="0">
                        <a:buNone/>
                      </a:pPr>
                      <a:r>
                        <a:rPr lang="en-US" sz="1100" dirty="0">
                          <a:solidFill>
                            <a:srgbClr val="1F2937"/>
                          </a:solidFill>
                        </a:rPr>
                        <a:t>선택 </a:t>
                      </a:r>
                      <a:pPr indent="0" marL="0">
                        <a:buNone/>
                      </a:pPr>
                      <a:r>
                        <a:rPr lang="en-US" sz="1100" dirty="0">
                          <a:solidFill>
                            <a:srgbClr val="1F2937"/>
                          </a:solidFill>
                        </a:rPr>
                        <a:t>상태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사용자가 </a:t>
                      </a:r>
                      <a:pPr indent="0" marL="0">
                        <a:buNone/>
                      </a:pPr>
                      <a:r>
                        <a:rPr lang="en-US" sz="1100" dirty="0">
                          <a:solidFill>
                            <a:srgbClr val="1F2937"/>
                          </a:solidFill>
                        </a:rPr>
                        <a:t>선택하지 </a:t>
                      </a:r>
                      <a:pPr indent="0" marL="0">
                        <a:buNone/>
                      </a:pPr>
                      <a:r>
                        <a:rPr lang="en-US" sz="1100" dirty="0">
                          <a:solidFill>
                            <a:srgbClr val="1F2937"/>
                          </a:solidFill>
                        </a:rPr>
                        <a:t>않아도 </a:t>
                      </a:r>
                      <a:pPr indent="0" marL="0">
                        <a:buNone/>
                      </a:pPr>
                      <a:r>
                        <a:rPr lang="en-US" sz="1100" dirty="0">
                          <a:solidFill>
                            <a:srgbClr val="1F2937"/>
                          </a:solidFill>
                        </a:rPr>
                        <a:t>가입·앱 </a:t>
                      </a:r>
                      <a:pPr indent="0" marL="0">
                        <a:buNone/>
                      </a:pPr>
                      <a:r>
                        <a:rPr lang="en-US" sz="1100" dirty="0">
                          <a:solidFill>
                            <a:srgbClr val="1F2937"/>
                          </a:solidFill>
                        </a:rPr>
                        <a:t>이용 </a:t>
                      </a:r>
                      <a:pPr indent="0" marL="0">
                        <a:buNone/>
                      </a:pPr>
                      <a:r>
                        <a:rPr lang="en-US" sz="1100" dirty="0">
                          <a:solidFill>
                            <a:srgbClr val="1F2937"/>
                          </a:solidFill>
                        </a:rPr>
                        <a:t>가능. </a:t>
                      </a:r>
                      <a:pPr indent="0" marL="0">
                        <a:buNone/>
                      </a:pPr>
                      <a:r>
                        <a:rPr lang="en-US" sz="1100" dirty="0">
                          <a:solidFill>
                            <a:srgbClr val="1F2937"/>
                          </a:solidFill>
                        </a:rPr>
                        <a:t>기본값은 </a:t>
                      </a:r>
                      <a:pPr indent="0" marL="0">
                        <a:buNone/>
                      </a:pPr>
                      <a:r>
                        <a:rPr lang="en-US" sz="1100" dirty="0">
                          <a:solidFill>
                            <a:srgbClr val="1F2937"/>
                          </a:solidFill>
                        </a:rPr>
                        <a:t>꺼짐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8</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홈으로 </a:t>
                      </a:r>
                      <a:pPr indent="0" marL="0">
                        <a:buNone/>
                      </a:pPr>
                      <a:r>
                        <a:rPr lang="en-US" sz="1100" dirty="0">
                          <a:solidFill>
                            <a:srgbClr val="1F2937"/>
                          </a:solidFill>
                        </a:rPr>
                        <a:t>이동</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앱</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계정·프로필·목표·알림 </a:t>
                      </a:r>
                      <a:pPr indent="0" marL="0">
                        <a:buNone/>
                      </a:pPr>
                      <a:r>
                        <a:rPr lang="en-US" sz="1100" dirty="0">
                          <a:solidFill>
                            <a:srgbClr val="1F2937"/>
                          </a:solidFill>
                        </a:rPr>
                        <a:t>상태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오늘 </a:t>
                      </a:r>
                      <a:pPr indent="0" marL="0">
                        <a:buNone/>
                      </a:pPr>
                      <a:r>
                        <a:rPr lang="en-US" sz="1100" dirty="0">
                          <a:solidFill>
                            <a:srgbClr val="1F2937"/>
                          </a:solidFill>
                        </a:rPr>
                        <a:t>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오늘 </a:t>
                      </a:r>
                      <a:pPr indent="0" marL="0">
                        <a:buNone/>
                      </a:pPr>
                      <a:r>
                        <a:rPr lang="en-US" sz="1100" dirty="0">
                          <a:solidFill>
                            <a:srgbClr val="1F2937"/>
                          </a:solidFill>
                        </a:rPr>
                        <a:t>기록 </a:t>
                      </a:r>
                      <a:pPr indent="0" marL="0">
                        <a:buNone/>
                      </a:pPr>
                      <a:r>
                        <a:rPr lang="en-US" sz="1100" dirty="0">
                          <a:solidFill>
                            <a:srgbClr val="1F2937"/>
                          </a:solidFill>
                        </a:rPr>
                        <a:t>상태와 </a:t>
                      </a:r>
                      <a:pPr indent="0" marL="0">
                        <a:buNone/>
                      </a:pPr>
                      <a:r>
                        <a:rPr lang="en-US" sz="1100" dirty="0">
                          <a:solidFill>
                            <a:srgbClr val="1F2937"/>
                          </a:solidFill>
                        </a:rPr>
                        <a:t>기록 </a:t>
                      </a:r>
                      <a:pPr indent="0" marL="0">
                        <a:buNone/>
                      </a:pPr>
                      <a:r>
                        <a:rPr lang="en-US" sz="1100" dirty="0">
                          <a:solidFill>
                            <a:srgbClr val="1F2937"/>
                          </a:solidFill>
                        </a:rPr>
                        <a:t>동작 </a:t>
                      </a:r>
                      <a:pPr indent="0" marL="0">
                        <a:buNone/>
                      </a:pPr>
                      <a:r>
                        <a:rPr lang="en-US" sz="1100" dirty="0">
                          <a:solidFill>
                            <a:srgbClr val="1F2937"/>
                          </a:solidFill>
                        </a:rPr>
                        <a:t>이용 </a:t>
                      </a:r>
                      <a:pPr indent="0" marL="0">
                        <a:buNone/>
                      </a:pPr>
                      <a:r>
                        <a:rPr lang="en-US" sz="1100" dirty="0">
                          <a:solidFill>
                            <a:srgbClr val="1F2937"/>
                          </a:solidFill>
                        </a:rPr>
                        <a:t>가능</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Mermaid 다이어그램</a:t>
            </a:r>
            <a:endParaRPr lang="en-US" sz="2800" dirty="0"/>
          </a:p>
        </p:txBody>
      </p:sp>
      <p:sp>
        <p:nvSpPr>
          <p:cNvPr id="3" name="Shape 1"/>
          <p:cNvSpPr/>
          <p:nvPr/>
        </p:nvSpPr>
        <p:spPr>
          <a:xfrm>
            <a:off x="457200" y="1078992"/>
            <a:ext cx="2743200" cy="41148"/>
          </a:xfrm>
          <a:prstGeom prst="rect">
            <a:avLst/>
          </a:prstGeom>
          <a:solidFill>
            <a:srgbClr val="263F59"/>
          </a:solidFill>
          <a:ln/>
        </p:spPr>
      </p:sp>
      <p:pic>
        <p:nvPicPr>
          <p:cNvPr id="4" name="Image 0" descr="preencoded.png">    </p:cNvPr>
          <p:cNvPicPr>
            <a:picLocks noChangeAspect="1"/>
          </p:cNvPicPr>
          <p:nvPr/>
        </p:nvPicPr>
        <p:blipFill>
          <a:blip r:embed="rId1"/>
          <a:stretch>
            <a:fillRect/>
          </a:stretch>
        </p:blipFill>
        <p:spPr>
          <a:xfrm>
            <a:off x="640080" y="1463040"/>
            <a:ext cx="7863840" cy="4206240"/>
          </a:xfrm>
          <a:prstGeom prst="rect">
            <a:avLst/>
          </a:prstGeom>
        </p:spPr>
      </p:pic>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상세 설명 (1/2)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1. 로그인 제공자, 게스트 계정의 저장 위치, 게스트 기록 병합은 미정입니다. 계정 기능의 상태와 선택지는 이 결정이 끝나기 전까지 화면·개발 요구사항으로 확정할 수 없습니다.</a:t>
            </a:r>
            <a:endParaRPr lang="en-US" sz="1600" dirty="0"/>
          </a:p>
          <a:p>
            <a:pPr indent="0" marL="0">
              <a:spcAft>
                <a:spcPts val="800"/>
              </a:spcAft>
              <a:buNone/>
            </a:pPr>
            <a:r>
              <a:rPr lang="en-US" sz="1600" dirty="0">
                <a:solidFill>
                  <a:srgbClr val="4B5563"/>
                </a:solidFill>
              </a:rPr>
              <a:t>2. 온보딩은 목표 입력을 강요하지 않습니다. 자동 칼로리 목표의 안전 기준을 전문가 검토로 확정하지 못하면, 다음 주 화요일까지의 합의에 따라 자동 칼로리 목표를 MVP에서 제외합니다.</a:t>
            </a:r>
            <a:endParaRPr lang="en-US" sz="1600" dirty="0"/>
          </a:p>
          <a:p>
            <a:pPr indent="0" marL="0">
              <a:spcAft>
                <a:spcPts val="800"/>
              </a:spcAft>
              <a:buNone/>
            </a:pPr>
            <a:r>
              <a:rPr lang="en-US" sz="1600" dirty="0">
                <a:solidFill>
                  <a:srgbClr val="4B5563"/>
                </a:solidFill>
              </a:rPr>
              <a:t>3. 약관·개인정보 동의와 푸시 선택은 별개입니다. 알림을 켜지 않거나 운영체제 권한을 거부해도 앱 이용은 계속 가능해야 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상세 설명 (2/2)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4. 인증 방식별 오류 문구, 인증 재시도 횟수, 세션 만료 기준, 게스트 데이터 병합 규칙은 회의에서 확정되지 않았으므로 </a:t>
            </a:r>
            <a:pPr indent="0" marL="0">
              <a:spcAft>
                <a:spcPts val="800"/>
              </a:spcAft>
              <a:buNone/>
            </a:pPr>
            <a:r>
              <a:rPr lang="en-US" sz="1600" b="1" dirty="0">
                <a:solidFill>
                  <a:srgbClr val="4B5563"/>
                </a:solidFill>
              </a:rPr>
              <a:t>추정 필요</a:t>
            </a:r>
            <a:pPr indent="0" marL="0">
              <a:spcAft>
                <a:spcPts val="800"/>
              </a:spcAft>
              <a:buNone/>
            </a:pPr>
            <a:r>
              <a:rPr lang="en-US" sz="1600" dirty="0">
                <a:solidFill>
                  <a:srgbClr val="4B5563"/>
                </a:solidFill>
              </a:rPr>
              <a:t>입니다.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3.2 홈·음식 검색·직접 입력·식사 기록 플로우</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프로세스 설명 (1/4)</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프로세스는 사용자가 홈에서 기록할 날짜와 식사 구분을 확인하고, 음식 추가를 시작하면서 열립니다. 음식 추가 경로는 검색, 최근 기록, 즐겨찾기, 직접 입력입니다. 검색을 이용할 수 없거나 검색 결과가 없더라도 기록을 중단시키지 않고 직접 입력으로 이어지도록 합니다. 검색 결과를 자동으로 선택하거나 비슷한 이름의 첫 결과를 자동 저장하지 않습니다.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프로세스 설명 (2/4)</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음식 검색은 최종 논의 기준으로 한 글자 검색을 허용하고, 입력 후 약 350밀리초 대기하는 방식이 제안됐습니다. 최근 음식과 캐시를 활용하는 방안도 함께 논의됐으며, 캐시 보관 기간과 호출 제한은 공급자 계약 확인이 필요합니다.</a:t>
            </a:r>
            <a:endParaRPr lang="en-US" sz="1600" dirty="0"/>
          </a:p>
          <a:p>
            <a:pPr indent="0" marL="0">
              <a:spcAft>
                <a:spcPts val="800"/>
              </a:spcAft>
              <a:buNone/>
            </a:pPr>
            <a:r>
              <a:rPr lang="en-US" sz="1600" dirty="0">
                <a:solidFill>
                  <a:srgbClr val="4B5563"/>
                </a:solidFill>
              </a:rPr>
              <a:t>검색 결과에는 가능한 경우 음식명, 제공량, 칼로리, 출처를 보여주되 출처의 노출 방식과 제공량 누락 시 처리 기준은 공급자 약관 및 UI 확정이 필요합니다.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프로세스 설명 (3/4)</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사용자는 아침·점심·저녁·간식 중 하나를 선택합니다. 현재 시각에 따른 식사 구분은 추천일 뿐이며 사용자가 저장 전에 바꿀 수 있습니다. 검색 음식에 기준 제공량이 있으면 이를 표시하고 배수로 양을 조절합니다. 직접 입력 음식은 1회분을 기본으로 하며, 영양값은 모르면 비워도 됩니다. 0과 미입력을 구분하고, 영양값이 없는 항목도 기록으로 저장합니다.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프로세스 설명 (4/4)</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한 식사 구분에는 여러 음식 항목을 추가할 수 있습니다. 항목마다 개별 저장하고, 같은 날짜와 식사 구분의 항목은 함께 합산해 표시합니다. 생성 시각과 실제 섭취 날짜는 구분하며, 섭취 날짜를 기준으로 리포트를 계산합니다. 미래 날짜 기록은 막는 방향으로 논의됐습니다.</a:t>
            </a:r>
            <a:endParaRPr lang="en-US" sz="1600" dirty="0"/>
          </a:p>
          <a:p>
            <a:pPr indent="0" marL="0">
              <a:spcAft>
                <a:spcPts val="800"/>
              </a:spcAft>
              <a:buNone/>
            </a:pPr>
            <a:r>
              <a:rPr lang="en-US" sz="1600" dirty="0">
                <a:solidFill>
                  <a:srgbClr val="4B5563"/>
                </a:solidFill>
              </a:rPr>
              <a:t>사용자의 화면에서 과거 날짜를 어디까지 탐색하게 할지는 확정이 필요하며, 회의에서는 최근 7일 탐색과 날짜 선택기를 함께 논의했습니다.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단계별 상세</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310551"/>
                <a:gridCol w="1035170"/>
                <a:gridCol w="310551"/>
                <a:gridCol w="1863306"/>
                <a:gridCol w="983411"/>
                <a:gridCol w="1863306"/>
                <a:gridCol w="1863306"/>
              </a:tblGrid>
              <a:tr h="0">
                <a:tc>
                  <a:txBody>
                    <a:bodyPr/>
                    <a:lstStyle/>
                    <a:p>
                      <a:pPr indent="0" marL="0">
                        <a:buNone/>
                      </a:pPr>
                      <a:r>
                        <a:rPr lang="en-US" sz="1200" b="1" dirty="0">
                          <a:solidFill>
                            <a:srgbClr val="FFFFFF"/>
                          </a:solidFill>
                        </a:rPr>
                        <a:t>단계</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활동</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담당</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입력</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출력</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완료 </a:t>
                      </a:r>
                      <a:pPr indent="0" marL="0">
                        <a:buNone/>
                      </a:pPr>
                      <a:r>
                        <a:rPr lang="en-US" sz="1200" b="1" dirty="0">
                          <a:solidFill>
                            <a:srgbClr val="FFFFFF"/>
                          </a:solidFill>
                        </a:rPr>
                        <a:t>기준</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소요 </a:t>
                      </a:r>
                      <a:pPr indent="0" marL="0">
                        <a:buNone/>
                      </a:pPr>
                      <a:r>
                        <a:rPr lang="en-US" sz="1200" b="1" dirty="0">
                          <a:solidFill>
                            <a:srgbClr val="FFFFFF"/>
                          </a:solidFill>
                        </a:rPr>
                        <a:t>시간</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1</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홈에서 </a:t>
                      </a:r>
                      <a:pPr indent="0" marL="0">
                        <a:buNone/>
                      </a:pPr>
                      <a:r>
                        <a:rPr lang="en-US" sz="1100" dirty="0">
                          <a:solidFill>
                            <a:srgbClr val="1F2937"/>
                          </a:solidFill>
                        </a:rPr>
                        <a:t>날짜·오늘 </a:t>
                      </a:r>
                      <a:pPr indent="0" marL="0">
                        <a:buNone/>
                      </a:pPr>
                      <a:r>
                        <a:rPr lang="en-US" sz="1100" dirty="0">
                          <a:solidFill>
                            <a:srgbClr val="1F2937"/>
                          </a:solidFill>
                        </a:rPr>
                        <a:t>기록 </a:t>
                      </a:r>
                      <a:pPr indent="0" marL="0">
                        <a:buNone/>
                      </a:pPr>
                      <a:r>
                        <a:rPr lang="en-US" sz="1100" dirty="0">
                          <a:solidFill>
                            <a:srgbClr val="1F2937"/>
                          </a:solidFill>
                        </a:rPr>
                        <a:t>상태 </a:t>
                      </a:r>
                      <a:pPr indent="0" marL="0">
                        <a:buNone/>
                      </a:pPr>
                      <a:r>
                        <a:rPr lang="en-US" sz="1100" dirty="0">
                          <a:solidFill>
                            <a:srgbClr val="1F2937"/>
                          </a:solidFill>
                        </a:rPr>
                        <a:t>확인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사용자·앱</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사용자 </a:t>
                      </a:r>
                      <a:pPr indent="0" marL="0">
                        <a:buNone/>
                      </a:pPr>
                      <a:r>
                        <a:rPr lang="en-US" sz="1100" dirty="0">
                          <a:solidFill>
                            <a:srgbClr val="1F2937"/>
                          </a:solidFill>
                        </a:rPr>
                        <a:t>계정, </a:t>
                      </a:r>
                      <a:pPr indent="0" marL="0">
                        <a:buNone/>
                      </a:pPr>
                      <a:r>
                        <a:rPr lang="en-US" sz="1100" dirty="0">
                          <a:solidFill>
                            <a:srgbClr val="1F2937"/>
                          </a:solidFill>
                        </a:rPr>
                        <a:t>선택 </a:t>
                      </a:r>
                      <a:pPr indent="0" marL="0">
                        <a:buNone/>
                      </a:pPr>
                      <a:r>
                        <a:rPr lang="en-US" sz="1100" dirty="0">
                          <a:solidFill>
                            <a:srgbClr val="1F2937"/>
                          </a:solidFill>
                        </a:rPr>
                        <a:t>날짜, </a:t>
                      </a:r>
                      <a:pPr indent="0" marL="0">
                        <a:buNone/>
                      </a:pPr>
                      <a:r>
                        <a:rPr lang="en-US" sz="1100" dirty="0">
                          <a:solidFill>
                            <a:srgbClr val="1F2937"/>
                          </a:solidFill>
                        </a:rPr>
                        <a:t>해당 </a:t>
                      </a:r>
                      <a:pPr indent="0" marL="0">
                        <a:buNone/>
                      </a:pPr>
                      <a:r>
                        <a:rPr lang="en-US" sz="1100" dirty="0">
                          <a:solidFill>
                            <a:srgbClr val="1F2937"/>
                          </a:solidFill>
                        </a:rPr>
                        <a:t>날짜의 </a:t>
                      </a:r>
                      <a:pPr indent="0" marL="0">
                        <a:buNone/>
                      </a:pPr>
                      <a:r>
                        <a:rPr lang="en-US" sz="1100" dirty="0">
                          <a:solidFill>
                            <a:srgbClr val="1F2937"/>
                          </a:solidFill>
                        </a:rPr>
                        <a:t>기록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날짜별 </a:t>
                      </a:r>
                      <a:pPr indent="0" marL="0">
                        <a:buNone/>
                      </a:pPr>
                      <a:r>
                        <a:rPr lang="en-US" sz="1100" dirty="0">
                          <a:solidFill>
                            <a:srgbClr val="1F2937"/>
                          </a:solidFill>
                        </a:rPr>
                        <a:t>기록 </a:t>
                      </a:r>
                      <a:pPr indent="0" marL="0">
                        <a:buNone/>
                      </a:pPr>
                      <a:r>
                        <a:rPr lang="en-US" sz="1100" dirty="0">
                          <a:solidFill>
                            <a:srgbClr val="1F2937"/>
                          </a:solidFill>
                        </a:rPr>
                        <a:t>목록 </a:t>
                      </a:r>
                      <a:pPr indent="0" marL="0">
                        <a:buNone/>
                      </a:pPr>
                      <a:r>
                        <a:rPr lang="en-US" sz="1100" dirty="0">
                          <a:solidFill>
                            <a:srgbClr val="1F2937"/>
                          </a:solidFill>
                        </a:rPr>
                        <a:t>및 </a:t>
                      </a:r>
                      <a:pPr indent="0" marL="0">
                        <a:buNone/>
                      </a:pPr>
                      <a:r>
                        <a:rPr lang="en-US" sz="1100" dirty="0">
                          <a:solidFill>
                            <a:srgbClr val="1F2937"/>
                          </a:solidFill>
                        </a:rPr>
                        <a:t>끼니별 </a:t>
                      </a:r>
                      <a:pPr indent="0" marL="0">
                        <a:buNone/>
                      </a:pPr>
                      <a:r>
                        <a:rPr lang="en-US" sz="1100" dirty="0">
                          <a:solidFill>
                            <a:srgbClr val="1F2937"/>
                          </a:solidFill>
                        </a:rPr>
                        <a:t>합계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기록 </a:t>
                      </a:r>
                      <a:pPr indent="0" marL="0">
                        <a:buNone/>
                      </a:pPr>
                      <a:r>
                        <a:rPr lang="en-US" sz="1100" dirty="0">
                          <a:solidFill>
                            <a:srgbClr val="1F2937"/>
                          </a:solidFill>
                        </a:rPr>
                        <a:t>상태와 </a:t>
                      </a:r>
                      <a:pPr indent="0" marL="0">
                        <a:buNone/>
                      </a:pPr>
                      <a:r>
                        <a:rPr lang="en-US" sz="1100" dirty="0">
                          <a:solidFill>
                            <a:srgbClr val="1F2937"/>
                          </a:solidFill>
                        </a:rPr>
                        <a:t>기록 </a:t>
                      </a:r>
                      <a:pPr indent="0" marL="0">
                        <a:buNone/>
                      </a:pPr>
                      <a:r>
                        <a:rPr lang="en-US" sz="1100" dirty="0">
                          <a:solidFill>
                            <a:srgbClr val="1F2937"/>
                          </a:solidFill>
                        </a:rPr>
                        <a:t>추가 </a:t>
                      </a:r>
                      <a:pPr indent="0" marL="0">
                        <a:buNone/>
                      </a:pPr>
                      <a:r>
                        <a:rPr lang="en-US" sz="1100" dirty="0">
                          <a:solidFill>
                            <a:srgbClr val="1F2937"/>
                          </a:solidFill>
                        </a:rPr>
                        <a:t>동작 </a:t>
                      </a:r>
                      <a:pPr indent="0" marL="0">
                        <a:buNone/>
                      </a:pPr>
                      <a:r>
                        <a:rPr lang="en-US" sz="1100" dirty="0">
                          <a:solidFill>
                            <a:srgbClr val="1F2937"/>
                          </a:solidFill>
                        </a:rPr>
                        <a:t>표시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2</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음식 </a:t>
                      </a:r>
                      <a:pPr indent="0" marL="0">
                        <a:buNone/>
                      </a:pPr>
                      <a:r>
                        <a:rPr lang="en-US" sz="1100" dirty="0">
                          <a:solidFill>
                            <a:srgbClr val="1F2937"/>
                          </a:solidFill>
                        </a:rPr>
                        <a:t>추가 </a:t>
                      </a:r>
                      <a:pPr indent="0" marL="0">
                        <a:buNone/>
                      </a:pPr>
                      <a:r>
                        <a:rPr lang="en-US" sz="1100" dirty="0">
                          <a:solidFill>
                            <a:srgbClr val="1F2937"/>
                          </a:solidFill>
                        </a:rPr>
                        <a:t>시작</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사용자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식사 </a:t>
                      </a:r>
                      <a:pPr indent="0" marL="0">
                        <a:buNone/>
                      </a:pPr>
                      <a:r>
                        <a:rPr lang="en-US" sz="1100" dirty="0">
                          <a:solidFill>
                            <a:srgbClr val="1F2937"/>
                          </a:solidFill>
                        </a:rPr>
                        <a:t>구분 </a:t>
                      </a:r>
                      <a:pPr indent="0" marL="0">
                        <a:buNone/>
                      </a:pPr>
                      <a:r>
                        <a:rPr lang="en-US" sz="1100" dirty="0">
                          <a:solidFill>
                            <a:srgbClr val="1F2937"/>
                          </a:solidFill>
                        </a:rPr>
                        <a:t>또는 </a:t>
                      </a:r>
                      <a:pPr indent="0" marL="0">
                        <a:buNone/>
                      </a:pPr>
                      <a:r>
                        <a:rPr lang="en-US" sz="1100" dirty="0">
                          <a:solidFill>
                            <a:srgbClr val="1F2937"/>
                          </a:solidFill>
                        </a:rPr>
                        <a:t>식사 </a:t>
                      </a:r>
                      <a:pPr indent="0" marL="0">
                        <a:buNone/>
                      </a:pPr>
                      <a:r>
                        <a:rPr lang="en-US" sz="1100" dirty="0">
                          <a:solidFill>
                            <a:srgbClr val="1F2937"/>
                          </a:solidFill>
                        </a:rPr>
                        <a:t>추가 </a:t>
                      </a:r>
                      <a:pPr indent="0" marL="0">
                        <a:buNone/>
                      </a:pPr>
                      <a:r>
                        <a:rPr lang="en-US" sz="1100" dirty="0">
                          <a:solidFill>
                            <a:srgbClr val="1F2937"/>
                          </a:solidFill>
                        </a:rPr>
                        <a:t>동작</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음식 </a:t>
                      </a:r>
                      <a:pPr indent="0" marL="0">
                        <a:buNone/>
                      </a:pPr>
                      <a:r>
                        <a:rPr lang="en-US" sz="1100" dirty="0">
                          <a:solidFill>
                            <a:srgbClr val="1F2937"/>
                          </a:solidFill>
                        </a:rPr>
                        <a:t>추가 </a:t>
                      </a:r>
                      <a:pPr indent="0" marL="0">
                        <a:buNone/>
                      </a:pPr>
                      <a:r>
                        <a:rPr lang="en-US" sz="1100" dirty="0">
                          <a:solidFill>
                            <a:srgbClr val="1F2937"/>
                          </a:solidFill>
                        </a:rPr>
                        <a:t>화면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검색·최근·즐겨찾기·직접 </a:t>
                      </a:r>
                      <a:pPr indent="0" marL="0">
                        <a:buNone/>
                      </a:pPr>
                      <a:r>
                        <a:rPr lang="en-US" sz="1100" dirty="0">
                          <a:solidFill>
                            <a:srgbClr val="1F2937"/>
                          </a:solidFill>
                        </a:rPr>
                        <a:t>입력 </a:t>
                      </a:r>
                      <a:pPr indent="0" marL="0">
                        <a:buNone/>
                      </a:pPr>
                      <a:r>
                        <a:rPr lang="en-US" sz="1100" dirty="0">
                          <a:solidFill>
                            <a:srgbClr val="1F2937"/>
                          </a:solidFill>
                        </a:rPr>
                        <a:t>경로 </a:t>
                      </a:r>
                      <a:pPr indent="0" marL="0">
                        <a:buNone/>
                      </a:pPr>
                      <a:r>
                        <a:rPr lang="en-US" sz="1100" dirty="0">
                          <a:solidFill>
                            <a:srgbClr val="1F2937"/>
                          </a:solidFill>
                        </a:rPr>
                        <a:t>제공</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3</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입력 </a:t>
                      </a:r>
                      <a:pPr indent="0" marL="0">
                        <a:buNone/>
                      </a:pPr>
                      <a:r>
                        <a:rPr lang="en-US" sz="1100" dirty="0">
                          <a:solidFill>
                            <a:srgbClr val="1F2937"/>
                          </a:solidFill>
                        </a:rPr>
                        <a:t>방식 </a:t>
                      </a:r>
                      <a:pPr indent="0" marL="0">
                        <a:buNone/>
                      </a:pPr>
                      <a:r>
                        <a:rPr lang="en-US" sz="1100" dirty="0">
                          <a:solidFill>
                            <a:srgbClr val="1F2937"/>
                          </a:solidFill>
                        </a:rPr>
                        <a:t>선택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사용자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검색어, </a:t>
                      </a:r>
                      <a:pPr indent="0" marL="0">
                        <a:buNone/>
                      </a:pPr>
                      <a:r>
                        <a:rPr lang="en-US" sz="1100" dirty="0">
                          <a:solidFill>
                            <a:srgbClr val="1F2937"/>
                          </a:solidFill>
                        </a:rPr>
                        <a:t>최근 </a:t>
                      </a:r>
                      <a:pPr indent="0" marL="0">
                        <a:buNone/>
                      </a:pPr>
                      <a:r>
                        <a:rPr lang="en-US" sz="1100" dirty="0">
                          <a:solidFill>
                            <a:srgbClr val="1F2937"/>
                          </a:solidFill>
                        </a:rPr>
                        <a:t>항목, </a:t>
                      </a:r>
                      <a:pPr indent="0" marL="0">
                        <a:buNone/>
                      </a:pPr>
                      <a:r>
                        <a:rPr lang="en-US" sz="1100" dirty="0">
                          <a:solidFill>
                            <a:srgbClr val="1F2937"/>
                          </a:solidFill>
                        </a:rPr>
                        <a:t>즐겨찾기 </a:t>
                      </a:r>
                      <a:pPr indent="0" marL="0">
                        <a:buNone/>
                      </a:pPr>
                      <a:r>
                        <a:rPr lang="en-US" sz="1100" dirty="0">
                          <a:solidFill>
                            <a:srgbClr val="1F2937"/>
                          </a:solidFill>
                        </a:rPr>
                        <a:t>항목, </a:t>
                      </a:r>
                      <a:pPr indent="0" marL="0">
                        <a:buNone/>
                      </a:pPr>
                      <a:r>
                        <a:rPr lang="en-US" sz="1100" dirty="0">
                          <a:solidFill>
                            <a:srgbClr val="1F2937"/>
                          </a:solidFill>
                        </a:rPr>
                        <a:t>직접 </a:t>
                      </a:r>
                      <a:pPr indent="0" marL="0">
                        <a:buNone/>
                      </a:pPr>
                      <a:r>
                        <a:rPr lang="en-US" sz="1100" dirty="0">
                          <a:solidFill>
                            <a:srgbClr val="1F2937"/>
                          </a:solidFill>
                        </a:rPr>
                        <a:t>입력 </a:t>
                      </a:r>
                      <a:pPr indent="0" marL="0">
                        <a:buNone/>
                      </a:pPr>
                      <a:r>
                        <a:rPr lang="en-US" sz="1100" dirty="0">
                          <a:solidFill>
                            <a:srgbClr val="1F2937"/>
                          </a:solidFill>
                        </a:rPr>
                        <a:t>선택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선택된 </a:t>
                      </a:r>
                      <a:pPr indent="0" marL="0">
                        <a:buNone/>
                      </a:pPr>
                      <a:r>
                        <a:rPr lang="en-US" sz="1100" dirty="0">
                          <a:solidFill>
                            <a:srgbClr val="1F2937"/>
                          </a:solidFill>
                        </a:rPr>
                        <a:t>입력 </a:t>
                      </a:r>
                      <a:pPr indent="0" marL="0">
                        <a:buNone/>
                      </a:pPr>
                      <a:r>
                        <a:rPr lang="en-US" sz="1100" dirty="0">
                          <a:solidFill>
                            <a:srgbClr val="1F2937"/>
                          </a:solidFill>
                        </a:rPr>
                        <a:t>경로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선택한 </a:t>
                      </a:r>
                      <a:pPr indent="0" marL="0">
                        <a:buNone/>
                      </a:pPr>
                      <a:r>
                        <a:rPr lang="en-US" sz="1100" dirty="0">
                          <a:solidFill>
                            <a:srgbClr val="1F2937"/>
                          </a:solidFill>
                        </a:rPr>
                        <a:t>경로에 </a:t>
                      </a:r>
                      <a:pPr indent="0" marL="0">
                        <a:buNone/>
                      </a:pPr>
                      <a:r>
                        <a:rPr lang="en-US" sz="1100" dirty="0">
                          <a:solidFill>
                            <a:srgbClr val="1F2937"/>
                          </a:solidFill>
                        </a:rPr>
                        <a:t>맞는 </a:t>
                      </a:r>
                      <a:pPr indent="0" marL="0">
                        <a:buNone/>
                      </a:pPr>
                      <a:r>
                        <a:rPr lang="en-US" sz="1100" dirty="0">
                          <a:solidFill>
                            <a:srgbClr val="1F2937"/>
                          </a:solidFill>
                        </a:rPr>
                        <a:t>입력 </a:t>
                      </a:r>
                      <a:pPr indent="0" marL="0">
                        <a:buNone/>
                      </a:pPr>
                      <a:r>
                        <a:rPr lang="en-US" sz="1100" dirty="0">
                          <a:solidFill>
                            <a:srgbClr val="1F2937"/>
                          </a:solidFill>
                        </a:rPr>
                        <a:t>화면 </a:t>
                      </a:r>
                      <a:pPr indent="0" marL="0">
                        <a:buNone/>
                      </a:pPr>
                      <a:r>
                        <a:rPr lang="en-US" sz="1100" dirty="0">
                          <a:solidFill>
                            <a:srgbClr val="1F2937"/>
                          </a:solidFill>
                        </a:rPr>
                        <a:t>제공</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4</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음식 </a:t>
                      </a:r>
                      <a:pPr indent="0" marL="0">
                        <a:buNone/>
                      </a:pPr>
                      <a:r>
                        <a:rPr lang="en-US" sz="1100" dirty="0">
                          <a:solidFill>
                            <a:srgbClr val="1F2937"/>
                          </a:solidFill>
                        </a:rPr>
                        <a:t>검색 </a:t>
                      </a:r>
                      <a:pPr indent="0" marL="0">
                        <a:buNone/>
                      </a:pPr>
                      <a:r>
                        <a:rPr lang="en-US" sz="1100" dirty="0">
                          <a:solidFill>
                            <a:srgbClr val="1F2937"/>
                          </a:solidFill>
                        </a:rPr>
                        <a:t>요청</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앱·앱 </a:t>
                      </a:r>
                      <a:pPr indent="0" marL="0">
                        <a:buNone/>
                      </a:pPr>
                      <a:r>
                        <a:rPr lang="en-US" sz="1100" dirty="0">
                          <a:solidFill>
                            <a:srgbClr val="1F2937"/>
                          </a:solidFill>
                        </a:rPr>
                        <a:t>서버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검색어. </a:t>
                      </a:r>
                      <a:pPr indent="0" marL="0">
                        <a:buNone/>
                      </a:pPr>
                      <a:r>
                        <a:rPr lang="en-US" sz="1100" dirty="0">
                          <a:solidFill>
                            <a:srgbClr val="1F2937"/>
                          </a:solidFill>
                        </a:rPr>
                        <a:t>외부 </a:t>
                      </a:r>
                      <a:pPr indent="0" marL="0">
                        <a:buNone/>
                      </a:pPr>
                      <a:r>
                        <a:rPr lang="en-US" sz="1100" dirty="0">
                          <a:solidFill>
                            <a:srgbClr val="1F2937"/>
                          </a:solidFill>
                        </a:rPr>
                        <a:t>API </a:t>
                      </a:r>
                      <a:pPr indent="0" marL="0">
                        <a:buNone/>
                      </a:pPr>
                      <a:r>
                        <a:rPr lang="en-US" sz="1100" dirty="0">
                          <a:solidFill>
                            <a:srgbClr val="1F2937"/>
                          </a:solidFill>
                        </a:rPr>
                        <a:t>호출 </a:t>
                      </a:r>
                      <a:pPr indent="0" marL="0">
                        <a:buNone/>
                      </a:pPr>
                      <a:r>
                        <a:rPr lang="en-US" sz="1100" dirty="0">
                          <a:solidFill>
                            <a:srgbClr val="1F2937"/>
                          </a:solidFill>
                        </a:rPr>
                        <a:t>시 </a:t>
                      </a:r>
                      <a:pPr indent="0" marL="0">
                        <a:buNone/>
                      </a:pPr>
                      <a:r>
                        <a:rPr lang="en-US" sz="1100" dirty="0">
                          <a:solidFill>
                            <a:srgbClr val="1F2937"/>
                          </a:solidFill>
                        </a:rPr>
                        <a:t>사용자 </a:t>
                      </a:r>
                      <a:pPr indent="0" marL="0">
                        <a:buNone/>
                      </a:pPr>
                      <a:r>
                        <a:rPr lang="en-US" sz="1100" dirty="0">
                          <a:solidFill>
                            <a:srgbClr val="1F2937"/>
                          </a:solidFill>
                        </a:rPr>
                        <a:t>ID·식사 </a:t>
                      </a:r>
                      <a:pPr indent="0" marL="0">
                        <a:buNone/>
                      </a:pPr>
                      <a:r>
                        <a:rPr lang="en-US" sz="1100" dirty="0">
                          <a:solidFill>
                            <a:srgbClr val="1F2937"/>
                          </a:solidFill>
                        </a:rPr>
                        <a:t>기록은 </a:t>
                      </a:r>
                      <a:pPr indent="0" marL="0">
                        <a:buNone/>
                      </a:pPr>
                      <a:r>
                        <a:rPr lang="en-US" sz="1100" dirty="0">
                          <a:solidFill>
                            <a:srgbClr val="1F2937"/>
                          </a:solidFill>
                        </a:rPr>
                        <a:t>제외하는 </a:t>
                      </a:r>
                      <a:pPr indent="0" marL="0">
                        <a:buNone/>
                      </a:pPr>
                      <a:r>
                        <a:rPr lang="en-US" sz="1100" dirty="0">
                          <a:solidFill>
                            <a:srgbClr val="1F2937"/>
                          </a:solidFill>
                        </a:rPr>
                        <a:t>방향</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내부 </a:t>
                      </a:r>
                      <a:pPr indent="0" marL="0">
                        <a:buNone/>
                      </a:pPr>
                      <a:r>
                        <a:rPr lang="en-US" sz="1100" dirty="0">
                          <a:solidFill>
                            <a:srgbClr val="1F2937"/>
                          </a:solidFill>
                        </a:rPr>
                        <a:t>표준 </a:t>
                      </a:r>
                      <a:pPr indent="0" marL="0">
                        <a:buNone/>
                      </a:pPr>
                      <a:r>
                        <a:rPr lang="en-US" sz="1100" dirty="0">
                          <a:solidFill>
                            <a:srgbClr val="1F2937"/>
                          </a:solidFill>
                        </a:rPr>
                        <a:t>모델로 </a:t>
                      </a:r>
                      <a:pPr indent="0" marL="0">
                        <a:buNone/>
                      </a:pPr>
                      <a:r>
                        <a:rPr lang="en-US" sz="1100" dirty="0">
                          <a:solidFill>
                            <a:srgbClr val="1F2937"/>
                          </a:solidFill>
                        </a:rPr>
                        <a:t>변환한 </a:t>
                      </a:r>
                      <a:pPr indent="0" marL="0">
                        <a:buNone/>
                      </a:pPr>
                      <a:r>
                        <a:rPr lang="en-US" sz="1100" dirty="0">
                          <a:solidFill>
                            <a:srgbClr val="1F2937"/>
                          </a:solidFill>
                        </a:rPr>
                        <a:t>검색 </a:t>
                      </a:r>
                      <a:pPr indent="0" marL="0">
                        <a:buNone/>
                      </a:pPr>
                      <a:r>
                        <a:rPr lang="en-US" sz="1100" dirty="0">
                          <a:solidFill>
                            <a:srgbClr val="1F2937"/>
                          </a:solidFill>
                        </a:rPr>
                        <a:t>결과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검색 </a:t>
                      </a:r>
                      <a:pPr indent="0" marL="0">
                        <a:buNone/>
                      </a:pPr>
                      <a:r>
                        <a:rPr lang="en-US" sz="1100" dirty="0">
                          <a:solidFill>
                            <a:srgbClr val="1F2937"/>
                          </a:solidFill>
                        </a:rPr>
                        <a:t>결과 </a:t>
                      </a:r>
                      <a:pPr indent="0" marL="0">
                        <a:buNone/>
                      </a:pPr>
                      <a:r>
                        <a:rPr lang="en-US" sz="1100" dirty="0">
                          <a:solidFill>
                            <a:srgbClr val="1F2937"/>
                          </a:solidFill>
                        </a:rPr>
                        <a:t>또는 </a:t>
                      </a:r>
                      <a:pPr indent="0" marL="0">
                        <a:buNone/>
                      </a:pPr>
                      <a:r>
                        <a:rPr lang="en-US" sz="1100" dirty="0">
                          <a:solidFill>
                            <a:srgbClr val="1F2937"/>
                          </a:solidFill>
                        </a:rPr>
                        <a:t>빈 </a:t>
                      </a:r>
                      <a:pPr indent="0" marL="0">
                        <a:buNone/>
                      </a:pPr>
                      <a:r>
                        <a:rPr lang="en-US" sz="1100" dirty="0">
                          <a:solidFill>
                            <a:srgbClr val="1F2937"/>
                          </a:solidFill>
                        </a:rPr>
                        <a:t>결과·오류 </a:t>
                      </a:r>
                      <a:pPr indent="0" marL="0">
                        <a:buNone/>
                      </a:pPr>
                      <a:r>
                        <a:rPr lang="en-US" sz="1100" dirty="0">
                          <a:solidFill>
                            <a:srgbClr val="1F2937"/>
                          </a:solidFill>
                        </a:rPr>
                        <a:t>상태 </a:t>
                      </a:r>
                      <a:pPr indent="0" marL="0">
                        <a:buNone/>
                      </a:pPr>
                      <a:r>
                        <a:rPr lang="en-US" sz="1100" dirty="0">
                          <a:solidFill>
                            <a:srgbClr val="1F2937"/>
                          </a:solidFill>
                        </a:rPr>
                        <a:t>구분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약 </a:t>
                      </a:r>
                      <a:pPr indent="0" marL="0">
                        <a:buNone/>
                      </a:pPr>
                      <a:r>
                        <a:rPr lang="en-US" sz="1100" dirty="0">
                          <a:solidFill>
                            <a:srgbClr val="1F2937"/>
                          </a:solidFill>
                        </a:rPr>
                        <a:t>350밀리초 </a:t>
                      </a:r>
                      <a:pPr indent="0" marL="0">
                        <a:buNone/>
                      </a:pPr>
                      <a:r>
                        <a:rPr lang="en-US" sz="1100" dirty="0">
                          <a:solidFill>
                            <a:srgbClr val="1F2937"/>
                          </a:solidFill>
                        </a:rPr>
                        <a:t>대기 </a:t>
                      </a:r>
                      <a:pPr indent="0" marL="0">
                        <a:buNone/>
                      </a:pPr>
                      <a:r>
                        <a:rPr lang="en-US" sz="1100" dirty="0">
                          <a:solidFill>
                            <a:srgbClr val="1F2937"/>
                          </a:solidFill>
                        </a:rPr>
                        <a:t>후 </a:t>
                      </a:r>
                      <a:pPr indent="0" marL="0">
                        <a:buNone/>
                      </a:pPr>
                      <a:r>
                        <a:rPr lang="en-US" sz="1100" dirty="0">
                          <a:solidFill>
                            <a:srgbClr val="1F2937"/>
                          </a:solidFill>
                        </a:rPr>
                        <a:t>요청을 </a:t>
                      </a:r>
                      <a:pPr indent="0" marL="0">
                        <a:buNone/>
                      </a:pPr>
                      <a:r>
                        <a:rPr lang="en-US" sz="1100" dirty="0">
                          <a:solidFill>
                            <a:srgbClr val="1F2937"/>
                          </a:solidFill>
                        </a:rPr>
                        <a:t>보내는 </a:t>
                      </a:r>
                      <a:pPr indent="0" marL="0">
                        <a:buNone/>
                      </a:pPr>
                      <a:r>
                        <a:rPr lang="en-US" sz="1100" dirty="0">
                          <a:solidFill>
                            <a:srgbClr val="1F2937"/>
                          </a:solidFill>
                        </a:rPr>
                        <a:t>안. </a:t>
                      </a:r>
                      <a:pPr indent="0" marL="0">
                        <a:buNone/>
                      </a:pPr>
                      <a:r>
                        <a:rPr lang="en-US" sz="1100" dirty="0">
                          <a:solidFill>
                            <a:srgbClr val="1F2937"/>
                          </a:solidFill>
                        </a:rPr>
                        <a:t>응답 </a:t>
                      </a:r>
                      <a:pPr indent="0" marL="0">
                        <a:buNone/>
                      </a:pPr>
                      <a:r>
                        <a:rPr lang="en-US" sz="1100" dirty="0">
                          <a:solidFill>
                            <a:srgbClr val="1F2937"/>
                          </a:solidFill>
                        </a:rPr>
                        <a:t>시간은 </a:t>
                      </a:r>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5</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검색 </a:t>
                      </a:r>
                      <a:pPr indent="0" marL="0">
                        <a:buNone/>
                      </a:pPr>
                      <a:r>
                        <a:rPr lang="en-US" sz="1100" dirty="0">
                          <a:solidFill>
                            <a:srgbClr val="1F2937"/>
                          </a:solidFill>
                        </a:rPr>
                        <a:t>결과 </a:t>
                      </a:r>
                      <a:pPr indent="0" marL="0">
                        <a:buNone/>
                      </a:pPr>
                      <a:r>
                        <a:rPr lang="en-US" sz="1100" dirty="0">
                          <a:solidFill>
                            <a:srgbClr val="1F2937"/>
                          </a:solidFill>
                        </a:rPr>
                        <a:t>확인 </a:t>
                      </a:r>
                      <a:pPr indent="0" marL="0">
                        <a:buNone/>
                      </a:pPr>
                      <a:r>
                        <a:rPr lang="en-US" sz="1100" dirty="0">
                          <a:solidFill>
                            <a:srgbClr val="1F2937"/>
                          </a:solidFill>
                        </a:rPr>
                        <a:t>또는 </a:t>
                      </a:r>
                      <a:pPr indent="0" marL="0">
                        <a:buNone/>
                      </a:pPr>
                      <a:r>
                        <a:rPr lang="en-US" sz="1100" dirty="0">
                          <a:solidFill>
                            <a:srgbClr val="1F2937"/>
                          </a:solidFill>
                        </a:rPr>
                        <a:t>직접 </a:t>
                      </a:r>
                      <a:pPr indent="0" marL="0">
                        <a:buNone/>
                      </a:pPr>
                      <a:r>
                        <a:rPr lang="en-US" sz="1100" dirty="0">
                          <a:solidFill>
                            <a:srgbClr val="1F2937"/>
                          </a:solidFill>
                        </a:rPr>
                        <a:t>입력 </a:t>
                      </a:r>
                      <a:pPr indent="0" marL="0">
                        <a:buNone/>
                      </a:pPr>
                      <a:r>
                        <a:rPr lang="en-US" sz="1100" dirty="0">
                          <a:solidFill>
                            <a:srgbClr val="1F2937"/>
                          </a:solidFill>
                        </a:rPr>
                        <a:t>전환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사용자·앱</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검색 </a:t>
                      </a:r>
                      <a:pPr indent="0" marL="0">
                        <a:buNone/>
                      </a:pPr>
                      <a:r>
                        <a:rPr lang="en-US" sz="1100" dirty="0">
                          <a:solidFill>
                            <a:srgbClr val="1F2937"/>
                          </a:solidFill>
                        </a:rPr>
                        <a:t>결과, </a:t>
                      </a:r>
                      <a:pPr indent="0" marL="0">
                        <a:buNone/>
                      </a:pPr>
                      <a:r>
                        <a:rPr lang="en-US" sz="1100" dirty="0">
                          <a:solidFill>
                            <a:srgbClr val="1F2937"/>
                          </a:solidFill>
                        </a:rPr>
                        <a:t>검색 </a:t>
                      </a:r>
                      <a:pPr indent="0" marL="0">
                        <a:buNone/>
                      </a:pPr>
                      <a:r>
                        <a:rPr lang="en-US" sz="1100" dirty="0">
                          <a:solidFill>
                            <a:srgbClr val="1F2937"/>
                          </a:solidFill>
                        </a:rPr>
                        <a:t>실패·빈 </a:t>
                      </a:r>
                      <a:pPr indent="0" marL="0">
                        <a:buNone/>
                      </a:pPr>
                      <a:r>
                        <a:rPr lang="en-US" sz="1100" dirty="0">
                          <a:solidFill>
                            <a:srgbClr val="1F2937"/>
                          </a:solidFill>
                        </a:rPr>
                        <a:t>결과 </a:t>
                      </a:r>
                      <a:pPr indent="0" marL="0">
                        <a:buNone/>
                      </a:pPr>
                      <a:r>
                        <a:rPr lang="en-US" sz="1100" dirty="0">
                          <a:solidFill>
                            <a:srgbClr val="1F2937"/>
                          </a:solidFill>
                        </a:rPr>
                        <a:t>상태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선택한 </a:t>
                      </a:r>
                      <a:pPr indent="0" marL="0">
                        <a:buNone/>
                      </a:pPr>
                      <a:r>
                        <a:rPr lang="en-US" sz="1100" dirty="0">
                          <a:solidFill>
                            <a:srgbClr val="1F2937"/>
                          </a:solidFill>
                        </a:rPr>
                        <a:t>음식 </a:t>
                      </a:r>
                      <a:pPr indent="0" marL="0">
                        <a:buNone/>
                      </a:pPr>
                      <a:r>
                        <a:rPr lang="en-US" sz="1100" dirty="0">
                          <a:solidFill>
                            <a:srgbClr val="1F2937"/>
                          </a:solidFill>
                        </a:rPr>
                        <a:t>또는 </a:t>
                      </a:r>
                      <a:pPr indent="0" marL="0">
                        <a:buNone/>
                      </a:pPr>
                      <a:r>
                        <a:rPr lang="en-US" sz="1100" dirty="0">
                          <a:solidFill>
                            <a:srgbClr val="1F2937"/>
                          </a:solidFill>
                        </a:rPr>
                        <a:t>직접 </a:t>
                      </a:r>
                      <a:pPr indent="0" marL="0">
                        <a:buNone/>
                      </a:pPr>
                      <a:r>
                        <a:rPr lang="en-US" sz="1100" dirty="0">
                          <a:solidFill>
                            <a:srgbClr val="1F2937"/>
                          </a:solidFill>
                        </a:rPr>
                        <a:t>입력 </a:t>
                      </a:r>
                      <a:pPr indent="0" marL="0">
                        <a:buNone/>
                      </a:pPr>
                      <a:r>
                        <a:rPr lang="en-US" sz="1100" dirty="0">
                          <a:solidFill>
                            <a:srgbClr val="1F2937"/>
                          </a:solidFill>
                        </a:rPr>
                        <a:t>화면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사용자가 </a:t>
                      </a:r>
                      <a:pPr indent="0" marL="0">
                        <a:buNone/>
                      </a:pPr>
                      <a:r>
                        <a:rPr lang="en-US" sz="1100" dirty="0">
                          <a:solidFill>
                            <a:srgbClr val="1F2937"/>
                          </a:solidFill>
                        </a:rPr>
                        <a:t>직접 </a:t>
                      </a:r>
                      <a:pPr indent="0" marL="0">
                        <a:buNone/>
                      </a:pPr>
                      <a:r>
                        <a:rPr lang="en-US" sz="1100" dirty="0">
                          <a:solidFill>
                            <a:srgbClr val="1F2937"/>
                          </a:solidFill>
                        </a:rPr>
                        <a:t>결과를 </a:t>
                      </a:r>
                      <a:pPr indent="0" marL="0">
                        <a:buNone/>
                      </a:pPr>
                      <a:r>
                        <a:rPr lang="en-US" sz="1100" dirty="0">
                          <a:solidFill>
                            <a:srgbClr val="1F2937"/>
                          </a:solidFill>
                        </a:rPr>
                        <a:t>선택하거나 </a:t>
                      </a:r>
                      <a:pPr indent="0" marL="0">
                        <a:buNone/>
                      </a:pPr>
                      <a:r>
                        <a:rPr lang="en-US" sz="1100" dirty="0">
                          <a:solidFill>
                            <a:srgbClr val="1F2937"/>
                          </a:solidFill>
                        </a:rPr>
                        <a:t>직접 </a:t>
                      </a:r>
                      <a:pPr indent="0" marL="0">
                        <a:buNone/>
                      </a:pPr>
                      <a:r>
                        <a:rPr lang="en-US" sz="1100" dirty="0">
                          <a:solidFill>
                            <a:srgbClr val="1F2937"/>
                          </a:solidFill>
                        </a:rPr>
                        <a:t>입력으로 </a:t>
                      </a:r>
                      <a:pPr indent="0" marL="0">
                        <a:buNone/>
                      </a:pPr>
                      <a:r>
                        <a:rPr lang="en-US" sz="1100" dirty="0">
                          <a:solidFill>
                            <a:srgbClr val="1F2937"/>
                          </a:solidFill>
                        </a:rPr>
                        <a:t>이동</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6</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음식·양·식사 </a:t>
                      </a:r>
                      <a:pPr indent="0" marL="0">
                        <a:buNone/>
                      </a:pPr>
                      <a:r>
                        <a:rPr lang="en-US" sz="1100" dirty="0">
                          <a:solidFill>
                            <a:srgbClr val="1F2937"/>
                          </a:solidFill>
                        </a:rPr>
                        <a:t>구분 </a:t>
                      </a:r>
                      <a:pPr indent="0" marL="0">
                        <a:buNone/>
                      </a:pPr>
                      <a:r>
                        <a:rPr lang="en-US" sz="1100" dirty="0">
                          <a:solidFill>
                            <a:srgbClr val="1F2937"/>
                          </a:solidFill>
                        </a:rPr>
                        <a:t>입력</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사용자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음식, </a:t>
                      </a:r>
                      <a:pPr indent="0" marL="0">
                        <a:buNone/>
                      </a:pPr>
                      <a:r>
                        <a:rPr lang="en-US" sz="1100" dirty="0">
                          <a:solidFill>
                            <a:srgbClr val="1F2937"/>
                          </a:solidFill>
                        </a:rPr>
                        <a:t>제공량, </a:t>
                      </a:r>
                      <a:pPr indent="0" marL="0">
                        <a:buNone/>
                      </a:pPr>
                      <a:r>
                        <a:rPr lang="en-US" sz="1100" dirty="0">
                          <a:solidFill>
                            <a:srgbClr val="1F2937"/>
                          </a:solidFill>
                        </a:rPr>
                        <a:t>배수, </a:t>
                      </a:r>
                      <a:pPr indent="0" marL="0">
                        <a:buNone/>
                      </a:pPr>
                      <a:r>
                        <a:rPr lang="en-US" sz="1100" dirty="0">
                          <a:solidFill>
                            <a:srgbClr val="1F2937"/>
                          </a:solidFill>
                        </a:rPr>
                        <a:t>식사 </a:t>
                      </a:r>
                      <a:pPr indent="0" marL="0">
                        <a:buNone/>
                      </a:pPr>
                      <a:r>
                        <a:rPr lang="en-US" sz="1100" dirty="0">
                          <a:solidFill>
                            <a:srgbClr val="1F2937"/>
                          </a:solidFill>
                        </a:rPr>
                        <a:t>구분, </a:t>
                      </a:r>
                      <a:pPr indent="0" marL="0">
                        <a:buNone/>
                      </a:pPr>
                      <a:r>
                        <a:rPr lang="en-US" sz="1100" dirty="0">
                          <a:solidFill>
                            <a:srgbClr val="1F2937"/>
                          </a:solidFill>
                        </a:rPr>
                        <a:t>섭취 </a:t>
                      </a:r>
                      <a:pPr indent="0" marL="0">
                        <a:buNone/>
                      </a:pPr>
                      <a:r>
                        <a:rPr lang="en-US" sz="1100" dirty="0">
                          <a:solidFill>
                            <a:srgbClr val="1F2937"/>
                          </a:solidFill>
                        </a:rPr>
                        <a:t>날짜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저장할 </a:t>
                      </a:r>
                      <a:pPr indent="0" marL="0">
                        <a:buNone/>
                      </a:pPr>
                      <a:r>
                        <a:rPr lang="en-US" sz="1100" dirty="0">
                          <a:solidFill>
                            <a:srgbClr val="1F2937"/>
                          </a:solidFill>
                        </a:rPr>
                        <a:t>식사 </a:t>
                      </a:r>
                      <a:pPr indent="0" marL="0">
                        <a:buNone/>
                      </a:pPr>
                      <a:r>
                        <a:rPr lang="en-US" sz="1100" dirty="0">
                          <a:solidFill>
                            <a:srgbClr val="1F2937"/>
                          </a:solidFill>
                        </a:rPr>
                        <a:t>음식 </a:t>
                      </a:r>
                      <a:pPr indent="0" marL="0">
                        <a:buNone/>
                      </a:pPr>
                      <a:r>
                        <a:rPr lang="en-US" sz="1100" dirty="0">
                          <a:solidFill>
                            <a:srgbClr val="1F2937"/>
                          </a:solidFill>
                        </a:rPr>
                        <a:t>항목</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양과 </a:t>
                      </a:r>
                      <a:pPr indent="0" marL="0">
                        <a:buNone/>
                      </a:pPr>
                      <a:r>
                        <a:rPr lang="en-US" sz="1100" dirty="0">
                          <a:solidFill>
                            <a:srgbClr val="1F2937"/>
                          </a:solidFill>
                        </a:rPr>
                        <a:t>식사 </a:t>
                      </a:r>
                      <a:pPr indent="0" marL="0">
                        <a:buNone/>
                      </a:pPr>
                      <a:r>
                        <a:rPr lang="en-US" sz="1100" dirty="0">
                          <a:solidFill>
                            <a:srgbClr val="1F2937"/>
                          </a:solidFill>
                        </a:rPr>
                        <a:t>구분 </a:t>
                      </a:r>
                      <a:pPr indent="0" marL="0">
                        <a:buNone/>
                      </a:pPr>
                      <a:r>
                        <a:rPr lang="en-US" sz="1100" dirty="0">
                          <a:solidFill>
                            <a:srgbClr val="1F2937"/>
                          </a:solidFill>
                        </a:rPr>
                        <a:t>확인. </a:t>
                      </a:r>
                      <a:pPr indent="0" marL="0">
                        <a:buNone/>
                      </a:pPr>
                      <a:r>
                        <a:rPr lang="en-US" sz="1100" dirty="0">
                          <a:solidFill>
                            <a:srgbClr val="1F2937"/>
                          </a:solidFill>
                        </a:rPr>
                        <a:t>메모·그램 </a:t>
                      </a:r>
                      <a:pPr indent="0" marL="0">
                        <a:buNone/>
                      </a:pPr>
                      <a:r>
                        <a:rPr lang="en-US" sz="1100" dirty="0">
                          <a:solidFill>
                            <a:srgbClr val="1F2937"/>
                          </a:solidFill>
                        </a:rPr>
                        <a:t>환산·자유 </a:t>
                      </a:r>
                      <a:pPr indent="0" marL="0">
                        <a:buNone/>
                      </a:pPr>
                      <a:r>
                        <a:rPr lang="en-US" sz="1100" dirty="0">
                          <a:solidFill>
                            <a:srgbClr val="1F2937"/>
                          </a:solidFill>
                        </a:rPr>
                        <a:t>단위 </a:t>
                      </a:r>
                      <a:pPr indent="0" marL="0">
                        <a:buNone/>
                      </a:pPr>
                      <a:r>
                        <a:rPr lang="en-US" sz="1100" dirty="0">
                          <a:solidFill>
                            <a:srgbClr val="1F2937"/>
                          </a:solidFill>
                        </a:rPr>
                        <a:t>입력은 </a:t>
                      </a:r>
                      <a:pPr indent="0" marL="0">
                        <a:buNone/>
                      </a:pPr>
                      <a:r>
                        <a:rPr lang="en-US" sz="1100" dirty="0">
                          <a:solidFill>
                            <a:srgbClr val="1F2937"/>
                          </a:solidFill>
                        </a:rPr>
                        <a:t>MVP </a:t>
                      </a:r>
                      <a:pPr indent="0" marL="0">
                        <a:buNone/>
                      </a:pPr>
                      <a:r>
                        <a:rPr lang="en-US" sz="1100" dirty="0">
                          <a:solidFill>
                            <a:srgbClr val="1F2937"/>
                          </a:solidFill>
                        </a:rPr>
                        <a:t>제외 </a:t>
                      </a:r>
                      <a:pPr indent="0" marL="0">
                        <a:buNone/>
                      </a:pPr>
                      <a:r>
                        <a:rPr lang="en-US" sz="1100" dirty="0">
                          <a:solidFill>
                            <a:srgbClr val="1F2937"/>
                          </a:solidFill>
                        </a:rPr>
                        <a:t>방향</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7</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영양 </a:t>
                      </a:r>
                      <a:pPr indent="0" marL="0">
                        <a:buNone/>
                      </a:pPr>
                      <a:r>
                        <a:rPr lang="en-US" sz="1100" dirty="0">
                          <a:solidFill>
                            <a:srgbClr val="1F2937"/>
                          </a:solidFill>
                        </a:rPr>
                        <a:t>정보 </a:t>
                      </a:r>
                      <a:pPr indent="0" marL="0">
                        <a:buNone/>
                      </a:pPr>
                      <a:r>
                        <a:rPr lang="en-US" sz="1100" dirty="0">
                          <a:solidFill>
                            <a:srgbClr val="1F2937"/>
                          </a:solidFill>
                        </a:rPr>
                        <a:t>확인 </a:t>
                      </a:r>
                      <a:pPr indent="0" marL="0">
                        <a:buNone/>
                      </a:pPr>
                      <a:r>
                        <a:rPr lang="en-US" sz="1100" dirty="0">
                          <a:solidFill>
                            <a:srgbClr val="1F2937"/>
                          </a:solidFill>
                        </a:rPr>
                        <a:t>또는 </a:t>
                      </a:r>
                      <a:pPr indent="0" marL="0">
                        <a:buNone/>
                      </a:pPr>
                      <a:r>
                        <a:rPr lang="en-US" sz="1100" dirty="0">
                          <a:solidFill>
                            <a:srgbClr val="1F2937"/>
                          </a:solidFill>
                        </a:rPr>
                        <a:t>생략</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사용자·앱</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음식 </a:t>
                      </a:r>
                      <a:pPr indent="0" marL="0">
                        <a:buNone/>
                      </a:pPr>
                      <a:r>
                        <a:rPr lang="en-US" sz="1100" dirty="0">
                          <a:solidFill>
                            <a:srgbClr val="1F2937"/>
                          </a:solidFill>
                        </a:rPr>
                        <a:t>데이터의 </a:t>
                      </a:r>
                      <a:pPr indent="0" marL="0">
                        <a:buNone/>
                      </a:pPr>
                      <a:r>
                        <a:rPr lang="en-US" sz="1100" dirty="0">
                          <a:solidFill>
                            <a:srgbClr val="1F2937"/>
                          </a:solidFill>
                        </a:rPr>
                        <a:t>영양값 </a:t>
                      </a:r>
                      <a:pPr indent="0" marL="0">
                        <a:buNone/>
                      </a:pPr>
                      <a:r>
                        <a:rPr lang="en-US" sz="1100" dirty="0">
                          <a:solidFill>
                            <a:srgbClr val="1F2937"/>
                          </a:solidFill>
                        </a:rPr>
                        <a:t>또는 </a:t>
                      </a:r>
                      <a:pPr indent="0" marL="0">
                        <a:buNone/>
                      </a:pPr>
                      <a:r>
                        <a:rPr lang="en-US" sz="1100" dirty="0">
                          <a:solidFill>
                            <a:srgbClr val="1F2937"/>
                          </a:solidFill>
                        </a:rPr>
                        <a:t>직접 </a:t>
                      </a:r>
                      <a:pPr indent="0" marL="0">
                        <a:buNone/>
                      </a:pPr>
                      <a:r>
                        <a:rPr lang="en-US" sz="1100" dirty="0">
                          <a:solidFill>
                            <a:srgbClr val="1F2937"/>
                          </a:solidFill>
                        </a:rPr>
                        <a:t>입력한 </a:t>
                      </a:r>
                      <a:pPr indent="0" marL="0">
                        <a:buNone/>
                      </a:pPr>
                      <a:r>
                        <a:rPr lang="en-US" sz="1100" dirty="0">
                          <a:solidFill>
                            <a:srgbClr val="1F2937"/>
                          </a:solidFill>
                        </a:rPr>
                        <a:t>값</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영양값, </a:t>
                      </a:r>
                      <a:pPr indent="0" marL="0">
                        <a:buNone/>
                      </a:pPr>
                      <a:r>
                        <a:rPr lang="en-US" sz="1100" dirty="0">
                          <a:solidFill>
                            <a:srgbClr val="1F2937"/>
                          </a:solidFill>
                        </a:rPr>
                        <a:t>출처, </a:t>
                      </a:r>
                      <a:pPr indent="0" marL="0">
                        <a:buNone/>
                      </a:pPr>
                      <a:r>
                        <a:rPr lang="en-US" sz="1100" dirty="0">
                          <a:solidFill>
                            <a:srgbClr val="1F2937"/>
                          </a:solidFill>
                        </a:rPr>
                        <a:t>결측 </a:t>
                      </a:r>
                      <a:pPr indent="0" marL="0">
                        <a:buNone/>
                      </a:pPr>
                      <a:r>
                        <a:rPr lang="en-US" sz="1100" dirty="0">
                          <a:solidFill>
                            <a:srgbClr val="1F2937"/>
                          </a:solidFill>
                        </a:rPr>
                        <a:t>상태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값이 </a:t>
                      </a:r>
                      <a:pPr indent="0" marL="0">
                        <a:buNone/>
                      </a:pPr>
                      <a:r>
                        <a:rPr lang="en-US" sz="1100" dirty="0">
                          <a:solidFill>
                            <a:srgbClr val="1F2937"/>
                          </a:solidFill>
                        </a:rPr>
                        <a:t>없을 </a:t>
                      </a:r>
                      <a:pPr indent="0" marL="0">
                        <a:buNone/>
                      </a:pPr>
                      <a:r>
                        <a:rPr lang="en-US" sz="1100" dirty="0">
                          <a:solidFill>
                            <a:srgbClr val="1F2937"/>
                          </a:solidFill>
                        </a:rPr>
                        <a:t>때 </a:t>
                      </a:r>
                      <a:pPr indent="0" marL="0">
                        <a:buNone/>
                      </a:pPr>
                      <a:r>
                        <a:rPr lang="en-US" sz="1100" dirty="0">
                          <a:solidFill>
                            <a:srgbClr val="1F2937"/>
                          </a:solidFill>
                        </a:rPr>
                        <a:t>0으로 </a:t>
                      </a:r>
                      <a:pPr indent="0" marL="0">
                        <a:buNone/>
                      </a:pPr>
                      <a:r>
                        <a:rPr lang="en-US" sz="1100" dirty="0">
                          <a:solidFill>
                            <a:srgbClr val="1F2937"/>
                          </a:solidFill>
                        </a:rPr>
                        <a:t>저장하지 </a:t>
                      </a:r>
                      <a:pPr indent="0" marL="0">
                        <a:buNone/>
                      </a:pPr>
                      <a:r>
                        <a:rPr lang="en-US" sz="1100" dirty="0">
                          <a:solidFill>
                            <a:srgbClr val="1F2937"/>
                          </a:solidFill>
                        </a:rPr>
                        <a:t>않고 </a:t>
                      </a:r>
                      <a:pPr indent="0" marL="0">
                        <a:buNone/>
                      </a:pPr>
                      <a:r>
                        <a:rPr lang="en-US" sz="1100" dirty="0">
                          <a:solidFill>
                            <a:srgbClr val="1F2937"/>
                          </a:solidFill>
                        </a:rPr>
                        <a:t>비어 </a:t>
                      </a:r>
                      <a:pPr indent="0" marL="0">
                        <a:buNone/>
                      </a:pPr>
                      <a:r>
                        <a:rPr lang="en-US" sz="1100" dirty="0">
                          <a:solidFill>
                            <a:srgbClr val="1F2937"/>
                          </a:solidFill>
                        </a:rPr>
                        <a:t>있는 </a:t>
                      </a:r>
                      <a:pPr indent="0" marL="0">
                        <a:buNone/>
                      </a:pPr>
                      <a:r>
                        <a:rPr lang="en-US" sz="1100" dirty="0">
                          <a:solidFill>
                            <a:srgbClr val="1F2937"/>
                          </a:solidFill>
                        </a:rPr>
                        <a:t>상태로 </a:t>
                      </a:r>
                      <a:pPr indent="0" marL="0">
                        <a:buNone/>
                      </a:pPr>
                      <a:r>
                        <a:rPr lang="en-US" sz="1100" dirty="0">
                          <a:solidFill>
                            <a:srgbClr val="1F2937"/>
                          </a:solidFill>
                        </a:rPr>
                        <a:t>유지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8</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식사 </a:t>
                      </a:r>
                      <a:pPr indent="0" marL="0">
                        <a:buNone/>
                      </a:pPr>
                      <a:r>
                        <a:rPr lang="en-US" sz="1100" dirty="0">
                          <a:solidFill>
                            <a:srgbClr val="1F2937"/>
                          </a:solidFill>
                        </a:rPr>
                        <a:t>기록 </a:t>
                      </a:r>
                      <a:pPr indent="0" marL="0">
                        <a:buNone/>
                      </a:pPr>
                      <a:r>
                        <a:rPr lang="en-US" sz="1100" dirty="0">
                          <a:solidFill>
                            <a:srgbClr val="1F2937"/>
                          </a:solidFill>
                        </a:rPr>
                        <a:t>저장 </a:t>
                      </a:r>
                      <a:pPr indent="0" marL="0">
                        <a:buNone/>
                      </a:pPr>
                      <a:r>
                        <a:rPr lang="en-US" sz="1100" dirty="0">
                          <a:solidFill>
                            <a:srgbClr val="1F2937"/>
                          </a:solidFill>
                        </a:rPr>
                        <a:t>요청</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앱</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사용자·날짜·식사 </a:t>
                      </a:r>
                      <a:pPr indent="0" marL="0">
                        <a:buNone/>
                      </a:pPr>
                      <a:r>
                        <a:rPr lang="en-US" sz="1100" dirty="0">
                          <a:solidFill>
                            <a:srgbClr val="1F2937"/>
                          </a:solidFill>
                        </a:rPr>
                        <a:t>구분·음식 </a:t>
                      </a:r>
                      <a:pPr indent="0" marL="0">
                        <a:buNone/>
                      </a:pPr>
                      <a:r>
                        <a:rPr lang="en-US" sz="1100" dirty="0">
                          <a:solidFill>
                            <a:srgbClr val="1F2937"/>
                          </a:solidFill>
                        </a:rPr>
                        <a:t>항목·영양값 </a:t>
                      </a:r>
                      <a:pPr indent="0" marL="0">
                        <a:buNone/>
                      </a:pPr>
                      <a:r>
                        <a:rPr lang="en-US" sz="1100" dirty="0">
                          <a:solidFill>
                            <a:srgbClr val="1F2937"/>
                          </a:solidFill>
                        </a:rPr>
                        <a:t>스냅샷·요청 </a:t>
                      </a:r>
                      <a:pPr indent="0" marL="0">
                        <a:buNone/>
                      </a:pPr>
                      <a:r>
                        <a:rPr lang="en-US" sz="1100" dirty="0">
                          <a:solidFill>
                            <a:srgbClr val="1F2937"/>
                          </a:solidFill>
                        </a:rPr>
                        <a:t>ID</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서버 </a:t>
                      </a:r>
                      <a:pPr indent="0" marL="0">
                        <a:buNone/>
                      </a:pPr>
                      <a:r>
                        <a:rPr lang="en-US" sz="1100" dirty="0">
                          <a:solidFill>
                            <a:srgbClr val="1F2937"/>
                          </a:solidFill>
                        </a:rPr>
                        <a:t>저장 </a:t>
                      </a:r>
                      <a:pPr indent="0" marL="0">
                        <a:buNone/>
                      </a:pPr>
                      <a:r>
                        <a:rPr lang="en-US" sz="1100" dirty="0">
                          <a:solidFill>
                            <a:srgbClr val="1F2937"/>
                          </a:solidFill>
                        </a:rPr>
                        <a:t>요청</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중복 </a:t>
                      </a:r>
                      <a:pPr indent="0" marL="0">
                        <a:buNone/>
                      </a:pPr>
                      <a:r>
                        <a:rPr lang="en-US" sz="1100" dirty="0">
                          <a:solidFill>
                            <a:srgbClr val="1F2937"/>
                          </a:solidFill>
                        </a:rPr>
                        <a:t>저장 </a:t>
                      </a:r>
                      <a:pPr indent="0" marL="0">
                        <a:buNone/>
                      </a:pPr>
                      <a:r>
                        <a:rPr lang="en-US" sz="1100" dirty="0">
                          <a:solidFill>
                            <a:srgbClr val="1F2937"/>
                          </a:solidFill>
                        </a:rPr>
                        <a:t>방지용 </a:t>
                      </a:r>
                      <a:pPr indent="0" marL="0">
                        <a:buNone/>
                      </a:pPr>
                      <a:r>
                        <a:rPr lang="en-US" sz="1100" dirty="0">
                          <a:solidFill>
                            <a:srgbClr val="1F2937"/>
                          </a:solidFill>
                        </a:rPr>
                        <a:t>요청 </a:t>
                      </a:r>
                      <a:pPr indent="0" marL="0">
                        <a:buNone/>
                      </a:pPr>
                      <a:r>
                        <a:rPr lang="en-US" sz="1100" dirty="0">
                          <a:solidFill>
                            <a:srgbClr val="1F2937"/>
                          </a:solidFill>
                        </a:rPr>
                        <a:t>ID </a:t>
                      </a:r>
                      <a:pPr indent="0" marL="0">
                        <a:buNone/>
                      </a:pPr>
                      <a:r>
                        <a:rPr lang="en-US" sz="1100" dirty="0">
                          <a:solidFill>
                            <a:srgbClr val="1F2937"/>
                          </a:solidFill>
                        </a:rPr>
                        <a:t>포함 </a:t>
                      </a:r>
                      <a:pPr indent="0" marL="0">
                        <a:buNone/>
                      </a:pPr>
                      <a:r>
                        <a:rPr lang="en-US" sz="1100" dirty="0">
                          <a:solidFill>
                            <a:srgbClr val="1F2937"/>
                          </a:solidFill>
                        </a:rPr>
                        <a:t>방안 </a:t>
                      </a:r>
                      <a:pPr indent="0" marL="0">
                        <a:buNone/>
                      </a:pPr>
                      <a:r>
                        <a:rPr lang="en-US" sz="1100" dirty="0">
                          <a:solidFill>
                            <a:srgbClr val="1F2937"/>
                          </a:solidFill>
                        </a:rPr>
                        <a:t>반영</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9</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저장 </a:t>
                      </a:r>
                      <a:pPr indent="0" marL="0">
                        <a:buNone/>
                      </a:pPr>
                      <a:r>
                        <a:rPr lang="en-US" sz="1100" dirty="0">
                          <a:solidFill>
                            <a:srgbClr val="1F2937"/>
                          </a:solidFill>
                        </a:rPr>
                        <a:t>결과 </a:t>
                      </a:r>
                      <a:pPr indent="0" marL="0">
                        <a:buNone/>
                      </a:pPr>
                      <a:r>
                        <a:rPr lang="en-US" sz="1100" dirty="0">
                          <a:solidFill>
                            <a:srgbClr val="1F2937"/>
                          </a:solidFill>
                        </a:rPr>
                        <a:t>확인 </a:t>
                      </a:r>
                      <a:pPr indent="0" marL="0">
                        <a:buNone/>
                      </a:pPr>
                      <a:r>
                        <a:rPr lang="en-US" sz="1100" dirty="0">
                          <a:solidFill>
                            <a:srgbClr val="1F2937"/>
                          </a:solidFill>
                        </a:rPr>
                        <a:t>및 </a:t>
                      </a:r>
                      <a:pPr indent="0" marL="0">
                        <a:buNone/>
                      </a:pPr>
                      <a:r>
                        <a:rPr lang="en-US" sz="1100" dirty="0">
                          <a:solidFill>
                            <a:srgbClr val="1F2937"/>
                          </a:solidFill>
                        </a:rPr>
                        <a:t>화면 </a:t>
                      </a:r>
                      <a:pPr indent="0" marL="0">
                        <a:buNone/>
                      </a:pPr>
                      <a:r>
                        <a:rPr lang="en-US" sz="1100" dirty="0">
                          <a:solidFill>
                            <a:srgbClr val="1F2937"/>
                          </a:solidFill>
                        </a:rPr>
                        <a:t>반영</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앱 </a:t>
                      </a:r>
                      <a:pPr indent="0" marL="0">
                        <a:buNone/>
                      </a:pPr>
                      <a:r>
                        <a:rPr lang="en-US" sz="1100" dirty="0">
                          <a:solidFill>
                            <a:srgbClr val="1F2937"/>
                          </a:solidFill>
                        </a:rPr>
                        <a:t>서버·앱</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저장 </a:t>
                      </a:r>
                      <a:pPr indent="0" marL="0">
                        <a:buNone/>
                      </a:pPr>
                      <a:r>
                        <a:rPr lang="en-US" sz="1100" dirty="0">
                          <a:solidFill>
                            <a:srgbClr val="1F2937"/>
                          </a:solidFill>
                        </a:rPr>
                        <a:t>요청과 </a:t>
                      </a:r>
                      <a:pPr indent="0" marL="0">
                        <a:buNone/>
                      </a:pPr>
                      <a:r>
                        <a:rPr lang="en-US" sz="1100" dirty="0">
                          <a:solidFill>
                            <a:srgbClr val="1F2937"/>
                          </a:solidFill>
                        </a:rPr>
                        <a:t>처리 </a:t>
                      </a:r>
                      <a:pPr indent="0" marL="0">
                        <a:buNone/>
                      </a:pPr>
                      <a:r>
                        <a:rPr lang="en-US" sz="1100" dirty="0">
                          <a:solidFill>
                            <a:srgbClr val="1F2937"/>
                          </a:solidFill>
                        </a:rPr>
                        <a:t>결과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저장 </a:t>
                      </a:r>
                      <a:pPr indent="0" marL="0">
                        <a:buNone/>
                      </a:pPr>
                      <a:r>
                        <a:rPr lang="en-US" sz="1100" dirty="0">
                          <a:solidFill>
                            <a:srgbClr val="1F2937"/>
                          </a:solidFill>
                        </a:rPr>
                        <a:t>완료 </a:t>
                      </a:r>
                      <a:pPr indent="0" marL="0">
                        <a:buNone/>
                      </a:pPr>
                      <a:r>
                        <a:rPr lang="en-US" sz="1100" dirty="0">
                          <a:solidFill>
                            <a:srgbClr val="1F2937"/>
                          </a:solidFill>
                        </a:rPr>
                        <a:t>또는 </a:t>
                      </a:r>
                      <a:pPr indent="0" marL="0">
                        <a:buNone/>
                      </a:pPr>
                      <a:r>
                        <a:rPr lang="en-US" sz="1100" dirty="0">
                          <a:solidFill>
                            <a:srgbClr val="1F2937"/>
                          </a:solidFill>
                        </a:rPr>
                        <a:t>실패 </a:t>
                      </a:r>
                      <a:pPr indent="0" marL="0">
                        <a:buNone/>
                      </a:pPr>
                      <a:r>
                        <a:rPr lang="en-US" sz="1100" dirty="0">
                          <a:solidFill>
                            <a:srgbClr val="1F2937"/>
                          </a:solidFill>
                        </a:rPr>
                        <a:t>상태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성공 </a:t>
                      </a:r>
                      <a:pPr indent="0" marL="0">
                        <a:buNone/>
                      </a:pPr>
                      <a:r>
                        <a:rPr lang="en-US" sz="1100" dirty="0">
                          <a:solidFill>
                            <a:srgbClr val="1F2937"/>
                          </a:solidFill>
                        </a:rPr>
                        <a:t>시 </a:t>
                      </a:r>
                      <a:pPr indent="0" marL="0">
                        <a:buNone/>
                      </a:pPr>
                      <a:r>
                        <a:rPr lang="en-US" sz="1100" dirty="0">
                          <a:solidFill>
                            <a:srgbClr val="1F2937"/>
                          </a:solidFill>
                        </a:rPr>
                        <a:t>목록·합계 </a:t>
                      </a:r>
                      <a:pPr indent="0" marL="0">
                        <a:buNone/>
                      </a:pPr>
                      <a:r>
                        <a:rPr lang="en-US" sz="1100" dirty="0">
                          <a:solidFill>
                            <a:srgbClr val="1F2937"/>
                          </a:solidFill>
                        </a:rPr>
                        <a:t>반영. </a:t>
                      </a:r>
                      <a:pPr indent="0" marL="0">
                        <a:buNone/>
                      </a:pPr>
                      <a:r>
                        <a:rPr lang="en-US" sz="1100" dirty="0">
                          <a:solidFill>
                            <a:srgbClr val="1F2937"/>
                          </a:solidFill>
                        </a:rPr>
                        <a:t>실패 </a:t>
                      </a:r>
                      <a:pPr indent="0" marL="0">
                        <a:buNone/>
                      </a:pPr>
                      <a:r>
                        <a:rPr lang="en-US" sz="1100" dirty="0">
                          <a:solidFill>
                            <a:srgbClr val="1F2937"/>
                          </a:solidFill>
                        </a:rPr>
                        <a:t>시 </a:t>
                      </a:r>
                      <a:pPr indent="0" marL="0">
                        <a:buNone/>
                      </a:pPr>
                      <a:r>
                        <a:rPr lang="en-US" sz="1100" dirty="0">
                          <a:solidFill>
                            <a:srgbClr val="1F2937"/>
                          </a:solidFill>
                        </a:rPr>
                        <a:t>입력값 </a:t>
                      </a:r>
                      <a:pPr indent="0" marL="0">
                        <a:buNone/>
                      </a:pPr>
                      <a:r>
                        <a:rPr lang="en-US" sz="1100" dirty="0">
                          <a:solidFill>
                            <a:srgbClr val="1F2937"/>
                          </a:solidFill>
                        </a:rPr>
                        <a:t>유지 </a:t>
                      </a:r>
                      <a:pPr indent="0" marL="0">
                        <a:buNone/>
                      </a:pPr>
                      <a:r>
                        <a:rPr lang="en-US" sz="1100" dirty="0">
                          <a:solidFill>
                            <a:srgbClr val="1F2937"/>
                          </a:solidFill>
                        </a:rPr>
                        <a:t>및 </a:t>
                      </a:r>
                      <a:pPr indent="0" marL="0">
                        <a:buNone/>
                      </a:pPr>
                      <a:r>
                        <a:rPr lang="en-US" sz="1100" dirty="0">
                          <a:solidFill>
                            <a:srgbClr val="1F2937"/>
                          </a:solidFill>
                        </a:rPr>
                        <a:t>재시도 </a:t>
                      </a:r>
                      <a:pPr indent="0" marL="0">
                        <a:buNone/>
                      </a:pPr>
                      <a:r>
                        <a:rPr lang="en-US" sz="1100" dirty="0">
                          <a:solidFill>
                            <a:srgbClr val="1F2937"/>
                          </a:solidFill>
                        </a:rPr>
                        <a:t>안내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10</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추가 </a:t>
                      </a:r>
                      <a:pPr indent="0" marL="0">
                        <a:buNone/>
                      </a:pPr>
                      <a:r>
                        <a:rPr lang="en-US" sz="1100" dirty="0">
                          <a:solidFill>
                            <a:srgbClr val="1F2937"/>
                          </a:solidFill>
                        </a:rPr>
                        <a:t>음식 </a:t>
                      </a:r>
                      <a:pPr indent="0" marL="0">
                        <a:buNone/>
                      </a:pPr>
                      <a:r>
                        <a:rPr lang="en-US" sz="1100" dirty="0">
                          <a:solidFill>
                            <a:srgbClr val="1F2937"/>
                          </a:solidFill>
                        </a:rPr>
                        <a:t>기록 </a:t>
                      </a:r>
                      <a:pPr indent="0" marL="0">
                        <a:buNone/>
                      </a:pPr>
                      <a:r>
                        <a:rPr lang="en-US" sz="1100" dirty="0">
                          <a:solidFill>
                            <a:srgbClr val="1F2937"/>
                          </a:solidFill>
                        </a:rPr>
                        <a:t>또는 </a:t>
                      </a:r>
                      <a:pPr indent="0" marL="0">
                        <a:buNone/>
                      </a:pPr>
                      <a:r>
                        <a:rPr lang="en-US" sz="1100" dirty="0">
                          <a:solidFill>
                            <a:srgbClr val="1F2937"/>
                          </a:solidFill>
                        </a:rPr>
                        <a:t>종료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사용자·앱</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같은 </a:t>
                      </a:r>
                      <a:pPr indent="0" marL="0">
                        <a:buNone/>
                      </a:pPr>
                      <a:r>
                        <a:rPr lang="en-US" sz="1100" dirty="0">
                          <a:solidFill>
                            <a:srgbClr val="1F2937"/>
                          </a:solidFill>
                        </a:rPr>
                        <a:t>날짜·식사 </a:t>
                      </a:r>
                      <a:pPr indent="0" marL="0">
                        <a:buNone/>
                      </a:pPr>
                      <a:r>
                        <a:rPr lang="en-US" sz="1100" dirty="0">
                          <a:solidFill>
                            <a:srgbClr val="1F2937"/>
                          </a:solidFill>
                        </a:rPr>
                        <a:t>구분의 </a:t>
                      </a:r>
                      <a:pPr indent="0" marL="0">
                        <a:buNone/>
                      </a:pPr>
                      <a:r>
                        <a:rPr lang="en-US" sz="1100" dirty="0">
                          <a:solidFill>
                            <a:srgbClr val="1F2937"/>
                          </a:solidFill>
                        </a:rPr>
                        <a:t>추가 </a:t>
                      </a:r>
                      <a:pPr indent="0" marL="0">
                        <a:buNone/>
                      </a:pPr>
                      <a:r>
                        <a:rPr lang="en-US" sz="1100" dirty="0">
                          <a:solidFill>
                            <a:srgbClr val="1F2937"/>
                          </a:solidFill>
                        </a:rPr>
                        <a:t>음식 </a:t>
                      </a:r>
                      <a:pPr indent="0" marL="0">
                        <a:buNone/>
                      </a:pPr>
                      <a:r>
                        <a:rPr lang="en-US" sz="1100" dirty="0">
                          <a:solidFill>
                            <a:srgbClr val="1F2937"/>
                          </a:solidFill>
                        </a:rPr>
                        <a:t>여부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추가된 </a:t>
                      </a:r>
                      <a:pPr indent="0" marL="0">
                        <a:buNone/>
                      </a:pPr>
                      <a:r>
                        <a:rPr lang="en-US" sz="1100" dirty="0">
                          <a:solidFill>
                            <a:srgbClr val="1F2937"/>
                          </a:solidFill>
                        </a:rPr>
                        <a:t>항목 </a:t>
                      </a:r>
                      <a:pPr indent="0" marL="0">
                        <a:buNone/>
                      </a:pPr>
                      <a:r>
                        <a:rPr lang="en-US" sz="1100" dirty="0">
                          <a:solidFill>
                            <a:srgbClr val="1F2937"/>
                          </a:solidFill>
                        </a:rPr>
                        <a:t>또는 </a:t>
                      </a:r>
                      <a:pPr indent="0" marL="0">
                        <a:buNone/>
                      </a:pPr>
                      <a:r>
                        <a:rPr lang="en-US" sz="1100" dirty="0">
                          <a:solidFill>
                            <a:srgbClr val="1F2937"/>
                          </a:solidFill>
                        </a:rPr>
                        <a:t>홈 </a:t>
                      </a:r>
                      <a:pPr indent="0" marL="0">
                        <a:buNone/>
                      </a:pPr>
                      <a:r>
                        <a:rPr lang="en-US" sz="1100" dirty="0">
                          <a:solidFill>
                            <a:srgbClr val="1F2937"/>
                          </a:solidFill>
                        </a:rPr>
                        <a:t>복귀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한 </a:t>
                      </a:r>
                      <a:pPr indent="0" marL="0">
                        <a:buNone/>
                      </a:pPr>
                      <a:r>
                        <a:rPr lang="en-US" sz="1100" dirty="0">
                          <a:solidFill>
                            <a:srgbClr val="1F2937"/>
                          </a:solidFill>
                        </a:rPr>
                        <a:t>끼에 </a:t>
                      </a:r>
                      <a:pPr indent="0" marL="0">
                        <a:buNone/>
                      </a:pPr>
                      <a:r>
                        <a:rPr lang="en-US" sz="1100" dirty="0">
                          <a:solidFill>
                            <a:srgbClr val="1F2937"/>
                          </a:solidFill>
                        </a:rPr>
                        <a:t>여러 </a:t>
                      </a:r>
                      <a:pPr indent="0" marL="0">
                        <a:buNone/>
                      </a:pPr>
                      <a:r>
                        <a:rPr lang="en-US" sz="1100" dirty="0">
                          <a:solidFill>
                            <a:srgbClr val="1F2937"/>
                          </a:solidFill>
                        </a:rPr>
                        <a:t>항목을 </a:t>
                      </a:r>
                      <a:pPr indent="0" marL="0">
                        <a:buNone/>
                      </a:pPr>
                      <a:r>
                        <a:rPr lang="en-US" sz="1100" dirty="0">
                          <a:solidFill>
                            <a:srgbClr val="1F2937"/>
                          </a:solidFill>
                        </a:rPr>
                        <a:t>추가하거나 </a:t>
                      </a:r>
                      <a:pPr indent="0" marL="0">
                        <a:buNone/>
                      </a:pPr>
                      <a:r>
                        <a:rPr lang="en-US" sz="1100" dirty="0">
                          <a:solidFill>
                            <a:srgbClr val="1F2937"/>
                          </a:solidFill>
                        </a:rPr>
                        <a:t>홈으로 </a:t>
                      </a:r>
                      <a:pPr indent="0" marL="0">
                        <a:buNone/>
                      </a:pPr>
                      <a:r>
                        <a:rPr lang="en-US" sz="1100" dirty="0">
                          <a:solidFill>
                            <a:srgbClr val="1F2937"/>
                          </a:solidFill>
                        </a:rPr>
                        <a:t>복귀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Mermaid 다이어그램</a:t>
            </a:r>
            <a:endParaRPr lang="en-US" sz="2800" dirty="0"/>
          </a:p>
        </p:txBody>
      </p:sp>
      <p:sp>
        <p:nvSpPr>
          <p:cNvPr id="3" name="Shape 1"/>
          <p:cNvSpPr/>
          <p:nvPr/>
        </p:nvSpPr>
        <p:spPr>
          <a:xfrm>
            <a:off x="457200" y="1078992"/>
            <a:ext cx="2743200" cy="41148"/>
          </a:xfrm>
          <a:prstGeom prst="rect">
            <a:avLst/>
          </a:prstGeom>
          <a:solidFill>
            <a:srgbClr val="263F59"/>
          </a:solidFill>
          <a:ln/>
        </p:spPr>
      </p:sp>
      <p:pic>
        <p:nvPicPr>
          <p:cNvPr id="4" name="Image 0" descr="preencoded.png">    </p:cNvPr>
          <p:cNvPicPr>
            <a:picLocks noChangeAspect="1"/>
          </p:cNvPicPr>
          <p:nvPr/>
        </p:nvPicPr>
        <p:blipFill>
          <a:blip r:embed="rId1"/>
          <a:stretch>
            <a:fillRect/>
          </a:stretch>
        </p:blipFill>
        <p:spPr>
          <a:xfrm>
            <a:off x="640080" y="1463040"/>
            <a:ext cx="7863840" cy="4206240"/>
          </a:xfrm>
          <a:prstGeom prst="rect">
            <a:avLst/>
          </a:prstGeom>
        </p:spPr>
      </p:pic>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상세 설명 (1/2)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1. 검색 결과가 없는 경우와 외부 API 오류는 서로 다른 상태로 처리합니다. 두 경우 모두 직접 입력 또는 최근 기록을 이용할 수 있어야 하며, 오류를 검색 결과 없음으로 오인하게 해서는 안 됩니다.</a:t>
            </a:r>
            <a:endParaRPr lang="en-US" sz="1600" dirty="0"/>
          </a:p>
          <a:p>
            <a:pPr indent="0" marL="0">
              <a:spcAft>
                <a:spcPts val="800"/>
              </a:spcAft>
              <a:buNone/>
            </a:pPr>
            <a:r>
              <a:rPr lang="en-US" sz="1600" dirty="0">
                <a:solidFill>
                  <a:srgbClr val="4B5563"/>
                </a:solidFill>
              </a:rPr>
              <a:t>2. 외부 API에 전달되는 데이터는 검색어만으로 제한하는 방향입니다. 공급자에게 검색어가 전달되고 보관될 수 있는지, 사용자 고지·개인정보 처리방침에 어떻게 반영할지는 계약 및 법무 검토가 남아 있습니다.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상세 설명 (2/2)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3. 직접 입력은 음식명만으로도 저장할 수 있습니다. 칼로리나 탄단지 값이 없는 기록은 기록 개수에는 포함하지만 해당 영양소 합계에서는 제외합니다. 각 영양소는 값이 있는 항목만 따로 계산합니다.</a:t>
            </a:r>
            <a:endParaRPr lang="en-US" sz="1600" dirty="0"/>
          </a:p>
          <a:p>
            <a:pPr indent="0" marL="0">
              <a:spcAft>
                <a:spcPts val="800"/>
              </a:spcAft>
              <a:buNone/>
            </a:pPr>
            <a:r>
              <a:rPr lang="en-US" sz="1600" dirty="0">
                <a:solidFill>
                  <a:srgbClr val="4B5563"/>
                </a:solidFill>
              </a:rPr>
              <a:t>4. 기록 저장이 실패하면 화면을 닫거나 입력값을 버리지 않습니다. 요청 ID를 이용한 중복 방지, 임시 보존, 자동 재시도 중 어느 수준을 구현할지는 기술 난이도 산정이 필요합니다. 완전한 오프라인 동기화는 MVP에서 제외하는 방향입니다.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3.3 기록 조회·수정·삭제 플로우</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프로세스 설명 (1/2)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사용자는 홈이나 날짜별 기록 화면에서 저장된 식사 항목을 확인하고, 잘못 입력한 음식명·양·식사 구분·섭취 날짜 등을 수정하거나 개별 기록을 삭제할 수 있습니다. 기록 목록에는 식사 구분별 항목과 합계가 표시되며, 영양값이 없는 기록은 삭제된 기록처럼 취급하지 않습니다.</a:t>
            </a:r>
            <a:endParaRPr lang="en-US" sz="1600" dirty="0"/>
          </a:p>
          <a:p>
            <a:pPr indent="0" marL="0">
              <a:spcAft>
                <a:spcPts val="800"/>
              </a:spcAft>
              <a:buNone/>
            </a:pPr>
            <a:r>
              <a:rPr lang="en-US" sz="1600" dirty="0">
                <a:solidFill>
                  <a:srgbClr val="4B5563"/>
                </a:solidFill>
              </a:rPr>
              <a:t>기록을 수정할 때는 최신 음식 마스터 정보를 자동으로 다시 적용하지 않습니다. 기록 당시 음식명과 영양값 스냅샷을 유지하여 외부 DB 변경으로 과거 수치가 조용히 달라지는 일을 막습니다. 사용자가 직접 최신 음식 정보로 갱신하는 기능은 MVP에 포함하지 않습니다.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프로세스 설명 (2/2)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기록 삭제는 MVP에 포함하며, 계정 삭제와는 별도의 동작입니다. 계정을 유지한 채 모든 기록을 초기화하는 기능은 삭제 대상과 의미를 더 정해야 하므로 필수 범위에서 제외하고, 난이도와 사용자 테스트 결과에 따라 추가 후보로 둡니다. 삭제 전 확인 방식, 삭제 복구 가능 여부, 서버 삭제 완료 시점은 확정되지 않았습니다.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단계별 상세</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444843"/>
                <a:gridCol w="1112108"/>
                <a:gridCol w="815546"/>
                <a:gridCol w="1779373"/>
                <a:gridCol w="1186249"/>
                <a:gridCol w="2446638"/>
                <a:gridCol w="444843"/>
              </a:tblGrid>
              <a:tr h="0">
                <a:tc>
                  <a:txBody>
                    <a:bodyPr/>
                    <a:lstStyle/>
                    <a:p>
                      <a:pPr indent="0" marL="0">
                        <a:buNone/>
                      </a:pPr>
                      <a:r>
                        <a:rPr lang="en-US" sz="1200" b="1" dirty="0">
                          <a:solidFill>
                            <a:srgbClr val="FFFFFF"/>
                          </a:solidFill>
                        </a:rPr>
                        <a:t>단계</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활동</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담당</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입력</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출력</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완료 </a:t>
                      </a:r>
                      <a:pPr indent="0" marL="0">
                        <a:buNone/>
                      </a:pPr>
                      <a:r>
                        <a:rPr lang="en-US" sz="1200" b="1" dirty="0">
                          <a:solidFill>
                            <a:srgbClr val="FFFFFF"/>
                          </a:solidFill>
                        </a:rPr>
                        <a:t>기준</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소요 </a:t>
                      </a:r>
                      <a:pPr indent="0" marL="0">
                        <a:buNone/>
                      </a:pPr>
                      <a:r>
                        <a:rPr lang="en-US" sz="1200" b="1" dirty="0">
                          <a:solidFill>
                            <a:srgbClr val="FFFFFF"/>
                          </a:solidFill>
                        </a:rPr>
                        <a:t>시간</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1</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날짜별 </a:t>
                      </a:r>
                      <a:pPr indent="0" marL="0">
                        <a:buNone/>
                      </a:pPr>
                      <a:r>
                        <a:rPr lang="en-US" sz="1100" dirty="0">
                          <a:solidFill>
                            <a:srgbClr val="1F2937"/>
                          </a:solidFill>
                        </a:rPr>
                        <a:t>기록 </a:t>
                      </a:r>
                      <a:pPr indent="0" marL="0">
                        <a:buNone/>
                      </a:pPr>
                      <a:r>
                        <a:rPr lang="en-US" sz="1100" dirty="0">
                          <a:solidFill>
                            <a:srgbClr val="1F2937"/>
                          </a:solidFill>
                        </a:rPr>
                        <a:t>목록 </a:t>
                      </a:r>
                      <a:pPr indent="0" marL="0">
                        <a:buNone/>
                      </a:pPr>
                      <a:r>
                        <a:rPr lang="en-US" sz="1100" dirty="0">
                          <a:solidFill>
                            <a:srgbClr val="1F2937"/>
                          </a:solidFill>
                        </a:rPr>
                        <a:t>열기</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사용자·앱</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선택 </a:t>
                      </a:r>
                      <a:pPr indent="0" marL="0">
                        <a:buNone/>
                      </a:pPr>
                      <a:r>
                        <a:rPr lang="en-US" sz="1100" dirty="0">
                          <a:solidFill>
                            <a:srgbClr val="1F2937"/>
                          </a:solidFill>
                        </a:rPr>
                        <a:t>날짜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해당 </a:t>
                      </a:r>
                      <a:pPr indent="0" marL="0">
                        <a:buNone/>
                      </a:pPr>
                      <a:r>
                        <a:rPr lang="en-US" sz="1100" dirty="0">
                          <a:solidFill>
                            <a:srgbClr val="1F2937"/>
                          </a:solidFill>
                        </a:rPr>
                        <a:t>날짜 </a:t>
                      </a:r>
                      <a:pPr indent="0" marL="0">
                        <a:buNone/>
                      </a:pPr>
                      <a:r>
                        <a:rPr lang="en-US" sz="1100" dirty="0">
                          <a:solidFill>
                            <a:srgbClr val="1F2937"/>
                          </a:solidFill>
                        </a:rPr>
                        <a:t>기록과 </a:t>
                      </a:r>
                      <a:pPr indent="0" marL="0">
                        <a:buNone/>
                      </a:pPr>
                      <a:r>
                        <a:rPr lang="en-US" sz="1100" dirty="0">
                          <a:solidFill>
                            <a:srgbClr val="1F2937"/>
                          </a:solidFill>
                        </a:rPr>
                        <a:t>끼니별 </a:t>
                      </a:r>
                      <a:pPr indent="0" marL="0">
                        <a:buNone/>
                      </a:pPr>
                      <a:r>
                        <a:rPr lang="en-US" sz="1100" dirty="0">
                          <a:solidFill>
                            <a:srgbClr val="1F2937"/>
                          </a:solidFill>
                        </a:rPr>
                        <a:t>합계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선택 </a:t>
                      </a:r>
                      <a:pPr indent="0" marL="0">
                        <a:buNone/>
                      </a:pPr>
                      <a:r>
                        <a:rPr lang="en-US" sz="1100" dirty="0">
                          <a:solidFill>
                            <a:srgbClr val="1F2937"/>
                          </a:solidFill>
                        </a:rPr>
                        <a:t>날짜의 </a:t>
                      </a:r>
                      <a:pPr indent="0" marL="0">
                        <a:buNone/>
                      </a:pPr>
                      <a:r>
                        <a:rPr lang="en-US" sz="1100" dirty="0">
                          <a:solidFill>
                            <a:srgbClr val="1F2937"/>
                          </a:solidFill>
                        </a:rPr>
                        <a:t>기록 </a:t>
                      </a:r>
                      <a:pPr indent="0" marL="0">
                        <a:buNone/>
                      </a:pPr>
                      <a:r>
                        <a:rPr lang="en-US" sz="1100" dirty="0">
                          <a:solidFill>
                            <a:srgbClr val="1F2937"/>
                          </a:solidFill>
                        </a:rPr>
                        <a:t>표시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2</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수정 </a:t>
                      </a:r>
                      <a:pPr indent="0" marL="0">
                        <a:buNone/>
                      </a:pPr>
                      <a:r>
                        <a:rPr lang="en-US" sz="1100" dirty="0">
                          <a:solidFill>
                            <a:srgbClr val="1F2937"/>
                          </a:solidFill>
                        </a:rPr>
                        <a:t>또는 </a:t>
                      </a:r>
                      <a:pPr indent="0" marL="0">
                        <a:buNone/>
                      </a:pPr>
                      <a:r>
                        <a:rPr lang="en-US" sz="1100" dirty="0">
                          <a:solidFill>
                            <a:srgbClr val="1F2937"/>
                          </a:solidFill>
                        </a:rPr>
                        <a:t>삭제할 </a:t>
                      </a:r>
                      <a:pPr indent="0" marL="0">
                        <a:buNone/>
                      </a:pPr>
                      <a:r>
                        <a:rPr lang="en-US" sz="1100" dirty="0">
                          <a:solidFill>
                            <a:srgbClr val="1F2937"/>
                          </a:solidFill>
                        </a:rPr>
                        <a:t>항목 </a:t>
                      </a:r>
                      <a:pPr indent="0" marL="0">
                        <a:buNone/>
                      </a:pPr>
                      <a:r>
                        <a:rPr lang="en-US" sz="1100" dirty="0">
                          <a:solidFill>
                            <a:srgbClr val="1F2937"/>
                          </a:solidFill>
                        </a:rPr>
                        <a:t>선택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사용자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기록 </a:t>
                      </a:r>
                      <a:pPr indent="0" marL="0">
                        <a:buNone/>
                      </a:pPr>
                      <a:r>
                        <a:rPr lang="en-US" sz="1100" dirty="0">
                          <a:solidFill>
                            <a:srgbClr val="1F2937"/>
                          </a:solidFill>
                        </a:rPr>
                        <a:t>항목</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상세 </a:t>
                      </a:r>
                      <a:pPr indent="0" marL="0">
                        <a:buNone/>
                      </a:pPr>
                      <a:r>
                        <a:rPr lang="en-US" sz="1100" dirty="0">
                          <a:solidFill>
                            <a:srgbClr val="1F2937"/>
                          </a:solidFill>
                        </a:rPr>
                        <a:t>화면 </a:t>
                      </a:r>
                      <a:pPr indent="0" marL="0">
                        <a:buNone/>
                      </a:pPr>
                      <a:r>
                        <a:rPr lang="en-US" sz="1100" dirty="0">
                          <a:solidFill>
                            <a:srgbClr val="1F2937"/>
                          </a:solidFill>
                        </a:rPr>
                        <a:t>또는 </a:t>
                      </a:r>
                      <a:pPr indent="0" marL="0">
                        <a:buNone/>
                      </a:pPr>
                      <a:r>
                        <a:rPr lang="en-US" sz="1100" dirty="0">
                          <a:solidFill>
                            <a:srgbClr val="1F2937"/>
                          </a:solidFill>
                        </a:rPr>
                        <a:t>동작 </a:t>
                      </a:r>
                      <a:pPr indent="0" marL="0">
                        <a:buNone/>
                      </a:pPr>
                      <a:r>
                        <a:rPr lang="en-US" sz="1100" dirty="0">
                          <a:solidFill>
                            <a:srgbClr val="1F2937"/>
                          </a:solidFill>
                        </a:rPr>
                        <a:t>선택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대상 </a:t>
                      </a:r>
                      <a:pPr indent="0" marL="0">
                        <a:buNone/>
                      </a:pPr>
                      <a:r>
                        <a:rPr lang="en-US" sz="1100" dirty="0">
                          <a:solidFill>
                            <a:srgbClr val="1F2937"/>
                          </a:solidFill>
                        </a:rPr>
                        <a:t>기록 </a:t>
                      </a:r>
                      <a:pPr indent="0" marL="0">
                        <a:buNone/>
                      </a:pPr>
                      <a:r>
                        <a:rPr lang="en-US" sz="1100" dirty="0">
                          <a:solidFill>
                            <a:srgbClr val="1F2937"/>
                          </a:solidFill>
                        </a:rPr>
                        <a:t>식별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3</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수정값 </a:t>
                      </a:r>
                      <a:pPr indent="0" marL="0">
                        <a:buNone/>
                      </a:pPr>
                      <a:r>
                        <a:rPr lang="en-US" sz="1100" dirty="0">
                          <a:solidFill>
                            <a:srgbClr val="1F2937"/>
                          </a:solidFill>
                        </a:rPr>
                        <a:t>입력 </a:t>
                      </a:r>
                      <a:pPr indent="0" marL="0">
                        <a:buNone/>
                      </a:pPr>
                      <a:r>
                        <a:rPr lang="en-US" sz="1100" dirty="0">
                          <a:solidFill>
                            <a:srgbClr val="1F2937"/>
                          </a:solidFill>
                        </a:rPr>
                        <a:t>또는 </a:t>
                      </a:r>
                      <a:pPr indent="0" marL="0">
                        <a:buNone/>
                      </a:pPr>
                      <a:r>
                        <a:rPr lang="en-US" sz="1100" dirty="0">
                          <a:solidFill>
                            <a:srgbClr val="1F2937"/>
                          </a:solidFill>
                        </a:rPr>
                        <a:t>삭제 </a:t>
                      </a:r>
                      <a:pPr indent="0" marL="0">
                        <a:buNone/>
                      </a:pPr>
                      <a:r>
                        <a:rPr lang="en-US" sz="1100" dirty="0">
                          <a:solidFill>
                            <a:srgbClr val="1F2937"/>
                          </a:solidFill>
                        </a:rPr>
                        <a:t>확인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사용자·앱</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음식명·양·구분·날짜 </a:t>
                      </a:r>
                      <a:pPr indent="0" marL="0">
                        <a:buNone/>
                      </a:pPr>
                      <a:r>
                        <a:rPr lang="en-US" sz="1100" dirty="0">
                          <a:solidFill>
                            <a:srgbClr val="1F2937"/>
                          </a:solidFill>
                        </a:rPr>
                        <a:t>변경값 </a:t>
                      </a:r>
                      <a:pPr indent="0" marL="0">
                        <a:buNone/>
                      </a:pPr>
                      <a:r>
                        <a:rPr lang="en-US" sz="1100" dirty="0">
                          <a:solidFill>
                            <a:srgbClr val="1F2937"/>
                          </a:solidFill>
                        </a:rPr>
                        <a:t>또는 </a:t>
                      </a:r>
                      <a:pPr indent="0" marL="0">
                        <a:buNone/>
                      </a:pPr>
                      <a:r>
                        <a:rPr lang="en-US" sz="1100" dirty="0">
                          <a:solidFill>
                            <a:srgbClr val="1F2937"/>
                          </a:solidFill>
                        </a:rPr>
                        <a:t>삭제 </a:t>
                      </a:r>
                      <a:pPr indent="0" marL="0">
                        <a:buNone/>
                      </a:pPr>
                      <a:r>
                        <a:rPr lang="en-US" sz="1100" dirty="0">
                          <a:solidFill>
                            <a:srgbClr val="1F2937"/>
                          </a:solidFill>
                        </a:rPr>
                        <a:t>선택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수정·삭제 </a:t>
                      </a:r>
                      <a:pPr indent="0" marL="0">
                        <a:buNone/>
                      </a:pPr>
                      <a:r>
                        <a:rPr lang="en-US" sz="1100" dirty="0">
                          <a:solidFill>
                            <a:srgbClr val="1F2937"/>
                          </a:solidFill>
                        </a:rPr>
                        <a:t>요청 </a:t>
                      </a:r>
                      <a:pPr indent="0" marL="0">
                        <a:buNone/>
                      </a:pPr>
                      <a:r>
                        <a:rPr lang="en-US" sz="1100" dirty="0">
                          <a:solidFill>
                            <a:srgbClr val="1F2937"/>
                          </a:solidFill>
                        </a:rPr>
                        <a:t>내용</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사용자가 </a:t>
                      </a:r>
                      <a:pPr indent="0" marL="0">
                        <a:buNone/>
                      </a:pPr>
                      <a:r>
                        <a:rPr lang="en-US" sz="1100" dirty="0">
                          <a:solidFill>
                            <a:srgbClr val="1F2937"/>
                          </a:solidFill>
                        </a:rPr>
                        <a:t>변경·삭제 </a:t>
                      </a:r>
                      <a:pPr indent="0" marL="0">
                        <a:buNone/>
                      </a:pPr>
                      <a:r>
                        <a:rPr lang="en-US" sz="1100" dirty="0">
                          <a:solidFill>
                            <a:srgbClr val="1F2937"/>
                          </a:solidFill>
                        </a:rPr>
                        <a:t>의사를 </a:t>
                      </a:r>
                      <a:pPr indent="0" marL="0">
                        <a:buNone/>
                      </a:pPr>
                      <a:r>
                        <a:rPr lang="en-US" sz="1100" dirty="0">
                          <a:solidFill>
                            <a:srgbClr val="1F2937"/>
                          </a:solidFill>
                        </a:rPr>
                        <a:t>확인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4</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소유자·대상 </a:t>
                      </a:r>
                      <a:pPr indent="0" marL="0">
                        <a:buNone/>
                      </a:pPr>
                      <a:r>
                        <a:rPr lang="en-US" sz="1100" dirty="0">
                          <a:solidFill>
                            <a:srgbClr val="1F2937"/>
                          </a:solidFill>
                        </a:rPr>
                        <a:t>기록 </a:t>
                      </a:r>
                      <a:pPr indent="0" marL="0">
                        <a:buNone/>
                      </a:pPr>
                      <a:r>
                        <a:rPr lang="en-US" sz="1100" dirty="0">
                          <a:solidFill>
                            <a:srgbClr val="1F2937"/>
                          </a:solidFill>
                        </a:rPr>
                        <a:t>확인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앱 </a:t>
                      </a:r>
                      <a:pPr indent="0" marL="0">
                        <a:buNone/>
                      </a:pPr>
                      <a:r>
                        <a:rPr lang="en-US" sz="1100" dirty="0">
                          <a:solidFill>
                            <a:srgbClr val="1F2937"/>
                          </a:solidFill>
                        </a:rPr>
                        <a:t>서버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사용자 </a:t>
                      </a:r>
                      <a:pPr indent="0" marL="0">
                        <a:buNone/>
                      </a:pPr>
                      <a:r>
                        <a:rPr lang="en-US" sz="1100" dirty="0">
                          <a:solidFill>
                            <a:srgbClr val="1F2937"/>
                          </a:solidFill>
                        </a:rPr>
                        <a:t>식별 </a:t>
                      </a:r>
                      <a:pPr indent="0" marL="0">
                        <a:buNone/>
                      </a:pPr>
                      <a:r>
                        <a:rPr lang="en-US" sz="1100" dirty="0">
                          <a:solidFill>
                            <a:srgbClr val="1F2937"/>
                          </a:solidFill>
                        </a:rPr>
                        <a:t>정보, </a:t>
                      </a:r>
                      <a:pPr indent="0" marL="0">
                        <a:buNone/>
                      </a:pPr>
                      <a:r>
                        <a:rPr lang="en-US" sz="1100" dirty="0">
                          <a:solidFill>
                            <a:srgbClr val="1F2937"/>
                          </a:solidFill>
                        </a:rPr>
                        <a:t>기록 </a:t>
                      </a:r>
                      <a:pPr indent="0" marL="0">
                        <a:buNone/>
                      </a:pPr>
                      <a:r>
                        <a:rPr lang="en-US" sz="1100" dirty="0">
                          <a:solidFill>
                            <a:srgbClr val="1F2937"/>
                          </a:solidFill>
                        </a:rPr>
                        <a:t>식별 </a:t>
                      </a:r>
                      <a:pPr indent="0" marL="0">
                        <a:buNone/>
                      </a:pPr>
                      <a:r>
                        <a:rPr lang="en-US" sz="1100" dirty="0">
                          <a:solidFill>
                            <a:srgbClr val="1F2937"/>
                          </a:solidFill>
                        </a:rPr>
                        <a:t>정보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권한·대상 </a:t>
                      </a:r>
                      <a:pPr indent="0" marL="0">
                        <a:buNone/>
                      </a:pPr>
                      <a:r>
                        <a:rPr lang="en-US" sz="1100" dirty="0">
                          <a:solidFill>
                            <a:srgbClr val="1F2937"/>
                          </a:solidFill>
                        </a:rPr>
                        <a:t>확인 </a:t>
                      </a:r>
                      <a:pPr indent="0" marL="0">
                        <a:buNone/>
                      </a:pPr>
                      <a:r>
                        <a:rPr lang="en-US" sz="1100" dirty="0">
                          <a:solidFill>
                            <a:srgbClr val="1F2937"/>
                          </a:solidFill>
                        </a:rPr>
                        <a:t>결과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해당 </a:t>
                      </a:r>
                      <a:pPr indent="0" marL="0">
                        <a:buNone/>
                      </a:pPr>
                      <a:r>
                        <a:rPr lang="en-US" sz="1100" dirty="0">
                          <a:solidFill>
                            <a:srgbClr val="1F2937"/>
                          </a:solidFill>
                        </a:rPr>
                        <a:t>사용자 </a:t>
                      </a:r>
                      <a:pPr indent="0" marL="0">
                        <a:buNone/>
                      </a:pPr>
                      <a:r>
                        <a:rPr lang="en-US" sz="1100" dirty="0">
                          <a:solidFill>
                            <a:srgbClr val="1F2937"/>
                          </a:solidFill>
                        </a:rPr>
                        <a:t>소유 </a:t>
                      </a:r>
                      <a:pPr indent="0" marL="0">
                        <a:buNone/>
                      </a:pPr>
                      <a:r>
                        <a:rPr lang="en-US" sz="1100" dirty="0">
                          <a:solidFill>
                            <a:srgbClr val="1F2937"/>
                          </a:solidFill>
                        </a:rPr>
                        <a:t>기록인지 </a:t>
                      </a:r>
                      <a:pPr indent="0" marL="0">
                        <a:buNone/>
                      </a:pPr>
                      <a:r>
                        <a:rPr lang="en-US" sz="1100" dirty="0">
                          <a:solidFill>
                            <a:srgbClr val="1F2937"/>
                          </a:solidFill>
                        </a:rPr>
                        <a:t>확인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5</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기록 </a:t>
                      </a:r>
                      <a:pPr indent="0" marL="0">
                        <a:buNone/>
                      </a:pPr>
                      <a:r>
                        <a:rPr lang="en-US" sz="1100" dirty="0">
                          <a:solidFill>
                            <a:srgbClr val="1F2937"/>
                          </a:solidFill>
                        </a:rPr>
                        <a:t>수정 </a:t>
                      </a:r>
                      <a:pPr indent="0" marL="0">
                        <a:buNone/>
                      </a:pPr>
                      <a:r>
                        <a:rPr lang="en-US" sz="1100" dirty="0">
                          <a:solidFill>
                            <a:srgbClr val="1F2937"/>
                          </a:solidFill>
                        </a:rPr>
                        <a:t>또는 </a:t>
                      </a:r>
                      <a:pPr indent="0" marL="0">
                        <a:buNone/>
                      </a:pPr>
                      <a:r>
                        <a:rPr lang="en-US" sz="1100" dirty="0">
                          <a:solidFill>
                            <a:srgbClr val="1F2937"/>
                          </a:solidFill>
                        </a:rPr>
                        <a:t>삭제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앱 </a:t>
                      </a:r>
                      <a:pPr indent="0" marL="0">
                        <a:buNone/>
                      </a:pPr>
                      <a:r>
                        <a:rPr lang="en-US" sz="1100" dirty="0">
                          <a:solidFill>
                            <a:srgbClr val="1F2937"/>
                          </a:solidFill>
                        </a:rPr>
                        <a:t>서버·데이터베이스</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요청값</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변경된 </a:t>
                      </a:r>
                      <a:pPr indent="0" marL="0">
                        <a:buNone/>
                      </a:pPr>
                      <a:r>
                        <a:rPr lang="en-US" sz="1100" dirty="0">
                          <a:solidFill>
                            <a:srgbClr val="1F2937"/>
                          </a:solidFill>
                        </a:rPr>
                        <a:t>기록 </a:t>
                      </a:r>
                      <a:pPr indent="0" marL="0">
                        <a:buNone/>
                      </a:pPr>
                      <a:r>
                        <a:rPr lang="en-US" sz="1100" dirty="0">
                          <a:solidFill>
                            <a:srgbClr val="1F2937"/>
                          </a:solidFill>
                        </a:rPr>
                        <a:t>또는 </a:t>
                      </a:r>
                      <a:pPr indent="0" marL="0">
                        <a:buNone/>
                      </a:pPr>
                      <a:r>
                        <a:rPr lang="en-US" sz="1100" dirty="0">
                          <a:solidFill>
                            <a:srgbClr val="1F2937"/>
                          </a:solidFill>
                        </a:rPr>
                        <a:t>삭제 </a:t>
                      </a:r>
                      <a:pPr indent="0" marL="0">
                        <a:buNone/>
                      </a:pPr>
                      <a:r>
                        <a:rPr lang="en-US" sz="1100" dirty="0">
                          <a:solidFill>
                            <a:srgbClr val="1F2937"/>
                          </a:solidFill>
                        </a:rPr>
                        <a:t>결과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수정 </a:t>
                      </a:r>
                      <a:pPr indent="0" marL="0">
                        <a:buNone/>
                      </a:pPr>
                      <a:r>
                        <a:rPr lang="en-US" sz="1100" dirty="0">
                          <a:solidFill>
                            <a:srgbClr val="1F2937"/>
                          </a:solidFill>
                        </a:rPr>
                        <a:t>시 </a:t>
                      </a:r>
                      <a:pPr indent="0" marL="0">
                        <a:buNone/>
                      </a:pPr>
                      <a:r>
                        <a:rPr lang="en-US" sz="1100" dirty="0">
                          <a:solidFill>
                            <a:srgbClr val="1F2937"/>
                          </a:solidFill>
                        </a:rPr>
                        <a:t>기록 </a:t>
                      </a:r>
                      <a:pPr indent="0" marL="0">
                        <a:buNone/>
                      </a:pPr>
                      <a:r>
                        <a:rPr lang="en-US" sz="1100" dirty="0">
                          <a:solidFill>
                            <a:srgbClr val="1F2937"/>
                          </a:solidFill>
                        </a:rPr>
                        <a:t>스냅샷 </a:t>
                      </a:r>
                      <a:pPr indent="0" marL="0">
                        <a:buNone/>
                      </a:pPr>
                      <a:r>
                        <a:rPr lang="en-US" sz="1100" dirty="0">
                          <a:solidFill>
                            <a:srgbClr val="1F2937"/>
                          </a:solidFill>
                        </a:rPr>
                        <a:t>규칙을 </a:t>
                      </a:r>
                      <a:pPr indent="0" marL="0">
                        <a:buNone/>
                      </a:pPr>
                      <a:r>
                        <a:rPr lang="en-US" sz="1100" dirty="0">
                          <a:solidFill>
                            <a:srgbClr val="1F2937"/>
                          </a:solidFill>
                        </a:rPr>
                        <a:t>유지. </a:t>
                      </a:r>
                      <a:pPr indent="0" marL="0">
                        <a:buNone/>
                      </a:pPr>
                      <a:r>
                        <a:rPr lang="en-US" sz="1100" dirty="0">
                          <a:solidFill>
                            <a:srgbClr val="1F2937"/>
                          </a:solidFill>
                        </a:rPr>
                        <a:t>삭제 </a:t>
                      </a:r>
                      <a:pPr indent="0" marL="0">
                        <a:buNone/>
                      </a:pPr>
                      <a:r>
                        <a:rPr lang="en-US" sz="1100" dirty="0">
                          <a:solidFill>
                            <a:srgbClr val="1F2937"/>
                          </a:solidFill>
                        </a:rPr>
                        <a:t>시 </a:t>
                      </a:r>
                      <a:pPr indent="0" marL="0">
                        <a:buNone/>
                      </a:pPr>
                      <a:r>
                        <a:rPr lang="en-US" sz="1100" dirty="0">
                          <a:solidFill>
                            <a:srgbClr val="1F2937"/>
                          </a:solidFill>
                        </a:rPr>
                        <a:t>해당 </a:t>
                      </a:r>
                      <a:pPr indent="0" marL="0">
                        <a:buNone/>
                      </a:pPr>
                      <a:r>
                        <a:rPr lang="en-US" sz="1100" dirty="0">
                          <a:solidFill>
                            <a:srgbClr val="1F2937"/>
                          </a:solidFill>
                        </a:rPr>
                        <a:t>기록 </a:t>
                      </a:r>
                      <a:pPr indent="0" marL="0">
                        <a:buNone/>
                      </a:pPr>
                      <a:r>
                        <a:rPr lang="en-US" sz="1100" dirty="0">
                          <a:solidFill>
                            <a:srgbClr val="1F2937"/>
                          </a:solidFill>
                        </a:rPr>
                        <a:t>제거</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6</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리포트 </a:t>
                      </a:r>
                      <a:pPr indent="0" marL="0">
                        <a:buNone/>
                      </a:pPr>
                      <a:r>
                        <a:rPr lang="en-US" sz="1100" dirty="0">
                          <a:solidFill>
                            <a:srgbClr val="1F2937"/>
                          </a:solidFill>
                        </a:rPr>
                        <a:t>집계 </a:t>
                      </a:r>
                      <a:pPr indent="0" marL="0">
                        <a:buNone/>
                      </a:pPr>
                      <a:r>
                        <a:rPr lang="en-US" sz="1100" dirty="0">
                          <a:solidFill>
                            <a:srgbClr val="1F2937"/>
                          </a:solidFill>
                        </a:rPr>
                        <a:t>갱신</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앱 </a:t>
                      </a:r>
                      <a:pPr indent="0" marL="0">
                        <a:buNone/>
                      </a:pPr>
                      <a:r>
                        <a:rPr lang="en-US" sz="1100" dirty="0">
                          <a:solidFill>
                            <a:srgbClr val="1F2937"/>
                          </a:solidFill>
                        </a:rPr>
                        <a:t>서버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수정·삭제 </a:t>
                      </a:r>
                      <a:pPr indent="0" marL="0">
                        <a:buNone/>
                      </a:pPr>
                      <a:r>
                        <a:rPr lang="en-US" sz="1100" dirty="0">
                          <a:solidFill>
                            <a:srgbClr val="1F2937"/>
                          </a:solidFill>
                        </a:rPr>
                        <a:t>후 </a:t>
                      </a:r>
                      <a:pPr indent="0" marL="0">
                        <a:buNone/>
                      </a:pPr>
                      <a:r>
                        <a:rPr lang="en-US" sz="1100" dirty="0">
                          <a:solidFill>
                            <a:srgbClr val="1F2937"/>
                          </a:solidFill>
                        </a:rPr>
                        <a:t>기록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최신 </a:t>
                      </a:r>
                      <a:pPr indent="0" marL="0">
                        <a:buNone/>
                      </a:pPr>
                      <a:r>
                        <a:rPr lang="en-US" sz="1100" dirty="0">
                          <a:solidFill>
                            <a:srgbClr val="1F2937"/>
                          </a:solidFill>
                        </a:rPr>
                        <a:t>집계 </a:t>
                      </a:r>
                      <a:pPr indent="0" marL="0">
                        <a:buNone/>
                      </a:pPr>
                      <a:r>
                        <a:rPr lang="en-US" sz="1100" dirty="0">
                          <a:solidFill>
                            <a:srgbClr val="1F2937"/>
                          </a:solidFill>
                        </a:rPr>
                        <a:t>대상 </a:t>
                      </a:r>
                      <a:pPr indent="0" marL="0">
                        <a:buNone/>
                      </a:pPr>
                      <a:r>
                        <a:rPr lang="en-US" sz="1100" dirty="0">
                          <a:solidFill>
                            <a:srgbClr val="1F2937"/>
                          </a:solidFill>
                        </a:rPr>
                        <a:t>데이터</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다음 </a:t>
                      </a:r>
                      <a:pPr indent="0" marL="0">
                        <a:buNone/>
                      </a:pPr>
                      <a:r>
                        <a:rPr lang="en-US" sz="1100" dirty="0">
                          <a:solidFill>
                            <a:srgbClr val="1F2937"/>
                          </a:solidFill>
                        </a:rPr>
                        <a:t>리포트 </a:t>
                      </a:r>
                      <a:pPr indent="0" marL="0">
                        <a:buNone/>
                      </a:pPr>
                      <a:r>
                        <a:rPr lang="en-US" sz="1100" dirty="0">
                          <a:solidFill>
                            <a:srgbClr val="1F2937"/>
                          </a:solidFill>
                        </a:rPr>
                        <a:t>조회 </a:t>
                      </a:r>
                      <a:pPr indent="0" marL="0">
                        <a:buNone/>
                      </a:pPr>
                      <a:r>
                        <a:rPr lang="en-US" sz="1100" dirty="0">
                          <a:solidFill>
                            <a:srgbClr val="1F2937"/>
                          </a:solidFill>
                        </a:rPr>
                        <a:t>시 </a:t>
                      </a:r>
                      <a:pPr indent="0" marL="0">
                        <a:buNone/>
                      </a:pPr>
                      <a:r>
                        <a:rPr lang="en-US" sz="1100" dirty="0">
                          <a:solidFill>
                            <a:srgbClr val="1F2937"/>
                          </a:solidFill>
                        </a:rPr>
                        <a:t>변경 </a:t>
                      </a:r>
                      <a:pPr indent="0" marL="0">
                        <a:buNone/>
                      </a:pPr>
                      <a:r>
                        <a:rPr lang="en-US" sz="1100" dirty="0">
                          <a:solidFill>
                            <a:srgbClr val="1F2937"/>
                          </a:solidFill>
                        </a:rPr>
                        <a:t>내용 </a:t>
                      </a:r>
                      <a:pPr indent="0" marL="0">
                        <a:buNone/>
                      </a:pPr>
                      <a:r>
                        <a:rPr lang="en-US" sz="1100" dirty="0">
                          <a:solidFill>
                            <a:srgbClr val="1F2937"/>
                          </a:solidFill>
                        </a:rPr>
                        <a:t>반영</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7</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완료 </a:t>
                      </a:r>
                      <a:pPr indent="0" marL="0">
                        <a:buNone/>
                      </a:pPr>
                      <a:r>
                        <a:rPr lang="en-US" sz="1100" dirty="0">
                          <a:solidFill>
                            <a:srgbClr val="1F2937"/>
                          </a:solidFill>
                        </a:rPr>
                        <a:t>상태 </a:t>
                      </a:r>
                      <a:pPr indent="0" marL="0">
                        <a:buNone/>
                      </a:pPr>
                      <a:r>
                        <a:rPr lang="en-US" sz="1100" dirty="0">
                          <a:solidFill>
                            <a:srgbClr val="1F2937"/>
                          </a:solidFill>
                        </a:rPr>
                        <a:t>표시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앱</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처리 </a:t>
                      </a:r>
                      <a:pPr indent="0" marL="0">
                        <a:buNone/>
                      </a:pPr>
                      <a:r>
                        <a:rPr lang="en-US" sz="1100" dirty="0">
                          <a:solidFill>
                            <a:srgbClr val="1F2937"/>
                          </a:solidFill>
                        </a:rPr>
                        <a:t>결과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갱신된 </a:t>
                      </a:r>
                      <a:pPr indent="0" marL="0">
                        <a:buNone/>
                      </a:pPr>
                      <a:r>
                        <a:rPr lang="en-US" sz="1100" dirty="0">
                          <a:solidFill>
                            <a:srgbClr val="1F2937"/>
                          </a:solidFill>
                        </a:rPr>
                        <a:t>목록 </a:t>
                      </a:r>
                      <a:pPr indent="0" marL="0">
                        <a:buNone/>
                      </a:pPr>
                      <a:r>
                        <a:rPr lang="en-US" sz="1100" dirty="0">
                          <a:solidFill>
                            <a:srgbClr val="1F2937"/>
                          </a:solidFill>
                        </a:rPr>
                        <a:t>또는 </a:t>
                      </a:r>
                      <a:pPr indent="0" marL="0">
                        <a:buNone/>
                      </a:pPr>
                      <a:r>
                        <a:rPr lang="en-US" sz="1100" dirty="0">
                          <a:solidFill>
                            <a:srgbClr val="1F2937"/>
                          </a:solidFill>
                        </a:rPr>
                        <a:t>오류 </a:t>
                      </a:r>
                      <a:pPr indent="0" marL="0">
                        <a:buNone/>
                      </a:pPr>
                      <a:r>
                        <a:rPr lang="en-US" sz="1100" dirty="0">
                          <a:solidFill>
                            <a:srgbClr val="1F2937"/>
                          </a:solidFill>
                        </a:rPr>
                        <a:t>안내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변경·삭제 </a:t>
                      </a:r>
                      <a:pPr indent="0" marL="0">
                        <a:buNone/>
                      </a:pPr>
                      <a:r>
                        <a:rPr lang="en-US" sz="1100" dirty="0">
                          <a:solidFill>
                            <a:srgbClr val="1F2937"/>
                          </a:solidFill>
                        </a:rPr>
                        <a:t>결과를 </a:t>
                      </a:r>
                      <a:pPr indent="0" marL="0">
                        <a:buNone/>
                      </a:pPr>
                      <a:r>
                        <a:rPr lang="en-US" sz="1100" dirty="0">
                          <a:solidFill>
                            <a:srgbClr val="1F2937"/>
                          </a:solidFill>
                        </a:rPr>
                        <a:t>사용자가 </a:t>
                      </a:r>
                      <a:pPr indent="0" marL="0">
                        <a:buNone/>
                      </a:pPr>
                      <a:r>
                        <a:rPr lang="en-US" sz="1100" dirty="0">
                          <a:solidFill>
                            <a:srgbClr val="1F2937"/>
                          </a:solidFill>
                        </a:rPr>
                        <a:t>확인 </a:t>
                      </a:r>
                      <a:pPr indent="0" marL="0">
                        <a:buNone/>
                      </a:pPr>
                      <a:r>
                        <a:rPr lang="en-US" sz="1100" dirty="0">
                          <a:solidFill>
                            <a:srgbClr val="1F2937"/>
                          </a:solidFill>
                        </a:rPr>
                        <a:t>가능</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Mermaid 다이어그램</a:t>
            </a:r>
            <a:endParaRPr lang="en-US" sz="2800" dirty="0"/>
          </a:p>
        </p:txBody>
      </p:sp>
      <p:sp>
        <p:nvSpPr>
          <p:cNvPr id="3" name="Shape 1"/>
          <p:cNvSpPr/>
          <p:nvPr/>
        </p:nvSpPr>
        <p:spPr>
          <a:xfrm>
            <a:off x="457200" y="1078992"/>
            <a:ext cx="2743200" cy="41148"/>
          </a:xfrm>
          <a:prstGeom prst="rect">
            <a:avLst/>
          </a:prstGeom>
          <a:solidFill>
            <a:srgbClr val="263F59"/>
          </a:solidFill>
          <a:ln/>
        </p:spPr>
      </p:sp>
      <p:pic>
        <p:nvPicPr>
          <p:cNvPr id="4" name="Image 0" descr="preencoded.png">    </p:cNvPr>
          <p:cNvPicPr>
            <a:picLocks noChangeAspect="1"/>
          </p:cNvPicPr>
          <p:nvPr/>
        </p:nvPicPr>
        <p:blipFill>
          <a:blip r:embed="rId1"/>
          <a:stretch>
            <a:fillRect/>
          </a:stretch>
        </p:blipFill>
        <p:spPr>
          <a:xfrm>
            <a:off x="640080" y="1463040"/>
            <a:ext cx="7863840" cy="4206240"/>
          </a:xfrm>
          <a:prstGeom prst="rect">
            <a:avLst/>
          </a:prstGeom>
        </p:spPr>
      </p:pic>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상세 설명 (1/2)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1. 수정은 기록 당시 저장한 음식명과 영양값을 기준으로 처리합니다. 외부 음식 DB의 최신 정보로 기존 기록을 자동 갱신하지 않습니다.</a:t>
            </a:r>
            <a:endParaRPr lang="en-US" sz="1600" dirty="0"/>
          </a:p>
          <a:p>
            <a:pPr indent="0" marL="0">
              <a:spcAft>
                <a:spcPts val="800"/>
              </a:spcAft>
              <a:buNone/>
            </a:pPr>
            <a:r>
              <a:rPr lang="en-US" sz="1600" dirty="0">
                <a:solidFill>
                  <a:srgbClr val="4B5563"/>
                </a:solidFill>
              </a:rPr>
              <a:t>2. 삭제는 개별 기록 삭제와 계정 삭제로 구분합니다. 개별 기록을 삭제한 뒤 리포트 집계를 화면 진입 때 다시 계산하도록 하되, 캐시를 사용할 경우 갱신 조건은 추가 설계가 필요합니다.</a:t>
            </a:r>
            <a:endParaRPr lang="en-US" sz="1600" dirty="0"/>
          </a:p>
          <a:p>
            <a:pPr indent="0" marL="0">
              <a:spcAft>
                <a:spcPts val="800"/>
              </a:spcAft>
              <a:buNone/>
            </a:pPr>
            <a:r>
              <a:rPr lang="en-US" sz="1600" dirty="0">
                <a:solidFill>
                  <a:srgbClr val="4B5563"/>
                </a:solidFill>
              </a:rPr>
              <a:t>3. 계정은 유지하면서 기록 전체를 초기화하는 기능은 MVP 필수 범위가 아닙니다. 음식 목록, 즐겨찾기, 목표, 설정 가운데 무엇을 초기화할지 합의되지 않아 구현 기준은 </a:t>
            </a:r>
            <a:pPr indent="0" marL="0">
              <a:spcAft>
                <a:spcPts val="800"/>
              </a:spcAft>
              <a:buNone/>
            </a:pPr>
            <a:r>
              <a:rPr lang="en-US" sz="1600" b="1" dirty="0">
                <a:solidFill>
                  <a:srgbClr val="4B5563"/>
                </a:solidFill>
              </a:rPr>
              <a:t>추정 필요</a:t>
            </a:r>
            <a:pPr indent="0" marL="0">
              <a:spcAft>
                <a:spcPts val="800"/>
              </a:spcAft>
              <a:buNone/>
            </a:pPr>
            <a:r>
              <a:rPr lang="en-US" sz="1600" dirty="0">
                <a:solidFill>
                  <a:srgbClr val="4B5563"/>
                </a:solidFill>
              </a:rPr>
              <a:t>입니다.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상세 설명 (2/2)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4. 기록 수정·삭제의 취소·복구 기능, 확인 단계의 화면 구성, 실제 삭제 처리 시간은 회의에서 확정되지 않았습니다.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3.4 주간 리포트 조회 플로우</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프로세스 설명 (1/4)</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사용자가 주간 리포트를 열면 앱 서버는 저장된 식사 기록의 스냅샷을 기준으로 리포트 데이터를 계산합니다. 리포트는 한국 시간 기준 월요일부터 일요일까지의 완료된 주를 ‘지난주’로 다루며, 현재 주간 현황은 홈에서 확인하는 방향입니다. 기록을 생성한 시각이 아니라 사용자가 지정한 섭취 날짜를 기준으로 집계합니다.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프로세스 설명 (2/4)</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리포트의 핵심 항목은 7일 중 기록한 일수, 기록된 날 기준 평균 칼로리, 목표가 있는 경우 목표 대비 평균, 끼니별 기록 패턴입니다. 칼로리와 탄수화물·단백질·지방을 중심으로 구성하되, 영양값은 각 영양소 값이 있는 기록만 따로 합산합니다. 기록이 없는 날은 0으로 표현하지 않으며, 영양 정보가 누락되어 합계가 불완전한 경우에는 별도 안내를 제공합니다.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프로세스 설명 (3/4)</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리포트는 사용자가 열 때 계산하는 온디맨드 방식을 사용하고, 성능을 확인한 뒤 캐시를 검토합니다. 기록 수정·삭제 후 다시 열었을 때 최신 데이터가 반영돼야 합니다. 건강 점수, 좋음·나쁨 평가, 실패를 암시하는 표현은 사용하지 않으며, ‘기록된 내용 기준’임을 표시합니다.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프로세스 설명 (4/4)</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지난주 비교는 데이터가 충분한 경우에만 보조로 제공하는 방향이지만, 최소 기록 기준은 확정되지 않았습니다. 목표 변경은 유효 시작일·종료일을 저장해 식사 날짜 당시의 목표를 적용하고, 목표가 없었던 날짜는 비교하지 않습니다. 데이터가 없거나 기준이 충족되지 않은 경우 화면 문구와 비교 노출 조건은 추가 확정이 필요합니다.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단계별 상세</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488887"/>
                <a:gridCol w="1140737"/>
                <a:gridCol w="896293"/>
                <a:gridCol w="1222218"/>
                <a:gridCol w="1385180"/>
                <a:gridCol w="2607398"/>
                <a:gridCol w="488887"/>
              </a:tblGrid>
              <a:tr h="0">
                <a:tc>
                  <a:txBody>
                    <a:bodyPr/>
                    <a:lstStyle/>
                    <a:p>
                      <a:pPr indent="0" marL="0">
                        <a:buNone/>
                      </a:pPr>
                      <a:r>
                        <a:rPr lang="en-US" sz="1200" b="1" dirty="0">
                          <a:solidFill>
                            <a:srgbClr val="FFFFFF"/>
                          </a:solidFill>
                        </a:rPr>
                        <a:t>단계</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활동</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담당</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입력</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출력</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완료 </a:t>
                      </a:r>
                      <a:pPr indent="0" marL="0">
                        <a:buNone/>
                      </a:pPr>
                      <a:r>
                        <a:rPr lang="en-US" sz="1200" b="1" dirty="0">
                          <a:solidFill>
                            <a:srgbClr val="FFFFFF"/>
                          </a:solidFill>
                        </a:rPr>
                        <a:t>기준</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소요 </a:t>
                      </a:r>
                      <a:pPr indent="0" marL="0">
                        <a:buNone/>
                      </a:pPr>
                      <a:r>
                        <a:rPr lang="en-US" sz="1200" b="1" dirty="0">
                          <a:solidFill>
                            <a:srgbClr val="FFFFFF"/>
                          </a:solidFill>
                        </a:rPr>
                        <a:t>시간</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1</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주간 </a:t>
                      </a:r>
                      <a:pPr indent="0" marL="0">
                        <a:buNone/>
                      </a:pPr>
                      <a:r>
                        <a:rPr lang="en-US" sz="1100" dirty="0">
                          <a:solidFill>
                            <a:srgbClr val="1F2937"/>
                          </a:solidFill>
                        </a:rPr>
                        <a:t>리포트 </a:t>
                      </a:r>
                      <a:pPr indent="0" marL="0">
                        <a:buNone/>
                      </a:pPr>
                      <a:r>
                        <a:rPr lang="en-US" sz="1100" dirty="0">
                          <a:solidFill>
                            <a:srgbClr val="1F2937"/>
                          </a:solidFill>
                        </a:rPr>
                        <a:t>진입</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사용자·앱</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리포트 </a:t>
                      </a:r>
                      <a:pPr indent="0" marL="0">
                        <a:buNone/>
                      </a:pPr>
                      <a:r>
                        <a:rPr lang="en-US" sz="1100" dirty="0">
                          <a:solidFill>
                            <a:srgbClr val="1F2937"/>
                          </a:solidFill>
                        </a:rPr>
                        <a:t>화면 </a:t>
                      </a:r>
                      <a:pPr indent="0" marL="0">
                        <a:buNone/>
                      </a:pPr>
                      <a:r>
                        <a:rPr lang="en-US" sz="1100" dirty="0">
                          <a:solidFill>
                            <a:srgbClr val="1F2937"/>
                          </a:solidFill>
                        </a:rPr>
                        <a:t>요청</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리포트 </a:t>
                      </a:r>
                      <a:pPr indent="0" marL="0">
                        <a:buNone/>
                      </a:pPr>
                      <a:r>
                        <a:rPr lang="en-US" sz="1100" dirty="0">
                          <a:solidFill>
                            <a:srgbClr val="1F2937"/>
                          </a:solidFill>
                        </a:rPr>
                        <a:t>조회 </a:t>
                      </a:r>
                      <a:pPr indent="0" marL="0">
                        <a:buNone/>
                      </a:pPr>
                      <a:r>
                        <a:rPr lang="en-US" sz="1100" dirty="0">
                          <a:solidFill>
                            <a:srgbClr val="1F2937"/>
                          </a:solidFill>
                        </a:rPr>
                        <a:t>요청</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조회 </a:t>
                      </a:r>
                      <a:pPr indent="0" marL="0">
                        <a:buNone/>
                      </a:pPr>
                      <a:r>
                        <a:rPr lang="en-US" sz="1100" dirty="0">
                          <a:solidFill>
                            <a:srgbClr val="1F2937"/>
                          </a:solidFill>
                        </a:rPr>
                        <a:t>대상 </a:t>
                      </a:r>
                      <a:pPr indent="0" marL="0">
                        <a:buNone/>
                      </a:pPr>
                      <a:r>
                        <a:rPr lang="en-US" sz="1100" dirty="0">
                          <a:solidFill>
                            <a:srgbClr val="1F2937"/>
                          </a:solidFill>
                        </a:rPr>
                        <a:t>주간 </a:t>
                      </a:r>
                      <a:pPr indent="0" marL="0">
                        <a:buNone/>
                      </a:pPr>
                      <a:r>
                        <a:rPr lang="en-US" sz="1100" dirty="0">
                          <a:solidFill>
                            <a:srgbClr val="1F2937"/>
                          </a:solidFill>
                        </a:rPr>
                        <a:t>설정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2</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조회 </a:t>
                      </a:r>
                      <a:pPr indent="0" marL="0">
                        <a:buNone/>
                      </a:pPr>
                      <a:r>
                        <a:rPr lang="en-US" sz="1100" dirty="0">
                          <a:solidFill>
                            <a:srgbClr val="1F2937"/>
                          </a:solidFill>
                        </a:rPr>
                        <a:t>기간 </a:t>
                      </a:r>
                      <a:pPr indent="0" marL="0">
                        <a:buNone/>
                      </a:pPr>
                      <a:r>
                        <a:rPr lang="en-US" sz="1100" dirty="0">
                          <a:solidFill>
                            <a:srgbClr val="1F2937"/>
                          </a:solidFill>
                        </a:rPr>
                        <a:t>산정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앱 </a:t>
                      </a:r>
                      <a:pPr indent="0" marL="0">
                        <a:buNone/>
                      </a:pPr>
                      <a:r>
                        <a:rPr lang="en-US" sz="1100" dirty="0">
                          <a:solidFill>
                            <a:srgbClr val="1F2937"/>
                          </a:solidFill>
                        </a:rPr>
                        <a:t>서버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한국 </a:t>
                      </a:r>
                      <a:pPr indent="0" marL="0">
                        <a:buNone/>
                      </a:pPr>
                      <a:r>
                        <a:rPr lang="en-US" sz="1100" dirty="0">
                          <a:solidFill>
                            <a:srgbClr val="1F2937"/>
                          </a:solidFill>
                        </a:rPr>
                        <a:t>시간 </a:t>
                      </a:r>
                      <a:pPr indent="0" marL="0">
                        <a:buNone/>
                      </a:pPr>
                      <a:r>
                        <a:rPr lang="en-US" sz="1100" dirty="0">
                          <a:solidFill>
                            <a:srgbClr val="1F2937"/>
                          </a:solidFill>
                        </a:rPr>
                        <a:t>기준, </a:t>
                      </a:r>
                      <a:pPr indent="0" marL="0">
                        <a:buNone/>
                      </a:pPr>
                      <a:r>
                        <a:rPr lang="en-US" sz="1100" dirty="0">
                          <a:solidFill>
                            <a:srgbClr val="1F2937"/>
                          </a:solidFill>
                        </a:rPr>
                        <a:t>완료된 </a:t>
                      </a:r>
                      <a:pPr indent="0" marL="0">
                        <a:buNone/>
                      </a:pPr>
                      <a:r>
                        <a:rPr lang="en-US" sz="1100" dirty="0">
                          <a:solidFill>
                            <a:srgbClr val="1F2937"/>
                          </a:solidFill>
                        </a:rPr>
                        <a:t>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월요일~일요일 </a:t>
                      </a:r>
                      <a:pPr indent="0" marL="0">
                        <a:buNone/>
                      </a:pPr>
                      <a:r>
                        <a:rPr lang="en-US" sz="1100" dirty="0">
                          <a:solidFill>
                            <a:srgbClr val="1F2937"/>
                          </a:solidFill>
                        </a:rPr>
                        <a:t>기간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‘지난주’ </a:t>
                      </a:r>
                      <a:pPr indent="0" marL="0">
                        <a:buNone/>
                      </a:pPr>
                      <a:r>
                        <a:rPr lang="en-US" sz="1100" dirty="0">
                          <a:solidFill>
                            <a:srgbClr val="1F2937"/>
                          </a:solidFill>
                        </a:rPr>
                        <a:t>기간이 </a:t>
                      </a:r>
                      <a:pPr indent="0" marL="0">
                        <a:buNone/>
                      </a:pPr>
                      <a:r>
                        <a:rPr lang="en-US" sz="1100" dirty="0">
                          <a:solidFill>
                            <a:srgbClr val="1F2937"/>
                          </a:solidFill>
                        </a:rPr>
                        <a:t>명확히 </a:t>
                      </a:r>
                      <a:pPr indent="0" marL="0">
                        <a:buNone/>
                      </a:pPr>
                      <a:r>
                        <a:rPr lang="en-US" sz="1100" dirty="0">
                          <a:solidFill>
                            <a:srgbClr val="1F2937"/>
                          </a:solidFill>
                        </a:rPr>
                        <a:t>산정됨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3</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섭취 </a:t>
                      </a:r>
                      <a:pPr indent="0" marL="0">
                        <a:buNone/>
                      </a:pPr>
                      <a:r>
                        <a:rPr lang="en-US" sz="1100" dirty="0">
                          <a:solidFill>
                            <a:srgbClr val="1F2937"/>
                          </a:solidFill>
                        </a:rPr>
                        <a:t>날짜 </a:t>
                      </a:r>
                      <a:pPr indent="0" marL="0">
                        <a:buNone/>
                      </a:pPr>
                      <a:r>
                        <a:rPr lang="en-US" sz="1100" dirty="0">
                          <a:solidFill>
                            <a:srgbClr val="1F2937"/>
                          </a:solidFill>
                        </a:rPr>
                        <a:t>기준 </a:t>
                      </a:r>
                      <a:pPr indent="0" marL="0">
                        <a:buNone/>
                      </a:pPr>
                      <a:r>
                        <a:rPr lang="en-US" sz="1100" dirty="0">
                          <a:solidFill>
                            <a:srgbClr val="1F2937"/>
                          </a:solidFill>
                        </a:rPr>
                        <a:t>기록 </a:t>
                      </a:r>
                      <a:pPr indent="0" marL="0">
                        <a:buNone/>
                      </a:pPr>
                      <a:r>
                        <a:rPr lang="en-US" sz="1100" dirty="0">
                          <a:solidFill>
                            <a:srgbClr val="1F2937"/>
                          </a:solidFill>
                        </a:rPr>
                        <a:t>조회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앱 </a:t>
                      </a:r>
                      <a:pPr indent="0" marL="0">
                        <a:buNone/>
                      </a:pPr>
                      <a:r>
                        <a:rPr lang="en-US" sz="1100" dirty="0">
                          <a:solidFill>
                            <a:srgbClr val="1F2937"/>
                          </a:solidFill>
                        </a:rPr>
                        <a:t>서버·데이터베이스</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사용자·기간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해당 </a:t>
                      </a:r>
                      <a:pPr indent="0" marL="0">
                        <a:buNone/>
                      </a:pPr>
                      <a:r>
                        <a:rPr lang="en-US" sz="1100" dirty="0">
                          <a:solidFill>
                            <a:srgbClr val="1F2937"/>
                          </a:solidFill>
                        </a:rPr>
                        <a:t>기간 </a:t>
                      </a:r>
                      <a:pPr indent="0" marL="0">
                        <a:buNone/>
                      </a:pPr>
                      <a:r>
                        <a:rPr lang="en-US" sz="1100" dirty="0">
                          <a:solidFill>
                            <a:srgbClr val="1F2937"/>
                          </a:solidFill>
                        </a:rPr>
                        <a:t>식사 </a:t>
                      </a:r>
                      <a:pPr indent="0" marL="0">
                        <a:buNone/>
                      </a:pPr>
                      <a:r>
                        <a:rPr lang="en-US" sz="1100" dirty="0">
                          <a:solidFill>
                            <a:srgbClr val="1F2937"/>
                          </a:solidFill>
                        </a:rPr>
                        <a:t>기록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생성 </a:t>
                      </a:r>
                      <a:pPr indent="0" marL="0">
                        <a:buNone/>
                      </a:pPr>
                      <a:r>
                        <a:rPr lang="en-US" sz="1100" dirty="0">
                          <a:solidFill>
                            <a:srgbClr val="1F2937"/>
                          </a:solidFill>
                        </a:rPr>
                        <a:t>시각이 </a:t>
                      </a:r>
                      <a:pPr indent="0" marL="0">
                        <a:buNone/>
                      </a:pPr>
                      <a:r>
                        <a:rPr lang="en-US" sz="1100" dirty="0">
                          <a:solidFill>
                            <a:srgbClr val="1F2937"/>
                          </a:solidFill>
                        </a:rPr>
                        <a:t>아닌 </a:t>
                      </a:r>
                      <a:pPr indent="0" marL="0">
                        <a:buNone/>
                      </a:pPr>
                      <a:r>
                        <a:rPr lang="en-US" sz="1100" dirty="0">
                          <a:solidFill>
                            <a:srgbClr val="1F2937"/>
                          </a:solidFill>
                        </a:rPr>
                        <a:t>섭취 </a:t>
                      </a:r>
                      <a:pPr indent="0" marL="0">
                        <a:buNone/>
                      </a:pPr>
                      <a:r>
                        <a:rPr lang="en-US" sz="1100" dirty="0">
                          <a:solidFill>
                            <a:srgbClr val="1F2937"/>
                          </a:solidFill>
                        </a:rPr>
                        <a:t>날짜로 </a:t>
                      </a:r>
                      <a:pPr indent="0" marL="0">
                        <a:buNone/>
                      </a:pPr>
                      <a:r>
                        <a:rPr lang="en-US" sz="1100" dirty="0">
                          <a:solidFill>
                            <a:srgbClr val="1F2937"/>
                          </a:solidFill>
                        </a:rPr>
                        <a:t>조회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4</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기록 </a:t>
                      </a:r>
                      <a:pPr indent="0" marL="0">
                        <a:buNone/>
                      </a:pPr>
                      <a:r>
                        <a:rPr lang="en-US" sz="1100" dirty="0">
                          <a:solidFill>
                            <a:srgbClr val="1F2937"/>
                          </a:solidFill>
                        </a:rPr>
                        <a:t>일수·영양값 </a:t>
                      </a:r>
                      <a:pPr indent="0" marL="0">
                        <a:buNone/>
                      </a:pPr>
                      <a:r>
                        <a:rPr lang="en-US" sz="1100" dirty="0">
                          <a:solidFill>
                            <a:srgbClr val="1F2937"/>
                          </a:solidFill>
                        </a:rPr>
                        <a:t>집계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앱 </a:t>
                      </a:r>
                      <a:pPr indent="0" marL="0">
                        <a:buNone/>
                      </a:pPr>
                      <a:r>
                        <a:rPr lang="en-US" sz="1100" dirty="0">
                          <a:solidFill>
                            <a:srgbClr val="1F2937"/>
                          </a:solidFill>
                        </a:rPr>
                        <a:t>서버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기록 </a:t>
                      </a:r>
                      <a:pPr indent="0" marL="0">
                        <a:buNone/>
                      </a:pPr>
                      <a:r>
                        <a:rPr lang="en-US" sz="1100" dirty="0">
                          <a:solidFill>
                            <a:srgbClr val="1F2937"/>
                          </a:solidFill>
                        </a:rPr>
                        <a:t>및 </a:t>
                      </a:r>
                      <a:pPr indent="0" marL="0">
                        <a:buNone/>
                      </a:pPr>
                      <a:r>
                        <a:rPr lang="en-US" sz="1100" dirty="0">
                          <a:solidFill>
                            <a:srgbClr val="1F2937"/>
                          </a:solidFill>
                        </a:rPr>
                        <a:t>영양값 </a:t>
                      </a:r>
                      <a:pPr indent="0" marL="0">
                        <a:buNone/>
                      </a:pPr>
                      <a:r>
                        <a:rPr lang="en-US" sz="1100" dirty="0">
                          <a:solidFill>
                            <a:srgbClr val="1F2937"/>
                          </a:solidFill>
                        </a:rPr>
                        <a:t>스냅샷</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기록 </a:t>
                      </a:r>
                      <a:pPr indent="0" marL="0">
                        <a:buNone/>
                      </a:pPr>
                      <a:r>
                        <a:rPr lang="en-US" sz="1100" dirty="0">
                          <a:solidFill>
                            <a:srgbClr val="1F2937"/>
                          </a:solidFill>
                        </a:rPr>
                        <a:t>일수, </a:t>
                      </a:r>
                      <a:pPr indent="0" marL="0">
                        <a:buNone/>
                      </a:pPr>
                      <a:r>
                        <a:rPr lang="en-US" sz="1100" dirty="0">
                          <a:solidFill>
                            <a:srgbClr val="1F2937"/>
                          </a:solidFill>
                        </a:rPr>
                        <a:t>영양소별 </a:t>
                      </a:r>
                      <a:pPr indent="0" marL="0">
                        <a:buNone/>
                      </a:pPr>
                      <a:r>
                        <a:rPr lang="en-US" sz="1100" dirty="0">
                          <a:solidFill>
                            <a:srgbClr val="1F2937"/>
                          </a:solidFill>
                        </a:rPr>
                        <a:t>합계·평균</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결측 </a:t>
                      </a:r>
                      <a:pPr indent="0" marL="0">
                        <a:buNone/>
                      </a:pPr>
                      <a:r>
                        <a:rPr lang="en-US" sz="1100" dirty="0">
                          <a:solidFill>
                            <a:srgbClr val="1F2937"/>
                          </a:solidFill>
                        </a:rPr>
                        <a:t>영양값과 </a:t>
                      </a:r>
                      <a:pPr indent="0" marL="0">
                        <a:buNone/>
                      </a:pPr>
                      <a:r>
                        <a:rPr lang="en-US" sz="1100" dirty="0">
                          <a:solidFill>
                            <a:srgbClr val="1F2937"/>
                          </a:solidFill>
                        </a:rPr>
                        <a:t>미기록 </a:t>
                      </a:r>
                      <a:pPr indent="0" marL="0">
                        <a:buNone/>
                      </a:pPr>
                      <a:r>
                        <a:rPr lang="en-US" sz="1100" dirty="0">
                          <a:solidFill>
                            <a:srgbClr val="1F2937"/>
                          </a:solidFill>
                        </a:rPr>
                        <a:t>날짜를 </a:t>
                      </a:r>
                      <a:pPr indent="0" marL="0">
                        <a:buNone/>
                      </a:pPr>
                      <a:r>
                        <a:rPr lang="en-US" sz="1100" dirty="0">
                          <a:solidFill>
                            <a:srgbClr val="1F2937"/>
                          </a:solidFill>
                        </a:rPr>
                        <a:t>구분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5</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목표 </a:t>
                      </a:r>
                      <a:pPr indent="0" marL="0">
                        <a:buNone/>
                      </a:pPr>
                      <a:r>
                        <a:rPr lang="en-US" sz="1100" dirty="0">
                          <a:solidFill>
                            <a:srgbClr val="1F2937"/>
                          </a:solidFill>
                        </a:rPr>
                        <a:t>이력 </a:t>
                      </a:r>
                      <a:pPr indent="0" marL="0">
                        <a:buNone/>
                      </a:pPr>
                      <a:r>
                        <a:rPr lang="en-US" sz="1100" dirty="0">
                          <a:solidFill>
                            <a:srgbClr val="1F2937"/>
                          </a:solidFill>
                        </a:rPr>
                        <a:t>적용</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앱 </a:t>
                      </a:r>
                      <a:pPr indent="0" marL="0">
                        <a:buNone/>
                      </a:pPr>
                      <a:r>
                        <a:rPr lang="en-US" sz="1100" dirty="0">
                          <a:solidFill>
                            <a:srgbClr val="1F2937"/>
                          </a:solidFill>
                        </a:rPr>
                        <a:t>서버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목표 </a:t>
                      </a:r>
                      <a:pPr indent="0" marL="0">
                        <a:buNone/>
                      </a:pPr>
                      <a:r>
                        <a:rPr lang="en-US" sz="1100" dirty="0">
                          <a:solidFill>
                            <a:srgbClr val="1F2937"/>
                          </a:solidFill>
                        </a:rPr>
                        <a:t>유효 </a:t>
                      </a:r>
                      <a:pPr indent="0" marL="0">
                        <a:buNone/>
                      </a:pPr>
                      <a:r>
                        <a:rPr lang="en-US" sz="1100" dirty="0">
                          <a:solidFill>
                            <a:srgbClr val="1F2937"/>
                          </a:solidFill>
                        </a:rPr>
                        <a:t>기간, </a:t>
                      </a:r>
                      <a:pPr indent="0" marL="0">
                        <a:buNone/>
                      </a:pPr>
                      <a:r>
                        <a:rPr lang="en-US" sz="1100" dirty="0">
                          <a:solidFill>
                            <a:srgbClr val="1F2937"/>
                          </a:solidFill>
                        </a:rPr>
                        <a:t>식사 </a:t>
                      </a:r>
                      <a:pPr indent="0" marL="0">
                        <a:buNone/>
                      </a:pPr>
                      <a:r>
                        <a:rPr lang="en-US" sz="1100" dirty="0">
                          <a:solidFill>
                            <a:srgbClr val="1F2937"/>
                          </a:solidFill>
                        </a:rPr>
                        <a:t>날짜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해당 </a:t>
                      </a:r>
                      <a:pPr indent="0" marL="0">
                        <a:buNone/>
                      </a:pPr>
                      <a:r>
                        <a:rPr lang="en-US" sz="1100" dirty="0">
                          <a:solidFill>
                            <a:srgbClr val="1F2937"/>
                          </a:solidFill>
                        </a:rPr>
                        <a:t>날짜의 </a:t>
                      </a:r>
                      <a:pPr indent="0" marL="0">
                        <a:buNone/>
                      </a:pPr>
                      <a:r>
                        <a:rPr lang="en-US" sz="1100" dirty="0">
                          <a:solidFill>
                            <a:srgbClr val="1F2937"/>
                          </a:solidFill>
                        </a:rPr>
                        <a:t>목표 </a:t>
                      </a:r>
                      <a:pPr indent="0" marL="0">
                        <a:buNone/>
                      </a:pPr>
                      <a:r>
                        <a:rPr lang="en-US" sz="1100" dirty="0">
                          <a:solidFill>
                            <a:srgbClr val="1F2937"/>
                          </a:solidFill>
                        </a:rPr>
                        <a:t>비교값</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목표가 </a:t>
                      </a:r>
                      <a:pPr indent="0" marL="0">
                        <a:buNone/>
                      </a:pPr>
                      <a:r>
                        <a:rPr lang="en-US" sz="1100" dirty="0">
                          <a:solidFill>
                            <a:srgbClr val="1F2937"/>
                          </a:solidFill>
                        </a:rPr>
                        <a:t>있었던 </a:t>
                      </a:r>
                      <a:pPr indent="0" marL="0">
                        <a:buNone/>
                      </a:pPr>
                      <a:r>
                        <a:rPr lang="en-US" sz="1100" dirty="0">
                          <a:solidFill>
                            <a:srgbClr val="1F2937"/>
                          </a:solidFill>
                        </a:rPr>
                        <a:t>날짜만 </a:t>
                      </a:r>
                      <a:pPr indent="0" marL="0">
                        <a:buNone/>
                      </a:pPr>
                      <a:r>
                        <a:rPr lang="en-US" sz="1100" dirty="0">
                          <a:solidFill>
                            <a:srgbClr val="1F2937"/>
                          </a:solidFill>
                        </a:rPr>
                        <a:t>비교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6</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데이터 </a:t>
                      </a:r>
                      <a:pPr indent="0" marL="0">
                        <a:buNone/>
                      </a:pPr>
                      <a:r>
                        <a:rPr lang="en-US" sz="1100" dirty="0">
                          <a:solidFill>
                            <a:srgbClr val="1F2937"/>
                          </a:solidFill>
                        </a:rPr>
                        <a:t>충분성 </a:t>
                      </a:r>
                      <a:pPr indent="0" marL="0">
                        <a:buNone/>
                      </a:pPr>
                      <a:r>
                        <a:rPr lang="en-US" sz="1100" dirty="0">
                          <a:solidFill>
                            <a:srgbClr val="1F2937"/>
                          </a:solidFill>
                        </a:rPr>
                        <a:t>판단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앱 </a:t>
                      </a:r>
                      <a:pPr indent="0" marL="0">
                        <a:buNone/>
                      </a:pPr>
                      <a:r>
                        <a:rPr lang="en-US" sz="1100" dirty="0">
                          <a:solidFill>
                            <a:srgbClr val="1F2937"/>
                          </a:solidFill>
                        </a:rPr>
                        <a:t>서버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기록 </a:t>
                      </a:r>
                      <a:pPr indent="0" marL="0">
                        <a:buNone/>
                      </a:pPr>
                      <a:r>
                        <a:rPr lang="en-US" sz="1100" dirty="0">
                          <a:solidFill>
                            <a:srgbClr val="1F2937"/>
                          </a:solidFill>
                        </a:rPr>
                        <a:t>일수·비교 </a:t>
                      </a:r>
                      <a:pPr indent="0" marL="0">
                        <a:buNone/>
                      </a:pPr>
                      <a:r>
                        <a:rPr lang="en-US" sz="1100" dirty="0">
                          <a:solidFill>
                            <a:srgbClr val="1F2937"/>
                          </a:solidFill>
                        </a:rPr>
                        <a:t>기준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비교 </a:t>
                      </a:r>
                      <a:pPr indent="0" marL="0">
                        <a:buNone/>
                      </a:pPr>
                      <a:r>
                        <a:rPr lang="en-US" sz="1100" dirty="0">
                          <a:solidFill>
                            <a:srgbClr val="1F2937"/>
                          </a:solidFill>
                        </a:rPr>
                        <a:t>가능 </a:t>
                      </a:r>
                      <a:pPr indent="0" marL="0">
                        <a:buNone/>
                      </a:pPr>
                      <a:r>
                        <a:rPr lang="en-US" sz="1100" dirty="0">
                          <a:solidFill>
                            <a:srgbClr val="1F2937"/>
                          </a:solidFill>
                        </a:rPr>
                        <a:t>여부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지난주 </a:t>
                      </a:r>
                      <a:pPr indent="0" marL="0">
                        <a:buNone/>
                      </a:pPr>
                      <a:r>
                        <a:rPr lang="en-US" sz="1100" dirty="0">
                          <a:solidFill>
                            <a:srgbClr val="1F2937"/>
                          </a:solidFill>
                        </a:rPr>
                        <a:t>비교 </a:t>
                      </a:r>
                      <a:pPr indent="0" marL="0">
                        <a:buNone/>
                      </a:pPr>
                      <a:r>
                        <a:rPr lang="en-US" sz="1100" dirty="0">
                          <a:solidFill>
                            <a:srgbClr val="1F2937"/>
                          </a:solidFill>
                        </a:rPr>
                        <a:t>최소 </a:t>
                      </a:r>
                      <a:pPr indent="0" marL="0">
                        <a:buNone/>
                      </a:pPr>
                      <a:r>
                        <a:rPr lang="en-US" sz="1100" dirty="0">
                          <a:solidFill>
                            <a:srgbClr val="1F2937"/>
                          </a:solidFill>
                        </a:rPr>
                        <a:t>기준은 </a:t>
                      </a:r>
                      <a:pPr indent="0" marL="0">
                        <a:buNone/>
                      </a:pPr>
                      <a:r>
                        <a:rPr lang="en-US" sz="1100" dirty="0">
                          <a:solidFill>
                            <a:srgbClr val="1F2937"/>
                          </a:solidFill>
                        </a:rPr>
                        <a:t>확정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7</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결과 </a:t>
                      </a:r>
                      <a:pPr indent="0" marL="0">
                        <a:buNone/>
                      </a:pPr>
                      <a:r>
                        <a:rPr lang="en-US" sz="1100" dirty="0">
                          <a:solidFill>
                            <a:srgbClr val="1F2937"/>
                          </a:solidFill>
                        </a:rPr>
                        <a:t>문구·표시 </a:t>
                      </a:r>
                      <a:pPr indent="0" marL="0">
                        <a:buNone/>
                      </a:pPr>
                      <a:r>
                        <a:rPr lang="en-US" sz="1100" dirty="0">
                          <a:solidFill>
                            <a:srgbClr val="1F2937"/>
                          </a:solidFill>
                        </a:rPr>
                        <a:t>생성</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앱 </a:t>
                      </a:r>
                      <a:pPr indent="0" marL="0">
                        <a:buNone/>
                      </a:pPr>
                      <a:r>
                        <a:rPr lang="en-US" sz="1100" dirty="0">
                          <a:solidFill>
                            <a:srgbClr val="1F2937"/>
                          </a:solidFill>
                        </a:rPr>
                        <a:t>서버·앱</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집계 </a:t>
                      </a:r>
                      <a:pPr indent="0" marL="0">
                        <a:buNone/>
                      </a:pPr>
                      <a:r>
                        <a:rPr lang="en-US" sz="1100" dirty="0">
                          <a:solidFill>
                            <a:srgbClr val="1F2937"/>
                          </a:solidFill>
                        </a:rPr>
                        <a:t>결과, </a:t>
                      </a:r>
                      <a:pPr indent="0" marL="0">
                        <a:buNone/>
                      </a:pPr>
                      <a:r>
                        <a:rPr lang="en-US" sz="1100" dirty="0">
                          <a:solidFill>
                            <a:srgbClr val="1F2937"/>
                          </a:solidFill>
                        </a:rPr>
                        <a:t>결측 </a:t>
                      </a:r>
                      <a:pPr indent="0" marL="0">
                        <a:buNone/>
                      </a:pPr>
                      <a:r>
                        <a:rPr lang="en-US" sz="1100" dirty="0">
                          <a:solidFill>
                            <a:srgbClr val="1F2937"/>
                          </a:solidFill>
                        </a:rPr>
                        <a:t>여부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중립적인 </a:t>
                      </a:r>
                      <a:pPr indent="0" marL="0">
                        <a:buNone/>
                      </a:pPr>
                      <a:r>
                        <a:rPr lang="en-US" sz="1100" dirty="0">
                          <a:solidFill>
                            <a:srgbClr val="1F2937"/>
                          </a:solidFill>
                        </a:rPr>
                        <a:t>리포트 </a:t>
                      </a:r>
                      <a:pPr indent="0" marL="0">
                        <a:buNone/>
                      </a:pPr>
                      <a:r>
                        <a:rPr lang="en-US" sz="1100" dirty="0">
                          <a:solidFill>
                            <a:srgbClr val="1F2937"/>
                          </a:solidFill>
                        </a:rPr>
                        <a:t>화면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기록된 </a:t>
                      </a:r>
                      <a:pPr indent="0" marL="0">
                        <a:buNone/>
                      </a:pPr>
                      <a:r>
                        <a:rPr lang="en-US" sz="1100" dirty="0">
                          <a:solidFill>
                            <a:srgbClr val="1F2937"/>
                          </a:solidFill>
                        </a:rPr>
                        <a:t>내용 </a:t>
                      </a:r>
                      <a:pPr indent="0" marL="0">
                        <a:buNone/>
                      </a:pPr>
                      <a:r>
                        <a:rPr lang="en-US" sz="1100" dirty="0">
                          <a:solidFill>
                            <a:srgbClr val="1F2937"/>
                          </a:solidFill>
                        </a:rPr>
                        <a:t>기준 </a:t>
                      </a:r>
                      <a:pPr indent="0" marL="0">
                        <a:buNone/>
                      </a:pPr>
                      <a:r>
                        <a:rPr lang="en-US" sz="1100" dirty="0">
                          <a:solidFill>
                            <a:srgbClr val="1F2937"/>
                          </a:solidFill>
                        </a:rPr>
                        <a:t>표시, </a:t>
                      </a:r>
                      <a:pPr indent="0" marL="0">
                        <a:buNone/>
                      </a:pPr>
                      <a:r>
                        <a:rPr lang="en-US" sz="1100" dirty="0">
                          <a:solidFill>
                            <a:srgbClr val="1F2937"/>
                          </a:solidFill>
                        </a:rPr>
                        <a:t>빈 </a:t>
                      </a:r>
                      <a:pPr indent="0" marL="0">
                        <a:buNone/>
                      </a:pPr>
                      <a:r>
                        <a:rPr lang="en-US" sz="1100" dirty="0">
                          <a:solidFill>
                            <a:srgbClr val="1F2937"/>
                          </a:solidFill>
                        </a:rPr>
                        <a:t>날짜를 </a:t>
                      </a:r>
                      <a:pPr indent="0" marL="0">
                        <a:buNone/>
                      </a:pPr>
                      <a:r>
                        <a:rPr lang="en-US" sz="1100" dirty="0">
                          <a:solidFill>
                            <a:srgbClr val="1F2937"/>
                          </a:solidFill>
                        </a:rPr>
                        <a:t>0으로 </a:t>
                      </a:r>
                      <a:pPr indent="0" marL="0">
                        <a:buNone/>
                      </a:pPr>
                      <a:r>
                        <a:rPr lang="en-US" sz="1100" dirty="0">
                          <a:solidFill>
                            <a:srgbClr val="1F2937"/>
                          </a:solidFill>
                        </a:rPr>
                        <a:t>오인시키지 </a:t>
                      </a:r>
                      <a:pPr indent="0" marL="0">
                        <a:buNone/>
                      </a:pPr>
                      <a:r>
                        <a:rPr lang="en-US" sz="1100" dirty="0">
                          <a:solidFill>
                            <a:srgbClr val="1F2937"/>
                          </a:solidFill>
                        </a:rPr>
                        <a:t>않음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8</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화면 </a:t>
                      </a:r>
                      <a:pPr indent="0" marL="0">
                        <a:buNone/>
                      </a:pPr>
                      <a:r>
                        <a:rPr lang="en-US" sz="1100" dirty="0">
                          <a:solidFill>
                            <a:srgbClr val="1F2937"/>
                          </a:solidFill>
                        </a:rPr>
                        <a:t>표시 </a:t>
                      </a:r>
                      <a:pPr indent="0" marL="0">
                        <a:buNone/>
                      </a:pPr>
                      <a:r>
                        <a:rPr lang="en-US" sz="1100" dirty="0">
                          <a:solidFill>
                            <a:srgbClr val="1F2937"/>
                          </a:solidFill>
                        </a:rPr>
                        <a:t>및 </a:t>
                      </a:r>
                      <a:pPr indent="0" marL="0">
                        <a:buNone/>
                      </a:pPr>
                      <a:r>
                        <a:rPr lang="en-US" sz="1100" dirty="0">
                          <a:solidFill>
                            <a:srgbClr val="1F2937"/>
                          </a:solidFill>
                        </a:rPr>
                        <a:t>갱신</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앱</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리포트 </a:t>
                      </a:r>
                      <a:pPr indent="0" marL="0">
                        <a:buNone/>
                      </a:pPr>
                      <a:r>
                        <a:rPr lang="en-US" sz="1100" dirty="0">
                          <a:solidFill>
                            <a:srgbClr val="1F2937"/>
                          </a:solidFill>
                        </a:rPr>
                        <a:t>응답</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리포트 </a:t>
                      </a:r>
                      <a:pPr indent="0" marL="0">
                        <a:buNone/>
                      </a:pPr>
                      <a:r>
                        <a:rPr lang="en-US" sz="1100" dirty="0">
                          <a:solidFill>
                            <a:srgbClr val="1F2937"/>
                          </a:solidFill>
                        </a:rPr>
                        <a:t>표시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수정·삭제 </a:t>
                      </a:r>
                      <a:pPr indent="0" marL="0">
                        <a:buNone/>
                      </a:pPr>
                      <a:r>
                        <a:rPr lang="en-US" sz="1100" dirty="0">
                          <a:solidFill>
                            <a:srgbClr val="1F2937"/>
                          </a:solidFill>
                        </a:rPr>
                        <a:t>후 </a:t>
                      </a:r>
                      <a:pPr indent="0" marL="0">
                        <a:buNone/>
                      </a:pPr>
                      <a:r>
                        <a:rPr lang="en-US" sz="1100" dirty="0">
                          <a:solidFill>
                            <a:srgbClr val="1F2937"/>
                          </a:solidFill>
                        </a:rPr>
                        <a:t>다시 </a:t>
                      </a:r>
                      <a:pPr indent="0" marL="0">
                        <a:buNone/>
                      </a:pPr>
                      <a:r>
                        <a:rPr lang="en-US" sz="1100" dirty="0">
                          <a:solidFill>
                            <a:srgbClr val="1F2937"/>
                          </a:solidFill>
                        </a:rPr>
                        <a:t>조회하면 </a:t>
                      </a:r>
                      <a:pPr indent="0" marL="0">
                        <a:buNone/>
                      </a:pPr>
                      <a:r>
                        <a:rPr lang="en-US" sz="1100" dirty="0">
                          <a:solidFill>
                            <a:srgbClr val="1F2937"/>
                          </a:solidFill>
                        </a:rPr>
                        <a:t>최신 </a:t>
                      </a:r>
                      <a:pPr indent="0" marL="0">
                        <a:buNone/>
                      </a:pPr>
                      <a:r>
                        <a:rPr lang="en-US" sz="1100" dirty="0">
                          <a:solidFill>
                            <a:srgbClr val="1F2937"/>
                          </a:solidFill>
                        </a:rPr>
                        <a:t>정보 </a:t>
                      </a:r>
                      <a:pPr indent="0" marL="0">
                        <a:buNone/>
                      </a:pPr>
                      <a:r>
                        <a:rPr lang="en-US" sz="1100" dirty="0">
                          <a:solidFill>
                            <a:srgbClr val="1F2937"/>
                          </a:solidFill>
                        </a:rPr>
                        <a:t>표시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Mermaid 다이어그램</a:t>
            </a:r>
            <a:endParaRPr lang="en-US" sz="2800" dirty="0"/>
          </a:p>
        </p:txBody>
      </p:sp>
      <p:sp>
        <p:nvSpPr>
          <p:cNvPr id="3" name="Shape 1"/>
          <p:cNvSpPr/>
          <p:nvPr/>
        </p:nvSpPr>
        <p:spPr>
          <a:xfrm>
            <a:off x="457200" y="1078992"/>
            <a:ext cx="2743200" cy="41148"/>
          </a:xfrm>
          <a:prstGeom prst="rect">
            <a:avLst/>
          </a:prstGeom>
          <a:solidFill>
            <a:srgbClr val="263F59"/>
          </a:solidFill>
          <a:ln/>
        </p:spPr>
      </p:sp>
      <p:pic>
        <p:nvPicPr>
          <p:cNvPr id="4" name="Image 0" descr="preencoded.png">    </p:cNvPr>
          <p:cNvPicPr>
            <a:picLocks noChangeAspect="1"/>
          </p:cNvPicPr>
          <p:nvPr/>
        </p:nvPicPr>
        <p:blipFill>
          <a:blip r:embed="rId1"/>
          <a:stretch>
            <a:fillRect/>
          </a:stretch>
        </p:blipFill>
        <p:spPr>
          <a:xfrm>
            <a:off x="1209303" y="1463040"/>
            <a:ext cx="6725394" cy="4206240"/>
          </a:xfrm>
          <a:prstGeom prst="rect">
            <a:avLst/>
          </a:prstGeom>
        </p:spPr>
      </p:pic>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상세 설명 (1/2)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1. 평균은 기록이 있는 날 기준으로 계산하며, 미기록 날짜를 0으로 넣지 않습니다. 화면에도 평균 기준을 표시해 실제 섭취량이나 일주일 전체 섭취량으로 오해하지 않도록 합니다.</a:t>
            </a:r>
            <a:endParaRPr lang="en-US" sz="1600" dirty="0"/>
          </a:p>
          <a:p>
            <a:pPr indent="0" marL="0">
              <a:spcAft>
                <a:spcPts val="800"/>
              </a:spcAft>
              <a:buNone/>
            </a:pPr>
            <a:r>
              <a:rPr lang="en-US" sz="1600" dirty="0">
                <a:solidFill>
                  <a:srgbClr val="4B5563"/>
                </a:solidFill>
              </a:rPr>
              <a:t>2. 영양값 결측은 영양소별로 처리합니다. 예를 들어 칼로리가 없는 항목을 칼로리 합계에는 포함하지 않더라도, 단백질 값이 있다면 단백질 계산에는 포함할 수 있습니다.</a:t>
            </a:r>
            <a:endParaRPr lang="en-US" sz="1600" dirty="0"/>
          </a:p>
          <a:p>
            <a:pPr indent="0" marL="0">
              <a:spcAft>
                <a:spcPts val="800"/>
              </a:spcAft>
              <a:buNone/>
            </a:pPr>
            <a:r>
              <a:rPr lang="en-US" sz="1600" dirty="0">
                <a:solidFill>
                  <a:srgbClr val="4B5563"/>
                </a:solidFill>
              </a:rPr>
              <a:t>3. 목표가 설정되지 않았거나 목표 변경 시점 이전인 날짜에는 목표 비교를 표시하지 않습니다. 목표 변경을 과거 기록에 소급 적용하지 않습니다.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상세 설명 (2/2)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4. 지난주 비교의 최소 기록 기준, 리포트 화면의 정확한 기간 선택 범위, 빈 상태 문구 외의 예외 문구는 추가 확정이 필요합니다. 별도 리포트 알림이나 이를 위한 정기 배치 작업은 MVP에서 제외하는 방향입니다.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3.5 기록 알림 설정·발송 플로우</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프로세스 설명 (1/3)</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기록 알림은 사용자가 앱 안에서 선택한 경우에만 켤 수 있습니다. 기본값은 꺼짐이며, 약관 동의와 별개로 처리합니다. 온보딩이나 첫 기록 후 안내할 수 있으나, 운영체제 권한은 사용자가 실제로 알림을 켜기로 선택할 때 요청하는 방향입니다.</a:t>
            </a:r>
            <a:endParaRPr lang="en-US" sz="1600" dirty="0"/>
          </a:p>
          <a:p>
            <a:pPr indent="0" marL="0">
              <a:spcAft>
                <a:spcPts val="800"/>
              </a:spcAft>
              <a:buNone/>
            </a:pPr>
            <a:r>
              <a:rPr lang="en-US" sz="1600" dirty="0">
                <a:solidFill>
                  <a:srgbClr val="4B5563"/>
                </a:solidFill>
              </a:rPr>
              <a:t>MVP에서 포함하는 것은 사용자가 선택한 시간의 하루 한 번 기록 알림입니다. 기본 시간은 저녁 8시로 제안됐지만 사용자는 설정에서 변경할 수 있어야 합니다. 알림 설정 화면에서 끄거나 시간을 바꾼 경우 발송 작업이 이전 설정을 따르지 않도록 최신 설정 상태를 확인합니다.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프로세스 설명 (2/3)</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그날 식사 기록이 한 건 이상 있으면 기록 알림은 보내지 않습니다. 알림 문구에는 음식명·칼로리·체중 등 개인 영양 정보를 넣지 않습니다. 주간 리포트 알림은 앞선 논의에서 제외됐으며, 회의 후반부에는 사용자가 켠 경우의 주간 알림도 언급됐습니다. 이 문서에서는 MVP 의사결정인 </a:t>
            </a:r>
            <a:pPr indent="0" marL="0">
              <a:spcAft>
                <a:spcPts val="800"/>
              </a:spcAft>
              <a:buNone/>
            </a:pPr>
            <a:r>
              <a:rPr lang="en-US" sz="1600" b="1" dirty="0">
                <a:solidFill>
                  <a:srgbClr val="4B5563"/>
                </a:solidFill>
              </a:rPr>
              <a:t>주간 리포트 푸시 제외</a:t>
            </a:r>
            <a:pPr indent="0" marL="0">
              <a:spcAft>
                <a:spcPts val="800"/>
              </a:spcAft>
              <a:buNone/>
            </a:pPr>
            <a:r>
              <a:rPr lang="en-US" sz="1600" dirty="0">
                <a:solidFill>
                  <a:srgbClr val="4B5563"/>
                </a:solidFill>
              </a:rPr>
              <a:t>를 기준으로 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프로세스 설명 (3/3)</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운영체제 권한을 거부했거나 알림이 꺼져 있어도 앱 사용과 리포트 조회는 가능해야 합니다. 사용자가 운영체제 설정에서 권한을 변경한 뒤 앱으로 돌아오는 경우의 상태 동기화 방식은 구현 세부 확인이 필요합니다. 발송 시간대별 예약 방식과 재시도·중복 방지 세부 구현은 </a:t>
            </a:r>
            <a:pPr indent="0" marL="0">
              <a:spcAft>
                <a:spcPts val="800"/>
              </a:spcAft>
              <a:buNone/>
            </a:pPr>
            <a:r>
              <a:rPr lang="en-US" sz="1600" b="1" dirty="0">
                <a:solidFill>
                  <a:srgbClr val="4B5563"/>
                </a:solidFill>
              </a:rPr>
              <a:t>추정 필요</a:t>
            </a:r>
            <a:pPr indent="0" marL="0">
              <a:spcAft>
                <a:spcPts val="800"/>
              </a:spcAft>
              <a:buNone/>
            </a:pPr>
            <a:r>
              <a:rPr lang="en-US" sz="1600" dirty="0">
                <a:solidFill>
                  <a:srgbClr val="4B5563"/>
                </a:solidFill>
              </a:rPr>
              <a:t>입니다.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단계별 상세</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474785"/>
                <a:gridCol w="1345223"/>
                <a:gridCol w="1028700"/>
                <a:gridCol w="1740877"/>
                <a:gridCol w="870438"/>
                <a:gridCol w="2294792"/>
                <a:gridCol w="474785"/>
              </a:tblGrid>
              <a:tr h="0">
                <a:tc>
                  <a:txBody>
                    <a:bodyPr/>
                    <a:lstStyle/>
                    <a:p>
                      <a:pPr indent="0" marL="0">
                        <a:buNone/>
                      </a:pPr>
                      <a:r>
                        <a:rPr lang="en-US" sz="1200" b="1" dirty="0">
                          <a:solidFill>
                            <a:srgbClr val="FFFFFF"/>
                          </a:solidFill>
                        </a:rPr>
                        <a:t>단계</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활동</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담당</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입력</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출력</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완료 </a:t>
                      </a:r>
                      <a:pPr indent="0" marL="0">
                        <a:buNone/>
                      </a:pPr>
                      <a:r>
                        <a:rPr lang="en-US" sz="1200" b="1" dirty="0">
                          <a:solidFill>
                            <a:srgbClr val="FFFFFF"/>
                          </a:solidFill>
                        </a:rPr>
                        <a:t>기준</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소요 </a:t>
                      </a:r>
                      <a:pPr indent="0" marL="0">
                        <a:buNone/>
                      </a:pPr>
                      <a:r>
                        <a:rPr lang="en-US" sz="1200" b="1" dirty="0">
                          <a:solidFill>
                            <a:srgbClr val="FFFFFF"/>
                          </a:solidFill>
                        </a:rPr>
                        <a:t>시간</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1</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알림 </a:t>
                      </a:r>
                      <a:pPr indent="0" marL="0">
                        <a:buNone/>
                      </a:pPr>
                      <a:r>
                        <a:rPr lang="en-US" sz="1100" dirty="0">
                          <a:solidFill>
                            <a:srgbClr val="1F2937"/>
                          </a:solidFill>
                        </a:rPr>
                        <a:t>안내 </a:t>
                      </a:r>
                      <a:pPr indent="0" marL="0">
                        <a:buNone/>
                      </a:pPr>
                      <a:r>
                        <a:rPr lang="en-US" sz="1100" dirty="0">
                          <a:solidFill>
                            <a:srgbClr val="1F2937"/>
                          </a:solidFill>
                        </a:rPr>
                        <a:t>표시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앱</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온보딩 </a:t>
                      </a:r>
                      <a:pPr indent="0" marL="0">
                        <a:buNone/>
                      </a:pPr>
                      <a:r>
                        <a:rPr lang="en-US" sz="1100" dirty="0">
                          <a:solidFill>
                            <a:srgbClr val="1F2937"/>
                          </a:solidFill>
                        </a:rPr>
                        <a:t>또는 </a:t>
                      </a:r>
                      <a:pPr indent="0" marL="0">
                        <a:buNone/>
                      </a:pPr>
                      <a:r>
                        <a:rPr lang="en-US" sz="1100" dirty="0">
                          <a:solidFill>
                            <a:srgbClr val="1F2937"/>
                          </a:solidFill>
                        </a:rPr>
                        <a:t>첫 </a:t>
                      </a:r>
                      <a:pPr indent="0" marL="0">
                        <a:buNone/>
                      </a:pPr>
                      <a:r>
                        <a:rPr lang="en-US" sz="1100" dirty="0">
                          <a:solidFill>
                            <a:srgbClr val="1F2937"/>
                          </a:solidFill>
                        </a:rPr>
                        <a:t>기록 </a:t>
                      </a:r>
                      <a:pPr indent="0" marL="0">
                        <a:buNone/>
                      </a:pPr>
                      <a:r>
                        <a:rPr lang="en-US" sz="1100" dirty="0">
                          <a:solidFill>
                            <a:srgbClr val="1F2937"/>
                          </a:solidFill>
                        </a:rPr>
                        <a:t>완료 </a:t>
                      </a:r>
                      <a:pPr indent="0" marL="0">
                        <a:buNone/>
                      </a:pPr>
                      <a:r>
                        <a:rPr lang="en-US" sz="1100" dirty="0">
                          <a:solidFill>
                            <a:srgbClr val="1F2937"/>
                          </a:solidFill>
                        </a:rPr>
                        <a:t>상태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알림 </a:t>
                      </a:r>
                      <a:pPr indent="0" marL="0">
                        <a:buNone/>
                      </a:pPr>
                      <a:r>
                        <a:rPr lang="en-US" sz="1100" dirty="0">
                          <a:solidFill>
                            <a:srgbClr val="1F2937"/>
                          </a:solidFill>
                        </a:rPr>
                        <a:t>선택 </a:t>
                      </a:r>
                      <a:pPr indent="0" marL="0">
                        <a:buNone/>
                      </a:pPr>
                      <a:r>
                        <a:rPr lang="en-US" sz="1100" dirty="0">
                          <a:solidFill>
                            <a:srgbClr val="1F2937"/>
                          </a:solidFill>
                        </a:rPr>
                        <a:t>안내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알림 </a:t>
                      </a:r>
                      <a:pPr indent="0" marL="0">
                        <a:buNone/>
                      </a:pPr>
                      <a:r>
                        <a:rPr lang="en-US" sz="1100" dirty="0">
                          <a:solidFill>
                            <a:srgbClr val="1F2937"/>
                          </a:solidFill>
                        </a:rPr>
                        <a:t>없는 </a:t>
                      </a:r>
                      <a:pPr indent="0" marL="0">
                        <a:buNone/>
                      </a:pPr>
                      <a:r>
                        <a:rPr lang="en-US" sz="1100" dirty="0">
                          <a:solidFill>
                            <a:srgbClr val="1F2937"/>
                          </a:solidFill>
                        </a:rPr>
                        <a:t>사용도 </a:t>
                      </a:r>
                      <a:pPr indent="0" marL="0">
                        <a:buNone/>
                      </a:pPr>
                      <a:r>
                        <a:rPr lang="en-US" sz="1100" dirty="0">
                          <a:solidFill>
                            <a:srgbClr val="1F2937"/>
                          </a:solidFill>
                        </a:rPr>
                        <a:t>동등하게 </a:t>
                      </a:r>
                      <a:pPr indent="0" marL="0">
                        <a:buNone/>
                      </a:pPr>
                      <a:r>
                        <a:rPr lang="en-US" sz="1100" dirty="0">
                          <a:solidFill>
                            <a:srgbClr val="1F2937"/>
                          </a:solidFill>
                        </a:rPr>
                        <a:t>선택 </a:t>
                      </a:r>
                      <a:pPr indent="0" marL="0">
                        <a:buNone/>
                      </a:pPr>
                      <a:r>
                        <a:rPr lang="en-US" sz="1100" dirty="0">
                          <a:solidFill>
                            <a:srgbClr val="1F2937"/>
                          </a:solidFill>
                        </a:rPr>
                        <a:t>가능</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2</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앱 </a:t>
                      </a:r>
                      <a:pPr indent="0" marL="0">
                        <a:buNone/>
                      </a:pPr>
                      <a:r>
                        <a:rPr lang="en-US" sz="1100" dirty="0">
                          <a:solidFill>
                            <a:srgbClr val="1F2937"/>
                          </a:solidFill>
                        </a:rPr>
                        <a:t>내 </a:t>
                      </a:r>
                      <a:pPr indent="0" marL="0">
                        <a:buNone/>
                      </a:pPr>
                      <a:r>
                        <a:rPr lang="en-US" sz="1100" dirty="0">
                          <a:solidFill>
                            <a:srgbClr val="1F2937"/>
                          </a:solidFill>
                        </a:rPr>
                        <a:t>알림 </a:t>
                      </a:r>
                      <a:pPr indent="0" marL="0">
                        <a:buNone/>
                      </a:pPr>
                      <a:r>
                        <a:rPr lang="en-US" sz="1100" dirty="0">
                          <a:solidFill>
                            <a:srgbClr val="1F2937"/>
                          </a:solidFill>
                        </a:rPr>
                        <a:t>선택 </a:t>
                      </a:r>
                      <a:pPr indent="0" marL="0">
                        <a:buNone/>
                      </a:pPr>
                      <a:r>
                        <a:rPr lang="en-US" sz="1100" dirty="0">
                          <a:solidFill>
                            <a:srgbClr val="1F2937"/>
                          </a:solidFill>
                        </a:rPr>
                        <a:t>및 </a:t>
                      </a:r>
                      <a:pPr indent="0" marL="0">
                        <a:buNone/>
                      </a:pPr>
                      <a:r>
                        <a:rPr lang="en-US" sz="1100" dirty="0">
                          <a:solidFill>
                            <a:srgbClr val="1F2937"/>
                          </a:solidFill>
                        </a:rPr>
                        <a:t>시간 </a:t>
                      </a:r>
                      <a:pPr indent="0" marL="0">
                        <a:buNone/>
                      </a:pPr>
                      <a:r>
                        <a:rPr lang="en-US" sz="1100" dirty="0">
                          <a:solidFill>
                            <a:srgbClr val="1F2937"/>
                          </a:solidFill>
                        </a:rPr>
                        <a:t>설정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사용자·앱</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켜기·끄기 </a:t>
                      </a:r>
                      <a:pPr indent="0" marL="0">
                        <a:buNone/>
                      </a:pPr>
                      <a:r>
                        <a:rPr lang="en-US" sz="1100" dirty="0">
                          <a:solidFill>
                            <a:srgbClr val="1F2937"/>
                          </a:solidFill>
                        </a:rPr>
                        <a:t>선택, </a:t>
                      </a:r>
                      <a:pPr indent="0" marL="0">
                        <a:buNone/>
                      </a:pPr>
                      <a:r>
                        <a:rPr lang="en-US" sz="1100" dirty="0">
                          <a:solidFill>
                            <a:srgbClr val="1F2937"/>
                          </a:solidFill>
                        </a:rPr>
                        <a:t>발송 </a:t>
                      </a:r>
                      <a:pPr indent="0" marL="0">
                        <a:buNone/>
                      </a:pPr>
                      <a:r>
                        <a:rPr lang="en-US" sz="1100" dirty="0">
                          <a:solidFill>
                            <a:srgbClr val="1F2937"/>
                          </a:solidFill>
                        </a:rPr>
                        <a:t>시각</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앱 </a:t>
                      </a:r>
                      <a:pPr indent="0" marL="0">
                        <a:buNone/>
                      </a:pPr>
                      <a:r>
                        <a:rPr lang="en-US" sz="1100" dirty="0">
                          <a:solidFill>
                            <a:srgbClr val="1F2937"/>
                          </a:solidFill>
                        </a:rPr>
                        <a:t>내 </a:t>
                      </a:r>
                      <a:pPr indent="0" marL="0">
                        <a:buNone/>
                      </a:pPr>
                      <a:r>
                        <a:rPr lang="en-US" sz="1100" dirty="0">
                          <a:solidFill>
                            <a:srgbClr val="1F2937"/>
                          </a:solidFill>
                        </a:rPr>
                        <a:t>알림 </a:t>
                      </a:r>
                      <a:pPr indent="0" marL="0">
                        <a:buNone/>
                      </a:pPr>
                      <a:r>
                        <a:rPr lang="en-US" sz="1100" dirty="0">
                          <a:solidFill>
                            <a:srgbClr val="1F2937"/>
                          </a:solidFill>
                        </a:rPr>
                        <a:t>설정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사용자가 </a:t>
                      </a:r>
                      <a:pPr indent="0" marL="0">
                        <a:buNone/>
                      </a:pPr>
                      <a:r>
                        <a:rPr lang="en-US" sz="1100" dirty="0">
                          <a:solidFill>
                            <a:srgbClr val="1F2937"/>
                          </a:solidFill>
                        </a:rPr>
                        <a:t>명시적으로 </a:t>
                      </a:r>
                      <a:pPr indent="0" marL="0">
                        <a:buNone/>
                      </a:pPr>
                      <a:r>
                        <a:rPr lang="en-US" sz="1100" dirty="0">
                          <a:solidFill>
                            <a:srgbClr val="1F2937"/>
                          </a:solidFill>
                        </a:rPr>
                        <a:t>선택한 </a:t>
                      </a:r>
                      <a:pPr indent="0" marL="0">
                        <a:buNone/>
                      </a:pPr>
                      <a:r>
                        <a:rPr lang="en-US" sz="1100" dirty="0">
                          <a:solidFill>
                            <a:srgbClr val="1F2937"/>
                          </a:solidFill>
                        </a:rPr>
                        <a:t>경우에만 </a:t>
                      </a:r>
                      <a:pPr indent="0" marL="0">
                        <a:buNone/>
                      </a:pPr>
                      <a:r>
                        <a:rPr lang="en-US" sz="1100" dirty="0">
                          <a:solidFill>
                            <a:srgbClr val="1F2937"/>
                          </a:solidFill>
                        </a:rPr>
                        <a:t>활성화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3</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운영체제 </a:t>
                      </a:r>
                      <a:pPr indent="0" marL="0">
                        <a:buNone/>
                      </a:pPr>
                      <a:r>
                        <a:rPr lang="en-US" sz="1100" dirty="0">
                          <a:solidFill>
                            <a:srgbClr val="1F2937"/>
                          </a:solidFill>
                        </a:rPr>
                        <a:t>권한 </a:t>
                      </a:r>
                      <a:pPr indent="0" marL="0">
                        <a:buNone/>
                      </a:pPr>
                      <a:r>
                        <a:rPr lang="en-US" sz="1100" dirty="0">
                          <a:solidFill>
                            <a:srgbClr val="1F2937"/>
                          </a:solidFill>
                        </a:rPr>
                        <a:t>요청</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앱·운영체제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사용자의 </a:t>
                      </a:r>
                      <a:pPr indent="0" marL="0">
                        <a:buNone/>
                      </a:pPr>
                      <a:r>
                        <a:rPr lang="en-US" sz="1100" dirty="0">
                          <a:solidFill>
                            <a:srgbClr val="1F2937"/>
                          </a:solidFill>
                        </a:rPr>
                        <a:t>알림 </a:t>
                      </a:r>
                      <a:pPr indent="0" marL="0">
                        <a:buNone/>
                      </a:pPr>
                      <a:r>
                        <a:rPr lang="en-US" sz="1100" dirty="0">
                          <a:solidFill>
                            <a:srgbClr val="1F2937"/>
                          </a:solidFill>
                        </a:rPr>
                        <a:t>켜기 </a:t>
                      </a:r>
                      <a:pPr indent="0" marL="0">
                        <a:buNone/>
                      </a:pPr>
                      <a:r>
                        <a:rPr lang="en-US" sz="1100" dirty="0">
                          <a:solidFill>
                            <a:srgbClr val="1F2937"/>
                          </a:solidFill>
                        </a:rPr>
                        <a:t>선택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권한 </a:t>
                      </a:r>
                      <a:pPr indent="0" marL="0">
                        <a:buNone/>
                      </a:pPr>
                      <a:r>
                        <a:rPr lang="en-US" sz="1100" dirty="0">
                          <a:solidFill>
                            <a:srgbClr val="1F2937"/>
                          </a:solidFill>
                        </a:rPr>
                        <a:t>허용·거부 </a:t>
                      </a:r>
                      <a:pPr indent="0" marL="0">
                        <a:buNone/>
                      </a:pPr>
                      <a:r>
                        <a:rPr lang="en-US" sz="1100" dirty="0">
                          <a:solidFill>
                            <a:srgbClr val="1F2937"/>
                          </a:solidFill>
                        </a:rPr>
                        <a:t>상태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권한 </a:t>
                      </a:r>
                      <a:pPr indent="0" marL="0">
                        <a:buNone/>
                      </a:pPr>
                      <a:r>
                        <a:rPr lang="en-US" sz="1100" dirty="0">
                          <a:solidFill>
                            <a:srgbClr val="1F2937"/>
                          </a:solidFill>
                        </a:rPr>
                        <a:t>결과를 </a:t>
                      </a:r>
                      <a:pPr indent="0" marL="0">
                        <a:buNone/>
                      </a:pPr>
                      <a:r>
                        <a:rPr lang="en-US" sz="1100" dirty="0">
                          <a:solidFill>
                            <a:srgbClr val="1F2937"/>
                          </a:solidFill>
                        </a:rPr>
                        <a:t>앱 </a:t>
                      </a:r>
                      <a:pPr indent="0" marL="0">
                        <a:buNone/>
                      </a:pPr>
                      <a:r>
                        <a:rPr lang="en-US" sz="1100" dirty="0">
                          <a:solidFill>
                            <a:srgbClr val="1F2937"/>
                          </a:solidFill>
                        </a:rPr>
                        <a:t>설정과 </a:t>
                      </a:r>
                      <a:pPr indent="0" marL="0">
                        <a:buNone/>
                      </a:pPr>
                      <a:r>
                        <a:rPr lang="en-US" sz="1100" dirty="0">
                          <a:solidFill>
                            <a:srgbClr val="1F2937"/>
                          </a:solidFill>
                        </a:rPr>
                        <a:t>구분해 </a:t>
                      </a:r>
                      <a:pPr indent="0" marL="0">
                        <a:buNone/>
                      </a:pPr>
                      <a:r>
                        <a:rPr lang="en-US" sz="1100" dirty="0">
                          <a:solidFill>
                            <a:srgbClr val="1F2937"/>
                          </a:solidFill>
                        </a:rPr>
                        <a:t>저장</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4</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발송 </a:t>
                      </a:r>
                      <a:pPr indent="0" marL="0">
                        <a:buNone/>
                      </a:pPr>
                      <a:r>
                        <a:rPr lang="en-US" sz="1100" dirty="0">
                          <a:solidFill>
                            <a:srgbClr val="1F2937"/>
                          </a:solidFill>
                        </a:rPr>
                        <a:t>대상 </a:t>
                      </a:r>
                      <a:pPr indent="0" marL="0">
                        <a:buNone/>
                      </a:pPr>
                      <a:r>
                        <a:rPr lang="en-US" sz="1100" dirty="0">
                          <a:solidFill>
                            <a:srgbClr val="1F2937"/>
                          </a:solidFill>
                        </a:rPr>
                        <a:t>및 </a:t>
                      </a:r>
                      <a:pPr indent="0" marL="0">
                        <a:buNone/>
                      </a:pPr>
                      <a:r>
                        <a:rPr lang="en-US" sz="1100" dirty="0">
                          <a:solidFill>
                            <a:srgbClr val="1F2937"/>
                          </a:solidFill>
                        </a:rPr>
                        <a:t>시각 </a:t>
                      </a:r>
                      <a:pPr indent="0" marL="0">
                        <a:buNone/>
                      </a:pPr>
                      <a:r>
                        <a:rPr lang="en-US" sz="1100" dirty="0">
                          <a:solidFill>
                            <a:srgbClr val="1F2937"/>
                          </a:solidFill>
                        </a:rPr>
                        <a:t>확인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앱 </a:t>
                      </a:r>
                      <a:pPr indent="0" marL="0">
                        <a:buNone/>
                      </a:pPr>
                      <a:r>
                        <a:rPr lang="en-US" sz="1100" dirty="0">
                          <a:solidFill>
                            <a:srgbClr val="1F2937"/>
                          </a:solidFill>
                        </a:rPr>
                        <a:t>서버·푸시 </a:t>
                      </a:r>
                      <a:pPr indent="0" marL="0">
                        <a:buNone/>
                      </a:pPr>
                      <a:r>
                        <a:rPr lang="en-US" sz="1100" dirty="0">
                          <a:solidFill>
                            <a:srgbClr val="1F2937"/>
                          </a:solidFill>
                        </a:rPr>
                        <a:t>전달 </a:t>
                      </a:r>
                      <a:pPr indent="0" marL="0">
                        <a:buNone/>
                      </a:pPr>
                      <a:r>
                        <a:rPr lang="en-US" sz="1100" dirty="0">
                          <a:solidFill>
                            <a:srgbClr val="1F2937"/>
                          </a:solidFill>
                        </a:rPr>
                        <a:t>체계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사용자 </a:t>
                      </a:r>
                      <a:pPr indent="0" marL="0">
                        <a:buNone/>
                      </a:pPr>
                      <a:r>
                        <a:rPr lang="en-US" sz="1100" dirty="0">
                          <a:solidFill>
                            <a:srgbClr val="1F2937"/>
                          </a:solidFill>
                        </a:rPr>
                        <a:t>설정, </a:t>
                      </a:r>
                      <a:pPr indent="0" marL="0">
                        <a:buNone/>
                      </a:pPr>
                      <a:r>
                        <a:rPr lang="en-US" sz="1100" dirty="0">
                          <a:solidFill>
                            <a:srgbClr val="1F2937"/>
                          </a:solidFill>
                        </a:rPr>
                        <a:t>푸시 </a:t>
                      </a:r>
                      <a:pPr indent="0" marL="0">
                        <a:buNone/>
                      </a:pPr>
                      <a:r>
                        <a:rPr lang="en-US" sz="1100" dirty="0">
                          <a:solidFill>
                            <a:srgbClr val="1F2937"/>
                          </a:solidFill>
                        </a:rPr>
                        <a:t>권한, </a:t>
                      </a:r>
                      <a:pPr indent="0" marL="0">
                        <a:buNone/>
                      </a:pPr>
                      <a:r>
                        <a:rPr lang="en-US" sz="1100" dirty="0">
                          <a:solidFill>
                            <a:srgbClr val="1F2937"/>
                          </a:solidFill>
                        </a:rPr>
                        <a:t>사용자 </a:t>
                      </a:r>
                      <a:pPr indent="0" marL="0">
                        <a:buNone/>
                      </a:pPr>
                      <a:r>
                        <a:rPr lang="en-US" sz="1100" dirty="0">
                          <a:solidFill>
                            <a:srgbClr val="1F2937"/>
                          </a:solidFill>
                        </a:rPr>
                        <a:t>시간대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발송 </a:t>
                      </a:r>
                      <a:pPr indent="0" marL="0">
                        <a:buNone/>
                      </a:pPr>
                      <a:r>
                        <a:rPr lang="en-US" sz="1100" dirty="0">
                          <a:solidFill>
                            <a:srgbClr val="1F2937"/>
                          </a:solidFill>
                        </a:rPr>
                        <a:t>대상</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최신 </a:t>
                      </a:r>
                      <a:pPr indent="0" marL="0">
                        <a:buNone/>
                      </a:pPr>
                      <a:r>
                        <a:rPr lang="en-US" sz="1100" dirty="0">
                          <a:solidFill>
                            <a:srgbClr val="1F2937"/>
                          </a:solidFill>
                        </a:rPr>
                        <a:t>설정이 </a:t>
                      </a:r>
                      <a:pPr indent="0" marL="0">
                        <a:buNone/>
                      </a:pPr>
                      <a:r>
                        <a:rPr lang="en-US" sz="1100" dirty="0">
                          <a:solidFill>
                            <a:srgbClr val="1F2937"/>
                          </a:solidFill>
                        </a:rPr>
                        <a:t>켜져 </a:t>
                      </a:r>
                      <a:pPr indent="0" marL="0">
                        <a:buNone/>
                      </a:pPr>
                      <a:r>
                        <a:rPr lang="en-US" sz="1100" dirty="0">
                          <a:solidFill>
                            <a:srgbClr val="1F2937"/>
                          </a:solidFill>
                        </a:rPr>
                        <a:t>있고 </a:t>
                      </a:r>
                      <a:pPr indent="0" marL="0">
                        <a:buNone/>
                      </a:pPr>
                      <a:r>
                        <a:rPr lang="en-US" sz="1100" dirty="0">
                          <a:solidFill>
                            <a:srgbClr val="1F2937"/>
                          </a:solidFill>
                        </a:rPr>
                        <a:t>권한 </a:t>
                      </a:r>
                      <a:pPr indent="0" marL="0">
                        <a:buNone/>
                      </a:pPr>
                      <a:r>
                        <a:rPr lang="en-US" sz="1100" dirty="0">
                          <a:solidFill>
                            <a:srgbClr val="1F2937"/>
                          </a:solidFill>
                        </a:rPr>
                        <a:t>상태가 </a:t>
                      </a:r>
                      <a:pPr indent="0" marL="0">
                        <a:buNone/>
                      </a:pPr>
                      <a:r>
                        <a:rPr lang="en-US" sz="1100" dirty="0">
                          <a:solidFill>
                            <a:srgbClr val="1F2937"/>
                          </a:solidFill>
                        </a:rPr>
                        <a:t>유효함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5</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당일 </a:t>
                      </a:r>
                      <a:pPr indent="0" marL="0">
                        <a:buNone/>
                      </a:pPr>
                      <a:r>
                        <a:rPr lang="en-US" sz="1100" dirty="0">
                          <a:solidFill>
                            <a:srgbClr val="1F2937"/>
                          </a:solidFill>
                        </a:rPr>
                        <a:t>기록 </a:t>
                      </a:r>
                      <a:pPr indent="0" marL="0">
                        <a:buNone/>
                      </a:pPr>
                      <a:r>
                        <a:rPr lang="en-US" sz="1100" dirty="0">
                          <a:solidFill>
                            <a:srgbClr val="1F2937"/>
                          </a:solidFill>
                        </a:rPr>
                        <a:t>여부 </a:t>
                      </a:r>
                      <a:pPr indent="0" marL="0">
                        <a:buNone/>
                      </a:pPr>
                      <a:r>
                        <a:rPr lang="en-US" sz="1100" dirty="0">
                          <a:solidFill>
                            <a:srgbClr val="1F2937"/>
                          </a:solidFill>
                        </a:rPr>
                        <a:t>확인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앱 </a:t>
                      </a:r>
                      <a:pPr indent="0" marL="0">
                        <a:buNone/>
                      </a:pPr>
                      <a:r>
                        <a:rPr lang="en-US" sz="1100" dirty="0">
                          <a:solidFill>
                            <a:srgbClr val="1F2937"/>
                          </a:solidFill>
                        </a:rPr>
                        <a:t>서버·데이터베이스</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해당 </a:t>
                      </a:r>
                      <a:pPr indent="0" marL="0">
                        <a:buNone/>
                      </a:pPr>
                      <a:r>
                        <a:rPr lang="en-US" sz="1100" dirty="0">
                          <a:solidFill>
                            <a:srgbClr val="1F2937"/>
                          </a:solidFill>
                        </a:rPr>
                        <a:t>사용자 </a:t>
                      </a:r>
                      <a:pPr indent="0" marL="0">
                        <a:buNone/>
                      </a:pPr>
                      <a:r>
                        <a:rPr lang="en-US" sz="1100" dirty="0">
                          <a:solidFill>
                            <a:srgbClr val="1F2937"/>
                          </a:solidFill>
                        </a:rPr>
                        <a:t>현지 </a:t>
                      </a:r>
                      <a:pPr indent="0" marL="0">
                        <a:buNone/>
                      </a:pPr>
                      <a:r>
                        <a:rPr lang="en-US" sz="1100" dirty="0">
                          <a:solidFill>
                            <a:srgbClr val="1F2937"/>
                          </a:solidFill>
                        </a:rPr>
                        <a:t>날짜의 </a:t>
                      </a:r>
                      <a:pPr indent="0" marL="0">
                        <a:buNone/>
                      </a:pPr>
                      <a:r>
                        <a:rPr lang="en-US" sz="1100" dirty="0">
                          <a:solidFill>
                            <a:srgbClr val="1F2937"/>
                          </a:solidFill>
                        </a:rPr>
                        <a:t>식사 </a:t>
                      </a:r>
                      <a:pPr indent="0" marL="0">
                        <a:buNone/>
                      </a:pPr>
                      <a:r>
                        <a:rPr lang="en-US" sz="1100" dirty="0">
                          <a:solidFill>
                            <a:srgbClr val="1F2937"/>
                          </a:solidFill>
                        </a:rPr>
                        <a:t>기록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발송·건너뛰기 </a:t>
                      </a:r>
                      <a:pPr indent="0" marL="0">
                        <a:buNone/>
                      </a:pPr>
                      <a:r>
                        <a:rPr lang="en-US" sz="1100" dirty="0">
                          <a:solidFill>
                            <a:srgbClr val="1F2937"/>
                          </a:solidFill>
                        </a:rPr>
                        <a:t>판단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한 </a:t>
                      </a:r>
                      <a:pPr indent="0" marL="0">
                        <a:buNone/>
                      </a:pPr>
                      <a:r>
                        <a:rPr lang="en-US" sz="1100" dirty="0">
                          <a:solidFill>
                            <a:srgbClr val="1F2937"/>
                          </a:solidFill>
                        </a:rPr>
                        <a:t>건 </a:t>
                      </a:r>
                      <a:pPr indent="0" marL="0">
                        <a:buNone/>
                      </a:pPr>
                      <a:r>
                        <a:rPr lang="en-US" sz="1100" dirty="0">
                          <a:solidFill>
                            <a:srgbClr val="1F2937"/>
                          </a:solidFill>
                        </a:rPr>
                        <a:t>이상 </a:t>
                      </a:r>
                      <a:pPr indent="0" marL="0">
                        <a:buNone/>
                      </a:pPr>
                      <a:r>
                        <a:rPr lang="en-US" sz="1100" dirty="0">
                          <a:solidFill>
                            <a:srgbClr val="1F2937"/>
                          </a:solidFill>
                        </a:rPr>
                        <a:t>기록했으면 </a:t>
                      </a:r>
                      <a:pPr indent="0" marL="0">
                        <a:buNone/>
                      </a:pPr>
                      <a:r>
                        <a:rPr lang="en-US" sz="1100" dirty="0">
                          <a:solidFill>
                            <a:srgbClr val="1F2937"/>
                          </a:solidFill>
                        </a:rPr>
                        <a:t>발송하지 </a:t>
                      </a:r>
                      <a:pPr indent="0" marL="0">
                        <a:buNone/>
                      </a:pPr>
                      <a:r>
                        <a:rPr lang="en-US" sz="1100" dirty="0">
                          <a:solidFill>
                            <a:srgbClr val="1F2937"/>
                          </a:solidFill>
                        </a:rPr>
                        <a:t>않음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6</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일반 </a:t>
                      </a:r>
                      <a:pPr indent="0" marL="0">
                        <a:buNone/>
                      </a:pPr>
                      <a:r>
                        <a:rPr lang="en-US" sz="1100" dirty="0">
                          <a:solidFill>
                            <a:srgbClr val="1F2937"/>
                          </a:solidFill>
                        </a:rPr>
                        <a:t>문구 </a:t>
                      </a:r>
                      <a:pPr indent="0" marL="0">
                        <a:buNone/>
                      </a:pPr>
                      <a:r>
                        <a:rPr lang="en-US" sz="1100" dirty="0">
                          <a:solidFill>
                            <a:srgbClr val="1F2937"/>
                          </a:solidFill>
                        </a:rPr>
                        <a:t>알림 </a:t>
                      </a:r>
                      <a:pPr indent="0" marL="0">
                        <a:buNone/>
                      </a:pPr>
                      <a:r>
                        <a:rPr lang="en-US" sz="1100" dirty="0">
                          <a:solidFill>
                            <a:srgbClr val="1F2937"/>
                          </a:solidFill>
                        </a:rPr>
                        <a:t>발송</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앱 </a:t>
                      </a:r>
                      <a:pPr indent="0" marL="0">
                        <a:buNone/>
                      </a:pPr>
                      <a:r>
                        <a:rPr lang="en-US" sz="1100" dirty="0">
                          <a:solidFill>
                            <a:srgbClr val="1F2937"/>
                          </a:solidFill>
                        </a:rPr>
                        <a:t>서버·푸시 </a:t>
                      </a:r>
                      <a:pPr indent="0" marL="0">
                        <a:buNone/>
                      </a:pPr>
                      <a:r>
                        <a:rPr lang="en-US" sz="1100" dirty="0">
                          <a:solidFill>
                            <a:srgbClr val="1F2937"/>
                          </a:solidFill>
                        </a:rPr>
                        <a:t>전달 </a:t>
                      </a:r>
                      <a:pPr indent="0" marL="0">
                        <a:buNone/>
                      </a:pPr>
                      <a:r>
                        <a:rPr lang="en-US" sz="1100" dirty="0">
                          <a:solidFill>
                            <a:srgbClr val="1F2937"/>
                          </a:solidFill>
                        </a:rPr>
                        <a:t>체계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일반적인 </a:t>
                      </a:r>
                      <a:pPr indent="0" marL="0">
                        <a:buNone/>
                      </a:pPr>
                      <a:r>
                        <a:rPr lang="en-US" sz="1100" dirty="0">
                          <a:solidFill>
                            <a:srgbClr val="1F2937"/>
                          </a:solidFill>
                        </a:rPr>
                        <a:t>알림 </a:t>
                      </a:r>
                      <a:pPr indent="0" marL="0">
                        <a:buNone/>
                      </a:pPr>
                      <a:r>
                        <a:rPr lang="en-US" sz="1100" dirty="0">
                          <a:solidFill>
                            <a:srgbClr val="1F2937"/>
                          </a:solidFill>
                        </a:rPr>
                        <a:t>문구</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사용자 </a:t>
                      </a:r>
                      <a:pPr indent="0" marL="0">
                        <a:buNone/>
                      </a:pPr>
                      <a:r>
                        <a:rPr lang="en-US" sz="1100" dirty="0">
                          <a:solidFill>
                            <a:srgbClr val="1F2937"/>
                          </a:solidFill>
                        </a:rPr>
                        <a:t>기기 </a:t>
                      </a:r>
                      <a:pPr indent="0" marL="0">
                        <a:buNone/>
                      </a:pPr>
                      <a:r>
                        <a:rPr lang="en-US" sz="1100" dirty="0">
                          <a:solidFill>
                            <a:srgbClr val="1F2937"/>
                          </a:solidFill>
                        </a:rPr>
                        <a:t>알림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개인 </a:t>
                      </a:r>
                      <a:pPr indent="0" marL="0">
                        <a:buNone/>
                      </a:pPr>
                      <a:r>
                        <a:rPr lang="en-US" sz="1100" dirty="0">
                          <a:solidFill>
                            <a:srgbClr val="1F2937"/>
                          </a:solidFill>
                        </a:rPr>
                        <a:t>영양 </a:t>
                      </a:r>
                      <a:pPr indent="0" marL="0">
                        <a:buNone/>
                      </a:pPr>
                      <a:r>
                        <a:rPr lang="en-US" sz="1100" dirty="0">
                          <a:solidFill>
                            <a:srgbClr val="1F2937"/>
                          </a:solidFill>
                        </a:rPr>
                        <a:t>정보가 </a:t>
                      </a:r>
                      <a:pPr indent="0" marL="0">
                        <a:buNone/>
                      </a:pPr>
                      <a:r>
                        <a:rPr lang="en-US" sz="1100" dirty="0">
                          <a:solidFill>
                            <a:srgbClr val="1F2937"/>
                          </a:solidFill>
                        </a:rPr>
                        <a:t>본문에 </a:t>
                      </a:r>
                      <a:pPr indent="0" marL="0">
                        <a:buNone/>
                      </a:pPr>
                      <a:r>
                        <a:rPr lang="en-US" sz="1100" dirty="0">
                          <a:solidFill>
                            <a:srgbClr val="1F2937"/>
                          </a:solidFill>
                        </a:rPr>
                        <a:t>없음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7</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설정 </a:t>
                      </a:r>
                      <a:pPr indent="0" marL="0">
                        <a:buNone/>
                      </a:pPr>
                      <a:r>
                        <a:rPr lang="en-US" sz="1100" dirty="0">
                          <a:solidFill>
                            <a:srgbClr val="1F2937"/>
                          </a:solidFill>
                        </a:rPr>
                        <a:t>변경·권한 </a:t>
                      </a:r>
                      <a:pPr indent="0" marL="0">
                        <a:buNone/>
                      </a:pPr>
                      <a:r>
                        <a:rPr lang="en-US" sz="1100" dirty="0">
                          <a:solidFill>
                            <a:srgbClr val="1F2937"/>
                          </a:solidFill>
                        </a:rPr>
                        <a:t>거부 </a:t>
                      </a:r>
                      <a:pPr indent="0" marL="0">
                        <a:buNone/>
                      </a:pPr>
                      <a:r>
                        <a:rPr lang="en-US" sz="1100" dirty="0">
                          <a:solidFill>
                            <a:srgbClr val="1F2937"/>
                          </a:solidFill>
                        </a:rPr>
                        <a:t>반영</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사용자·앱</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설정 </a:t>
                      </a:r>
                      <a:pPr indent="0" marL="0">
                        <a:buNone/>
                      </a:pPr>
                      <a:r>
                        <a:rPr lang="en-US" sz="1100" dirty="0">
                          <a:solidFill>
                            <a:srgbClr val="1F2937"/>
                          </a:solidFill>
                        </a:rPr>
                        <a:t>변경, </a:t>
                      </a:r>
                      <a:pPr indent="0" marL="0">
                        <a:buNone/>
                      </a:pPr>
                      <a:r>
                        <a:rPr lang="en-US" sz="1100" dirty="0">
                          <a:solidFill>
                            <a:srgbClr val="1F2937"/>
                          </a:solidFill>
                        </a:rPr>
                        <a:t>운영체제 </a:t>
                      </a:r>
                      <a:pPr indent="0" marL="0">
                        <a:buNone/>
                      </a:pPr>
                      <a:r>
                        <a:rPr lang="en-US" sz="1100" dirty="0">
                          <a:solidFill>
                            <a:srgbClr val="1F2937"/>
                          </a:solidFill>
                        </a:rPr>
                        <a:t>권한 </a:t>
                      </a:r>
                      <a:pPr indent="0" marL="0">
                        <a:buNone/>
                      </a:pPr>
                      <a:r>
                        <a:rPr lang="en-US" sz="1100" dirty="0">
                          <a:solidFill>
                            <a:srgbClr val="1F2937"/>
                          </a:solidFill>
                        </a:rPr>
                        <a:t>상태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갱신된 </a:t>
                      </a:r>
                      <a:pPr indent="0" marL="0">
                        <a:buNone/>
                      </a:pPr>
                      <a:r>
                        <a:rPr lang="en-US" sz="1100" dirty="0">
                          <a:solidFill>
                            <a:srgbClr val="1F2937"/>
                          </a:solidFill>
                        </a:rPr>
                        <a:t>알림 </a:t>
                      </a:r>
                      <a:pPr indent="0" marL="0">
                        <a:buNone/>
                      </a:pPr>
                      <a:r>
                        <a:rPr lang="en-US" sz="1100" dirty="0">
                          <a:solidFill>
                            <a:srgbClr val="1F2937"/>
                          </a:solidFill>
                        </a:rPr>
                        <a:t>상태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끄기·권한 </a:t>
                      </a:r>
                      <a:pPr indent="0" marL="0">
                        <a:buNone/>
                      </a:pPr>
                      <a:r>
                        <a:rPr lang="en-US" sz="1100" dirty="0">
                          <a:solidFill>
                            <a:srgbClr val="1F2937"/>
                          </a:solidFill>
                        </a:rPr>
                        <a:t>거부 </a:t>
                      </a:r>
                      <a:pPr indent="0" marL="0">
                        <a:buNone/>
                      </a:pPr>
                      <a:r>
                        <a:rPr lang="en-US" sz="1100" dirty="0">
                          <a:solidFill>
                            <a:srgbClr val="1F2937"/>
                          </a:solidFill>
                        </a:rPr>
                        <a:t>상태에서 </a:t>
                      </a:r>
                      <a:pPr indent="0" marL="0">
                        <a:buNone/>
                      </a:pPr>
                      <a:r>
                        <a:rPr lang="en-US" sz="1100" dirty="0">
                          <a:solidFill>
                            <a:srgbClr val="1F2937"/>
                          </a:solidFill>
                        </a:rPr>
                        <a:t>알림이 </a:t>
                      </a:r>
                      <a:pPr indent="0" marL="0">
                        <a:buNone/>
                      </a:pPr>
                      <a:r>
                        <a:rPr lang="en-US" sz="1100" dirty="0">
                          <a:solidFill>
                            <a:srgbClr val="1F2937"/>
                          </a:solidFill>
                        </a:rPr>
                        <a:t>활성으로 </a:t>
                      </a:r>
                      <a:pPr indent="0" marL="0">
                        <a:buNone/>
                      </a:pPr>
                      <a:r>
                        <a:rPr lang="en-US" sz="1100" dirty="0">
                          <a:solidFill>
                            <a:srgbClr val="1F2937"/>
                          </a:solidFill>
                        </a:rPr>
                        <a:t>보이지 </a:t>
                      </a:r>
                      <a:pPr indent="0" marL="0">
                        <a:buNone/>
                      </a:pPr>
                      <a:r>
                        <a:rPr lang="en-US" sz="1100" dirty="0">
                          <a:solidFill>
                            <a:srgbClr val="1F2937"/>
                          </a:solidFill>
                        </a:rPr>
                        <a:t>않음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Mermaid 다이어그램</a:t>
            </a:r>
            <a:endParaRPr lang="en-US" sz="2800" dirty="0"/>
          </a:p>
        </p:txBody>
      </p:sp>
      <p:sp>
        <p:nvSpPr>
          <p:cNvPr id="3" name="Shape 1"/>
          <p:cNvSpPr/>
          <p:nvPr/>
        </p:nvSpPr>
        <p:spPr>
          <a:xfrm>
            <a:off x="457200" y="1078992"/>
            <a:ext cx="2743200" cy="41148"/>
          </a:xfrm>
          <a:prstGeom prst="rect">
            <a:avLst/>
          </a:prstGeom>
          <a:solidFill>
            <a:srgbClr val="263F59"/>
          </a:solidFill>
          <a:ln/>
        </p:spPr>
      </p:sp>
      <p:pic>
        <p:nvPicPr>
          <p:cNvPr id="4" name="Image 0" descr="preencoded.png">    </p:cNvPr>
          <p:cNvPicPr>
            <a:picLocks noChangeAspect="1"/>
          </p:cNvPicPr>
          <p:nvPr/>
        </p:nvPicPr>
        <p:blipFill>
          <a:blip r:embed="rId1"/>
          <a:stretch>
            <a:fillRect/>
          </a:stretch>
        </p:blipFill>
        <p:spPr>
          <a:xfrm>
            <a:off x="640080" y="1463040"/>
            <a:ext cx="7863840" cy="4206240"/>
          </a:xfrm>
          <a:prstGeom prst="rect">
            <a:avLst/>
          </a:prstGeom>
        </p:spPr>
      </p:pic>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상세 설명 (1/2)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1. 사용자가 알림을 원하지 않는 선택은 알림을 켜는 선택과 동등하게 제공해야 합니다. 알림 수신 동의는 이용약관이나 개인정보 처리 동의와 묶지 않습니다.</a:t>
            </a:r>
            <a:endParaRPr lang="en-US" sz="1600" dirty="0"/>
          </a:p>
          <a:p>
            <a:pPr indent="0" marL="0">
              <a:spcAft>
                <a:spcPts val="800"/>
              </a:spcAft>
              <a:buNone/>
            </a:pPr>
            <a:r>
              <a:rPr lang="en-US" sz="1600" dirty="0">
                <a:solidFill>
                  <a:srgbClr val="4B5563"/>
                </a:solidFill>
              </a:rPr>
              <a:t>2. 운영체제 권한을 거부하면 앱 안에서 알림이 켜진 상태로 표시하지 않습니다. 설정 앱으로 이동하는 방법을 안내하는 세부 화면은 추가 설계가 필요합니다.</a:t>
            </a:r>
            <a:endParaRPr lang="en-US" sz="1600" dirty="0"/>
          </a:p>
          <a:p>
            <a:pPr indent="0" marL="0">
              <a:spcAft>
                <a:spcPts val="800"/>
              </a:spcAft>
              <a:buNone/>
            </a:pPr>
            <a:r>
              <a:rPr lang="en-US" sz="1600" dirty="0">
                <a:solidFill>
                  <a:srgbClr val="4B5563"/>
                </a:solidFill>
              </a:rPr>
              <a:t>3. 발송 직전에 사용자의 최신 설정과 해당 날짜의 기록 여부를 확인합니다. 이미 알림을 끈 사용자에게 과거 예약이 발송되지 않도록 하는 방식은 개발 설계가 필요합니다.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상세 설명 (2/2)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4. MVP에서는 매일 기록 알림만 대상으로 합니다. 주간 리포트 푸시는 제외하고, 알림을 받지 않아도 사용자는 앱에서 리포트를 확인할 수 있습니다.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4. 예외 처리 플로우</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4.1 주요 예외 시나리오</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회의에서 발생 빈도를 추정한 내용은 없습니다. 따라서 빈도는 수치로 단정하지 않고 </a:t>
            </a:r>
            <a:pPr indent="0" marL="0">
              <a:spcAft>
                <a:spcPts val="800"/>
              </a:spcAft>
              <a:buNone/>
            </a:pPr>
            <a:r>
              <a:rPr lang="en-US" sz="1600" b="1" dirty="0">
                <a:solidFill>
                  <a:srgbClr val="4B5563"/>
                </a:solidFill>
              </a:rPr>
              <a:t>미측정</a:t>
            </a:r>
            <a:pPr indent="0" marL="0">
              <a:spcAft>
                <a:spcPts val="800"/>
              </a:spcAft>
              <a:buNone/>
            </a:pPr>
            <a:r>
              <a:rPr lang="en-US" sz="1600" dirty="0">
                <a:solidFill>
                  <a:srgbClr val="4B5563"/>
                </a:solidFill>
              </a:rPr>
              <a:t>으로 표시합니다. 사용자에게 보여줄 문구는 회의에서 직접 제안된 저장 실패 문구 외에는 예시이며, 최종 문구 확정이 필요합니다.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4.1 주요 예외 시나리오 (1/2)</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965200"/>
                <a:gridCol w="1524000"/>
                <a:gridCol w="304800"/>
                <a:gridCol w="1828800"/>
                <a:gridCol w="1778000"/>
                <a:gridCol w="1828800"/>
              </a:tblGrid>
              <a:tr h="0">
                <a:tc>
                  <a:txBody>
                    <a:bodyPr/>
                    <a:lstStyle/>
                    <a:p>
                      <a:pPr indent="0" marL="0">
                        <a:buNone/>
                      </a:pPr>
                      <a:r>
                        <a:rPr lang="en-US" sz="1200" b="1" dirty="0">
                          <a:solidFill>
                            <a:srgbClr val="FFFFFF"/>
                          </a:solidFill>
                        </a:rPr>
                        <a:t>예외 </a:t>
                      </a:r>
                      <a:pPr indent="0" marL="0">
                        <a:buNone/>
                      </a:pPr>
                      <a:r>
                        <a:rPr lang="en-US" sz="1200" b="1" dirty="0">
                          <a:solidFill>
                            <a:srgbClr val="FFFFFF"/>
                          </a:solidFill>
                        </a:rPr>
                        <a:t>상황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원인</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빈도</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처리 </a:t>
                      </a:r>
                      <a:pPr indent="0" marL="0">
                        <a:buNone/>
                      </a:pPr>
                      <a:r>
                        <a:rPr lang="en-US" sz="1200" b="1" dirty="0">
                          <a:solidFill>
                            <a:srgbClr val="FFFFFF"/>
                          </a:solidFill>
                        </a:rPr>
                        <a:t>방법</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사용자 </a:t>
                      </a:r>
                      <a:pPr indent="0" marL="0">
                        <a:buNone/>
                      </a:pPr>
                      <a:r>
                        <a:rPr lang="en-US" sz="1200" b="1" dirty="0">
                          <a:solidFill>
                            <a:srgbClr val="FFFFFF"/>
                          </a:solidFill>
                        </a:rPr>
                        <a:t>피드백</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복구 </a:t>
                      </a:r>
                      <a:pPr indent="0" marL="0">
                        <a:buNone/>
                      </a:pPr>
                      <a:r>
                        <a:rPr lang="en-US" sz="1200" b="1" dirty="0">
                          <a:solidFill>
                            <a:srgbClr val="FFFFFF"/>
                          </a:solidFill>
                        </a:rPr>
                        <a:t>절차</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인증 </a:t>
                      </a:r>
                      <a:pPr indent="0" marL="0">
                        <a:buNone/>
                      </a:pPr>
                      <a:r>
                        <a:rPr lang="en-US" sz="1100" dirty="0">
                          <a:solidFill>
                            <a:srgbClr val="1F2937"/>
                          </a:solidFill>
                        </a:rPr>
                        <a:t>방식 </a:t>
                      </a:r>
                      <a:pPr indent="0" marL="0">
                        <a:buNone/>
                      </a:pPr>
                      <a:r>
                        <a:rPr lang="en-US" sz="1100" dirty="0">
                          <a:solidFill>
                            <a:srgbClr val="1F2937"/>
                          </a:solidFill>
                        </a:rPr>
                        <a:t>미확정·제공자 </a:t>
                      </a:r>
                      <a:pPr indent="0" marL="0">
                        <a:buNone/>
                      </a:pPr>
                      <a:r>
                        <a:rPr lang="en-US" sz="1100" dirty="0">
                          <a:solidFill>
                            <a:srgbClr val="1F2937"/>
                          </a:solidFill>
                        </a:rPr>
                        <a:t>인증 </a:t>
                      </a:r>
                      <a:pPr indent="0" marL="0">
                        <a:buNone/>
                      </a:pPr>
                      <a:r>
                        <a:rPr lang="en-US" sz="1100" dirty="0">
                          <a:solidFill>
                            <a:srgbClr val="1F2937"/>
                          </a:solidFill>
                        </a:rPr>
                        <a:t>실패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로그인 </a:t>
                      </a:r>
                      <a:pPr indent="0" marL="0">
                        <a:buNone/>
                      </a:pPr>
                      <a:r>
                        <a:rPr lang="en-US" sz="1100" dirty="0">
                          <a:solidFill>
                            <a:srgbClr val="1F2937"/>
                          </a:solidFill>
                        </a:rPr>
                        <a:t>방식·제공자 </a:t>
                      </a:r>
                      <a:pPr indent="0" marL="0">
                        <a:buNone/>
                      </a:pPr>
                      <a:r>
                        <a:rPr lang="en-US" sz="1100" dirty="0">
                          <a:solidFill>
                            <a:srgbClr val="1F2937"/>
                          </a:solidFill>
                        </a:rPr>
                        <a:t>범위 </a:t>
                      </a:r>
                      <a:pPr indent="0" marL="0">
                        <a:buNone/>
                      </a:pPr>
                      <a:r>
                        <a:rPr lang="en-US" sz="1100" dirty="0">
                          <a:solidFill>
                            <a:srgbClr val="1F2937"/>
                          </a:solidFill>
                        </a:rPr>
                        <a:t>미확정, </a:t>
                      </a:r>
                      <a:pPr indent="0" marL="0">
                        <a:buNone/>
                      </a:pPr>
                      <a:r>
                        <a:rPr lang="en-US" sz="1100" dirty="0">
                          <a:solidFill>
                            <a:srgbClr val="1F2937"/>
                          </a:solidFill>
                        </a:rPr>
                        <a:t>인증 </a:t>
                      </a:r>
                      <a:pPr indent="0" marL="0">
                        <a:buNone/>
                      </a:pPr>
                      <a:r>
                        <a:rPr lang="en-US" sz="1100" dirty="0">
                          <a:solidFill>
                            <a:srgbClr val="1F2937"/>
                          </a:solidFill>
                        </a:rPr>
                        <a:t>제공자 </a:t>
                      </a:r>
                      <a:pPr indent="0" marL="0">
                        <a:buNone/>
                      </a:pPr>
                      <a:r>
                        <a:rPr lang="en-US" sz="1100" dirty="0">
                          <a:solidFill>
                            <a:srgbClr val="1F2937"/>
                          </a:solidFill>
                        </a:rPr>
                        <a:t>장애 </a:t>
                      </a:r>
                      <a:pPr indent="0" marL="0">
                        <a:buNone/>
                      </a:pPr>
                      <a:r>
                        <a:rPr lang="en-US" sz="1100" dirty="0">
                          <a:solidFill>
                            <a:srgbClr val="1F2937"/>
                          </a:solidFill>
                        </a:rPr>
                        <a:t>등</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미측정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확정된 </a:t>
                      </a:r>
                      <a:pPr indent="0" marL="0">
                        <a:buNone/>
                      </a:pPr>
                      <a:r>
                        <a:rPr lang="en-US" sz="1100" dirty="0">
                          <a:solidFill>
                            <a:srgbClr val="1F2937"/>
                          </a:solidFill>
                        </a:rPr>
                        <a:t>방식과 </a:t>
                      </a:r>
                      <a:pPr indent="0" marL="0">
                        <a:buNone/>
                      </a:pPr>
                      <a:r>
                        <a:rPr lang="en-US" sz="1100" dirty="0">
                          <a:solidFill>
                            <a:srgbClr val="1F2937"/>
                          </a:solidFill>
                        </a:rPr>
                        <a:t>제공자만 </a:t>
                      </a:r>
                      <a:pPr indent="0" marL="0">
                        <a:buNone/>
                      </a:pPr>
                      <a:r>
                        <a:rPr lang="en-US" sz="1100" dirty="0">
                          <a:solidFill>
                            <a:srgbClr val="1F2937"/>
                          </a:solidFill>
                        </a:rPr>
                        <a:t>노출. </a:t>
                      </a:r>
                      <a:pPr indent="0" marL="0">
                        <a:buNone/>
                      </a:pPr>
                      <a:r>
                        <a:rPr lang="en-US" sz="1100" dirty="0">
                          <a:solidFill>
                            <a:srgbClr val="1F2937"/>
                          </a:solidFill>
                        </a:rPr>
                        <a:t>실패 </a:t>
                      </a:r>
                      <a:pPr indent="0" marL="0">
                        <a:buNone/>
                      </a:pPr>
                      <a:r>
                        <a:rPr lang="en-US" sz="1100" dirty="0">
                          <a:solidFill>
                            <a:srgbClr val="1F2937"/>
                          </a:solidFill>
                        </a:rPr>
                        <a:t>상태와 </a:t>
                      </a:r>
                      <a:pPr indent="0" marL="0">
                        <a:buNone/>
                      </a:pPr>
                      <a:r>
                        <a:rPr lang="en-US" sz="1100" dirty="0">
                          <a:solidFill>
                            <a:srgbClr val="1F2937"/>
                          </a:solidFill>
                        </a:rPr>
                        <a:t>문의 </a:t>
                      </a:r>
                      <a:pPr indent="0" marL="0">
                        <a:buNone/>
                      </a:pPr>
                      <a:r>
                        <a:rPr lang="en-US" sz="1100" dirty="0">
                          <a:solidFill>
                            <a:srgbClr val="1F2937"/>
                          </a:solidFill>
                        </a:rPr>
                        <a:t>경로 </a:t>
                      </a:r>
                      <a:pPr indent="0" marL="0">
                        <a:buNone/>
                      </a:pPr>
                      <a:r>
                        <a:rPr lang="en-US" sz="1100" dirty="0">
                          <a:solidFill>
                            <a:srgbClr val="1F2937"/>
                          </a:solidFill>
                        </a:rPr>
                        <a:t>제공</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문구 </a:t>
                      </a:r>
                      <a:pPr indent="0" marL="0">
                        <a:buNone/>
                      </a:pPr>
                      <a:r>
                        <a:rPr lang="en-US" sz="1100" dirty="0">
                          <a:solidFill>
                            <a:srgbClr val="1F2937"/>
                          </a:solidFill>
                        </a:rPr>
                        <a:t>확정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재시도 </a:t>
                      </a:r>
                      <a:pPr indent="0" marL="0">
                        <a:buNone/>
                      </a:pPr>
                      <a:r>
                        <a:rPr lang="en-US" sz="1100" dirty="0">
                          <a:solidFill>
                            <a:srgbClr val="1F2937"/>
                          </a:solidFill>
                        </a:rPr>
                        <a:t>또는 </a:t>
                      </a:r>
                      <a:pPr indent="0" marL="0">
                        <a:buNone/>
                      </a:pPr>
                      <a:r>
                        <a:rPr lang="en-US" sz="1100" dirty="0">
                          <a:solidFill>
                            <a:srgbClr val="1F2937"/>
                          </a:solidFill>
                        </a:rPr>
                        <a:t>문의. </a:t>
                      </a:r>
                      <a:pPr indent="0" marL="0">
                        <a:buNone/>
                      </a:pPr>
                      <a:r>
                        <a:rPr lang="en-US" sz="1100" dirty="0">
                          <a:solidFill>
                            <a:srgbClr val="1F2937"/>
                          </a:solidFill>
                        </a:rPr>
                        <a:t>게스트 </a:t>
                      </a:r>
                      <a:pPr indent="0" marL="0">
                        <a:buNone/>
                      </a:pPr>
                      <a:r>
                        <a:rPr lang="en-US" sz="1100" dirty="0">
                          <a:solidFill>
                            <a:srgbClr val="1F2937"/>
                          </a:solidFill>
                        </a:rPr>
                        <a:t>대체 </a:t>
                      </a:r>
                      <a:pPr indent="0" marL="0">
                        <a:buNone/>
                      </a:pPr>
                      <a:r>
                        <a:rPr lang="en-US" sz="1100" dirty="0">
                          <a:solidFill>
                            <a:srgbClr val="1F2937"/>
                          </a:solidFill>
                        </a:rPr>
                        <a:t>여부는 </a:t>
                      </a:r>
                      <a:pPr indent="0" marL="0">
                        <a:buNone/>
                      </a:pPr>
                      <a:r>
                        <a:rPr lang="en-US" sz="1100" dirty="0">
                          <a:solidFill>
                            <a:srgbClr val="1F2937"/>
                          </a:solidFill>
                        </a:rPr>
                        <a:t>계정 </a:t>
                      </a:r>
                      <a:pPr indent="0" marL="0">
                        <a:buNone/>
                      </a:pPr>
                      <a:r>
                        <a:rPr lang="en-US" sz="1100" dirty="0">
                          <a:solidFill>
                            <a:srgbClr val="1F2937"/>
                          </a:solidFill>
                        </a:rPr>
                        <a:t>정책에 </a:t>
                      </a:r>
                      <a:pPr indent="0" marL="0">
                        <a:buNone/>
                      </a:pPr>
                      <a:r>
                        <a:rPr lang="en-US" sz="1100" dirty="0">
                          <a:solidFill>
                            <a:srgbClr val="1F2937"/>
                          </a:solidFill>
                        </a:rPr>
                        <a:t>따라 </a:t>
                      </a:r>
                      <a:pPr indent="0" marL="0">
                        <a:buNone/>
                      </a:pPr>
                      <a:r>
                        <a:rPr lang="en-US" sz="1100" dirty="0">
                          <a:solidFill>
                            <a:srgbClr val="1F2937"/>
                          </a:solidFill>
                        </a:rPr>
                        <a:t>결정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약관·개인정보 </a:t>
                      </a:r>
                      <a:pPr indent="0" marL="0">
                        <a:buNone/>
                      </a:pPr>
                      <a:r>
                        <a:rPr lang="en-US" sz="1100" dirty="0">
                          <a:solidFill>
                            <a:srgbClr val="1F2937"/>
                          </a:solidFill>
                        </a:rPr>
                        <a:t>동의 </a:t>
                      </a:r>
                      <a:pPr indent="0" marL="0">
                        <a:buNone/>
                      </a:pPr>
                      <a:r>
                        <a:rPr lang="en-US" sz="1100" dirty="0">
                          <a:solidFill>
                            <a:srgbClr val="1F2937"/>
                          </a:solidFill>
                        </a:rPr>
                        <a:t>미완료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필수 </a:t>
                      </a:r>
                      <a:pPr indent="0" marL="0">
                        <a:buNone/>
                      </a:pPr>
                      <a:r>
                        <a:rPr lang="en-US" sz="1100" dirty="0">
                          <a:solidFill>
                            <a:srgbClr val="1F2937"/>
                          </a:solidFill>
                        </a:rPr>
                        <a:t>동의 </a:t>
                      </a:r>
                      <a:pPr indent="0" marL="0">
                        <a:buNone/>
                      </a:pPr>
                      <a:r>
                        <a:rPr lang="en-US" sz="1100" dirty="0">
                          <a:solidFill>
                            <a:srgbClr val="1F2937"/>
                          </a:solidFill>
                        </a:rPr>
                        <a:t>절차를 </a:t>
                      </a:r>
                      <a:pPr indent="0" marL="0">
                        <a:buNone/>
                      </a:pPr>
                      <a:r>
                        <a:rPr lang="en-US" sz="1100" dirty="0">
                          <a:solidFill>
                            <a:srgbClr val="1F2937"/>
                          </a:solidFill>
                        </a:rPr>
                        <a:t>완료하지 </a:t>
                      </a:r>
                      <a:pPr indent="0" marL="0">
                        <a:buNone/>
                      </a:pPr>
                      <a:r>
                        <a:rPr lang="en-US" sz="1100" dirty="0">
                          <a:solidFill>
                            <a:srgbClr val="1F2937"/>
                          </a:solidFill>
                        </a:rPr>
                        <a:t>않음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미측정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동의 </a:t>
                      </a:r>
                      <a:pPr indent="0" marL="0">
                        <a:buNone/>
                      </a:pPr>
                      <a:r>
                        <a:rPr lang="en-US" sz="1100" dirty="0">
                          <a:solidFill>
                            <a:srgbClr val="1F2937"/>
                          </a:solidFill>
                        </a:rPr>
                        <a:t>항목과 </a:t>
                      </a:r>
                      <a:pPr indent="0" marL="0">
                        <a:buNone/>
                      </a:pPr>
                      <a:r>
                        <a:rPr lang="en-US" sz="1100" dirty="0">
                          <a:solidFill>
                            <a:srgbClr val="1F2937"/>
                          </a:solidFill>
                        </a:rPr>
                        <a:t>선택 </a:t>
                      </a:r>
                      <a:pPr indent="0" marL="0">
                        <a:buNone/>
                      </a:pPr>
                      <a:r>
                        <a:rPr lang="en-US" sz="1100" dirty="0">
                          <a:solidFill>
                            <a:srgbClr val="1F2937"/>
                          </a:solidFill>
                        </a:rPr>
                        <a:t>항목을 </a:t>
                      </a:r>
                      <a:pPr indent="0" marL="0">
                        <a:buNone/>
                      </a:pPr>
                      <a:r>
                        <a:rPr lang="en-US" sz="1100" dirty="0">
                          <a:solidFill>
                            <a:srgbClr val="1F2937"/>
                          </a:solidFill>
                        </a:rPr>
                        <a:t>구분해 </a:t>
                      </a:r>
                      <a:pPr indent="0" marL="0">
                        <a:buNone/>
                      </a:pPr>
                      <a:r>
                        <a:rPr lang="en-US" sz="1100" dirty="0">
                          <a:solidFill>
                            <a:srgbClr val="1F2937"/>
                          </a:solidFill>
                        </a:rPr>
                        <a:t>표시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문구 </a:t>
                      </a:r>
                      <a:pPr indent="0" marL="0">
                        <a:buNone/>
                      </a:pPr>
                      <a:r>
                        <a:rPr lang="en-US" sz="1100" dirty="0">
                          <a:solidFill>
                            <a:srgbClr val="1F2937"/>
                          </a:solidFill>
                        </a:rPr>
                        <a:t>확정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동의 </a:t>
                      </a:r>
                      <a:pPr indent="0" marL="0">
                        <a:buNone/>
                      </a:pPr>
                      <a:r>
                        <a:rPr lang="en-US" sz="1100" dirty="0">
                          <a:solidFill>
                            <a:srgbClr val="1F2937"/>
                          </a:solidFill>
                        </a:rPr>
                        <a:t>항목 </a:t>
                      </a:r>
                      <a:pPr indent="0" marL="0">
                        <a:buNone/>
                      </a:pPr>
                      <a:r>
                        <a:rPr lang="en-US" sz="1100" dirty="0">
                          <a:solidFill>
                            <a:srgbClr val="1F2937"/>
                          </a:solidFill>
                        </a:rPr>
                        <a:t>확인 </a:t>
                      </a:r>
                      <a:pPr indent="0" marL="0">
                        <a:buNone/>
                      </a:pPr>
                      <a:r>
                        <a:rPr lang="en-US" sz="1100" dirty="0">
                          <a:solidFill>
                            <a:srgbClr val="1F2937"/>
                          </a:solidFill>
                        </a:rPr>
                        <a:t>후 </a:t>
                      </a:r>
                      <a:pPr indent="0" marL="0">
                        <a:buNone/>
                      </a:pPr>
                      <a:r>
                        <a:rPr lang="en-US" sz="1100" dirty="0">
                          <a:solidFill>
                            <a:srgbClr val="1F2937"/>
                          </a:solidFill>
                        </a:rPr>
                        <a:t>다시 </a:t>
                      </a:r>
                      <a:pPr indent="0" marL="0">
                        <a:buNone/>
                      </a:pPr>
                      <a:r>
                        <a:rPr lang="en-US" sz="1100" dirty="0">
                          <a:solidFill>
                            <a:srgbClr val="1F2937"/>
                          </a:solidFill>
                        </a:rPr>
                        <a:t>진행</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외부 </a:t>
                      </a:r>
                      <a:pPr indent="0" marL="0">
                        <a:buNone/>
                      </a:pPr>
                      <a:r>
                        <a:rPr lang="en-US" sz="1100" dirty="0">
                          <a:solidFill>
                            <a:srgbClr val="1F2937"/>
                          </a:solidFill>
                        </a:rPr>
                        <a:t>음식 </a:t>
                      </a:r>
                      <a:pPr indent="0" marL="0">
                        <a:buNone/>
                      </a:pPr>
                      <a:r>
                        <a:rPr lang="en-US" sz="1100" dirty="0">
                          <a:solidFill>
                            <a:srgbClr val="1F2937"/>
                          </a:solidFill>
                        </a:rPr>
                        <a:t>API </a:t>
                      </a:r>
                      <a:pPr indent="0" marL="0">
                        <a:buNone/>
                      </a:pPr>
                      <a:r>
                        <a:rPr lang="en-US" sz="1100" dirty="0">
                          <a:solidFill>
                            <a:srgbClr val="1F2937"/>
                          </a:solidFill>
                        </a:rPr>
                        <a:t>검색 </a:t>
                      </a:r>
                      <a:pPr indent="0" marL="0">
                        <a:buNone/>
                      </a:pPr>
                      <a:r>
                        <a:rPr lang="en-US" sz="1100" dirty="0">
                          <a:solidFill>
                            <a:srgbClr val="1F2937"/>
                          </a:solidFill>
                        </a:rPr>
                        <a:t>결과 </a:t>
                      </a:r>
                      <a:pPr indent="0" marL="0">
                        <a:buNone/>
                      </a:pPr>
                      <a:r>
                        <a:rPr lang="en-US" sz="1100" dirty="0">
                          <a:solidFill>
                            <a:srgbClr val="1F2937"/>
                          </a:solidFill>
                        </a:rPr>
                        <a:t>없음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공급자 </a:t>
                      </a:r>
                      <a:pPr indent="0" marL="0">
                        <a:buNone/>
                      </a:pPr>
                      <a:r>
                        <a:rPr lang="en-US" sz="1100" dirty="0">
                          <a:solidFill>
                            <a:srgbClr val="1F2937"/>
                          </a:solidFill>
                        </a:rPr>
                        <a:t>데이터에 </a:t>
                      </a:r>
                      <a:pPr indent="0" marL="0">
                        <a:buNone/>
                      </a:pPr>
                      <a:r>
                        <a:rPr lang="en-US" sz="1100" dirty="0">
                          <a:solidFill>
                            <a:srgbClr val="1F2937"/>
                          </a:solidFill>
                        </a:rPr>
                        <a:t>항목이 </a:t>
                      </a:r>
                      <a:pPr indent="0" marL="0">
                        <a:buNone/>
                      </a:pPr>
                      <a:r>
                        <a:rPr lang="en-US" sz="1100" dirty="0">
                          <a:solidFill>
                            <a:srgbClr val="1F2937"/>
                          </a:solidFill>
                        </a:rPr>
                        <a:t>없거나 </a:t>
                      </a:r>
                      <a:pPr indent="0" marL="0">
                        <a:buNone/>
                      </a:pPr>
                      <a:r>
                        <a:rPr lang="en-US" sz="1100" dirty="0">
                          <a:solidFill>
                            <a:srgbClr val="1F2937"/>
                          </a:solidFill>
                        </a:rPr>
                        <a:t>검색어 </a:t>
                      </a:r>
                      <a:pPr indent="0" marL="0">
                        <a:buNone/>
                      </a:pPr>
                      <a:r>
                        <a:rPr lang="en-US" sz="1100" dirty="0">
                          <a:solidFill>
                            <a:srgbClr val="1F2937"/>
                          </a:solidFill>
                        </a:rPr>
                        <a:t>불일치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미측정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빈 </a:t>
                      </a:r>
                      <a:pPr indent="0" marL="0">
                        <a:buNone/>
                      </a:pPr>
                      <a:r>
                        <a:rPr lang="en-US" sz="1100" dirty="0">
                          <a:solidFill>
                            <a:srgbClr val="1F2937"/>
                          </a:solidFill>
                        </a:rPr>
                        <a:t>결과와 </a:t>
                      </a:r>
                      <a:pPr indent="0" marL="0">
                        <a:buNone/>
                      </a:pPr>
                      <a:r>
                        <a:rPr lang="en-US" sz="1100" dirty="0">
                          <a:solidFill>
                            <a:srgbClr val="1F2937"/>
                          </a:solidFill>
                        </a:rPr>
                        <a:t>오류를 </a:t>
                      </a:r>
                      <a:pPr indent="0" marL="0">
                        <a:buNone/>
                      </a:pPr>
                      <a:r>
                        <a:rPr lang="en-US" sz="1100" dirty="0">
                          <a:solidFill>
                            <a:srgbClr val="1F2937"/>
                          </a:solidFill>
                        </a:rPr>
                        <a:t>구분. </a:t>
                      </a:r>
                      <a:pPr indent="0" marL="0">
                        <a:buNone/>
                      </a:pPr>
                      <a:r>
                        <a:rPr lang="en-US" sz="1100" dirty="0">
                          <a:solidFill>
                            <a:srgbClr val="1F2937"/>
                          </a:solidFill>
                        </a:rPr>
                        <a:t>직접 </a:t>
                      </a:r>
                      <a:pPr indent="0" marL="0">
                        <a:buNone/>
                      </a:pPr>
                      <a:r>
                        <a:rPr lang="en-US" sz="1100" dirty="0">
                          <a:solidFill>
                            <a:srgbClr val="1F2937"/>
                          </a:solidFill>
                        </a:rPr>
                        <a:t>입력·최근 </a:t>
                      </a:r>
                      <a:pPr indent="0" marL="0">
                        <a:buNone/>
                      </a:pPr>
                      <a:r>
                        <a:rPr lang="en-US" sz="1100" dirty="0">
                          <a:solidFill>
                            <a:srgbClr val="1F2937"/>
                          </a:solidFill>
                        </a:rPr>
                        <a:t>기록 </a:t>
                      </a:r>
                      <a:pPr indent="0" marL="0">
                        <a:buNone/>
                      </a:pPr>
                      <a:r>
                        <a:rPr lang="en-US" sz="1100" dirty="0">
                          <a:solidFill>
                            <a:srgbClr val="1F2937"/>
                          </a:solidFill>
                        </a:rPr>
                        <a:t>경로 </a:t>
                      </a:r>
                      <a:pPr indent="0" marL="0">
                        <a:buNone/>
                      </a:pPr>
                      <a:r>
                        <a:rPr lang="en-US" sz="1100" dirty="0">
                          <a:solidFill>
                            <a:srgbClr val="1F2937"/>
                          </a:solidFill>
                        </a:rPr>
                        <a:t>제공</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직접 </a:t>
                      </a:r>
                      <a:pPr indent="0" marL="0">
                        <a:buNone/>
                      </a:pPr>
                      <a:r>
                        <a:rPr lang="en-US" sz="1100" dirty="0">
                          <a:solidFill>
                            <a:srgbClr val="1F2937"/>
                          </a:solidFill>
                        </a:rPr>
                        <a:t>입력 </a:t>
                      </a:r>
                      <a:pPr indent="0" marL="0">
                        <a:buNone/>
                      </a:pPr>
                      <a:r>
                        <a:rPr lang="en-US" sz="1100" dirty="0">
                          <a:solidFill>
                            <a:srgbClr val="1F2937"/>
                          </a:solidFill>
                        </a:rPr>
                        <a:t>안내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음식명 </a:t>
                      </a:r>
                      <a:pPr indent="0" marL="0">
                        <a:buNone/>
                      </a:pPr>
                      <a:r>
                        <a:rPr lang="en-US" sz="1100" dirty="0">
                          <a:solidFill>
                            <a:srgbClr val="1F2937"/>
                          </a:solidFill>
                        </a:rPr>
                        <a:t>직접 </a:t>
                      </a:r>
                      <a:pPr indent="0" marL="0">
                        <a:buNone/>
                      </a:pPr>
                      <a:r>
                        <a:rPr lang="en-US" sz="1100" dirty="0">
                          <a:solidFill>
                            <a:srgbClr val="1F2937"/>
                          </a:solidFill>
                        </a:rPr>
                        <a:t>입력 </a:t>
                      </a:r>
                      <a:pPr indent="0" marL="0">
                        <a:buNone/>
                      </a:pPr>
                      <a:r>
                        <a:rPr lang="en-US" sz="1100" dirty="0">
                          <a:solidFill>
                            <a:srgbClr val="1F2937"/>
                          </a:solidFill>
                        </a:rPr>
                        <a:t>또는 </a:t>
                      </a:r>
                      <a:pPr indent="0" marL="0">
                        <a:buNone/>
                      </a:pPr>
                      <a:r>
                        <a:rPr lang="en-US" sz="1100" dirty="0">
                          <a:solidFill>
                            <a:srgbClr val="1F2937"/>
                          </a:solidFill>
                        </a:rPr>
                        <a:t>최근 </a:t>
                      </a:r>
                      <a:pPr indent="0" marL="0">
                        <a:buNone/>
                      </a:pPr>
                      <a:r>
                        <a:rPr lang="en-US" sz="1100" dirty="0">
                          <a:solidFill>
                            <a:srgbClr val="1F2937"/>
                          </a:solidFill>
                        </a:rPr>
                        <a:t>기록 </a:t>
                      </a:r>
                      <a:pPr indent="0" marL="0">
                        <a:buNone/>
                      </a:pPr>
                      <a:r>
                        <a:rPr lang="en-US" sz="1100" dirty="0">
                          <a:solidFill>
                            <a:srgbClr val="1F2937"/>
                          </a:solidFill>
                        </a:rPr>
                        <a:t>선택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외부 </a:t>
                      </a:r>
                      <a:pPr indent="0" marL="0">
                        <a:buNone/>
                      </a:pPr>
                      <a:r>
                        <a:rPr lang="en-US" sz="1100" dirty="0">
                          <a:solidFill>
                            <a:srgbClr val="1F2937"/>
                          </a:solidFill>
                        </a:rPr>
                        <a:t>음식 </a:t>
                      </a:r>
                      <a:pPr indent="0" marL="0">
                        <a:buNone/>
                      </a:pPr>
                      <a:r>
                        <a:rPr lang="en-US" sz="1100" dirty="0">
                          <a:solidFill>
                            <a:srgbClr val="1F2937"/>
                          </a:solidFill>
                        </a:rPr>
                        <a:t>API </a:t>
                      </a:r>
                      <a:pPr indent="0" marL="0">
                        <a:buNone/>
                      </a:pPr>
                      <a:r>
                        <a:rPr lang="en-US" sz="1100" dirty="0">
                          <a:solidFill>
                            <a:srgbClr val="1F2937"/>
                          </a:solidFill>
                        </a:rPr>
                        <a:t>오류·지연</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공급자·네트워크 </a:t>
                      </a:r>
                      <a:pPr indent="0" marL="0">
                        <a:buNone/>
                      </a:pPr>
                      <a:r>
                        <a:rPr lang="en-US" sz="1100" dirty="0">
                          <a:solidFill>
                            <a:srgbClr val="1F2937"/>
                          </a:solidFill>
                        </a:rPr>
                        <a:t>장애 </a:t>
                      </a:r>
                      <a:pPr indent="0" marL="0">
                        <a:buNone/>
                      </a:pPr>
                      <a:r>
                        <a:rPr lang="en-US" sz="1100" dirty="0">
                          <a:solidFill>
                            <a:srgbClr val="1F2937"/>
                          </a:solidFill>
                        </a:rPr>
                        <a:t>또는 </a:t>
                      </a:r>
                      <a:pPr indent="0" marL="0">
                        <a:buNone/>
                      </a:pPr>
                      <a:r>
                        <a:rPr lang="en-US" sz="1100" dirty="0">
                          <a:solidFill>
                            <a:srgbClr val="1F2937"/>
                          </a:solidFill>
                        </a:rPr>
                        <a:t>응답 </a:t>
                      </a:r>
                      <a:pPr indent="0" marL="0">
                        <a:buNone/>
                      </a:pPr>
                      <a:r>
                        <a:rPr lang="en-US" sz="1100" dirty="0">
                          <a:solidFill>
                            <a:srgbClr val="1F2937"/>
                          </a:solidFill>
                        </a:rPr>
                        <a:t>지연</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미측정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최근 </a:t>
                      </a:r>
                      <a:pPr indent="0" marL="0">
                        <a:buNone/>
                      </a:pPr>
                      <a:r>
                        <a:rPr lang="en-US" sz="1100" dirty="0">
                          <a:solidFill>
                            <a:srgbClr val="1F2937"/>
                          </a:solidFill>
                        </a:rPr>
                        <a:t>음식·즐겨찾기·직접 </a:t>
                      </a:r>
                      <a:pPr indent="0" marL="0">
                        <a:buNone/>
                      </a:pPr>
                      <a:r>
                        <a:rPr lang="en-US" sz="1100" dirty="0">
                          <a:solidFill>
                            <a:srgbClr val="1F2937"/>
                          </a:solidFill>
                        </a:rPr>
                        <a:t>입력으로 </a:t>
                      </a:r>
                      <a:pPr indent="0" marL="0">
                        <a:buNone/>
                      </a:pPr>
                      <a:r>
                        <a:rPr lang="en-US" sz="1100" dirty="0">
                          <a:solidFill>
                            <a:srgbClr val="1F2937"/>
                          </a:solidFill>
                        </a:rPr>
                        <a:t>기록 </a:t>
                      </a:r>
                      <a:pPr indent="0" marL="0">
                        <a:buNone/>
                      </a:pPr>
                      <a:r>
                        <a:rPr lang="en-US" sz="1100" dirty="0">
                          <a:solidFill>
                            <a:srgbClr val="1F2937"/>
                          </a:solidFill>
                        </a:rPr>
                        <a:t>계속. </a:t>
                      </a:r>
                      <a:pPr indent="0" marL="0">
                        <a:buNone/>
                      </a:pPr>
                      <a:r>
                        <a:rPr lang="en-US" sz="1100" dirty="0">
                          <a:solidFill>
                            <a:srgbClr val="1F2937"/>
                          </a:solidFill>
                        </a:rPr>
                        <a:t>입력어 </a:t>
                      </a:r>
                      <a:pPr indent="0" marL="0">
                        <a:buNone/>
                      </a:pPr>
                      <a:r>
                        <a:rPr lang="en-US" sz="1100" dirty="0">
                          <a:solidFill>
                            <a:srgbClr val="1F2937"/>
                          </a:solidFill>
                        </a:rPr>
                        <a:t>유지와 </a:t>
                      </a:r>
                      <a:pPr indent="0" marL="0">
                        <a:buNone/>
                      </a:pPr>
                      <a:r>
                        <a:rPr lang="en-US" sz="1100" dirty="0">
                          <a:solidFill>
                            <a:srgbClr val="1F2937"/>
                          </a:solidFill>
                        </a:rPr>
                        <a:t>로딩 </a:t>
                      </a:r>
                      <a:pPr indent="0" marL="0">
                        <a:buNone/>
                      </a:pPr>
                      <a:r>
                        <a:rPr lang="en-US" sz="1100" dirty="0">
                          <a:solidFill>
                            <a:srgbClr val="1F2937"/>
                          </a:solidFill>
                        </a:rPr>
                        <a:t>상태 </a:t>
                      </a:r>
                      <a:pPr indent="0" marL="0">
                        <a:buNone/>
                      </a:pPr>
                      <a:r>
                        <a:rPr lang="en-US" sz="1100" dirty="0">
                          <a:solidFill>
                            <a:srgbClr val="1F2937"/>
                          </a:solidFill>
                        </a:rPr>
                        <a:t>제공</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재시도 </a:t>
                      </a:r>
                      <a:pPr indent="0" marL="0">
                        <a:buNone/>
                      </a:pPr>
                      <a:r>
                        <a:rPr lang="en-US" sz="1100" dirty="0">
                          <a:solidFill>
                            <a:srgbClr val="1F2937"/>
                          </a:solidFill>
                        </a:rPr>
                        <a:t>안내 </a:t>
                      </a:r>
                      <a:pPr indent="0" marL="0">
                        <a:buNone/>
                      </a:pPr>
                      <a:r>
                        <a:rPr lang="en-US" sz="1100" dirty="0">
                          <a:solidFill>
                            <a:srgbClr val="1F2937"/>
                          </a:solidFill>
                        </a:rPr>
                        <a:t>문구는 </a:t>
                      </a:r>
                      <a:pPr indent="0" marL="0">
                        <a:buNone/>
                      </a:pPr>
                      <a:r>
                        <a:rPr lang="en-US" sz="1100" dirty="0">
                          <a:solidFill>
                            <a:srgbClr val="1F2937"/>
                          </a:solidFill>
                        </a:rPr>
                        <a:t>확정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재시도 </a:t>
                      </a:r>
                      <a:pPr indent="0" marL="0">
                        <a:buNone/>
                      </a:pPr>
                      <a:r>
                        <a:rPr lang="en-US" sz="1100" dirty="0">
                          <a:solidFill>
                            <a:srgbClr val="1F2937"/>
                          </a:solidFill>
                        </a:rPr>
                        <a:t>또는 </a:t>
                      </a:r>
                      <a:pPr indent="0" marL="0">
                        <a:buNone/>
                      </a:pPr>
                      <a:r>
                        <a:rPr lang="en-US" sz="1100" dirty="0">
                          <a:solidFill>
                            <a:srgbClr val="1F2937"/>
                          </a:solidFill>
                        </a:rPr>
                        <a:t>검색을 </a:t>
                      </a:r>
                      <a:pPr indent="0" marL="0">
                        <a:buNone/>
                      </a:pPr>
                      <a:r>
                        <a:rPr lang="en-US" sz="1100" dirty="0">
                          <a:solidFill>
                            <a:srgbClr val="1F2937"/>
                          </a:solidFill>
                        </a:rPr>
                        <a:t>중단하고 </a:t>
                      </a:r>
                      <a:pPr indent="0" marL="0">
                        <a:buNone/>
                      </a:pPr>
                      <a:r>
                        <a:rPr lang="en-US" sz="1100" dirty="0">
                          <a:solidFill>
                            <a:srgbClr val="1F2937"/>
                          </a:solidFill>
                        </a:rPr>
                        <a:t>직접 </a:t>
                      </a:r>
                      <a:pPr indent="0" marL="0">
                        <a:buNone/>
                      </a:pPr>
                      <a:r>
                        <a:rPr lang="en-US" sz="1100" dirty="0">
                          <a:solidFill>
                            <a:srgbClr val="1F2937"/>
                          </a:solidFill>
                        </a:rPr>
                        <a:t>입력</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영양 </a:t>
                      </a:r>
                      <a:pPr indent="0" marL="0">
                        <a:buNone/>
                      </a:pPr>
                      <a:r>
                        <a:rPr lang="en-US" sz="1100" dirty="0">
                          <a:solidFill>
                            <a:srgbClr val="1F2937"/>
                          </a:solidFill>
                        </a:rPr>
                        <a:t>정보 </a:t>
                      </a:r>
                      <a:pPr indent="0" marL="0">
                        <a:buNone/>
                      </a:pPr>
                      <a:r>
                        <a:rPr lang="en-US" sz="1100" dirty="0">
                          <a:solidFill>
                            <a:srgbClr val="1F2937"/>
                          </a:solidFill>
                        </a:rPr>
                        <a:t>누락</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음식 </a:t>
                      </a:r>
                      <a:pPr indent="0" marL="0">
                        <a:buNone/>
                      </a:pPr>
                      <a:r>
                        <a:rPr lang="en-US" sz="1100" dirty="0">
                          <a:solidFill>
                            <a:srgbClr val="1F2937"/>
                          </a:solidFill>
                        </a:rPr>
                        <a:t>데이터에 </a:t>
                      </a:r>
                      <a:pPr indent="0" marL="0">
                        <a:buNone/>
                      </a:pPr>
                      <a:r>
                        <a:rPr lang="en-US" sz="1100" dirty="0">
                          <a:solidFill>
                            <a:srgbClr val="1F2937"/>
                          </a:solidFill>
                        </a:rPr>
                        <a:t>일부 </a:t>
                      </a:r>
                      <a:pPr indent="0" marL="0">
                        <a:buNone/>
                      </a:pPr>
                      <a:r>
                        <a:rPr lang="en-US" sz="1100" dirty="0">
                          <a:solidFill>
                            <a:srgbClr val="1F2937"/>
                          </a:solidFill>
                        </a:rPr>
                        <a:t>또는 </a:t>
                      </a:r>
                      <a:pPr indent="0" marL="0">
                        <a:buNone/>
                      </a:pPr>
                      <a:r>
                        <a:rPr lang="en-US" sz="1100" dirty="0">
                          <a:solidFill>
                            <a:srgbClr val="1F2937"/>
                          </a:solidFill>
                        </a:rPr>
                        <a:t>전체 </a:t>
                      </a:r>
                      <a:pPr indent="0" marL="0">
                        <a:buNone/>
                      </a:pPr>
                      <a:r>
                        <a:rPr lang="en-US" sz="1100" dirty="0">
                          <a:solidFill>
                            <a:srgbClr val="1F2937"/>
                          </a:solidFill>
                        </a:rPr>
                        <a:t>영양값이 </a:t>
                      </a:r>
                      <a:pPr indent="0" marL="0">
                        <a:buNone/>
                      </a:pPr>
                      <a:r>
                        <a:rPr lang="en-US" sz="1100" dirty="0">
                          <a:solidFill>
                            <a:srgbClr val="1F2937"/>
                          </a:solidFill>
                        </a:rPr>
                        <a:t>없음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미측정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0과 </a:t>
                      </a:r>
                      <a:pPr indent="0" marL="0">
                        <a:buNone/>
                      </a:pPr>
                      <a:r>
                        <a:rPr lang="en-US" sz="1100" dirty="0">
                          <a:solidFill>
                            <a:srgbClr val="1F2937"/>
                          </a:solidFill>
                        </a:rPr>
                        <a:t>미입력을 </a:t>
                      </a:r>
                      <a:pPr indent="0" marL="0">
                        <a:buNone/>
                      </a:pPr>
                      <a:r>
                        <a:rPr lang="en-US" sz="1100" dirty="0">
                          <a:solidFill>
                            <a:srgbClr val="1F2937"/>
                          </a:solidFill>
                        </a:rPr>
                        <a:t>구분. </a:t>
                      </a:r>
                      <a:pPr indent="0" marL="0">
                        <a:buNone/>
                      </a:pPr>
                      <a:r>
                        <a:rPr lang="en-US" sz="1100" dirty="0">
                          <a:solidFill>
                            <a:srgbClr val="1F2937"/>
                          </a:solidFill>
                        </a:rPr>
                        <a:t>값이 </a:t>
                      </a:r>
                      <a:pPr indent="0" marL="0">
                        <a:buNone/>
                      </a:pPr>
                      <a:r>
                        <a:rPr lang="en-US" sz="1100" dirty="0">
                          <a:solidFill>
                            <a:srgbClr val="1F2937"/>
                          </a:solidFill>
                        </a:rPr>
                        <a:t>있는 </a:t>
                      </a:r>
                      <a:pPr indent="0" marL="0">
                        <a:buNone/>
                      </a:pPr>
                      <a:r>
                        <a:rPr lang="en-US" sz="1100" dirty="0">
                          <a:solidFill>
                            <a:srgbClr val="1F2937"/>
                          </a:solidFill>
                        </a:rPr>
                        <a:t>영양소만 </a:t>
                      </a:r>
                      <a:pPr indent="0" marL="0">
                        <a:buNone/>
                      </a:pPr>
                      <a:r>
                        <a:rPr lang="en-US" sz="1100" dirty="0">
                          <a:solidFill>
                            <a:srgbClr val="1F2937"/>
                          </a:solidFill>
                        </a:rPr>
                        <a:t>집계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“일부 </a:t>
                      </a:r>
                      <a:pPr indent="0" marL="0">
                        <a:buNone/>
                      </a:pPr>
                      <a:r>
                        <a:rPr lang="en-US" sz="1100" dirty="0">
                          <a:solidFill>
                            <a:srgbClr val="1F2937"/>
                          </a:solidFill>
                        </a:rPr>
                        <a:t>음식 </a:t>
                      </a:r>
                      <a:pPr indent="0" marL="0">
                        <a:buNone/>
                      </a:pPr>
                      <a:r>
                        <a:rPr lang="en-US" sz="1100" dirty="0">
                          <a:solidFill>
                            <a:srgbClr val="1F2937"/>
                          </a:solidFill>
                        </a:rPr>
                        <a:t>정보가 </a:t>
                      </a:r>
                      <a:pPr indent="0" marL="0">
                        <a:buNone/>
                      </a:pPr>
                      <a:r>
                        <a:rPr lang="en-US" sz="1100" dirty="0">
                          <a:solidFill>
                            <a:srgbClr val="1F2937"/>
                          </a:solidFill>
                        </a:rPr>
                        <a:t>없어 </a:t>
                      </a:r>
                      <a:pPr indent="0" marL="0">
                        <a:buNone/>
                      </a:pPr>
                      <a:r>
                        <a:rPr lang="en-US" sz="1100" dirty="0">
                          <a:solidFill>
                            <a:srgbClr val="1F2937"/>
                          </a:solidFill>
                        </a:rPr>
                        <a:t>영양소별 </a:t>
                      </a:r>
                      <a:pPr indent="0" marL="0">
                        <a:buNone/>
                      </a:pPr>
                      <a:r>
                        <a:rPr lang="en-US" sz="1100" dirty="0">
                          <a:solidFill>
                            <a:srgbClr val="1F2937"/>
                          </a:solidFill>
                        </a:rPr>
                        <a:t>합계가 </a:t>
                      </a:r>
                      <a:pPr indent="0" marL="0">
                        <a:buNone/>
                      </a:pPr>
                      <a:r>
                        <a:rPr lang="en-US" sz="1100" dirty="0">
                          <a:solidFill>
                            <a:srgbClr val="1F2937"/>
                          </a:solidFill>
                        </a:rPr>
                        <a:t>다를 </a:t>
                      </a:r>
                      <a:pPr indent="0" marL="0">
                        <a:buNone/>
                      </a:pPr>
                      <a:r>
                        <a:rPr lang="en-US" sz="1100" dirty="0">
                          <a:solidFill>
                            <a:srgbClr val="1F2937"/>
                          </a:solidFill>
                        </a:rPr>
                        <a:t>수 </a:t>
                      </a:r>
                      <a:pPr indent="0" marL="0">
                        <a:buNone/>
                      </a:pPr>
                      <a:r>
                        <a:rPr lang="en-US" sz="1100" dirty="0">
                          <a:solidFill>
                            <a:srgbClr val="1F2937"/>
                          </a:solidFill>
                        </a:rPr>
                        <a:t>있어요” </a:t>
                      </a:r>
                      <a:pPr indent="0" marL="0">
                        <a:buNone/>
                      </a:pPr>
                      <a:r>
                        <a:rPr lang="en-US" sz="1100" dirty="0">
                          <a:solidFill>
                            <a:srgbClr val="1F2937"/>
                          </a:solidFill>
                        </a:rPr>
                        <a:t>방향</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기록은 </a:t>
                      </a:r>
                      <a:pPr indent="0" marL="0">
                        <a:buNone/>
                      </a:pPr>
                      <a:r>
                        <a:rPr lang="en-US" sz="1100" dirty="0">
                          <a:solidFill>
                            <a:srgbClr val="1F2937"/>
                          </a:solidFill>
                        </a:rPr>
                        <a:t>유지하고 </a:t>
                      </a:r>
                      <a:pPr indent="0" marL="0">
                        <a:buNone/>
                      </a:pPr>
                      <a:r>
                        <a:rPr lang="en-US" sz="1100" dirty="0">
                          <a:solidFill>
                            <a:srgbClr val="1F2937"/>
                          </a:solidFill>
                        </a:rPr>
                        <a:t>정보 </a:t>
                      </a:r>
                      <a:pPr indent="0" marL="0">
                        <a:buNone/>
                      </a:pPr>
                      <a:r>
                        <a:rPr lang="en-US" sz="1100" dirty="0">
                          <a:solidFill>
                            <a:srgbClr val="1F2937"/>
                          </a:solidFill>
                        </a:rPr>
                        <a:t>없음 </a:t>
                      </a:r>
                      <a:pPr indent="0" marL="0">
                        <a:buNone/>
                      </a:pPr>
                      <a:r>
                        <a:rPr lang="en-US" sz="1100" dirty="0">
                          <a:solidFill>
                            <a:srgbClr val="1F2937"/>
                          </a:solidFill>
                        </a:rPr>
                        <a:t>상태로 </a:t>
                      </a:r>
                      <a:pPr indent="0" marL="0">
                        <a:buNone/>
                      </a:pPr>
                      <a:r>
                        <a:rPr lang="en-US" sz="1100" dirty="0">
                          <a:solidFill>
                            <a:srgbClr val="1F2937"/>
                          </a:solidFill>
                        </a:rPr>
                        <a:t>표시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기록 </a:t>
                      </a:r>
                      <a:pPr indent="0" marL="0">
                        <a:buNone/>
                      </a:pPr>
                      <a:r>
                        <a:rPr lang="en-US" sz="1100" dirty="0">
                          <a:solidFill>
                            <a:srgbClr val="1F2937"/>
                          </a:solidFill>
                        </a:rPr>
                        <a:t>저장 </a:t>
                      </a:r>
                      <a:pPr indent="0" marL="0">
                        <a:buNone/>
                      </a:pPr>
                      <a:r>
                        <a:rPr lang="en-US" sz="1100" dirty="0">
                          <a:solidFill>
                            <a:srgbClr val="1F2937"/>
                          </a:solidFill>
                        </a:rPr>
                        <a:t>실패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네트워크·서버 </a:t>
                      </a:r>
                      <a:pPr indent="0" marL="0">
                        <a:buNone/>
                      </a:pPr>
                      <a:r>
                        <a:rPr lang="en-US" sz="1100" dirty="0">
                          <a:solidFill>
                            <a:srgbClr val="1F2937"/>
                          </a:solidFill>
                        </a:rPr>
                        <a:t>오류 </a:t>
                      </a:r>
                      <a:pPr indent="0" marL="0">
                        <a:buNone/>
                      </a:pPr>
                      <a:r>
                        <a:rPr lang="en-US" sz="1100" dirty="0">
                          <a:solidFill>
                            <a:srgbClr val="1F2937"/>
                          </a:solidFill>
                        </a:rPr>
                        <a:t>등</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미측정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입력값 </a:t>
                      </a:r>
                      <a:pPr indent="0" marL="0">
                        <a:buNone/>
                      </a:pPr>
                      <a:r>
                        <a:rPr lang="en-US" sz="1100" dirty="0">
                          <a:solidFill>
                            <a:srgbClr val="1F2937"/>
                          </a:solidFill>
                        </a:rPr>
                        <a:t>유지. </a:t>
                      </a:r>
                      <a:pPr indent="0" marL="0">
                        <a:buNone/>
                      </a:pPr>
                      <a:r>
                        <a:rPr lang="en-US" sz="1100" dirty="0">
                          <a:solidFill>
                            <a:srgbClr val="1F2937"/>
                          </a:solidFill>
                        </a:rPr>
                        <a:t>실패 </a:t>
                      </a:r>
                      <a:pPr indent="0" marL="0">
                        <a:buNone/>
                      </a:pPr>
                      <a:r>
                        <a:rPr lang="en-US" sz="1100" dirty="0">
                          <a:solidFill>
                            <a:srgbClr val="1F2937"/>
                          </a:solidFill>
                        </a:rPr>
                        <a:t>상태 </a:t>
                      </a:r>
                      <a:pPr indent="0" marL="0">
                        <a:buNone/>
                      </a:pPr>
                      <a:r>
                        <a:rPr lang="en-US" sz="1100" dirty="0">
                          <a:solidFill>
                            <a:srgbClr val="1F2937"/>
                          </a:solidFill>
                        </a:rPr>
                        <a:t>표시. </a:t>
                      </a:r>
                      <a:pPr indent="0" marL="0">
                        <a:buNone/>
                      </a:pPr>
                      <a:r>
                        <a:rPr lang="en-US" sz="1100" dirty="0">
                          <a:solidFill>
                            <a:srgbClr val="1F2937"/>
                          </a:solidFill>
                        </a:rPr>
                        <a:t>요청 </a:t>
                      </a:r>
                      <a:pPr indent="0" marL="0">
                        <a:buNone/>
                      </a:pPr>
                      <a:r>
                        <a:rPr lang="en-US" sz="1100" dirty="0">
                          <a:solidFill>
                            <a:srgbClr val="1F2937"/>
                          </a:solidFill>
                        </a:rPr>
                        <a:t>ID를 </a:t>
                      </a:r>
                      <a:pPr indent="0" marL="0">
                        <a:buNone/>
                      </a:pPr>
                      <a:r>
                        <a:rPr lang="en-US" sz="1100" dirty="0">
                          <a:solidFill>
                            <a:srgbClr val="1F2937"/>
                          </a:solidFill>
                        </a:rPr>
                        <a:t>이용한 </a:t>
                      </a:r>
                      <a:pPr indent="0" marL="0">
                        <a:buNone/>
                      </a:pPr>
                      <a:r>
                        <a:rPr lang="en-US" sz="1100" dirty="0">
                          <a:solidFill>
                            <a:srgbClr val="1F2937"/>
                          </a:solidFill>
                        </a:rPr>
                        <a:t>중복 </a:t>
                      </a:r>
                      <a:pPr indent="0" marL="0">
                        <a:buNone/>
                      </a:pPr>
                      <a:r>
                        <a:rPr lang="en-US" sz="1100" dirty="0">
                          <a:solidFill>
                            <a:srgbClr val="1F2937"/>
                          </a:solidFill>
                        </a:rPr>
                        <a:t>방지 </a:t>
                      </a:r>
                      <a:pPr indent="0" marL="0">
                        <a:buNone/>
                      </a:pPr>
                      <a:r>
                        <a:rPr lang="en-US" sz="1100" dirty="0">
                          <a:solidFill>
                            <a:srgbClr val="1F2937"/>
                          </a:solidFill>
                        </a:rPr>
                        <a:t>방안 </a:t>
                      </a:r>
                      <a:pPr indent="0" marL="0">
                        <a:buNone/>
                      </a:pPr>
                      <a:r>
                        <a:rPr lang="en-US" sz="1100" dirty="0">
                          <a:solidFill>
                            <a:srgbClr val="1F2937"/>
                          </a:solidFill>
                        </a:rPr>
                        <a:t>반영</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“저장되지 </a:t>
                      </a:r>
                      <a:pPr indent="0" marL="0">
                        <a:buNone/>
                      </a:pPr>
                      <a:r>
                        <a:rPr lang="en-US" sz="1100" dirty="0">
                          <a:solidFill>
                            <a:srgbClr val="1F2937"/>
                          </a:solidFill>
                        </a:rPr>
                        <a:t>않았어요. </a:t>
                      </a:r>
                      <a:pPr indent="0" marL="0">
                        <a:buNone/>
                      </a:pPr>
                      <a:r>
                        <a:rPr lang="en-US" sz="1100" dirty="0">
                          <a:solidFill>
                            <a:srgbClr val="1F2937"/>
                          </a:solidFill>
                        </a:rPr>
                        <a:t>다시 </a:t>
                      </a:r>
                      <a:pPr indent="0" marL="0">
                        <a:buNone/>
                      </a:pPr>
                      <a:r>
                        <a:rPr lang="en-US" sz="1100" dirty="0">
                          <a:solidFill>
                            <a:srgbClr val="1F2937"/>
                          </a:solidFill>
                        </a:rPr>
                        <a:t>시도해 </a:t>
                      </a:r>
                      <a:pPr indent="0" marL="0">
                        <a:buNone/>
                      </a:pPr>
                      <a:r>
                        <a:rPr lang="en-US" sz="1100" dirty="0">
                          <a:solidFill>
                            <a:srgbClr val="1F2937"/>
                          </a:solidFill>
                        </a:rPr>
                        <a:t>주세요”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재시도. </a:t>
                      </a:r>
                      <a:pPr indent="0" marL="0">
                        <a:buNone/>
                      </a:pPr>
                      <a:r>
                        <a:rPr lang="en-US" sz="1100" dirty="0">
                          <a:solidFill>
                            <a:srgbClr val="1F2937"/>
                          </a:solidFill>
                        </a:rPr>
                        <a:t>임시 </a:t>
                      </a:r>
                      <a:pPr indent="0" marL="0">
                        <a:buNone/>
                      </a:pPr>
                      <a:r>
                        <a:rPr lang="en-US" sz="1100" dirty="0">
                          <a:solidFill>
                            <a:srgbClr val="1F2937"/>
                          </a:solidFill>
                        </a:rPr>
                        <a:t>보존 </a:t>
                      </a:r>
                      <a:pPr indent="0" marL="0">
                        <a:buNone/>
                      </a:pPr>
                      <a:r>
                        <a:rPr lang="en-US" sz="1100" dirty="0">
                          <a:solidFill>
                            <a:srgbClr val="1F2937"/>
                          </a:solidFill>
                        </a:rPr>
                        <a:t>수준은 </a:t>
                      </a:r>
                      <a:pPr indent="0" marL="0">
                        <a:buNone/>
                      </a:pPr>
                      <a:r>
                        <a:rPr lang="en-US" sz="1100" dirty="0">
                          <a:solidFill>
                            <a:srgbClr val="1F2937"/>
                          </a:solidFill>
                        </a:rPr>
                        <a:t>기술 </a:t>
                      </a:r>
                      <a:pPr indent="0" marL="0">
                        <a:buNone/>
                      </a:pPr>
                      <a:r>
                        <a:rPr lang="en-US" sz="1100" dirty="0">
                          <a:solidFill>
                            <a:srgbClr val="1F2937"/>
                          </a:solidFill>
                        </a:rPr>
                        <a:t>난이도 </a:t>
                      </a:r>
                      <a:pPr indent="0" marL="0">
                        <a:buNone/>
                      </a:pPr>
                      <a:r>
                        <a:rPr lang="en-US" sz="1100" dirty="0">
                          <a:solidFill>
                            <a:srgbClr val="1F2937"/>
                          </a:solidFill>
                        </a:rPr>
                        <a:t>확인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저장 </a:t>
                      </a:r>
                      <a:pPr indent="0" marL="0">
                        <a:buNone/>
                      </a:pPr>
                      <a:r>
                        <a:rPr lang="en-US" sz="1100" dirty="0">
                          <a:solidFill>
                            <a:srgbClr val="1F2937"/>
                          </a:solidFill>
                        </a:rPr>
                        <a:t>중 </a:t>
                      </a:r>
                      <a:pPr indent="0" marL="0">
                        <a:buNone/>
                      </a:pPr>
                      <a:r>
                        <a:rPr lang="en-US" sz="1100" dirty="0">
                          <a:solidFill>
                            <a:srgbClr val="1F2937"/>
                          </a:solidFill>
                        </a:rPr>
                        <a:t>중복 </a:t>
                      </a:r>
                      <a:pPr indent="0" marL="0">
                        <a:buNone/>
                      </a:pPr>
                      <a:r>
                        <a:rPr lang="en-US" sz="1100" dirty="0">
                          <a:solidFill>
                            <a:srgbClr val="1F2937"/>
                          </a:solidFill>
                        </a:rPr>
                        <a:t>요청</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사용자가 </a:t>
                      </a:r>
                      <a:pPr indent="0" marL="0">
                        <a:buNone/>
                      </a:pPr>
                      <a:r>
                        <a:rPr lang="en-US" sz="1100" dirty="0">
                          <a:solidFill>
                            <a:srgbClr val="1F2937"/>
                          </a:solidFill>
                        </a:rPr>
                        <a:t>저장 </a:t>
                      </a:r>
                      <a:pPr indent="0" marL="0">
                        <a:buNone/>
                      </a:pPr>
                      <a:r>
                        <a:rPr lang="en-US" sz="1100" dirty="0">
                          <a:solidFill>
                            <a:srgbClr val="1F2937"/>
                          </a:solidFill>
                        </a:rPr>
                        <a:t>버튼을 </a:t>
                      </a:r>
                      <a:pPr indent="0" marL="0">
                        <a:buNone/>
                      </a:pPr>
                      <a:r>
                        <a:rPr lang="en-US" sz="1100" dirty="0">
                          <a:solidFill>
                            <a:srgbClr val="1F2937"/>
                          </a:solidFill>
                        </a:rPr>
                        <a:t>반복 </a:t>
                      </a:r>
                      <a:pPr indent="0" marL="0">
                        <a:buNone/>
                      </a:pPr>
                      <a:r>
                        <a:rPr lang="en-US" sz="1100" dirty="0">
                          <a:solidFill>
                            <a:srgbClr val="1F2937"/>
                          </a:solidFill>
                        </a:rPr>
                        <a:t>선택하거나 </a:t>
                      </a:r>
                      <a:pPr indent="0" marL="0">
                        <a:buNone/>
                      </a:pPr>
                      <a:r>
                        <a:rPr lang="en-US" sz="1100" dirty="0">
                          <a:solidFill>
                            <a:srgbClr val="1F2937"/>
                          </a:solidFill>
                        </a:rPr>
                        <a:t>재전송</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미측정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요청 </a:t>
                      </a:r>
                      <a:pPr indent="0" marL="0">
                        <a:buNone/>
                      </a:pPr>
                      <a:r>
                        <a:rPr lang="en-US" sz="1100" dirty="0">
                          <a:solidFill>
                            <a:srgbClr val="1F2937"/>
                          </a:solidFill>
                        </a:rPr>
                        <a:t>ID </a:t>
                      </a:r>
                      <a:pPr indent="0" marL="0">
                        <a:buNone/>
                      </a:pPr>
                      <a:r>
                        <a:rPr lang="en-US" sz="1100" dirty="0">
                          <a:solidFill>
                            <a:srgbClr val="1F2937"/>
                          </a:solidFill>
                        </a:rPr>
                        <a:t>등으로 </a:t>
                      </a:r>
                      <a:pPr indent="0" marL="0">
                        <a:buNone/>
                      </a:pPr>
                      <a:r>
                        <a:rPr lang="en-US" sz="1100" dirty="0">
                          <a:solidFill>
                            <a:srgbClr val="1F2937"/>
                          </a:solidFill>
                        </a:rPr>
                        <a:t>중복 </a:t>
                      </a:r>
                      <a:pPr indent="0" marL="0">
                        <a:buNone/>
                      </a:pPr>
                      <a:r>
                        <a:rPr lang="en-US" sz="1100" dirty="0">
                          <a:solidFill>
                            <a:srgbClr val="1F2937"/>
                          </a:solidFill>
                        </a:rPr>
                        <a:t>방지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처리 </a:t>
                      </a:r>
                      <a:pPr indent="0" marL="0">
                        <a:buNone/>
                      </a:pPr>
                      <a:r>
                        <a:rPr lang="en-US" sz="1100" dirty="0">
                          <a:solidFill>
                            <a:srgbClr val="1F2937"/>
                          </a:solidFill>
                        </a:rPr>
                        <a:t>중·완료 </a:t>
                      </a:r>
                      <a:pPr indent="0" marL="0">
                        <a:buNone/>
                      </a:pPr>
                      <a:r>
                        <a:rPr lang="en-US" sz="1100" dirty="0">
                          <a:solidFill>
                            <a:srgbClr val="1F2937"/>
                          </a:solidFill>
                        </a:rPr>
                        <a:t>상태 </a:t>
                      </a:r>
                      <a:pPr indent="0" marL="0">
                        <a:buNone/>
                      </a:pPr>
                      <a:r>
                        <a:rPr lang="en-US" sz="1100" dirty="0">
                          <a:solidFill>
                            <a:srgbClr val="1F2937"/>
                          </a:solidFill>
                        </a:rPr>
                        <a:t>표시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결과 </a:t>
                      </a:r>
                      <a:pPr indent="0" marL="0">
                        <a:buNone/>
                      </a:pPr>
                      <a:r>
                        <a:rPr lang="en-US" sz="1100" dirty="0">
                          <a:solidFill>
                            <a:srgbClr val="1F2937"/>
                          </a:solidFill>
                        </a:rPr>
                        <a:t>확인 </a:t>
                      </a:r>
                      <a:pPr indent="0" marL="0">
                        <a:buNone/>
                      </a:pPr>
                      <a:r>
                        <a:rPr lang="en-US" sz="1100" dirty="0">
                          <a:solidFill>
                            <a:srgbClr val="1F2937"/>
                          </a:solidFill>
                        </a:rPr>
                        <a:t>후 </a:t>
                      </a:r>
                      <a:pPr indent="0" marL="0">
                        <a:buNone/>
                      </a:pPr>
                      <a:r>
                        <a:rPr lang="en-US" sz="1100" dirty="0">
                          <a:solidFill>
                            <a:srgbClr val="1F2937"/>
                          </a:solidFill>
                        </a:rPr>
                        <a:t>한 </a:t>
                      </a:r>
                      <a:pPr indent="0" marL="0">
                        <a:buNone/>
                      </a:pPr>
                      <a:r>
                        <a:rPr lang="en-US" sz="1100" dirty="0">
                          <a:solidFill>
                            <a:srgbClr val="1F2937"/>
                          </a:solidFill>
                        </a:rPr>
                        <a:t>건만 </a:t>
                      </a:r>
                      <a:pPr indent="0" marL="0">
                        <a:buNone/>
                      </a:pPr>
                      <a:r>
                        <a:rPr lang="en-US" sz="1100" dirty="0">
                          <a:solidFill>
                            <a:srgbClr val="1F2937"/>
                          </a:solidFill>
                        </a:rPr>
                        <a:t>반영</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날짜·시간 </a:t>
                      </a:r>
                      <a:pPr indent="0" marL="0">
                        <a:buNone/>
                      </a:pPr>
                      <a:r>
                        <a:rPr lang="en-US" sz="1100" dirty="0">
                          <a:solidFill>
                            <a:srgbClr val="1F2937"/>
                          </a:solidFill>
                        </a:rPr>
                        <a:t>불일치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기록 </a:t>
                      </a:r>
                      <a:pPr indent="0" marL="0">
                        <a:buNone/>
                      </a:pPr>
                      <a:r>
                        <a:rPr lang="en-US" sz="1100" dirty="0">
                          <a:solidFill>
                            <a:srgbClr val="1F2937"/>
                          </a:solidFill>
                        </a:rPr>
                        <a:t>생성 </a:t>
                      </a:r>
                      <a:pPr indent="0" marL="0">
                        <a:buNone/>
                      </a:pPr>
                      <a:r>
                        <a:rPr lang="en-US" sz="1100" dirty="0">
                          <a:solidFill>
                            <a:srgbClr val="1F2937"/>
                          </a:solidFill>
                        </a:rPr>
                        <a:t>시각과 </a:t>
                      </a:r>
                      <a:pPr indent="0" marL="0">
                        <a:buNone/>
                      </a:pPr>
                      <a:r>
                        <a:rPr lang="en-US" sz="1100" dirty="0">
                          <a:solidFill>
                            <a:srgbClr val="1F2937"/>
                          </a:solidFill>
                        </a:rPr>
                        <a:t>실제 </a:t>
                      </a:r>
                      <a:pPr indent="0" marL="0">
                        <a:buNone/>
                      </a:pPr>
                      <a:r>
                        <a:rPr lang="en-US" sz="1100" dirty="0">
                          <a:solidFill>
                            <a:srgbClr val="1F2937"/>
                          </a:solidFill>
                        </a:rPr>
                        <a:t>섭취 </a:t>
                      </a:r>
                      <a:pPr indent="0" marL="0">
                        <a:buNone/>
                      </a:pPr>
                      <a:r>
                        <a:rPr lang="en-US" sz="1100" dirty="0">
                          <a:solidFill>
                            <a:srgbClr val="1F2937"/>
                          </a:solidFill>
                        </a:rPr>
                        <a:t>날짜 </a:t>
                      </a:r>
                      <a:pPr indent="0" marL="0">
                        <a:buNone/>
                      </a:pPr>
                      <a:r>
                        <a:rPr lang="en-US" sz="1100" dirty="0">
                          <a:solidFill>
                            <a:srgbClr val="1F2937"/>
                          </a:solidFill>
                        </a:rPr>
                        <a:t>차이, </a:t>
                      </a:r>
                      <a:pPr indent="0" marL="0">
                        <a:buNone/>
                      </a:pPr>
                      <a:r>
                        <a:rPr lang="en-US" sz="1100" dirty="0">
                          <a:solidFill>
                            <a:srgbClr val="1F2937"/>
                          </a:solidFill>
                        </a:rPr>
                        <a:t>시간대 </a:t>
                      </a:r>
                      <a:pPr indent="0" marL="0">
                        <a:buNone/>
                      </a:pPr>
                      <a:r>
                        <a:rPr lang="en-US" sz="1100" dirty="0">
                          <a:solidFill>
                            <a:srgbClr val="1F2937"/>
                          </a:solidFill>
                        </a:rPr>
                        <a:t>변경</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미측정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생성 </a:t>
                      </a:r>
                      <a:pPr indent="0" marL="0">
                        <a:buNone/>
                      </a:pPr>
                      <a:r>
                        <a:rPr lang="en-US" sz="1100" dirty="0">
                          <a:solidFill>
                            <a:srgbClr val="1F2937"/>
                          </a:solidFill>
                        </a:rPr>
                        <a:t>시각과 </a:t>
                      </a:r>
                      <a:pPr indent="0" marL="0">
                        <a:buNone/>
                      </a:pPr>
                      <a:r>
                        <a:rPr lang="en-US" sz="1100" dirty="0">
                          <a:solidFill>
                            <a:srgbClr val="1F2937"/>
                          </a:solidFill>
                        </a:rPr>
                        <a:t>섭취 </a:t>
                      </a:r>
                      <a:pPr indent="0" marL="0">
                        <a:buNone/>
                      </a:pPr>
                      <a:r>
                        <a:rPr lang="en-US" sz="1100" dirty="0">
                          <a:solidFill>
                            <a:srgbClr val="1F2937"/>
                          </a:solidFill>
                        </a:rPr>
                        <a:t>날짜를 </a:t>
                      </a:r>
                      <a:pPr indent="0" marL="0">
                        <a:buNone/>
                      </a:pPr>
                      <a:r>
                        <a:rPr lang="en-US" sz="1100" dirty="0">
                          <a:solidFill>
                            <a:srgbClr val="1F2937"/>
                          </a:solidFill>
                        </a:rPr>
                        <a:t>분리. </a:t>
                      </a:r>
                      <a:pPr indent="0" marL="0">
                        <a:buNone/>
                      </a:pPr>
                      <a:r>
                        <a:rPr lang="en-US" sz="1100" dirty="0">
                          <a:solidFill>
                            <a:srgbClr val="1F2937"/>
                          </a:solidFill>
                        </a:rPr>
                        <a:t>과거 </a:t>
                      </a:r>
                      <a:pPr indent="0" marL="0">
                        <a:buNone/>
                      </a:pPr>
                      <a:r>
                        <a:rPr lang="en-US" sz="1100" dirty="0">
                          <a:solidFill>
                            <a:srgbClr val="1F2937"/>
                          </a:solidFill>
                        </a:rPr>
                        <a:t>날짜 </a:t>
                      </a:r>
                      <a:pPr indent="0" marL="0">
                        <a:buNone/>
                      </a:pPr>
                      <a:r>
                        <a:rPr lang="en-US" sz="1100" dirty="0">
                          <a:solidFill>
                            <a:srgbClr val="1F2937"/>
                          </a:solidFill>
                        </a:rPr>
                        <a:t>자동 </a:t>
                      </a:r>
                      <a:pPr indent="0" marL="0">
                        <a:buNone/>
                      </a:pPr>
                      <a:r>
                        <a:rPr lang="en-US" sz="1100" dirty="0">
                          <a:solidFill>
                            <a:srgbClr val="1F2937"/>
                          </a:solidFill>
                        </a:rPr>
                        <a:t>재계산 </a:t>
                      </a:r>
                      <a:pPr indent="0" marL="0">
                        <a:buNone/>
                      </a:pPr>
                      <a:r>
                        <a:rPr lang="en-US" sz="1100" dirty="0">
                          <a:solidFill>
                            <a:srgbClr val="1F2937"/>
                          </a:solidFill>
                        </a:rPr>
                        <a:t>금지 </a:t>
                      </a:r>
                      <a:pPr indent="0" marL="0">
                        <a:buNone/>
                      </a:pPr>
                      <a:r>
                        <a:rPr lang="en-US" sz="1100" dirty="0">
                          <a:solidFill>
                            <a:srgbClr val="1F2937"/>
                          </a:solidFill>
                        </a:rPr>
                        <a:t>방향</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날짜 </a:t>
                      </a:r>
                      <a:pPr indent="0" marL="0">
                        <a:buNone/>
                      </a:pPr>
                      <a:r>
                        <a:rPr lang="en-US" sz="1100" dirty="0">
                          <a:solidFill>
                            <a:srgbClr val="1F2937"/>
                          </a:solidFill>
                        </a:rPr>
                        <a:t>변경 </a:t>
                      </a:r>
                      <a:pPr indent="0" marL="0">
                        <a:buNone/>
                      </a:pPr>
                      <a:r>
                        <a:rPr lang="en-US" sz="1100" dirty="0">
                          <a:solidFill>
                            <a:srgbClr val="1F2937"/>
                          </a:solidFill>
                        </a:rPr>
                        <a:t>안내는 </a:t>
                      </a:r>
                      <a:pPr indent="0" marL="0">
                        <a:buNone/>
                      </a:pPr>
                      <a:r>
                        <a:rPr lang="en-US" sz="1100" dirty="0">
                          <a:solidFill>
                            <a:srgbClr val="1F2937"/>
                          </a:solidFill>
                        </a:rPr>
                        <a:t>설계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기록 </a:t>
                      </a:r>
                      <a:pPr indent="0" marL="0">
                        <a:buNone/>
                      </a:pPr>
                      <a:r>
                        <a:rPr lang="en-US" sz="1100" dirty="0">
                          <a:solidFill>
                            <a:srgbClr val="1F2937"/>
                          </a:solidFill>
                        </a:rPr>
                        <a:t>수정에서 </a:t>
                      </a:r>
                      <a:pPr indent="0" marL="0">
                        <a:buNone/>
                      </a:pPr>
                      <a:r>
                        <a:rPr lang="en-US" sz="1100" dirty="0">
                          <a:solidFill>
                            <a:srgbClr val="1F2937"/>
                          </a:solidFill>
                        </a:rPr>
                        <a:t>날짜·시간 </a:t>
                      </a:r>
                      <a:pPr indent="0" marL="0">
                        <a:buNone/>
                      </a:pPr>
                      <a:r>
                        <a:rPr lang="en-US" sz="1100" dirty="0">
                          <a:solidFill>
                            <a:srgbClr val="1F2937"/>
                          </a:solidFill>
                        </a:rPr>
                        <a:t>변경</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목표 </a:t>
                      </a:r>
                      <a:pPr indent="0" marL="0">
                        <a:buNone/>
                      </a:pPr>
                      <a:r>
                        <a:rPr lang="en-US" sz="1100" dirty="0">
                          <a:solidFill>
                            <a:srgbClr val="1F2937"/>
                          </a:solidFill>
                        </a:rPr>
                        <a:t>미설정 </a:t>
                      </a:r>
                      <a:pPr indent="0" marL="0">
                        <a:buNone/>
                      </a:pPr>
                      <a:r>
                        <a:rPr lang="en-US" sz="1100" dirty="0">
                          <a:solidFill>
                            <a:srgbClr val="1F2937"/>
                          </a:solidFill>
                        </a:rPr>
                        <a:t>또는 </a:t>
                      </a:r>
                      <a:pPr indent="0" marL="0">
                        <a:buNone/>
                      </a:pPr>
                      <a:r>
                        <a:rPr lang="en-US" sz="1100" dirty="0">
                          <a:solidFill>
                            <a:srgbClr val="1F2937"/>
                          </a:solidFill>
                        </a:rPr>
                        <a:t>목표 </a:t>
                      </a:r>
                      <a:pPr indent="0" marL="0">
                        <a:buNone/>
                      </a:pPr>
                      <a:r>
                        <a:rPr lang="en-US" sz="1100" dirty="0">
                          <a:solidFill>
                            <a:srgbClr val="1F2937"/>
                          </a:solidFill>
                        </a:rPr>
                        <a:t>기준 </a:t>
                      </a:r>
                      <a:pPr indent="0" marL="0">
                        <a:buNone/>
                      </a:pPr>
                      <a:r>
                        <a:rPr lang="en-US" sz="1100" dirty="0">
                          <a:solidFill>
                            <a:srgbClr val="1F2937"/>
                          </a:solidFill>
                        </a:rPr>
                        <a:t>미확정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사용자가 </a:t>
                      </a:r>
                      <a:pPr indent="0" marL="0">
                        <a:buNone/>
                      </a:pPr>
                      <a:r>
                        <a:rPr lang="en-US" sz="1100" dirty="0">
                          <a:solidFill>
                            <a:srgbClr val="1F2937"/>
                          </a:solidFill>
                        </a:rPr>
                        <a:t>목표 </a:t>
                      </a:r>
                      <a:pPr indent="0" marL="0">
                        <a:buNone/>
                      </a:pPr>
                      <a:r>
                        <a:rPr lang="en-US" sz="1100" dirty="0">
                          <a:solidFill>
                            <a:srgbClr val="1F2937"/>
                          </a:solidFill>
                        </a:rPr>
                        <a:t>없이 </a:t>
                      </a:r>
                      <a:pPr indent="0" marL="0">
                        <a:buNone/>
                      </a:pPr>
                      <a:r>
                        <a:rPr lang="en-US" sz="1100" dirty="0">
                          <a:solidFill>
                            <a:srgbClr val="1F2937"/>
                          </a:solidFill>
                        </a:rPr>
                        <a:t>시작하거나 </a:t>
                      </a:r>
                      <a:pPr indent="0" marL="0">
                        <a:buNone/>
                      </a:pPr>
                      <a:r>
                        <a:rPr lang="en-US" sz="1100" dirty="0">
                          <a:solidFill>
                            <a:srgbClr val="1F2937"/>
                          </a:solidFill>
                        </a:rPr>
                        <a:t>안전 </a:t>
                      </a:r>
                      <a:pPr indent="0" marL="0">
                        <a:buNone/>
                      </a:pPr>
                      <a:r>
                        <a:rPr lang="en-US" sz="1100" dirty="0">
                          <a:solidFill>
                            <a:srgbClr val="1F2937"/>
                          </a:solidFill>
                        </a:rPr>
                        <a:t>기준 </a:t>
                      </a:r>
                      <a:pPr indent="0" marL="0">
                        <a:buNone/>
                      </a:pPr>
                      <a:r>
                        <a:rPr lang="en-US" sz="1100" dirty="0">
                          <a:solidFill>
                            <a:srgbClr val="1F2937"/>
                          </a:solidFill>
                        </a:rPr>
                        <a:t>미완료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미측정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칼로리 </a:t>
                      </a:r>
                      <a:pPr indent="0" marL="0">
                        <a:buNone/>
                      </a:pPr>
                      <a:r>
                        <a:rPr lang="en-US" sz="1100" dirty="0">
                          <a:solidFill>
                            <a:srgbClr val="1F2937"/>
                          </a:solidFill>
                        </a:rPr>
                        <a:t>게이지·목표 </a:t>
                      </a:r>
                      <a:pPr indent="0" marL="0">
                        <a:buNone/>
                      </a:pPr>
                      <a:r>
                        <a:rPr lang="en-US" sz="1100" dirty="0">
                          <a:solidFill>
                            <a:srgbClr val="1F2937"/>
                          </a:solidFill>
                        </a:rPr>
                        <a:t>비교 </a:t>
                      </a:r>
                      <a:pPr indent="0" marL="0">
                        <a:buNone/>
                      </a:pPr>
                      <a:r>
                        <a:rPr lang="en-US" sz="1100" dirty="0">
                          <a:solidFill>
                            <a:srgbClr val="1F2937"/>
                          </a:solidFill>
                        </a:rPr>
                        <a:t>미표시. </a:t>
                      </a:r>
                      <a:pPr indent="0" marL="0">
                        <a:buNone/>
                      </a:pPr>
                      <a:r>
                        <a:rPr lang="en-US" sz="1100" dirty="0">
                          <a:solidFill>
                            <a:srgbClr val="1F2937"/>
                          </a:solidFill>
                        </a:rPr>
                        <a:t>자동 </a:t>
                      </a:r>
                      <a:pPr indent="0" marL="0">
                        <a:buNone/>
                      </a:pPr>
                      <a:r>
                        <a:rPr lang="en-US" sz="1100" dirty="0">
                          <a:solidFill>
                            <a:srgbClr val="1F2937"/>
                          </a:solidFill>
                        </a:rPr>
                        <a:t>권장 </a:t>
                      </a:r>
                      <a:pPr indent="0" marL="0">
                        <a:buNone/>
                      </a:pPr>
                      <a:r>
                        <a:rPr lang="en-US" sz="1100" dirty="0">
                          <a:solidFill>
                            <a:srgbClr val="1F2937"/>
                          </a:solidFill>
                        </a:rPr>
                        <a:t>칼로리 </a:t>
                      </a:r>
                      <a:pPr indent="0" marL="0">
                        <a:buNone/>
                      </a:pPr>
                      <a:r>
                        <a:rPr lang="en-US" sz="1100" dirty="0">
                          <a:solidFill>
                            <a:srgbClr val="1F2937"/>
                          </a:solidFill>
                        </a:rPr>
                        <a:t>미제공</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목표 </a:t>
                      </a:r>
                      <a:pPr indent="0" marL="0">
                        <a:buNone/>
                      </a:pPr>
                      <a:r>
                        <a:rPr lang="en-US" sz="1100" dirty="0">
                          <a:solidFill>
                            <a:srgbClr val="1F2937"/>
                          </a:solidFill>
                        </a:rPr>
                        <a:t>없이 </a:t>
                      </a:r>
                      <a:pPr indent="0" marL="0">
                        <a:buNone/>
                      </a:pPr>
                      <a:r>
                        <a:rPr lang="en-US" sz="1100" dirty="0">
                          <a:solidFill>
                            <a:srgbClr val="1F2937"/>
                          </a:solidFill>
                        </a:rPr>
                        <a:t>기록 </a:t>
                      </a:r>
                      <a:pPr indent="0" marL="0">
                        <a:buNone/>
                      </a:pPr>
                      <a:r>
                        <a:rPr lang="en-US" sz="1100" dirty="0">
                          <a:solidFill>
                            <a:srgbClr val="1F2937"/>
                          </a:solidFill>
                        </a:rPr>
                        <a:t>가능함을 </a:t>
                      </a:r>
                      <a:pPr indent="0" marL="0">
                        <a:buNone/>
                      </a:pPr>
                      <a:r>
                        <a:rPr lang="en-US" sz="1100" dirty="0">
                          <a:solidFill>
                            <a:srgbClr val="1F2937"/>
                          </a:solidFill>
                        </a:rPr>
                        <a:t>안내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기록 </a:t>
                      </a:r>
                      <a:pPr indent="0" marL="0">
                        <a:buNone/>
                      </a:pPr>
                      <a:r>
                        <a:rPr lang="en-US" sz="1100" dirty="0">
                          <a:solidFill>
                            <a:srgbClr val="1F2937"/>
                          </a:solidFill>
                        </a:rPr>
                        <a:t>흐름 </a:t>
                      </a:r>
                      <a:pPr indent="0" marL="0">
                        <a:buNone/>
                      </a:pPr>
                      <a:r>
                        <a:rPr lang="en-US" sz="1100" dirty="0">
                          <a:solidFill>
                            <a:srgbClr val="1F2937"/>
                          </a:solidFill>
                        </a:rPr>
                        <a:t>이용. </a:t>
                      </a:r>
                      <a:pPr indent="0" marL="0">
                        <a:buNone/>
                      </a:pPr>
                      <a:r>
                        <a:rPr lang="en-US" sz="1100" dirty="0">
                          <a:solidFill>
                            <a:srgbClr val="1F2937"/>
                          </a:solidFill>
                        </a:rPr>
                        <a:t>전문가 </a:t>
                      </a:r>
                      <a:pPr indent="0" marL="0">
                        <a:buNone/>
                      </a:pPr>
                      <a:r>
                        <a:rPr lang="en-US" sz="1100" dirty="0">
                          <a:solidFill>
                            <a:srgbClr val="1F2937"/>
                          </a:solidFill>
                        </a:rPr>
                        <a:t>검토 </a:t>
                      </a:r>
                      <a:pPr indent="0" marL="0">
                        <a:buNone/>
                      </a:pPr>
                      <a:r>
                        <a:rPr lang="en-US" sz="1100" dirty="0">
                          <a:solidFill>
                            <a:srgbClr val="1F2937"/>
                          </a:solidFill>
                        </a:rPr>
                        <a:t>후 </a:t>
                      </a:r>
                      <a:pPr indent="0" marL="0">
                        <a:buNone/>
                      </a:pPr>
                      <a:r>
                        <a:rPr lang="en-US" sz="1100" dirty="0">
                          <a:solidFill>
                            <a:srgbClr val="1F2937"/>
                          </a:solidFill>
                        </a:rPr>
                        <a:t>범위 </a:t>
                      </a:r>
                      <a:pPr indent="0" marL="0">
                        <a:buNone/>
                      </a:pPr>
                      <a:r>
                        <a:rPr lang="en-US" sz="1100" dirty="0">
                          <a:solidFill>
                            <a:srgbClr val="1F2937"/>
                          </a:solidFill>
                        </a:rPr>
                        <a:t>확정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푸시 </a:t>
                      </a:r>
                      <a:pPr indent="0" marL="0">
                        <a:buNone/>
                      </a:pPr>
                      <a:r>
                        <a:rPr lang="en-US" sz="1100" dirty="0">
                          <a:solidFill>
                            <a:srgbClr val="1F2937"/>
                          </a:solidFill>
                        </a:rPr>
                        <a:t>권한 </a:t>
                      </a:r>
                      <a:pPr indent="0" marL="0">
                        <a:buNone/>
                      </a:pPr>
                      <a:r>
                        <a:rPr lang="en-US" sz="1100" dirty="0">
                          <a:solidFill>
                            <a:srgbClr val="1F2937"/>
                          </a:solidFill>
                        </a:rPr>
                        <a:t>거부·설정 </a:t>
                      </a:r>
                      <a:pPr indent="0" marL="0">
                        <a:buNone/>
                      </a:pPr>
                      <a:r>
                        <a:rPr lang="en-US" sz="1100" dirty="0">
                          <a:solidFill>
                            <a:srgbClr val="1F2937"/>
                          </a:solidFill>
                        </a:rPr>
                        <a:t>불일치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운영체제 </a:t>
                      </a:r>
                      <a:pPr indent="0" marL="0">
                        <a:buNone/>
                      </a:pPr>
                      <a:r>
                        <a:rPr lang="en-US" sz="1100" dirty="0">
                          <a:solidFill>
                            <a:srgbClr val="1F2937"/>
                          </a:solidFill>
                        </a:rPr>
                        <a:t>권한 </a:t>
                      </a:r>
                      <a:pPr indent="0" marL="0">
                        <a:buNone/>
                      </a:pPr>
                      <a:r>
                        <a:rPr lang="en-US" sz="1100" dirty="0">
                          <a:solidFill>
                            <a:srgbClr val="1F2937"/>
                          </a:solidFill>
                        </a:rPr>
                        <a:t>거부, </a:t>
                      </a:r>
                      <a:pPr indent="0" marL="0">
                        <a:buNone/>
                      </a:pPr>
                      <a:r>
                        <a:rPr lang="en-US" sz="1100" dirty="0">
                          <a:solidFill>
                            <a:srgbClr val="1F2937"/>
                          </a:solidFill>
                        </a:rPr>
                        <a:t>사용자가 </a:t>
                      </a:r>
                      <a:pPr indent="0" marL="0">
                        <a:buNone/>
                      </a:pPr>
                      <a:r>
                        <a:rPr lang="en-US" sz="1100" dirty="0">
                          <a:solidFill>
                            <a:srgbClr val="1F2937"/>
                          </a:solidFill>
                        </a:rPr>
                        <a:t>앱 </a:t>
                      </a:r>
                      <a:pPr indent="0" marL="0">
                        <a:buNone/>
                      </a:pPr>
                      <a:r>
                        <a:rPr lang="en-US" sz="1100" dirty="0">
                          <a:solidFill>
                            <a:srgbClr val="1F2937"/>
                          </a:solidFill>
                        </a:rPr>
                        <a:t>안에서 </a:t>
                      </a:r>
                      <a:pPr indent="0" marL="0">
                        <a:buNone/>
                      </a:pPr>
                      <a:r>
                        <a:rPr lang="en-US" sz="1100" dirty="0">
                          <a:solidFill>
                            <a:srgbClr val="1F2937"/>
                          </a:solidFill>
                        </a:rPr>
                        <a:t>알림을 </a:t>
                      </a:r>
                      <a:pPr indent="0" marL="0">
                        <a:buNone/>
                      </a:pPr>
                      <a:r>
                        <a:rPr lang="en-US" sz="1100" dirty="0">
                          <a:solidFill>
                            <a:srgbClr val="1F2937"/>
                          </a:solidFill>
                        </a:rPr>
                        <a:t>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미측정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알림을 </a:t>
                      </a:r>
                      <a:pPr indent="0" marL="0">
                        <a:buNone/>
                      </a:pPr>
                      <a:r>
                        <a:rPr lang="en-US" sz="1100" dirty="0">
                          <a:solidFill>
                            <a:srgbClr val="1F2937"/>
                          </a:solidFill>
                        </a:rPr>
                        <a:t>켠 </a:t>
                      </a:r>
                      <a:pPr indent="0" marL="0">
                        <a:buNone/>
                      </a:pPr>
                      <a:r>
                        <a:rPr lang="en-US" sz="1100" dirty="0">
                          <a:solidFill>
                            <a:srgbClr val="1F2937"/>
                          </a:solidFill>
                        </a:rPr>
                        <a:t>상태로 </a:t>
                      </a:r>
                      <a:pPr indent="0" marL="0">
                        <a:buNone/>
                      </a:pPr>
                      <a:r>
                        <a:rPr lang="en-US" sz="1100" dirty="0">
                          <a:solidFill>
                            <a:srgbClr val="1F2937"/>
                          </a:solidFill>
                        </a:rPr>
                        <a:t>오인하지 </a:t>
                      </a:r>
                      <a:pPr indent="0" marL="0">
                        <a:buNone/>
                      </a:pPr>
                      <a:r>
                        <a:rPr lang="en-US" sz="1100" dirty="0">
                          <a:solidFill>
                            <a:srgbClr val="1F2937"/>
                          </a:solidFill>
                        </a:rPr>
                        <a:t>않도록 </a:t>
                      </a:r>
                      <a:pPr indent="0" marL="0">
                        <a:buNone/>
                      </a:pPr>
                      <a:r>
                        <a:rPr lang="en-US" sz="1100" dirty="0">
                          <a:solidFill>
                            <a:srgbClr val="1F2937"/>
                          </a:solidFill>
                        </a:rPr>
                        <a:t>앱 </a:t>
                      </a:r>
                      <a:pPr indent="0" marL="0">
                        <a:buNone/>
                      </a:pPr>
                      <a:r>
                        <a:rPr lang="en-US" sz="1100" dirty="0">
                          <a:solidFill>
                            <a:srgbClr val="1F2937"/>
                          </a:solidFill>
                        </a:rPr>
                        <a:t>설정 </a:t>
                      </a:r>
                      <a:pPr indent="0" marL="0">
                        <a:buNone/>
                      </a:pPr>
                      <a:r>
                        <a:rPr lang="en-US" sz="1100" dirty="0">
                          <a:solidFill>
                            <a:srgbClr val="1F2937"/>
                          </a:solidFill>
                        </a:rPr>
                        <a:t>상태 </a:t>
                      </a:r>
                      <a:pPr indent="0" marL="0">
                        <a:buNone/>
                      </a:pPr>
                      <a:r>
                        <a:rPr lang="en-US" sz="1100" dirty="0">
                          <a:solidFill>
                            <a:srgbClr val="1F2937"/>
                          </a:solidFill>
                        </a:rPr>
                        <a:t>분리</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권한 </a:t>
                      </a:r>
                      <a:pPr indent="0" marL="0">
                        <a:buNone/>
                      </a:pPr>
                      <a:r>
                        <a:rPr lang="en-US" sz="1100" dirty="0">
                          <a:solidFill>
                            <a:srgbClr val="1F2937"/>
                          </a:solidFill>
                        </a:rPr>
                        <a:t>설정 </a:t>
                      </a:r>
                      <a:pPr indent="0" marL="0">
                        <a:buNone/>
                      </a:pPr>
                      <a:r>
                        <a:rPr lang="en-US" sz="1100" dirty="0">
                          <a:solidFill>
                            <a:srgbClr val="1F2937"/>
                          </a:solidFill>
                        </a:rPr>
                        <a:t>안내 </a:t>
                      </a:r>
                      <a:pPr indent="0" marL="0">
                        <a:buNone/>
                      </a:pPr>
                      <a:r>
                        <a:rPr lang="en-US" sz="1100" dirty="0">
                          <a:solidFill>
                            <a:srgbClr val="1F2937"/>
                          </a:solidFill>
                        </a:rPr>
                        <a:t>문구 </a:t>
                      </a:r>
                      <a:pPr indent="0" marL="0">
                        <a:buNone/>
                      </a:pPr>
                      <a:r>
                        <a:rPr lang="en-US" sz="1100" dirty="0">
                          <a:solidFill>
                            <a:srgbClr val="1F2937"/>
                          </a:solidFill>
                        </a:rPr>
                        <a:t>확정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사용자가 </a:t>
                      </a:r>
                      <a:pPr indent="0" marL="0">
                        <a:buNone/>
                      </a:pPr>
                      <a:r>
                        <a:rPr lang="en-US" sz="1100" dirty="0">
                          <a:solidFill>
                            <a:srgbClr val="1F2937"/>
                          </a:solidFill>
                        </a:rPr>
                        <a:t>설정에서 </a:t>
                      </a:r>
                      <a:pPr indent="0" marL="0">
                        <a:buNone/>
                      </a:pPr>
                      <a:r>
                        <a:rPr lang="en-US" sz="1100" dirty="0">
                          <a:solidFill>
                            <a:srgbClr val="1F2937"/>
                          </a:solidFill>
                        </a:rPr>
                        <a:t>다시 </a:t>
                      </a:r>
                      <a:pPr indent="0" marL="0">
                        <a:buNone/>
                      </a:pPr>
                      <a:r>
                        <a:rPr lang="en-US" sz="1100" dirty="0">
                          <a:solidFill>
                            <a:srgbClr val="1F2937"/>
                          </a:solidFill>
                        </a:rPr>
                        <a:t>켜도록 </a:t>
                      </a:r>
                      <a:pPr indent="0" marL="0">
                        <a:buNone/>
                      </a:pPr>
                      <a:r>
                        <a:rPr lang="en-US" sz="1100" dirty="0">
                          <a:solidFill>
                            <a:srgbClr val="1F2937"/>
                          </a:solidFill>
                        </a:rPr>
                        <a:t>안내. </a:t>
                      </a:r>
                      <a:pPr indent="0" marL="0">
                        <a:buNone/>
                      </a:pPr>
                      <a:r>
                        <a:rPr lang="en-US" sz="1100" dirty="0">
                          <a:solidFill>
                            <a:srgbClr val="1F2937"/>
                          </a:solidFill>
                        </a:rPr>
                        <a:t>반복 </a:t>
                      </a:r>
                      <a:pPr indent="0" marL="0">
                        <a:buNone/>
                      </a:pPr>
                      <a:r>
                        <a:rPr lang="en-US" sz="1100" dirty="0">
                          <a:solidFill>
                            <a:srgbClr val="1F2937"/>
                          </a:solidFill>
                        </a:rPr>
                        <a:t>권한 </a:t>
                      </a:r>
                      <a:pPr indent="0" marL="0">
                        <a:buNone/>
                      </a:pPr>
                      <a:r>
                        <a:rPr lang="en-US" sz="1100" dirty="0">
                          <a:solidFill>
                            <a:srgbClr val="1F2937"/>
                          </a:solidFill>
                        </a:rPr>
                        <a:t>요청 </a:t>
                      </a:r>
                      <a:pPr indent="0" marL="0">
                        <a:buNone/>
                      </a:pPr>
                      <a:r>
                        <a:rPr lang="en-US" sz="1100" dirty="0">
                          <a:solidFill>
                            <a:srgbClr val="1F2937"/>
                          </a:solidFill>
                        </a:rPr>
                        <a:t>방식은 </a:t>
                      </a:r>
                      <a:pPr indent="0" marL="0">
                        <a:buNone/>
                      </a:pPr>
                      <a:r>
                        <a:rPr lang="en-US" sz="1100" dirty="0">
                          <a:solidFill>
                            <a:srgbClr val="1F2937"/>
                          </a:solidFill>
                        </a:rPr>
                        <a:t>확인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계정·기록 </a:t>
                      </a:r>
                      <a:pPr indent="0" marL="0">
                        <a:buNone/>
                      </a:pPr>
                      <a:r>
                        <a:rPr lang="en-US" sz="1100" dirty="0">
                          <a:solidFill>
                            <a:srgbClr val="1F2937"/>
                          </a:solidFill>
                        </a:rPr>
                        <a:t>삭제 </a:t>
                      </a:r>
                      <a:pPr indent="0" marL="0">
                        <a:buNone/>
                      </a:pPr>
                      <a:r>
                        <a:rPr lang="en-US" sz="1100" dirty="0">
                          <a:solidFill>
                            <a:srgbClr val="1F2937"/>
                          </a:solidFill>
                        </a:rPr>
                        <a:t>처리 </a:t>
                      </a:r>
                      <a:pPr indent="0" marL="0">
                        <a:buNone/>
                      </a:pPr>
                      <a:r>
                        <a:rPr lang="en-US" sz="1100" dirty="0">
                          <a:solidFill>
                            <a:srgbClr val="1F2937"/>
                          </a:solidFill>
                        </a:rPr>
                        <a:t>지연</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서버·스토리지·백업 </a:t>
                      </a:r>
                      <a:pPr indent="0" marL="0">
                        <a:buNone/>
                      </a:pPr>
                      <a:r>
                        <a:rPr lang="en-US" sz="1100" dirty="0">
                          <a:solidFill>
                            <a:srgbClr val="1F2937"/>
                          </a:solidFill>
                        </a:rPr>
                        <a:t>삭제가 </a:t>
                      </a:r>
                      <a:pPr indent="0" marL="0">
                        <a:buNone/>
                      </a:pPr>
                      <a:r>
                        <a:rPr lang="en-US" sz="1100" dirty="0">
                          <a:solidFill>
                            <a:srgbClr val="1F2937"/>
                          </a:solidFill>
                        </a:rPr>
                        <a:t>비동기 </a:t>
                      </a:r>
                      <a:pPr indent="0" marL="0">
                        <a:buNone/>
                      </a:pPr>
                      <a:r>
                        <a:rPr lang="en-US" sz="1100" dirty="0">
                          <a:solidFill>
                            <a:srgbClr val="1F2937"/>
                          </a:solidFill>
                        </a:rPr>
                        <a:t>처리될 </a:t>
                      </a:r>
                      <a:pPr indent="0" marL="0">
                        <a:buNone/>
                      </a:pPr>
                      <a:r>
                        <a:rPr lang="en-US" sz="1100" dirty="0">
                          <a:solidFill>
                            <a:srgbClr val="1F2937"/>
                          </a:solidFill>
                        </a:rPr>
                        <a:t>수 </a:t>
                      </a:r>
                      <a:pPr indent="0" marL="0">
                        <a:buNone/>
                      </a:pPr>
                      <a:r>
                        <a:rPr lang="en-US" sz="1100" dirty="0">
                          <a:solidFill>
                            <a:srgbClr val="1F2937"/>
                          </a:solidFill>
                        </a:rPr>
                        <a:t>있음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미측정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삭제 </a:t>
                      </a:r>
                      <a:pPr indent="0" marL="0">
                        <a:buNone/>
                      </a:pPr>
                      <a:r>
                        <a:rPr lang="en-US" sz="1100" dirty="0">
                          <a:solidFill>
                            <a:srgbClr val="1F2937"/>
                          </a:solidFill>
                        </a:rPr>
                        <a:t>요청 </a:t>
                      </a:r>
                      <a:pPr indent="0" marL="0">
                        <a:buNone/>
                      </a:pPr>
                      <a:r>
                        <a:rPr lang="en-US" sz="1100" dirty="0">
                          <a:solidFill>
                            <a:srgbClr val="1F2937"/>
                          </a:solidFill>
                        </a:rPr>
                        <a:t>상태와 </a:t>
                      </a:r>
                      <a:pPr indent="0" marL="0">
                        <a:buNone/>
                      </a:pPr>
                      <a:r>
                        <a:rPr lang="en-US" sz="1100" dirty="0">
                          <a:solidFill>
                            <a:srgbClr val="1F2937"/>
                          </a:solidFill>
                        </a:rPr>
                        <a:t>처리 </a:t>
                      </a:r>
                      <a:pPr indent="0" marL="0">
                        <a:buNone/>
                      </a:pPr>
                      <a:r>
                        <a:rPr lang="en-US" sz="1100" dirty="0">
                          <a:solidFill>
                            <a:srgbClr val="1F2937"/>
                          </a:solidFill>
                        </a:rPr>
                        <a:t>정책 </a:t>
                      </a:r>
                      <a:pPr indent="0" marL="0">
                        <a:buNone/>
                      </a:pPr>
                      <a:r>
                        <a:rPr lang="en-US" sz="1100" dirty="0">
                          <a:solidFill>
                            <a:srgbClr val="1F2937"/>
                          </a:solidFill>
                        </a:rPr>
                        <a:t>안내. </a:t>
                      </a:r>
                      <a:pPr indent="0" marL="0">
                        <a:buNone/>
                      </a:pPr>
                      <a:r>
                        <a:rPr lang="en-US" sz="1100" dirty="0">
                          <a:solidFill>
                            <a:srgbClr val="1F2937"/>
                          </a:solidFill>
                        </a:rPr>
                        <a:t>토큰 </a:t>
                      </a:r>
                      <a:pPr indent="0" marL="0">
                        <a:buNone/>
                      </a:pPr>
                      <a:r>
                        <a:rPr lang="en-US" sz="1100" dirty="0">
                          <a:solidFill>
                            <a:srgbClr val="1F2937"/>
                          </a:solidFill>
                        </a:rPr>
                        <a:t>비활성화 </a:t>
                      </a:r>
                      <a:pPr indent="0" marL="0">
                        <a:buNone/>
                      </a:pPr>
                      <a:r>
                        <a:rPr lang="en-US" sz="1100" dirty="0">
                          <a:solidFill>
                            <a:srgbClr val="1F2937"/>
                          </a:solidFill>
                        </a:rPr>
                        <a:t>등 </a:t>
                      </a:r>
                      <a:pPr indent="0" marL="0">
                        <a:buNone/>
                      </a:pPr>
                      <a:r>
                        <a:rPr lang="en-US" sz="1100" dirty="0">
                          <a:solidFill>
                            <a:srgbClr val="1F2937"/>
                          </a:solidFill>
                        </a:rPr>
                        <a:t>세부 </a:t>
                      </a:r>
                      <a:pPr indent="0" marL="0">
                        <a:buNone/>
                      </a:pPr>
                      <a:r>
                        <a:rPr lang="en-US" sz="1100" dirty="0">
                          <a:solidFill>
                            <a:srgbClr val="1F2937"/>
                          </a:solidFill>
                        </a:rPr>
                        <a:t>구현 </a:t>
                      </a:r>
                      <a:pPr indent="0" marL="0">
                        <a:buNone/>
                      </a:pPr>
                      <a:r>
                        <a:rPr lang="en-US" sz="1100" dirty="0">
                          <a:solidFill>
                            <a:srgbClr val="1F2937"/>
                          </a:solidFill>
                        </a:rPr>
                        <a:t>확인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완료 </a:t>
                      </a:r>
                      <a:pPr indent="0" marL="0">
                        <a:buNone/>
                      </a:pPr>
                      <a:r>
                        <a:rPr lang="en-US" sz="1100" dirty="0">
                          <a:solidFill>
                            <a:srgbClr val="1F2937"/>
                          </a:solidFill>
                        </a:rPr>
                        <a:t>시점 </a:t>
                      </a:r>
                      <a:pPr indent="0" marL="0">
                        <a:buNone/>
                      </a:pPr>
                      <a:r>
                        <a:rPr lang="en-US" sz="1100" dirty="0">
                          <a:solidFill>
                            <a:srgbClr val="1F2937"/>
                          </a:solidFill>
                        </a:rPr>
                        <a:t>안내 </a:t>
                      </a:r>
                      <a:pPr indent="0" marL="0">
                        <a:buNone/>
                      </a:pPr>
                      <a:r>
                        <a:rPr lang="en-US" sz="1100" dirty="0">
                          <a:solidFill>
                            <a:srgbClr val="1F2937"/>
                          </a:solidFill>
                        </a:rPr>
                        <a:t>방식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개인정보·운영 </a:t>
                      </a:r>
                      <a:pPr indent="0" marL="0">
                        <a:buNone/>
                      </a:pPr>
                      <a:r>
                        <a:rPr lang="en-US" sz="1100" dirty="0">
                          <a:solidFill>
                            <a:srgbClr val="1F2937"/>
                          </a:solidFill>
                        </a:rPr>
                        <a:t>정책 </a:t>
                      </a:r>
                      <a:pPr indent="0" marL="0">
                        <a:buNone/>
                      </a:pPr>
                      <a:r>
                        <a:rPr lang="en-US" sz="1100" dirty="0">
                          <a:solidFill>
                            <a:srgbClr val="1F2937"/>
                          </a:solidFill>
                        </a:rPr>
                        <a:t>확정 </a:t>
                      </a:r>
                      <a:pPr indent="0" marL="0">
                        <a:buNone/>
                      </a:pPr>
                      <a:r>
                        <a:rPr lang="en-US" sz="1100" dirty="0">
                          <a:solidFill>
                            <a:srgbClr val="1F2937"/>
                          </a:solidFill>
                        </a:rPr>
                        <a:t>후 </a:t>
                      </a:r>
                      <a:pPr indent="0" marL="0">
                        <a:buNone/>
                      </a:pPr>
                      <a:r>
                        <a:rPr lang="en-US" sz="1100" dirty="0">
                          <a:solidFill>
                            <a:srgbClr val="1F2937"/>
                          </a:solidFill>
                        </a:rPr>
                        <a:t>처리</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4.1 주요 예외 시나리오 (2/2)</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1028700"/>
                <a:gridCol w="1543050"/>
                <a:gridCol w="342900"/>
                <a:gridCol w="2057400"/>
                <a:gridCol w="1314450"/>
                <a:gridCol w="1943100"/>
              </a:tblGrid>
              <a:tr h="0">
                <a:tc>
                  <a:txBody>
                    <a:bodyPr/>
                    <a:lstStyle/>
                    <a:p>
                      <a:pPr indent="0" marL="0">
                        <a:buNone/>
                      </a:pPr>
                      <a:r>
                        <a:rPr lang="en-US" sz="1200" b="1" dirty="0">
                          <a:solidFill>
                            <a:srgbClr val="FFFFFF"/>
                          </a:solidFill>
                        </a:rPr>
                        <a:t>예외 </a:t>
                      </a:r>
                      <a:pPr indent="0" marL="0">
                        <a:buNone/>
                      </a:pPr>
                      <a:r>
                        <a:rPr lang="en-US" sz="1200" b="1" dirty="0">
                          <a:solidFill>
                            <a:srgbClr val="FFFFFF"/>
                          </a:solidFill>
                        </a:rPr>
                        <a:t>상황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원인</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빈도</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처리 </a:t>
                      </a:r>
                      <a:pPr indent="0" marL="0">
                        <a:buNone/>
                      </a:pPr>
                      <a:r>
                        <a:rPr lang="en-US" sz="1200" b="1" dirty="0">
                          <a:solidFill>
                            <a:srgbClr val="FFFFFF"/>
                          </a:solidFill>
                        </a:rPr>
                        <a:t>방법</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사용자 </a:t>
                      </a:r>
                      <a:pPr indent="0" marL="0">
                        <a:buNone/>
                      </a:pPr>
                      <a:r>
                        <a:rPr lang="en-US" sz="1200" b="1" dirty="0">
                          <a:solidFill>
                            <a:srgbClr val="FFFFFF"/>
                          </a:solidFill>
                        </a:rPr>
                        <a:t>피드백</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복구 </a:t>
                      </a:r>
                      <a:pPr indent="0" marL="0">
                        <a:buNone/>
                      </a:pPr>
                      <a:r>
                        <a:rPr lang="en-US" sz="1200" b="1" dirty="0">
                          <a:solidFill>
                            <a:srgbClr val="FFFFFF"/>
                          </a:solidFill>
                        </a:rPr>
                        <a:t>절차</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외부 </a:t>
                      </a:r>
                      <a:pPr indent="0" marL="0">
                        <a:buNone/>
                      </a:pPr>
                      <a:r>
                        <a:rPr lang="en-US" sz="1100" dirty="0">
                          <a:solidFill>
                            <a:srgbClr val="1F2937"/>
                          </a:solidFill>
                        </a:rPr>
                        <a:t>공급자 </a:t>
                      </a:r>
                      <a:pPr indent="0" marL="0">
                        <a:buNone/>
                      </a:pPr>
                      <a:r>
                        <a:rPr lang="en-US" sz="1100" dirty="0">
                          <a:solidFill>
                            <a:srgbClr val="1F2937"/>
                          </a:solidFill>
                        </a:rPr>
                        <a:t>계약·라이선스 </a:t>
                      </a:r>
                      <a:pPr indent="0" marL="0">
                        <a:buNone/>
                      </a:pPr>
                      <a:r>
                        <a:rPr lang="en-US" sz="1100" dirty="0">
                          <a:solidFill>
                            <a:srgbClr val="1F2937"/>
                          </a:solidFill>
                        </a:rPr>
                        <a:t>미확정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재표시·캐시·보관·비용·국외 </a:t>
                      </a:r>
                      <a:pPr indent="0" marL="0">
                        <a:buNone/>
                      </a:pPr>
                      <a:r>
                        <a:rPr lang="en-US" sz="1100" dirty="0">
                          <a:solidFill>
                            <a:srgbClr val="1F2937"/>
                          </a:solidFill>
                        </a:rPr>
                        <a:t>처리 </a:t>
                      </a:r>
                      <a:pPr indent="0" marL="0">
                        <a:buNone/>
                      </a:pPr>
                      <a:r>
                        <a:rPr lang="en-US" sz="1100" dirty="0">
                          <a:solidFill>
                            <a:srgbClr val="1F2937"/>
                          </a:solidFill>
                        </a:rPr>
                        <a:t>조건 </a:t>
                      </a:r>
                      <a:pPr indent="0" marL="0">
                        <a:buNone/>
                      </a:pPr>
                      <a:r>
                        <a:rPr lang="en-US" sz="1100" dirty="0">
                          <a:solidFill>
                            <a:srgbClr val="1F2937"/>
                          </a:solidFill>
                        </a:rPr>
                        <a:t>확인 </a:t>
                      </a:r>
                      <a:pPr indent="0" marL="0">
                        <a:buNone/>
                      </a:pPr>
                      <a:r>
                        <a:rPr lang="en-US" sz="1100" dirty="0">
                          <a:solidFill>
                            <a:srgbClr val="1F2937"/>
                          </a:solidFill>
                        </a:rPr>
                        <a:t>지연</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일정 </a:t>
                      </a:r>
                      <a:pPr indent="0" marL="0">
                        <a:buNone/>
                      </a:pPr>
                      <a:r>
                        <a:rPr lang="en-US" sz="1100" dirty="0">
                          <a:solidFill>
                            <a:srgbClr val="1F2937"/>
                          </a:solidFill>
                        </a:rPr>
                        <a:t>위험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금요일까지 </a:t>
                      </a:r>
                      <a:pPr indent="0" marL="0">
                        <a:buNone/>
                      </a:pPr>
                      <a:r>
                        <a:rPr lang="en-US" sz="1100" dirty="0">
                          <a:solidFill>
                            <a:srgbClr val="1F2937"/>
                          </a:solidFill>
                        </a:rPr>
                        <a:t>미확정 </a:t>
                      </a:r>
                      <a:pPr indent="0" marL="0">
                        <a:buNone/>
                      </a:pPr>
                      <a:r>
                        <a:rPr lang="en-US" sz="1100" dirty="0">
                          <a:solidFill>
                            <a:srgbClr val="1F2937"/>
                          </a:solidFill>
                        </a:rPr>
                        <a:t>시 </a:t>
                      </a:r>
                      <a:pPr indent="0" marL="0">
                        <a:buNone/>
                      </a:pPr>
                      <a:r>
                        <a:rPr lang="en-US" sz="1100" dirty="0">
                          <a:solidFill>
                            <a:srgbClr val="1F2937"/>
                          </a:solidFill>
                        </a:rPr>
                        <a:t>임시 </a:t>
                      </a:r>
                      <a:pPr indent="0" marL="0">
                        <a:buNone/>
                      </a:pPr>
                      <a:r>
                        <a:rPr lang="en-US" sz="1100" dirty="0">
                          <a:solidFill>
                            <a:srgbClr val="1F2937"/>
                          </a:solidFill>
                        </a:rPr>
                        <a:t>테스트 </a:t>
                      </a:r>
                      <a:pPr indent="0" marL="0">
                        <a:buNone/>
                      </a:pPr>
                      <a:r>
                        <a:rPr lang="en-US" sz="1100" dirty="0">
                          <a:solidFill>
                            <a:srgbClr val="1F2937"/>
                          </a:solidFill>
                        </a:rPr>
                        <a:t>데이터로 </a:t>
                      </a:r>
                      <a:pPr indent="0" marL="0">
                        <a:buNone/>
                      </a:pPr>
                      <a:r>
                        <a:rPr lang="en-US" sz="1100" dirty="0">
                          <a:solidFill>
                            <a:srgbClr val="1F2937"/>
                          </a:solidFill>
                        </a:rPr>
                        <a:t>개발. </a:t>
                      </a:r>
                      <a:pPr indent="0" marL="0">
                        <a:buNone/>
                      </a:pPr>
                      <a:r>
                        <a:rPr lang="en-US" sz="1100" dirty="0">
                          <a:solidFill>
                            <a:srgbClr val="1F2937"/>
                          </a:solidFill>
                        </a:rPr>
                        <a:t>2주 </a:t>
                      </a:r>
                      <a:pPr indent="0" marL="0">
                        <a:buNone/>
                      </a:pPr>
                      <a:r>
                        <a:rPr lang="en-US" sz="1100" dirty="0">
                          <a:solidFill>
                            <a:srgbClr val="1F2937"/>
                          </a:solidFill>
                        </a:rPr>
                        <a:t>차 </a:t>
                      </a:r>
                      <a:pPr indent="0" marL="0">
                        <a:buNone/>
                      </a:pPr>
                      <a:r>
                        <a:rPr lang="en-US" sz="1100" dirty="0">
                          <a:solidFill>
                            <a:srgbClr val="1F2937"/>
                          </a:solidFill>
                        </a:rPr>
                        <a:t>화요일까지 </a:t>
                      </a:r>
                      <a:pPr indent="0" marL="0">
                        <a:buNone/>
                      </a:pPr>
                      <a:r>
                        <a:rPr lang="en-US" sz="1100" dirty="0">
                          <a:solidFill>
                            <a:srgbClr val="1F2937"/>
                          </a:solidFill>
                        </a:rPr>
                        <a:t>미정이면 </a:t>
                      </a:r>
                      <a:pPr indent="0" marL="0">
                        <a:buNone/>
                      </a:pPr>
                      <a:r>
                        <a:rPr lang="en-US" sz="1100" dirty="0">
                          <a:solidFill>
                            <a:srgbClr val="1F2937"/>
                          </a:solidFill>
                        </a:rPr>
                        <a:t>출시 </a:t>
                      </a:r>
                      <a:pPr indent="0" marL="0">
                        <a:buNone/>
                      </a:pPr>
                      <a:r>
                        <a:rPr lang="en-US" sz="1100" dirty="0">
                          <a:solidFill>
                            <a:srgbClr val="1F2937"/>
                          </a:solidFill>
                        </a:rPr>
                        <a:t>일정 </a:t>
                      </a:r>
                      <a:pPr indent="0" marL="0">
                        <a:buNone/>
                      </a:pPr>
                      <a:r>
                        <a:rPr lang="en-US" sz="1100" dirty="0">
                          <a:solidFill>
                            <a:srgbClr val="1F2937"/>
                          </a:solidFill>
                        </a:rPr>
                        <a:t>위험으로 </a:t>
                      </a:r>
                      <a:pPr indent="0" marL="0">
                        <a:buNone/>
                      </a:pPr>
                      <a:r>
                        <a:rPr lang="en-US" sz="1100" dirty="0">
                          <a:solidFill>
                            <a:srgbClr val="1F2937"/>
                          </a:solidFill>
                        </a:rPr>
                        <a:t>상향</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사용자 </a:t>
                      </a:r>
                      <a:pPr indent="0" marL="0">
                        <a:buNone/>
                      </a:pPr>
                      <a:r>
                        <a:rPr lang="en-US" sz="1100" dirty="0">
                          <a:solidFill>
                            <a:srgbClr val="1F2937"/>
                          </a:solidFill>
                        </a:rPr>
                        <a:t>안내 </a:t>
                      </a:r>
                      <a:pPr indent="0" marL="0">
                        <a:buNone/>
                      </a:pPr>
                      <a:r>
                        <a:rPr lang="en-US" sz="1100" dirty="0">
                          <a:solidFill>
                            <a:srgbClr val="1F2937"/>
                          </a:solidFill>
                        </a:rPr>
                        <a:t>문구와 </a:t>
                      </a:r>
                      <a:pPr indent="0" marL="0">
                        <a:buNone/>
                      </a:pPr>
                      <a:r>
                        <a:rPr lang="en-US" sz="1100" dirty="0">
                          <a:solidFill>
                            <a:srgbClr val="1F2937"/>
                          </a:solidFill>
                        </a:rPr>
                        <a:t>API </a:t>
                      </a:r>
                      <a:pPr indent="0" marL="0">
                        <a:buNone/>
                      </a:pPr>
                      <a:r>
                        <a:rPr lang="en-US" sz="1100" dirty="0">
                          <a:solidFill>
                            <a:srgbClr val="1F2937"/>
                          </a:solidFill>
                        </a:rPr>
                        <a:t>대체 </a:t>
                      </a:r>
                      <a:pPr indent="0" marL="0">
                        <a:buNone/>
                      </a:pPr>
                      <a:r>
                        <a:rPr lang="en-US" sz="1100" dirty="0">
                          <a:solidFill>
                            <a:srgbClr val="1F2937"/>
                          </a:solidFill>
                        </a:rPr>
                        <a:t>범위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내부 </a:t>
                      </a:r>
                      <a:pPr indent="0" marL="0">
                        <a:buNone/>
                      </a:pPr>
                      <a:r>
                        <a:rPr lang="en-US" sz="1100" dirty="0">
                          <a:solidFill>
                            <a:srgbClr val="1F2937"/>
                          </a:solidFill>
                        </a:rPr>
                        <a:t>테스트 </a:t>
                      </a:r>
                      <a:pPr indent="0" marL="0">
                        <a:buNone/>
                      </a:pPr>
                      <a:r>
                        <a:rPr lang="en-US" sz="1100" dirty="0">
                          <a:solidFill>
                            <a:srgbClr val="1F2937"/>
                          </a:solidFill>
                        </a:rPr>
                        <a:t>데이터 </a:t>
                      </a:r>
                      <a:pPr indent="0" marL="0">
                        <a:buNone/>
                      </a:pPr>
                      <a:r>
                        <a:rPr lang="en-US" sz="1100" dirty="0">
                          <a:solidFill>
                            <a:srgbClr val="1F2937"/>
                          </a:solidFill>
                        </a:rPr>
                        <a:t>또는 </a:t>
                      </a:r>
                      <a:pPr indent="0" marL="0">
                        <a:buNone/>
                      </a:pPr>
                      <a:r>
                        <a:rPr lang="en-US" sz="1100" dirty="0">
                          <a:solidFill>
                            <a:srgbClr val="1F2937"/>
                          </a:solidFill>
                        </a:rPr>
                        <a:t>공공 </a:t>
                      </a:r>
                      <a:pPr indent="0" marL="0">
                        <a:buNone/>
                      </a:pPr>
                      <a:r>
                        <a:rPr lang="en-US" sz="1100" dirty="0">
                          <a:solidFill>
                            <a:srgbClr val="1F2937"/>
                          </a:solidFill>
                        </a:rPr>
                        <a:t>데이터 </a:t>
                      </a:r>
                      <a:pPr indent="0" marL="0">
                        <a:buNone/>
                      </a:pPr>
                      <a:r>
                        <a:rPr lang="en-US" sz="1100" dirty="0">
                          <a:solidFill>
                            <a:srgbClr val="1F2937"/>
                          </a:solidFill>
                        </a:rPr>
                        <a:t>중심으로 </a:t>
                      </a:r>
                      <a:pPr indent="0" marL="0">
                        <a:buNone/>
                      </a:pPr>
                      <a:r>
                        <a:rPr lang="en-US" sz="1100" dirty="0">
                          <a:solidFill>
                            <a:srgbClr val="1F2937"/>
                          </a:solidFill>
                        </a:rPr>
                        <a:t>범위 </a:t>
                      </a:r>
                      <a:pPr indent="0" marL="0">
                        <a:buNone/>
                      </a:pPr>
                      <a:r>
                        <a:rPr lang="en-US" sz="1100" dirty="0">
                          <a:solidFill>
                            <a:srgbClr val="1F2937"/>
                          </a:solidFill>
                        </a:rPr>
                        <a:t>축소 </a:t>
                      </a:r>
                      <a:pPr indent="0" marL="0">
                        <a:buNone/>
                      </a:pPr>
                      <a:r>
                        <a:rPr lang="en-US" sz="1100" dirty="0">
                          <a:solidFill>
                            <a:srgbClr val="1F2937"/>
                          </a:solidFill>
                        </a:rPr>
                        <a:t>검토</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스토어 </a:t>
                      </a:r>
                      <a:pPr indent="0" marL="0">
                        <a:buNone/>
                      </a:pPr>
                      <a:r>
                        <a:rPr lang="en-US" sz="1100" dirty="0">
                          <a:solidFill>
                            <a:srgbClr val="1F2937"/>
                          </a:solidFill>
                        </a:rPr>
                        <a:t>심사 </a:t>
                      </a:r>
                      <a:pPr indent="0" marL="0">
                        <a:buNone/>
                      </a:pPr>
                      <a:r>
                        <a:rPr lang="en-US" sz="1100" dirty="0">
                          <a:solidFill>
                            <a:srgbClr val="1F2937"/>
                          </a:solidFill>
                        </a:rPr>
                        <a:t>지연·반려</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스토어 </a:t>
                      </a:r>
                      <a:pPr indent="0" marL="0">
                        <a:buNone/>
                      </a:pPr>
                      <a:r>
                        <a:rPr lang="en-US" sz="1100" dirty="0">
                          <a:solidFill>
                            <a:srgbClr val="1F2937"/>
                          </a:solidFill>
                        </a:rPr>
                        <a:t>검토 </a:t>
                      </a:r>
                      <a:pPr indent="0" marL="0">
                        <a:buNone/>
                      </a:pPr>
                      <a:r>
                        <a:rPr lang="en-US" sz="1100" dirty="0">
                          <a:solidFill>
                            <a:srgbClr val="1F2937"/>
                          </a:solidFill>
                        </a:rPr>
                        <a:t>및 </a:t>
                      </a:r>
                      <a:pPr indent="0" marL="0">
                        <a:buNone/>
                      </a:pPr>
                      <a:r>
                        <a:rPr lang="en-US" sz="1100" dirty="0">
                          <a:solidFill>
                            <a:srgbClr val="1F2937"/>
                          </a:solidFill>
                        </a:rPr>
                        <a:t>계정·권한 </a:t>
                      </a:r>
                      <a:pPr indent="0" marL="0">
                        <a:buNone/>
                      </a:pPr>
                      <a:r>
                        <a:rPr lang="en-US" sz="1100" dirty="0">
                          <a:solidFill>
                            <a:srgbClr val="1F2937"/>
                          </a:solidFill>
                        </a:rPr>
                        <a:t>문제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일정 </a:t>
                      </a:r>
                      <a:pPr indent="0" marL="0">
                        <a:buNone/>
                      </a:pPr>
                      <a:r>
                        <a:rPr lang="en-US" sz="1100" dirty="0">
                          <a:solidFill>
                            <a:srgbClr val="1F2937"/>
                          </a:solidFill>
                        </a:rPr>
                        <a:t>위험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7주 </a:t>
                      </a:r>
                      <a:pPr indent="0" marL="0">
                        <a:buNone/>
                      </a:pPr>
                      <a:r>
                        <a:rPr lang="en-US" sz="1100" dirty="0">
                          <a:solidFill>
                            <a:srgbClr val="1F2937"/>
                          </a:solidFill>
                        </a:rPr>
                        <a:t>차 </a:t>
                      </a:r>
                      <a:pPr indent="0" marL="0">
                        <a:buNone/>
                      </a:pPr>
                      <a:r>
                        <a:rPr lang="en-US" sz="1100" dirty="0">
                          <a:solidFill>
                            <a:srgbClr val="1F2937"/>
                          </a:solidFill>
                        </a:rPr>
                        <a:t>말 </a:t>
                      </a:r>
                      <a:pPr indent="0" marL="0">
                        <a:buNone/>
                      </a:pPr>
                      <a:r>
                        <a:rPr lang="en-US" sz="1100" dirty="0">
                          <a:solidFill>
                            <a:srgbClr val="1F2937"/>
                          </a:solidFill>
                        </a:rPr>
                        <a:t>제출 </a:t>
                      </a:r>
                      <a:pPr indent="0" marL="0">
                        <a:buNone/>
                      </a:pPr>
                      <a:r>
                        <a:rPr lang="en-US" sz="1100" dirty="0">
                          <a:solidFill>
                            <a:srgbClr val="1F2937"/>
                          </a:solidFill>
                        </a:rPr>
                        <a:t>목표, </a:t>
                      </a:r>
                      <a:pPr indent="0" marL="0">
                        <a:buNone/>
                      </a:pPr>
                      <a:r>
                        <a:rPr lang="en-US" sz="1100" dirty="0">
                          <a:solidFill>
                            <a:srgbClr val="1F2937"/>
                          </a:solidFill>
                        </a:rPr>
                        <a:t>9주 </a:t>
                      </a:r>
                      <a:pPr indent="0" marL="0">
                        <a:buNone/>
                      </a:pPr>
                      <a:r>
                        <a:rPr lang="en-US" sz="1100" dirty="0">
                          <a:solidFill>
                            <a:srgbClr val="1F2937"/>
                          </a:solidFill>
                        </a:rPr>
                        <a:t>차 </a:t>
                      </a:r>
                      <a:pPr indent="0" marL="0">
                        <a:buNone/>
                      </a:pPr>
                      <a:r>
                        <a:rPr lang="en-US" sz="1100" dirty="0">
                          <a:solidFill>
                            <a:srgbClr val="1F2937"/>
                          </a:solidFill>
                        </a:rPr>
                        <a:t>완충 </a:t>
                      </a:r>
                      <a:pPr indent="0" marL="0">
                        <a:buNone/>
                      </a:pPr>
                      <a:r>
                        <a:rPr lang="en-US" sz="1100" dirty="0">
                          <a:solidFill>
                            <a:srgbClr val="1F2937"/>
                          </a:solidFill>
                        </a:rPr>
                        <a:t>고려</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공개일은 </a:t>
                      </a:r>
                      <a:pPr indent="0" marL="0">
                        <a:buNone/>
                      </a:pPr>
                      <a:r>
                        <a:rPr lang="en-US" sz="1100" dirty="0">
                          <a:solidFill>
                            <a:srgbClr val="1F2937"/>
                          </a:solidFill>
                        </a:rPr>
                        <a:t>심사 </a:t>
                      </a:r>
                      <a:pPr indent="0" marL="0">
                        <a:buNone/>
                      </a:pPr>
                      <a:r>
                        <a:rPr lang="en-US" sz="1100" dirty="0">
                          <a:solidFill>
                            <a:srgbClr val="1F2937"/>
                          </a:solidFill>
                        </a:rPr>
                        <a:t>통과 </a:t>
                      </a:r>
                      <a:pPr indent="0" marL="0">
                        <a:buNone/>
                      </a:pPr>
                      <a:r>
                        <a:rPr lang="en-US" sz="1100" dirty="0">
                          <a:solidFill>
                            <a:srgbClr val="1F2937"/>
                          </a:solidFill>
                        </a:rPr>
                        <a:t>전 </a:t>
                      </a:r>
                      <a:pPr indent="0" marL="0">
                        <a:buNone/>
                      </a:pPr>
                      <a:r>
                        <a:rPr lang="en-US" sz="1100" dirty="0">
                          <a:solidFill>
                            <a:srgbClr val="1F2937"/>
                          </a:solidFill>
                        </a:rPr>
                        <a:t>약속하지 </a:t>
                      </a:r>
                      <a:pPr indent="0" marL="0">
                        <a:buNone/>
                      </a:pPr>
                      <a:r>
                        <a:rPr lang="en-US" sz="1100" dirty="0">
                          <a:solidFill>
                            <a:srgbClr val="1F2937"/>
                          </a:solidFill>
                        </a:rPr>
                        <a:t>않음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반려 </a:t>
                      </a:r>
                      <a:pPr indent="0" marL="0">
                        <a:buNone/>
                      </a:pPr>
                      <a:r>
                        <a:rPr lang="en-US" sz="1100" dirty="0">
                          <a:solidFill>
                            <a:srgbClr val="1F2937"/>
                          </a:solidFill>
                        </a:rPr>
                        <a:t>수정 </a:t>
                      </a:r>
                      <a:pPr indent="0" marL="0">
                        <a:buNone/>
                      </a:pPr>
                      <a:r>
                        <a:rPr lang="en-US" sz="1100" dirty="0">
                          <a:solidFill>
                            <a:srgbClr val="1F2937"/>
                          </a:solidFill>
                        </a:rPr>
                        <a:t>후 </a:t>
                      </a:r>
                      <a:pPr indent="0" marL="0">
                        <a:buNone/>
                      </a:pPr>
                      <a:r>
                        <a:rPr lang="en-US" sz="1100" dirty="0">
                          <a:solidFill>
                            <a:srgbClr val="1F2937"/>
                          </a:solidFill>
                        </a:rPr>
                        <a:t>재제출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4.2 네트워크·외부 API·저장 오류 처리</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Mermaid 다이어그램</a:t>
            </a:r>
            <a:endParaRPr lang="en-US" sz="2800" dirty="0"/>
          </a:p>
        </p:txBody>
      </p:sp>
      <p:sp>
        <p:nvSpPr>
          <p:cNvPr id="3" name="Shape 1"/>
          <p:cNvSpPr/>
          <p:nvPr/>
        </p:nvSpPr>
        <p:spPr>
          <a:xfrm>
            <a:off x="457200" y="1078992"/>
            <a:ext cx="2743200" cy="41148"/>
          </a:xfrm>
          <a:prstGeom prst="rect">
            <a:avLst/>
          </a:prstGeom>
          <a:solidFill>
            <a:srgbClr val="263F59"/>
          </a:solidFill>
          <a:ln/>
        </p:spPr>
      </p:sp>
      <p:pic>
        <p:nvPicPr>
          <p:cNvPr id="4" name="Image 0" descr="preencoded.png">    </p:cNvPr>
          <p:cNvPicPr>
            <a:picLocks noChangeAspect="1"/>
          </p:cNvPicPr>
          <p:nvPr/>
        </p:nvPicPr>
        <p:blipFill>
          <a:blip r:embed="rId1"/>
          <a:stretch>
            <a:fillRect/>
          </a:stretch>
        </p:blipFill>
        <p:spPr>
          <a:xfrm>
            <a:off x="640080" y="1463040"/>
            <a:ext cx="7863840" cy="4206240"/>
          </a:xfrm>
          <a:prstGeom prst="rect">
            <a:avLst/>
          </a:prstGeom>
        </p:spPr>
      </p:pic>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상세 설명 (1/4)</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네트워크가 끊긴 경우 음식 검색을 새로 수행할 수 없더라도 최근 음식이나 즐겨찾기를 보여주고, 직접 입력을 통해 기록을 계속할 수 있도록 합니다. 오프라인에서 작성한 기록을 완전히 동기화하는 기능은 충돌 처리 부담 때문에 MVP에서 제외하는 방향입니다. 다만 입력 도중 네트워크가 끊겨도 내용이 사라지지 않도록 임시 보존과 재시도 가능성을 검토합니다.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상세 설명 (2/4)</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음식 검색 API 오류와 결과 없음은 별도 상태로 표시합니다. API가 실패했는데 “검색 결과 없음”으로 안내하면 사용자가 데이터가 없는 것으로 오해할 수 있습니다. 검색어 자체는 입력창에 유지하고, 직접 입력 경로를 제공합니다. 검색어의 캐시 보관 기간과 API 호출 제한은 공급자 계약 확인이 필요합니다.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상세 설명 (3/4)</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기록 저장은 서버 응답이 성공한 뒤 완료 상태를 표시합니다. 실패하면 입력값을 유지하고, 회의에서 제안된 실패 안내와 재시도 동작을 제공합니다. 재전송 시 중복 기록이 생기지 않도록 요청 ID를 활용하는 방안이 논의됐습니다. 임시 저장의 보존 기간, 앱을 닫은 뒤 복원 여부, 재시도 횟수는 회의에서 확정되지 않았습니다.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상세 설명 (4/4)</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응답 시간 기준으로는 검색 API가 대부분 2초 안에 응답하도록 하는 목표가 제안됐습니다. 지연 시 로딩 상태와 입력어 유지를 제공하고, 3초 이상 무응답이면 재시도 안내를 하는 안이 논의됐습니다. 이는 베타 품질 목표·설계 제안으로 다뤄졌으며, 최종 성능 기준 및 외부 공급자 계약상 보장 여부는 확인이 필요합니다.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4.3 오류 코드 매핑</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아래 코드는 구현 시 사용할 수 있는 </a:t>
            </a:r>
            <a:pPr indent="0" marL="0">
              <a:spcAft>
                <a:spcPts val="800"/>
              </a:spcAft>
              <a:buNone/>
            </a:pPr>
            <a:r>
              <a:rPr lang="en-US" sz="1600" b="1" dirty="0">
                <a:solidFill>
                  <a:srgbClr val="4B5563"/>
                </a:solidFill>
              </a:rPr>
              <a:t>제안</a:t>
            </a:r>
            <a:pPr indent="0" marL="0">
              <a:spcAft>
                <a:spcPts val="800"/>
              </a:spcAft>
              <a:buNone/>
            </a:pPr>
            <a:r>
              <a:rPr lang="en-US" sz="1600" dirty="0">
                <a:solidFill>
                  <a:srgbClr val="4B5563"/>
                </a:solidFill>
              </a:rPr>
              <a:t>입니다. 회의에서 실제 오류 코드 체계나 코드값이 합의되지는 않았습니다.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4.3 오류 코드 매핑</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67"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1659751"/>
                <a:gridCol w="484094"/>
                <a:gridCol w="2074689"/>
                <a:gridCol w="2489627"/>
                <a:gridCol w="1521439"/>
              </a:tblGrid>
              <a:tr h="0">
                <a:tc>
                  <a:txBody>
                    <a:bodyPr/>
                    <a:lstStyle/>
                    <a:p>
                      <a:pPr indent="0" marL="0">
                        <a:buNone/>
                      </a:pPr>
                      <a:r>
                        <a:rPr lang="en-US" sz="1200" b="1" dirty="0">
                          <a:solidFill>
                            <a:srgbClr val="FFFFFF"/>
                          </a:solidFill>
                        </a:rPr>
                        <a:t>오류 </a:t>
                      </a:r>
                      <a:pPr indent="0" marL="0">
                        <a:buNone/>
                      </a:pPr>
                      <a:r>
                        <a:rPr lang="en-US" sz="1200" b="1" dirty="0">
                          <a:solidFill>
                            <a:srgbClr val="FFFFFF"/>
                          </a:solidFill>
                        </a:rPr>
                        <a:t>코드</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HTTP </a:t>
                      </a:r>
                      <a:pPr indent="0" marL="0">
                        <a:buNone/>
                      </a:pPr>
                      <a:r>
                        <a:rPr lang="en-US" sz="1200" b="1" dirty="0">
                          <a:solidFill>
                            <a:srgbClr val="FFFFFF"/>
                          </a:solidFill>
                        </a:rPr>
                        <a:t>상태</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설명</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사용자 </a:t>
                      </a:r>
                      <a:pPr indent="0" marL="0">
                        <a:buNone/>
                      </a:pPr>
                      <a:r>
                        <a:rPr lang="en-US" sz="1200" b="1" dirty="0">
                          <a:solidFill>
                            <a:srgbClr val="FFFFFF"/>
                          </a:solidFill>
                        </a:rPr>
                        <a:t>메시지</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조치</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AUTH_UNCONFIRMED</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인증 </a:t>
                      </a:r>
                      <a:pPr indent="0" marL="0">
                        <a:buNone/>
                      </a:pPr>
                      <a:r>
                        <a:rPr lang="en-US" sz="1100" dirty="0">
                          <a:solidFill>
                            <a:srgbClr val="1F2937"/>
                          </a:solidFill>
                        </a:rPr>
                        <a:t>방식·계정 </a:t>
                      </a:r>
                      <a:pPr indent="0" marL="0">
                        <a:buNone/>
                      </a:pPr>
                      <a:r>
                        <a:rPr lang="en-US" sz="1100" dirty="0">
                          <a:solidFill>
                            <a:srgbClr val="1F2937"/>
                          </a:solidFill>
                        </a:rPr>
                        <a:t>정책 </a:t>
                      </a:r>
                      <a:pPr indent="0" marL="0">
                        <a:buNone/>
                      </a:pPr>
                      <a:r>
                        <a:rPr lang="en-US" sz="1100" dirty="0">
                          <a:solidFill>
                            <a:srgbClr val="1F2937"/>
                          </a:solidFill>
                        </a:rPr>
                        <a:t>미확정 </a:t>
                      </a:r>
                      <a:pPr indent="0" marL="0">
                        <a:buNone/>
                      </a:pPr>
                      <a:r>
                        <a:rPr lang="en-US" sz="1100" dirty="0">
                          <a:solidFill>
                            <a:srgbClr val="1F2937"/>
                          </a:solidFill>
                        </a:rPr>
                        <a:t>또는 </a:t>
                      </a:r>
                      <a:pPr indent="0" marL="0">
                        <a:buNone/>
                      </a:pPr>
                      <a:r>
                        <a:rPr lang="en-US" sz="1100" dirty="0">
                          <a:solidFill>
                            <a:srgbClr val="1F2937"/>
                          </a:solidFill>
                        </a:rPr>
                        <a:t>인증 </a:t>
                      </a:r>
                      <a:pPr indent="0" marL="0">
                        <a:buNone/>
                      </a:pPr>
                      <a:r>
                        <a:rPr lang="en-US" sz="1100" dirty="0">
                          <a:solidFill>
                            <a:srgbClr val="1F2937"/>
                          </a:solidFill>
                        </a:rPr>
                        <a:t>상태 </a:t>
                      </a:r>
                      <a:pPr indent="0" marL="0">
                        <a:buNone/>
                      </a:pPr>
                      <a:r>
                        <a:rPr lang="en-US" sz="1100" dirty="0">
                          <a:solidFill>
                            <a:srgbClr val="1F2937"/>
                          </a:solidFill>
                        </a:rPr>
                        <a:t>확인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문구 </a:t>
                      </a:r>
                      <a:pPr indent="0" marL="0">
                        <a:buNone/>
                      </a:pPr>
                      <a:r>
                        <a:rPr lang="en-US" sz="1100" dirty="0">
                          <a:solidFill>
                            <a:srgbClr val="1F2937"/>
                          </a:solidFill>
                        </a:rPr>
                        <a:t>확정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인증 </a:t>
                      </a:r>
                      <a:pPr indent="0" marL="0">
                        <a:buNone/>
                      </a:pPr>
                      <a:r>
                        <a:rPr lang="en-US" sz="1100" dirty="0">
                          <a:solidFill>
                            <a:srgbClr val="1F2937"/>
                          </a:solidFill>
                        </a:rPr>
                        <a:t>정책 </a:t>
                      </a:r>
                      <a:pPr indent="0" marL="0">
                        <a:buNone/>
                      </a:pPr>
                      <a:r>
                        <a:rPr lang="en-US" sz="1100" dirty="0">
                          <a:solidFill>
                            <a:srgbClr val="1F2937"/>
                          </a:solidFill>
                        </a:rPr>
                        <a:t>확정 </a:t>
                      </a:r>
                      <a:pPr indent="0" marL="0">
                        <a:buNone/>
                      </a:pPr>
                      <a:r>
                        <a:rPr lang="en-US" sz="1100" dirty="0">
                          <a:solidFill>
                            <a:srgbClr val="1F2937"/>
                          </a:solidFill>
                        </a:rPr>
                        <a:t>후 </a:t>
                      </a:r>
                      <a:pPr indent="0" marL="0">
                        <a:buNone/>
                      </a:pPr>
                      <a:r>
                        <a:rPr lang="en-US" sz="1100" dirty="0">
                          <a:solidFill>
                            <a:srgbClr val="1F2937"/>
                          </a:solidFill>
                        </a:rPr>
                        <a:t>구현 </a:t>
                      </a:r>
                      <a:pPr indent="0" marL="0">
                        <a:buNone/>
                      </a:pPr>
                      <a:r>
                        <a:rPr lang="en-US" sz="1100" dirty="0">
                          <a:solidFill>
                            <a:srgbClr val="1F2937"/>
                          </a:solidFill>
                        </a:rPr>
                        <a:t>범위 </a:t>
                      </a:r>
                      <a:pPr indent="0" marL="0">
                        <a:buNone/>
                      </a:pPr>
                      <a:r>
                        <a:rPr lang="en-US" sz="1100" dirty="0">
                          <a:solidFill>
                            <a:srgbClr val="1F2937"/>
                          </a:solidFill>
                        </a:rPr>
                        <a:t>결정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AUTH_FAILED</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인증 </a:t>
                      </a:r>
                      <a:pPr indent="0" marL="0">
                        <a:buNone/>
                      </a:pPr>
                      <a:r>
                        <a:rPr lang="en-US" sz="1100" dirty="0">
                          <a:solidFill>
                            <a:srgbClr val="1F2937"/>
                          </a:solidFill>
                        </a:rPr>
                        <a:t>제공자 </a:t>
                      </a:r>
                      <a:pPr indent="0" marL="0">
                        <a:buNone/>
                      </a:pPr>
                      <a:r>
                        <a:rPr lang="en-US" sz="1100" dirty="0">
                          <a:solidFill>
                            <a:srgbClr val="1F2937"/>
                          </a:solidFill>
                        </a:rPr>
                        <a:t>인증 </a:t>
                      </a:r>
                      <a:pPr indent="0" marL="0">
                        <a:buNone/>
                      </a:pPr>
                      <a:r>
                        <a:rPr lang="en-US" sz="1100" dirty="0">
                          <a:solidFill>
                            <a:srgbClr val="1F2937"/>
                          </a:solidFill>
                        </a:rPr>
                        <a:t>실패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로그인 </a:t>
                      </a:r>
                      <a:pPr indent="0" marL="0">
                        <a:buNone/>
                      </a:pPr>
                      <a:r>
                        <a:rPr lang="en-US" sz="1100" dirty="0">
                          <a:solidFill>
                            <a:srgbClr val="1F2937"/>
                          </a:solidFill>
                        </a:rPr>
                        <a:t>상태를 </a:t>
                      </a:r>
                      <a:pPr indent="0" marL="0">
                        <a:buNone/>
                      </a:pPr>
                      <a:r>
                        <a:rPr lang="en-US" sz="1100" dirty="0">
                          <a:solidFill>
                            <a:srgbClr val="1F2937"/>
                          </a:solidFill>
                        </a:rPr>
                        <a:t>확인해 </a:t>
                      </a:r>
                      <a:pPr indent="0" marL="0">
                        <a:buNone/>
                      </a:pPr>
                      <a:r>
                        <a:rPr lang="en-US" sz="1100" dirty="0">
                          <a:solidFill>
                            <a:srgbClr val="1F2937"/>
                          </a:solidFill>
                        </a:rPr>
                        <a:t>주세요 </a:t>
                      </a:r>
                      <a:pPr indent="0" marL="0">
                        <a:buNone/>
                      </a:pPr>
                      <a:r>
                        <a:rPr lang="en-US" sz="1100" dirty="0">
                          <a:solidFill>
                            <a:srgbClr val="1F2937"/>
                          </a:solidFill>
                        </a:rPr>
                        <a:t>— </a:t>
                      </a:r>
                      <a:pPr indent="0" marL="0">
                        <a:buNone/>
                      </a:pPr>
                      <a:r>
                        <a:rPr lang="en-US" sz="1100" dirty="0">
                          <a:solidFill>
                            <a:srgbClr val="1F2937"/>
                          </a:solidFill>
                        </a:rPr>
                        <a:t>문구 </a:t>
                      </a:r>
                      <a:pPr indent="0" marL="0">
                        <a:buNone/>
                      </a:pPr>
                      <a:r>
                        <a:rPr lang="en-US" sz="1100" dirty="0">
                          <a:solidFill>
                            <a:srgbClr val="1F2937"/>
                          </a:solidFill>
                        </a:rPr>
                        <a:t>제안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재시도·문의 </a:t>
                      </a:r>
                      <a:pPr indent="0" marL="0">
                        <a:buNone/>
                      </a:pPr>
                      <a:r>
                        <a:rPr lang="en-US" sz="1100" dirty="0">
                          <a:solidFill>
                            <a:srgbClr val="1F2937"/>
                          </a:solidFill>
                        </a:rPr>
                        <a:t>경로 </a:t>
                      </a:r>
                      <a:pPr indent="0" marL="0">
                        <a:buNone/>
                      </a:pPr>
                      <a:r>
                        <a:rPr lang="en-US" sz="1100" dirty="0">
                          <a:solidFill>
                            <a:srgbClr val="1F2937"/>
                          </a:solidFill>
                        </a:rPr>
                        <a:t>제공</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FOOD_SEARCH_EMPTY</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검색은 </a:t>
                      </a:r>
                      <a:pPr indent="0" marL="0">
                        <a:buNone/>
                      </a:pPr>
                      <a:r>
                        <a:rPr lang="en-US" sz="1100" dirty="0">
                          <a:solidFill>
                            <a:srgbClr val="1F2937"/>
                          </a:solidFill>
                        </a:rPr>
                        <a:t>정상 </a:t>
                      </a:r>
                      <a:pPr indent="0" marL="0">
                        <a:buNone/>
                      </a:pPr>
                      <a:r>
                        <a:rPr lang="en-US" sz="1100" dirty="0">
                          <a:solidFill>
                            <a:srgbClr val="1F2937"/>
                          </a:solidFill>
                        </a:rPr>
                        <a:t>처리됐으나 </a:t>
                      </a:r>
                      <a:pPr indent="0" marL="0">
                        <a:buNone/>
                      </a:pPr>
                      <a:r>
                        <a:rPr lang="en-US" sz="1100" dirty="0">
                          <a:solidFill>
                            <a:srgbClr val="1F2937"/>
                          </a:solidFill>
                        </a:rPr>
                        <a:t>결과 </a:t>
                      </a:r>
                      <a:pPr indent="0" marL="0">
                        <a:buNone/>
                      </a:pPr>
                      <a:r>
                        <a:rPr lang="en-US" sz="1100" dirty="0">
                          <a:solidFill>
                            <a:srgbClr val="1F2937"/>
                          </a:solidFill>
                        </a:rPr>
                        <a:t>없음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찾는 </a:t>
                      </a:r>
                      <a:pPr indent="0" marL="0">
                        <a:buNone/>
                      </a:pPr>
                      <a:r>
                        <a:rPr lang="en-US" sz="1100" dirty="0">
                          <a:solidFill>
                            <a:srgbClr val="1F2937"/>
                          </a:solidFill>
                        </a:rPr>
                        <a:t>음식이 </a:t>
                      </a:r>
                      <a:pPr indent="0" marL="0">
                        <a:buNone/>
                      </a:pPr>
                      <a:r>
                        <a:rPr lang="en-US" sz="1100" dirty="0">
                          <a:solidFill>
                            <a:srgbClr val="1F2937"/>
                          </a:solidFill>
                        </a:rPr>
                        <a:t>없어요. </a:t>
                      </a:r>
                      <a:pPr indent="0" marL="0">
                        <a:buNone/>
                      </a:pPr>
                      <a:r>
                        <a:rPr lang="en-US" sz="1100" dirty="0">
                          <a:solidFill>
                            <a:srgbClr val="1F2937"/>
                          </a:solidFill>
                        </a:rPr>
                        <a:t>직접 </a:t>
                      </a:r>
                      <a:pPr indent="0" marL="0">
                        <a:buNone/>
                      </a:pPr>
                      <a:r>
                        <a:rPr lang="en-US" sz="1100" dirty="0">
                          <a:solidFill>
                            <a:srgbClr val="1F2937"/>
                          </a:solidFill>
                        </a:rPr>
                        <a:t>입력할 </a:t>
                      </a:r>
                      <a:pPr indent="0" marL="0">
                        <a:buNone/>
                      </a:pPr>
                      <a:r>
                        <a:rPr lang="en-US" sz="1100" dirty="0">
                          <a:solidFill>
                            <a:srgbClr val="1F2937"/>
                          </a:solidFill>
                        </a:rPr>
                        <a:t>수 </a:t>
                      </a:r>
                      <a:pPr indent="0" marL="0">
                        <a:buNone/>
                      </a:pPr>
                      <a:r>
                        <a:rPr lang="en-US" sz="1100" dirty="0">
                          <a:solidFill>
                            <a:srgbClr val="1F2937"/>
                          </a:solidFill>
                        </a:rPr>
                        <a:t>있어요 </a:t>
                      </a:r>
                      <a:pPr indent="0" marL="0">
                        <a:buNone/>
                      </a:pPr>
                      <a:r>
                        <a:rPr lang="en-US" sz="1100" dirty="0">
                          <a:solidFill>
                            <a:srgbClr val="1F2937"/>
                          </a:solidFill>
                        </a:rPr>
                        <a:t>— </a:t>
                      </a:r>
                      <a:pPr indent="0" marL="0">
                        <a:buNone/>
                      </a:pPr>
                      <a:r>
                        <a:rPr lang="en-US" sz="1100" dirty="0">
                          <a:solidFill>
                            <a:srgbClr val="1F2937"/>
                          </a:solidFill>
                        </a:rPr>
                        <a:t>문구 </a:t>
                      </a:r>
                      <a:pPr indent="0" marL="0">
                        <a:buNone/>
                      </a:pPr>
                      <a:r>
                        <a:rPr lang="en-US" sz="1100" dirty="0">
                          <a:solidFill>
                            <a:srgbClr val="1F2937"/>
                          </a:solidFill>
                        </a:rPr>
                        <a:t>제안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직접 </a:t>
                      </a:r>
                      <a:pPr indent="0" marL="0">
                        <a:buNone/>
                      </a:pPr>
                      <a:r>
                        <a:rPr lang="en-US" sz="1100" dirty="0">
                          <a:solidFill>
                            <a:srgbClr val="1F2937"/>
                          </a:solidFill>
                        </a:rPr>
                        <a:t>입력 </a:t>
                      </a:r>
                      <a:pPr indent="0" marL="0">
                        <a:buNone/>
                      </a:pPr>
                      <a:r>
                        <a:rPr lang="en-US" sz="1100" dirty="0">
                          <a:solidFill>
                            <a:srgbClr val="1F2937"/>
                          </a:solidFill>
                        </a:rPr>
                        <a:t>또는 </a:t>
                      </a:r>
                      <a:pPr indent="0" marL="0">
                        <a:buNone/>
                      </a:pPr>
                      <a:r>
                        <a:rPr lang="en-US" sz="1100" dirty="0">
                          <a:solidFill>
                            <a:srgbClr val="1F2937"/>
                          </a:solidFill>
                        </a:rPr>
                        <a:t>최근 </a:t>
                      </a:r>
                      <a:pPr indent="0" marL="0">
                        <a:buNone/>
                      </a:pPr>
                      <a:r>
                        <a:rPr lang="en-US" sz="1100" dirty="0">
                          <a:solidFill>
                            <a:srgbClr val="1F2937"/>
                          </a:solidFill>
                        </a:rPr>
                        <a:t>음식 </a:t>
                      </a:r>
                      <a:pPr indent="0" marL="0">
                        <a:buNone/>
                      </a:pPr>
                      <a:r>
                        <a:rPr lang="en-US" sz="1100" dirty="0">
                          <a:solidFill>
                            <a:srgbClr val="1F2937"/>
                          </a:solidFill>
                        </a:rPr>
                        <a:t>이용</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FOOD_API_UNAVAILABLE</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외부 </a:t>
                      </a:r>
                      <a:pPr indent="0" marL="0">
                        <a:buNone/>
                      </a:pPr>
                      <a:r>
                        <a:rPr lang="en-US" sz="1100" dirty="0">
                          <a:solidFill>
                            <a:srgbClr val="1F2937"/>
                          </a:solidFill>
                        </a:rPr>
                        <a:t>식품 </a:t>
                      </a:r>
                      <a:pPr indent="0" marL="0">
                        <a:buNone/>
                      </a:pPr>
                      <a:r>
                        <a:rPr lang="en-US" sz="1100" dirty="0">
                          <a:solidFill>
                            <a:srgbClr val="1F2937"/>
                          </a:solidFill>
                        </a:rPr>
                        <a:t>API </a:t>
                      </a:r>
                      <a:pPr indent="0" marL="0">
                        <a:buNone/>
                      </a:pPr>
                      <a:r>
                        <a:rPr lang="en-US" sz="1100" dirty="0">
                          <a:solidFill>
                            <a:srgbClr val="1F2937"/>
                          </a:solidFill>
                        </a:rPr>
                        <a:t>오류·지연</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검색을 </a:t>
                      </a:r>
                      <a:pPr indent="0" marL="0">
                        <a:buNone/>
                      </a:pPr>
                      <a:r>
                        <a:rPr lang="en-US" sz="1100" dirty="0">
                          <a:solidFill>
                            <a:srgbClr val="1F2937"/>
                          </a:solidFill>
                        </a:rPr>
                        <a:t>완료하지 </a:t>
                      </a:r>
                      <a:pPr indent="0" marL="0">
                        <a:buNone/>
                      </a:pPr>
                      <a:r>
                        <a:rPr lang="en-US" sz="1100" dirty="0">
                          <a:solidFill>
                            <a:srgbClr val="1F2937"/>
                          </a:solidFill>
                        </a:rPr>
                        <a:t>못했어요. </a:t>
                      </a:r>
                      <a:pPr indent="0" marL="0">
                        <a:buNone/>
                      </a:pPr>
                      <a:r>
                        <a:rPr lang="en-US" sz="1100" dirty="0">
                          <a:solidFill>
                            <a:srgbClr val="1F2937"/>
                          </a:solidFill>
                        </a:rPr>
                        <a:t>다시 </a:t>
                      </a:r>
                      <a:pPr indent="0" marL="0">
                        <a:buNone/>
                      </a:pPr>
                      <a:r>
                        <a:rPr lang="en-US" sz="1100" dirty="0">
                          <a:solidFill>
                            <a:srgbClr val="1F2937"/>
                          </a:solidFill>
                        </a:rPr>
                        <a:t>시도하거나 </a:t>
                      </a:r>
                      <a:pPr indent="0" marL="0">
                        <a:buNone/>
                      </a:pPr>
                      <a:r>
                        <a:rPr lang="en-US" sz="1100" dirty="0">
                          <a:solidFill>
                            <a:srgbClr val="1F2937"/>
                          </a:solidFill>
                        </a:rPr>
                        <a:t>직접 </a:t>
                      </a:r>
                      <a:pPr indent="0" marL="0">
                        <a:buNone/>
                      </a:pPr>
                      <a:r>
                        <a:rPr lang="en-US" sz="1100" dirty="0">
                          <a:solidFill>
                            <a:srgbClr val="1F2937"/>
                          </a:solidFill>
                        </a:rPr>
                        <a:t>입력해 </a:t>
                      </a:r>
                      <a:pPr indent="0" marL="0">
                        <a:buNone/>
                      </a:pPr>
                      <a:r>
                        <a:rPr lang="en-US" sz="1100" dirty="0">
                          <a:solidFill>
                            <a:srgbClr val="1F2937"/>
                          </a:solidFill>
                        </a:rPr>
                        <a:t>주세요 </a:t>
                      </a:r>
                      <a:pPr indent="0" marL="0">
                        <a:buNone/>
                      </a:pPr>
                      <a:r>
                        <a:rPr lang="en-US" sz="1100" dirty="0">
                          <a:solidFill>
                            <a:srgbClr val="1F2937"/>
                          </a:solidFill>
                        </a:rPr>
                        <a:t>— </a:t>
                      </a:r>
                      <a:pPr indent="0" marL="0">
                        <a:buNone/>
                      </a:pPr>
                      <a:r>
                        <a:rPr lang="en-US" sz="1100" dirty="0">
                          <a:solidFill>
                            <a:srgbClr val="1F2937"/>
                          </a:solidFill>
                        </a:rPr>
                        <a:t>문구 </a:t>
                      </a:r>
                      <a:pPr indent="0" marL="0">
                        <a:buNone/>
                      </a:pPr>
                      <a:r>
                        <a:rPr lang="en-US" sz="1100" dirty="0">
                          <a:solidFill>
                            <a:srgbClr val="1F2937"/>
                          </a:solidFill>
                        </a:rPr>
                        <a:t>제안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입력어 </a:t>
                      </a:r>
                      <a:pPr indent="0" marL="0">
                        <a:buNone/>
                      </a:pPr>
                      <a:r>
                        <a:rPr lang="en-US" sz="1100" dirty="0">
                          <a:solidFill>
                            <a:srgbClr val="1F2937"/>
                          </a:solidFill>
                        </a:rPr>
                        <a:t>유지, </a:t>
                      </a:r>
                      <a:pPr indent="0" marL="0">
                        <a:buNone/>
                      </a:pPr>
                      <a:r>
                        <a:rPr lang="en-US" sz="1100" dirty="0">
                          <a:solidFill>
                            <a:srgbClr val="1F2937"/>
                          </a:solidFill>
                        </a:rPr>
                        <a:t>재시도·직접 </a:t>
                      </a:r>
                      <a:pPr indent="0" marL="0">
                        <a:buNone/>
                      </a:pPr>
                      <a:r>
                        <a:rPr lang="en-US" sz="1100" dirty="0">
                          <a:solidFill>
                            <a:srgbClr val="1F2937"/>
                          </a:solidFill>
                        </a:rPr>
                        <a:t>입력</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RECORD_SAVE_FAILED</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기록 </a:t>
                      </a:r>
                      <a:pPr indent="0" marL="0">
                        <a:buNone/>
                      </a:pPr>
                      <a:r>
                        <a:rPr lang="en-US" sz="1100" dirty="0">
                          <a:solidFill>
                            <a:srgbClr val="1F2937"/>
                          </a:solidFill>
                        </a:rPr>
                        <a:t>저장 </a:t>
                      </a:r>
                      <a:pPr indent="0" marL="0">
                        <a:buNone/>
                      </a:pPr>
                      <a:r>
                        <a:rPr lang="en-US" sz="1100" dirty="0">
                          <a:solidFill>
                            <a:srgbClr val="1F2937"/>
                          </a:solidFill>
                        </a:rPr>
                        <a:t>실패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저장되지 </a:t>
                      </a:r>
                      <a:pPr indent="0" marL="0">
                        <a:buNone/>
                      </a:pPr>
                      <a:r>
                        <a:rPr lang="en-US" sz="1100" dirty="0">
                          <a:solidFill>
                            <a:srgbClr val="1F2937"/>
                          </a:solidFill>
                        </a:rPr>
                        <a:t>않았어요. </a:t>
                      </a:r>
                      <a:pPr indent="0" marL="0">
                        <a:buNone/>
                      </a:pPr>
                      <a:r>
                        <a:rPr lang="en-US" sz="1100" dirty="0">
                          <a:solidFill>
                            <a:srgbClr val="1F2937"/>
                          </a:solidFill>
                        </a:rPr>
                        <a:t>다시 </a:t>
                      </a:r>
                      <a:pPr indent="0" marL="0">
                        <a:buNone/>
                      </a:pPr>
                      <a:r>
                        <a:rPr lang="en-US" sz="1100" dirty="0">
                          <a:solidFill>
                            <a:srgbClr val="1F2937"/>
                          </a:solidFill>
                        </a:rPr>
                        <a:t>시도해 </a:t>
                      </a:r>
                      <a:pPr indent="0" marL="0">
                        <a:buNone/>
                      </a:pPr>
                      <a:r>
                        <a:rPr lang="en-US" sz="1100" dirty="0">
                          <a:solidFill>
                            <a:srgbClr val="1F2937"/>
                          </a:solidFill>
                        </a:rPr>
                        <a:t>주세요 </a:t>
                      </a:r>
                      <a:pPr indent="0" marL="0">
                        <a:buNone/>
                      </a:pPr>
                      <a:r>
                        <a:rPr lang="en-US" sz="1100" dirty="0">
                          <a:solidFill>
                            <a:srgbClr val="1F2937"/>
                          </a:solidFill>
                        </a:rPr>
                        <a:t>— </a:t>
                      </a:r>
                      <a:pPr indent="0" marL="0">
                        <a:buNone/>
                      </a:pPr>
                      <a:r>
                        <a:rPr lang="en-US" sz="1100" dirty="0">
                          <a:solidFill>
                            <a:srgbClr val="1F2937"/>
                          </a:solidFill>
                        </a:rPr>
                        <a:t>회의에서 </a:t>
                      </a:r>
                      <a:pPr indent="0" marL="0">
                        <a:buNone/>
                      </a:pPr>
                      <a:r>
                        <a:rPr lang="en-US" sz="1100" dirty="0">
                          <a:solidFill>
                            <a:srgbClr val="1F2937"/>
                          </a:solidFill>
                        </a:rPr>
                        <a:t>제안된 </a:t>
                      </a:r>
                      <a:pPr indent="0" marL="0">
                        <a:buNone/>
                      </a:pPr>
                      <a:r>
                        <a:rPr lang="en-US" sz="1100" dirty="0">
                          <a:solidFill>
                            <a:srgbClr val="1F2937"/>
                          </a:solidFill>
                        </a:rPr>
                        <a:t>문구</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입력값 </a:t>
                      </a:r>
                      <a:pPr indent="0" marL="0">
                        <a:buNone/>
                      </a:pPr>
                      <a:r>
                        <a:rPr lang="en-US" sz="1100" dirty="0">
                          <a:solidFill>
                            <a:srgbClr val="1F2937"/>
                          </a:solidFill>
                        </a:rPr>
                        <a:t>유지, </a:t>
                      </a:r>
                      <a:pPr indent="0" marL="0">
                        <a:buNone/>
                      </a:pPr>
                      <a:r>
                        <a:rPr lang="en-US" sz="1100" dirty="0">
                          <a:solidFill>
                            <a:srgbClr val="1F2937"/>
                          </a:solidFill>
                        </a:rPr>
                        <a:t>재시도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RECORD_DUPLICATE</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재전송 </a:t>
                      </a:r>
                      <a:pPr indent="0" marL="0">
                        <a:buNone/>
                      </a:pPr>
                      <a:r>
                        <a:rPr lang="en-US" sz="1100" dirty="0">
                          <a:solidFill>
                            <a:srgbClr val="1F2937"/>
                          </a:solidFill>
                        </a:rPr>
                        <a:t>등으로 </a:t>
                      </a:r>
                      <a:pPr indent="0" marL="0">
                        <a:buNone/>
                      </a:pPr>
                      <a:r>
                        <a:rPr lang="en-US" sz="1100" dirty="0">
                          <a:solidFill>
                            <a:srgbClr val="1F2937"/>
                          </a:solidFill>
                        </a:rPr>
                        <a:t>중복 </a:t>
                      </a:r>
                      <a:pPr indent="0" marL="0">
                        <a:buNone/>
                      </a:pPr>
                      <a:r>
                        <a:rPr lang="en-US" sz="1100" dirty="0">
                          <a:solidFill>
                            <a:srgbClr val="1F2937"/>
                          </a:solidFill>
                        </a:rPr>
                        <a:t>기록 </a:t>
                      </a:r>
                      <a:pPr indent="0" marL="0">
                        <a:buNone/>
                      </a:pPr>
                      <a:r>
                        <a:rPr lang="en-US" sz="1100" dirty="0">
                          <a:solidFill>
                            <a:srgbClr val="1F2937"/>
                          </a:solidFill>
                        </a:rPr>
                        <a:t>위험 </a:t>
                      </a:r>
                      <a:pPr indent="0" marL="0">
                        <a:buNone/>
                      </a:pPr>
                      <a:r>
                        <a:rPr lang="en-US" sz="1100" dirty="0">
                          <a:solidFill>
                            <a:srgbClr val="1F2937"/>
                          </a:solidFill>
                        </a:rPr>
                        <a:t>발생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중복 </a:t>
                      </a:r>
                      <a:pPr indent="0" marL="0">
                        <a:buNone/>
                      </a:pPr>
                      <a:r>
                        <a:rPr lang="en-US" sz="1100" dirty="0">
                          <a:solidFill>
                            <a:srgbClr val="1F2937"/>
                          </a:solidFill>
                        </a:rPr>
                        <a:t>저장 </a:t>
                      </a:r>
                      <a:pPr indent="0" marL="0">
                        <a:buNone/>
                      </a:pPr>
                      <a:r>
                        <a:rPr lang="en-US" sz="1100" dirty="0">
                          <a:solidFill>
                            <a:srgbClr val="1F2937"/>
                          </a:solidFill>
                        </a:rPr>
                        <a:t>여부를 </a:t>
                      </a:r>
                      <a:pPr indent="0" marL="0">
                        <a:buNone/>
                      </a:pPr>
                      <a:r>
                        <a:rPr lang="en-US" sz="1100" dirty="0">
                          <a:solidFill>
                            <a:srgbClr val="1F2937"/>
                          </a:solidFill>
                        </a:rPr>
                        <a:t>확인해 </a:t>
                      </a:r>
                      <a:pPr indent="0" marL="0">
                        <a:buNone/>
                      </a:pPr>
                      <a:r>
                        <a:rPr lang="en-US" sz="1100" dirty="0">
                          <a:solidFill>
                            <a:srgbClr val="1F2937"/>
                          </a:solidFill>
                        </a:rPr>
                        <a:t>주세요 </a:t>
                      </a:r>
                      <a:pPr indent="0" marL="0">
                        <a:buNone/>
                      </a:pPr>
                      <a:r>
                        <a:rPr lang="en-US" sz="1100" dirty="0">
                          <a:solidFill>
                            <a:srgbClr val="1F2937"/>
                          </a:solidFill>
                        </a:rPr>
                        <a:t>— </a:t>
                      </a:r>
                      <a:pPr indent="0" marL="0">
                        <a:buNone/>
                      </a:pPr>
                      <a:r>
                        <a:rPr lang="en-US" sz="1100" dirty="0">
                          <a:solidFill>
                            <a:srgbClr val="1F2937"/>
                          </a:solidFill>
                        </a:rPr>
                        <a:t>문구 </a:t>
                      </a:r>
                      <a:pPr indent="0" marL="0">
                        <a:buNone/>
                      </a:pPr>
                      <a:r>
                        <a:rPr lang="en-US" sz="1100" dirty="0">
                          <a:solidFill>
                            <a:srgbClr val="1F2937"/>
                          </a:solidFill>
                        </a:rPr>
                        <a:t>제안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요청 </a:t>
                      </a:r>
                      <a:pPr indent="0" marL="0">
                        <a:buNone/>
                      </a:pPr>
                      <a:r>
                        <a:rPr lang="en-US" sz="1100" dirty="0">
                          <a:solidFill>
                            <a:srgbClr val="1F2937"/>
                          </a:solidFill>
                        </a:rPr>
                        <a:t>ID로 </a:t>
                      </a:r>
                      <a:pPr indent="0" marL="0">
                        <a:buNone/>
                      </a:pPr>
                      <a:r>
                        <a:rPr lang="en-US" sz="1100" dirty="0">
                          <a:solidFill>
                            <a:srgbClr val="1F2937"/>
                          </a:solidFill>
                        </a:rPr>
                        <a:t>중복 </a:t>
                      </a:r>
                      <a:pPr indent="0" marL="0">
                        <a:buNone/>
                      </a:pPr>
                      <a:r>
                        <a:rPr lang="en-US" sz="1100" dirty="0">
                          <a:solidFill>
                            <a:srgbClr val="1F2937"/>
                          </a:solidFill>
                        </a:rPr>
                        <a:t>방지·기록 </a:t>
                      </a:r>
                      <a:pPr indent="0" marL="0">
                        <a:buNone/>
                      </a:pPr>
                      <a:r>
                        <a:rPr lang="en-US" sz="1100" dirty="0">
                          <a:solidFill>
                            <a:srgbClr val="1F2937"/>
                          </a:solidFill>
                        </a:rPr>
                        <a:t>조회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NUTRITION_MISSING</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영양값 </a:t>
                      </a:r>
                      <a:pPr indent="0" marL="0">
                        <a:buNone/>
                      </a:pPr>
                      <a:r>
                        <a:rPr lang="en-US" sz="1100" dirty="0">
                          <a:solidFill>
                            <a:srgbClr val="1F2937"/>
                          </a:solidFill>
                        </a:rPr>
                        <a:t>일부 </a:t>
                      </a:r>
                      <a:pPr indent="0" marL="0">
                        <a:buNone/>
                      </a:pPr>
                      <a:r>
                        <a:rPr lang="en-US" sz="1100" dirty="0">
                          <a:solidFill>
                            <a:srgbClr val="1F2937"/>
                          </a:solidFill>
                        </a:rPr>
                        <a:t>또는 </a:t>
                      </a:r>
                      <a:pPr indent="0" marL="0">
                        <a:buNone/>
                      </a:pPr>
                      <a:r>
                        <a:rPr lang="en-US" sz="1100" dirty="0">
                          <a:solidFill>
                            <a:srgbClr val="1F2937"/>
                          </a:solidFill>
                        </a:rPr>
                        <a:t>전체 </a:t>
                      </a:r>
                      <a:pPr indent="0" marL="0">
                        <a:buNone/>
                      </a:pPr>
                      <a:r>
                        <a:rPr lang="en-US" sz="1100" dirty="0">
                          <a:solidFill>
                            <a:srgbClr val="1F2937"/>
                          </a:solidFill>
                        </a:rPr>
                        <a:t>누락</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일부 </a:t>
                      </a:r>
                      <a:pPr indent="0" marL="0">
                        <a:buNone/>
                      </a:pPr>
                      <a:r>
                        <a:rPr lang="en-US" sz="1100" dirty="0">
                          <a:solidFill>
                            <a:srgbClr val="1F2937"/>
                          </a:solidFill>
                        </a:rPr>
                        <a:t>음식 </a:t>
                      </a:r>
                      <a:pPr indent="0" marL="0">
                        <a:buNone/>
                      </a:pPr>
                      <a:r>
                        <a:rPr lang="en-US" sz="1100" dirty="0">
                          <a:solidFill>
                            <a:srgbClr val="1F2937"/>
                          </a:solidFill>
                        </a:rPr>
                        <a:t>정보가 </a:t>
                      </a:r>
                      <a:pPr indent="0" marL="0">
                        <a:buNone/>
                      </a:pPr>
                      <a:r>
                        <a:rPr lang="en-US" sz="1100" dirty="0">
                          <a:solidFill>
                            <a:srgbClr val="1F2937"/>
                          </a:solidFill>
                        </a:rPr>
                        <a:t>없어 </a:t>
                      </a:r>
                      <a:pPr indent="0" marL="0">
                        <a:buNone/>
                      </a:pPr>
                      <a:r>
                        <a:rPr lang="en-US" sz="1100" dirty="0">
                          <a:solidFill>
                            <a:srgbClr val="1F2937"/>
                          </a:solidFill>
                        </a:rPr>
                        <a:t>영양소별 </a:t>
                      </a:r>
                      <a:pPr indent="0" marL="0">
                        <a:buNone/>
                      </a:pPr>
                      <a:r>
                        <a:rPr lang="en-US" sz="1100" dirty="0">
                          <a:solidFill>
                            <a:srgbClr val="1F2937"/>
                          </a:solidFill>
                        </a:rPr>
                        <a:t>합계가 </a:t>
                      </a:r>
                      <a:pPr indent="0" marL="0">
                        <a:buNone/>
                      </a:pPr>
                      <a:r>
                        <a:rPr lang="en-US" sz="1100" dirty="0">
                          <a:solidFill>
                            <a:srgbClr val="1F2937"/>
                          </a:solidFill>
                        </a:rPr>
                        <a:t>다를 </a:t>
                      </a:r>
                      <a:pPr indent="0" marL="0">
                        <a:buNone/>
                      </a:pPr>
                      <a:r>
                        <a:rPr lang="en-US" sz="1100" dirty="0">
                          <a:solidFill>
                            <a:srgbClr val="1F2937"/>
                          </a:solidFill>
                        </a:rPr>
                        <a:t>수 </a:t>
                      </a:r>
                      <a:pPr indent="0" marL="0">
                        <a:buNone/>
                      </a:pPr>
                      <a:r>
                        <a:rPr lang="en-US" sz="1100" dirty="0">
                          <a:solidFill>
                            <a:srgbClr val="1F2937"/>
                          </a:solidFill>
                        </a:rPr>
                        <a:t>있어요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해당 </a:t>
                      </a:r>
                      <a:pPr indent="0" marL="0">
                        <a:buNone/>
                      </a:pPr>
                      <a:r>
                        <a:rPr lang="en-US" sz="1100" dirty="0">
                          <a:solidFill>
                            <a:srgbClr val="1F2937"/>
                          </a:solidFill>
                        </a:rPr>
                        <a:t>값은 </a:t>
                      </a:r>
                      <a:pPr indent="0" marL="0">
                        <a:buNone/>
                      </a:pPr>
                      <a:r>
                        <a:rPr lang="en-US" sz="1100" dirty="0">
                          <a:solidFill>
                            <a:srgbClr val="1F2937"/>
                          </a:solidFill>
                        </a:rPr>
                        <a:t>합계에서 </a:t>
                      </a:r>
                      <a:pPr indent="0" marL="0">
                        <a:buNone/>
                      </a:pPr>
                      <a:r>
                        <a:rPr lang="en-US" sz="1100" dirty="0">
                          <a:solidFill>
                            <a:srgbClr val="1F2937"/>
                          </a:solidFill>
                        </a:rPr>
                        <a:t>제외하되 </a:t>
                      </a:r>
                      <a:pPr indent="0" marL="0">
                        <a:buNone/>
                      </a:pPr>
                      <a:r>
                        <a:rPr lang="en-US" sz="1100" dirty="0">
                          <a:solidFill>
                            <a:srgbClr val="1F2937"/>
                          </a:solidFill>
                        </a:rPr>
                        <a:t>기록은 </a:t>
                      </a:r>
                      <a:pPr indent="0" marL="0">
                        <a:buNone/>
                      </a:pPr>
                      <a:r>
                        <a:rPr lang="en-US" sz="1100" dirty="0">
                          <a:solidFill>
                            <a:srgbClr val="1F2937"/>
                          </a:solidFill>
                        </a:rPr>
                        <a:t>유지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PUSH_PERMISSION_DENIED</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운영체제 </a:t>
                      </a:r>
                      <a:pPr indent="0" marL="0">
                        <a:buNone/>
                      </a:pPr>
                      <a:r>
                        <a:rPr lang="en-US" sz="1100" dirty="0">
                          <a:solidFill>
                            <a:srgbClr val="1F2937"/>
                          </a:solidFill>
                        </a:rPr>
                        <a:t>푸시 </a:t>
                      </a:r>
                      <a:pPr indent="0" marL="0">
                        <a:buNone/>
                      </a:pPr>
                      <a:r>
                        <a:rPr lang="en-US" sz="1100" dirty="0">
                          <a:solidFill>
                            <a:srgbClr val="1F2937"/>
                          </a:solidFill>
                        </a:rPr>
                        <a:t>권한 </a:t>
                      </a:r>
                      <a:pPr indent="0" marL="0">
                        <a:buNone/>
                      </a:pPr>
                      <a:r>
                        <a:rPr lang="en-US" sz="1100" dirty="0">
                          <a:solidFill>
                            <a:srgbClr val="1F2937"/>
                          </a:solidFill>
                        </a:rPr>
                        <a:t>거부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알림 </a:t>
                      </a:r>
                      <a:pPr indent="0" marL="0">
                        <a:buNone/>
                      </a:pPr>
                      <a:r>
                        <a:rPr lang="en-US" sz="1100" dirty="0">
                          <a:solidFill>
                            <a:srgbClr val="1F2937"/>
                          </a:solidFill>
                        </a:rPr>
                        <a:t>없이도 </a:t>
                      </a:r>
                      <a:pPr indent="0" marL="0">
                        <a:buNone/>
                      </a:pPr>
                      <a:r>
                        <a:rPr lang="en-US" sz="1100" dirty="0">
                          <a:solidFill>
                            <a:srgbClr val="1F2937"/>
                          </a:solidFill>
                        </a:rPr>
                        <a:t>앱을 </a:t>
                      </a:r>
                      <a:pPr indent="0" marL="0">
                        <a:buNone/>
                      </a:pPr>
                      <a:r>
                        <a:rPr lang="en-US" sz="1100" dirty="0">
                          <a:solidFill>
                            <a:srgbClr val="1F2937"/>
                          </a:solidFill>
                        </a:rPr>
                        <a:t>이용할 </a:t>
                      </a:r>
                      <a:pPr indent="0" marL="0">
                        <a:buNone/>
                      </a:pPr>
                      <a:r>
                        <a:rPr lang="en-US" sz="1100" dirty="0">
                          <a:solidFill>
                            <a:srgbClr val="1F2937"/>
                          </a:solidFill>
                        </a:rPr>
                        <a:t>수 </a:t>
                      </a:r>
                      <a:pPr indent="0" marL="0">
                        <a:buNone/>
                      </a:pPr>
                      <a:r>
                        <a:rPr lang="en-US" sz="1100" dirty="0">
                          <a:solidFill>
                            <a:srgbClr val="1F2937"/>
                          </a:solidFill>
                        </a:rPr>
                        <a:t>있어요 </a:t>
                      </a:r>
                      <a:pPr indent="0" marL="0">
                        <a:buNone/>
                      </a:pPr>
                      <a:r>
                        <a:rPr lang="en-US" sz="1100" dirty="0">
                          <a:solidFill>
                            <a:srgbClr val="1F2937"/>
                          </a:solidFill>
                        </a:rPr>
                        <a:t>— </a:t>
                      </a:r>
                      <a:pPr indent="0" marL="0">
                        <a:buNone/>
                      </a:pPr>
                      <a:r>
                        <a:rPr lang="en-US" sz="1100" dirty="0">
                          <a:solidFill>
                            <a:srgbClr val="1F2937"/>
                          </a:solidFill>
                        </a:rPr>
                        <a:t>문구 </a:t>
                      </a:r>
                      <a:pPr indent="0" marL="0">
                        <a:buNone/>
                      </a:pPr>
                      <a:r>
                        <a:rPr lang="en-US" sz="1100" dirty="0">
                          <a:solidFill>
                            <a:srgbClr val="1F2937"/>
                          </a:solidFill>
                        </a:rPr>
                        <a:t>제안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알림 </a:t>
                      </a:r>
                      <a:pPr indent="0" marL="0">
                        <a:buNone/>
                      </a:pPr>
                      <a:r>
                        <a:rPr lang="en-US" sz="1100" dirty="0">
                          <a:solidFill>
                            <a:srgbClr val="1F2937"/>
                          </a:solidFill>
                        </a:rPr>
                        <a:t>끈 </a:t>
                      </a:r>
                      <a:pPr indent="0" marL="0">
                        <a:buNone/>
                      </a:pPr>
                      <a:r>
                        <a:rPr lang="en-US" sz="1100" dirty="0">
                          <a:solidFill>
                            <a:srgbClr val="1F2937"/>
                          </a:solidFill>
                        </a:rPr>
                        <a:t>상태 </a:t>
                      </a:r>
                      <a:pPr indent="0" marL="0">
                        <a:buNone/>
                      </a:pPr>
                      <a:r>
                        <a:rPr lang="en-US" sz="1100" dirty="0">
                          <a:solidFill>
                            <a:srgbClr val="1F2937"/>
                          </a:solidFill>
                        </a:rPr>
                        <a:t>유지·설정 </a:t>
                      </a:r>
                      <a:pPr indent="0" marL="0">
                        <a:buNone/>
                      </a:pPr>
                      <a:r>
                        <a:rPr lang="en-US" sz="1100" dirty="0">
                          <a:solidFill>
                            <a:srgbClr val="1F2937"/>
                          </a:solidFill>
                        </a:rPr>
                        <a:t>안내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DELETE_PROCESSING</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추정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계정 </a:t>
                      </a:r>
                      <a:pPr indent="0" marL="0">
                        <a:buNone/>
                      </a:pPr>
                      <a:r>
                        <a:rPr lang="en-US" sz="1100" dirty="0">
                          <a:solidFill>
                            <a:srgbClr val="1F2937"/>
                          </a:solidFill>
                        </a:rPr>
                        <a:t>또는 </a:t>
                      </a:r>
                      <a:pPr indent="0" marL="0">
                        <a:buNone/>
                      </a:pPr>
                      <a:r>
                        <a:rPr lang="en-US" sz="1100" dirty="0">
                          <a:solidFill>
                            <a:srgbClr val="1F2937"/>
                          </a:solidFill>
                        </a:rPr>
                        <a:t>연관 </a:t>
                      </a:r>
                      <a:pPr indent="0" marL="0">
                        <a:buNone/>
                      </a:pPr>
                      <a:r>
                        <a:rPr lang="en-US" sz="1100" dirty="0">
                          <a:solidFill>
                            <a:srgbClr val="1F2937"/>
                          </a:solidFill>
                        </a:rPr>
                        <a:t>데이터 </a:t>
                      </a:r>
                      <a:pPr indent="0" marL="0">
                        <a:buNone/>
                      </a:pPr>
                      <a:r>
                        <a:rPr lang="en-US" sz="1100" dirty="0">
                          <a:solidFill>
                            <a:srgbClr val="1F2937"/>
                          </a:solidFill>
                        </a:rPr>
                        <a:t>삭제 </a:t>
                      </a:r>
                      <a:pPr indent="0" marL="0">
                        <a:buNone/>
                      </a:pPr>
                      <a:r>
                        <a:rPr lang="en-US" sz="1100" dirty="0">
                          <a:solidFill>
                            <a:srgbClr val="1F2937"/>
                          </a:solidFill>
                        </a:rPr>
                        <a:t>처리 </a:t>
                      </a:r>
                      <a:pPr indent="0" marL="0">
                        <a:buNone/>
                      </a:pPr>
                      <a:r>
                        <a:rPr lang="en-US" sz="1100" dirty="0">
                          <a:solidFill>
                            <a:srgbClr val="1F2937"/>
                          </a:solidFill>
                        </a:rPr>
                        <a:t>중</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삭제 </a:t>
                      </a:r>
                      <a:pPr indent="0" marL="0">
                        <a:buNone/>
                      </a:pPr>
                      <a:r>
                        <a:rPr lang="en-US" sz="1100" dirty="0">
                          <a:solidFill>
                            <a:srgbClr val="1F2937"/>
                          </a:solidFill>
                        </a:rPr>
                        <a:t>완료 </a:t>
                      </a:r>
                      <a:pPr indent="0" marL="0">
                        <a:buNone/>
                      </a:pPr>
                      <a:r>
                        <a:rPr lang="en-US" sz="1100" dirty="0">
                          <a:solidFill>
                            <a:srgbClr val="1F2937"/>
                          </a:solidFill>
                        </a:rPr>
                        <a:t>시점을 </a:t>
                      </a:r>
                      <a:pPr indent="0" marL="0">
                        <a:buNone/>
                      </a:pPr>
                      <a:r>
                        <a:rPr lang="en-US" sz="1100" dirty="0">
                          <a:solidFill>
                            <a:srgbClr val="1F2937"/>
                          </a:solidFill>
                        </a:rPr>
                        <a:t>안내하는 </a:t>
                      </a:r>
                      <a:pPr indent="0" marL="0">
                        <a:buNone/>
                      </a:pPr>
                      <a:r>
                        <a:rPr lang="en-US" sz="1100" dirty="0">
                          <a:solidFill>
                            <a:srgbClr val="1F2937"/>
                          </a:solidFill>
                        </a:rPr>
                        <a:t>문구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처리 </a:t>
                      </a:r>
                      <a:pPr indent="0" marL="0">
                        <a:buNone/>
                      </a:pPr>
                      <a:r>
                        <a:rPr lang="en-US" sz="1100" dirty="0">
                          <a:solidFill>
                            <a:srgbClr val="1F2937"/>
                          </a:solidFill>
                        </a:rPr>
                        <a:t>상태·보관 </a:t>
                      </a:r>
                      <a:pPr indent="0" marL="0">
                        <a:buNone/>
                      </a:pPr>
                      <a:r>
                        <a:rPr lang="en-US" sz="1100" dirty="0">
                          <a:solidFill>
                            <a:srgbClr val="1F2937"/>
                          </a:solidFill>
                        </a:rPr>
                        <a:t>정책 </a:t>
                      </a:r>
                      <a:pPr indent="0" marL="0">
                        <a:buNone/>
                      </a:pPr>
                      <a:r>
                        <a:rPr lang="en-US" sz="1100" dirty="0">
                          <a:solidFill>
                            <a:srgbClr val="1F2937"/>
                          </a:solidFill>
                        </a:rPr>
                        <a:t>확정 </a:t>
                      </a:r>
                      <a:pPr indent="0" marL="0">
                        <a:buNone/>
                      </a:pPr>
                      <a:r>
                        <a:rPr lang="en-US" sz="1100" dirty="0">
                          <a:solidFill>
                            <a:srgbClr val="1F2937"/>
                          </a:solidFill>
                        </a:rPr>
                        <a:t>후 </a:t>
                      </a:r>
                      <a:pPr indent="0" marL="0">
                        <a:buNone/>
                      </a:pPr>
                      <a:r>
                        <a:rPr lang="en-US" sz="1100" dirty="0">
                          <a:solidFill>
                            <a:srgbClr val="1F2937"/>
                          </a:solidFill>
                        </a:rPr>
                        <a:t>반영</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latin typeface="Courier New" pitchFamily="34" charset="0"/>
                          <a:ea typeface="Courier New" pitchFamily="34" charset="-122"/>
                          <a:cs typeface="Courier New" pitchFamily="34" charset="-120"/>
                        </a:rPr>
                        <a:t>STORE_REVIEW_DELAY</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해당 </a:t>
                      </a:r>
                      <a:pPr indent="0" marL="0">
                        <a:buNone/>
                      </a:pPr>
                      <a:r>
                        <a:rPr lang="en-US" sz="1100" dirty="0">
                          <a:solidFill>
                            <a:srgbClr val="1F2937"/>
                          </a:solidFill>
                        </a:rPr>
                        <a:t>없음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스토어 </a:t>
                      </a:r>
                      <a:pPr indent="0" marL="0">
                        <a:buNone/>
                      </a:pPr>
                      <a:r>
                        <a:rPr lang="en-US" sz="1100" dirty="0">
                          <a:solidFill>
                            <a:srgbClr val="1F2937"/>
                          </a:solidFill>
                        </a:rPr>
                        <a:t>심사 </a:t>
                      </a:r>
                      <a:pPr indent="0" marL="0">
                        <a:buNone/>
                      </a:pPr>
                      <a:r>
                        <a:rPr lang="en-US" sz="1100" dirty="0">
                          <a:solidFill>
                            <a:srgbClr val="1F2937"/>
                          </a:solidFill>
                        </a:rPr>
                        <a:t>지연·반려</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내부 </a:t>
                      </a:r>
                      <a:pPr indent="0" marL="0">
                        <a:buNone/>
                      </a:pPr>
                      <a:r>
                        <a:rPr lang="en-US" sz="1100" dirty="0">
                          <a:solidFill>
                            <a:srgbClr val="1F2937"/>
                          </a:solidFill>
                        </a:rPr>
                        <a:t>일정 </a:t>
                      </a:r>
                      <a:pPr indent="0" marL="0">
                        <a:buNone/>
                      </a:pPr>
                      <a:r>
                        <a:rPr lang="en-US" sz="1100" dirty="0">
                          <a:solidFill>
                            <a:srgbClr val="1F2937"/>
                          </a:solidFill>
                        </a:rPr>
                        <a:t>위험으로 </a:t>
                      </a:r>
                      <a:pPr indent="0" marL="0">
                        <a:buNone/>
                      </a:pPr>
                      <a:r>
                        <a:rPr lang="en-US" sz="1100" dirty="0">
                          <a:solidFill>
                            <a:srgbClr val="1F2937"/>
                          </a:solidFill>
                        </a:rPr>
                        <a:t>관리</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공개일 </a:t>
                      </a:r>
                      <a:pPr indent="0" marL="0">
                        <a:buNone/>
                      </a:pPr>
                      <a:r>
                        <a:rPr lang="en-US" sz="1100" dirty="0">
                          <a:solidFill>
                            <a:srgbClr val="1F2937"/>
                          </a:solidFill>
                        </a:rPr>
                        <a:t>확정 </a:t>
                      </a:r>
                      <a:pPr indent="0" marL="0">
                        <a:buNone/>
                      </a:pPr>
                      <a:r>
                        <a:rPr lang="en-US" sz="1100" dirty="0">
                          <a:solidFill>
                            <a:srgbClr val="1F2937"/>
                          </a:solidFill>
                        </a:rPr>
                        <a:t>보류, </a:t>
                      </a:r>
                      <a:pPr indent="0" marL="0">
                        <a:buNone/>
                      </a:pPr>
                      <a:r>
                        <a:rPr lang="en-US" sz="1100" dirty="0">
                          <a:solidFill>
                            <a:srgbClr val="1F2937"/>
                          </a:solidFill>
                        </a:rPr>
                        <a:t>수정·재제출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5. 시스템 간 연동 플로우</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5.1 인증 연동 (1/3)</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인증은 iOS·안드로이드 앱과 인증 제공자, 앱 서버 및 데이터베이스 사이에서 수행됩니다. 회의에서는 이메일·애플·구글을 우선 검토하고 카카오는 2차 우선순위로 두는 안이 논의됐으나, 최종 제공자와 게스트 모드 여부는 미정입니다.</a:t>
            </a:r>
            <a:endParaRPr lang="en-US" sz="1600" dirty="0"/>
          </a:p>
          <a:p>
            <a:pPr indent="0" marL="0">
              <a:spcAft>
                <a:spcPts val="800"/>
              </a:spcAft>
              <a:buNone/>
            </a:pPr>
            <a:r>
              <a:rPr lang="en-US" sz="1600" dirty="0">
                <a:solidFill>
                  <a:srgbClr val="4B5563"/>
                </a:solidFill>
              </a:rPr>
              <a:t>외부 로그인 제공자의 심사 요건, 인증 SDK 범위, 계정 연결 방식, 게스트 데이터 저장·병합 방식은 확정 후 반영해야 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5.1 인증 연동 (2/3)</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통신은 HTTPS 사용을 전제로 논의됐습니다. 토큰 종류·유효기간·저장 방식, 인증 서버 통신 방식, 재인증 정책은 회의에서 확정되지 않았으며 구체화가 필요합니다. 계정 삭제 시에는 로그인과 푸시 토큰을 비활성화하고 계정·식사 기록을 함께 삭제하는 방향이 정리됐지만, 백업에서의 삭제 시점과 완료 처리 기한은 정책 확인이 필요합니다.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5.1 인증 연동 (3/3)</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인증 제공자 장애가 발생하면 신규 로그인이나 인증 갱신에 영향을 줄 수 있습니다. 회의에서 인증 실패를 앱 사용 중에 어떻게 복구할지, 게스트로 전환할지, 계정 연결을 어디까지 지원할지는 결정하지 않았습니다. 따라서 장애 대체 경로는 </a:t>
            </a:r>
            <a:pPr indent="0" marL="0">
              <a:spcAft>
                <a:spcPts val="800"/>
              </a:spcAft>
              <a:buNone/>
            </a:pPr>
            <a:r>
              <a:rPr lang="en-US" sz="1600" b="1" dirty="0">
                <a:solidFill>
                  <a:srgbClr val="4B5563"/>
                </a:solidFill>
              </a:rPr>
              <a:t>추정 필요</a:t>
            </a:r>
            <a:pPr indent="0" marL="0">
              <a:spcAft>
                <a:spcPts val="800"/>
              </a:spcAft>
              <a:buNone/>
            </a:pPr>
            <a:r>
              <a:rPr lang="en-US" sz="1600" dirty="0">
                <a:solidFill>
                  <a:srgbClr val="4B5563"/>
                </a:solidFill>
              </a:rPr>
              <a:t>이며, 해당 경로를 확정하기 전에는 계정 정책을 완료된 것으로 간주하지 않습니다.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순서도</a:t>
            </a:r>
            <a:endParaRPr lang="en-US" sz="2800" dirty="0"/>
          </a:p>
        </p:txBody>
      </p:sp>
      <p:sp>
        <p:nvSpPr>
          <p:cNvPr id="3" name="Shape 1"/>
          <p:cNvSpPr/>
          <p:nvPr/>
        </p:nvSpPr>
        <p:spPr>
          <a:xfrm>
            <a:off x="457200" y="1078992"/>
            <a:ext cx="2743200" cy="41148"/>
          </a:xfrm>
          <a:prstGeom prst="rect">
            <a:avLst/>
          </a:prstGeom>
          <a:solidFill>
            <a:srgbClr val="263F59"/>
          </a:solidFill>
          <a:ln/>
        </p:spPr>
      </p:sp>
      <p:pic>
        <p:nvPicPr>
          <p:cNvPr id="4" name="Image 0" descr="preencoded.png">    </p:cNvPr>
          <p:cNvPicPr>
            <a:picLocks noChangeAspect="1"/>
          </p:cNvPicPr>
          <p:nvPr/>
        </p:nvPicPr>
        <p:blipFill>
          <a:blip r:embed="rId1"/>
          <a:stretch>
            <a:fillRect/>
          </a:stretch>
        </p:blipFill>
        <p:spPr>
          <a:xfrm>
            <a:off x="640080" y="1463040"/>
            <a:ext cx="7863840" cy="4206240"/>
          </a:xfrm>
          <a:prstGeom prst="rect">
            <a:avLst/>
          </a:prstGeom>
        </p:spPr>
      </p:pic>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상세 설명 (1/2)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1. 앱은 확정된 인증 제공자만 표시해야 합니다. 애플·구글·이메일의 조합과 게스트 모드 제공 여부가 미정이므로, 최종 로그인 화면과 오류 처리 분기는 확정 이후 구현해야 합니다.</a:t>
            </a:r>
            <a:endParaRPr lang="en-US" sz="1600" dirty="0"/>
          </a:p>
          <a:p>
            <a:pPr indent="0" marL="0">
              <a:spcAft>
                <a:spcPts val="800"/>
              </a:spcAft>
              <a:buNone/>
            </a:pPr>
            <a:r>
              <a:rPr lang="en-US" sz="1600" dirty="0">
                <a:solidFill>
                  <a:srgbClr val="4B5563"/>
                </a:solidFill>
              </a:rPr>
              <a:t>2. 인증 결과와 앱 계정의 연결·생성 방식은 앱 서버에서 확인합니다. 실제 요청 형식, 토큰 규격과 만료 기준은 회의에서 합의되지 않았으므로 </a:t>
            </a:r>
            <a:pPr indent="0" marL="0">
              <a:spcAft>
                <a:spcPts val="800"/>
              </a:spcAft>
              <a:buNone/>
            </a:pPr>
            <a:r>
              <a:rPr lang="en-US" sz="1600" b="1" dirty="0">
                <a:solidFill>
                  <a:srgbClr val="4B5563"/>
                </a:solidFill>
              </a:rPr>
              <a:t>추정 필요</a:t>
            </a:r>
            <a:pPr indent="0" marL="0">
              <a:spcAft>
                <a:spcPts val="800"/>
              </a:spcAft>
              <a:buNone/>
            </a:pPr>
            <a:r>
              <a:rPr lang="en-US" sz="1600" dirty="0">
                <a:solidFill>
                  <a:srgbClr val="4B5563"/>
                </a:solidFill>
              </a:rPr>
              <a:t>입니다.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상세 설명 (2/2)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3. iOS 외부 로그인 심사 요건과 제공자별 계정 연결·탈퇴 처리는 확인 과제입니다. 인증 제공자 한 곳에 장애가 발생했을 때 다른 인증 방법이나 게스트 모드로 전환할 수 있는지는 미정입니다.</a:t>
            </a:r>
            <a:endParaRPr lang="en-US" sz="1600" dirty="0"/>
          </a:p>
          <a:p>
            <a:pPr indent="0" marL="0">
              <a:spcAft>
                <a:spcPts val="800"/>
              </a:spcAft>
              <a:buNone/>
            </a:pPr>
            <a:r>
              <a:rPr lang="en-US" sz="1600" dirty="0">
                <a:solidFill>
                  <a:srgbClr val="4B5563"/>
                </a:solidFill>
              </a:rPr>
              <a:t>4. 계정 삭제는 앱 안에서 요청할 수 있게 하고, 계정과 식사 기록을 함께 삭제하는 것이 기본 방향입니다. 백업 삭제 시점, 요청 후 완료까지의 시간, 삭제 대기 상태의 세부 정책은 법무·개인정보 검토가 필요합니다.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5.2 데이터 연동</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Mermaid 다이어그램</a:t>
            </a:r>
            <a:endParaRPr lang="en-US" sz="2800" dirty="0"/>
          </a:p>
        </p:txBody>
      </p:sp>
      <p:sp>
        <p:nvSpPr>
          <p:cNvPr id="3" name="Shape 1"/>
          <p:cNvSpPr/>
          <p:nvPr/>
        </p:nvSpPr>
        <p:spPr>
          <a:xfrm>
            <a:off x="457200" y="1078992"/>
            <a:ext cx="2743200" cy="41148"/>
          </a:xfrm>
          <a:prstGeom prst="rect">
            <a:avLst/>
          </a:prstGeom>
          <a:solidFill>
            <a:srgbClr val="263F59"/>
          </a:solidFill>
          <a:ln/>
        </p:spPr>
      </p:sp>
      <p:pic>
        <p:nvPicPr>
          <p:cNvPr id="4" name="Image 0" descr="preencoded.png">    </p:cNvPr>
          <p:cNvPicPr>
            <a:picLocks noChangeAspect="1"/>
          </p:cNvPicPr>
          <p:nvPr/>
        </p:nvPicPr>
        <p:blipFill>
          <a:blip r:embed="rId1"/>
          <a:stretch>
            <a:fillRect/>
          </a:stretch>
        </p:blipFill>
        <p:spPr>
          <a:xfrm>
            <a:off x="640080" y="1463040"/>
            <a:ext cx="7863840" cy="1946389"/>
          </a:xfrm>
          <a:prstGeom prst="rect">
            <a:avLst/>
          </a:prstGeom>
        </p:spPr>
      </p:pic>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상세 설명 (1/2)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1. 기록 생성·수정·삭제와 리포트 집계는 앱 서버와 데이터베이스를 중심으로 처리합니다. 영양 정보는 기록 당시 스냅샷을 사용하며, 리포트 표시 과정에서 외부 식품 API를 호출하지 않습니다.</a:t>
            </a:r>
            <a:endParaRPr lang="en-US" sz="1600" dirty="0"/>
          </a:p>
          <a:p>
            <a:pPr indent="0" marL="0">
              <a:spcAft>
                <a:spcPts val="800"/>
              </a:spcAft>
              <a:buNone/>
            </a:pPr>
            <a:r>
              <a:rPr lang="en-US" sz="1600" dirty="0">
                <a:solidFill>
                  <a:srgbClr val="4B5563"/>
                </a:solidFill>
              </a:rPr>
              <a:t>2. 음식 검색은 앱 서버를 거쳐 외부 공급자와 연동하는 방향입니다. 외부 공급자에게는 검색어만 보내고 사용자 식별 정보나 기록 데이터는 전달하지 않도록 설계합니다. 공급자 약관의 검색어 보관·처리 조건, 재표시 권한, 캐시 허용 기간, 호출 제한은 미확정입니다.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상세 설명 (2/2)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3. 외부 응답은 앱에 그대로 노출하지 않고 내부 표준 모델로 변환합니다. 내부 모델에는 음식 식별 정보, 표시 이름, 제공량, 영양값, 출처 등 필요한 항목을 담는 방향으로 논의됐으나, 최종 필드와 데이터 보존 규칙은 API 검토 후 확정해야 합니다.</a:t>
            </a:r>
            <a:endParaRPr lang="en-US" sz="1600" dirty="0"/>
          </a:p>
          <a:p>
            <a:pPr indent="0" marL="0">
              <a:spcAft>
                <a:spcPts val="800"/>
              </a:spcAft>
              <a:buNone/>
            </a:pPr>
            <a:r>
              <a:rPr lang="en-US" sz="1600" dirty="0">
                <a:solidFill>
                  <a:srgbClr val="4B5563"/>
                </a:solidFill>
              </a:rPr>
              <a:t>4. 제품 분석은 선택적으로 거부할 수 있게 하고 음식명·칼로리·몸무게·자유 입력 메모를 포함하지 않는 방향입니다. 보안·장애 대응 로그는 제품 분석과 분리하고, 외부 분석 업체의 데이터 처리 위치와 보관 기간은 확인해야 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 비즈니스 로직 플로우</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6.1 데이터 처리 플로우</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데이터 수집·검증·변환·저장 (1/4)</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식사 기록 데이터는 사용자가 선택한 음식 또는 직접 입력한 음식, 식사 구분, 섭취 날짜·시간, 양, 가능한 영양값으로 구성합니다. 직접 입력 음식은 음식명만으로도 저장할 수 있습니다. 영양 정보가 없으면 숫자 0을 대신 저장하지 않고 미입력 상태로 유지합니다. 영양 정보 출처도 저장하는 방향이 논의됐습니다.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데이터 수집·검증·변환·저장 (2/4)</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외부 음식 API 응답은 앱에 그대로 전달하지 않고 내부 표준 모델로 변환합니다. 외부 음식의 최신 정보와 기록 당시 사용자가 선택한 음식명·영양값을 분리합니다. 기록 시점의 스냅샷을 보존해 외부 DB가 변경되어도 과거 식사 기록과 리포트가 자동으로 바뀌지 않게 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데이터 수집·검증·변환·저장 (3/4)</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식사 날짜는 저장 시점의 사용자 현지 날짜를 기본값으로 하고, 사용자가 수정할 수 있도록 하는 방향입니다. 데이터베이스에는 UTC 시각을 저장하고 프로필에 시간대를 보관하는 구조가 논의됐습니다. 시간대 변경으로 과거 식사 날짜를 자동 재계산하지 않습니다. 기록 생성 시각과 섭취 날짜는 별도로 저장하며, 리포트는 섭취 날짜를 기준으로 계산합니다.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데이터 수집·검증·변환·저장 (4/4)</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저장 전 필수 검증 규칙, 중복 요청 판정 기준, 사용자가 입력한 수치의 범위 검증, 과거 날짜 허용 범위는 세부 확정이 필요합니다. 미래 기록은 막는 방향으로 논의됐고, 기록 생성일 이전의 섭취 날짜 입력은 허용하는 방향으로 정리됐습니다. 삭제 요청, 오류 로그, 접근 권한은 개인정보 처리 원칙과 함께 점검해야 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Mermaid 다이어그램</a:t>
            </a:r>
            <a:endParaRPr lang="en-US" sz="2800" dirty="0"/>
          </a:p>
        </p:txBody>
      </p:sp>
      <p:sp>
        <p:nvSpPr>
          <p:cNvPr id="3" name="Shape 1"/>
          <p:cNvSpPr/>
          <p:nvPr/>
        </p:nvSpPr>
        <p:spPr>
          <a:xfrm>
            <a:off x="457200" y="1078992"/>
            <a:ext cx="2743200" cy="41148"/>
          </a:xfrm>
          <a:prstGeom prst="rect">
            <a:avLst/>
          </a:prstGeom>
          <a:solidFill>
            <a:srgbClr val="263F59"/>
          </a:solidFill>
          <a:ln/>
        </p:spPr>
      </p:sp>
      <p:pic>
        <p:nvPicPr>
          <p:cNvPr id="4" name="Image 0" descr="preencoded.png">    </p:cNvPr>
          <p:cNvPicPr>
            <a:picLocks noChangeAspect="1"/>
          </p:cNvPicPr>
          <p:nvPr/>
        </p:nvPicPr>
        <p:blipFill>
          <a:blip r:embed="rId1"/>
          <a:stretch>
            <a:fillRect/>
          </a:stretch>
        </p:blipFill>
        <p:spPr>
          <a:xfrm>
            <a:off x="640080" y="1463040"/>
            <a:ext cx="7863840" cy="709165"/>
          </a:xfrm>
          <a:prstGeom prst="rect">
            <a:avLst/>
          </a:prstGeom>
        </p:spPr>
      </p:pic>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상세 설명 (1/3)</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1. 직접 입력 음식의 음식명은 저장에 필요한 핵심 입력입니다. 영양값은 선택 입력이며, 미입력은 </a:t>
            </a:r>
            <a:pPr indent="0" marL="0">
              <a:spcAft>
                <a:spcPts val="800"/>
              </a:spcAft>
              <a:buNone/>
            </a:pPr>
            <a:r>
              <a:rPr lang="en-US" sz="1600" dirty="0">
                <a:solidFill>
                  <a:srgbClr val="4B5563"/>
                </a:solidFill>
                <a:latin typeface="Courier New" pitchFamily="34" charset="0"/>
                <a:ea typeface="Courier New" pitchFamily="34" charset="-122"/>
                <a:cs typeface="Courier New" pitchFamily="34" charset="-120"/>
              </a:rPr>
              <a:t>0</a:t>
            </a:r>
            <a:pPr indent="0" marL="0">
              <a:spcAft>
                <a:spcPts val="800"/>
              </a:spcAft>
              <a:buNone/>
            </a:pPr>
            <a:r>
              <a:rPr lang="en-US" sz="1600" dirty="0">
                <a:solidFill>
                  <a:srgbClr val="4B5563"/>
                </a:solidFill>
              </a:rPr>
              <a:t>과 구분합니다. 값이 없는 항목도 식사 기록으로 저장하고, 영양 합계에서는 해당 영양소 계산에서 제외합니다.</a:t>
            </a:r>
            <a:endParaRPr lang="en-US" sz="1600" dirty="0"/>
          </a:p>
          <a:p>
            <a:pPr indent="0" marL="0">
              <a:spcAft>
                <a:spcPts val="800"/>
              </a:spcAft>
              <a:buNone/>
            </a:pPr>
            <a:r>
              <a:rPr lang="en-US" sz="1600" dirty="0">
                <a:solidFill>
                  <a:srgbClr val="4B5563"/>
                </a:solidFill>
              </a:rPr>
              <a:t>2. 외부 공급자 응답은 내부 표준 모델로 변환합니다. 공급처별 식별자와 데이터 구조를 내부 데이터 구조에서 분리하는 어댑터 방식은 공급자 변경에 대비하기 위한 설계 방향입니다.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상세 설명 (2/3)</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3. 식사 기록에는 기록 당시 음식명·양·단위·영양값 스냅샷과 출처를 보존합니다. 외부 데이터가 변경되어도 과거 기록과 리포트는 자동으로 수정하지 않습니다. 사용자가 최신 정보를 불러오는 기능은 MVP 범위에서 제외합니다.</a:t>
            </a:r>
            <a:endParaRPr lang="en-US" sz="1600" dirty="0"/>
          </a:p>
          <a:p>
            <a:pPr indent="0" marL="0">
              <a:spcAft>
                <a:spcPts val="800"/>
              </a:spcAft>
              <a:buNone/>
            </a:pPr>
            <a:r>
              <a:rPr lang="en-US" sz="1600" dirty="0">
                <a:solidFill>
                  <a:srgbClr val="4B5563"/>
                </a:solidFill>
              </a:rPr>
              <a:t>4. 날짜·수량·영양값의 입력 허용 범위와 잘못된 값의 거부 기준은 회의에서 정하지 않았습니다. 숫자 검증, 최대·최소값, 날짜 제한 등은 </a:t>
            </a:r>
            <a:pPr indent="0" marL="0">
              <a:spcAft>
                <a:spcPts val="800"/>
              </a:spcAft>
              <a:buNone/>
            </a:pPr>
            <a:r>
              <a:rPr lang="en-US" sz="1600" b="1" dirty="0">
                <a:solidFill>
                  <a:srgbClr val="4B5563"/>
                </a:solidFill>
              </a:rPr>
              <a:t>추정 필요</a:t>
            </a:r>
            <a:pPr indent="0" marL="0">
              <a:spcAft>
                <a:spcPts val="800"/>
              </a:spcAft>
              <a:buNone/>
            </a:pPr>
            <a:r>
              <a:rPr lang="en-US" sz="1600" dirty="0">
                <a:solidFill>
                  <a:srgbClr val="4B5563"/>
                </a:solidFill>
              </a:rPr>
              <a:t>이며, 확정 전 임의 기준을 요구사항으로 적용하지 않습니다.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상세 설명 (3/3)</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5. 로그에는 식사 내용이나 민감한 프로필 값을 남기지 않는 방향입니다. 오류 진단은 앱 버전·플랫폼·오류 코드·요청 ID 등 필요한 정보 중심으로 구성하고, 운영자가 사용자 기록을 볼 때는 동의·권한 승인·접근 로그를 요구하는 방안이 논의됐습니다.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6.2 상태 전이 다이어그램</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Mermaid 다이어그램</a:t>
            </a:r>
            <a:endParaRPr lang="en-US" sz="2800" dirty="0"/>
          </a:p>
        </p:txBody>
      </p:sp>
      <p:sp>
        <p:nvSpPr>
          <p:cNvPr id="3" name="Shape 1"/>
          <p:cNvSpPr/>
          <p:nvPr/>
        </p:nvSpPr>
        <p:spPr>
          <a:xfrm>
            <a:off x="457200" y="1078992"/>
            <a:ext cx="2743200" cy="41148"/>
          </a:xfrm>
          <a:prstGeom prst="rect">
            <a:avLst/>
          </a:prstGeom>
          <a:solidFill>
            <a:srgbClr val="263F59"/>
          </a:solidFill>
          <a:ln/>
        </p:spPr>
      </p:sp>
      <p:pic>
        <p:nvPicPr>
          <p:cNvPr id="4" name="Image 0" descr="preencoded.png">    </p:cNvPr>
          <p:cNvPicPr>
            <a:picLocks noChangeAspect="1"/>
          </p:cNvPicPr>
          <p:nvPr/>
        </p:nvPicPr>
        <p:blipFill>
          <a:blip r:embed="rId1"/>
          <a:stretch>
            <a:fillRect/>
          </a:stretch>
        </p:blipFill>
        <p:spPr>
          <a:xfrm>
            <a:off x="640080" y="1463040"/>
            <a:ext cx="7863840" cy="4206240"/>
          </a:xfrm>
          <a:prstGeom prst="rect">
            <a:avLst/>
          </a:prstGeom>
        </p:spPr>
      </p:pic>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상태 정의와 전이 기준</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91"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968188"/>
                <a:gridCol w="4114800"/>
                <a:gridCol w="3146612"/>
              </a:tblGrid>
              <a:tr h="0">
                <a:tc>
                  <a:txBody>
                    <a:bodyPr/>
                    <a:lstStyle/>
                    <a:p>
                      <a:pPr indent="0" marL="0">
                        <a:buNone/>
                      </a:pPr>
                      <a:r>
                        <a:rPr lang="en-US" sz="1200" b="1" dirty="0">
                          <a:solidFill>
                            <a:srgbClr val="FFFFFF"/>
                          </a:solidFill>
                        </a:rPr>
                        <a:t>상태</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의미</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다음 </a:t>
                      </a:r>
                      <a:pPr indent="0" marL="0">
                        <a:buNone/>
                      </a:pPr>
                      <a:r>
                        <a:rPr lang="en-US" sz="1200" b="1" dirty="0">
                          <a:solidFill>
                            <a:srgbClr val="FFFFFF"/>
                          </a:solidFill>
                        </a:rPr>
                        <a:t>상태 </a:t>
                      </a:r>
                      <a:pPr indent="0" marL="0">
                        <a:buNone/>
                      </a:pPr>
                      <a:r>
                        <a:rPr lang="en-US" sz="1200" b="1" dirty="0">
                          <a:solidFill>
                            <a:srgbClr val="FFFFFF"/>
                          </a:solidFill>
                        </a:rPr>
                        <a:t>조건</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앱 </a:t>
                      </a:r>
                      <a:pPr indent="0" marL="0">
                        <a:buNone/>
                      </a:pPr>
                      <a:r>
                        <a:rPr lang="en-US" sz="1100" dirty="0">
                          <a:solidFill>
                            <a:srgbClr val="1F2937"/>
                          </a:solidFill>
                        </a:rPr>
                        <a:t>시작</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앱 </a:t>
                      </a:r>
                      <a:pPr indent="0" marL="0">
                        <a:buNone/>
                      </a:pPr>
                      <a:r>
                        <a:rPr lang="en-US" sz="1100" dirty="0">
                          <a:solidFill>
                            <a:srgbClr val="1F2937"/>
                          </a:solidFill>
                        </a:rPr>
                        <a:t>실행 </a:t>
                      </a:r>
                      <a:pPr indent="0" marL="0">
                        <a:buNone/>
                      </a:pPr>
                      <a:r>
                        <a:rPr lang="en-US" sz="1100" dirty="0">
                          <a:solidFill>
                            <a:srgbClr val="1F2937"/>
                          </a:solidFill>
                        </a:rPr>
                        <a:t>직후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안내·동의 </a:t>
                      </a:r>
                      <a:pPr indent="0" marL="0">
                        <a:buNone/>
                      </a:pPr>
                      <a:r>
                        <a:rPr lang="en-US" sz="1100" dirty="0">
                          <a:solidFill>
                            <a:srgbClr val="1F2937"/>
                          </a:solidFill>
                        </a:rPr>
                        <a:t>절차 </a:t>
                      </a:r>
                      <a:pPr indent="0" marL="0">
                        <a:buNone/>
                      </a:pPr>
                      <a:r>
                        <a:rPr lang="en-US" sz="1100" dirty="0">
                          <a:solidFill>
                            <a:srgbClr val="1F2937"/>
                          </a:solidFill>
                        </a:rPr>
                        <a:t>표시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계정 </a:t>
                      </a:r>
                      <a:pPr indent="0" marL="0">
                        <a:buNone/>
                      </a:pPr>
                      <a:r>
                        <a:rPr lang="en-US" sz="1100" dirty="0">
                          <a:solidFill>
                            <a:srgbClr val="1F2937"/>
                          </a:solidFill>
                        </a:rPr>
                        <a:t>방식 </a:t>
                      </a:r>
                      <a:pPr indent="0" marL="0">
                        <a:buNone/>
                      </a:pPr>
                      <a:r>
                        <a:rPr lang="en-US" sz="1100" dirty="0">
                          <a:solidFill>
                            <a:srgbClr val="1F2937"/>
                          </a:solidFill>
                        </a:rPr>
                        <a:t>선택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로그인 </a:t>
                      </a:r>
                      <a:pPr indent="0" marL="0">
                        <a:buNone/>
                      </a:pPr>
                      <a:r>
                        <a:rPr lang="en-US" sz="1100" dirty="0">
                          <a:solidFill>
                            <a:srgbClr val="1F2937"/>
                          </a:solidFill>
                        </a:rPr>
                        <a:t>또는 </a:t>
                      </a:r>
                      <a:pPr indent="0" marL="0">
                        <a:buNone/>
                      </a:pPr>
                      <a:r>
                        <a:rPr lang="en-US" sz="1100" dirty="0">
                          <a:solidFill>
                            <a:srgbClr val="1F2937"/>
                          </a:solidFill>
                        </a:rPr>
                        <a:t>게스트 </a:t>
                      </a:r>
                      <a:pPr indent="0" marL="0">
                        <a:buNone/>
                      </a:pPr>
                      <a:r>
                        <a:rPr lang="en-US" sz="1100" dirty="0">
                          <a:solidFill>
                            <a:srgbClr val="1F2937"/>
                          </a:solidFill>
                        </a:rPr>
                        <a:t>시작 </a:t>
                      </a:r>
                      <a:pPr indent="0" marL="0">
                        <a:buNone/>
                      </a:pPr>
                      <a:r>
                        <a:rPr lang="en-US" sz="1100" dirty="0">
                          <a:solidFill>
                            <a:srgbClr val="1F2937"/>
                          </a:solidFill>
                        </a:rPr>
                        <a:t>방식을 </a:t>
                      </a:r>
                      <a:pPr indent="0" marL="0">
                        <a:buNone/>
                      </a:pPr>
                      <a:r>
                        <a:rPr lang="en-US" sz="1100" dirty="0">
                          <a:solidFill>
                            <a:srgbClr val="1F2937"/>
                          </a:solidFill>
                        </a:rPr>
                        <a:t>정하는 </a:t>
                      </a:r>
                      <a:pPr indent="0" marL="0">
                        <a:buNone/>
                      </a:pPr>
                      <a:r>
                        <a:rPr lang="en-US" sz="1100" dirty="0">
                          <a:solidFill>
                            <a:srgbClr val="1F2937"/>
                          </a:solidFill>
                        </a:rPr>
                        <a:t>상태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제공자·게스트 </a:t>
                      </a:r>
                      <a:pPr indent="0" marL="0">
                        <a:buNone/>
                      </a:pPr>
                      <a:r>
                        <a:rPr lang="en-US" sz="1100" dirty="0">
                          <a:solidFill>
                            <a:srgbClr val="1F2937"/>
                          </a:solidFill>
                        </a:rPr>
                        <a:t>정책 </a:t>
                      </a:r>
                      <a:pPr indent="0" marL="0">
                        <a:buNone/>
                      </a:pPr>
                      <a:r>
                        <a:rPr lang="en-US" sz="1100" dirty="0">
                          <a:solidFill>
                            <a:srgbClr val="1F2937"/>
                          </a:solidFill>
                        </a:rPr>
                        <a:t>확정 </a:t>
                      </a:r>
                      <a:pPr indent="0" marL="0">
                        <a:buNone/>
                      </a:pPr>
                      <a:r>
                        <a:rPr lang="en-US" sz="1100" dirty="0">
                          <a:solidFill>
                            <a:srgbClr val="1F2937"/>
                          </a:solidFill>
                        </a:rPr>
                        <a:t>후 </a:t>
                      </a:r>
                      <a:pPr indent="0" marL="0">
                        <a:buNone/>
                      </a:pPr>
                      <a:r>
                        <a:rPr lang="en-US" sz="1100" dirty="0">
                          <a:solidFill>
                            <a:srgbClr val="1F2937"/>
                          </a:solidFill>
                        </a:rPr>
                        <a:t>해당 </a:t>
                      </a:r>
                      <a:pPr indent="0" marL="0">
                        <a:buNone/>
                      </a:pPr>
                      <a:r>
                        <a:rPr lang="en-US" sz="1100" dirty="0">
                          <a:solidFill>
                            <a:srgbClr val="1F2937"/>
                          </a:solidFill>
                        </a:rPr>
                        <a:t>방식으로 </a:t>
                      </a:r>
                      <a:pPr indent="0" marL="0">
                        <a:buNone/>
                      </a:pPr>
                      <a:r>
                        <a:rPr lang="en-US" sz="1100" dirty="0">
                          <a:solidFill>
                            <a:srgbClr val="1F2937"/>
                          </a:solidFill>
                        </a:rPr>
                        <a:t>진행</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인증 </a:t>
                      </a:r>
                      <a:pPr indent="0" marL="0">
                        <a:buNone/>
                      </a:pPr>
                      <a:r>
                        <a:rPr lang="en-US" sz="1100" dirty="0">
                          <a:solidFill>
                            <a:srgbClr val="1F2937"/>
                          </a:solidFill>
                        </a:rPr>
                        <a:t>진행</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확정된 </a:t>
                      </a:r>
                      <a:pPr indent="0" marL="0">
                        <a:buNone/>
                      </a:pPr>
                      <a:r>
                        <a:rPr lang="en-US" sz="1100" dirty="0">
                          <a:solidFill>
                            <a:srgbClr val="1F2937"/>
                          </a:solidFill>
                        </a:rPr>
                        <a:t>인증 </a:t>
                      </a:r>
                      <a:pPr indent="0" marL="0">
                        <a:buNone/>
                      </a:pPr>
                      <a:r>
                        <a:rPr lang="en-US" sz="1100" dirty="0">
                          <a:solidFill>
                            <a:srgbClr val="1F2937"/>
                          </a:solidFill>
                        </a:rPr>
                        <a:t>방식으로 </a:t>
                      </a:r>
                      <a:pPr indent="0" marL="0">
                        <a:buNone/>
                      </a:pPr>
                      <a:r>
                        <a:rPr lang="en-US" sz="1100" dirty="0">
                          <a:solidFill>
                            <a:srgbClr val="1F2937"/>
                          </a:solidFill>
                        </a:rPr>
                        <a:t>사용자 </a:t>
                      </a:r>
                      <a:pPr indent="0" marL="0">
                        <a:buNone/>
                      </a:pPr>
                      <a:r>
                        <a:rPr lang="en-US" sz="1100" dirty="0">
                          <a:solidFill>
                            <a:srgbClr val="1F2937"/>
                          </a:solidFill>
                        </a:rPr>
                        <a:t>확인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성공 </a:t>
                      </a:r>
                      <a:pPr indent="0" marL="0">
                        <a:buNone/>
                      </a:pPr>
                      <a:r>
                        <a:rPr lang="en-US" sz="1100" dirty="0">
                          <a:solidFill>
                            <a:srgbClr val="1F2937"/>
                          </a:solidFill>
                        </a:rPr>
                        <a:t>시 </a:t>
                      </a:r>
                      <a:pPr indent="0" marL="0">
                        <a:buNone/>
                      </a:pPr>
                      <a:r>
                        <a:rPr lang="en-US" sz="1100" dirty="0">
                          <a:solidFill>
                            <a:srgbClr val="1F2937"/>
                          </a:solidFill>
                        </a:rPr>
                        <a:t>온보딩, </a:t>
                      </a:r>
                      <a:pPr indent="0" marL="0">
                        <a:buNone/>
                      </a:pPr>
                      <a:r>
                        <a:rPr lang="en-US" sz="1100" dirty="0">
                          <a:solidFill>
                            <a:srgbClr val="1F2937"/>
                          </a:solidFill>
                        </a:rPr>
                        <a:t>실패 </a:t>
                      </a:r>
                      <a:pPr indent="0" marL="0">
                        <a:buNone/>
                      </a:pPr>
                      <a:r>
                        <a:rPr lang="en-US" sz="1100" dirty="0">
                          <a:solidFill>
                            <a:srgbClr val="1F2937"/>
                          </a:solidFill>
                        </a:rPr>
                        <a:t>시 </a:t>
                      </a:r>
                      <a:pPr indent="0" marL="0">
                        <a:buNone/>
                      </a:pPr>
                      <a:r>
                        <a:rPr lang="en-US" sz="1100" dirty="0">
                          <a:solidFill>
                            <a:srgbClr val="1F2937"/>
                          </a:solidFill>
                        </a:rPr>
                        <a:t>인증 </a:t>
                      </a:r>
                      <a:pPr indent="0" marL="0">
                        <a:buNone/>
                      </a:pPr>
                      <a:r>
                        <a:rPr lang="en-US" sz="1100" dirty="0">
                          <a:solidFill>
                            <a:srgbClr val="1F2937"/>
                          </a:solidFill>
                        </a:rPr>
                        <a:t>오류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목표 </a:t>
                      </a:r>
                      <a:pPr indent="0" marL="0">
                        <a:buNone/>
                      </a:pPr>
                      <a:r>
                        <a:rPr lang="en-US" sz="1100" dirty="0">
                          <a:solidFill>
                            <a:srgbClr val="1F2937"/>
                          </a:solidFill>
                        </a:rPr>
                        <a:t>없음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사용자가 </a:t>
                      </a:r>
                      <a:pPr indent="0" marL="0">
                        <a:buNone/>
                      </a:pPr>
                      <a:r>
                        <a:rPr lang="en-US" sz="1100" dirty="0">
                          <a:solidFill>
                            <a:srgbClr val="1F2937"/>
                          </a:solidFill>
                        </a:rPr>
                        <a:t>목표 </a:t>
                      </a:r>
                      <a:pPr indent="0" marL="0">
                        <a:buNone/>
                      </a:pPr>
                      <a:r>
                        <a:rPr lang="en-US" sz="1100" dirty="0">
                          <a:solidFill>
                            <a:srgbClr val="1F2937"/>
                          </a:solidFill>
                        </a:rPr>
                        <a:t>없이 </a:t>
                      </a:r>
                      <a:pPr indent="0" marL="0">
                        <a:buNone/>
                      </a:pPr>
                      <a:r>
                        <a:rPr lang="en-US" sz="1100" dirty="0">
                          <a:solidFill>
                            <a:srgbClr val="1F2937"/>
                          </a:solidFill>
                        </a:rPr>
                        <a:t>시작했거나 </a:t>
                      </a:r>
                      <a:pPr indent="0" marL="0">
                        <a:buNone/>
                      </a:pPr>
                      <a:r>
                        <a:rPr lang="en-US" sz="1100" dirty="0">
                          <a:solidFill>
                            <a:srgbClr val="1F2937"/>
                          </a:solidFill>
                        </a:rPr>
                        <a:t>자동 </a:t>
                      </a:r>
                      <a:pPr indent="0" marL="0">
                        <a:buNone/>
                      </a:pPr>
                      <a:r>
                        <a:rPr lang="en-US" sz="1100" dirty="0">
                          <a:solidFill>
                            <a:srgbClr val="1F2937"/>
                          </a:solidFill>
                        </a:rPr>
                        <a:t>목표 </a:t>
                      </a:r>
                      <a:pPr indent="0" marL="0">
                        <a:buNone/>
                      </a:pPr>
                      <a:r>
                        <a:rPr lang="en-US" sz="1100" dirty="0">
                          <a:solidFill>
                            <a:srgbClr val="1F2937"/>
                          </a:solidFill>
                        </a:rPr>
                        <a:t>기준이 </a:t>
                      </a:r>
                      <a:pPr indent="0" marL="0">
                        <a:buNone/>
                      </a:pPr>
                      <a:r>
                        <a:rPr lang="en-US" sz="1100" dirty="0">
                          <a:solidFill>
                            <a:srgbClr val="1F2937"/>
                          </a:solidFill>
                        </a:rPr>
                        <a:t>미확정인 </a:t>
                      </a:r>
                      <a:pPr indent="0" marL="0">
                        <a:buNone/>
                      </a:pPr>
                      <a:r>
                        <a:rPr lang="en-US" sz="1100" dirty="0">
                          <a:solidFill>
                            <a:srgbClr val="1F2937"/>
                          </a:solidFill>
                        </a:rPr>
                        <a:t>상태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홈에서 </a:t>
                      </a:r>
                      <a:pPr indent="0" marL="0">
                        <a:buNone/>
                      </a:pPr>
                      <a:r>
                        <a:rPr lang="en-US" sz="1100" dirty="0">
                          <a:solidFill>
                            <a:srgbClr val="1F2937"/>
                          </a:solidFill>
                        </a:rPr>
                        <a:t>기록 </a:t>
                      </a:r>
                      <a:pPr indent="0" marL="0">
                        <a:buNone/>
                      </a:pPr>
                      <a:r>
                        <a:rPr lang="en-US" sz="1100" dirty="0">
                          <a:solidFill>
                            <a:srgbClr val="1F2937"/>
                          </a:solidFill>
                        </a:rPr>
                        <a:t>가능</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목표 </a:t>
                      </a:r>
                      <a:pPr indent="0" marL="0">
                        <a:buNone/>
                      </a:pPr>
                      <a:r>
                        <a:rPr lang="en-US" sz="1100" dirty="0">
                          <a:solidFill>
                            <a:srgbClr val="1F2937"/>
                          </a:solidFill>
                        </a:rPr>
                        <a:t>설정됨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확정된 </a:t>
                      </a:r>
                      <a:pPr indent="0" marL="0">
                        <a:buNone/>
                      </a:pPr>
                      <a:r>
                        <a:rPr lang="en-US" sz="1100" dirty="0">
                          <a:solidFill>
                            <a:srgbClr val="1F2937"/>
                          </a:solidFill>
                        </a:rPr>
                        <a:t>정책에 </a:t>
                      </a:r>
                      <a:pPr indent="0" marL="0">
                        <a:buNone/>
                      </a:pPr>
                      <a:r>
                        <a:rPr lang="en-US" sz="1100" dirty="0">
                          <a:solidFill>
                            <a:srgbClr val="1F2937"/>
                          </a:solidFill>
                        </a:rPr>
                        <a:t>따라 </a:t>
                      </a:r>
                      <a:pPr indent="0" marL="0">
                        <a:buNone/>
                      </a:pPr>
                      <a:r>
                        <a:rPr lang="en-US" sz="1100" dirty="0">
                          <a:solidFill>
                            <a:srgbClr val="1F2937"/>
                          </a:solidFill>
                        </a:rPr>
                        <a:t>목표가 </a:t>
                      </a:r>
                      <a:pPr indent="0" marL="0">
                        <a:buNone/>
                      </a:pPr>
                      <a:r>
                        <a:rPr lang="en-US" sz="1100" dirty="0">
                          <a:solidFill>
                            <a:srgbClr val="1F2937"/>
                          </a:solidFill>
                        </a:rPr>
                        <a:t>저장된 </a:t>
                      </a:r>
                      <a:pPr indent="0" marL="0">
                        <a:buNone/>
                      </a:pPr>
                      <a:r>
                        <a:rPr lang="en-US" sz="1100" dirty="0">
                          <a:solidFill>
                            <a:srgbClr val="1F2937"/>
                          </a:solidFill>
                        </a:rPr>
                        <a:t>상태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홈과 </a:t>
                      </a:r>
                      <a:pPr indent="0" marL="0">
                        <a:buNone/>
                      </a:pPr>
                      <a:r>
                        <a:rPr lang="en-US" sz="1100" dirty="0">
                          <a:solidFill>
                            <a:srgbClr val="1F2937"/>
                          </a:solidFill>
                        </a:rPr>
                        <a:t>목표 </a:t>
                      </a:r>
                      <a:pPr indent="0" marL="0">
                        <a:buNone/>
                      </a:pPr>
                      <a:r>
                        <a:rPr lang="en-US" sz="1100" dirty="0">
                          <a:solidFill>
                            <a:srgbClr val="1F2937"/>
                          </a:solidFill>
                        </a:rPr>
                        <a:t>기반 </a:t>
                      </a:r>
                      <a:pPr indent="0" marL="0">
                        <a:buNone/>
                      </a:pPr>
                      <a:r>
                        <a:rPr lang="en-US" sz="1100" dirty="0">
                          <a:solidFill>
                            <a:srgbClr val="1F2937"/>
                          </a:solidFill>
                        </a:rPr>
                        <a:t>비교에 </a:t>
                      </a:r>
                      <a:pPr indent="0" marL="0">
                        <a:buNone/>
                      </a:pPr>
                      <a:r>
                        <a:rPr lang="en-US" sz="1100" dirty="0">
                          <a:solidFill>
                            <a:srgbClr val="1F2937"/>
                          </a:solidFill>
                        </a:rPr>
                        <a:t>사용</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검색 </a:t>
                      </a:r>
                      <a:pPr indent="0" marL="0">
                        <a:buNone/>
                      </a:pPr>
                      <a:r>
                        <a:rPr lang="en-US" sz="1100" dirty="0">
                          <a:solidFill>
                            <a:srgbClr val="1F2937"/>
                          </a:solidFill>
                        </a:rPr>
                        <a:t>중</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외부 </a:t>
                      </a:r>
                      <a:pPr indent="0" marL="0">
                        <a:buNone/>
                      </a:pPr>
                      <a:r>
                        <a:rPr lang="en-US" sz="1100" dirty="0">
                          <a:solidFill>
                            <a:srgbClr val="1F2937"/>
                          </a:solidFill>
                        </a:rPr>
                        <a:t>식품 </a:t>
                      </a:r>
                      <a:pPr indent="0" marL="0">
                        <a:buNone/>
                      </a:pPr>
                      <a:r>
                        <a:rPr lang="en-US" sz="1100" dirty="0">
                          <a:solidFill>
                            <a:srgbClr val="1F2937"/>
                          </a:solidFill>
                        </a:rPr>
                        <a:t>데이터 </a:t>
                      </a:r>
                      <a:pPr indent="0" marL="0">
                        <a:buNone/>
                      </a:pPr>
                      <a:r>
                        <a:rPr lang="en-US" sz="1100" dirty="0">
                          <a:solidFill>
                            <a:srgbClr val="1F2937"/>
                          </a:solidFill>
                        </a:rPr>
                        <a:t>또는 </a:t>
                      </a:r>
                      <a:pPr indent="0" marL="0">
                        <a:buNone/>
                      </a:pPr>
                      <a:r>
                        <a:rPr lang="en-US" sz="1100" dirty="0">
                          <a:solidFill>
                            <a:srgbClr val="1F2937"/>
                          </a:solidFill>
                        </a:rPr>
                        <a:t>캐시를 </a:t>
                      </a:r>
                      <a:pPr indent="0" marL="0">
                        <a:buNone/>
                      </a:pPr>
                      <a:r>
                        <a:rPr lang="en-US" sz="1100" dirty="0">
                          <a:solidFill>
                            <a:srgbClr val="1F2937"/>
                          </a:solidFill>
                        </a:rPr>
                        <a:t>이용해 </a:t>
                      </a:r>
                      <a:pPr indent="0" marL="0">
                        <a:buNone/>
                      </a:pPr>
                      <a:r>
                        <a:rPr lang="en-US" sz="1100" dirty="0">
                          <a:solidFill>
                            <a:srgbClr val="1F2937"/>
                          </a:solidFill>
                        </a:rPr>
                        <a:t>음식 </a:t>
                      </a:r>
                      <a:pPr indent="0" marL="0">
                        <a:buNone/>
                      </a:pPr>
                      <a:r>
                        <a:rPr lang="en-US" sz="1100" dirty="0">
                          <a:solidFill>
                            <a:srgbClr val="1F2937"/>
                          </a:solidFill>
                        </a:rPr>
                        <a:t>검색 </a:t>
                      </a:r>
                      <a:pPr indent="0" marL="0">
                        <a:buNone/>
                      </a:pPr>
                      <a:r>
                        <a:rPr lang="en-US" sz="1100" dirty="0">
                          <a:solidFill>
                            <a:srgbClr val="1F2937"/>
                          </a:solidFill>
                        </a:rPr>
                        <a:t>중</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결과 </a:t>
                      </a:r>
                      <a:pPr indent="0" marL="0">
                        <a:buNone/>
                      </a:pPr>
                      <a:r>
                        <a:rPr lang="en-US" sz="1100" dirty="0">
                          <a:solidFill>
                            <a:srgbClr val="1F2937"/>
                          </a:solidFill>
                        </a:rPr>
                        <a:t>있음·결과 </a:t>
                      </a:r>
                      <a:pPr indent="0" marL="0">
                        <a:buNone/>
                      </a:pPr>
                      <a:r>
                        <a:rPr lang="en-US" sz="1100" dirty="0">
                          <a:solidFill>
                            <a:srgbClr val="1F2937"/>
                          </a:solidFill>
                        </a:rPr>
                        <a:t>없음·오류 </a:t>
                      </a:r>
                      <a:pPr indent="0" marL="0">
                        <a:buNone/>
                      </a:pPr>
                      <a:r>
                        <a:rPr lang="en-US" sz="1100" dirty="0">
                          <a:solidFill>
                            <a:srgbClr val="1F2937"/>
                          </a:solidFill>
                        </a:rPr>
                        <a:t>중 </a:t>
                      </a:r>
                      <a:pPr indent="0" marL="0">
                        <a:buNone/>
                      </a:pPr>
                      <a:r>
                        <a:rPr lang="en-US" sz="1100" dirty="0">
                          <a:solidFill>
                            <a:srgbClr val="1F2937"/>
                          </a:solidFill>
                        </a:rPr>
                        <a:t>하나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저장 </a:t>
                      </a:r>
                      <a:pPr indent="0" marL="0">
                        <a:buNone/>
                      </a:pPr>
                      <a:r>
                        <a:rPr lang="en-US" sz="1100" dirty="0">
                          <a:solidFill>
                            <a:srgbClr val="1F2937"/>
                          </a:solidFill>
                        </a:rPr>
                        <a:t>대기</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음식·양·날짜·식사 </a:t>
                      </a:r>
                      <a:pPr indent="0" marL="0">
                        <a:buNone/>
                      </a:pPr>
                      <a:r>
                        <a:rPr lang="en-US" sz="1100" dirty="0">
                          <a:solidFill>
                            <a:srgbClr val="1F2937"/>
                          </a:solidFill>
                        </a:rPr>
                        <a:t>구분이 </a:t>
                      </a:r>
                      <a:pPr indent="0" marL="0">
                        <a:buNone/>
                      </a:pPr>
                      <a:r>
                        <a:rPr lang="en-US" sz="1100" dirty="0">
                          <a:solidFill>
                            <a:srgbClr val="1F2937"/>
                          </a:solidFill>
                        </a:rPr>
                        <a:t>정리되어 </a:t>
                      </a:r>
                      <a:pPr indent="0" marL="0">
                        <a:buNone/>
                      </a:pPr>
                      <a:r>
                        <a:rPr lang="en-US" sz="1100" dirty="0">
                          <a:solidFill>
                            <a:srgbClr val="1F2937"/>
                          </a:solidFill>
                        </a:rPr>
                        <a:t>저장 </a:t>
                      </a:r>
                      <a:pPr indent="0" marL="0">
                        <a:buNone/>
                      </a:pPr>
                      <a:r>
                        <a:rPr lang="en-US" sz="1100" dirty="0">
                          <a:solidFill>
                            <a:srgbClr val="1F2937"/>
                          </a:solidFill>
                        </a:rPr>
                        <a:t>요청 </a:t>
                      </a:r>
                      <a:pPr indent="0" marL="0">
                        <a:buNone/>
                      </a:pPr>
                      <a:r>
                        <a:rPr lang="en-US" sz="1100" dirty="0">
                          <a:solidFill>
                            <a:srgbClr val="1F2937"/>
                          </a:solidFill>
                        </a:rPr>
                        <a:t>중</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성공 </a:t>
                      </a:r>
                      <a:pPr indent="0" marL="0">
                        <a:buNone/>
                      </a:pPr>
                      <a:r>
                        <a:rPr lang="en-US" sz="1100" dirty="0">
                          <a:solidFill>
                            <a:srgbClr val="1F2937"/>
                          </a:solidFill>
                        </a:rPr>
                        <a:t>또는 </a:t>
                      </a:r>
                      <a:pPr indent="0" marL="0">
                        <a:buNone/>
                      </a:pPr>
                      <a:r>
                        <a:rPr lang="en-US" sz="1100" dirty="0">
                          <a:solidFill>
                            <a:srgbClr val="1F2937"/>
                          </a:solidFill>
                        </a:rPr>
                        <a:t>실패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저장 </a:t>
                      </a:r>
                      <a:pPr indent="0" marL="0">
                        <a:buNone/>
                      </a:pPr>
                      <a:r>
                        <a:rPr lang="en-US" sz="1100" dirty="0">
                          <a:solidFill>
                            <a:srgbClr val="1F2937"/>
                          </a:solidFill>
                        </a:rPr>
                        <a:t>실패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서버 </a:t>
                      </a:r>
                      <a:pPr indent="0" marL="0">
                        <a:buNone/>
                      </a:pPr>
                      <a:r>
                        <a:rPr lang="en-US" sz="1100" dirty="0">
                          <a:solidFill>
                            <a:srgbClr val="1F2937"/>
                          </a:solidFill>
                        </a:rPr>
                        <a:t>저장이 </a:t>
                      </a:r>
                      <a:pPr indent="0" marL="0">
                        <a:buNone/>
                      </a:pPr>
                      <a:r>
                        <a:rPr lang="en-US" sz="1100" dirty="0">
                          <a:solidFill>
                            <a:srgbClr val="1F2937"/>
                          </a:solidFill>
                        </a:rPr>
                        <a:t>완료되지 </a:t>
                      </a:r>
                      <a:pPr indent="0" marL="0">
                        <a:buNone/>
                      </a:pPr>
                      <a:r>
                        <a:rPr lang="en-US" sz="1100" dirty="0">
                          <a:solidFill>
                            <a:srgbClr val="1F2937"/>
                          </a:solidFill>
                        </a:rPr>
                        <a:t>않은 </a:t>
                      </a:r>
                      <a:pPr indent="0" marL="0">
                        <a:buNone/>
                      </a:pPr>
                      <a:r>
                        <a:rPr lang="en-US" sz="1100" dirty="0">
                          <a:solidFill>
                            <a:srgbClr val="1F2937"/>
                          </a:solidFill>
                        </a:rPr>
                        <a:t>상태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입력 </a:t>
                      </a:r>
                      <a:pPr indent="0" marL="0">
                        <a:buNone/>
                      </a:pPr>
                      <a:r>
                        <a:rPr lang="en-US" sz="1100" dirty="0">
                          <a:solidFill>
                            <a:srgbClr val="1F2937"/>
                          </a:solidFill>
                        </a:rPr>
                        <a:t>유지 </a:t>
                      </a:r>
                      <a:pPr indent="0" marL="0">
                        <a:buNone/>
                      </a:pPr>
                      <a:r>
                        <a:rPr lang="en-US" sz="1100" dirty="0">
                          <a:solidFill>
                            <a:srgbClr val="1F2937"/>
                          </a:solidFill>
                        </a:rPr>
                        <a:t>후 </a:t>
                      </a:r>
                      <a:pPr indent="0" marL="0">
                        <a:buNone/>
                      </a:pPr>
                      <a:r>
                        <a:rPr lang="en-US" sz="1100" dirty="0">
                          <a:solidFill>
                            <a:srgbClr val="1F2937"/>
                          </a:solidFill>
                        </a:rPr>
                        <a:t>재시도 </a:t>
                      </a:r>
                      <a:pPr indent="0" marL="0">
                        <a:buNone/>
                      </a:pPr>
                      <a:r>
                        <a:rPr lang="en-US" sz="1100" dirty="0">
                          <a:solidFill>
                            <a:srgbClr val="1F2937"/>
                          </a:solidFill>
                        </a:rPr>
                        <a:t>또는 </a:t>
                      </a:r>
                      <a:pPr indent="0" marL="0">
                        <a:buNone/>
                      </a:pPr>
                      <a:r>
                        <a:rPr lang="en-US" sz="1100" dirty="0">
                          <a:solidFill>
                            <a:srgbClr val="1F2937"/>
                          </a:solidFill>
                        </a:rPr>
                        <a:t>복구 </a:t>
                      </a:r>
                      <a:pPr indent="0" marL="0">
                        <a:buNone/>
                      </a:pPr>
                      <a:r>
                        <a:rPr lang="en-US" sz="1100" dirty="0">
                          <a:solidFill>
                            <a:srgbClr val="1F2937"/>
                          </a:solidFill>
                        </a:rPr>
                        <a:t>안내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리포트 </a:t>
                      </a:r>
                      <a:pPr indent="0" marL="0">
                        <a:buNone/>
                      </a:pPr>
                      <a:r>
                        <a:rPr lang="en-US" sz="1100" dirty="0">
                          <a:solidFill>
                            <a:srgbClr val="1F2937"/>
                          </a:solidFill>
                        </a:rPr>
                        <a:t>표시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완료된 </a:t>
                      </a:r>
                      <a:pPr indent="0" marL="0">
                        <a:buNone/>
                      </a:pPr>
                      <a:r>
                        <a:rPr lang="en-US" sz="1100" dirty="0">
                          <a:solidFill>
                            <a:srgbClr val="1F2937"/>
                          </a:solidFill>
                        </a:rPr>
                        <a:t>주의 </a:t>
                      </a:r>
                      <a:pPr indent="0" marL="0">
                        <a:buNone/>
                      </a:pPr>
                      <a:r>
                        <a:rPr lang="en-US" sz="1100" dirty="0">
                          <a:solidFill>
                            <a:srgbClr val="1F2937"/>
                          </a:solidFill>
                        </a:rPr>
                        <a:t>기록 </a:t>
                      </a:r>
                      <a:pPr indent="0" marL="0">
                        <a:buNone/>
                      </a:pPr>
                      <a:r>
                        <a:rPr lang="en-US" sz="1100" dirty="0">
                          <a:solidFill>
                            <a:srgbClr val="1F2937"/>
                          </a:solidFill>
                        </a:rPr>
                        <a:t>기반 </a:t>
                      </a:r>
                      <a:pPr indent="0" marL="0">
                        <a:buNone/>
                      </a:pPr>
                      <a:r>
                        <a:rPr lang="en-US" sz="1100" dirty="0">
                          <a:solidFill>
                            <a:srgbClr val="1F2937"/>
                          </a:solidFill>
                        </a:rPr>
                        <a:t>리포트 </a:t>
                      </a:r>
                      <a:pPr indent="0" marL="0">
                        <a:buNone/>
                      </a:pPr>
                      <a:r>
                        <a:rPr lang="en-US" sz="1100" dirty="0">
                          <a:solidFill>
                            <a:srgbClr val="1F2937"/>
                          </a:solidFill>
                        </a:rPr>
                        <a:t>표시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화면 </a:t>
                      </a:r>
                      <a:pPr indent="0" marL="0">
                        <a:buNone/>
                      </a:pPr>
                      <a:r>
                        <a:rPr lang="en-US" sz="1100" dirty="0">
                          <a:solidFill>
                            <a:srgbClr val="1F2937"/>
                          </a:solidFill>
                        </a:rPr>
                        <a:t>종료 </a:t>
                      </a:r>
                      <a:pPr indent="0" marL="0">
                        <a:buNone/>
                      </a:pPr>
                      <a:r>
                        <a:rPr lang="en-US" sz="1100" dirty="0">
                          <a:solidFill>
                            <a:srgbClr val="1F2937"/>
                          </a:solidFill>
                        </a:rPr>
                        <a:t>또는 </a:t>
                      </a:r>
                      <a:pPr indent="0" marL="0">
                        <a:buNone/>
                      </a:pPr>
                      <a:r>
                        <a:rPr lang="en-US" sz="1100" dirty="0">
                          <a:solidFill>
                            <a:srgbClr val="1F2937"/>
                          </a:solidFill>
                        </a:rPr>
                        <a:t>기록 </a:t>
                      </a:r>
                      <a:pPr indent="0" marL="0">
                        <a:buNone/>
                      </a:pPr>
                      <a:r>
                        <a:rPr lang="en-US" sz="1100" dirty="0">
                          <a:solidFill>
                            <a:srgbClr val="1F2937"/>
                          </a:solidFill>
                        </a:rPr>
                        <a:t>변경 </a:t>
                      </a:r>
                      <a:pPr indent="0" marL="0">
                        <a:buNone/>
                      </a:pPr>
                      <a:r>
                        <a:rPr lang="en-US" sz="1100" dirty="0">
                          <a:solidFill>
                            <a:srgbClr val="1F2937"/>
                          </a:solidFill>
                        </a:rPr>
                        <a:t>후 </a:t>
                      </a:r>
                      <a:pPr indent="0" marL="0">
                        <a:buNone/>
                      </a:pPr>
                      <a:r>
                        <a:rPr lang="en-US" sz="1100" dirty="0">
                          <a:solidFill>
                            <a:srgbClr val="1F2937"/>
                          </a:solidFill>
                        </a:rPr>
                        <a:t>재조회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알림 </a:t>
                      </a:r>
                      <a:pPr indent="0" marL="0">
                        <a:buNone/>
                      </a:pPr>
                      <a:r>
                        <a:rPr lang="en-US" sz="1100" dirty="0">
                          <a:solidFill>
                            <a:srgbClr val="1F2937"/>
                          </a:solidFill>
                        </a:rPr>
                        <a:t>꺼짐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사용자 </a:t>
                      </a:r>
                      <a:pPr indent="0" marL="0">
                        <a:buNone/>
                      </a:pPr>
                      <a:r>
                        <a:rPr lang="en-US" sz="1100" dirty="0">
                          <a:solidFill>
                            <a:srgbClr val="1F2937"/>
                          </a:solidFill>
                        </a:rPr>
                        <a:t>선택 </a:t>
                      </a:r>
                      <a:pPr indent="0" marL="0">
                        <a:buNone/>
                      </a:pPr>
                      <a:r>
                        <a:rPr lang="en-US" sz="1100" dirty="0">
                          <a:solidFill>
                            <a:srgbClr val="1F2937"/>
                          </a:solidFill>
                        </a:rPr>
                        <a:t>또는 </a:t>
                      </a:r>
                      <a:pPr indent="0" marL="0">
                        <a:buNone/>
                      </a:pPr>
                      <a:r>
                        <a:rPr lang="en-US" sz="1100" dirty="0">
                          <a:solidFill>
                            <a:srgbClr val="1F2937"/>
                          </a:solidFill>
                        </a:rPr>
                        <a:t>운영체제 </a:t>
                      </a:r>
                      <a:pPr indent="0" marL="0">
                        <a:buNone/>
                      </a:pPr>
                      <a:r>
                        <a:rPr lang="en-US" sz="1100" dirty="0">
                          <a:solidFill>
                            <a:srgbClr val="1F2937"/>
                          </a:solidFill>
                        </a:rPr>
                        <a:t>권한 </a:t>
                      </a:r>
                      <a:pPr indent="0" marL="0">
                        <a:buNone/>
                      </a:pPr>
                      <a:r>
                        <a:rPr lang="en-US" sz="1100" dirty="0">
                          <a:solidFill>
                            <a:srgbClr val="1F2937"/>
                          </a:solidFill>
                        </a:rPr>
                        <a:t>거부로 </a:t>
                      </a:r>
                      <a:pPr indent="0" marL="0">
                        <a:buNone/>
                      </a:pPr>
                      <a:r>
                        <a:rPr lang="en-US" sz="1100" dirty="0">
                          <a:solidFill>
                            <a:srgbClr val="1F2937"/>
                          </a:solidFill>
                        </a:rPr>
                        <a:t>발송하지 </a:t>
                      </a:r>
                      <a:pPr indent="0" marL="0">
                        <a:buNone/>
                      </a:pPr>
                      <a:r>
                        <a:rPr lang="en-US" sz="1100" dirty="0">
                          <a:solidFill>
                            <a:srgbClr val="1F2937"/>
                          </a:solidFill>
                        </a:rPr>
                        <a:t>않는 </a:t>
                      </a:r>
                      <a:pPr indent="0" marL="0">
                        <a:buNone/>
                      </a:pPr>
                      <a:r>
                        <a:rPr lang="en-US" sz="1100" dirty="0">
                          <a:solidFill>
                            <a:srgbClr val="1F2937"/>
                          </a:solidFill>
                        </a:rPr>
                        <a:t>상태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사용자가 </a:t>
                      </a:r>
                      <a:pPr indent="0" marL="0">
                        <a:buNone/>
                      </a:pPr>
                      <a:r>
                        <a:rPr lang="en-US" sz="1100" dirty="0">
                          <a:solidFill>
                            <a:srgbClr val="1F2937"/>
                          </a:solidFill>
                        </a:rPr>
                        <a:t>앱 </a:t>
                      </a:r>
                      <a:pPr indent="0" marL="0">
                        <a:buNone/>
                      </a:pPr>
                      <a:r>
                        <a:rPr lang="en-US" sz="1100" dirty="0">
                          <a:solidFill>
                            <a:srgbClr val="1F2937"/>
                          </a:solidFill>
                        </a:rPr>
                        <a:t>안에서 </a:t>
                      </a:r>
                      <a:pPr indent="0" marL="0">
                        <a:buNone/>
                      </a:pPr>
                      <a:r>
                        <a:rPr lang="en-US" sz="1100" dirty="0">
                          <a:solidFill>
                            <a:srgbClr val="1F2937"/>
                          </a:solidFill>
                        </a:rPr>
                        <a:t>다시 </a:t>
                      </a:r>
                      <a:pPr indent="0" marL="0">
                        <a:buNone/>
                      </a:pPr>
                      <a:r>
                        <a:rPr lang="en-US" sz="1100" dirty="0">
                          <a:solidFill>
                            <a:srgbClr val="1F2937"/>
                          </a:solidFill>
                        </a:rPr>
                        <a:t>설정하는 </a:t>
                      </a:r>
                      <a:pPr indent="0" marL="0">
                        <a:buNone/>
                      </a:pPr>
                      <a:r>
                        <a:rPr lang="en-US" sz="1100" dirty="0">
                          <a:solidFill>
                            <a:srgbClr val="1F2937"/>
                          </a:solidFill>
                        </a:rPr>
                        <a:t>경우에만 </a:t>
                      </a:r>
                      <a:pPr indent="0" marL="0">
                        <a:buNone/>
                      </a:pPr>
                      <a:r>
                        <a:rPr lang="en-US" sz="1100" dirty="0">
                          <a:solidFill>
                            <a:srgbClr val="1F2937"/>
                          </a:solidFill>
                        </a:rPr>
                        <a:t>켜짐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삭제 </a:t>
                      </a:r>
                      <a:pPr indent="0" marL="0">
                        <a:buNone/>
                      </a:pPr>
                      <a:r>
                        <a:rPr lang="en-US" sz="1100" dirty="0">
                          <a:solidFill>
                            <a:srgbClr val="1F2937"/>
                          </a:solidFill>
                        </a:rPr>
                        <a:t>처리 </a:t>
                      </a:r>
                      <a:pPr indent="0" marL="0">
                        <a:buNone/>
                      </a:pPr>
                      <a:r>
                        <a:rPr lang="en-US" sz="1100" dirty="0">
                          <a:solidFill>
                            <a:srgbClr val="1F2937"/>
                          </a:solidFill>
                        </a:rPr>
                        <a:t>중</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계정·연관 </a:t>
                      </a:r>
                      <a:pPr indent="0" marL="0">
                        <a:buNone/>
                      </a:pPr>
                      <a:r>
                        <a:rPr lang="en-US" sz="1100" dirty="0">
                          <a:solidFill>
                            <a:srgbClr val="1F2937"/>
                          </a:solidFill>
                        </a:rPr>
                        <a:t>기록 </a:t>
                      </a:r>
                      <a:pPr indent="0" marL="0">
                        <a:buNone/>
                      </a:pPr>
                      <a:r>
                        <a:rPr lang="en-US" sz="1100" dirty="0">
                          <a:solidFill>
                            <a:srgbClr val="1F2937"/>
                          </a:solidFill>
                        </a:rPr>
                        <a:t>삭제 </a:t>
                      </a:r>
                      <a:pPr indent="0" marL="0">
                        <a:buNone/>
                      </a:pPr>
                      <a:r>
                        <a:rPr lang="en-US" sz="1100" dirty="0">
                          <a:solidFill>
                            <a:srgbClr val="1F2937"/>
                          </a:solidFill>
                        </a:rPr>
                        <a:t>요청이 </a:t>
                      </a:r>
                      <a:pPr indent="0" marL="0">
                        <a:buNone/>
                      </a:pPr>
                      <a:r>
                        <a:rPr lang="en-US" sz="1100" dirty="0">
                          <a:solidFill>
                            <a:srgbClr val="1F2937"/>
                          </a:solidFill>
                        </a:rPr>
                        <a:t>처리되는 </a:t>
                      </a:r>
                      <a:pPr indent="0" marL="0">
                        <a:buNone/>
                      </a:pPr>
                      <a:r>
                        <a:rPr lang="en-US" sz="1100" dirty="0">
                          <a:solidFill>
                            <a:srgbClr val="1F2937"/>
                          </a:solidFill>
                        </a:rPr>
                        <a:t>상태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처리 </a:t>
                      </a:r>
                      <a:pPr indent="0" marL="0">
                        <a:buNone/>
                      </a:pPr>
                      <a:r>
                        <a:rPr lang="en-US" sz="1100" dirty="0">
                          <a:solidFill>
                            <a:srgbClr val="1F2937"/>
                          </a:solidFill>
                        </a:rPr>
                        <a:t>정책에 </a:t>
                      </a:r>
                      <a:pPr indent="0" marL="0">
                        <a:buNone/>
                      </a:pPr>
                      <a:r>
                        <a:rPr lang="en-US" sz="1100" dirty="0">
                          <a:solidFill>
                            <a:srgbClr val="1F2937"/>
                          </a:solidFill>
                        </a:rPr>
                        <a:t>따른 </a:t>
                      </a:r>
                      <a:pPr indent="0" marL="0">
                        <a:buNone/>
                      </a:pPr>
                      <a:r>
                        <a:rPr lang="en-US" sz="1100" dirty="0">
                          <a:solidFill>
                            <a:srgbClr val="1F2937"/>
                          </a:solidFill>
                        </a:rPr>
                        <a:t>삭제 </a:t>
                      </a:r>
                      <a:pPr indent="0" marL="0">
                        <a:buNone/>
                      </a:pPr>
                      <a:r>
                        <a:rPr lang="en-US" sz="1100" dirty="0">
                          <a:solidFill>
                            <a:srgbClr val="1F2937"/>
                          </a:solidFill>
                        </a:rPr>
                        <a:t>완료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상세 설명 (1/2)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회원 상태 전이에는 일반적인 이메일 가입 완료, 비밀번호 변경, 인증 토큰 발급 같은 세부 절차를 넣지 않았습니다. 회의에서는 이메일·애플·구글·게스트 방식이 논의됐지만, 로그인 제공자와 게스트 저장·병합 방식은 확정되지 않았기 때문입니다.</a:t>
            </a:r>
            <a:endParaRPr lang="en-US" sz="1600" dirty="0"/>
          </a:p>
          <a:p>
            <a:pPr indent="0" marL="0">
              <a:spcAft>
                <a:spcPts val="800"/>
              </a:spcAft>
              <a:buNone/>
            </a:pPr>
            <a:r>
              <a:rPr lang="en-US" sz="1600" dirty="0">
                <a:solidFill>
                  <a:srgbClr val="4B5563"/>
                </a:solidFill>
              </a:rPr>
              <a:t>기록 상태는 검색 결과와 API 오류를 구분합니다. 결과가 없는 상태에서는 직접 입력을 선택할 수 있고, 검색 오류 상태에서도 입력어를 유지한 채 다시 시도하거나 직접 입력할 수 있습니다. 음식 기록은 저장 성공이 확인되기 전에는 완료 상태로 표시하지 않습니다.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상세 설명 (2/2)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리포트 상태는 데이터가 없는 경우와 데이터가 있는 경우를 나눕니다. 데이터가 없는 경우에는 0으로 계산하지 않고 부담이 적은 안내와 기록 추가 동작을 제공합니다. 데이터가 있는 경우에도 기록한 날짜 수와 영양값이 제공되는 범위를 표시합니다.</a:t>
            </a:r>
            <a:endParaRPr lang="en-US" sz="1600" dirty="0"/>
          </a:p>
          <a:p>
            <a:pPr indent="0" marL="0">
              <a:spcAft>
                <a:spcPts val="800"/>
              </a:spcAft>
              <a:buNone/>
            </a:pPr>
            <a:r>
              <a:rPr lang="en-US" sz="1600" dirty="0">
                <a:solidFill>
                  <a:srgbClr val="4B5563"/>
                </a:solidFill>
              </a:rPr>
              <a:t>계정 삭제 상태의 처리 기한, 삭제 대기 상태의 취소 가능 여부, 백업 삭제 시점은 정책이 정해지지 않았습니다. 자동 미사용 계정 삭제는 정책이 확정되기 전까지 구현하지 않는 방향이며, 탈퇴 요청에 따른 삭제 흐름을 우선합니다.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7. 성능 및 볼륨 고려사항</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회의에서 확정한 서비스 규모, 초당 요청 수, 일일 가입자 수는 없습니다. 따라서 규모·응답 시간 수치를 확정 요구사항으로 쓰지 않습니다. 검색 지연, 데이터 증가, 외부 API 비용, 백업·복구는 베타와 운영 중 측정하거나 출시 전에 검증해야 합니다.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7. 성능 및 볼륨 고려사항 (1/2)</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95"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1175657"/>
                <a:gridCol w="3526971"/>
                <a:gridCol w="3526971"/>
              </a:tblGrid>
              <a:tr h="0">
                <a:tc>
                  <a:txBody>
                    <a:bodyPr/>
                    <a:lstStyle/>
                    <a:p>
                      <a:pPr indent="0" marL="0">
                        <a:buNone/>
                      </a:pPr>
                      <a:r>
                        <a:rPr lang="en-US" sz="1200" b="1" dirty="0">
                          <a:solidFill>
                            <a:srgbClr val="FFFFFF"/>
                          </a:solidFill>
                        </a:rPr>
                        <a:t>항목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회의에서 </a:t>
                      </a:r>
                      <a:pPr indent="0" marL="0">
                        <a:buNone/>
                      </a:pPr>
                      <a:r>
                        <a:rPr lang="en-US" sz="1200" b="1" dirty="0">
                          <a:solidFill>
                            <a:srgbClr val="FFFFFF"/>
                          </a:solidFill>
                        </a:rPr>
                        <a:t>나온 </a:t>
                      </a:r>
                      <a:pPr indent="0" marL="0">
                        <a:buNone/>
                      </a:pPr>
                      <a:r>
                        <a:rPr lang="en-US" sz="1200" b="1" dirty="0">
                          <a:solidFill>
                            <a:srgbClr val="FFFFFF"/>
                          </a:solidFill>
                        </a:rPr>
                        <a:t>기준·상태</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대응 </a:t>
                      </a:r>
                      <a:pPr indent="0" marL="0">
                        <a:buNone/>
                      </a:pPr>
                      <a:r>
                        <a:rPr lang="en-US" sz="1200" b="1" dirty="0">
                          <a:solidFill>
                            <a:srgbClr val="FFFFFF"/>
                          </a:solidFill>
                        </a:rPr>
                        <a:t>방안</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음식 </a:t>
                      </a:r>
                      <a:pPr indent="0" marL="0">
                        <a:buNone/>
                      </a:pPr>
                      <a:r>
                        <a:rPr lang="en-US" sz="1100" dirty="0">
                          <a:solidFill>
                            <a:srgbClr val="1F2937"/>
                          </a:solidFill>
                        </a:rPr>
                        <a:t>검색 </a:t>
                      </a:r>
                      <a:pPr indent="0" marL="0">
                        <a:buNone/>
                      </a:pPr>
                      <a:r>
                        <a:rPr lang="en-US" sz="1100" dirty="0">
                          <a:solidFill>
                            <a:srgbClr val="1F2937"/>
                          </a:solidFill>
                        </a:rPr>
                        <a:t>대기 </a:t>
                      </a:r>
                      <a:pPr indent="0" marL="0">
                        <a:buNone/>
                      </a:pPr>
                      <a:r>
                        <a:rPr lang="en-US" sz="1100" dirty="0">
                          <a:solidFill>
                            <a:srgbClr val="1F2937"/>
                          </a:solidFill>
                        </a:rPr>
                        <a:t>시간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입력 </a:t>
                      </a:r>
                      <a:pPr indent="0" marL="0">
                        <a:buNone/>
                      </a:pPr>
                      <a:r>
                        <a:rPr lang="en-US" sz="1100" dirty="0">
                          <a:solidFill>
                            <a:srgbClr val="1F2937"/>
                          </a:solidFill>
                        </a:rPr>
                        <a:t>후 </a:t>
                      </a:r>
                      <a:pPr indent="0" marL="0">
                        <a:buNone/>
                      </a:pPr>
                      <a:r>
                        <a:rPr lang="en-US" sz="1100" dirty="0">
                          <a:solidFill>
                            <a:srgbClr val="1F2937"/>
                          </a:solidFill>
                        </a:rPr>
                        <a:t>약 </a:t>
                      </a:r>
                      <a:pPr indent="0" marL="0">
                        <a:buNone/>
                      </a:pPr>
                      <a:r>
                        <a:rPr lang="en-US" sz="1100" dirty="0">
                          <a:solidFill>
                            <a:srgbClr val="1F2937"/>
                          </a:solidFill>
                        </a:rPr>
                        <a:t>350밀리초 </a:t>
                      </a:r>
                      <a:pPr indent="0" marL="0">
                        <a:buNone/>
                      </a:pPr>
                      <a:r>
                        <a:rPr lang="en-US" sz="1100" dirty="0">
                          <a:solidFill>
                            <a:srgbClr val="1F2937"/>
                          </a:solidFill>
                        </a:rPr>
                        <a:t>디바운스 </a:t>
                      </a:r>
                      <a:pPr indent="0" marL="0">
                        <a:buNone/>
                      </a:pPr>
                      <a:r>
                        <a:rPr lang="en-US" sz="1100" dirty="0">
                          <a:solidFill>
                            <a:srgbClr val="1F2937"/>
                          </a:solidFill>
                        </a:rPr>
                        <a:t>적용 </a:t>
                      </a:r>
                      <a:pPr indent="0" marL="0">
                        <a:buNone/>
                      </a:pPr>
                      <a:r>
                        <a:rPr lang="en-US" sz="1100" dirty="0">
                          <a:solidFill>
                            <a:srgbClr val="1F2937"/>
                          </a:solidFill>
                        </a:rPr>
                        <a:t>방향으로 </a:t>
                      </a:r>
                      <a:pPr indent="0" marL="0">
                        <a:buNone/>
                      </a:pPr>
                      <a:r>
                        <a:rPr lang="en-US" sz="1100" dirty="0">
                          <a:solidFill>
                            <a:srgbClr val="1F2937"/>
                          </a:solidFill>
                        </a:rPr>
                        <a:t>최종 </a:t>
                      </a:r>
                      <a:pPr indent="0" marL="0">
                        <a:buNone/>
                      </a:pPr>
                      <a:r>
                        <a:rPr lang="en-US" sz="1100" dirty="0">
                          <a:solidFill>
                            <a:srgbClr val="1F2937"/>
                          </a:solidFill>
                        </a:rPr>
                        <a:t>논의. </a:t>
                      </a:r>
                      <a:pPr indent="0" marL="0">
                        <a:buNone/>
                      </a:pPr>
                      <a:r>
                        <a:rPr lang="en-US" sz="1100" dirty="0">
                          <a:solidFill>
                            <a:srgbClr val="1F2937"/>
                          </a:solidFill>
                        </a:rPr>
                        <a:t>앞선 </a:t>
                      </a:r>
                      <a:pPr indent="0" marL="0">
                        <a:buNone/>
                      </a:pPr>
                      <a:r>
                        <a:rPr lang="en-US" sz="1100" dirty="0">
                          <a:solidFill>
                            <a:srgbClr val="1F2937"/>
                          </a:solidFill>
                        </a:rPr>
                        <a:t>논의에는 </a:t>
                      </a:r>
                      <a:pPr indent="0" marL="0">
                        <a:buNone/>
                      </a:pPr>
                      <a:r>
                        <a:rPr lang="en-US" sz="1100" dirty="0">
                          <a:solidFill>
                            <a:srgbClr val="1F2937"/>
                          </a:solidFill>
                        </a:rPr>
                        <a:t>300밀리초도 </a:t>
                      </a:r>
                      <a:pPr indent="0" marL="0">
                        <a:buNone/>
                      </a:pPr>
                      <a:r>
                        <a:rPr lang="en-US" sz="1100" dirty="0">
                          <a:solidFill>
                            <a:srgbClr val="1F2937"/>
                          </a:solidFill>
                        </a:rPr>
                        <a:t>있어 </a:t>
                      </a:r>
                      <a:pPr indent="0" marL="0">
                        <a:buNone/>
                      </a:pPr>
                      <a:r>
                        <a:rPr lang="en-US" sz="1100" dirty="0">
                          <a:solidFill>
                            <a:srgbClr val="1F2937"/>
                          </a:solidFill>
                        </a:rPr>
                        <a:t>기준 </a:t>
                      </a:r>
                      <a:pPr indent="0" marL="0">
                        <a:buNone/>
                      </a:pPr>
                      <a:r>
                        <a:rPr lang="en-US" sz="1100" dirty="0">
                          <a:solidFill>
                            <a:srgbClr val="1F2937"/>
                          </a:solidFill>
                        </a:rPr>
                        <a:t>정합성 </a:t>
                      </a:r>
                      <a:pPr indent="0" marL="0">
                        <a:buNone/>
                      </a:pPr>
                      <a:r>
                        <a:rPr lang="en-US" sz="1100" dirty="0">
                          <a:solidFill>
                            <a:srgbClr val="1F2937"/>
                          </a:solidFill>
                        </a:rPr>
                        <a:t>확인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구현 </a:t>
                      </a:r>
                      <a:pPr indent="0" marL="0">
                        <a:buNone/>
                      </a:pPr>
                      <a:r>
                        <a:rPr lang="en-US" sz="1100" dirty="0">
                          <a:solidFill>
                            <a:srgbClr val="1F2937"/>
                          </a:solidFill>
                        </a:rPr>
                        <a:t>기준을 </a:t>
                      </a:r>
                      <a:pPr indent="0" marL="0">
                        <a:buNone/>
                      </a:pPr>
                      <a:r>
                        <a:rPr lang="en-US" sz="1100" dirty="0">
                          <a:solidFill>
                            <a:srgbClr val="1F2937"/>
                          </a:solidFill>
                        </a:rPr>
                        <a:t>한 </a:t>
                      </a:r>
                      <a:pPr indent="0" marL="0">
                        <a:buNone/>
                      </a:pPr>
                      <a:r>
                        <a:rPr lang="en-US" sz="1100" dirty="0">
                          <a:solidFill>
                            <a:srgbClr val="1F2937"/>
                          </a:solidFill>
                        </a:rPr>
                        <a:t>값으로 </a:t>
                      </a:r>
                      <a:pPr indent="0" marL="0">
                        <a:buNone/>
                      </a:pPr>
                      <a:r>
                        <a:rPr lang="en-US" sz="1100" dirty="0">
                          <a:solidFill>
                            <a:srgbClr val="1F2937"/>
                          </a:solidFill>
                        </a:rPr>
                        <a:t>확정. </a:t>
                      </a:r>
                      <a:pPr indent="0" marL="0">
                        <a:buNone/>
                      </a:pPr>
                      <a:r>
                        <a:rPr lang="en-US" sz="1100" dirty="0">
                          <a:solidFill>
                            <a:srgbClr val="1F2937"/>
                          </a:solidFill>
                        </a:rPr>
                        <a:t>이전 </a:t>
                      </a:r>
                      <a:pPr indent="0" marL="0">
                        <a:buNone/>
                      </a:pPr>
                      <a:r>
                        <a:rPr lang="en-US" sz="1100" dirty="0">
                          <a:solidFill>
                            <a:srgbClr val="1F2937"/>
                          </a:solidFill>
                        </a:rPr>
                        <a:t>요청 </a:t>
                      </a:r>
                      <a:pPr indent="0" marL="0">
                        <a:buNone/>
                      </a:pPr>
                      <a:r>
                        <a:rPr lang="en-US" sz="1100" dirty="0">
                          <a:solidFill>
                            <a:srgbClr val="1F2937"/>
                          </a:solidFill>
                        </a:rPr>
                        <a:t>응답 </a:t>
                      </a:r>
                      <a:pPr indent="0" marL="0">
                        <a:buNone/>
                      </a:pPr>
                      <a:r>
                        <a:rPr lang="en-US" sz="1100" dirty="0">
                          <a:solidFill>
                            <a:srgbClr val="1F2937"/>
                          </a:solidFill>
                        </a:rPr>
                        <a:t>무시, </a:t>
                      </a:r>
                      <a:pPr indent="0" marL="0">
                        <a:buNone/>
                      </a:pPr>
                      <a:r>
                        <a:rPr lang="en-US" sz="1100" dirty="0">
                          <a:solidFill>
                            <a:srgbClr val="1F2937"/>
                          </a:solidFill>
                        </a:rPr>
                        <a:t>최근 </a:t>
                      </a:r>
                      <a:pPr indent="0" marL="0">
                        <a:buNone/>
                      </a:pPr>
                      <a:r>
                        <a:rPr lang="en-US" sz="1100" dirty="0">
                          <a:solidFill>
                            <a:srgbClr val="1F2937"/>
                          </a:solidFill>
                        </a:rPr>
                        <a:t>음식·캐시 </a:t>
                      </a:r>
                      <a:pPr indent="0" marL="0">
                        <a:buNone/>
                      </a:pPr>
                      <a:r>
                        <a:rPr lang="en-US" sz="1100" dirty="0">
                          <a:solidFill>
                            <a:srgbClr val="1F2937"/>
                          </a:solidFill>
                        </a:rPr>
                        <a:t>활용 </a:t>
                      </a:r>
                      <a:pPr indent="0" marL="0">
                        <a:buNone/>
                      </a:pPr>
                      <a:r>
                        <a:rPr lang="en-US" sz="1100" dirty="0">
                          <a:solidFill>
                            <a:srgbClr val="1F2937"/>
                          </a:solidFill>
                        </a:rPr>
                        <a:t>검토</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음식 </a:t>
                      </a:r>
                      <a:pPr indent="0" marL="0">
                        <a:buNone/>
                      </a:pPr>
                      <a:r>
                        <a:rPr lang="en-US" sz="1100" dirty="0">
                          <a:solidFill>
                            <a:srgbClr val="1F2937"/>
                          </a:solidFill>
                        </a:rPr>
                        <a:t>검색 </a:t>
                      </a:r>
                      <a:pPr indent="0" marL="0">
                        <a:buNone/>
                      </a:pPr>
                      <a:r>
                        <a:rPr lang="en-US" sz="1100" dirty="0">
                          <a:solidFill>
                            <a:srgbClr val="1F2937"/>
                          </a:solidFill>
                        </a:rPr>
                        <a:t>응답 </a:t>
                      </a:r>
                      <a:pPr indent="0" marL="0">
                        <a:buNone/>
                      </a:pPr>
                      <a:r>
                        <a:rPr lang="en-US" sz="1100" dirty="0">
                          <a:solidFill>
                            <a:srgbClr val="1F2937"/>
                          </a:solidFill>
                        </a:rPr>
                        <a:t>시간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대부분 </a:t>
                      </a:r>
                      <a:pPr indent="0" marL="0">
                        <a:buNone/>
                      </a:pPr>
                      <a:r>
                        <a:rPr lang="en-US" sz="1100" dirty="0">
                          <a:solidFill>
                            <a:srgbClr val="1F2937"/>
                          </a:solidFill>
                        </a:rPr>
                        <a:t>2초 </a:t>
                      </a:r>
                      <a:pPr indent="0" marL="0">
                        <a:buNone/>
                      </a:pPr>
                      <a:r>
                        <a:rPr lang="en-US" sz="1100" dirty="0">
                          <a:solidFill>
                            <a:srgbClr val="1F2937"/>
                          </a:solidFill>
                        </a:rPr>
                        <a:t>안에 </a:t>
                      </a:r>
                      <a:pPr indent="0" marL="0">
                        <a:buNone/>
                      </a:pPr>
                      <a:r>
                        <a:rPr lang="en-US" sz="1100" dirty="0">
                          <a:solidFill>
                            <a:srgbClr val="1F2937"/>
                          </a:solidFill>
                        </a:rPr>
                        <a:t>응답하도록 </a:t>
                      </a:r>
                      <a:pPr indent="0" marL="0">
                        <a:buNone/>
                      </a:pPr>
                      <a:r>
                        <a:rPr lang="en-US" sz="1100" dirty="0">
                          <a:solidFill>
                            <a:srgbClr val="1F2937"/>
                          </a:solidFill>
                        </a:rPr>
                        <a:t>하는 </a:t>
                      </a:r>
                      <a:pPr indent="0" marL="0">
                        <a:buNone/>
                      </a:pPr>
                      <a:r>
                        <a:rPr lang="en-US" sz="1100" dirty="0">
                          <a:solidFill>
                            <a:srgbClr val="1F2937"/>
                          </a:solidFill>
                        </a:rPr>
                        <a:t>목표가 </a:t>
                      </a:r>
                      <a:pPr indent="0" marL="0">
                        <a:buNone/>
                      </a:pPr>
                      <a:r>
                        <a:rPr lang="en-US" sz="1100" dirty="0">
                          <a:solidFill>
                            <a:srgbClr val="1F2937"/>
                          </a:solidFill>
                        </a:rPr>
                        <a:t>제안됨. </a:t>
                      </a:r>
                      <a:pPr indent="0" marL="0">
                        <a:buNone/>
                      </a:pPr>
                      <a:r>
                        <a:rPr lang="en-US" sz="1100" dirty="0">
                          <a:solidFill>
                            <a:srgbClr val="1F2937"/>
                          </a:solidFill>
                        </a:rPr>
                        <a:t>3초 </a:t>
                      </a:r>
                      <a:pPr indent="0" marL="0">
                        <a:buNone/>
                      </a:pPr>
                      <a:r>
                        <a:rPr lang="en-US" sz="1100" dirty="0">
                          <a:solidFill>
                            <a:srgbClr val="1F2937"/>
                          </a:solidFill>
                        </a:rPr>
                        <a:t>이상 </a:t>
                      </a:r>
                      <a:pPr indent="0" marL="0">
                        <a:buNone/>
                      </a:pPr>
                      <a:r>
                        <a:rPr lang="en-US" sz="1100" dirty="0">
                          <a:solidFill>
                            <a:srgbClr val="1F2937"/>
                          </a:solidFill>
                        </a:rPr>
                        <a:t>무응답 </a:t>
                      </a:r>
                      <a:pPr indent="0" marL="0">
                        <a:buNone/>
                      </a:pPr>
                      <a:r>
                        <a:rPr lang="en-US" sz="1100" dirty="0">
                          <a:solidFill>
                            <a:srgbClr val="1F2937"/>
                          </a:solidFill>
                        </a:rPr>
                        <a:t>시 </a:t>
                      </a:r>
                      <a:pPr indent="0" marL="0">
                        <a:buNone/>
                      </a:pPr>
                      <a:r>
                        <a:rPr lang="en-US" sz="1100" dirty="0">
                          <a:solidFill>
                            <a:srgbClr val="1F2937"/>
                          </a:solidFill>
                        </a:rPr>
                        <a:t>재시도 </a:t>
                      </a:r>
                      <a:pPr indent="0" marL="0">
                        <a:buNone/>
                      </a:pPr>
                      <a:r>
                        <a:rPr lang="en-US" sz="1100" dirty="0">
                          <a:solidFill>
                            <a:srgbClr val="1F2937"/>
                          </a:solidFill>
                        </a:rPr>
                        <a:t>안내가 </a:t>
                      </a:r>
                      <a:pPr indent="0" marL="0">
                        <a:buNone/>
                      </a:pPr>
                      <a:r>
                        <a:rPr lang="en-US" sz="1100" dirty="0">
                          <a:solidFill>
                            <a:srgbClr val="1F2937"/>
                          </a:solidFill>
                        </a:rPr>
                        <a:t>논의됨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실제 </a:t>
                      </a:r>
                      <a:pPr indent="0" marL="0">
                        <a:buNone/>
                      </a:pPr>
                      <a:r>
                        <a:rPr lang="en-US" sz="1100" dirty="0">
                          <a:solidFill>
                            <a:srgbClr val="1F2937"/>
                          </a:solidFill>
                        </a:rPr>
                        <a:t>공급자 </a:t>
                      </a:r>
                      <a:pPr indent="0" marL="0">
                        <a:buNone/>
                      </a:pPr>
                      <a:r>
                        <a:rPr lang="en-US" sz="1100" dirty="0">
                          <a:solidFill>
                            <a:srgbClr val="1F2937"/>
                          </a:solidFill>
                        </a:rPr>
                        <a:t>응답 </a:t>
                      </a:r>
                      <a:pPr indent="0" marL="0">
                        <a:buNone/>
                      </a:pPr>
                      <a:r>
                        <a:rPr lang="en-US" sz="1100" dirty="0">
                          <a:solidFill>
                            <a:srgbClr val="1F2937"/>
                          </a:solidFill>
                        </a:rPr>
                        <a:t>시간을 </a:t>
                      </a:r>
                      <a:pPr indent="0" marL="0">
                        <a:buNone/>
                      </a:pPr>
                      <a:r>
                        <a:rPr lang="en-US" sz="1100" dirty="0">
                          <a:solidFill>
                            <a:srgbClr val="1F2937"/>
                          </a:solidFill>
                        </a:rPr>
                        <a:t>검증. </a:t>
                      </a:r>
                      <a:pPr indent="0" marL="0">
                        <a:buNone/>
                      </a:pPr>
                      <a:r>
                        <a:rPr lang="en-US" sz="1100" dirty="0">
                          <a:solidFill>
                            <a:srgbClr val="1F2937"/>
                          </a:solidFill>
                        </a:rPr>
                        <a:t>검색어 </a:t>
                      </a:r>
                      <a:pPr indent="0" marL="0">
                        <a:buNone/>
                      </a:pPr>
                      <a:r>
                        <a:rPr lang="en-US" sz="1100" dirty="0">
                          <a:solidFill>
                            <a:srgbClr val="1F2937"/>
                          </a:solidFill>
                        </a:rPr>
                        <a:t>유지, </a:t>
                      </a:r>
                      <a:pPr indent="0" marL="0">
                        <a:buNone/>
                      </a:pPr>
                      <a:r>
                        <a:rPr lang="en-US" sz="1100" dirty="0">
                          <a:solidFill>
                            <a:srgbClr val="1F2937"/>
                          </a:solidFill>
                        </a:rPr>
                        <a:t>로딩 </a:t>
                      </a:r>
                      <a:pPr indent="0" marL="0">
                        <a:buNone/>
                      </a:pPr>
                      <a:r>
                        <a:rPr lang="en-US" sz="1100" dirty="0">
                          <a:solidFill>
                            <a:srgbClr val="1F2937"/>
                          </a:solidFill>
                        </a:rPr>
                        <a:t>표시, </a:t>
                      </a:r>
                      <a:pPr indent="0" marL="0">
                        <a:buNone/>
                      </a:pPr>
                      <a:r>
                        <a:rPr lang="en-US" sz="1100" dirty="0">
                          <a:solidFill>
                            <a:srgbClr val="1F2937"/>
                          </a:solidFill>
                        </a:rPr>
                        <a:t>결과 </a:t>
                      </a:r>
                      <a:pPr indent="0" marL="0">
                        <a:buNone/>
                      </a:pPr>
                      <a:r>
                        <a:rPr lang="en-US" sz="1100" dirty="0">
                          <a:solidFill>
                            <a:srgbClr val="1F2937"/>
                          </a:solidFill>
                        </a:rPr>
                        <a:t>없음과 </a:t>
                      </a:r>
                      <a:pPr indent="0" marL="0">
                        <a:buNone/>
                      </a:pPr>
                      <a:r>
                        <a:rPr lang="en-US" sz="1100" dirty="0">
                          <a:solidFill>
                            <a:srgbClr val="1F2937"/>
                          </a:solidFill>
                        </a:rPr>
                        <a:t>오류 </a:t>
                      </a:r>
                      <a:pPr indent="0" marL="0">
                        <a:buNone/>
                      </a:pPr>
                      <a:r>
                        <a:rPr lang="en-US" sz="1100" dirty="0">
                          <a:solidFill>
                            <a:srgbClr val="1F2937"/>
                          </a:solidFill>
                        </a:rPr>
                        <a:t>구분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검색 </a:t>
                      </a:r>
                      <a:pPr indent="0" marL="0">
                        <a:buNone/>
                      </a:pPr>
                      <a:r>
                        <a:rPr lang="en-US" sz="1100" dirty="0">
                          <a:solidFill>
                            <a:srgbClr val="1F2937"/>
                          </a:solidFill>
                        </a:rPr>
                        <a:t>API </a:t>
                      </a:r>
                      <a:pPr indent="0" marL="0">
                        <a:buNone/>
                      </a:pPr>
                      <a:r>
                        <a:rPr lang="en-US" sz="1100" dirty="0">
                          <a:solidFill>
                            <a:srgbClr val="1F2937"/>
                          </a:solidFill>
                        </a:rPr>
                        <a:t>요청량</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호출량 </a:t>
                      </a:r>
                      <a:pPr indent="0" marL="0">
                        <a:buNone/>
                      </a:pPr>
                      <a:r>
                        <a:rPr lang="en-US" sz="1100" dirty="0">
                          <a:solidFill>
                            <a:srgbClr val="1F2937"/>
                          </a:solidFill>
                        </a:rPr>
                        <a:t>한도와 </a:t>
                      </a:r>
                      <a:pPr indent="0" marL="0">
                        <a:buNone/>
                      </a:pPr>
                      <a:r>
                        <a:rPr lang="en-US" sz="1100" dirty="0">
                          <a:solidFill>
                            <a:srgbClr val="1F2937"/>
                          </a:solidFill>
                        </a:rPr>
                        <a:t>비용은 </a:t>
                      </a:r>
                      <a:pPr indent="0" marL="0">
                        <a:buNone/>
                      </a:pPr>
                      <a:r>
                        <a:rPr lang="en-US" sz="1100" dirty="0">
                          <a:solidFill>
                            <a:srgbClr val="1F2937"/>
                          </a:solidFill>
                        </a:rPr>
                        <a:t>외부 </a:t>
                      </a:r>
                      <a:pPr indent="0" marL="0">
                        <a:buNone/>
                      </a:pPr>
                      <a:r>
                        <a:rPr lang="en-US" sz="1100" dirty="0">
                          <a:solidFill>
                            <a:srgbClr val="1F2937"/>
                          </a:solidFill>
                        </a:rPr>
                        <a:t>공급자 </a:t>
                      </a:r>
                      <a:pPr indent="0" marL="0">
                        <a:buNone/>
                      </a:pPr>
                      <a:r>
                        <a:rPr lang="en-US" sz="1100" dirty="0">
                          <a:solidFill>
                            <a:srgbClr val="1F2937"/>
                          </a:solidFill>
                        </a:rPr>
                        <a:t>계약 </a:t>
                      </a:r>
                      <a:pPr indent="0" marL="0">
                        <a:buNone/>
                      </a:pPr>
                      <a:r>
                        <a:rPr lang="en-US" sz="1100" dirty="0">
                          <a:solidFill>
                            <a:srgbClr val="1F2937"/>
                          </a:solidFill>
                        </a:rPr>
                        <a:t>확인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프록시 </a:t>
                      </a:r>
                      <a:pPr indent="0" marL="0">
                        <a:buNone/>
                      </a:pPr>
                      <a:r>
                        <a:rPr lang="en-US" sz="1100" dirty="0">
                          <a:solidFill>
                            <a:srgbClr val="1F2937"/>
                          </a:solidFill>
                        </a:rPr>
                        <a:t>서버에서 </a:t>
                      </a:r>
                      <a:pPr indent="0" marL="0">
                        <a:buNone/>
                      </a:pPr>
                      <a:r>
                        <a:rPr lang="en-US" sz="1100" dirty="0">
                          <a:solidFill>
                            <a:srgbClr val="1F2937"/>
                          </a:solidFill>
                        </a:rPr>
                        <a:t>호출량 </a:t>
                      </a:r>
                      <a:pPr indent="0" marL="0">
                        <a:buNone/>
                      </a:pPr>
                      <a:r>
                        <a:rPr lang="en-US" sz="1100" dirty="0">
                          <a:solidFill>
                            <a:srgbClr val="1F2937"/>
                          </a:solidFill>
                        </a:rPr>
                        <a:t>제한·사용량 </a:t>
                      </a:r>
                      <a:pPr indent="0" marL="0">
                        <a:buNone/>
                      </a:pPr>
                      <a:r>
                        <a:rPr lang="en-US" sz="1100" dirty="0">
                          <a:solidFill>
                            <a:srgbClr val="1F2937"/>
                          </a:solidFill>
                        </a:rPr>
                        <a:t>알림 </a:t>
                      </a:r>
                      <a:pPr indent="0" marL="0">
                        <a:buNone/>
                      </a:pPr>
                      <a:r>
                        <a:rPr lang="en-US" sz="1100" dirty="0">
                          <a:solidFill>
                            <a:srgbClr val="1F2937"/>
                          </a:solidFill>
                        </a:rPr>
                        <a:t>검토. </a:t>
                      </a:r>
                      <a:pPr indent="0" marL="0">
                        <a:buNone/>
                      </a:pPr>
                      <a:r>
                        <a:rPr lang="en-US" sz="1100" dirty="0">
                          <a:solidFill>
                            <a:srgbClr val="1F2937"/>
                          </a:solidFill>
                        </a:rPr>
                        <a:t>캐시 </a:t>
                      </a:r>
                      <a:pPr indent="0" marL="0">
                        <a:buNone/>
                      </a:pPr>
                      <a:r>
                        <a:rPr lang="en-US" sz="1100" dirty="0">
                          <a:solidFill>
                            <a:srgbClr val="1F2937"/>
                          </a:solidFill>
                        </a:rPr>
                        <a:t>허용 </a:t>
                      </a:r>
                      <a:pPr indent="0" marL="0">
                        <a:buNone/>
                      </a:pPr>
                      <a:r>
                        <a:rPr lang="en-US" sz="1100" dirty="0">
                          <a:solidFill>
                            <a:srgbClr val="1F2937"/>
                          </a:solidFill>
                        </a:rPr>
                        <a:t>기간은 </a:t>
                      </a:r>
                      <a:pPr indent="0" marL="0">
                        <a:buNone/>
                      </a:pPr>
                      <a:r>
                        <a:rPr lang="en-US" sz="1100" dirty="0">
                          <a:solidFill>
                            <a:srgbClr val="1F2937"/>
                          </a:solidFill>
                        </a:rPr>
                        <a:t>계약 </a:t>
                      </a:r>
                      <a:pPr indent="0" marL="0">
                        <a:buNone/>
                      </a:pPr>
                      <a:r>
                        <a:rPr lang="en-US" sz="1100" dirty="0">
                          <a:solidFill>
                            <a:srgbClr val="1F2937"/>
                          </a:solidFill>
                        </a:rPr>
                        <a:t>확인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기록 </a:t>
                      </a:r>
                      <a:pPr indent="0" marL="0">
                        <a:buNone/>
                      </a:pPr>
                      <a:r>
                        <a:rPr lang="en-US" sz="1100" dirty="0">
                          <a:solidFill>
                            <a:srgbClr val="1F2937"/>
                          </a:solidFill>
                        </a:rPr>
                        <a:t>저장 </a:t>
                      </a:r>
                      <a:pPr indent="0" marL="0">
                        <a:buNone/>
                      </a:pPr>
                      <a:r>
                        <a:rPr lang="en-US" sz="1100" dirty="0">
                          <a:solidFill>
                            <a:srgbClr val="1F2937"/>
                          </a:solidFill>
                        </a:rPr>
                        <a:t>신뢰성</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치명적인 </a:t>
                      </a:r>
                      <a:pPr indent="0" marL="0">
                        <a:buNone/>
                      </a:pPr>
                      <a:r>
                        <a:rPr lang="en-US" sz="1100" dirty="0">
                          <a:solidFill>
                            <a:srgbClr val="1F2937"/>
                          </a:solidFill>
                        </a:rPr>
                        <a:t>데이터 </a:t>
                      </a:r>
                      <a:pPr indent="0" marL="0">
                        <a:buNone/>
                      </a:pPr>
                      <a:r>
                        <a:rPr lang="en-US" sz="1100" dirty="0">
                          <a:solidFill>
                            <a:srgbClr val="1F2937"/>
                          </a:solidFill>
                        </a:rPr>
                        <a:t>유실 </a:t>
                      </a:r>
                      <a:pPr indent="0" marL="0">
                        <a:buNone/>
                      </a:pPr>
                      <a:r>
                        <a:rPr lang="en-US" sz="1100" dirty="0">
                          <a:solidFill>
                            <a:srgbClr val="1F2937"/>
                          </a:solidFill>
                        </a:rPr>
                        <a:t>0건이 </a:t>
                      </a:r>
                      <a:pPr indent="0" marL="0">
                        <a:buNone/>
                      </a:pPr>
                      <a:r>
                        <a:rPr lang="en-US" sz="1100" dirty="0">
                          <a:solidFill>
                            <a:srgbClr val="1F2937"/>
                          </a:solidFill>
                        </a:rPr>
                        <a:t>베타 </a:t>
                      </a:r>
                      <a:pPr indent="0" marL="0">
                        <a:buNone/>
                      </a:pPr>
                      <a:r>
                        <a:rPr lang="en-US" sz="1100" dirty="0">
                          <a:solidFill>
                            <a:srgbClr val="1F2937"/>
                          </a:solidFill>
                        </a:rPr>
                        <a:t>품질 </a:t>
                      </a:r>
                      <a:pPr indent="0" marL="0">
                        <a:buNone/>
                      </a:pPr>
                      <a:r>
                        <a:rPr lang="en-US" sz="1100" dirty="0">
                          <a:solidFill>
                            <a:srgbClr val="1F2937"/>
                          </a:solidFill>
                        </a:rPr>
                        <a:t>목표로 </a:t>
                      </a:r>
                      <a:pPr indent="0" marL="0">
                        <a:buNone/>
                      </a:pPr>
                      <a:r>
                        <a:rPr lang="en-US" sz="1100" dirty="0">
                          <a:solidFill>
                            <a:srgbClr val="1F2937"/>
                          </a:solidFill>
                        </a:rPr>
                        <a:t>제안됨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저장 </a:t>
                      </a:r>
                      <a:pPr indent="0" marL="0">
                        <a:buNone/>
                      </a:pPr>
                      <a:r>
                        <a:rPr lang="en-US" sz="1100" dirty="0">
                          <a:solidFill>
                            <a:srgbClr val="1F2937"/>
                          </a:solidFill>
                        </a:rPr>
                        <a:t>중·성공·실패 </a:t>
                      </a:r>
                      <a:pPr indent="0" marL="0">
                        <a:buNone/>
                      </a:pPr>
                      <a:r>
                        <a:rPr lang="en-US" sz="1100" dirty="0">
                          <a:solidFill>
                            <a:srgbClr val="1F2937"/>
                          </a:solidFill>
                        </a:rPr>
                        <a:t>상태 </a:t>
                      </a:r>
                      <a:pPr indent="0" marL="0">
                        <a:buNone/>
                      </a:pPr>
                      <a:r>
                        <a:rPr lang="en-US" sz="1100" dirty="0">
                          <a:solidFill>
                            <a:srgbClr val="1F2937"/>
                          </a:solidFill>
                        </a:rPr>
                        <a:t>표시, </a:t>
                      </a:r>
                      <a:pPr indent="0" marL="0">
                        <a:buNone/>
                      </a:pPr>
                      <a:r>
                        <a:rPr lang="en-US" sz="1100" dirty="0">
                          <a:solidFill>
                            <a:srgbClr val="1F2937"/>
                          </a:solidFill>
                        </a:rPr>
                        <a:t>실패 </a:t>
                      </a:r>
                      <a:pPr indent="0" marL="0">
                        <a:buNone/>
                      </a:pPr>
                      <a:r>
                        <a:rPr lang="en-US" sz="1100" dirty="0">
                          <a:solidFill>
                            <a:srgbClr val="1F2937"/>
                          </a:solidFill>
                        </a:rPr>
                        <a:t>시 </a:t>
                      </a:r>
                      <a:pPr indent="0" marL="0">
                        <a:buNone/>
                      </a:pPr>
                      <a:r>
                        <a:rPr lang="en-US" sz="1100" dirty="0">
                          <a:solidFill>
                            <a:srgbClr val="1F2937"/>
                          </a:solidFill>
                        </a:rPr>
                        <a:t>입력값 </a:t>
                      </a:r>
                      <a:pPr indent="0" marL="0">
                        <a:buNone/>
                      </a:pPr>
                      <a:r>
                        <a:rPr lang="en-US" sz="1100" dirty="0">
                          <a:solidFill>
                            <a:srgbClr val="1F2937"/>
                          </a:solidFill>
                        </a:rPr>
                        <a:t>유지, </a:t>
                      </a:r>
                      <a:pPr indent="0" marL="0">
                        <a:buNone/>
                      </a:pPr>
                      <a:r>
                        <a:rPr lang="en-US" sz="1100" dirty="0">
                          <a:solidFill>
                            <a:srgbClr val="1F2937"/>
                          </a:solidFill>
                        </a:rPr>
                        <a:t>요청 </a:t>
                      </a:r>
                      <a:pPr indent="0" marL="0">
                        <a:buNone/>
                      </a:pPr>
                      <a:r>
                        <a:rPr lang="en-US" sz="1100" dirty="0">
                          <a:solidFill>
                            <a:srgbClr val="1F2937"/>
                          </a:solidFill>
                        </a:rPr>
                        <a:t>ID </a:t>
                      </a:r>
                      <a:pPr indent="0" marL="0">
                        <a:buNone/>
                      </a:pPr>
                      <a:r>
                        <a:rPr lang="en-US" sz="1100" dirty="0">
                          <a:solidFill>
                            <a:srgbClr val="1F2937"/>
                          </a:solidFill>
                        </a:rPr>
                        <a:t>기반 </a:t>
                      </a:r>
                      <a:pPr indent="0" marL="0">
                        <a:buNone/>
                      </a:pPr>
                      <a:r>
                        <a:rPr lang="en-US" sz="1100" dirty="0">
                          <a:solidFill>
                            <a:srgbClr val="1F2937"/>
                          </a:solidFill>
                        </a:rPr>
                        <a:t>중복 </a:t>
                      </a:r>
                      <a:pPr indent="0" marL="0">
                        <a:buNone/>
                      </a:pPr>
                      <a:r>
                        <a:rPr lang="en-US" sz="1100" dirty="0">
                          <a:solidFill>
                            <a:srgbClr val="1F2937"/>
                          </a:solidFill>
                        </a:rPr>
                        <a:t>방지 </a:t>
                      </a:r>
                      <a:pPr indent="0" marL="0">
                        <a:buNone/>
                      </a:pPr>
                      <a:r>
                        <a:rPr lang="en-US" sz="1100" dirty="0">
                          <a:solidFill>
                            <a:srgbClr val="1F2937"/>
                          </a:solidFill>
                        </a:rPr>
                        <a:t>검토</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오프라인 </a:t>
                      </a:r>
                      <a:pPr indent="0" marL="0">
                        <a:buNone/>
                      </a:pPr>
                      <a:r>
                        <a:rPr lang="en-US" sz="1100" dirty="0">
                          <a:solidFill>
                            <a:srgbClr val="1F2937"/>
                          </a:solidFill>
                        </a:rPr>
                        <a:t>상태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완전한 </a:t>
                      </a:r>
                      <a:pPr indent="0" marL="0">
                        <a:buNone/>
                      </a:pPr>
                      <a:r>
                        <a:rPr lang="en-US" sz="1100" dirty="0">
                          <a:solidFill>
                            <a:srgbClr val="1F2937"/>
                          </a:solidFill>
                        </a:rPr>
                        <a:t>오프라인 </a:t>
                      </a:r>
                      <a:pPr indent="0" marL="0">
                        <a:buNone/>
                      </a:pPr>
                      <a:r>
                        <a:rPr lang="en-US" sz="1100" dirty="0">
                          <a:solidFill>
                            <a:srgbClr val="1F2937"/>
                          </a:solidFill>
                        </a:rPr>
                        <a:t>동기화는 </a:t>
                      </a:r>
                      <a:pPr indent="0" marL="0">
                        <a:buNone/>
                      </a:pPr>
                      <a:r>
                        <a:rPr lang="en-US" sz="1100" dirty="0">
                          <a:solidFill>
                            <a:srgbClr val="1F2937"/>
                          </a:solidFill>
                        </a:rPr>
                        <a:t>MVP에서 </a:t>
                      </a:r>
                      <a:pPr indent="0" marL="0">
                        <a:buNone/>
                      </a:pPr>
                      <a:r>
                        <a:rPr lang="en-US" sz="1100" dirty="0">
                          <a:solidFill>
                            <a:srgbClr val="1F2937"/>
                          </a:solidFill>
                        </a:rPr>
                        <a:t>제외하는 </a:t>
                      </a:r>
                      <a:pPr indent="0" marL="0">
                        <a:buNone/>
                      </a:pPr>
                      <a:r>
                        <a:rPr lang="en-US" sz="1100" dirty="0">
                          <a:solidFill>
                            <a:srgbClr val="1F2937"/>
                          </a:solidFill>
                        </a:rPr>
                        <a:t>방향</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최근 </a:t>
                      </a:r>
                      <a:pPr indent="0" marL="0">
                        <a:buNone/>
                      </a:pPr>
                      <a:r>
                        <a:rPr lang="en-US" sz="1100" dirty="0">
                          <a:solidFill>
                            <a:srgbClr val="1F2937"/>
                          </a:solidFill>
                        </a:rPr>
                        <a:t>음식 </a:t>
                      </a:r>
                      <a:pPr indent="0" marL="0">
                        <a:buNone/>
                      </a:pPr>
                      <a:r>
                        <a:rPr lang="en-US" sz="1100" dirty="0">
                          <a:solidFill>
                            <a:srgbClr val="1F2937"/>
                          </a:solidFill>
                        </a:rPr>
                        <a:t>활용, </a:t>
                      </a:r>
                      <a:pPr indent="0" marL="0">
                        <a:buNone/>
                      </a:pPr>
                      <a:r>
                        <a:rPr lang="en-US" sz="1100" dirty="0">
                          <a:solidFill>
                            <a:srgbClr val="1F2937"/>
                          </a:solidFill>
                        </a:rPr>
                        <a:t>입력 </a:t>
                      </a:r>
                      <a:pPr indent="0" marL="0">
                        <a:buNone/>
                      </a:pPr>
                      <a:r>
                        <a:rPr lang="en-US" sz="1100" dirty="0">
                          <a:solidFill>
                            <a:srgbClr val="1F2937"/>
                          </a:solidFill>
                        </a:rPr>
                        <a:t>중 </a:t>
                      </a:r>
                      <a:pPr indent="0" marL="0">
                        <a:buNone/>
                      </a:pPr>
                      <a:r>
                        <a:rPr lang="en-US" sz="1100" dirty="0">
                          <a:solidFill>
                            <a:srgbClr val="1F2937"/>
                          </a:solidFill>
                        </a:rPr>
                        <a:t>임시 </a:t>
                      </a:r>
                      <a:pPr indent="0" marL="0">
                        <a:buNone/>
                      </a:pPr>
                      <a:r>
                        <a:rPr lang="en-US" sz="1100" dirty="0">
                          <a:solidFill>
                            <a:srgbClr val="1F2937"/>
                          </a:solidFill>
                        </a:rPr>
                        <a:t>보존·재시도 </a:t>
                      </a:r>
                      <a:pPr indent="0" marL="0">
                        <a:buNone/>
                      </a:pPr>
                      <a:r>
                        <a:rPr lang="en-US" sz="1100" dirty="0">
                          <a:solidFill>
                            <a:srgbClr val="1F2937"/>
                          </a:solidFill>
                        </a:rPr>
                        <a:t>가능성의 </a:t>
                      </a:r>
                      <a:pPr indent="0" marL="0">
                        <a:buNone/>
                      </a:pPr>
                      <a:r>
                        <a:rPr lang="en-US" sz="1100" dirty="0">
                          <a:solidFill>
                            <a:srgbClr val="1F2937"/>
                          </a:solidFill>
                        </a:rPr>
                        <a:t>구현 </a:t>
                      </a:r>
                      <a:pPr indent="0" marL="0">
                        <a:buNone/>
                      </a:pPr>
                      <a:r>
                        <a:rPr lang="en-US" sz="1100" dirty="0">
                          <a:solidFill>
                            <a:srgbClr val="1F2937"/>
                          </a:solidFill>
                        </a:rPr>
                        <a:t>난이도 </a:t>
                      </a:r>
                      <a:pPr indent="0" marL="0">
                        <a:buNone/>
                      </a:pPr>
                      <a:r>
                        <a:rPr lang="en-US" sz="1100" dirty="0">
                          <a:solidFill>
                            <a:srgbClr val="1F2937"/>
                          </a:solidFill>
                        </a:rPr>
                        <a:t>산정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리포트 </a:t>
                      </a:r>
                      <a:pPr indent="0" marL="0">
                        <a:buNone/>
                      </a:pPr>
                      <a:r>
                        <a:rPr lang="en-US" sz="1100" dirty="0">
                          <a:solidFill>
                            <a:srgbClr val="1F2937"/>
                          </a:solidFill>
                        </a:rPr>
                        <a:t>계산</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화면 </a:t>
                      </a:r>
                      <a:pPr indent="0" marL="0">
                        <a:buNone/>
                      </a:pPr>
                      <a:r>
                        <a:rPr lang="en-US" sz="1100" dirty="0">
                          <a:solidFill>
                            <a:srgbClr val="1F2937"/>
                          </a:solidFill>
                        </a:rPr>
                        <a:t>진입 </a:t>
                      </a:r>
                      <a:pPr indent="0" marL="0">
                        <a:buNone/>
                      </a:pPr>
                      <a:r>
                        <a:rPr lang="en-US" sz="1100" dirty="0">
                          <a:solidFill>
                            <a:srgbClr val="1F2937"/>
                          </a:solidFill>
                        </a:rPr>
                        <a:t>시 </a:t>
                      </a:r>
                      <a:pPr indent="0" marL="0">
                        <a:buNone/>
                      </a:pPr>
                      <a:r>
                        <a:rPr lang="en-US" sz="1100" dirty="0">
                          <a:solidFill>
                            <a:srgbClr val="1F2937"/>
                          </a:solidFill>
                        </a:rPr>
                        <a:t>온디맨드 </a:t>
                      </a:r>
                      <a:pPr indent="0" marL="0">
                        <a:buNone/>
                      </a:pPr>
                      <a:r>
                        <a:rPr lang="en-US" sz="1100" dirty="0">
                          <a:solidFill>
                            <a:srgbClr val="1F2937"/>
                          </a:solidFill>
                        </a:rPr>
                        <a:t>계산. </a:t>
                      </a:r>
                      <a:pPr indent="0" marL="0">
                        <a:buNone/>
                      </a:pPr>
                      <a:r>
                        <a:rPr lang="en-US" sz="1100" dirty="0">
                          <a:solidFill>
                            <a:srgbClr val="1F2937"/>
                          </a:solidFill>
                        </a:rPr>
                        <a:t>초기에는 </a:t>
                      </a:r>
                      <a:pPr indent="0" marL="0">
                        <a:buNone/>
                      </a:pPr>
                      <a:r>
                        <a:rPr lang="en-US" sz="1100" dirty="0">
                          <a:solidFill>
                            <a:srgbClr val="1F2937"/>
                          </a:solidFill>
                        </a:rPr>
                        <a:t>별도 </a:t>
                      </a:r>
                      <a:pPr indent="0" marL="0">
                        <a:buNone/>
                      </a:pPr>
                      <a:r>
                        <a:rPr lang="en-US" sz="1100" dirty="0">
                          <a:solidFill>
                            <a:srgbClr val="1F2937"/>
                          </a:solidFill>
                        </a:rPr>
                        <a:t>배치 </a:t>
                      </a:r>
                      <a:pPr indent="0" marL="0">
                        <a:buNone/>
                      </a:pPr>
                      <a:r>
                        <a:rPr lang="en-US" sz="1100" dirty="0">
                          <a:solidFill>
                            <a:srgbClr val="1F2937"/>
                          </a:solidFill>
                        </a:rPr>
                        <a:t>작업 </a:t>
                      </a:r>
                      <a:pPr indent="0" marL="0">
                        <a:buNone/>
                      </a:pPr>
                      <a:r>
                        <a:rPr lang="en-US" sz="1100" dirty="0">
                          <a:solidFill>
                            <a:srgbClr val="1F2937"/>
                          </a:solidFill>
                        </a:rPr>
                        <a:t>없이 </a:t>
                      </a:r>
                      <a:pPr indent="0" marL="0">
                        <a:buNone/>
                      </a:pPr>
                      <a:r>
                        <a:rPr lang="en-US" sz="1100" dirty="0">
                          <a:solidFill>
                            <a:srgbClr val="1F2937"/>
                          </a:solidFill>
                        </a:rPr>
                        <a:t>운영하는 </a:t>
                      </a:r>
                      <a:pPr indent="0" marL="0">
                        <a:buNone/>
                      </a:pPr>
                      <a:r>
                        <a:rPr lang="en-US" sz="1100" dirty="0">
                          <a:solidFill>
                            <a:srgbClr val="1F2937"/>
                          </a:solidFill>
                        </a:rPr>
                        <a:t>방향</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섭취 </a:t>
                      </a:r>
                      <a:pPr indent="0" marL="0">
                        <a:buNone/>
                      </a:pPr>
                      <a:r>
                        <a:rPr lang="en-US" sz="1100" dirty="0">
                          <a:solidFill>
                            <a:srgbClr val="1F2937"/>
                          </a:solidFill>
                        </a:rPr>
                        <a:t>날짜 </a:t>
                      </a:r>
                      <a:pPr indent="0" marL="0">
                        <a:buNone/>
                      </a:pPr>
                      <a:r>
                        <a:rPr lang="en-US" sz="1100" dirty="0">
                          <a:solidFill>
                            <a:srgbClr val="1F2937"/>
                          </a:solidFill>
                        </a:rPr>
                        <a:t>기준 </a:t>
                      </a:r>
                      <a:pPr indent="0" marL="0">
                        <a:buNone/>
                      </a:pPr>
                      <a:r>
                        <a:rPr lang="en-US" sz="1100" dirty="0">
                          <a:solidFill>
                            <a:srgbClr val="1F2937"/>
                          </a:solidFill>
                        </a:rPr>
                        <a:t>집계, </a:t>
                      </a:r>
                      <a:pPr indent="0" marL="0">
                        <a:buNone/>
                      </a:pPr>
                      <a:r>
                        <a:rPr lang="en-US" sz="1100" dirty="0">
                          <a:solidFill>
                            <a:srgbClr val="1F2937"/>
                          </a:solidFill>
                        </a:rPr>
                        <a:t>기록 </a:t>
                      </a:r>
                      <a:pPr indent="0" marL="0">
                        <a:buNone/>
                      </a:pPr>
                      <a:r>
                        <a:rPr lang="en-US" sz="1100" dirty="0">
                          <a:solidFill>
                            <a:srgbClr val="1F2937"/>
                          </a:solidFill>
                        </a:rPr>
                        <a:t>수정·삭제 </a:t>
                      </a:r>
                      <a:pPr indent="0" marL="0">
                        <a:buNone/>
                      </a:pPr>
                      <a:r>
                        <a:rPr lang="en-US" sz="1100" dirty="0">
                          <a:solidFill>
                            <a:srgbClr val="1F2937"/>
                          </a:solidFill>
                        </a:rPr>
                        <a:t>후 </a:t>
                      </a:r>
                      <a:pPr indent="0" marL="0">
                        <a:buNone/>
                      </a:pPr>
                      <a:r>
                        <a:rPr lang="en-US" sz="1100" dirty="0">
                          <a:solidFill>
                            <a:srgbClr val="1F2937"/>
                          </a:solidFill>
                        </a:rPr>
                        <a:t>재조회 </a:t>
                      </a:r>
                      <a:pPr indent="0" marL="0">
                        <a:buNone/>
                      </a:pPr>
                      <a:r>
                        <a:rPr lang="en-US" sz="1100" dirty="0">
                          <a:solidFill>
                            <a:srgbClr val="1F2937"/>
                          </a:solidFill>
                        </a:rPr>
                        <a:t>시 </a:t>
                      </a:r>
                      <a:pPr indent="0" marL="0">
                        <a:buNone/>
                      </a:pPr>
                      <a:r>
                        <a:rPr lang="en-US" sz="1100" dirty="0">
                          <a:solidFill>
                            <a:srgbClr val="1F2937"/>
                          </a:solidFill>
                        </a:rPr>
                        <a:t>갱신. </a:t>
                      </a:r>
                      <a:pPr indent="0" marL="0">
                        <a:buNone/>
                      </a:pPr>
                      <a:r>
                        <a:rPr lang="en-US" sz="1100" dirty="0">
                          <a:solidFill>
                            <a:srgbClr val="1F2937"/>
                          </a:solidFill>
                        </a:rPr>
                        <a:t>성능 </a:t>
                      </a:r>
                      <a:pPr indent="0" marL="0">
                        <a:buNone/>
                      </a:pPr>
                      <a:r>
                        <a:rPr lang="en-US" sz="1100" dirty="0">
                          <a:solidFill>
                            <a:srgbClr val="1F2937"/>
                          </a:solidFill>
                        </a:rPr>
                        <a:t>측정 </a:t>
                      </a:r>
                      <a:pPr indent="0" marL="0">
                        <a:buNone/>
                      </a:pPr>
                      <a:r>
                        <a:rPr lang="en-US" sz="1100" dirty="0">
                          <a:solidFill>
                            <a:srgbClr val="1F2937"/>
                          </a:solidFill>
                        </a:rPr>
                        <a:t>후 </a:t>
                      </a:r>
                      <a:pPr indent="0" marL="0">
                        <a:buNone/>
                      </a:pPr>
                      <a:r>
                        <a:rPr lang="en-US" sz="1100" dirty="0">
                          <a:solidFill>
                            <a:srgbClr val="1F2937"/>
                          </a:solidFill>
                        </a:rPr>
                        <a:t>캐시 </a:t>
                      </a:r>
                      <a:pPr indent="0" marL="0">
                        <a:buNone/>
                      </a:pPr>
                      <a:r>
                        <a:rPr lang="en-US" sz="1100" dirty="0">
                          <a:solidFill>
                            <a:srgbClr val="1F2937"/>
                          </a:solidFill>
                        </a:rPr>
                        <a:t>검토</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음식·기록 </a:t>
                      </a:r>
                      <a:pPr indent="0" marL="0">
                        <a:buNone/>
                      </a:pPr>
                      <a:r>
                        <a:rPr lang="en-US" sz="1100" dirty="0">
                          <a:solidFill>
                            <a:srgbClr val="1F2937"/>
                          </a:solidFill>
                        </a:rPr>
                        <a:t>데이터 </a:t>
                      </a:r>
                      <a:pPr indent="0" marL="0">
                        <a:buNone/>
                      </a:pPr>
                      <a:r>
                        <a:rPr lang="en-US" sz="1100" dirty="0">
                          <a:solidFill>
                            <a:srgbClr val="1F2937"/>
                          </a:solidFill>
                        </a:rPr>
                        <a:t>증가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사용자 </a:t>
                      </a:r>
                      <a:pPr indent="0" marL="0">
                        <a:buNone/>
                      </a:pPr>
                      <a:r>
                        <a:rPr lang="en-US" sz="1100" dirty="0">
                          <a:solidFill>
                            <a:srgbClr val="1F2937"/>
                          </a:solidFill>
                        </a:rPr>
                        <a:t>규모와 </a:t>
                      </a:r>
                      <a:pPr indent="0" marL="0">
                        <a:buNone/>
                      </a:pPr>
                      <a:r>
                        <a:rPr lang="en-US" sz="1100" dirty="0">
                          <a:solidFill>
                            <a:srgbClr val="1F2937"/>
                          </a:solidFill>
                        </a:rPr>
                        <a:t>장기 </a:t>
                      </a:r>
                      <a:pPr indent="0" marL="0">
                        <a:buNone/>
                      </a:pPr>
                      <a:r>
                        <a:rPr lang="en-US" sz="1100" dirty="0">
                          <a:solidFill>
                            <a:srgbClr val="1F2937"/>
                          </a:solidFill>
                        </a:rPr>
                        <a:t>사용량은 </a:t>
                      </a:r>
                      <a:pPr indent="0" marL="0">
                        <a:buNone/>
                      </a:pPr>
                      <a:r>
                        <a:rPr lang="en-US" sz="1100" dirty="0">
                          <a:solidFill>
                            <a:srgbClr val="1F2937"/>
                          </a:solidFill>
                        </a:rPr>
                        <a:t>미정. </a:t>
                      </a:r>
                      <a:pPr indent="0" marL="0">
                        <a:buNone/>
                      </a:pPr>
                      <a:r>
                        <a:rPr lang="en-US" sz="1100" dirty="0">
                          <a:solidFill>
                            <a:srgbClr val="1F2937"/>
                          </a:solidFill>
                        </a:rPr>
                        <a:t>날짜별·사용자별 </a:t>
                      </a:r>
                      <a:pPr indent="0" marL="0">
                        <a:buNone/>
                      </a:pPr>
                      <a:r>
                        <a:rPr lang="en-US" sz="1100" dirty="0">
                          <a:solidFill>
                            <a:srgbClr val="1F2937"/>
                          </a:solidFill>
                        </a:rPr>
                        <a:t>기록 </a:t>
                      </a:r>
                      <a:pPr indent="0" marL="0">
                        <a:buNone/>
                      </a:pPr>
                      <a:r>
                        <a:rPr lang="en-US" sz="1100" dirty="0">
                          <a:solidFill>
                            <a:srgbClr val="1F2937"/>
                          </a:solidFill>
                        </a:rPr>
                        <a:t>조회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사용자·날짜별 </a:t>
                      </a:r>
                      <a:pPr indent="0" marL="0">
                        <a:buNone/>
                      </a:pPr>
                      <a:r>
                        <a:rPr lang="en-US" sz="1100" dirty="0">
                          <a:solidFill>
                            <a:srgbClr val="1F2937"/>
                          </a:solidFill>
                        </a:rPr>
                        <a:t>조회 </a:t>
                      </a:r>
                      <a:pPr indent="0" marL="0">
                        <a:buNone/>
                      </a:pPr>
                      <a:r>
                        <a:rPr lang="en-US" sz="1100" dirty="0">
                          <a:solidFill>
                            <a:srgbClr val="1F2937"/>
                          </a:solidFill>
                        </a:rPr>
                        <a:t>구조를 </a:t>
                      </a:r>
                      <a:pPr indent="0" marL="0">
                        <a:buNone/>
                      </a:pPr>
                      <a:r>
                        <a:rPr lang="en-US" sz="1100" dirty="0">
                          <a:solidFill>
                            <a:srgbClr val="1F2937"/>
                          </a:solidFill>
                        </a:rPr>
                        <a:t>설계하고, </a:t>
                      </a:r>
                      <a:pPr indent="0" marL="0">
                        <a:buNone/>
                      </a:pPr>
                      <a:r>
                        <a:rPr lang="en-US" sz="1100" dirty="0">
                          <a:solidFill>
                            <a:srgbClr val="1F2937"/>
                          </a:solidFill>
                        </a:rPr>
                        <a:t>예상 </a:t>
                      </a:r>
                      <a:pPr indent="0" marL="0">
                        <a:buNone/>
                      </a:pPr>
                      <a:r>
                        <a:rPr lang="en-US" sz="1100" dirty="0">
                          <a:solidFill>
                            <a:srgbClr val="1F2937"/>
                          </a:solidFill>
                        </a:rPr>
                        <a:t>데이터량과 </a:t>
                      </a:r>
                      <a:pPr indent="0" marL="0">
                        <a:buNone/>
                      </a:pPr>
                      <a:r>
                        <a:rPr lang="en-US" sz="1100" dirty="0">
                          <a:solidFill>
                            <a:srgbClr val="1F2937"/>
                          </a:solidFill>
                        </a:rPr>
                        <a:t>인덱스는 </a:t>
                      </a:r>
                      <a:pPr indent="0" marL="0">
                        <a:buNone/>
                      </a:pPr>
                      <a:r>
                        <a:rPr lang="en-US" sz="1100" dirty="0">
                          <a:solidFill>
                            <a:srgbClr val="1F2937"/>
                          </a:solidFill>
                        </a:rPr>
                        <a:t>기술 </a:t>
                      </a:r>
                      <a:pPr indent="0" marL="0">
                        <a:buNone/>
                      </a:pPr>
                      <a:r>
                        <a:rPr lang="en-US" sz="1100" dirty="0">
                          <a:solidFill>
                            <a:srgbClr val="1F2937"/>
                          </a:solidFill>
                        </a:rPr>
                        <a:t>설계에서 </a:t>
                      </a:r>
                      <a:pPr indent="0" marL="0">
                        <a:buNone/>
                      </a:pPr>
                      <a:r>
                        <a:rPr lang="en-US" sz="1100" dirty="0">
                          <a:solidFill>
                            <a:srgbClr val="1F2937"/>
                          </a:solidFill>
                        </a:rPr>
                        <a:t>검토</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외부 </a:t>
                      </a:r>
                      <a:pPr indent="0" marL="0">
                        <a:buNone/>
                      </a:pPr>
                      <a:r>
                        <a:rPr lang="en-US" sz="1100" dirty="0">
                          <a:solidFill>
                            <a:srgbClr val="1F2937"/>
                          </a:solidFill>
                        </a:rPr>
                        <a:t>식품 </a:t>
                      </a:r>
                      <a:pPr indent="0" marL="0">
                        <a:buNone/>
                      </a:pPr>
                      <a:r>
                        <a:rPr lang="en-US" sz="1100" dirty="0">
                          <a:solidFill>
                            <a:srgbClr val="1F2937"/>
                          </a:solidFill>
                        </a:rPr>
                        <a:t>API </a:t>
                      </a:r>
                      <a:pPr indent="0" marL="0">
                        <a:buNone/>
                      </a:pPr>
                      <a:r>
                        <a:rPr lang="en-US" sz="1100" dirty="0">
                          <a:solidFill>
                            <a:srgbClr val="1F2937"/>
                          </a:solidFill>
                        </a:rPr>
                        <a:t>비용</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월 </a:t>
                      </a:r>
                      <a:pPr indent="0" marL="0">
                        <a:buNone/>
                      </a:pPr>
                      <a:r>
                        <a:rPr lang="en-US" sz="1100" dirty="0">
                          <a:solidFill>
                            <a:srgbClr val="1F2937"/>
                          </a:solidFill>
                        </a:rPr>
                        <a:t>30만 </a:t>
                      </a:r>
                      <a:pPr indent="0" marL="0">
                        <a:buNone/>
                      </a:pPr>
                      <a:r>
                        <a:rPr lang="en-US" sz="1100" dirty="0">
                          <a:solidFill>
                            <a:srgbClr val="1F2937"/>
                          </a:solidFill>
                        </a:rPr>
                        <a:t>원은 </a:t>
                      </a:r>
                      <a:pPr indent="0" marL="0">
                        <a:buNone/>
                      </a:pPr>
                      <a:r>
                        <a:rPr lang="en-US" sz="1100" dirty="0">
                          <a:solidFill>
                            <a:srgbClr val="1F2937"/>
                          </a:solidFill>
                        </a:rPr>
                        <a:t>계약 </a:t>
                      </a:r>
                      <a:pPr indent="0" marL="0">
                        <a:buNone/>
                      </a:pPr>
                      <a:r>
                        <a:rPr lang="en-US" sz="1100" dirty="0">
                          <a:solidFill>
                            <a:srgbClr val="1F2937"/>
                          </a:solidFill>
                        </a:rPr>
                        <a:t>전 </a:t>
                      </a:r>
                      <a:pPr indent="0" marL="0">
                        <a:buNone/>
                      </a:pPr>
                      <a:r>
                        <a:rPr lang="en-US" sz="1100" dirty="0">
                          <a:solidFill>
                            <a:srgbClr val="1F2937"/>
                          </a:solidFill>
                        </a:rPr>
                        <a:t>검토용 </a:t>
                      </a:r>
                      <a:pPr indent="0" marL="0">
                        <a:buNone/>
                      </a:pPr>
                      <a:r>
                        <a:rPr lang="en-US" sz="1100" dirty="0">
                          <a:solidFill>
                            <a:srgbClr val="1F2937"/>
                          </a:solidFill>
                        </a:rPr>
                        <a:t>참고치이며 </a:t>
                      </a:r>
                      <a:pPr indent="0" marL="0">
                        <a:buNone/>
                      </a:pPr>
                      <a:r>
                        <a:rPr lang="en-US" sz="1100" dirty="0">
                          <a:solidFill>
                            <a:srgbClr val="1F2937"/>
                          </a:solidFill>
                        </a:rPr>
                        <a:t>절대 </a:t>
                      </a:r>
                      <a:pPr indent="0" marL="0">
                        <a:buNone/>
                      </a:pPr>
                      <a:r>
                        <a:rPr lang="en-US" sz="1100" dirty="0">
                          <a:solidFill>
                            <a:srgbClr val="1F2937"/>
                          </a:solidFill>
                        </a:rPr>
                        <a:t>한도는 </a:t>
                      </a:r>
                      <a:pPr indent="0" marL="0">
                        <a:buNone/>
                      </a:pPr>
                      <a:r>
                        <a:rPr lang="en-US" sz="1100" dirty="0">
                          <a:solidFill>
                            <a:srgbClr val="1F2937"/>
                          </a:solidFill>
                        </a:rPr>
                        <a:t>아님. </a:t>
                      </a:r>
                      <a:pPr indent="0" marL="0">
                        <a:buNone/>
                      </a:pPr>
                      <a:r>
                        <a:rPr lang="en-US" sz="1100" dirty="0">
                          <a:solidFill>
                            <a:srgbClr val="1F2937"/>
                          </a:solidFill>
                        </a:rPr>
                        <a:t>공급자 </a:t>
                      </a:r>
                      <a:pPr indent="0" marL="0">
                        <a:buNone/>
                      </a:pPr>
                      <a:r>
                        <a:rPr lang="en-US" sz="1100" dirty="0">
                          <a:solidFill>
                            <a:srgbClr val="1F2937"/>
                          </a:solidFill>
                        </a:rPr>
                        <a:t>견적 </a:t>
                      </a:r>
                      <a:pPr indent="0" marL="0">
                        <a:buNone/>
                      </a:pPr>
                      <a:r>
                        <a:rPr lang="en-US" sz="1100" dirty="0">
                          <a:solidFill>
                            <a:srgbClr val="1F2937"/>
                          </a:solidFill>
                        </a:rPr>
                        <a:t>미확정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사용자 </a:t>
                      </a:r>
                      <a:pPr indent="0" marL="0">
                        <a:buNone/>
                      </a:pPr>
                      <a:r>
                        <a:rPr lang="en-US" sz="1100" dirty="0">
                          <a:solidFill>
                            <a:srgbClr val="1F2937"/>
                          </a:solidFill>
                        </a:rPr>
                        <a:t>500명·5천 </a:t>
                      </a:r>
                      <a:pPr indent="0" marL="0">
                        <a:buNone/>
                      </a:pPr>
                      <a:r>
                        <a:rPr lang="en-US" sz="1100" dirty="0">
                          <a:solidFill>
                            <a:srgbClr val="1F2937"/>
                          </a:solidFill>
                        </a:rPr>
                        <a:t>명·5만 </a:t>
                      </a:r>
                      <a:pPr indent="0" marL="0">
                        <a:buNone/>
                      </a:pPr>
                      <a:r>
                        <a:rPr lang="en-US" sz="1100" dirty="0">
                          <a:solidFill>
                            <a:srgbClr val="1F2937"/>
                          </a:solidFill>
                        </a:rPr>
                        <a:t>명 </a:t>
                      </a:r>
                      <a:pPr indent="0" marL="0">
                        <a:buNone/>
                      </a:pPr>
                      <a:r>
                        <a:rPr lang="en-US" sz="1100" dirty="0">
                          <a:solidFill>
                            <a:srgbClr val="1F2937"/>
                          </a:solidFill>
                        </a:rPr>
                        <a:t>기준 </a:t>
                      </a:r>
                      <a:pPr indent="0" marL="0">
                        <a:buNone/>
                      </a:pPr>
                      <a:r>
                        <a:rPr lang="en-US" sz="1100" dirty="0">
                          <a:solidFill>
                            <a:srgbClr val="1F2937"/>
                          </a:solidFill>
                        </a:rPr>
                        <a:t>및 </a:t>
                      </a:r>
                      <a:pPr indent="0" marL="0">
                        <a:buNone/>
                      </a:pPr>
                      <a:r>
                        <a:rPr lang="en-US" sz="1100" dirty="0">
                          <a:solidFill>
                            <a:srgbClr val="1F2937"/>
                          </a:solidFill>
                        </a:rPr>
                        <a:t>검색 </a:t>
                      </a:r>
                      <a:pPr indent="0" marL="0">
                        <a:buNone/>
                      </a:pPr>
                      <a:r>
                        <a:rPr lang="en-US" sz="1100" dirty="0">
                          <a:solidFill>
                            <a:srgbClr val="1F2937"/>
                          </a:solidFill>
                        </a:rPr>
                        <a:t>횟수 </a:t>
                      </a:r>
                      <a:pPr indent="0" marL="0">
                        <a:buNone/>
                      </a:pPr>
                      <a:r>
                        <a:rPr lang="en-US" sz="1100" dirty="0">
                          <a:solidFill>
                            <a:srgbClr val="1F2937"/>
                          </a:solidFill>
                        </a:rPr>
                        <a:t>가정, </a:t>
                      </a:r>
                      <a:pPr indent="0" marL="0">
                        <a:buNone/>
                      </a:pPr>
                      <a:r>
                        <a:rPr lang="en-US" sz="1100" dirty="0">
                          <a:solidFill>
                            <a:srgbClr val="1F2937"/>
                          </a:solidFill>
                        </a:rPr>
                        <a:t>캐시 </a:t>
                      </a:r>
                      <a:pPr indent="0" marL="0">
                        <a:buNone/>
                      </a:pPr>
                      <a:r>
                        <a:rPr lang="en-US" sz="1100" dirty="0">
                          <a:solidFill>
                            <a:srgbClr val="1F2937"/>
                          </a:solidFill>
                        </a:rPr>
                        <a:t>적용 </a:t>
                      </a:r>
                      <a:pPr indent="0" marL="0">
                        <a:buNone/>
                      </a:pPr>
                      <a:r>
                        <a:rPr lang="en-US" sz="1100" dirty="0">
                          <a:solidFill>
                            <a:srgbClr val="1F2937"/>
                          </a:solidFill>
                        </a:rPr>
                        <a:t>전후 </a:t>
                      </a:r>
                      <a:pPr indent="0" marL="0">
                        <a:buNone/>
                      </a:pPr>
                      <a:r>
                        <a:rPr lang="en-US" sz="1100" dirty="0">
                          <a:solidFill>
                            <a:srgbClr val="1F2937"/>
                          </a:solidFill>
                        </a:rPr>
                        <a:t>비용 </a:t>
                      </a:r>
                      <a:pPr indent="0" marL="0">
                        <a:buNone/>
                      </a:pPr>
                      <a:r>
                        <a:rPr lang="en-US" sz="1100" dirty="0">
                          <a:solidFill>
                            <a:srgbClr val="1F2937"/>
                          </a:solidFill>
                        </a:rPr>
                        <a:t>추정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스토리지·운영 </a:t>
                      </a:r>
                      <a:pPr indent="0" marL="0">
                        <a:buNone/>
                      </a:pPr>
                      <a:r>
                        <a:rPr lang="en-US" sz="1100" dirty="0">
                          <a:solidFill>
                            <a:srgbClr val="1F2937"/>
                          </a:solidFill>
                        </a:rPr>
                        <a:t>비용</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검색 </a:t>
                      </a:r>
                      <a:pPr indent="0" marL="0">
                        <a:buNone/>
                      </a:pPr>
                      <a:r>
                        <a:rPr lang="en-US" sz="1100" dirty="0">
                          <a:solidFill>
                            <a:srgbClr val="1F2937"/>
                          </a:solidFill>
                        </a:rPr>
                        <a:t>API·서버 </a:t>
                      </a:r>
                      <a:pPr indent="0" marL="0">
                        <a:buNone/>
                      </a:pPr>
                      <a:r>
                        <a:rPr lang="en-US" sz="1100" dirty="0">
                          <a:solidFill>
                            <a:srgbClr val="1F2937"/>
                          </a:solidFill>
                        </a:rPr>
                        <a:t>비용 </a:t>
                      </a:r>
                      <a:pPr indent="0" marL="0">
                        <a:buNone/>
                      </a:pPr>
                      <a:r>
                        <a:rPr lang="en-US" sz="1100" dirty="0">
                          <a:solidFill>
                            <a:srgbClr val="1F2937"/>
                          </a:solidFill>
                        </a:rPr>
                        <a:t>추정 </a:t>
                      </a:r>
                      <a:pPr indent="0" marL="0">
                        <a:buNone/>
                      </a:pPr>
                      <a:r>
                        <a:rPr lang="en-US" sz="1100" dirty="0">
                          <a:solidFill>
                            <a:srgbClr val="1F2937"/>
                          </a:solidFill>
                        </a:rPr>
                        <a:t>필요. </a:t>
                      </a:r>
                      <a:pPr indent="0" marL="0">
                        <a:buNone/>
                      </a:pPr>
                      <a:r>
                        <a:rPr lang="en-US" sz="1100" dirty="0">
                          <a:solidFill>
                            <a:srgbClr val="1F2937"/>
                          </a:solidFill>
                        </a:rPr>
                        <a:t>MVP </a:t>
                      </a:r>
                      <a:pPr indent="0" marL="0">
                        <a:buNone/>
                      </a:pPr>
                      <a:r>
                        <a:rPr lang="en-US" sz="1100" dirty="0">
                          <a:solidFill>
                            <a:srgbClr val="1F2937"/>
                          </a:solidFill>
                        </a:rPr>
                        <a:t>사진 </a:t>
                      </a:r>
                      <a:pPr indent="0" marL="0">
                        <a:buNone/>
                      </a:pPr>
                      <a:r>
                        <a:rPr lang="en-US" sz="1100" dirty="0">
                          <a:solidFill>
                            <a:srgbClr val="1F2937"/>
                          </a:solidFill>
                        </a:rPr>
                        <a:t>첨부는 </a:t>
                      </a:r>
                      <a:pPr indent="0" marL="0">
                        <a:buNone/>
                      </a:pPr>
                      <a:r>
                        <a:rPr lang="en-US" sz="1100" dirty="0">
                          <a:solidFill>
                            <a:srgbClr val="1F2937"/>
                          </a:solidFill>
                        </a:rPr>
                        <a:t>식사당 </a:t>
                      </a:r>
                      <a:pPr indent="0" marL="0">
                        <a:buNone/>
                      </a:pPr>
                      <a:r>
                        <a:rPr lang="en-US" sz="1100" dirty="0">
                          <a:solidFill>
                            <a:srgbClr val="1F2937"/>
                          </a:solidFill>
                        </a:rPr>
                        <a:t>한 </a:t>
                      </a:r>
                      <a:pPr indent="0" marL="0">
                        <a:buNone/>
                      </a:pPr>
                      <a:r>
                        <a:rPr lang="en-US" sz="1100" dirty="0">
                          <a:solidFill>
                            <a:srgbClr val="1F2937"/>
                          </a:solidFill>
                        </a:rPr>
                        <a:t>장을 </a:t>
                      </a:r>
                      <a:pPr indent="0" marL="0">
                        <a:buNone/>
                      </a:pPr>
                      <a:r>
                        <a:rPr lang="en-US" sz="1100" dirty="0">
                          <a:solidFill>
                            <a:srgbClr val="1F2937"/>
                          </a:solidFill>
                        </a:rPr>
                        <a:t>5주 </a:t>
                      </a:r>
                      <a:pPr indent="0" marL="0">
                        <a:buNone/>
                      </a:pPr>
                      <a:r>
                        <a:rPr lang="en-US" sz="1100" dirty="0">
                          <a:solidFill>
                            <a:srgbClr val="1F2937"/>
                          </a:solidFill>
                        </a:rPr>
                        <a:t>차까지 </a:t>
                      </a:r>
                      <a:pPr indent="0" marL="0">
                        <a:buNone/>
                      </a:pPr>
                      <a:r>
                        <a:rPr lang="en-US" sz="1100" dirty="0">
                          <a:solidFill>
                            <a:srgbClr val="1F2937"/>
                          </a:solidFill>
                        </a:rPr>
                        <a:t>여건에 </a:t>
                      </a:r>
                      <a:pPr indent="0" marL="0">
                        <a:buNone/>
                      </a:pPr>
                      <a:r>
                        <a:rPr lang="en-US" sz="1100" dirty="0">
                          <a:solidFill>
                            <a:srgbClr val="1F2937"/>
                          </a:solidFill>
                        </a:rPr>
                        <a:t>따라 </a:t>
                      </a:r>
                      <a:pPr indent="0" marL="0">
                        <a:buNone/>
                      </a:pPr>
                      <a:r>
                        <a:rPr lang="en-US" sz="1100" dirty="0">
                          <a:solidFill>
                            <a:srgbClr val="1F2937"/>
                          </a:solidFill>
                        </a:rPr>
                        <a:t>통합하는 </a:t>
                      </a:r>
                      <a:pPr indent="0" marL="0">
                        <a:buNone/>
                      </a:pPr>
                      <a:r>
                        <a:rPr lang="en-US" sz="1100" dirty="0">
                          <a:solidFill>
                            <a:srgbClr val="1F2937"/>
                          </a:solidFill>
                        </a:rPr>
                        <a:t>방향</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실제 </a:t>
                      </a:r>
                      <a:pPr indent="0" marL="0">
                        <a:buNone/>
                      </a:pPr>
                      <a:r>
                        <a:rPr lang="en-US" sz="1100" dirty="0">
                          <a:solidFill>
                            <a:srgbClr val="1F2937"/>
                          </a:solidFill>
                        </a:rPr>
                        <a:t>사진 </a:t>
                      </a:r>
                      <a:pPr indent="0" marL="0">
                        <a:buNone/>
                      </a:pPr>
                      <a:r>
                        <a:rPr lang="en-US" sz="1100" dirty="0">
                          <a:solidFill>
                            <a:srgbClr val="1F2937"/>
                          </a:solidFill>
                        </a:rPr>
                        <a:t>범위와 </a:t>
                      </a:r>
                      <a:pPr indent="0" marL="0">
                        <a:buNone/>
                      </a:pPr>
                      <a:r>
                        <a:rPr lang="en-US" sz="1100" dirty="0">
                          <a:solidFill>
                            <a:srgbClr val="1F2937"/>
                          </a:solidFill>
                        </a:rPr>
                        <a:t>저장 </a:t>
                      </a:r>
                      <a:pPr indent="0" marL="0">
                        <a:buNone/>
                      </a:pPr>
                      <a:r>
                        <a:rPr lang="en-US" sz="1100" dirty="0">
                          <a:solidFill>
                            <a:srgbClr val="1F2937"/>
                          </a:solidFill>
                        </a:rPr>
                        <a:t>정책을 </a:t>
                      </a:r>
                      <a:pPr indent="0" marL="0">
                        <a:buNone/>
                      </a:pPr>
                      <a:r>
                        <a:rPr lang="en-US" sz="1100" dirty="0">
                          <a:solidFill>
                            <a:srgbClr val="1F2937"/>
                          </a:solidFill>
                        </a:rPr>
                        <a:t>확정한 </a:t>
                      </a:r>
                      <a:pPr indent="0" marL="0">
                        <a:buNone/>
                      </a:pPr>
                      <a:r>
                        <a:rPr lang="en-US" sz="1100" dirty="0">
                          <a:solidFill>
                            <a:srgbClr val="1F2937"/>
                          </a:solidFill>
                        </a:rPr>
                        <a:t>뒤 </a:t>
                      </a:r>
                      <a:pPr indent="0" marL="0">
                        <a:buNone/>
                      </a:pPr>
                      <a:r>
                        <a:rPr lang="en-US" sz="1100" dirty="0">
                          <a:solidFill>
                            <a:srgbClr val="1F2937"/>
                          </a:solidFill>
                        </a:rPr>
                        <a:t>비용 </a:t>
                      </a:r>
                      <a:pPr indent="0" marL="0">
                        <a:buNone/>
                      </a:pPr>
                      <a:r>
                        <a:rPr lang="en-US" sz="1100" dirty="0">
                          <a:solidFill>
                            <a:srgbClr val="1F2937"/>
                          </a:solidFill>
                        </a:rPr>
                        <a:t>산정. </a:t>
                      </a:r>
                      <a:pPr indent="0" marL="0">
                        <a:buNone/>
                      </a:pPr>
                      <a:r>
                        <a:rPr lang="en-US" sz="1100" dirty="0">
                          <a:solidFill>
                            <a:srgbClr val="1F2937"/>
                          </a:solidFill>
                        </a:rPr>
                        <a:t>사진 </a:t>
                      </a:r>
                      <a:pPr indent="0" marL="0">
                        <a:buNone/>
                      </a:pPr>
                      <a:r>
                        <a:rPr lang="en-US" sz="1100" dirty="0">
                          <a:solidFill>
                            <a:srgbClr val="1F2937"/>
                          </a:solidFill>
                        </a:rPr>
                        <a:t>크기·보관·삭제 </a:t>
                      </a:r>
                      <a:pPr indent="0" marL="0">
                        <a:buNone/>
                      </a:pPr>
                      <a:r>
                        <a:rPr lang="en-US" sz="1100" dirty="0">
                          <a:solidFill>
                            <a:srgbClr val="1F2937"/>
                          </a:solidFill>
                        </a:rPr>
                        <a:t>정책은 </a:t>
                      </a:r>
                      <a:pPr indent="0" marL="0">
                        <a:buNone/>
                      </a:pPr>
                      <a:r>
                        <a:rPr lang="en-US" sz="1100" dirty="0">
                          <a:solidFill>
                            <a:srgbClr val="1F2937"/>
                          </a:solidFill>
                        </a:rPr>
                        <a:t>구체화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모니터링</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서버 </a:t>
                      </a:r>
                      <a:pPr indent="0" marL="0">
                        <a:buNone/>
                      </a:pPr>
                      <a:r>
                        <a:rPr lang="en-US" sz="1100" dirty="0">
                          <a:solidFill>
                            <a:srgbClr val="1F2937"/>
                          </a:solidFill>
                        </a:rPr>
                        <a:t>오류율·응답 </a:t>
                      </a:r>
                      <a:pPr indent="0" marL="0">
                        <a:buNone/>
                      </a:pPr>
                      <a:r>
                        <a:rPr lang="en-US" sz="1100" dirty="0">
                          <a:solidFill>
                            <a:srgbClr val="1F2937"/>
                          </a:solidFill>
                        </a:rPr>
                        <a:t>시간·저장 </a:t>
                      </a:r>
                      <a:pPr indent="0" marL="0">
                        <a:buNone/>
                      </a:pPr>
                      <a:r>
                        <a:rPr lang="en-US" sz="1100" dirty="0">
                          <a:solidFill>
                            <a:srgbClr val="1F2937"/>
                          </a:solidFill>
                        </a:rPr>
                        <a:t>실패율 </a:t>
                      </a:r>
                      <a:pPr indent="0" marL="0">
                        <a:buNone/>
                      </a:pPr>
                      <a:r>
                        <a:rPr lang="en-US" sz="1100" dirty="0">
                          <a:solidFill>
                            <a:srgbClr val="1F2937"/>
                          </a:solidFill>
                        </a:rPr>
                        <a:t>모니터링 </a:t>
                      </a:r>
                      <a:pPr indent="0" marL="0">
                        <a:buNone/>
                      </a:pPr>
                      <a:r>
                        <a:rPr lang="en-US" sz="1100" dirty="0">
                          <a:solidFill>
                            <a:srgbClr val="1F2937"/>
                          </a:solidFill>
                        </a:rPr>
                        <a:t>논의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앱 </a:t>
                      </a:r>
                      <a:pPr indent="0" marL="0">
                        <a:buNone/>
                      </a:pPr>
                      <a:r>
                        <a:rPr lang="en-US" sz="1100" dirty="0">
                          <a:solidFill>
                            <a:srgbClr val="1F2937"/>
                          </a:solidFill>
                        </a:rPr>
                        <a:t>버전·플랫폼·오류 </a:t>
                      </a:r>
                      <a:pPr indent="0" marL="0">
                        <a:buNone/>
                      </a:pPr>
                      <a:r>
                        <a:rPr lang="en-US" sz="1100" dirty="0">
                          <a:solidFill>
                            <a:srgbClr val="1F2937"/>
                          </a:solidFill>
                        </a:rPr>
                        <a:t>코드·요청 </a:t>
                      </a:r>
                      <a:pPr indent="0" marL="0">
                        <a:buNone/>
                      </a:pPr>
                      <a:r>
                        <a:rPr lang="en-US" sz="1100" dirty="0">
                          <a:solidFill>
                            <a:srgbClr val="1F2937"/>
                          </a:solidFill>
                        </a:rPr>
                        <a:t>ID </a:t>
                      </a:r>
                      <a:pPr indent="0" marL="0">
                        <a:buNone/>
                      </a:pPr>
                      <a:r>
                        <a:rPr lang="en-US" sz="1100" dirty="0">
                          <a:solidFill>
                            <a:srgbClr val="1F2937"/>
                          </a:solidFill>
                        </a:rPr>
                        <a:t>중심으로 </a:t>
                      </a:r>
                      <a:pPr indent="0" marL="0">
                        <a:buNone/>
                      </a:pPr>
                      <a:r>
                        <a:rPr lang="en-US" sz="1100" dirty="0">
                          <a:solidFill>
                            <a:srgbClr val="1F2937"/>
                          </a:solidFill>
                        </a:rPr>
                        <a:t>기록. </a:t>
                      </a:r>
                      <a:pPr indent="0" marL="0">
                        <a:buNone/>
                      </a:pPr>
                      <a:r>
                        <a:rPr lang="en-US" sz="1100" dirty="0">
                          <a:solidFill>
                            <a:srgbClr val="1F2937"/>
                          </a:solidFill>
                        </a:rPr>
                        <a:t>식사 </a:t>
                      </a:r>
                      <a:pPr indent="0" marL="0">
                        <a:buNone/>
                      </a:pPr>
                      <a:r>
                        <a:rPr lang="en-US" sz="1100" dirty="0">
                          <a:solidFill>
                            <a:srgbClr val="1F2937"/>
                          </a:solidFill>
                        </a:rPr>
                        <a:t>내용·자유 </a:t>
                      </a:r>
                      <a:pPr indent="0" marL="0">
                        <a:buNone/>
                      </a:pPr>
                      <a:r>
                        <a:rPr lang="en-US" sz="1100" dirty="0">
                          <a:solidFill>
                            <a:srgbClr val="1F2937"/>
                          </a:solidFill>
                        </a:rPr>
                        <a:t>메모는 </a:t>
                      </a:r>
                      <a:pPr indent="0" marL="0">
                        <a:buNone/>
                      </a:pPr>
                      <a:r>
                        <a:rPr lang="en-US" sz="1100" dirty="0">
                          <a:solidFill>
                            <a:srgbClr val="1F2937"/>
                          </a:solidFill>
                        </a:rPr>
                        <a:t>로그에 </a:t>
                      </a:r>
                      <a:pPr indent="0" marL="0">
                        <a:buNone/>
                      </a:pPr>
                      <a:r>
                        <a:rPr lang="en-US" sz="1100" dirty="0">
                          <a:solidFill>
                            <a:srgbClr val="1F2937"/>
                          </a:solidFill>
                        </a:rPr>
                        <a:t>자동 </a:t>
                      </a:r>
                      <a:pPr indent="0" marL="0">
                        <a:buNone/>
                      </a:pPr>
                      <a:r>
                        <a:rPr lang="en-US" sz="1100" dirty="0">
                          <a:solidFill>
                            <a:srgbClr val="1F2937"/>
                          </a:solidFill>
                        </a:rPr>
                        <a:t>첨부하지 </a:t>
                      </a:r>
                      <a:pPr indent="0" marL="0">
                        <a:buNone/>
                      </a:pPr>
                      <a:r>
                        <a:rPr lang="en-US" sz="1100" dirty="0">
                          <a:solidFill>
                            <a:srgbClr val="1F2937"/>
                          </a:solidFill>
                        </a:rPr>
                        <a:t>않음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백업 </a:t>
                      </a:r>
                      <a:pPr indent="0" marL="0">
                        <a:buNone/>
                      </a:pPr>
                      <a:r>
                        <a:rPr lang="en-US" sz="1100" dirty="0">
                          <a:solidFill>
                            <a:srgbClr val="1F2937"/>
                          </a:solidFill>
                        </a:rPr>
                        <a:t>및 </a:t>
                      </a:r>
                      <a:pPr indent="0" marL="0">
                        <a:buNone/>
                      </a:pPr>
                      <a:r>
                        <a:rPr lang="en-US" sz="1100" dirty="0">
                          <a:solidFill>
                            <a:srgbClr val="1F2937"/>
                          </a:solidFill>
                        </a:rPr>
                        <a:t>복구</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자동 </a:t>
                      </a:r>
                      <a:pPr indent="0" marL="0">
                        <a:buNone/>
                      </a:pPr>
                      <a:r>
                        <a:rPr lang="en-US" sz="1100" dirty="0">
                          <a:solidFill>
                            <a:srgbClr val="1F2937"/>
                          </a:solidFill>
                        </a:rPr>
                        <a:t>백업, </a:t>
                      </a:r>
                      <a:pPr indent="0" marL="0">
                        <a:buNone/>
                      </a:pPr>
                      <a:r>
                        <a:rPr lang="en-US" sz="1100" dirty="0">
                          <a:solidFill>
                            <a:srgbClr val="1F2937"/>
                          </a:solidFill>
                        </a:rPr>
                        <a:t>백업 </a:t>
                      </a:r>
                      <a:pPr indent="0" marL="0">
                        <a:buNone/>
                      </a:pPr>
                      <a:r>
                        <a:rPr lang="en-US" sz="1100" dirty="0">
                          <a:solidFill>
                            <a:srgbClr val="1F2937"/>
                          </a:solidFill>
                        </a:rPr>
                        <a:t>암호화·접근 </a:t>
                      </a:r>
                      <a:pPr indent="0" marL="0">
                        <a:buNone/>
                      </a:pPr>
                      <a:r>
                        <a:rPr lang="en-US" sz="1100" dirty="0">
                          <a:solidFill>
                            <a:srgbClr val="1F2937"/>
                          </a:solidFill>
                        </a:rPr>
                        <a:t>권한 </a:t>
                      </a:r>
                      <a:pPr indent="0" marL="0">
                        <a:buNone/>
                      </a:pPr>
                      <a:r>
                        <a:rPr lang="en-US" sz="1100" dirty="0">
                          <a:solidFill>
                            <a:srgbClr val="1F2937"/>
                          </a:solidFill>
                        </a:rPr>
                        <a:t>관리, </a:t>
                      </a:r>
                      <a:pPr indent="0" marL="0">
                        <a:buNone/>
                      </a:pPr>
                      <a:r>
                        <a:rPr lang="en-US" sz="1100" dirty="0">
                          <a:solidFill>
                            <a:srgbClr val="1F2937"/>
                          </a:solidFill>
                        </a:rPr>
                        <a:t>출시 </a:t>
                      </a:r>
                      <a:pPr indent="0" marL="0">
                        <a:buNone/>
                      </a:pPr>
                      <a:r>
                        <a:rPr lang="en-US" sz="1100" dirty="0">
                          <a:solidFill>
                            <a:srgbClr val="1F2937"/>
                          </a:solidFill>
                        </a:rPr>
                        <a:t>전 </a:t>
                      </a:r>
                      <a:pPr indent="0" marL="0">
                        <a:buNone/>
                      </a:pPr>
                      <a:r>
                        <a:rPr lang="en-US" sz="1100" dirty="0">
                          <a:solidFill>
                            <a:srgbClr val="1F2937"/>
                          </a:solidFill>
                        </a:rPr>
                        <a:t>최소 </a:t>
                      </a:r>
                      <a:pPr indent="0" marL="0">
                        <a:buNone/>
                      </a:pPr>
                      <a:r>
                        <a:rPr lang="en-US" sz="1100" dirty="0">
                          <a:solidFill>
                            <a:srgbClr val="1F2937"/>
                          </a:solidFill>
                        </a:rPr>
                        <a:t>한 </a:t>
                      </a:r>
                      <a:pPr indent="0" marL="0">
                        <a:buNone/>
                      </a:pPr>
                      <a:r>
                        <a:rPr lang="en-US" sz="1100" dirty="0">
                          <a:solidFill>
                            <a:srgbClr val="1F2937"/>
                          </a:solidFill>
                        </a:rPr>
                        <a:t>번의 </a:t>
                      </a:r>
                      <a:pPr indent="0" marL="0">
                        <a:buNone/>
                      </a:pPr>
                      <a:r>
                        <a:rPr lang="en-US" sz="1100" dirty="0">
                          <a:solidFill>
                            <a:srgbClr val="1F2937"/>
                          </a:solidFill>
                        </a:rPr>
                        <a:t>복구 </a:t>
                      </a:r>
                      <a:pPr indent="0" marL="0">
                        <a:buNone/>
                      </a:pPr>
                      <a:r>
                        <a:rPr lang="en-US" sz="1100" dirty="0">
                          <a:solidFill>
                            <a:srgbClr val="1F2937"/>
                          </a:solidFill>
                        </a:rPr>
                        <a:t>테스트 </a:t>
                      </a:r>
                      <a:pPr indent="0" marL="0">
                        <a:buNone/>
                      </a:pPr>
                      <a:r>
                        <a:rPr lang="en-US" sz="1100" dirty="0">
                          <a:solidFill>
                            <a:srgbClr val="1F2937"/>
                          </a:solidFill>
                        </a:rPr>
                        <a:t>논의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출시 </a:t>
                      </a:r>
                      <a:pPr indent="0" marL="0">
                        <a:buNone/>
                      </a:pPr>
                      <a:r>
                        <a:rPr lang="en-US" sz="1100" dirty="0">
                          <a:solidFill>
                            <a:srgbClr val="1F2937"/>
                          </a:solidFill>
                        </a:rPr>
                        <a:t>전 </a:t>
                      </a:r>
                      <a:pPr indent="0" marL="0">
                        <a:buNone/>
                      </a:pPr>
                      <a:r>
                        <a:rPr lang="en-US" sz="1100" dirty="0">
                          <a:solidFill>
                            <a:srgbClr val="1F2937"/>
                          </a:solidFill>
                        </a:rPr>
                        <a:t>복구 </a:t>
                      </a:r>
                      <a:pPr indent="0" marL="0">
                        <a:buNone/>
                      </a:pPr>
                      <a:r>
                        <a:rPr lang="en-US" sz="1100" dirty="0">
                          <a:solidFill>
                            <a:srgbClr val="1F2937"/>
                          </a:solidFill>
                        </a:rPr>
                        <a:t>테스트 </a:t>
                      </a:r>
                      <a:pPr indent="0" marL="0">
                        <a:buNone/>
                      </a:pPr>
                      <a:r>
                        <a:rPr lang="en-US" sz="1100" dirty="0">
                          <a:solidFill>
                            <a:srgbClr val="1F2937"/>
                          </a:solidFill>
                        </a:rPr>
                        <a:t>실시. </a:t>
                      </a:r>
                      <a:pPr indent="0" marL="0">
                        <a:buNone/>
                      </a:pPr>
                      <a:r>
                        <a:rPr lang="en-US" sz="1100" dirty="0">
                          <a:solidFill>
                            <a:srgbClr val="1F2937"/>
                          </a:solidFill>
                        </a:rPr>
                        <a:t>백업 </a:t>
                      </a:r>
                      <a:pPr indent="0" marL="0">
                        <a:buNone/>
                      </a:pPr>
                      <a:r>
                        <a:rPr lang="en-US" sz="1100" dirty="0">
                          <a:solidFill>
                            <a:srgbClr val="1F2937"/>
                          </a:solidFill>
                        </a:rPr>
                        <a:t>보존 </a:t>
                      </a:r>
                      <a:pPr indent="0" marL="0">
                        <a:buNone/>
                      </a:pPr>
                      <a:r>
                        <a:rPr lang="en-US" sz="1100" dirty="0">
                          <a:solidFill>
                            <a:srgbClr val="1F2937"/>
                          </a:solidFill>
                        </a:rPr>
                        <a:t>기간과 </a:t>
                      </a:r>
                      <a:pPr indent="0" marL="0">
                        <a:buNone/>
                      </a:pPr>
                      <a:r>
                        <a:rPr lang="en-US" sz="1100" dirty="0">
                          <a:solidFill>
                            <a:srgbClr val="1F2937"/>
                          </a:solidFill>
                        </a:rPr>
                        <a:t>삭제 </a:t>
                      </a:r>
                      <a:pPr indent="0" marL="0">
                        <a:buNone/>
                      </a:pPr>
                      <a:r>
                        <a:rPr lang="en-US" sz="1100" dirty="0">
                          <a:solidFill>
                            <a:srgbClr val="1F2937"/>
                          </a:solidFill>
                        </a:rPr>
                        <a:t>요청 </a:t>
                      </a:r>
                      <a:pPr indent="0" marL="0">
                        <a:buNone/>
                      </a:pPr>
                      <a:r>
                        <a:rPr lang="en-US" sz="1100" dirty="0">
                          <a:solidFill>
                            <a:srgbClr val="1F2937"/>
                          </a:solidFill>
                        </a:rPr>
                        <a:t>반영 </a:t>
                      </a:r>
                      <a:pPr indent="0" marL="0">
                        <a:buNone/>
                      </a:pPr>
                      <a:r>
                        <a:rPr lang="en-US" sz="1100" dirty="0">
                          <a:solidFill>
                            <a:srgbClr val="1F2937"/>
                          </a:solidFill>
                        </a:rPr>
                        <a:t>시점은 </a:t>
                      </a:r>
                      <a:pPr indent="0" marL="0">
                        <a:buNone/>
                      </a:pPr>
                      <a:r>
                        <a:rPr lang="en-US" sz="1100" dirty="0">
                          <a:solidFill>
                            <a:srgbClr val="1F2937"/>
                          </a:solidFill>
                        </a:rPr>
                        <a:t>운영 </a:t>
                      </a:r>
                      <a:pPr indent="0" marL="0">
                        <a:buNone/>
                      </a:pPr>
                      <a:r>
                        <a:rPr lang="en-US" sz="1100" dirty="0">
                          <a:solidFill>
                            <a:srgbClr val="1F2937"/>
                          </a:solidFill>
                        </a:rPr>
                        <a:t>정책 </a:t>
                      </a:r>
                      <a:pPr indent="0" marL="0">
                        <a:buNone/>
                      </a:pPr>
                      <a:r>
                        <a:rPr lang="en-US" sz="1100" dirty="0">
                          <a:solidFill>
                            <a:srgbClr val="1F2937"/>
                          </a:solidFill>
                        </a:rPr>
                        <a:t>확인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7. 성능 및 볼륨 고려사항 (2/2)</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96"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1926077"/>
                <a:gridCol w="3151762"/>
                <a:gridCol w="3151762"/>
              </a:tblGrid>
              <a:tr h="0">
                <a:tc>
                  <a:txBody>
                    <a:bodyPr/>
                    <a:lstStyle/>
                    <a:p>
                      <a:pPr indent="0" marL="0">
                        <a:buNone/>
                      </a:pPr>
                      <a:r>
                        <a:rPr lang="en-US" sz="1200" b="1" dirty="0">
                          <a:solidFill>
                            <a:srgbClr val="FFFFFF"/>
                          </a:solidFill>
                        </a:rPr>
                        <a:t>항목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회의에서 </a:t>
                      </a:r>
                      <a:pPr indent="0" marL="0">
                        <a:buNone/>
                      </a:pPr>
                      <a:r>
                        <a:rPr lang="en-US" sz="1200" b="1" dirty="0">
                          <a:solidFill>
                            <a:srgbClr val="FFFFFF"/>
                          </a:solidFill>
                        </a:rPr>
                        <a:t>나온 </a:t>
                      </a:r>
                      <a:pPr indent="0" marL="0">
                        <a:buNone/>
                      </a:pPr>
                      <a:r>
                        <a:rPr lang="en-US" sz="1200" b="1" dirty="0">
                          <a:solidFill>
                            <a:srgbClr val="FFFFFF"/>
                          </a:solidFill>
                        </a:rPr>
                        <a:t>기준·상태</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대응 </a:t>
                      </a:r>
                      <a:pPr indent="0" marL="0">
                        <a:buNone/>
                      </a:pPr>
                      <a:r>
                        <a:rPr lang="en-US" sz="1200" b="1" dirty="0">
                          <a:solidFill>
                            <a:srgbClr val="FFFFFF"/>
                          </a:solidFill>
                        </a:rPr>
                        <a:t>방안</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베타 </a:t>
                      </a:r>
                      <a:pPr indent="0" marL="0">
                        <a:buNone/>
                      </a:pPr>
                      <a:r>
                        <a:rPr lang="en-US" sz="1100" dirty="0">
                          <a:solidFill>
                            <a:srgbClr val="1F2937"/>
                          </a:solidFill>
                        </a:rPr>
                        <a:t>품질 </a:t>
                      </a:r>
                      <a:pPr indent="0" marL="0">
                        <a:buNone/>
                      </a:pPr>
                      <a:r>
                        <a:rPr lang="en-US" sz="1100" dirty="0">
                          <a:solidFill>
                            <a:srgbClr val="1F2937"/>
                          </a:solidFill>
                        </a:rPr>
                        <a:t>지표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주요 </a:t>
                      </a:r>
                      <a:pPr indent="0" marL="0">
                        <a:buNone/>
                      </a:pPr>
                      <a:r>
                        <a:rPr lang="en-US" sz="1100" dirty="0">
                          <a:solidFill>
                            <a:srgbClr val="1F2937"/>
                          </a:solidFill>
                        </a:rPr>
                        <a:t>기록 </a:t>
                      </a:r>
                      <a:pPr indent="0" marL="0">
                        <a:buNone/>
                      </a:pPr>
                      <a:r>
                        <a:rPr lang="en-US" sz="1100" dirty="0">
                          <a:solidFill>
                            <a:srgbClr val="1F2937"/>
                          </a:solidFill>
                        </a:rPr>
                        <a:t>흐름 </a:t>
                      </a:r>
                      <a:pPr indent="0" marL="0">
                        <a:buNone/>
                      </a:pPr>
                      <a:r>
                        <a:rPr lang="en-US" sz="1100" dirty="0">
                          <a:solidFill>
                            <a:srgbClr val="1F2937"/>
                          </a:solidFill>
                        </a:rPr>
                        <a:t>완료율 </a:t>
                      </a:r>
                      <a:pPr indent="0" marL="0">
                        <a:buNone/>
                      </a:pPr>
                      <a:r>
                        <a:rPr lang="en-US" sz="1100" dirty="0">
                          <a:solidFill>
                            <a:srgbClr val="1F2937"/>
                          </a:solidFill>
                        </a:rPr>
                        <a:t>95% </a:t>
                      </a:r>
                      <a:pPr indent="0" marL="0">
                        <a:buNone/>
                      </a:pPr>
                      <a:r>
                        <a:rPr lang="en-US" sz="1100" dirty="0">
                          <a:solidFill>
                            <a:srgbClr val="1F2937"/>
                          </a:solidFill>
                        </a:rPr>
                        <a:t>이상, </a:t>
                      </a:r>
                      <a:pPr indent="0" marL="0">
                        <a:buNone/>
                      </a:pPr>
                      <a:r>
                        <a:rPr lang="en-US" sz="1100" dirty="0">
                          <a:solidFill>
                            <a:srgbClr val="1F2937"/>
                          </a:solidFill>
                        </a:rPr>
                        <a:t>크래시 </a:t>
                      </a:r>
                      <a:pPr indent="0" marL="0">
                        <a:buNone/>
                      </a:pPr>
                      <a:r>
                        <a:rPr lang="en-US" sz="1100" dirty="0">
                          <a:solidFill>
                            <a:srgbClr val="1F2937"/>
                          </a:solidFill>
                        </a:rPr>
                        <a:t>없는 </a:t>
                      </a:r>
                      <a:pPr indent="0" marL="0">
                        <a:buNone/>
                      </a:pPr>
                      <a:r>
                        <a:rPr lang="en-US" sz="1100" dirty="0">
                          <a:solidFill>
                            <a:srgbClr val="1F2937"/>
                          </a:solidFill>
                        </a:rPr>
                        <a:t>세션 </a:t>
                      </a:r>
                      <a:pPr indent="0" marL="0">
                        <a:buNone/>
                      </a:pPr>
                      <a:r>
                        <a:rPr lang="en-US" sz="1100" dirty="0">
                          <a:solidFill>
                            <a:srgbClr val="1F2937"/>
                          </a:solidFill>
                        </a:rPr>
                        <a:t>비율 </a:t>
                      </a:r>
                      <a:pPr indent="0" marL="0">
                        <a:buNone/>
                      </a:pPr>
                      <a:r>
                        <a:rPr lang="en-US" sz="1100" dirty="0">
                          <a:solidFill>
                            <a:srgbClr val="1F2937"/>
                          </a:solidFill>
                        </a:rPr>
                        <a:t>99% </a:t>
                      </a:r>
                      <a:pPr indent="0" marL="0">
                        <a:buNone/>
                      </a:pPr>
                      <a:r>
                        <a:rPr lang="en-US" sz="1100" dirty="0">
                          <a:solidFill>
                            <a:srgbClr val="1F2937"/>
                          </a:solidFill>
                        </a:rPr>
                        <a:t>이상, </a:t>
                      </a:r>
                      <a:pPr indent="0" marL="0">
                        <a:buNone/>
                      </a:pPr>
                      <a:r>
                        <a:rPr lang="en-US" sz="1100" dirty="0">
                          <a:solidFill>
                            <a:srgbClr val="1F2937"/>
                          </a:solidFill>
                        </a:rPr>
                        <a:t>치명적인 </a:t>
                      </a:r>
                      <a:pPr indent="0" marL="0">
                        <a:buNone/>
                      </a:pPr>
                      <a:r>
                        <a:rPr lang="en-US" sz="1100" dirty="0">
                          <a:solidFill>
                            <a:srgbClr val="1F2937"/>
                          </a:solidFill>
                        </a:rPr>
                        <a:t>데이터 </a:t>
                      </a:r>
                      <a:pPr indent="0" marL="0">
                        <a:buNone/>
                      </a:pPr>
                      <a:r>
                        <a:rPr lang="en-US" sz="1100" dirty="0">
                          <a:solidFill>
                            <a:srgbClr val="1F2937"/>
                          </a:solidFill>
                        </a:rPr>
                        <a:t>유실 </a:t>
                      </a:r>
                      <a:pPr indent="0" marL="0">
                        <a:buNone/>
                      </a:pPr>
                      <a:r>
                        <a:rPr lang="en-US" sz="1100" dirty="0">
                          <a:solidFill>
                            <a:srgbClr val="1F2937"/>
                          </a:solidFill>
                        </a:rPr>
                        <a:t>0건이 </a:t>
                      </a:r>
                      <a:pPr indent="0" marL="0">
                        <a:buNone/>
                      </a:pPr>
                      <a:r>
                        <a:rPr lang="en-US" sz="1100" dirty="0">
                          <a:solidFill>
                            <a:srgbClr val="1F2937"/>
                          </a:solidFill>
                        </a:rPr>
                        <a:t>제안됨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베타 </a:t>
                      </a:r>
                      <a:pPr indent="0" marL="0">
                        <a:buNone/>
                      </a:pPr>
                      <a:r>
                        <a:rPr lang="en-US" sz="1100" dirty="0">
                          <a:solidFill>
                            <a:srgbClr val="1F2937"/>
                          </a:solidFill>
                        </a:rPr>
                        <a:t>표본이 </a:t>
                      </a:r>
                      <a:pPr indent="0" marL="0">
                        <a:buNone/>
                      </a:pPr>
                      <a:r>
                        <a:rPr lang="en-US" sz="1100" dirty="0">
                          <a:solidFill>
                            <a:srgbClr val="1F2937"/>
                          </a:solidFill>
                        </a:rPr>
                        <a:t>작을 </a:t>
                      </a:r>
                      <a:pPr indent="0" marL="0">
                        <a:buNone/>
                      </a:pPr>
                      <a:r>
                        <a:rPr lang="en-US" sz="1100" dirty="0">
                          <a:solidFill>
                            <a:srgbClr val="1F2937"/>
                          </a:solidFill>
                        </a:rPr>
                        <a:t>수 </a:t>
                      </a:r>
                      <a:pPr indent="0" marL="0">
                        <a:buNone/>
                      </a:pPr>
                      <a:r>
                        <a:rPr lang="en-US" sz="1100" dirty="0">
                          <a:solidFill>
                            <a:srgbClr val="1F2937"/>
                          </a:solidFill>
                        </a:rPr>
                        <a:t>있음을 </a:t>
                      </a:r>
                      <a:pPr indent="0" marL="0">
                        <a:buNone/>
                      </a:pPr>
                      <a:r>
                        <a:rPr lang="en-US" sz="1100" dirty="0">
                          <a:solidFill>
                            <a:srgbClr val="1F2937"/>
                          </a:solidFill>
                        </a:rPr>
                        <a:t>고려하고, </a:t>
                      </a:r>
                      <a:pPr indent="0" marL="0">
                        <a:buNone/>
                      </a:pPr>
                      <a:r>
                        <a:rPr lang="en-US" sz="1100" dirty="0">
                          <a:solidFill>
                            <a:srgbClr val="1F2937"/>
                          </a:solidFill>
                        </a:rPr>
                        <a:t>수치뿐 </a:t>
                      </a:r>
                      <a:pPr indent="0" marL="0">
                        <a:buNone/>
                      </a:pPr>
                      <a:r>
                        <a:rPr lang="en-US" sz="1100" dirty="0">
                          <a:solidFill>
                            <a:srgbClr val="1F2937"/>
                          </a:solidFill>
                        </a:rPr>
                        <a:t>아니라 </a:t>
                      </a:r>
                      <a:pPr indent="0" marL="0">
                        <a:buNone/>
                      </a:pPr>
                      <a:r>
                        <a:rPr lang="en-US" sz="1100" dirty="0">
                          <a:solidFill>
                            <a:srgbClr val="1F2937"/>
                          </a:solidFill>
                        </a:rPr>
                        <a:t>사용자 </a:t>
                      </a:r>
                      <a:pPr indent="0" marL="0">
                        <a:buNone/>
                      </a:pPr>
                      <a:r>
                        <a:rPr lang="en-US" sz="1100" dirty="0">
                          <a:solidFill>
                            <a:srgbClr val="1F2937"/>
                          </a:solidFill>
                        </a:rPr>
                        <a:t>관찰·인터뷰 </a:t>
                      </a:r>
                      <a:pPr indent="0" marL="0">
                        <a:buNone/>
                      </a:pPr>
                      <a:r>
                        <a:rPr lang="en-US" sz="1100" dirty="0">
                          <a:solidFill>
                            <a:srgbClr val="1F2937"/>
                          </a:solidFill>
                        </a:rPr>
                        <a:t>결과와 </a:t>
                      </a:r>
                      <a:pPr indent="0" marL="0">
                        <a:buNone/>
                      </a:pPr>
                      <a:r>
                        <a:rPr lang="en-US" sz="1100" dirty="0">
                          <a:solidFill>
                            <a:srgbClr val="1F2937"/>
                          </a:solidFill>
                        </a:rPr>
                        <a:t>함께 </a:t>
                      </a:r>
                      <a:pPr indent="0" marL="0">
                        <a:buNone/>
                      </a:pPr>
                      <a:r>
                        <a:rPr lang="en-US" sz="1100" dirty="0">
                          <a:solidFill>
                            <a:srgbClr val="1F2937"/>
                          </a:solidFill>
                        </a:rPr>
                        <a:t>판단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앱 </a:t>
                      </a:r>
                      <a:pPr indent="0" marL="0">
                        <a:buNone/>
                      </a:pPr>
                      <a:r>
                        <a:rPr lang="en-US" sz="1100" dirty="0">
                          <a:solidFill>
                            <a:srgbClr val="1F2937"/>
                          </a:solidFill>
                        </a:rPr>
                        <a:t>응답 </a:t>
                      </a:r>
                      <a:pPr indent="0" marL="0">
                        <a:buNone/>
                      </a:pPr>
                      <a:r>
                        <a:rPr lang="en-US" sz="1100" dirty="0">
                          <a:solidFill>
                            <a:srgbClr val="1F2937"/>
                          </a:solidFill>
                        </a:rPr>
                        <a:t>시간·동시 </a:t>
                      </a:r>
                      <a:pPr indent="0" marL="0">
                        <a:buNone/>
                      </a:pPr>
                      <a:r>
                        <a:rPr lang="en-US" sz="1100" dirty="0">
                          <a:solidFill>
                            <a:srgbClr val="1F2937"/>
                          </a:solidFill>
                        </a:rPr>
                        <a:t>요청·일일 </a:t>
                      </a:r>
                      <a:pPr indent="0" marL="0">
                        <a:buNone/>
                      </a:pPr>
                      <a:r>
                        <a:rPr lang="en-US" sz="1100" dirty="0">
                          <a:solidFill>
                            <a:srgbClr val="1F2937"/>
                          </a:solidFill>
                        </a:rPr>
                        <a:t>가입자 </a:t>
                      </a:r>
                      <a:pPr indent="0" marL="0">
                        <a:buNone/>
                      </a:pPr>
                      <a:r>
                        <a:rPr lang="en-US" sz="1100" dirty="0">
                          <a:solidFill>
                            <a:srgbClr val="1F2937"/>
                          </a:solidFill>
                        </a:rPr>
                        <a:t>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수치 </a:t>
                      </a:r>
                      <a:pPr indent="0" marL="0">
                        <a:buNone/>
                      </a:pPr>
                      <a:r>
                        <a:rPr lang="en-US" sz="1100" dirty="0">
                          <a:solidFill>
                            <a:srgbClr val="1F2937"/>
                          </a:solidFill>
                        </a:rPr>
                        <a:t>합의 </a:t>
                      </a:r>
                      <a:pPr indent="0" marL="0">
                        <a:buNone/>
                      </a:pPr>
                      <a:r>
                        <a:rPr lang="en-US" sz="1100" dirty="0">
                          <a:solidFill>
                            <a:srgbClr val="1F2937"/>
                          </a:solidFill>
                        </a:rPr>
                        <a:t>없음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성능 </a:t>
                      </a:r>
                      <a:pPr indent="0" marL="0">
                        <a:buNone/>
                      </a:pPr>
                      <a:r>
                        <a:rPr lang="en-US" sz="1100" dirty="0">
                          <a:solidFill>
                            <a:srgbClr val="1F2937"/>
                          </a:solidFill>
                        </a:rPr>
                        <a:t>시험 </a:t>
                      </a:r>
                      <a:pPr indent="0" marL="0">
                        <a:buNone/>
                      </a:pPr>
                      <a:r>
                        <a:rPr lang="en-US" sz="1100" dirty="0">
                          <a:solidFill>
                            <a:srgbClr val="1F2937"/>
                          </a:solidFill>
                        </a:rPr>
                        <a:t>기준은 </a:t>
                      </a:r>
                      <a:pPr indent="0" marL="0">
                        <a:buNone/>
                      </a:pPr>
                      <a:r>
                        <a:rPr lang="en-US" sz="1100" dirty="0">
                          <a:solidFill>
                            <a:srgbClr val="1F2937"/>
                          </a:solidFill>
                        </a:rPr>
                        <a:t>실제 </a:t>
                      </a:r>
                      <a:pPr indent="0" marL="0">
                        <a:buNone/>
                      </a:pPr>
                      <a:r>
                        <a:rPr lang="en-US" sz="1100" dirty="0">
                          <a:solidFill>
                            <a:srgbClr val="1F2937"/>
                          </a:solidFill>
                        </a:rPr>
                        <a:t>API·기기·베타 </a:t>
                      </a:r>
                      <a:pPr indent="0" marL="0">
                        <a:buNone/>
                      </a:pPr>
                      <a:r>
                        <a:rPr lang="en-US" sz="1100" dirty="0">
                          <a:solidFill>
                            <a:srgbClr val="1F2937"/>
                          </a:solidFill>
                        </a:rPr>
                        <a:t>규모를 </a:t>
                      </a:r>
                      <a:pPr indent="0" marL="0">
                        <a:buNone/>
                      </a:pPr>
                      <a:r>
                        <a:rPr lang="en-US" sz="1100" dirty="0">
                          <a:solidFill>
                            <a:srgbClr val="1F2937"/>
                          </a:solidFill>
                        </a:rPr>
                        <a:t>확인한 </a:t>
                      </a:r>
                      <a:pPr indent="0" marL="0">
                        <a:buNone/>
                      </a:pPr>
                      <a:r>
                        <a:rPr lang="en-US" sz="1100" dirty="0">
                          <a:solidFill>
                            <a:srgbClr val="1F2937"/>
                          </a:solidFill>
                        </a:rPr>
                        <a:t>뒤 </a:t>
                      </a:r>
                      <a:pPr indent="0" marL="0">
                        <a:buNone/>
                      </a:pPr>
                      <a:r>
                        <a:rPr lang="en-US" sz="1100" dirty="0">
                          <a:solidFill>
                            <a:srgbClr val="1F2937"/>
                          </a:solidFill>
                        </a:rPr>
                        <a:t>설정. </a:t>
                      </a:r>
                      <a:pPr indent="0" marL="0">
                        <a:buNone/>
                      </a:pPr>
                      <a:r>
                        <a:rPr lang="en-US" sz="1100" dirty="0">
                          <a:solidFill>
                            <a:srgbClr val="1F2937"/>
                          </a:solidFill>
                        </a:rPr>
                        <a:t>임의의 </a:t>
                      </a:r>
                      <a:pPr indent="0" marL="0">
                        <a:buNone/>
                      </a:pPr>
                      <a:r>
                        <a:rPr lang="en-US" sz="1100" dirty="0">
                          <a:solidFill>
                            <a:srgbClr val="1F2937"/>
                          </a:solidFill>
                        </a:rPr>
                        <a:t>목표 </a:t>
                      </a:r>
                      <a:pPr indent="0" marL="0">
                        <a:buNone/>
                      </a:pPr>
                      <a:r>
                        <a:rPr lang="en-US" sz="1100" dirty="0">
                          <a:solidFill>
                            <a:srgbClr val="1F2937"/>
                          </a:solidFill>
                        </a:rPr>
                        <a:t>수치 </a:t>
                      </a:r>
                      <a:pPr indent="0" marL="0">
                        <a:buNone/>
                      </a:pPr>
                      <a:r>
                        <a:rPr lang="en-US" sz="1100" dirty="0">
                          <a:solidFill>
                            <a:srgbClr val="1F2937"/>
                          </a:solidFill>
                        </a:rPr>
                        <a:t>미적용</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8. 미결정·사람 확인 항목</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아래 항목은 흐름 자체에 영향을 주므로, 확정되기 전까지 세부 화면·처리 규칙은 제안이나 추정으로 다룹니다.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8. 미결정·사람 확인 항목 (1/2)</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98"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1718268"/>
                <a:gridCol w="3255666"/>
                <a:gridCol w="3255666"/>
              </a:tblGrid>
              <a:tr h="0">
                <a:tc>
                  <a:txBody>
                    <a:bodyPr/>
                    <a:lstStyle/>
                    <a:p>
                      <a:pPr indent="0" marL="0">
                        <a:buNone/>
                      </a:pPr>
                      <a:r>
                        <a:rPr lang="en-US" sz="1200" b="1" dirty="0">
                          <a:solidFill>
                            <a:srgbClr val="FFFFFF"/>
                          </a:solidFill>
                        </a:rPr>
                        <a:t>항목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현재 </a:t>
                      </a:r>
                      <a:pPr indent="0" marL="0">
                        <a:buNone/>
                      </a:pPr>
                      <a:r>
                        <a:rPr lang="en-US" sz="1200" b="1" dirty="0">
                          <a:solidFill>
                            <a:srgbClr val="FFFFFF"/>
                          </a:solidFill>
                        </a:rPr>
                        <a:t>상태</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확인 </a:t>
                      </a:r>
                      <a:pPr indent="0" marL="0">
                        <a:buNone/>
                      </a:pPr>
                      <a:r>
                        <a:rPr lang="en-US" sz="1200" b="1" dirty="0">
                          <a:solidFill>
                            <a:srgbClr val="FFFFFF"/>
                          </a:solidFill>
                        </a:rPr>
                        <a:t>시점·담당</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로그인 </a:t>
                      </a:r>
                      <a:pPr indent="0" marL="0">
                        <a:buNone/>
                      </a:pPr>
                      <a:r>
                        <a:rPr lang="en-US" sz="1100" dirty="0">
                          <a:solidFill>
                            <a:srgbClr val="1F2937"/>
                          </a:solidFill>
                        </a:rPr>
                        <a:t>제공자 </a:t>
                      </a:r>
                      <a:pPr indent="0" marL="0">
                        <a:buNone/>
                      </a:pPr>
                      <a:r>
                        <a:rPr lang="en-US" sz="1100" dirty="0">
                          <a:solidFill>
                            <a:srgbClr val="1F2937"/>
                          </a:solidFill>
                        </a:rPr>
                        <a:t>및 </a:t>
                      </a:r>
                      <a:pPr indent="0" marL="0">
                        <a:buNone/>
                      </a:pPr>
                      <a:r>
                        <a:rPr lang="en-US" sz="1100" dirty="0">
                          <a:solidFill>
                            <a:srgbClr val="1F2937"/>
                          </a:solidFill>
                        </a:rPr>
                        <a:t>게스트 </a:t>
                      </a:r>
                      <a:pPr indent="0" marL="0">
                        <a:buNone/>
                      </a:pPr>
                      <a:r>
                        <a:rPr lang="en-US" sz="1100" dirty="0">
                          <a:solidFill>
                            <a:srgbClr val="1F2937"/>
                          </a:solidFill>
                        </a:rPr>
                        <a:t>계정 </a:t>
                      </a:r>
                      <a:pPr indent="0" marL="0">
                        <a:buNone/>
                      </a:pPr>
                      <a:r>
                        <a:rPr lang="en-US" sz="1100" dirty="0">
                          <a:solidFill>
                            <a:srgbClr val="1F2937"/>
                          </a:solidFill>
                        </a:rPr>
                        <a:t>방식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이메일·애플·구글 </a:t>
                      </a:r>
                      <a:pPr indent="0" marL="0">
                        <a:buNone/>
                      </a:pPr>
                      <a:r>
                        <a:rPr lang="en-US" sz="1100" dirty="0">
                          <a:solidFill>
                            <a:srgbClr val="1F2937"/>
                          </a:solidFill>
                        </a:rPr>
                        <a:t>우선 </a:t>
                      </a:r>
                      <a:pPr indent="0" marL="0">
                        <a:buNone/>
                      </a:pPr>
                      <a:r>
                        <a:rPr lang="en-US" sz="1100" dirty="0">
                          <a:solidFill>
                            <a:srgbClr val="1F2937"/>
                          </a:solidFill>
                        </a:rPr>
                        <a:t>검토. </a:t>
                      </a:r>
                      <a:pPr indent="0" marL="0">
                        <a:buNone/>
                      </a:pPr>
                      <a:r>
                        <a:rPr lang="en-US" sz="1100" dirty="0">
                          <a:solidFill>
                            <a:srgbClr val="1F2937"/>
                          </a:solidFill>
                        </a:rPr>
                        <a:t>게스트 </a:t>
                      </a:r>
                      <a:pPr indent="0" marL="0">
                        <a:buNone/>
                      </a:pPr>
                      <a:r>
                        <a:rPr lang="en-US" sz="1100" dirty="0">
                          <a:solidFill>
                            <a:srgbClr val="1F2937"/>
                          </a:solidFill>
                        </a:rPr>
                        <a:t>모드와 </a:t>
                      </a:r>
                      <a:pPr indent="0" marL="0">
                        <a:buNone/>
                      </a:pPr>
                      <a:r>
                        <a:rPr lang="en-US" sz="1100" dirty="0">
                          <a:solidFill>
                            <a:srgbClr val="1F2937"/>
                          </a:solidFill>
                        </a:rPr>
                        <a:t>계정 </a:t>
                      </a:r>
                      <a:pPr indent="0" marL="0">
                        <a:buNone/>
                      </a:pPr>
                      <a:r>
                        <a:rPr lang="en-US" sz="1100" dirty="0">
                          <a:solidFill>
                            <a:srgbClr val="1F2937"/>
                          </a:solidFill>
                        </a:rPr>
                        <a:t>병합·저장 </a:t>
                      </a:r>
                      <a:pPr indent="0" marL="0">
                        <a:buNone/>
                      </a:pPr>
                      <a:r>
                        <a:rPr lang="en-US" sz="1100" dirty="0">
                          <a:solidFill>
                            <a:srgbClr val="1F2937"/>
                          </a:solidFill>
                        </a:rPr>
                        <a:t>위치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다음 </a:t>
                      </a:r>
                      <a:pPr indent="0" marL="0">
                        <a:buNone/>
                      </a:pPr>
                      <a:r>
                        <a:rPr lang="en-US" sz="1100" dirty="0">
                          <a:solidFill>
                            <a:srgbClr val="1F2937"/>
                          </a:solidFill>
                        </a:rPr>
                        <a:t>주 </a:t>
                      </a:r>
                      <a:pPr indent="0" marL="0">
                        <a:buNone/>
                      </a:pPr>
                      <a:r>
                        <a:rPr lang="en-US" sz="1100" dirty="0">
                          <a:solidFill>
                            <a:srgbClr val="1F2937"/>
                          </a:solidFill>
                        </a:rPr>
                        <a:t>화요일까지 </a:t>
                      </a:r>
                      <a:pPr indent="0" marL="0">
                        <a:buNone/>
                      </a:pPr>
                      <a:r>
                        <a:rPr lang="en-US" sz="1100" dirty="0">
                          <a:solidFill>
                            <a:srgbClr val="1F2937"/>
                          </a:solidFill>
                        </a:rPr>
                        <a:t>범위 </a:t>
                      </a:r>
                      <a:pPr indent="0" marL="0">
                        <a:buNone/>
                      </a:pPr>
                      <a:r>
                        <a:rPr lang="en-US" sz="1100" dirty="0">
                          <a:solidFill>
                            <a:srgbClr val="1F2937"/>
                          </a:solidFill>
                        </a:rPr>
                        <a:t>동결 </a:t>
                      </a:r>
                      <a:pPr indent="0" marL="0">
                        <a:buNone/>
                      </a:pPr>
                      <a:r>
                        <a:rPr lang="en-US" sz="1100" dirty="0">
                          <a:solidFill>
                            <a:srgbClr val="1F2937"/>
                          </a:solidFill>
                        </a:rPr>
                        <a:t>목표. </a:t>
                      </a:r>
                      <a:pPr indent="0" marL="0">
                        <a:buNone/>
                      </a:pPr>
                      <a:r>
                        <a:rPr lang="en-US" sz="1100" dirty="0">
                          <a:solidFill>
                            <a:srgbClr val="1F2937"/>
                          </a:solidFill>
                        </a:rPr>
                        <a:t>최개발, </a:t>
                      </a:r>
                      <a:pPr indent="0" marL="0">
                        <a:buNone/>
                      </a:pPr>
                      <a:r>
                        <a:rPr lang="en-US" sz="1100" dirty="0">
                          <a:solidFill>
                            <a:srgbClr val="1F2937"/>
                          </a:solidFill>
                        </a:rPr>
                        <a:t>김PM</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자동 </a:t>
                      </a:r>
                      <a:pPr indent="0" marL="0">
                        <a:buNone/>
                      </a:pPr>
                      <a:r>
                        <a:rPr lang="en-US" sz="1100" dirty="0">
                          <a:solidFill>
                            <a:srgbClr val="1F2937"/>
                          </a:solidFill>
                        </a:rPr>
                        <a:t>권장 </a:t>
                      </a:r>
                      <a:pPr indent="0" marL="0">
                        <a:buNone/>
                      </a:pPr>
                      <a:r>
                        <a:rPr lang="en-US" sz="1100" dirty="0">
                          <a:solidFill>
                            <a:srgbClr val="1F2937"/>
                          </a:solidFill>
                        </a:rPr>
                        <a:t>칼로리와 </a:t>
                      </a:r>
                      <a:pPr indent="0" marL="0">
                        <a:buNone/>
                      </a:pPr>
                      <a:r>
                        <a:rPr lang="en-US" sz="1100" dirty="0">
                          <a:solidFill>
                            <a:srgbClr val="1F2937"/>
                          </a:solidFill>
                        </a:rPr>
                        <a:t>안전 </a:t>
                      </a:r>
                      <a:pPr indent="0" marL="0">
                        <a:buNone/>
                      </a:pPr>
                      <a:r>
                        <a:rPr lang="en-US" sz="1100" dirty="0">
                          <a:solidFill>
                            <a:srgbClr val="1F2937"/>
                          </a:solidFill>
                        </a:rPr>
                        <a:t>기준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전문가·제품·법률 </a:t>
                      </a:r>
                      <a:pPr indent="0" marL="0">
                        <a:buNone/>
                      </a:pPr>
                      <a:r>
                        <a:rPr lang="en-US" sz="1100" dirty="0">
                          <a:solidFill>
                            <a:srgbClr val="1F2937"/>
                          </a:solidFill>
                        </a:rPr>
                        <a:t>검토 </a:t>
                      </a:r>
                      <a:pPr indent="0" marL="0">
                        <a:buNone/>
                      </a:pPr>
                      <a:r>
                        <a:rPr lang="en-US" sz="1100" dirty="0">
                          <a:solidFill>
                            <a:srgbClr val="1F2937"/>
                          </a:solidFill>
                        </a:rPr>
                        <a:t>필요. </a:t>
                      </a:r>
                      <a:pPr indent="0" marL="0">
                        <a:buNone/>
                      </a:pPr>
                      <a:r>
                        <a:rPr lang="en-US" sz="1100" dirty="0">
                          <a:solidFill>
                            <a:srgbClr val="1F2937"/>
                          </a:solidFill>
                        </a:rPr>
                        <a:t>확인되지 </a:t>
                      </a:r>
                      <a:pPr indent="0" marL="0">
                        <a:buNone/>
                      </a:pPr>
                      <a:r>
                        <a:rPr lang="en-US" sz="1100" dirty="0">
                          <a:solidFill>
                            <a:srgbClr val="1F2937"/>
                          </a:solidFill>
                        </a:rPr>
                        <a:t>않으면 </a:t>
                      </a:r>
                      <a:pPr indent="0" marL="0">
                        <a:buNone/>
                      </a:pPr>
                      <a:r>
                        <a:rPr lang="en-US" sz="1100" dirty="0">
                          <a:solidFill>
                            <a:srgbClr val="1F2937"/>
                          </a:solidFill>
                        </a:rPr>
                        <a:t>MVP에서 </a:t>
                      </a:r>
                      <a:pPr indent="0" marL="0">
                        <a:buNone/>
                      </a:pPr>
                      <a:r>
                        <a:rPr lang="en-US" sz="1100" dirty="0">
                          <a:solidFill>
                            <a:srgbClr val="1F2937"/>
                          </a:solidFill>
                        </a:rPr>
                        <a:t>제외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다음 </a:t>
                      </a:r>
                      <a:pPr indent="0" marL="0">
                        <a:buNone/>
                      </a:pPr>
                      <a:r>
                        <a:rPr lang="en-US" sz="1100" dirty="0">
                          <a:solidFill>
                            <a:srgbClr val="1F2937"/>
                          </a:solidFill>
                        </a:rPr>
                        <a:t>주 </a:t>
                      </a:r>
                      <a:pPr indent="0" marL="0">
                        <a:buNone/>
                      </a:pPr>
                      <a:r>
                        <a:rPr lang="en-US" sz="1100" dirty="0">
                          <a:solidFill>
                            <a:srgbClr val="1F2937"/>
                          </a:solidFill>
                        </a:rPr>
                        <a:t>화요일까지 </a:t>
                      </a:r>
                      <a:pPr indent="0" marL="0">
                        <a:buNone/>
                      </a:pPr>
                      <a:r>
                        <a:rPr lang="en-US" sz="1100" dirty="0">
                          <a:solidFill>
                            <a:srgbClr val="1F2937"/>
                          </a:solidFill>
                        </a:rPr>
                        <a:t>확인 </a:t>
                      </a:r>
                      <a:pPr indent="0" marL="0">
                        <a:buNone/>
                      </a:pPr>
                      <a:r>
                        <a:rPr lang="en-US" sz="1100" dirty="0">
                          <a:solidFill>
                            <a:srgbClr val="1F2937"/>
                          </a:solidFill>
                        </a:rPr>
                        <a:t>목표. </a:t>
                      </a:r>
                      <a:pPr indent="0" marL="0">
                        <a:buNone/>
                      </a:pPr>
                      <a:r>
                        <a:rPr lang="en-US" sz="1100" dirty="0">
                          <a:solidFill>
                            <a:srgbClr val="1F2937"/>
                          </a:solidFill>
                        </a:rPr>
                        <a:t>이대표가 </a:t>
                      </a:r>
                      <a:pPr indent="0" marL="0">
                        <a:buNone/>
                      </a:pPr>
                      <a:r>
                        <a:rPr lang="en-US" sz="1100" dirty="0">
                          <a:solidFill>
                            <a:srgbClr val="1F2937"/>
                          </a:solidFill>
                        </a:rPr>
                        <a:t>전문가 </a:t>
                      </a:r>
                      <a:pPr indent="0" marL="0">
                        <a:buNone/>
                      </a:pPr>
                      <a:r>
                        <a:rPr lang="en-US" sz="1100" dirty="0">
                          <a:solidFill>
                            <a:srgbClr val="1F2937"/>
                          </a:solidFill>
                        </a:rPr>
                        <a:t>자문 </a:t>
                      </a:r>
                      <a:pPr indent="0" marL="0">
                        <a:buNone/>
                      </a:pPr>
                      <a:r>
                        <a:rPr lang="en-US" sz="1100" dirty="0">
                          <a:solidFill>
                            <a:srgbClr val="1F2937"/>
                          </a:solidFill>
                        </a:rPr>
                        <a:t>연결</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음식 </a:t>
                      </a:r>
                      <a:pPr indent="0" marL="0">
                        <a:buNone/>
                      </a:pPr>
                      <a:r>
                        <a:rPr lang="en-US" sz="1100" dirty="0">
                          <a:solidFill>
                            <a:srgbClr val="1F2937"/>
                          </a:solidFill>
                        </a:rPr>
                        <a:t>API </a:t>
                      </a:r>
                      <a:pPr indent="0" marL="0">
                        <a:buNone/>
                      </a:pPr>
                      <a:r>
                        <a:rPr lang="en-US" sz="1100" dirty="0">
                          <a:solidFill>
                            <a:srgbClr val="1F2937"/>
                          </a:solidFill>
                        </a:rPr>
                        <a:t>공급처·계약·라이선스</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국내 </a:t>
                      </a:r>
                      <a:pPr indent="0" marL="0">
                        <a:buNone/>
                      </a:pPr>
                      <a:r>
                        <a:rPr lang="en-US" sz="1100" dirty="0">
                          <a:solidFill>
                            <a:srgbClr val="1F2937"/>
                          </a:solidFill>
                        </a:rPr>
                        <a:t>데이터 </a:t>
                      </a:r>
                      <a:pPr indent="0" marL="0">
                        <a:buNone/>
                      </a:pPr>
                      <a:r>
                        <a:rPr lang="en-US" sz="1100" dirty="0">
                          <a:solidFill>
                            <a:srgbClr val="1F2937"/>
                          </a:solidFill>
                        </a:rPr>
                        <a:t>범위, </a:t>
                      </a:r>
                      <a:pPr indent="0" marL="0">
                        <a:buNone/>
                      </a:pPr>
                      <a:r>
                        <a:rPr lang="en-US" sz="1100" dirty="0">
                          <a:solidFill>
                            <a:srgbClr val="1F2937"/>
                          </a:solidFill>
                        </a:rPr>
                        <a:t>재표시 </a:t>
                      </a:r>
                      <a:pPr indent="0" marL="0">
                        <a:buNone/>
                      </a:pPr>
                      <a:r>
                        <a:rPr lang="en-US" sz="1100" dirty="0">
                          <a:solidFill>
                            <a:srgbClr val="1F2937"/>
                          </a:solidFill>
                        </a:rPr>
                        <a:t>권한, </a:t>
                      </a:r>
                      <a:pPr indent="0" marL="0">
                        <a:buNone/>
                      </a:pPr>
                      <a:r>
                        <a:rPr lang="en-US" sz="1100" dirty="0">
                          <a:solidFill>
                            <a:srgbClr val="1F2937"/>
                          </a:solidFill>
                        </a:rPr>
                        <a:t>검색어 </a:t>
                      </a:r>
                      <a:pPr indent="0" marL="0">
                        <a:buNone/>
                      </a:pPr>
                      <a:r>
                        <a:rPr lang="en-US" sz="1100" dirty="0">
                          <a:solidFill>
                            <a:srgbClr val="1F2937"/>
                          </a:solidFill>
                        </a:rPr>
                        <a:t>보관, </a:t>
                      </a:r>
                      <a:pPr indent="0" marL="0">
                        <a:buNone/>
                      </a:pPr>
                      <a:r>
                        <a:rPr lang="en-US" sz="1100" dirty="0">
                          <a:solidFill>
                            <a:srgbClr val="1F2937"/>
                          </a:solidFill>
                        </a:rPr>
                        <a:t>캐시 </a:t>
                      </a:r>
                      <a:pPr indent="0" marL="0">
                        <a:buNone/>
                      </a:pPr>
                      <a:r>
                        <a:rPr lang="en-US" sz="1100" dirty="0">
                          <a:solidFill>
                            <a:srgbClr val="1F2937"/>
                          </a:solidFill>
                        </a:rPr>
                        <a:t>기간, </a:t>
                      </a:r>
                      <a:pPr indent="0" marL="0">
                        <a:buNone/>
                      </a:pPr>
                      <a:r>
                        <a:rPr lang="en-US" sz="1100" dirty="0">
                          <a:solidFill>
                            <a:srgbClr val="1F2937"/>
                          </a:solidFill>
                        </a:rPr>
                        <a:t>비용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금요일까지 </a:t>
                      </a:r>
                      <a:pPr indent="0" marL="0">
                        <a:buNone/>
                      </a:pPr>
                      <a:r>
                        <a:rPr lang="en-US" sz="1100" dirty="0">
                          <a:solidFill>
                            <a:srgbClr val="1F2937"/>
                          </a:solidFill>
                        </a:rPr>
                        <a:t>샘플·조건 </a:t>
                      </a:r>
                      <a:pPr indent="0" marL="0">
                        <a:buNone/>
                      </a:pPr>
                      <a:r>
                        <a:rPr lang="en-US" sz="1100" dirty="0">
                          <a:solidFill>
                            <a:srgbClr val="1F2937"/>
                          </a:solidFill>
                        </a:rPr>
                        <a:t>확인. </a:t>
                      </a:r>
                      <a:pPr indent="0" marL="0">
                        <a:buNone/>
                      </a:pPr>
                      <a:r>
                        <a:rPr lang="en-US" sz="1100" dirty="0">
                          <a:solidFill>
                            <a:srgbClr val="1F2937"/>
                          </a:solidFill>
                        </a:rPr>
                        <a:t>2주 </a:t>
                      </a:r>
                      <a:pPr indent="0" marL="0">
                        <a:buNone/>
                      </a:pPr>
                      <a:r>
                        <a:rPr lang="en-US" sz="1100" dirty="0">
                          <a:solidFill>
                            <a:srgbClr val="1F2937"/>
                          </a:solidFill>
                        </a:rPr>
                        <a:t>차 </a:t>
                      </a:r>
                      <a:pPr indent="0" marL="0">
                        <a:buNone/>
                      </a:pPr>
                      <a:r>
                        <a:rPr lang="en-US" sz="1100" dirty="0">
                          <a:solidFill>
                            <a:srgbClr val="1F2937"/>
                          </a:solidFill>
                        </a:rPr>
                        <a:t>화요일까지 </a:t>
                      </a:r>
                      <a:pPr indent="0" marL="0">
                        <a:buNone/>
                      </a:pPr>
                      <a:r>
                        <a:rPr lang="en-US" sz="1100" dirty="0">
                          <a:solidFill>
                            <a:srgbClr val="1F2937"/>
                          </a:solidFill>
                        </a:rPr>
                        <a:t>미정이면 </a:t>
                      </a:r>
                      <a:pPr indent="0" marL="0">
                        <a:buNone/>
                      </a:pPr>
                      <a:r>
                        <a:rPr lang="en-US" sz="1100" dirty="0">
                          <a:solidFill>
                            <a:srgbClr val="1F2937"/>
                          </a:solidFill>
                        </a:rPr>
                        <a:t>일정 </a:t>
                      </a:r>
                      <a:pPr indent="0" marL="0">
                        <a:buNone/>
                      </a:pPr>
                      <a:r>
                        <a:rPr lang="en-US" sz="1100" dirty="0">
                          <a:solidFill>
                            <a:srgbClr val="1F2937"/>
                          </a:solidFill>
                        </a:rPr>
                        <a:t>위험 </a:t>
                      </a:r>
                      <a:pPr indent="0" marL="0">
                        <a:buNone/>
                      </a:pPr>
                      <a:r>
                        <a:rPr lang="en-US" sz="1100" dirty="0">
                          <a:solidFill>
                            <a:srgbClr val="1F2937"/>
                          </a:solidFill>
                        </a:rPr>
                        <a:t>상향</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검색 </a:t>
                      </a:r>
                      <a:pPr indent="0" marL="0">
                        <a:buNone/>
                      </a:pPr>
                      <a:r>
                        <a:rPr lang="en-US" sz="1100" dirty="0">
                          <a:solidFill>
                            <a:srgbClr val="1F2937"/>
                          </a:solidFill>
                        </a:rPr>
                        <a:t>디바운스 </a:t>
                      </a:r>
                      <a:pPr indent="0" marL="0">
                        <a:buNone/>
                      </a:pPr>
                      <a:r>
                        <a:rPr lang="en-US" sz="1100" dirty="0">
                          <a:solidFill>
                            <a:srgbClr val="1F2937"/>
                          </a:solidFill>
                        </a:rPr>
                        <a:t>기준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앞선 </a:t>
                      </a:r>
                      <a:pPr indent="0" marL="0">
                        <a:buNone/>
                      </a:pPr>
                      <a:r>
                        <a:rPr lang="en-US" sz="1100" dirty="0">
                          <a:solidFill>
                            <a:srgbClr val="1F2937"/>
                          </a:solidFill>
                        </a:rPr>
                        <a:t>논의에는 </a:t>
                      </a:r>
                      <a:pPr indent="0" marL="0">
                        <a:buNone/>
                      </a:pPr>
                      <a:r>
                        <a:rPr lang="en-US" sz="1100" dirty="0">
                          <a:solidFill>
                            <a:srgbClr val="1F2937"/>
                          </a:solidFill>
                        </a:rPr>
                        <a:t>약 </a:t>
                      </a:r>
                      <a:pPr indent="0" marL="0">
                        <a:buNone/>
                      </a:pPr>
                      <a:r>
                        <a:rPr lang="en-US" sz="1100" dirty="0">
                          <a:solidFill>
                            <a:srgbClr val="1F2937"/>
                          </a:solidFill>
                        </a:rPr>
                        <a:t>300밀리초, </a:t>
                      </a:r>
                      <a:pPr indent="0" marL="0">
                        <a:buNone/>
                      </a:pPr>
                      <a:r>
                        <a:rPr lang="en-US" sz="1100" dirty="0">
                          <a:solidFill>
                            <a:srgbClr val="1F2937"/>
                          </a:solidFill>
                        </a:rPr>
                        <a:t>후반부 </a:t>
                      </a:r>
                      <a:pPr indent="0" marL="0">
                        <a:buNone/>
                      </a:pPr>
                      <a:r>
                        <a:rPr lang="en-US" sz="1100" dirty="0">
                          <a:solidFill>
                            <a:srgbClr val="1F2937"/>
                          </a:solidFill>
                        </a:rPr>
                        <a:t>최종 </a:t>
                      </a:r>
                      <a:pPr indent="0" marL="0">
                        <a:buNone/>
                      </a:pPr>
                      <a:r>
                        <a:rPr lang="en-US" sz="1100" dirty="0">
                          <a:solidFill>
                            <a:srgbClr val="1F2937"/>
                          </a:solidFill>
                        </a:rPr>
                        <a:t>논의에는 </a:t>
                      </a:r>
                      <a:pPr indent="0" marL="0">
                        <a:buNone/>
                      </a:pPr>
                      <a:r>
                        <a:rPr lang="en-US" sz="1100" dirty="0">
                          <a:solidFill>
                            <a:srgbClr val="1F2937"/>
                          </a:solidFill>
                        </a:rPr>
                        <a:t>약 </a:t>
                      </a:r>
                      <a:pPr indent="0" marL="0">
                        <a:buNone/>
                      </a:pPr>
                      <a:r>
                        <a:rPr lang="en-US" sz="1100" dirty="0">
                          <a:solidFill>
                            <a:srgbClr val="1F2937"/>
                          </a:solidFill>
                        </a:rPr>
                        <a:t>350밀리초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구현 </a:t>
                      </a:r>
                      <a:pPr indent="0" marL="0">
                        <a:buNone/>
                      </a:pPr>
                      <a:r>
                        <a:rPr lang="en-US" sz="1100" dirty="0">
                          <a:solidFill>
                            <a:srgbClr val="1F2937"/>
                          </a:solidFill>
                        </a:rPr>
                        <a:t>전 </a:t>
                      </a:r>
                      <a:pPr indent="0" marL="0">
                        <a:buNone/>
                      </a:pPr>
                      <a:r>
                        <a:rPr lang="en-US" sz="1100" dirty="0">
                          <a:solidFill>
                            <a:srgbClr val="1F2937"/>
                          </a:solidFill>
                        </a:rPr>
                        <a:t>단일 </a:t>
                      </a:r>
                      <a:pPr indent="0" marL="0">
                        <a:buNone/>
                      </a:pPr>
                      <a:r>
                        <a:rPr lang="en-US" sz="1100" dirty="0">
                          <a:solidFill>
                            <a:srgbClr val="1F2937"/>
                          </a:solidFill>
                        </a:rPr>
                        <a:t>기준 </a:t>
                      </a:r>
                      <a:pPr indent="0" marL="0">
                        <a:buNone/>
                      </a:pPr>
                      <a:r>
                        <a:rPr lang="en-US" sz="1100" dirty="0">
                          <a:solidFill>
                            <a:srgbClr val="1F2937"/>
                          </a:solidFill>
                        </a:rPr>
                        <a:t>확정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사진 </a:t>
                      </a:r>
                      <a:pPr indent="0" marL="0">
                        <a:buNone/>
                      </a:pPr>
                      <a:r>
                        <a:rPr lang="en-US" sz="1100" dirty="0">
                          <a:solidFill>
                            <a:srgbClr val="1F2937"/>
                          </a:solidFill>
                        </a:rPr>
                        <a:t>첨부 </a:t>
                      </a:r>
                      <a:pPr indent="0" marL="0">
                        <a:buNone/>
                      </a:pPr>
                      <a:r>
                        <a:rPr lang="en-US" sz="1100" dirty="0">
                          <a:solidFill>
                            <a:srgbClr val="1F2937"/>
                          </a:solidFill>
                        </a:rPr>
                        <a:t>통합 </a:t>
                      </a:r>
                      <a:pPr indent="0" marL="0">
                        <a:buNone/>
                      </a:pPr>
                      <a:r>
                        <a:rPr lang="en-US" sz="1100" dirty="0">
                          <a:solidFill>
                            <a:srgbClr val="1F2937"/>
                          </a:solidFill>
                        </a:rPr>
                        <a:t>범위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후반부에 </a:t>
                      </a:r>
                      <a:pPr indent="0" marL="0">
                        <a:buNone/>
                      </a:pPr>
                      <a:r>
                        <a:rPr lang="en-US" sz="1100" dirty="0">
                          <a:solidFill>
                            <a:srgbClr val="1F2937"/>
                          </a:solidFill>
                        </a:rPr>
                        <a:t>식사당 </a:t>
                      </a:r>
                      <a:pPr indent="0" marL="0">
                        <a:buNone/>
                      </a:pPr>
                      <a:r>
                        <a:rPr lang="en-US" sz="1100" dirty="0">
                          <a:solidFill>
                            <a:srgbClr val="1F2937"/>
                          </a:solidFill>
                        </a:rPr>
                        <a:t>사진 </a:t>
                      </a:r>
                      <a:pPr indent="0" marL="0">
                        <a:buNone/>
                      </a:pPr>
                      <a:r>
                        <a:rPr lang="en-US" sz="1100" dirty="0">
                          <a:solidFill>
                            <a:srgbClr val="1F2937"/>
                          </a:solidFill>
                        </a:rPr>
                        <a:t>한 </a:t>
                      </a:r>
                      <a:pPr indent="0" marL="0">
                        <a:buNone/>
                      </a:pPr>
                      <a:r>
                        <a:rPr lang="en-US" sz="1100" dirty="0">
                          <a:solidFill>
                            <a:srgbClr val="1F2937"/>
                          </a:solidFill>
                        </a:rPr>
                        <a:t>장 </a:t>
                      </a:r>
                      <a:pPr indent="0" marL="0">
                        <a:buNone/>
                      </a:pPr>
                      <a:r>
                        <a:rPr lang="en-US" sz="1100" dirty="0">
                          <a:solidFill>
                            <a:srgbClr val="1F2937"/>
                          </a:solidFill>
                        </a:rPr>
                        <a:t>포함 </a:t>
                      </a:r>
                      <a:pPr indent="0" marL="0">
                        <a:buNone/>
                      </a:pPr>
                      <a:r>
                        <a:rPr lang="en-US" sz="1100" dirty="0">
                          <a:solidFill>
                            <a:srgbClr val="1F2937"/>
                          </a:solidFill>
                        </a:rPr>
                        <a:t>방향. </a:t>
                      </a:r>
                      <a:pPr indent="0" marL="0">
                        <a:buNone/>
                      </a:pPr>
                      <a:r>
                        <a:rPr lang="en-US" sz="1100" dirty="0">
                          <a:solidFill>
                            <a:srgbClr val="1F2937"/>
                          </a:solidFill>
                        </a:rPr>
                        <a:t>기본 </a:t>
                      </a:r>
                      <a:pPr indent="0" marL="0">
                        <a:buNone/>
                      </a:pPr>
                      <a:r>
                        <a:rPr lang="en-US" sz="1100" dirty="0">
                          <a:solidFill>
                            <a:srgbClr val="1F2937"/>
                          </a:solidFill>
                        </a:rPr>
                        <a:t>기록 </a:t>
                      </a:r>
                      <a:pPr indent="0" marL="0">
                        <a:buNone/>
                      </a:pPr>
                      <a:r>
                        <a:rPr lang="en-US" sz="1100" dirty="0">
                          <a:solidFill>
                            <a:srgbClr val="1F2937"/>
                          </a:solidFill>
                        </a:rPr>
                        <a:t>우선, </a:t>
                      </a:r>
                      <a:pPr indent="0" marL="0">
                        <a:buNone/>
                      </a:pPr>
                      <a:r>
                        <a:rPr lang="en-US" sz="1100" dirty="0">
                          <a:solidFill>
                            <a:srgbClr val="1F2937"/>
                          </a:solidFill>
                        </a:rPr>
                        <a:t>5주 </a:t>
                      </a:r>
                      <a:pPr indent="0" marL="0">
                        <a:buNone/>
                      </a:pPr>
                      <a:r>
                        <a:rPr lang="en-US" sz="1100" dirty="0">
                          <a:solidFill>
                            <a:srgbClr val="1F2937"/>
                          </a:solidFill>
                        </a:rPr>
                        <a:t>차까지 </a:t>
                      </a:r>
                      <a:pPr indent="0" marL="0">
                        <a:buNone/>
                      </a:pPr>
                      <a:r>
                        <a:rPr lang="en-US" sz="1100" dirty="0">
                          <a:solidFill>
                            <a:srgbClr val="1F2937"/>
                          </a:solidFill>
                        </a:rPr>
                        <a:t>여건에 </a:t>
                      </a:r>
                      <a:pPr indent="0" marL="0">
                        <a:buNone/>
                      </a:pPr>
                      <a:r>
                        <a:rPr lang="en-US" sz="1100" dirty="0">
                          <a:solidFill>
                            <a:srgbClr val="1F2937"/>
                          </a:solidFill>
                        </a:rPr>
                        <a:t>따라 </a:t>
                      </a:r>
                      <a:pPr indent="0" marL="0">
                        <a:buNone/>
                      </a:pPr>
                      <a:r>
                        <a:rPr lang="en-US" sz="1100" dirty="0">
                          <a:solidFill>
                            <a:srgbClr val="1F2937"/>
                          </a:solidFill>
                        </a:rPr>
                        <a:t>통합</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사진 </a:t>
                      </a:r>
                      <a:pPr indent="0" marL="0">
                        <a:buNone/>
                      </a:pPr>
                      <a:r>
                        <a:rPr lang="en-US" sz="1100" dirty="0">
                          <a:solidFill>
                            <a:srgbClr val="1F2937"/>
                          </a:solidFill>
                        </a:rPr>
                        <a:t>저장·삭제·권한·실패 </a:t>
                      </a:r>
                      <a:pPr indent="0" marL="0">
                        <a:buNone/>
                      </a:pPr>
                      <a:r>
                        <a:rPr lang="en-US" sz="1100" dirty="0">
                          <a:solidFill>
                            <a:srgbClr val="1F2937"/>
                          </a:solidFill>
                        </a:rPr>
                        <a:t>처리 </a:t>
                      </a:r>
                      <a:pPr indent="0" marL="0">
                        <a:buNone/>
                      </a:pPr>
                      <a:r>
                        <a:rPr lang="en-US" sz="1100" dirty="0">
                          <a:solidFill>
                            <a:srgbClr val="1F2937"/>
                          </a:solidFill>
                        </a:rPr>
                        <a:t>범위 </a:t>
                      </a:r>
                      <a:pPr indent="0" marL="0">
                        <a:buNone/>
                      </a:pPr>
                      <a:r>
                        <a:rPr lang="en-US" sz="1100" dirty="0">
                          <a:solidFill>
                            <a:srgbClr val="1F2937"/>
                          </a:solidFill>
                        </a:rPr>
                        <a:t>확정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사진 </a:t>
                      </a:r>
                      <a:pPr indent="0" marL="0">
                        <a:buNone/>
                      </a:pPr>
                      <a:r>
                        <a:rPr lang="en-US" sz="1100" dirty="0">
                          <a:solidFill>
                            <a:srgbClr val="1F2937"/>
                          </a:solidFill>
                        </a:rPr>
                        <a:t>자동 </a:t>
                      </a:r>
                      <a:pPr indent="0" marL="0">
                        <a:buNone/>
                      </a:pPr>
                      <a:r>
                        <a:rPr lang="en-US" sz="1100" dirty="0">
                          <a:solidFill>
                            <a:srgbClr val="1F2937"/>
                          </a:solidFill>
                        </a:rPr>
                        <a:t>인식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MVP </a:t>
                      </a:r>
                      <a:pPr indent="0" marL="0">
                        <a:buNone/>
                      </a:pPr>
                      <a:r>
                        <a:rPr lang="en-US" sz="1100" dirty="0">
                          <a:solidFill>
                            <a:srgbClr val="1F2937"/>
                          </a:solidFill>
                        </a:rPr>
                        <a:t>필수 </a:t>
                      </a:r>
                      <a:pPr indent="0" marL="0">
                        <a:buNone/>
                      </a:pPr>
                      <a:r>
                        <a:rPr lang="en-US" sz="1100" dirty="0">
                          <a:solidFill>
                            <a:srgbClr val="1F2937"/>
                          </a:solidFill>
                        </a:rPr>
                        <a:t>아님. </a:t>
                      </a:r>
                      <a:pPr indent="0" marL="0">
                        <a:buNone/>
                      </a:pPr>
                      <a:r>
                        <a:rPr lang="en-US" sz="1100" dirty="0">
                          <a:solidFill>
                            <a:srgbClr val="1F2937"/>
                          </a:solidFill>
                        </a:rPr>
                        <a:t>1주 </a:t>
                      </a:r>
                      <a:pPr indent="0" marL="0">
                        <a:buNone/>
                      </a:pPr>
                      <a:r>
                        <a:rPr lang="en-US" sz="1100" dirty="0">
                          <a:solidFill>
                            <a:srgbClr val="1F2937"/>
                          </a:solidFill>
                        </a:rPr>
                        <a:t>차 </a:t>
                      </a:r>
                      <a:pPr indent="0" marL="0">
                        <a:buNone/>
                      </a:pPr>
                      <a:r>
                        <a:rPr lang="en-US" sz="1100" dirty="0">
                          <a:solidFill>
                            <a:srgbClr val="1F2937"/>
                          </a:solidFill>
                        </a:rPr>
                        <a:t>기술 </a:t>
                      </a:r>
                      <a:pPr indent="0" marL="0">
                        <a:buNone/>
                      </a:pPr>
                      <a:r>
                        <a:rPr lang="en-US" sz="1100" dirty="0">
                          <a:solidFill>
                            <a:srgbClr val="1F2937"/>
                          </a:solidFill>
                        </a:rPr>
                        <a:t>검증 </a:t>
                      </a:r>
                      <a:pPr indent="0" marL="0">
                        <a:buNone/>
                      </a:pPr>
                      <a:r>
                        <a:rPr lang="en-US" sz="1100" dirty="0">
                          <a:solidFill>
                            <a:srgbClr val="1F2937"/>
                          </a:solidFill>
                        </a:rPr>
                        <a:t>후 </a:t>
                      </a:r>
                      <a:pPr indent="0" marL="0">
                        <a:buNone/>
                      </a:pPr>
                      <a:r>
                        <a:rPr lang="en-US" sz="1100" dirty="0">
                          <a:solidFill>
                            <a:srgbClr val="1F2937"/>
                          </a:solidFill>
                        </a:rPr>
                        <a:t>별도 </a:t>
                      </a:r>
                      <a:pPr indent="0" marL="0">
                        <a:buNone/>
                      </a:pPr>
                      <a:r>
                        <a:rPr lang="en-US" sz="1100" dirty="0">
                          <a:solidFill>
                            <a:srgbClr val="1F2937"/>
                          </a:solidFill>
                        </a:rPr>
                        <a:t>판단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1주 </a:t>
                      </a:r>
                      <a:pPr indent="0" marL="0">
                        <a:buNone/>
                      </a:pPr>
                      <a:r>
                        <a:rPr lang="en-US" sz="1100" dirty="0">
                          <a:solidFill>
                            <a:srgbClr val="1F2937"/>
                          </a:solidFill>
                        </a:rPr>
                        <a:t>차 </a:t>
                      </a:r>
                      <a:pPr indent="0" marL="0">
                        <a:buNone/>
                      </a:pPr>
                      <a:r>
                        <a:rPr lang="en-US" sz="1100" dirty="0">
                          <a:solidFill>
                            <a:srgbClr val="1F2937"/>
                          </a:solidFill>
                        </a:rPr>
                        <a:t>금요일 </a:t>
                      </a:r>
                      <a:pPr indent="0" marL="0">
                        <a:buNone/>
                      </a:pPr>
                      <a:r>
                        <a:rPr lang="en-US" sz="1100" dirty="0">
                          <a:solidFill>
                            <a:srgbClr val="1F2937"/>
                          </a:solidFill>
                        </a:rPr>
                        <a:t>검증 </a:t>
                      </a:r>
                      <a:pPr indent="0" marL="0">
                        <a:buNone/>
                      </a:pPr>
                      <a:r>
                        <a:rPr lang="en-US" sz="1100" dirty="0">
                          <a:solidFill>
                            <a:srgbClr val="1F2937"/>
                          </a:solidFill>
                        </a:rPr>
                        <a:t>결과와 </a:t>
                      </a:r>
                      <a:pPr indent="0" marL="0">
                        <a:buNone/>
                      </a:pPr>
                      <a:r>
                        <a:rPr lang="en-US" sz="1100" dirty="0">
                          <a:solidFill>
                            <a:srgbClr val="1F2937"/>
                          </a:solidFill>
                        </a:rPr>
                        <a:t>일정 </a:t>
                      </a:r>
                      <a:pPr indent="0" marL="0">
                        <a:buNone/>
                      </a:pPr>
                      <a:r>
                        <a:rPr lang="en-US" sz="1100" dirty="0">
                          <a:solidFill>
                            <a:srgbClr val="1F2937"/>
                          </a:solidFill>
                        </a:rPr>
                        <a:t>영향 </a:t>
                      </a:r>
                      <a:pPr indent="0" marL="0">
                        <a:buNone/>
                      </a:pPr>
                      <a:r>
                        <a:rPr lang="en-US" sz="1100" dirty="0">
                          <a:solidFill>
                            <a:srgbClr val="1F2937"/>
                          </a:solidFill>
                        </a:rPr>
                        <a:t>검토</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최근 </a:t>
                      </a:r>
                      <a:pPr indent="0" marL="0">
                        <a:buNone/>
                      </a:pPr>
                      <a:r>
                        <a:rPr lang="en-US" sz="1100" dirty="0">
                          <a:solidFill>
                            <a:srgbClr val="1F2937"/>
                          </a:solidFill>
                        </a:rPr>
                        <a:t>날짜 </a:t>
                      </a:r>
                      <a:pPr indent="0" marL="0">
                        <a:buNone/>
                      </a:pPr>
                      <a:r>
                        <a:rPr lang="en-US" sz="1100" dirty="0">
                          <a:solidFill>
                            <a:srgbClr val="1F2937"/>
                          </a:solidFill>
                        </a:rPr>
                        <a:t>탐색 </a:t>
                      </a:r>
                      <a:pPr indent="0" marL="0">
                        <a:buNone/>
                      </a:pPr>
                      <a:r>
                        <a:rPr lang="en-US" sz="1100" dirty="0">
                          <a:solidFill>
                            <a:srgbClr val="1F2937"/>
                          </a:solidFill>
                        </a:rPr>
                        <a:t>범위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최근 </a:t>
                      </a:r>
                      <a:pPr indent="0" marL="0">
                        <a:buNone/>
                      </a:pPr>
                      <a:r>
                        <a:rPr lang="en-US" sz="1100" dirty="0">
                          <a:solidFill>
                            <a:srgbClr val="1F2937"/>
                          </a:solidFill>
                        </a:rPr>
                        <a:t>7일 </a:t>
                      </a:r>
                      <a:pPr indent="0" marL="0">
                        <a:buNone/>
                      </a:pPr>
                      <a:r>
                        <a:rPr lang="en-US" sz="1100" dirty="0">
                          <a:solidFill>
                            <a:srgbClr val="1F2937"/>
                          </a:solidFill>
                        </a:rPr>
                        <a:t>탐색과 </a:t>
                      </a:r>
                      <a:pPr indent="0" marL="0">
                        <a:buNone/>
                      </a:pPr>
                      <a:r>
                        <a:rPr lang="en-US" sz="1100" dirty="0">
                          <a:solidFill>
                            <a:srgbClr val="1F2937"/>
                          </a:solidFill>
                        </a:rPr>
                        <a:t>OS </a:t>
                      </a:r>
                      <a:pPr indent="0" marL="0">
                        <a:buNone/>
                      </a:pPr>
                      <a:r>
                        <a:rPr lang="en-US" sz="1100" dirty="0">
                          <a:solidFill>
                            <a:srgbClr val="1F2937"/>
                          </a:solidFill>
                        </a:rPr>
                        <a:t>날짜 </a:t>
                      </a:r>
                      <a:pPr indent="0" marL="0">
                        <a:buNone/>
                      </a:pPr>
                      <a:r>
                        <a:rPr lang="en-US" sz="1100" dirty="0">
                          <a:solidFill>
                            <a:srgbClr val="1F2937"/>
                          </a:solidFill>
                        </a:rPr>
                        <a:t>선택기를 </a:t>
                      </a:r>
                      <a:pPr indent="0" marL="0">
                        <a:buNone/>
                      </a:pPr>
                      <a:r>
                        <a:rPr lang="en-US" sz="1100" dirty="0">
                          <a:solidFill>
                            <a:srgbClr val="1F2937"/>
                          </a:solidFill>
                        </a:rPr>
                        <a:t>통한 </a:t>
                      </a:r>
                      <a:pPr indent="0" marL="0">
                        <a:buNone/>
                      </a:pPr>
                      <a:r>
                        <a:rPr lang="en-US" sz="1100" dirty="0">
                          <a:solidFill>
                            <a:srgbClr val="1F2937"/>
                          </a:solidFill>
                        </a:rPr>
                        <a:t>과거 </a:t>
                      </a:r>
                      <a:pPr indent="0" marL="0">
                        <a:buNone/>
                      </a:pPr>
                      <a:r>
                        <a:rPr lang="en-US" sz="1100" dirty="0">
                          <a:solidFill>
                            <a:srgbClr val="1F2937"/>
                          </a:solidFill>
                        </a:rPr>
                        <a:t>날짜 </a:t>
                      </a:r>
                      <a:pPr indent="0" marL="0">
                        <a:buNone/>
                      </a:pPr>
                      <a:r>
                        <a:rPr lang="en-US" sz="1100" dirty="0">
                          <a:solidFill>
                            <a:srgbClr val="1F2937"/>
                          </a:solidFill>
                        </a:rPr>
                        <a:t>선택이 </a:t>
                      </a:r>
                      <a:pPr indent="0" marL="0">
                        <a:buNone/>
                      </a:pPr>
                      <a:r>
                        <a:rPr lang="en-US" sz="1100" dirty="0">
                          <a:solidFill>
                            <a:srgbClr val="1F2937"/>
                          </a:solidFill>
                        </a:rPr>
                        <a:t>함께 </a:t>
                      </a:r>
                      <a:pPr indent="0" marL="0">
                        <a:buNone/>
                      </a:pPr>
                      <a:r>
                        <a:rPr lang="en-US" sz="1100" dirty="0">
                          <a:solidFill>
                            <a:srgbClr val="1F2937"/>
                          </a:solidFill>
                        </a:rPr>
                        <a:t>논의됨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화면 </a:t>
                      </a:r>
                      <a:pPr indent="0" marL="0">
                        <a:buNone/>
                      </a:pPr>
                      <a:r>
                        <a:rPr lang="en-US" sz="1100" dirty="0">
                          <a:solidFill>
                            <a:srgbClr val="1F2937"/>
                          </a:solidFill>
                        </a:rPr>
                        <a:t>범위·과거 </a:t>
                      </a:r>
                      <a:pPr indent="0" marL="0">
                        <a:buNone/>
                      </a:pPr>
                      <a:r>
                        <a:rPr lang="en-US" sz="1100" dirty="0">
                          <a:solidFill>
                            <a:srgbClr val="1F2937"/>
                          </a:solidFill>
                        </a:rPr>
                        <a:t>입력 </a:t>
                      </a:r>
                      <a:pPr indent="0" marL="0">
                        <a:buNone/>
                      </a:pPr>
                      <a:r>
                        <a:rPr lang="en-US" sz="1100" dirty="0">
                          <a:solidFill>
                            <a:srgbClr val="1F2937"/>
                          </a:solidFill>
                        </a:rPr>
                        <a:t>정책 </a:t>
                      </a:r>
                      <a:pPr indent="0" marL="0">
                        <a:buNone/>
                      </a:pPr>
                      <a:r>
                        <a:rPr lang="en-US" sz="1100" dirty="0">
                          <a:solidFill>
                            <a:srgbClr val="1F2937"/>
                          </a:solidFill>
                        </a:rPr>
                        <a:t>확정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기록 </a:t>
                      </a:r>
                      <a:pPr indent="0" marL="0">
                        <a:buNone/>
                      </a:pPr>
                      <a:r>
                        <a:rPr lang="en-US" sz="1100" dirty="0">
                          <a:solidFill>
                            <a:srgbClr val="1F2937"/>
                          </a:solidFill>
                        </a:rPr>
                        <a:t>전체 </a:t>
                      </a:r>
                      <a:pPr indent="0" marL="0">
                        <a:buNone/>
                      </a:pPr>
                      <a:r>
                        <a:rPr lang="en-US" sz="1100" dirty="0">
                          <a:solidFill>
                            <a:srgbClr val="1F2937"/>
                          </a:solidFill>
                        </a:rPr>
                        <a:t>초기화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MVP </a:t>
                      </a:r>
                      <a:pPr indent="0" marL="0">
                        <a:buNone/>
                      </a:pPr>
                      <a:r>
                        <a:rPr lang="en-US" sz="1100" dirty="0">
                          <a:solidFill>
                            <a:srgbClr val="1F2937"/>
                          </a:solidFill>
                        </a:rPr>
                        <a:t>필수 </a:t>
                      </a:r>
                      <a:pPr indent="0" marL="0">
                        <a:buNone/>
                      </a:pPr>
                      <a:r>
                        <a:rPr lang="en-US" sz="1100" dirty="0">
                          <a:solidFill>
                            <a:srgbClr val="1F2937"/>
                          </a:solidFill>
                        </a:rPr>
                        <a:t>제외, </a:t>
                      </a:r>
                      <a:pPr indent="0" marL="0">
                        <a:buNone/>
                      </a:pPr>
                      <a:r>
                        <a:rPr lang="en-US" sz="1100" dirty="0">
                          <a:solidFill>
                            <a:srgbClr val="1F2937"/>
                          </a:solidFill>
                        </a:rPr>
                        <a:t>여유가 </a:t>
                      </a:r>
                      <a:pPr indent="0" marL="0">
                        <a:buNone/>
                      </a:pPr>
                      <a:r>
                        <a:rPr lang="en-US" sz="1100" dirty="0">
                          <a:solidFill>
                            <a:srgbClr val="1F2937"/>
                          </a:solidFill>
                        </a:rPr>
                        <a:t>있으면 </a:t>
                      </a:r>
                      <a:pPr indent="0" marL="0">
                        <a:buNone/>
                      </a:pPr>
                      <a:r>
                        <a:rPr lang="en-US" sz="1100" dirty="0">
                          <a:solidFill>
                            <a:srgbClr val="1F2937"/>
                          </a:solidFill>
                        </a:rPr>
                        <a:t>후보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삭제 </a:t>
                      </a:r>
                      <a:pPr indent="0" marL="0">
                        <a:buNone/>
                      </a:pPr>
                      <a:r>
                        <a:rPr lang="en-US" sz="1100" dirty="0">
                          <a:solidFill>
                            <a:srgbClr val="1F2937"/>
                          </a:solidFill>
                        </a:rPr>
                        <a:t>대상과 </a:t>
                      </a:r>
                      <a:pPr indent="0" marL="0">
                        <a:buNone/>
                      </a:pPr>
                      <a:r>
                        <a:rPr lang="en-US" sz="1100" dirty="0">
                          <a:solidFill>
                            <a:srgbClr val="1F2937"/>
                          </a:solidFill>
                        </a:rPr>
                        <a:t>난이도 </a:t>
                      </a:r>
                      <a:pPr indent="0" marL="0">
                        <a:buNone/>
                      </a:pPr>
                      <a:r>
                        <a:rPr lang="en-US" sz="1100" dirty="0">
                          <a:solidFill>
                            <a:srgbClr val="1F2937"/>
                          </a:solidFill>
                        </a:rPr>
                        <a:t>확인 </a:t>
                      </a:r>
                      <a:pPr indent="0" marL="0">
                        <a:buNone/>
                      </a:pPr>
                      <a:r>
                        <a:rPr lang="en-US" sz="1100" dirty="0">
                          <a:solidFill>
                            <a:srgbClr val="1F2937"/>
                          </a:solidFill>
                        </a:rPr>
                        <a:t>후 </a:t>
                      </a:r>
                      <a:pPr indent="0" marL="0">
                        <a:buNone/>
                      </a:pPr>
                      <a:r>
                        <a:rPr lang="en-US" sz="1100" dirty="0">
                          <a:solidFill>
                            <a:srgbClr val="1F2937"/>
                          </a:solidFill>
                        </a:rPr>
                        <a:t>판단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데이터 </a:t>
                      </a:r>
                      <a:pPr indent="0" marL="0">
                        <a:buNone/>
                      </a:pPr>
                      <a:r>
                        <a:rPr lang="en-US" sz="1100" dirty="0">
                          <a:solidFill>
                            <a:srgbClr val="1F2937"/>
                          </a:solidFill>
                        </a:rPr>
                        <a:t>다운로드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MVP </a:t>
                      </a:r>
                      <a:pPr indent="0" marL="0">
                        <a:buNone/>
                      </a:pPr>
                      <a:r>
                        <a:rPr lang="en-US" sz="1100" dirty="0">
                          <a:solidFill>
                            <a:srgbClr val="1F2937"/>
                          </a:solidFill>
                        </a:rPr>
                        <a:t>포함 </a:t>
                      </a:r>
                      <a:pPr indent="0" marL="0">
                        <a:buNone/>
                      </a:pPr>
                      <a:r>
                        <a:rPr lang="en-US" sz="1100" dirty="0">
                          <a:solidFill>
                            <a:srgbClr val="1F2937"/>
                          </a:solidFill>
                        </a:rPr>
                        <a:t>여부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개인정보 </a:t>
                      </a:r>
                      <a:pPr indent="0" marL="0">
                        <a:buNone/>
                      </a:pPr>
                      <a:r>
                        <a:rPr lang="en-US" sz="1100" dirty="0">
                          <a:solidFill>
                            <a:srgbClr val="1F2937"/>
                          </a:solidFill>
                        </a:rPr>
                        <a:t>담당·법무 </a:t>
                      </a:r>
                      <a:pPr indent="0" marL="0">
                        <a:buNone/>
                      </a:pPr>
                      <a:r>
                        <a:rPr lang="en-US" sz="1100" dirty="0">
                          <a:solidFill>
                            <a:srgbClr val="1F2937"/>
                          </a:solidFill>
                        </a:rPr>
                        <a:t>확인 </a:t>
                      </a:r>
                      <a:pPr indent="0" marL="0">
                        <a:buNone/>
                      </a:pPr>
                      <a:r>
                        <a:rPr lang="en-US" sz="1100" dirty="0">
                          <a:solidFill>
                            <a:srgbClr val="1F2937"/>
                          </a:solidFill>
                        </a:rPr>
                        <a:t>필요. </a:t>
                      </a:r>
                      <a:pPr indent="0" marL="0">
                        <a:buNone/>
                      </a:pPr>
                      <a:r>
                        <a:rPr lang="en-US" sz="1100" dirty="0">
                          <a:solidFill>
                            <a:srgbClr val="1F2937"/>
                          </a:solidFill>
                        </a:rPr>
                        <a:t>김PM </a:t>
                      </a:r>
                      <a:pPr indent="0" marL="0">
                        <a:buNone/>
                      </a:pPr>
                      <a:r>
                        <a:rPr lang="en-US" sz="1100" dirty="0">
                          <a:solidFill>
                            <a:srgbClr val="1F2937"/>
                          </a:solidFill>
                        </a:rPr>
                        <a:t>확인 </a:t>
                      </a:r>
                      <a:pPr indent="0" marL="0">
                        <a:buNone/>
                      </a:pPr>
                      <a:r>
                        <a:rPr lang="en-US" sz="1100" dirty="0">
                          <a:solidFill>
                            <a:srgbClr val="1F2937"/>
                          </a:solidFill>
                        </a:rPr>
                        <a:t>예정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지원 </a:t>
                      </a:r>
                      <a:pPr indent="0" marL="0">
                        <a:buNone/>
                      </a:pPr>
                      <a:r>
                        <a:rPr lang="en-US" sz="1100" dirty="0">
                          <a:solidFill>
                            <a:srgbClr val="1F2937"/>
                          </a:solidFill>
                        </a:rPr>
                        <a:t>OS </a:t>
                      </a:r>
                      <a:pPr indent="0" marL="0">
                        <a:buNone/>
                      </a:pPr>
                      <a:r>
                        <a:rPr lang="en-US" sz="1100" dirty="0">
                          <a:solidFill>
                            <a:srgbClr val="1F2937"/>
                          </a:solidFill>
                        </a:rPr>
                        <a:t>버전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안드로이드 </a:t>
                      </a:r>
                      <a:pPr indent="0" marL="0">
                        <a:buNone/>
                      </a:pPr>
                      <a:r>
                        <a:rPr lang="en-US" sz="1100" dirty="0">
                          <a:solidFill>
                            <a:srgbClr val="1F2937"/>
                          </a:solidFill>
                        </a:rPr>
                        <a:t>10 </a:t>
                      </a:r>
                      <a:pPr indent="0" marL="0">
                        <a:buNone/>
                      </a:pPr>
                      <a:r>
                        <a:rPr lang="en-US" sz="1100" dirty="0">
                          <a:solidFill>
                            <a:srgbClr val="1F2937"/>
                          </a:solidFill>
                        </a:rPr>
                        <a:t>이상·iOS </a:t>
                      </a:r>
                      <a:pPr indent="0" marL="0">
                        <a:buNone/>
                      </a:pPr>
                      <a:r>
                        <a:rPr lang="en-US" sz="1100" dirty="0">
                          <a:solidFill>
                            <a:srgbClr val="1F2937"/>
                          </a:solidFill>
                        </a:rPr>
                        <a:t>16 </a:t>
                      </a:r>
                      <a:pPr indent="0" marL="0">
                        <a:buNone/>
                      </a:pPr>
                      <a:r>
                        <a:rPr lang="en-US" sz="1100" dirty="0">
                          <a:solidFill>
                            <a:srgbClr val="1F2937"/>
                          </a:solidFill>
                        </a:rPr>
                        <a:t>이상은 </a:t>
                      </a:r>
                      <a:pPr indent="0" marL="0">
                        <a:buNone/>
                      </a:pPr>
                      <a:r>
                        <a:rPr lang="en-US" sz="1100" dirty="0">
                          <a:solidFill>
                            <a:srgbClr val="1F2937"/>
                          </a:solidFill>
                        </a:rPr>
                        <a:t>제안이며 </a:t>
                      </a:r>
                      <a:pPr indent="0" marL="0">
                        <a:buNone/>
                      </a:pPr>
                      <a:r>
                        <a:rPr lang="en-US" sz="1100" dirty="0">
                          <a:solidFill>
                            <a:srgbClr val="1F2937"/>
                          </a:solidFill>
                        </a:rPr>
                        <a:t>확정 </a:t>
                      </a:r>
                      <a:pPr indent="0" marL="0">
                        <a:buNone/>
                      </a:pPr>
                      <a:r>
                        <a:rPr lang="en-US" sz="1100" dirty="0">
                          <a:solidFill>
                            <a:srgbClr val="1F2937"/>
                          </a:solidFill>
                        </a:rPr>
                        <a:t>아님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사용자 </a:t>
                      </a:r>
                      <a:pPr indent="0" marL="0">
                        <a:buNone/>
                      </a:pPr>
                      <a:r>
                        <a:rPr lang="en-US" sz="1100" dirty="0">
                          <a:solidFill>
                            <a:srgbClr val="1F2937"/>
                          </a:solidFill>
                        </a:rPr>
                        <a:t>범위 </a:t>
                      </a:r>
                      <a:pPr indent="0" marL="0">
                        <a:buNone/>
                      </a:pPr>
                      <a:r>
                        <a:rPr lang="en-US" sz="1100" dirty="0">
                          <a:solidFill>
                            <a:srgbClr val="1F2937"/>
                          </a:solidFill>
                        </a:rPr>
                        <a:t>근거 </a:t>
                      </a:r>
                      <a:pPr indent="0" marL="0">
                        <a:buNone/>
                      </a:pPr>
                      <a:r>
                        <a:rPr lang="en-US" sz="1100" dirty="0">
                          <a:solidFill>
                            <a:srgbClr val="1F2937"/>
                          </a:solidFill>
                        </a:rPr>
                        <a:t>확인 </a:t>
                      </a:r>
                      <a:pPr indent="0" marL="0">
                        <a:buNone/>
                      </a:pPr>
                      <a:r>
                        <a:rPr lang="en-US" sz="1100" dirty="0">
                          <a:solidFill>
                            <a:srgbClr val="1F2937"/>
                          </a:solidFill>
                        </a:rPr>
                        <a:t>후 </a:t>
                      </a:r>
                      <a:pPr indent="0" marL="0">
                        <a:buNone/>
                      </a:pPr>
                      <a:r>
                        <a:rPr lang="en-US" sz="1100" dirty="0">
                          <a:solidFill>
                            <a:srgbClr val="1F2937"/>
                          </a:solidFill>
                        </a:rPr>
                        <a:t>확정. </a:t>
                      </a:r>
                      <a:pPr indent="0" marL="0">
                        <a:buNone/>
                      </a:pPr>
                      <a:r>
                        <a:rPr lang="en-US" sz="1100" dirty="0">
                          <a:solidFill>
                            <a:srgbClr val="1F2937"/>
                          </a:solidFill>
                        </a:rPr>
                        <a:t>최개발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공개 </a:t>
                      </a:r>
                      <a:pPr indent="0" marL="0">
                        <a:buNone/>
                      </a:pPr>
                      <a:r>
                        <a:rPr lang="en-US" sz="1100" dirty="0">
                          <a:solidFill>
                            <a:srgbClr val="1F2937"/>
                          </a:solidFill>
                        </a:rPr>
                        <a:t>출시일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8주 </a:t>
                      </a:r>
                      <a:pPr indent="0" marL="0">
                        <a:buNone/>
                      </a:pPr>
                      <a:r>
                        <a:rPr lang="en-US" sz="1100" dirty="0">
                          <a:solidFill>
                            <a:srgbClr val="1F2937"/>
                          </a:solidFill>
                        </a:rPr>
                        <a:t>차는 </a:t>
                      </a:r>
                      <a:pPr indent="0" marL="0">
                        <a:buNone/>
                      </a:pPr>
                      <a:r>
                        <a:rPr lang="en-US" sz="1100" dirty="0">
                          <a:solidFill>
                            <a:srgbClr val="1F2937"/>
                          </a:solidFill>
                        </a:rPr>
                        <a:t>출시 </a:t>
                      </a:r>
                      <a:pPr indent="0" marL="0">
                        <a:buNone/>
                      </a:pPr>
                      <a:r>
                        <a:rPr lang="en-US" sz="1100" dirty="0">
                          <a:solidFill>
                            <a:srgbClr val="1F2937"/>
                          </a:solidFill>
                        </a:rPr>
                        <a:t>후보 </a:t>
                      </a:r>
                      <a:pPr indent="0" marL="0">
                        <a:buNone/>
                      </a:pPr>
                      <a:r>
                        <a:rPr lang="en-US" sz="1100" dirty="0">
                          <a:solidFill>
                            <a:srgbClr val="1F2937"/>
                          </a:solidFill>
                        </a:rPr>
                        <a:t>주간, </a:t>
                      </a:r>
                      <a:pPr indent="0" marL="0">
                        <a:buNone/>
                      </a:pPr>
                      <a:r>
                        <a:rPr lang="en-US" sz="1100" dirty="0">
                          <a:solidFill>
                            <a:srgbClr val="1F2937"/>
                          </a:solidFill>
                        </a:rPr>
                        <a:t>9주 </a:t>
                      </a:r>
                      <a:pPr indent="0" marL="0">
                        <a:buNone/>
                      </a:pPr>
                      <a:r>
                        <a:rPr lang="en-US" sz="1100" dirty="0">
                          <a:solidFill>
                            <a:srgbClr val="1F2937"/>
                          </a:solidFill>
                        </a:rPr>
                        <a:t>차는 </a:t>
                      </a:r>
                      <a:pPr indent="0" marL="0">
                        <a:buNone/>
                      </a:pPr>
                      <a:r>
                        <a:rPr lang="en-US" sz="1100" dirty="0">
                          <a:solidFill>
                            <a:srgbClr val="1F2937"/>
                          </a:solidFill>
                        </a:rPr>
                        <a:t>심사 </a:t>
                      </a:r>
                      <a:pPr indent="0" marL="0">
                        <a:buNone/>
                      </a:pPr>
                      <a:r>
                        <a:rPr lang="en-US" sz="1100" dirty="0">
                          <a:solidFill>
                            <a:srgbClr val="1F2937"/>
                          </a:solidFill>
                        </a:rPr>
                        <a:t>완충</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베타 </a:t>
                      </a:r>
                      <a:pPr indent="0" marL="0">
                        <a:buNone/>
                      </a:pPr>
                      <a:r>
                        <a:rPr lang="en-US" sz="1100" dirty="0">
                          <a:solidFill>
                            <a:srgbClr val="1F2937"/>
                          </a:solidFill>
                        </a:rPr>
                        <a:t>결과와 </a:t>
                      </a:r>
                      <a:pPr indent="0" marL="0">
                        <a:buNone/>
                      </a:pPr>
                      <a:r>
                        <a:rPr lang="en-US" sz="1100" dirty="0">
                          <a:solidFill>
                            <a:srgbClr val="1F2937"/>
                          </a:solidFill>
                        </a:rPr>
                        <a:t>스토어 </a:t>
                      </a:r>
                      <a:pPr indent="0" marL="0">
                        <a:buNone/>
                      </a:pPr>
                      <a:r>
                        <a:rPr lang="en-US" sz="1100" dirty="0">
                          <a:solidFill>
                            <a:srgbClr val="1F2937"/>
                          </a:solidFill>
                        </a:rPr>
                        <a:t>심사 </a:t>
                      </a:r>
                      <a:pPr indent="0" marL="0">
                        <a:buNone/>
                      </a:pPr>
                      <a:r>
                        <a:rPr lang="en-US" sz="1100" dirty="0">
                          <a:solidFill>
                            <a:srgbClr val="1F2937"/>
                          </a:solidFill>
                        </a:rPr>
                        <a:t>통과 </a:t>
                      </a:r>
                      <a:pPr indent="0" marL="0">
                        <a:buNone/>
                      </a:pPr>
                      <a:r>
                        <a:rPr lang="en-US" sz="1100" dirty="0">
                          <a:solidFill>
                            <a:srgbClr val="1F2937"/>
                          </a:solidFill>
                        </a:rPr>
                        <a:t>후 </a:t>
                      </a:r>
                      <a:pPr indent="0" marL="0">
                        <a:buNone/>
                      </a:pPr>
                      <a:r>
                        <a:rPr lang="en-US" sz="1100" dirty="0">
                          <a:solidFill>
                            <a:srgbClr val="1F2937"/>
                          </a:solidFill>
                        </a:rPr>
                        <a:t>공개일 </a:t>
                      </a:r>
                      <a:pPr indent="0" marL="0">
                        <a:buNone/>
                      </a:pPr>
                      <a:r>
                        <a:rPr lang="en-US" sz="1100" dirty="0">
                          <a:solidFill>
                            <a:srgbClr val="1F2937"/>
                          </a:solidFill>
                        </a:rPr>
                        <a:t>결정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8. 미결정·사람 확인 항목 (2/2)</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99"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1669774"/>
                <a:gridCol w="4293704"/>
                <a:gridCol w="2266122"/>
              </a:tblGrid>
              <a:tr h="0">
                <a:tc>
                  <a:txBody>
                    <a:bodyPr/>
                    <a:lstStyle/>
                    <a:p>
                      <a:pPr indent="0" marL="0">
                        <a:buNone/>
                      </a:pPr>
                      <a:r>
                        <a:rPr lang="en-US" sz="1200" b="1" dirty="0">
                          <a:solidFill>
                            <a:srgbClr val="FFFFFF"/>
                          </a:solidFill>
                        </a:rPr>
                        <a:t>항목</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현재 </a:t>
                      </a:r>
                      <a:pPr indent="0" marL="0">
                        <a:buNone/>
                      </a:pPr>
                      <a:r>
                        <a:rPr lang="en-US" sz="1200" b="1" dirty="0">
                          <a:solidFill>
                            <a:srgbClr val="FFFFFF"/>
                          </a:solidFill>
                        </a:rPr>
                        <a:t>상태</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확인 </a:t>
                      </a:r>
                      <a:pPr indent="0" marL="0">
                        <a:buNone/>
                      </a:pPr>
                      <a:r>
                        <a:rPr lang="en-US" sz="1200" b="1" dirty="0">
                          <a:solidFill>
                            <a:srgbClr val="FFFFFF"/>
                          </a:solidFill>
                        </a:rPr>
                        <a:t>시점·담당</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백업 </a:t>
                      </a:r>
                      <a:pPr indent="0" marL="0">
                        <a:buNone/>
                      </a:pPr>
                      <a:r>
                        <a:rPr lang="en-US" sz="1100" dirty="0">
                          <a:solidFill>
                            <a:srgbClr val="1F2937"/>
                          </a:solidFill>
                        </a:rPr>
                        <a:t>보존·탈퇴 </a:t>
                      </a:r>
                      <a:pPr indent="0" marL="0">
                        <a:buNone/>
                      </a:pPr>
                      <a:r>
                        <a:rPr lang="en-US" sz="1100" dirty="0">
                          <a:solidFill>
                            <a:srgbClr val="1F2937"/>
                          </a:solidFill>
                        </a:rPr>
                        <a:t>처리 </a:t>
                      </a:r>
                      <a:pPr indent="0" marL="0">
                        <a:buNone/>
                      </a:pPr>
                      <a:r>
                        <a:rPr lang="en-US" sz="1100" dirty="0">
                          <a:solidFill>
                            <a:srgbClr val="1F2937"/>
                          </a:solidFill>
                        </a:rPr>
                        <a:t>시간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운영·개인정보·법무 </a:t>
                      </a:r>
                      <a:pPr indent="0" marL="0">
                        <a:buNone/>
                      </a:pPr>
                      <a:r>
                        <a:rPr lang="en-US" sz="1100" dirty="0">
                          <a:solidFill>
                            <a:srgbClr val="1F2937"/>
                          </a:solidFill>
                        </a:rPr>
                        <a:t>정책 </a:t>
                      </a:r>
                      <a:pPr indent="0" marL="0">
                        <a:buNone/>
                      </a:pPr>
                      <a:r>
                        <a:rPr lang="en-US" sz="1100" dirty="0">
                          <a:solidFill>
                            <a:srgbClr val="1F2937"/>
                          </a:solidFill>
                        </a:rPr>
                        <a:t>확인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푸시 </a:t>
                      </a:r>
                      <a:pPr indent="0" marL="0">
                        <a:buNone/>
                      </a:pPr>
                      <a:r>
                        <a:rPr lang="en-US" sz="1100" dirty="0">
                          <a:solidFill>
                            <a:srgbClr val="1F2937"/>
                          </a:solidFill>
                        </a:rPr>
                        <a:t>구현 </a:t>
                      </a:r>
                      <a:pPr indent="0" marL="0">
                        <a:buNone/>
                      </a:pPr>
                      <a:r>
                        <a:rPr lang="en-US" sz="1100" dirty="0">
                          <a:solidFill>
                            <a:srgbClr val="1F2937"/>
                          </a:solidFill>
                        </a:rPr>
                        <a:t>세부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사용자 </a:t>
                      </a:r>
                      <a:pPr indent="0" marL="0">
                        <a:buNone/>
                      </a:pPr>
                      <a:r>
                        <a:rPr lang="en-US" sz="1100" dirty="0">
                          <a:solidFill>
                            <a:srgbClr val="1F2937"/>
                          </a:solidFill>
                        </a:rPr>
                        <a:t>선택형 </a:t>
                      </a:r>
                      <a:pPr indent="0" marL="0">
                        <a:buNone/>
                      </a:pPr>
                      <a:r>
                        <a:rPr lang="en-US" sz="1100" dirty="0">
                          <a:solidFill>
                            <a:srgbClr val="1F2937"/>
                          </a:solidFill>
                        </a:rPr>
                        <a:t>매일 </a:t>
                      </a:r>
                      <a:pPr indent="0" marL="0">
                        <a:buNone/>
                      </a:pPr>
                      <a:r>
                        <a:rPr lang="en-US" sz="1100" dirty="0">
                          <a:solidFill>
                            <a:srgbClr val="1F2937"/>
                          </a:solidFill>
                        </a:rPr>
                        <a:t>기록 </a:t>
                      </a:r>
                      <a:pPr indent="0" marL="0">
                        <a:buNone/>
                      </a:pPr>
                      <a:r>
                        <a:rPr lang="en-US" sz="1100" dirty="0">
                          <a:solidFill>
                            <a:srgbClr val="1F2937"/>
                          </a:solidFill>
                        </a:rPr>
                        <a:t>알림, </a:t>
                      </a:r>
                      <a:pPr indent="0" marL="0">
                        <a:buNone/>
                      </a:pPr>
                      <a:r>
                        <a:rPr lang="en-US" sz="1100" dirty="0">
                          <a:solidFill>
                            <a:srgbClr val="1F2937"/>
                          </a:solidFill>
                        </a:rPr>
                        <a:t>기본 </a:t>
                      </a:r>
                      <a:pPr indent="0" marL="0">
                        <a:buNone/>
                      </a:pPr>
                      <a:r>
                        <a:rPr lang="en-US" sz="1100" dirty="0">
                          <a:solidFill>
                            <a:srgbClr val="1F2937"/>
                          </a:solidFill>
                        </a:rPr>
                        <a:t>꺼짐, </a:t>
                      </a:r>
                      <a:pPr indent="0" marL="0">
                        <a:buNone/>
                      </a:pPr>
                      <a:r>
                        <a:rPr lang="en-US" sz="1100" dirty="0">
                          <a:solidFill>
                            <a:srgbClr val="1F2937"/>
                          </a:solidFill>
                        </a:rPr>
                        <a:t>기본 </a:t>
                      </a:r>
                      <a:pPr indent="0" marL="0">
                        <a:buNone/>
                      </a:pPr>
                      <a:r>
                        <a:rPr lang="en-US" sz="1100" dirty="0">
                          <a:solidFill>
                            <a:srgbClr val="1F2937"/>
                          </a:solidFill>
                        </a:rPr>
                        <a:t>시간 </a:t>
                      </a:r>
                      <a:pPr indent="0" marL="0">
                        <a:buNone/>
                      </a:pPr>
                      <a:r>
                        <a:rPr lang="en-US" sz="1100" dirty="0">
                          <a:solidFill>
                            <a:srgbClr val="1F2937"/>
                          </a:solidFill>
                        </a:rPr>
                        <a:t>저녁 </a:t>
                      </a:r>
                      <a:pPr indent="0" marL="0">
                        <a:buNone/>
                      </a:pPr>
                      <a:r>
                        <a:rPr lang="en-US" sz="1100" dirty="0">
                          <a:solidFill>
                            <a:srgbClr val="1F2937"/>
                          </a:solidFill>
                        </a:rPr>
                        <a:t>8시 </a:t>
                      </a:r>
                      <a:pPr indent="0" marL="0">
                        <a:buNone/>
                      </a:pPr>
                      <a:r>
                        <a:rPr lang="en-US" sz="1100" dirty="0">
                          <a:solidFill>
                            <a:srgbClr val="1F2937"/>
                          </a:solidFill>
                        </a:rPr>
                        <a:t>제안. </a:t>
                      </a:r>
                      <a:pPr indent="0" marL="0">
                        <a:buNone/>
                      </a:pPr>
                      <a:r>
                        <a:rPr lang="en-US" sz="1100" dirty="0">
                          <a:solidFill>
                            <a:srgbClr val="1F2937"/>
                          </a:solidFill>
                        </a:rPr>
                        <a:t>운영체제 </a:t>
                      </a:r>
                      <a:pPr indent="0" marL="0">
                        <a:buNone/>
                      </a:pPr>
                      <a:r>
                        <a:rPr lang="en-US" sz="1100" dirty="0">
                          <a:solidFill>
                            <a:srgbClr val="1F2937"/>
                          </a:solidFill>
                        </a:rPr>
                        <a:t>권한 </a:t>
                      </a:r>
                      <a:pPr indent="0" marL="0">
                        <a:buNone/>
                      </a:pPr>
                      <a:r>
                        <a:rPr lang="en-US" sz="1100" dirty="0">
                          <a:solidFill>
                            <a:srgbClr val="1F2937"/>
                          </a:solidFill>
                        </a:rPr>
                        <a:t>상태와 </a:t>
                      </a:r>
                      <a:pPr indent="0" marL="0">
                        <a:buNone/>
                      </a:pPr>
                      <a:r>
                        <a:rPr lang="en-US" sz="1100" dirty="0">
                          <a:solidFill>
                            <a:srgbClr val="1F2937"/>
                          </a:solidFill>
                        </a:rPr>
                        <a:t>예약 </a:t>
                      </a:r>
                      <a:pPr indent="0" marL="0">
                        <a:buNone/>
                      </a:pPr>
                      <a:r>
                        <a:rPr lang="en-US" sz="1100" dirty="0">
                          <a:solidFill>
                            <a:srgbClr val="1F2937"/>
                          </a:solidFill>
                        </a:rPr>
                        <a:t>처리 </a:t>
                      </a:r>
                      <a:pPr indent="0" marL="0">
                        <a:buNone/>
                      </a:pPr>
                      <a:r>
                        <a:rPr lang="en-US" sz="1100" dirty="0">
                          <a:solidFill>
                            <a:srgbClr val="1F2937"/>
                          </a:solidFill>
                        </a:rPr>
                        <a:t>세부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기술 </a:t>
                      </a:r>
                      <a:pPr indent="0" marL="0">
                        <a:buNone/>
                      </a:pPr>
                      <a:r>
                        <a:rPr lang="en-US" sz="1100" dirty="0">
                          <a:solidFill>
                            <a:srgbClr val="1F2937"/>
                          </a:solidFill>
                        </a:rPr>
                        <a:t>검증 </a:t>
                      </a:r>
                      <a:pPr indent="0" marL="0">
                        <a:buNone/>
                      </a:pPr>
                      <a:r>
                        <a:rPr lang="en-US" sz="1100" dirty="0">
                          <a:solidFill>
                            <a:srgbClr val="1F2937"/>
                          </a:solidFill>
                        </a:rPr>
                        <a:t>및 </a:t>
                      </a:r>
                      <a:pPr indent="0" marL="0">
                        <a:buNone/>
                      </a:pPr>
                      <a:r>
                        <a:rPr lang="en-US" sz="1100" dirty="0">
                          <a:solidFill>
                            <a:srgbClr val="1F2937"/>
                          </a:solidFill>
                        </a:rPr>
                        <a:t>화면 </a:t>
                      </a:r>
                      <a:pPr indent="0" marL="0">
                        <a:buNone/>
                      </a:pPr>
                      <a:r>
                        <a:rPr lang="en-US" sz="1100" dirty="0">
                          <a:solidFill>
                            <a:srgbClr val="1F2937"/>
                          </a:solidFill>
                        </a:rPr>
                        <a:t>설계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개발 </a:t>
                      </a:r>
                      <a:pPr indent="0" marL="0">
                        <a:buNone/>
                      </a:pPr>
                      <a:r>
                        <a:rPr lang="en-US" sz="1100" dirty="0">
                          <a:solidFill>
                            <a:srgbClr val="1F2937"/>
                          </a:solidFill>
                        </a:rPr>
                        <a:t>지원 </a:t>
                      </a:r>
                      <a:pPr indent="0" marL="0">
                        <a:buNone/>
                      </a:pPr>
                      <a:r>
                        <a:rPr lang="en-US" sz="1100" dirty="0">
                          <a:solidFill>
                            <a:srgbClr val="1F2937"/>
                          </a:solidFill>
                        </a:rPr>
                        <a:t>인력</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앱 </a:t>
                      </a:r>
                      <a:pPr indent="0" marL="0">
                        <a:buNone/>
                      </a:pPr>
                      <a:r>
                        <a:rPr lang="en-US" sz="1100" dirty="0">
                          <a:solidFill>
                            <a:srgbClr val="1F2937"/>
                          </a:solidFill>
                        </a:rPr>
                        <a:t>UI를 </a:t>
                      </a:r>
                      <a:pPr indent="0" marL="0">
                        <a:buNone/>
                      </a:pPr>
                      <a:r>
                        <a:rPr lang="en-US" sz="1100" dirty="0">
                          <a:solidFill>
                            <a:srgbClr val="1F2937"/>
                          </a:solidFill>
                        </a:rPr>
                        <a:t>위한 </a:t>
                      </a:r>
                      <a:pPr indent="0" marL="0">
                        <a:buNone/>
                      </a:pPr>
                      <a:r>
                        <a:rPr lang="en-US" sz="1100" dirty="0">
                          <a:solidFill>
                            <a:srgbClr val="1F2937"/>
                          </a:solidFill>
                        </a:rPr>
                        <a:t>개발 </a:t>
                      </a:r>
                      <a:pPr indent="0" marL="0">
                        <a:buNone/>
                      </a:pPr>
                      <a:r>
                        <a:rPr lang="en-US" sz="1100" dirty="0">
                          <a:solidFill>
                            <a:srgbClr val="1F2937"/>
                          </a:solidFill>
                        </a:rPr>
                        <a:t>지원이 </a:t>
                      </a:r>
                      <a:pPr indent="0" marL="0">
                        <a:buNone/>
                      </a:pPr>
                      <a:r>
                        <a:rPr lang="en-US" sz="1100" dirty="0">
                          <a:solidFill>
                            <a:srgbClr val="1F2937"/>
                          </a:solidFill>
                        </a:rPr>
                        <a:t>있으면 </a:t>
                      </a:r>
                      <a:pPr indent="0" marL="0">
                        <a:buNone/>
                      </a:pPr>
                      <a:r>
                        <a:rPr lang="en-US" sz="1100" dirty="0">
                          <a:solidFill>
                            <a:srgbClr val="1F2937"/>
                          </a:solidFill>
                        </a:rPr>
                        <a:t>일정이 </a:t>
                      </a:r>
                      <a:pPr indent="0" marL="0">
                        <a:buNone/>
                      </a:pPr>
                      <a:r>
                        <a:rPr lang="en-US" sz="1100" dirty="0">
                          <a:solidFill>
                            <a:srgbClr val="1F2937"/>
                          </a:solidFill>
                        </a:rPr>
                        <a:t>안정될 </a:t>
                      </a:r>
                      <a:pPr indent="0" marL="0">
                        <a:buNone/>
                      </a:pPr>
                      <a:r>
                        <a:rPr lang="en-US" sz="1100" dirty="0">
                          <a:solidFill>
                            <a:srgbClr val="1F2937"/>
                          </a:solidFill>
                        </a:rPr>
                        <a:t>수 </a:t>
                      </a:r>
                      <a:pPr indent="0" marL="0">
                        <a:buNone/>
                      </a:pPr>
                      <a:r>
                        <a:rPr lang="en-US" sz="1100" dirty="0">
                          <a:solidFill>
                            <a:srgbClr val="1F2937"/>
                          </a:solidFill>
                        </a:rPr>
                        <a:t>있다는 </a:t>
                      </a:r>
                      <a:pPr indent="0" marL="0">
                        <a:buNone/>
                      </a:pPr>
                      <a:r>
                        <a:rPr lang="en-US" sz="1100" dirty="0">
                          <a:solidFill>
                            <a:srgbClr val="1F2937"/>
                          </a:solidFill>
                        </a:rPr>
                        <a:t>의견. </a:t>
                      </a:r>
                      <a:pPr indent="0" marL="0">
                        <a:buNone/>
                      </a:pPr>
                      <a:r>
                        <a:rPr lang="en-US" sz="1100" dirty="0">
                          <a:solidFill>
                            <a:srgbClr val="1F2937"/>
                          </a:solidFill>
                        </a:rPr>
                        <a:t>배정 </a:t>
                      </a:r>
                      <a:pPr indent="0" marL="0">
                        <a:buNone/>
                      </a:pPr>
                      <a:r>
                        <a:rPr lang="en-US" sz="1100" dirty="0">
                          <a:solidFill>
                            <a:srgbClr val="1F2937"/>
                          </a:solidFill>
                        </a:rPr>
                        <a:t>여부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김PM·이대표 </a:t>
                      </a:r>
                      <a:pPr indent="0" marL="0">
                        <a:buNone/>
                      </a:pPr>
                      <a:r>
                        <a:rPr lang="en-US" sz="1100" dirty="0">
                          <a:solidFill>
                            <a:srgbClr val="1F2937"/>
                          </a:solidFill>
                        </a:rPr>
                        <a:t>조율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9. 작성 완료 후 확인사항 (1/2)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주요 사용자 흐름을 시작부터 종료까지 정리했습니다.</a:t>
            </a:r>
            <a:endParaRPr lang="en-US" sz="1600" dirty="0"/>
          </a:p>
          <a:p>
            <a:pPr indent="0" marL="0">
              <a:spcAft>
                <a:spcPts val="800"/>
              </a:spcAft>
              <a:buNone/>
            </a:pPr>
            <a:r>
              <a:rPr lang="en-US" sz="1600" dirty="0">
                <a:solidFill>
                  <a:srgbClr val="4B5563"/>
                </a:solidFill>
              </a:rPr>
              <a:t>☑ 주요 프로세스별 Mermaid 다이어그램을 작성했습니다.</a:t>
            </a:r>
            <a:endParaRPr lang="en-US" sz="1600" dirty="0"/>
          </a:p>
          <a:p>
            <a:pPr indent="0" marL="0">
              <a:spcAft>
                <a:spcPts val="800"/>
              </a:spcAft>
              <a:buNone/>
            </a:pPr>
            <a:r>
              <a:rPr lang="en-US" sz="1600" dirty="0">
                <a:solidFill>
                  <a:srgbClr val="4B5563"/>
                </a:solidFill>
              </a:rPr>
              <a:t>☑ 단계별 담당, 입력, 출력, 완료 기준을 표기했습니다.</a:t>
            </a:r>
            <a:endParaRPr lang="en-US" sz="1600" dirty="0"/>
          </a:p>
          <a:p>
            <a:pPr indent="0" marL="0">
              <a:spcAft>
                <a:spcPts val="800"/>
              </a:spcAft>
              <a:buNone/>
            </a:pPr>
            <a:r>
              <a:rPr lang="en-US" sz="1600" dirty="0">
                <a:solidFill>
                  <a:srgbClr val="4B5563"/>
                </a:solidFill>
              </a:rPr>
              <a:t>☑ 미정인 처리 시간과 정책은 임의로 확정하지 않고 </a:t>
            </a:r>
            <a:pPr indent="0" marL="0">
              <a:spcAft>
                <a:spcPts val="800"/>
              </a:spcAft>
              <a:buNone/>
            </a:pPr>
            <a:r>
              <a:rPr lang="en-US" sz="1600" b="1" dirty="0">
                <a:solidFill>
                  <a:srgbClr val="4B5563"/>
                </a:solidFill>
              </a:rPr>
              <a:t>추정 필요</a:t>
            </a:r>
            <a:pPr indent="0" marL="0">
              <a:spcAft>
                <a:spcPts val="800"/>
              </a:spcAft>
              <a:buNone/>
            </a:pPr>
            <a:r>
              <a:rPr lang="en-US" sz="1600" dirty="0">
                <a:solidFill>
                  <a:srgbClr val="4B5563"/>
                </a:solidFill>
              </a:rPr>
              <a:t> 또는 </a:t>
            </a:r>
            <a:pPr indent="0" marL="0">
              <a:spcAft>
                <a:spcPts val="800"/>
              </a:spcAft>
              <a:buNone/>
            </a:pPr>
            <a:r>
              <a:rPr lang="en-US" sz="1600" b="1" dirty="0">
                <a:solidFill>
                  <a:srgbClr val="4B5563"/>
                </a:solidFill>
              </a:rPr>
              <a:t>미정</a:t>
            </a:r>
            <a:pPr indent="0" marL="0">
              <a:spcAft>
                <a:spcPts val="800"/>
              </a:spcAft>
              <a:buNone/>
            </a:pPr>
            <a:r>
              <a:rPr lang="en-US" sz="1600" dirty="0">
                <a:solidFill>
                  <a:srgbClr val="4B5563"/>
                </a:solidFill>
              </a:rPr>
              <a:t>으로 표시했습니다.</a:t>
            </a:r>
            <a:endParaRPr lang="en-US" sz="1600" dirty="0"/>
          </a:p>
          <a:p>
            <a:pPr indent="0" marL="0">
              <a:spcAft>
                <a:spcPts val="800"/>
              </a:spcAft>
              <a:buNone/>
            </a:pPr>
            <a:r>
              <a:rPr lang="en-US" sz="1600" dirty="0">
                <a:solidFill>
                  <a:srgbClr val="4B5563"/>
                </a:solidFill>
              </a:rPr>
              <a:t>☑ 검색 결과 없음, 외부 API 오류, 네트워크 끊김, 저장 실패·중복, 영양값 누락, 푸시 권한 거부, 계정 삭제 등 예외를 포함했습니다.</a:t>
            </a:r>
            <a:endParaRPr lang="en-US" sz="1600" dirty="0"/>
          </a:p>
          <a:p>
            <a:pPr indent="0" marL="0">
              <a:spcAft>
                <a:spcPts val="800"/>
              </a:spcAft>
              <a:buNone/>
            </a:pPr>
            <a:r>
              <a:rPr lang="en-US" sz="1600" dirty="0">
                <a:solidFill>
                  <a:srgbClr val="4B5563"/>
                </a:solidFill>
              </a:rPr>
              <a:t>☑ 외부 API·인증·데이터베이스·푸시·분석 도구 간 연동 흐름을 정리했습니다.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99</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9. 작성 완료 후 확인사항 (2/2)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사진 첨부에 관한 회의 내 상이한 논의는 후반부의 식사당 사진 한 장 포함 방향을 반영하고, 5주 차까지의 통합 여부를 조건부로 표시했습니다.</a:t>
            </a:r>
            <a:endParaRPr lang="en-US" sz="1600" dirty="0"/>
          </a:p>
          <a:p>
            <a:pPr indent="0" marL="0">
              <a:spcAft>
                <a:spcPts val="800"/>
              </a:spcAft>
              <a:buNone/>
            </a:pPr>
            <a:r>
              <a:rPr lang="en-US" sz="1600" dirty="0">
                <a:solidFill>
                  <a:srgbClr val="4B5563"/>
                </a:solidFill>
              </a:rPr>
              <a:t>☑ 사진 자동 인식, 목표 설정, 로그인 제공자, 외부 식품 API 등 미확정·검증 대상은 확정 기능처럼 표현하지 않았습니다.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100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100</Slides>
  <Notes>100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100</vt:i4>
      </vt:variant>
    </vt:vector>
  </HeadingPairs>
  <TitlesOfParts>
    <vt:vector size="10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2026-10-06T12:38:57Z</dcterms:created>
  <dcterms:modified xsi:type="dcterms:W3CDTF">2026-10-06T12:38:57Z</dcterms:modified>
</cp:coreProperties>
</file>