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</p:sldIdLst>
  <p:notesMasterIdLst>
    <p:notesMasterId r:id="rId96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notesMaster" Target="notesMasters/notesMaster1.xml"/><Relationship Id="rId97" Type="http://schemas.openxmlformats.org/officeDocument/2006/relationships/presProps" Target="presProps.xml"/><Relationship Id="rId98" Type="http://schemas.openxmlformats.org/officeDocument/2006/relationships/viewProps" Target="viewProps.xml"/><Relationship Id="rId99" Type="http://schemas.openxmlformats.org/officeDocument/2006/relationships/theme" Target="theme/theme1.xml"/><Relationship Id="rId10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AN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MeetingAutoDocs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3F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1. 문서 정보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1. 문서 정보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문서 버전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v1.0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작성일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2026-10-01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작성자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기획팀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문서 상태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검토 중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작성 기준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회의에서 합의된 내용과 미확정·상충 내용을 구분했습니다. 공수는 회의에서 확정된 값이 아니므로 기능별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개발 공수 추정치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로 표시했으며, 담당자는 실명이 지정되지 않아 역할 기준으로 작성했습니다.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변경 이력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1. 문서 정보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866274"/>
                <a:gridCol w="1443789"/>
                <a:gridCol w="5053263"/>
                <a:gridCol w="86627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버전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날짜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변경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내용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작성자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v1.0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2026-10-01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회의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내용을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바탕으로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MVP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명세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초안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작성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기획팀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2. 기능 개요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6172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내용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총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기능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16개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우선순위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분류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P0(필수):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12개,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P1(중요):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4개,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P2(선택):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0개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총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예상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공수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98인일,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약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4.9인월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개발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기간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8주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스토어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심사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변수를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고려한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9주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완충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담당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프론트엔드,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백엔드,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디자인,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기획·QA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개발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전제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iOS·안드로이드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공통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React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Native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방향.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지원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배정은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공수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산정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기준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역할별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합산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추정.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디자인,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기획,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법무·보안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외부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업체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협의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공수는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별도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산정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2. 기능 개요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우선순위 정의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P0(필수)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식사 기록, 기록 확인, 기본 주간 리포트와 개인정보·삭제 흐름 등 MVP의 핵심 이용 경험에 필요한 기능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P1(중요)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사용성 또는 운영 안정성을 높이지만, 일정 압박 시 범위·구현 수준을 조정할 수 있는 기능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P2(선택)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이번 기능 목록에서는 확정된 P2 기능을 두지 않음. 미확정 기능은 P2로 확정하지 않고 별도 확인 항목으로 관리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기능 분포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2. 기능 개요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6425" y="1463040"/>
            <a:ext cx="5391150" cy="42062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3. 기능 목록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3.1 기능 요약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536713"/>
                <a:gridCol w="1610139"/>
                <a:gridCol w="536713"/>
                <a:gridCol w="715617"/>
                <a:gridCol w="1878496"/>
                <a:gridCol w="1789043"/>
                <a:gridCol w="626165"/>
                <a:gridCol w="536713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기능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기능명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우선순위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개발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공수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추정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담당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역할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선행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기능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일정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위험도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가입·로그인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연결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8인일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프론트엔드,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백엔드,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디자인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초안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1~3주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높음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온보딩·선택적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4인일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프론트엔드,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디자인,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백엔드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F-001,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1~3주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높음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홈·날짜별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5인일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프론트엔드,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백엔드,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디자인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F-006,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2~4주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검색·검색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8인일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프론트엔드,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백엔드,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디자인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F-009,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공급처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1~5주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높음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직접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입력·개인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관리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4인일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프론트엔드,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백엔드,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디자인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3~5주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생성·편집·삭제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8인일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프론트엔드,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백엔드,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디자인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F-004,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F-005,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3~5주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높음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기록·즐겨찾기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4인일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프론트엔드,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백엔드,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디자인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F-005,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F-006,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4~5주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리포트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8인일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프론트엔드,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백엔드,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디자인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F-006,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5~6주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높음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기록·음식·목표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8인일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백엔드,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프론트엔드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로그인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검토,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API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1~3주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높음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F-010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알림·푸시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6인일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프론트엔드,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백엔드,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디자인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F-001,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F-011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4~6주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F-011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약관·동의·개인정보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6인일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프론트엔드,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백엔드,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디자인,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기획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흐름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검토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1~6주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높음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3.1 기능 요약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509047"/>
                <a:gridCol w="1696825"/>
                <a:gridCol w="509047"/>
                <a:gridCol w="678730"/>
                <a:gridCol w="2036190"/>
                <a:gridCol w="1696825"/>
                <a:gridCol w="593889"/>
                <a:gridCol w="50904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기능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기능명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우선순위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개발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공수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추정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담당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역할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선행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기능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일정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위험도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F-012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삭제·기록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7인일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프론트엔드,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백엔드,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디자인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F-001,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F-009,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F-011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4~6주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높음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F-013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분석·오류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모니터링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4인일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프론트엔드,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백엔드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F-011,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핵심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이벤트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4~7주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F-014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방지·임시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보존·백업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복구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5인일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프론트엔드,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백엔드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F-006,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3~7주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높음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F-015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첨부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6인일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프론트엔드,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백엔드,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디자인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F-006,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스토리지·삭제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검토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4~6주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높음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F-016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QA·접근성·출시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안정화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8인일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기획·QA,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프론트엔드,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백엔드,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디자인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핵심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통합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6~8주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높음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3.1 기능 요약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"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기능 수 산정 기준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기능별로 독립적인 개발·검증 단위를 부여해 16개로 정의했습니다. 이는 회의에서 기능 수를 확정한 것이 아니라, 요구사항 추적과 일정 관리를 위한 문서상 분류입니다."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3.2 기능별 상세 명세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F-001: 가입·로그인 및 계정 연결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6583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내용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설명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이용할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있도록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생성·인증하고,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분리합니다.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우선순위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P0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(필수)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상태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로그인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미확정.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이메일·Apple·Google을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우선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검토하며,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게스트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방식과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병합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여부도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공수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8인일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추정: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백엔드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4인일,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프론트엔드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3인일,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디자인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1인일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담당자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백엔드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담당,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프론트엔드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담당,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디자이너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의존성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F-009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일정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1~3주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차.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범위는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다음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화요일까지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위험도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높음.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제공자별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구현·계정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연결·탈퇴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iOS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심사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F-001: 가입·로그인 및 계정 연결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요구사항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이메일·Apple·Google 인증을 우선 검토합니다. 카카오 로그인은 1차 우선순위에서 제외하는 방향이나, 최종 제공자 범위는 미확정입니다.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게스트 시작 여부, 게스트 데이터 저장 위치, 앱 삭제 시 처리, 이후 계정 연결·병합 방식을 확정해야 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원문 비밀번호를 저장하지 않습니다. 인증 제공자 또는 안전한 인증 구조를 사용합니다.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사용자 계정과 식사 기록은 사용자별로 분리합니다.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인증 방식 결정이 지연될 경우 로그인 제공자 수나 게스트 범위를 조정하는 대안을 검토합니다.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완료 기준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F-001: 가입·로그인 및 계정 연결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사용자가 선택된 인증 방식으로 가입 또는 로그인할 수 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인증 실패 시 앱 내에서 재시도하거나 문의 경로를 찾을 수 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서로 다른 사용자의 음식·기록 데이터가 섞이지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가입·인증 제공자 범위가 확정되기 전까지 해당 범위는 개발 확정 요구사항으로 간주하지 않습니다.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F-002: 온보딩·선택적 목표 설정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6583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내용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설명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안내하고,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시작하거나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선택적으로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흐름을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이용할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합니다.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우선순위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P0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(필수)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공수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4인일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추정: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프론트엔드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2인일,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디자인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2인일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담당자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프론트엔드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담당,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디자이너,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기획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담당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의존성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F-001,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일정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1~3주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위험도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높음.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자동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산출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직접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미확정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F-002: 온보딩·선택적 목표 설정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요구사항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목표 유형 선택 화면은 ‘식사 습관 확인’, ‘체중 목표 설정’, ‘목표 없이 기록’의 선택지를 유사한 위계로 제공합니다.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키·체중·나이·성별 등 신체 정보 입력은 앱 시작의 필수 조건으로 두지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자동 권장 칼로리는 전문가 검토 및 안전 기준 확인 전에는 임의의 수치로 노출하지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목표가 없어도 음식 검색, 기록, 기록 기반 리포트를 이용할 수 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목표 수치 입력 가능 여부와 위험하게 낮은 목표를 차단할 기준은 미정이며, 확인 후 범위를 확정합니다.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F-002: 온보딩·선택적 목표 설정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목표 화면과 리포트의 건강 관련 문구는 전문가 의견 확인 전까지 변경 가능 상태로 관리합니다.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완료 기준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사용자가 목표 설정을 건너뛰고 기록 기능으로 이동할 수 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목표 미설정 상태에서 칼로리 목표 게이지나 목표 비교가 노출되지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신체 정보를 입력받는 경우 수집 이유를 안내하고 수정·삭제가 가능해야 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F-003: 오늘 홈·날짜별 기록 조회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6583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내용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설명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오늘의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항목을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확인하고,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시작하거나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과거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조회할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합니다.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우선순위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P0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(필수)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공수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5인일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추정: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프론트엔드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3인일,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백엔드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1인일,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디자인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1인일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담당자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프론트엔드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담당,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백엔드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담당,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디자이너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의존성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F-006,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일정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2~4주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위험도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중간.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변경·현지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집계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규칙에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F-003: 오늘 홈·날짜별 기록 조회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요구사항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홈은 기록하기와 오늘의 기록 상태를 우선 노출하고, 칼로리·영양 정보는 보조로 제공합니다.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목표가 없는 사용자에게 칼로리 게이지를 표시하지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식사 구분은 아침·점심·저녁·간식 네 가지로 고정합니다.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각 식사 구분 아래 음식 항목과 해당 구분의 합계를 표시합니다.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과거 날짜 조회 및 기록은 허용합니다. 날짜 탐색 화면의 최근 7일 제한 여부와 오래된 날짜 선택 방식은 최종 화면 정책 확인이 필요합니다.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미래 날짜 기록은 허용하지 않는 방향으로 설계합니다.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F-003: 오늘 홈·날짜별 기록 조회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날짜 변경 후 앱으로 돌아오거나 날짜가 바뀐 경우 화면 데이터를 다시 불러옵니다.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기록이 없는 날짜는 0칼로리로 오해되지 않도록 빈 상태로 표시합니다.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F-004: 음식 검색·검색 결과 제공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6583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내용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설명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외부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검색하고,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없어도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직접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입력이나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이어가게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합니다.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우선순위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P0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(필수)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공수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8인일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추정: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백엔드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4인일,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프론트엔드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3인일,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디자인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1인일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담당자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백엔드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담당,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프론트엔드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담당,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디자이너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의존성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F-009,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공급처·계약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일정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1~5주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차.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금요일까지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샘플·계약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2주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화요일까지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공급처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미정이면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일정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위험으로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위험도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높음.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국내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음식·브랜드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커버리지,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라이선스,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비용,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조건이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미확정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F-004: 음식 검색·검색 결과 제공 (1/3)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요구사항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음식명 검색은 한 글자 입력도 허용하는 방향으로 진행합니다. 입력 후 약 350밀리초 대기하는 검색 지연 적용은 제안 상태이며, 공급자 호출 제한 및 캐시 조건 확인이 필요합니다.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최근 음식과 캐시 결과를 활용할 수 있도록 설계합니다.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검색어는 외부 공급자에게 전달될 수 있으므로 공급자의 보관·처리 조건 및 개인정보 고지 내용을 출시 전에 확인합니다.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외부 식품 API에는 검색어만 전달하고 사용자 식별 정보, 기록 날짜, 식사 기록은 전달하지 않습니다.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F-004: 음식 검색·검색 결과 제공 (2/3)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검색 결과는 내부 표준 모델로 변환하고, 앱이 외부 공급자 응답 형식에 직접 종속되지 않도록 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공백 정규화와 자주 쓰는 동의어 20~30개 매핑을 검토합니다.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검색 결과에는 음식명, 제공량, 확인 가능한 영양 정보와 출처를 표시합니다. 제공량이나 출처가 없으면 임의의 기본 단위를 만들지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결과 없음과 API 오류를 서로 다른 상태로 표현합니다.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결과가 없거나 검색 요청이 실패해도 직접 입력으로 이동할 수 있어야 하며, 유사하다는 이유만으로 결과를 자동 선택하지 않습니다.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F-004: 음식 검색·검색 결과 제공 (3/3)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대표 메뉴 50개와 브랜드 상품 20개 검색 시험 자료를 마련하고, 미발견·오매칭·검색 정확도를 확인합니다.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F-005: 직접 음식 입력·개인 음식 관리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6583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내용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설명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없거나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모르는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경우에도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음식명을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기록하고,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다른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사용자에게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노출되지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않도록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합니다.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우선순위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P0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(필수)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공수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4인일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추정: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프론트엔드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2인일,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백엔드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1인일,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디자인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1인일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담당자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프론트엔드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담당,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백엔드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담당,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디자이너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의존성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일정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3~5주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위험도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중간.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공용·개인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노출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영양값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결측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F-005: 직접 음식 입력·개인 음식 관리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요구사항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음식명은 필수로 받고, 칼로리·탄수화물·단백질·지방은 선택 입력으로 처리합니다.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영양 정보를 모르는 음식도 저장할 수 있어야 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값이 실제 0인 상태와 값이 입력되지 않은 상태를 구분합니다.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직접 입력 음식의 영양 정보가 없는 경우 해당 영양소 합계 계산에서 제외합니다. 기록 자체는 유지합니다.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기록에 일부 영양 정보가 포함되지 않았음을 리포트에서 안내합니다.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개인 입력 음식은 기본적으로 해당 사용자에게만 표시합니다.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F-005: 직접 음식 입력·개인 음식 관리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공용 음식 데이터로 전환하려면 별도의 동의 절차가 필요합니다.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음식 입력 메모는 MVP에서 제외합니다.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F-006: 식사 기록 생성·편집·삭제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6583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내용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설명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항목을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기록하고,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당시의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음식명·양·영양값을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보존하며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수정·삭제할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합니다.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우선순위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P0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(필수)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공수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8인일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추정: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백엔드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4인일,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프론트엔드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3인일,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디자인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1인일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담당자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백엔드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담당,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프론트엔드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담당,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디자이너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의존성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F-004,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F-005,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일정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3~5주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위험도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높음.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중복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영양값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스냅샷,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네트워크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대응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F-006: 식사 기록 생성·편집·삭제 (1/3)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요구사항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한 식사 구분에 여러 음식 항목을 추가할 수 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항목은 추가할 때마다 저장합니다. 별도의 시간대별 식사 묶음은 MVP에서 사용하지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같은 날짜와 식사 구분의 항목을 묶어 합산해 보여줍니다.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식사 구분은 아침·점심·저녁·간식으로 고정하며, 시간에 따른 구분은 추천에만 사용합니다. 사용자는 저장 전에 변경할 수 있어야 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기록 추가 시 현재 사용자 날짜를 기본값으로 사용하고, 과거 날짜 입력을 허용합니다. 미래 날짜 입력은 막는 방향입니다.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F-006: 식사 기록 생성·편집·삭제 (2/3)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기록 생성 시각과 실제 섭취 날짜를 분리합니다. 리포트는 섭취 날짜 기준으로 집계합니다.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음식명과 영양값은 기록 시점의 스냅샷으로 보존합니다. 외부 음식 데이터 변경으로 과거 기록이나 리포트가 자동 변경되지 않아야 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검색 데이터에 기준 제공량이 있으면 표시하고 양을 배수로 조절합니다. 직접 입력 음식은 1회분을 기본으로 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그램 환산과 자유 형식 단위 입력은 MVP에서 제외합니다.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기록 수정과 개별 삭제를 지원합니다. 계정을 유지한 채 기록 전체를 초기화하는 기능은 필수 범위에서 제외합니다.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F-006: 식사 기록 생성·편집·삭제 (3/3)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식사 기록은 사진 업로드 여부와 독립적으로 저장되어야 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F-007: 최근 기록·즐겨찾기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6583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내용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설명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즐겨찾기한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다시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반복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부담을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낮춥니다.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우선순위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P0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(필수)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공수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4인일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추정: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프론트엔드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2인일,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백엔드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1인일,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디자인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1인일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담당자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프론트엔드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담당,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백엔드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담당,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디자이너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의존성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F-005,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F-006,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일정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4~5주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위험도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중간.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권한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F-007: 최근 기록·즐겨찾기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요구사항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최근 기록과 즐겨찾기를 음식 추가 흐름에서 확인할 수 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공용 음식과 사용자 입력 음식 모두 즐겨찾기할 수 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즐겨찾기는 사용자와 음식의 연결 정보로 관리합니다.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최근 기록과 즐겨찾기에서 선택한 뒤 양과 식사 구분을 확인하고 저장할 수 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사용자의 개인 입력 음식이 다른 사용자에게 노출되지 않아야 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‘인기 메뉴’ 목록은 MVP에서 제공하지 않습니다.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F-008: 주간 리포트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6583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내용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설명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완료된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일수,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평균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끼니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패턴을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중립적으로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보여줍니다.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우선순위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P0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(필수)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공수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8인일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추정: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백엔드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4인일,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프론트엔드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3인일,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디자인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1인일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담당자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백엔드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담당,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프론트엔드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담당,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디자이너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의존성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F-006,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F-009,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일정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5~6주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위험도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높음.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결측,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이력,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집계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비교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문구에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따른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가능성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F-008: 주간 리포트 (1/3)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요구사항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주간 리포트는 한국 시간 기준 월요일부터 일요일까지의 완료된 주를 ‘지난주’로 표시합니다. 현재 주간 현황은 홈에서 확인하는 방향입니다.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지난 7일 중 기록한 날짜 수를 표시합니다.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칼로리 평균은 기록이 있는 날짜만을 기준으로 계산하며, 이를 화면에 명시합니다.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기본 영양소는 칼로리·탄수화물·단백질·지방입니다. 영양소별로 해당 값이 있는 항목만 따로 합산합니다.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영양 정보가 없는 항목은 해당 영양소의 합계에서 제외하되, 기록 자체에는 포함합니다.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F-008: 주간 리포트 (2/3)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영양 정보 누락 안내 문구는 다음과 같이 표시합니다: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“일부 음식 정보가 없어 영양소별 합계가 다를 수 있어요.”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기록이 없는 날은 0으로 표시하지 않고 빈칸이나 점선 등으로 구분합니다.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가장 자주 기록한 식사 시간대 또는 끼니별 기록 패턴을 제공합니다.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목표 비교는 목표가 설정된 경우에만 제공합니다. 목표가 없던 과거 날짜에는 비교하지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목표 변경 이력을 적용하여 식사 날짜 당시 유효한 목표를 기준으로 비교합니다.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F-008: 주간 리포트 (3/3)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건강 점수, 좋음·나쁨 평가, 실패를 암시하는 문구, 직접적인 식품 추천은 제공하지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리포트는 사용자가 열 때 서버에서 계산합니다. 수정·삭제 후 다시 열 때 최신 기록으로 갱신합니다. 성능 확인 뒤 캐시 적용 여부를 검토합니다.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지난주 비교는 데이터가 충분한 경우에만 보조로 제공합니다. 최소 기록 기준은 미정이며 전문가 검토가 필요합니다.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F-009: 기록·음식·목표 데이터 기반 구조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6583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내용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설명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분리,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영양값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스냅샷,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이력,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집계를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지원하는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구조와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API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기반을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마련합니다.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우선순위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P0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(필수)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공수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8인일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추정: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백엔드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6인일,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프론트엔드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1인일,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기술·기능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1인일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담당자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백엔드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담당,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프론트엔드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담당,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기획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담당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의존성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공급처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일정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1~3주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위험도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높음.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외부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공급자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모델,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방식,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정책이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구조에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F-009: 기록·음식·목표 데이터 기반 구조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데이터 모델 초안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F-009: 기록·음식·목표 데이터 기반 구조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496291"/>
                <a:gridCol w="673330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데이터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묶음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핵심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필드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원칙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식별값,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연결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생성·수정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프로필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신체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시간대.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목적을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안내하고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수정·삭제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가능하게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값,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유효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시작일·종료일.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변경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과거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소급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적용하지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마스터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식별값,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공급자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식별값,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이름,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브랜드,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제공량,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출처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생성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시각,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섭취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현지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항목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당시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음식명·영양값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스냅샷,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섭취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배수,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단위,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출처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즐겨찾기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식별값의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연결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여부,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시간,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운영체제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권한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약관·개인정보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처리·제품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분석·알림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동의의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시각,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계정·기록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F-009: 기록·음식·목표 데이터 기반 구조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기술·데이터 처리 요구사항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외부 음식 데이터는 내부 표준 모델로 변환하고 공급자 어댑터를 둡니다.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음식 마스터의 최신 정보와 기록 당시 스냅샷을 분리합니다.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데이터베이스에는 UTC 시각을 저장하고 사용자 시간대 및 기록 당시 현지 날짜를 함께 고려합니다.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시간대 변경으로 과거 식사 날짜를 자동 재계산하지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개인 입력 음식은 기본적으로 사용자별로 분리합니다.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주소록과 위치 정보는 수집하지 않습니다.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F-009: 기록·음식·목표 데이터 기반 구조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원문 비밀번호, 음식명·자유 메모 등 민감한 기록 내용을 오류 로그에 남기지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탈퇴 시 사용자와 연결된 기록을 삭제하는 흐름을 지원합니다. 백업의 완전 삭제 시점과 보관 기간은 별도 정책 확인이 필요합니다.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F-010: 선택형 기록 알림·푸시 설정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6583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내용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설명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명시적으로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경우에만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시간에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하루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보냅니다.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우선순위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P0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(필수)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공수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6인일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추정: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백엔드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3인일,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프론트엔드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2인일,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디자인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1인일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담당자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백엔드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담당,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프론트엔드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담당,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디자이너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의존성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F-001,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F-011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일정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4~6주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위험도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중간.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운영체제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권한과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동기화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F-010: 선택형 기록 알림·푸시 설정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요구사항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알림 기본값은 꺼짐입니다. 약관 동의와 알림 동의는 분리합니다.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사용자가 앱 안에서 기록 알림을 선택한 경우에만 활성화합니다.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기본 시간은 저녁 8시로 제안됐으나, 사용자가 직접 시간을 선택하는 범위와 방식은 확인이 필요합니다.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해당 날짜에 식사 기록이 한 건 이상 있으면 알림을 보내지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하루 최대 한 번 보냅니다.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첫 실행 직후 운영체제 권한을 요청하지 않습니다. 첫 기록 완료 후 인라인 안내를 제공하고, 사용자가 선택하면 권한을 요청합니다.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F-010: 선택형 기록 알림·푸시 설정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권한이 거부되면 앱 내 설정 상태를 허용된 것처럼 표시하지 않습니다. 필요한 경우 운영체제 설정으로 이동하도록 안내합니다.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푸시 내용에는 음식명·칼로리·체중 등 개인 정보를 포함하지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주간 리포트 푸시 알림은 첫 버전에서 제외하는 방향이 회의에서 반복됐으나, 일부 논의에는 별도 선택형 주간 알림 포함 내용도 있습니다.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출시 범위 확정 필요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입니다.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알림을 켜지 않아도 앱 이용과 리포트 열람이 가능합니다.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F-011: 약관·동의·개인정보 설정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6583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내용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설명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이용약관,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동의,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푸시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동의를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구분하고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관리할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합니다.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우선순위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P0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(필수)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공수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6인일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추정: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프론트엔드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2인일,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백엔드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1인일,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디자인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1인일,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기획·검토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2인일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담당자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프론트엔드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담당,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백엔드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담당,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디자이너,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기획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담당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의존성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흐름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외부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업체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일정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1~6주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차,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검토는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개발과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병행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위험도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높음.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외부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API·분석·푸시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업체의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위치와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계약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미확정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F-011: 약관·동의·개인정보 설정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요구사항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이용약관, 개인정보 처리 동의, 푸시 수신 동의를 구분합니다.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마케팅 알림 동의와 광고 SDK는 MVP에 포함하지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선택 동의는 기본 해제 상태로 제공합니다.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제품 분석은 사용자가 거부할 수 있게 하고, 거부해도 핵심 기능이 정상 동작해야 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외부 식품 API에 검색어가 전달될 수 있음을 처리 흐름 및 개인정보 안내에 반영해야 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외부 공급자에게 사용자 ID, 이메일, 기록 날짜, 식사 기록을 보내지 않습니다.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F-011: 약관·동의·개인정보 설정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외부 업체의 데이터 보관·처리 위치, 국외 이전 여부, 식품 정보 재표시·캐시·라이선스 조건을 출시 전에 확인합니다.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푸시 토큰, 분석 식별자, 서버 접근 로그 등의 수집 목적과 보관 기간은 개인정보 담당자 확인이 필요합니다.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개인정보 처리방침에는 수집 항목과 목적, 보관 기간, 삭제, 위탁 업체 등 확인된 정보를 반영합니다.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F-012: 계정 삭제·기록 삭제 요청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6583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내용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설명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요청하고,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연관된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삭제하도록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합니다.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우선순위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P0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(필수)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공수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7인일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추정: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백엔드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4인일,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프론트엔드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2인일,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디자인·기획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1인일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담당자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백엔드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담당,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프론트엔드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담당,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디자이너,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기획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담당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의존성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F-001,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F-009,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F-011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일정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4~6주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위험도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높음.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시간,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백업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기간,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법적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의무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미확정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F-012: 계정 삭제·기록 삭제 요청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요구사항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앱 안에서 계정 삭제를 요청할 수 있어야 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삭제 전 삭제 대상과 처리 방식을 안내하고 확인 단계를 둡니다.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탈퇴 시 사용자 계정과 연관 기록을 함께 삭제하는 것을 기본으로 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계정 삭제 요청 이후 로그인 및 푸시 토큰을 비활성화하는 흐름을 검토합니다.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식사 기록 삭제와 계정 삭제는 구분합니다.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개별 기록 삭제는 F-006에 포함합니다.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F-012: 계정 삭제·기록 삭제 요청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계정을 유지하면서 기록 전체를 초기화하는 기능은 MVP 필수에서 제외하고, 난이도 산정 후 추가할 후보로 둡니다.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백업에서의 완전 삭제 시점, 삭제 완료 안내 시점, 운영 로그 보관, 법적 보관 의무는 정책 확정 전까지 미정으로 둡니다.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장기 미사용 계정 자동 삭제는 정책 확정 전까지 구현하지 않습니다.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F-013: 선택적 제품 분석·오류 모니터링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6583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내용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설명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핵심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흐름을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이해하는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행동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이벤트와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서비스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장애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진단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분리해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수집합니다.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우선순위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P1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(중요)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공수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4인일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추정: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백엔드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1인일,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프론트엔드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2인일,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기획·검토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1인일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담당자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프론트엔드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담당,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백엔드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담당,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기획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담당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의존성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F-011,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이벤트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항목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일정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4~7주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위험도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중간.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SDK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위치,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옵트아웃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서비스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로그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F-013: 선택적 제품 분석·오류 모니터링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요구사항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제품 분석 이벤트 후보는 가입 완료, 목표 설정 여부, 첫 기록 완료, 검색 실행·결과 유무, 직접 입력, 리포트 열람, 푸시 선택 등입니다.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음식명, 칼로리, 체중, 이메일, 자유 입력 메모를 분석 도구로 전송하지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검색어 자체를 분석 이벤트에 저장하지 않고 검색 결과 유무 등 최소 정보만 사용합니다.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내부 사용자 식별값은 가명 처리하고 로그인 정보를 분석 도구에 직접 전달하지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제품 분석 동의를 거부해도 앱 기능이 제한되지 않습니다.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F-013: 선택적 제품 분석·오류 모니터링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보안·장애 대응 로그는 제품 분석과 구분하며, 필요한 진단 정보만 수집합니다.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오류 모니터링 정보는 플랫폼, 앱 버전, 오류 코드, 요청 ID 등으로 제한합니다.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오류 로그에 음식명이나 자유 메모가 자동 첨부되지 않도록 설정합니다.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제품 분석·오류 모니터링 도구의 데이터 처리 위치와 보관 조건을 확인합니다.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F-014: 저장 실패 방지·임시 보존·백업 복구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5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6583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내용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설명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네트워크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입력값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유실과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중복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방지하고,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출시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백업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복구를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검증합니다.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우선순위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P0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(필수)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공수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5인일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추정: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백엔드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3인일,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프론트엔드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2인일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담당자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백엔드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담당,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프론트엔드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담당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의존성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F-006,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일정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3~7주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차.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복구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시험은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출시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위험도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높음.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완전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오프라인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동기화는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범위에서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제외하고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임시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수준을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확정해야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F-014: 저장 실패 방지·임시 보존·백업 복구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요구사항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완전한 오프라인 검색·동기화는 MVP에서 제외합니다.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입력 도중 통신이 끊겨도 작성 내용이 사라지지 않도록 임시 보존 가능성을 검토합니다.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저장 중·저장 완료·저장 실패 상태를 사용자에게 구분해 보여줍니다.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저장 실패 시 입력값을 유지하고 재시도 안내를 제공합니다.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재전송에 요청 ID를 사용해 중복 기록 생성을 방지합니다.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오프라인 상태에서 최근 음식은 활용할 수 있는 방향으로 설계합니다. 새 검색은 연결 복구 전까지 제한될 수 있습니다.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F-014: 저장 실패 방지·임시 보존·백업 복구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자동 백업, 백업 암호화 및 접근 권한 관리가 필요합니다.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출시 전에 최소 한 번 백업 복구 시험을 실시합니다.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서버 오류율, 응답 시간, 저장 실패율을 모니터링하며 민감한 기록 내용은 로그에 남기지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외부 API 호출량과 서버 비용에 대한 사용량 알림·제한 방안을 마련합니다. 비용 상한은 API 견적 확인 후 재검토하며, 회의에서 언급된 월 30만 원은 확정 한도가 아닙니다.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F-015: 식사 사진 한 장 첨부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5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6583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내용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설명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장을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첨부하고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다시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있도록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합니다.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우선순위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P1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(중요)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공수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6인일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추정: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백엔드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3인일,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프론트엔드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2인일,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디자인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1인일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담당자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백엔드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담당,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프론트엔드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담당,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디자이너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의존성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F-006,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스토리지·파일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보관·삭제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일정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4~6주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차.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API와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5주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차까지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여건이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되는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경우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통합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위험도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높음.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회의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포함·제외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결정이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상충하며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스토리지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비용과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정책도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F-015: 식사 사진 한 장 첨부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요구사항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자동 사진 인식은 MVP 필수 기능에 포함하지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사진 첨부는 사진 자동 분석과 별개의 기능입니다.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후반부 논의에서는 식사당 한 장 첨부를 포함하기로 했으나, 회의 내 다른 결정에는 사진 첨부 제외도 명시되어 있습니다. 따라서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출시 포함 여부는 최종 확인이 필요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포함하기로 확정하는 경우, 식사 기록을 먼저 저장하고 사진 업로드는 별도로 처리합니다.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사진 업로드 실패가 식사 기록 저장을 막아서는 안 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F-015: 식사 사진 한 장 첨부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사진 원본은 별도 저장소에 보관하고 데이터베이스에는 파일 식별값만 저장하는 방향입니다.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외부 사진 분석 서비스로 사진을 전달하지 않는 방향입니다.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EXIF 제거, 비공개 접근, 파일 삭제 시점, 용량 제한, 업로드 재시도 방식은 기술·개인정보 검토가 필요합니다.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여러 장 첨부와 사진 자동 분석은 MVP 범위에서 제외합니다.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F-016: QA·접근성·출시 안정화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6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6583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내용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설명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핵심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흐름,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기기별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개인정보·삭제,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접근성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출시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운영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준비를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검증합니다.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우선순위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P0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(필수)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공수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8인일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추정: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기획·QA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3인일,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프론트엔드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2인일,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백엔드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2인일,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디자인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1인일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담당자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기획·QA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담당,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프론트엔드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담당,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백엔드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담당,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디자이너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의존성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통합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일정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동결은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6주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베타·QA는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6~8주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차,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7주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스토어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위험도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높음.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QA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부재,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지원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인력과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스토어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심사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일정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미확정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61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F-016: QA·접근성·출시 안정화 (1/4)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검증 범위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음식 검색의 한글 띄어쓰기, 브랜드 이름 일부 검색, 결과 없음, API 오류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직접 입력, 영양 정보 누락, 양 조절 및 기록 저장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기록 생성·수정·삭제, 날짜 변경, 미래 날짜 입력 차단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중복 저장 방지, 네트워크 오류 시 입력값 보존·재시도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앱을 다시 열거나 날짜가 바뀐 뒤 홈과 리포트가 갱신되는지 확인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계정 삭제와 사용자별 데이터 분리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62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F-016: QA·접근성·출시 안정화 (2/4)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푸시 설정 변경·권한 거부·알림 해제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백업 복구 시험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iOS·안드로이드 기기별 화면 확인. 구체적인 지원 OS 버전은 사용 범위 근거 확인 후 확정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색상만으로 상태를 구분하지 않기, 시스템 글자 크기에서 주요 화면이 깨지지 않기, 버튼에 읽을 수 있는 이름 제공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테스트 운영 방향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프로토타입 테스트: 5~6명, 가상 식단 사용, 실제 개인정보 입력 없이 진행하는 안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63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F-016: QA·접근성·출시 안정화 (3/4)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베타 테스트: 사내 인원과 외부 참가자 등 약 20~30명 규모가 후반 논의에서 제시됨. 별도 논의에는 사내 10명·외부 10명 수준의 안도 있으므로 참가자 수는 최종 확정 필요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실제 기록을 받는 경우 목적·수집 항목·보관 기간·삭제 방법을 안내하고 별도 동의를 받습니다.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테스트 계정은 일반 서비스 분석과 분리하거나 별도 표시합니다.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베타 지표는 첫 기록 완료율, 기록 소요 시간, 주간 기록 일수, 검색 실패 후 이탈, 직접 입력 비율, 리포트 열람률 등을 기준선 확인 목적으로 봅니다.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64</a:t>
            </a:fld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F-016: QA·접근성·출시 안정화 (4/4)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첫 실행 후 2분 이내 첫 기록 완료 비율 75% 이상은 검증 가설이며, 확정 성능 목표가 아닙니다.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베타 품질 기준으로 제안된 기록 흐름 완료율 95% 이상, 치명적 데이터 유실 0건, 크래시 없는 세션 99% 이상은 제안 수치입니다. 표본과 시험 결과를 보고 확정해야 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검색 응답 대부분 2초 이내, 3초 이상 지연 시 재시도 안내는 검증 대상 목표입니다.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65</a:t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 기능 상세 명세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66</a:t>
            </a:fld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4.1 공통 사용자 흐름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1. 사용자는 선택된 인증 방식으로 가입하거나 로그인합니다. 인증 제공자 범위는 미정입니다.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2. 온보딩에서 목표 없이 시작하거나 선택적으로 목표 설정을 진행합니다.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3. 홈에서 오늘 날짜와 기록 상태를 확인합니다.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4. 음식 검색, 최근 기록, 즐겨찾기 또는 직접 입력으로 음식을 선택합니다.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5. 식사 구분과 양을 확인하고 저장합니다.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6. 기록은 항목별로 저장되며, 같은 날짜·식사 구분의 항목을 합산해 보여줍니다.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7. 사용자는 기록을 수정하거나 삭제할 수 있습니다.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67</a:t>
            </a:fld>
            <a:endParaRPr 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4.1 공통 사용자 흐름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8. 주간 리포트에서 완료된 지난주 기록 일수, 기록한 날 기준 영양 정보, 끼니 패턴을 확인합니다.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9. 사용자는 설정에서 알림과 개인정보 동의를 관리하거나 계정 삭제를 요청할 수 있습니다.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68</a:t>
            </a:fld>
            <a:endParaRPr 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4.2 공통 데이터·화면 상태 규칙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영양값이 없는 상태와 실제 값 0을 구분합니다.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기록이 없는 날은 0으로 표시하지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기록에 필요한 영양값이 일부 누락되어도 기록 자체는 저장합니다.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외부 식품 데이터가 바뀌어도 기존 기록의 이름·영양값 스냅샷은 자동 변경하지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검색 결과 없음과 네트워크·API 오류를 구분합니다.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저장 완료 여부가 불명확한 상태로 화면을 닫지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식사 기록 데이터, 제품 분석 이벤트, 장애 진단 로그를 구분합니다.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69</a:t>
            </a:fld>
            <a:endParaRPr 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4.2 공통 데이터·화면 상태 규칙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개인정보 처리와 외부 업체 계약 조건이 확인되지 않은 기능은 출시 승인 항목으로 남깁니다.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70</a:t>
            </a:fld>
            <a:endParaRPr 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4.3 공통 API 초안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아래 경로와 요청 구조는 회의에서 확정된 API 명세가 아니라 구현 논의를 위한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초안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입니다. 인증 방식, API 체계, 개인정보·보안 검토 후 확정해야 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71</a:t>
            </a:fld>
            <a:endParaRPr 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4.3 공통 API 초안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7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028700"/>
                <a:gridCol w="4371975"/>
                <a:gridCol w="282892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기능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API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초안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주요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처리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제공자별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경로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가입·로그인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연결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/api/foods/search?q=...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응답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반환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생성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/api/user-foods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접근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/api/meals?date=...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날짜·식사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생성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/api/meals/items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항목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스냅샷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생성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PATCH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/api/meals/items/{id}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소유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DELETE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/api/meals/items/{id}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소유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리포트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/api/reports/weekly?week=...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완료된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집계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PUT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/api/settings/notifications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/api/account/deletion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접수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72</a:t>
            </a:fld>
            <a:endParaRPr 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4.3 공통 API 초안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공통 API 원칙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외부 식품 API에는 검색어만 전달하고 사용자 식별값·기록 데이터는 전달하지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저장 재시도 시 요청 식별값을 이용해 중복 생성을 방지하는 방안을 적용합니다.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식품 API 오류가 기록 생성·수정·조회 기능 전체를 막지 않도록 분리합니다.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실제 인증 토큰 방식, 만료 시간, 호출 제한, 응답 시간 목표는 구현·보안 검토 후 확정합니다.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73</a:t>
            </a:fld>
            <a:endParaRPr lang="en-US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4.4 공통 데이터베이스 초안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7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567543"/>
                <a:gridCol w="666205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데이터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묶음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필수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검토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사용자·인증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제공자,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연결,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프로필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입력값,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목적,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수정·삭제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목표값,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유효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시작일·종료일,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과거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비교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마스터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공급자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식별값,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식별값,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영양값,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단위,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출처,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라이선스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생성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시각,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섭취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시간대,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항목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당시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이름·영양값,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양,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단위,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출처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즐겨찾기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사용자·음식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연결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접근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여부,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시간,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운영체제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권한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동의·삭제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시각,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백업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파일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포함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별도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식별값과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연결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74</a:t>
            </a:fld>
            <a:endParaRPr lang="en-US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4.4 공통 데이터베이스 초안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개발 전에 추가 확정할 항목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목표 값 입력 방식과 안전 기준, 전문가 검토 결과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이메일·Apple·Google·게스트 중 최종 로그인 조합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음식 데이터 공급자, 상업적 재표시·캐시·검색어 보관 조건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사진 첨부 기능의 최종 포함 여부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주간 리포트 푸시 포함 여부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지원 OS 버전과 기기별 시험 범위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75</a:t>
            </a:fld>
            <a:endParaRPr lang="en-US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4.4 공통 데이터베이스 초안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기록 탐색 날짜 범위와 과거 날짜 선택 방식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계정 삭제 처리 시간, 백업 보존·삭제 기간, 데이터 사본 제공 방식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76</a:t>
            </a:fld>
            <a:endParaRPr lang="en-US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 기능 의존 관계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77</a:t>
            </a:fld>
            <a:endParaRPr lang="en-US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5.1 의존 관계도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63040"/>
            <a:ext cx="7863840" cy="208358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78</a:t>
            </a:fld>
            <a:endParaRPr lang="en-US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5.2 의존성 테이블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8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625033"/>
                <a:gridCol w="1875099"/>
                <a:gridCol w="1979271"/>
                <a:gridCol w="375019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기능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기능명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선행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기능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주요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후속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기능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가입·로그인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연결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F-002,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F-010,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F-012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온보딩·선택적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F-001,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F-003,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홈·날짜별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F-006,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F-016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검색·검색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F-009,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공급처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F-006,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F-007,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F-016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직접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입력·개인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관리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F-006,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F-007,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F-016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생성·편집·삭제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F-004,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F-005,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F-003,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F-007,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F-008,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F-014,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F-015,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F-016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기록·즐겨찾기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F-005,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F-006,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F-016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리포트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F-002,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F-006,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F-016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기록·음식·목표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인증·식품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API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F-001~F-008,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F-012,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F-014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F-010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알림·푸시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F-001,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F-011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F-016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F-011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약관·동의·개인정보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흐름·외부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업체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F-010,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F-012,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F-013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79</a:t>
            </a:fld>
            <a:endParaRPr lang="en-US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5.2 의존성 테이블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8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743200"/>
                <a:gridCol w="2606040"/>
                <a:gridCol w="2057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기능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기능명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선행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기능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주요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후속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기능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F-012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삭제·기록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F-001,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F-009,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F-011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F-016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F-013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분석·오류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모니터링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F-011,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이벤트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베타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지표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운영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점검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F-014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방지·임시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보존·백업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복구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F-006,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F-016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F-015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첨부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F-006,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저장·삭제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F-016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F-016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QA·접근성·출시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안정화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핵심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통합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후보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빌드·스토어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80</a:t>
            </a:fld>
            <a:endParaRPr lang="en-US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6. 우선순위별 일정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81</a:t>
            </a:fld>
            <a:endParaRPr lang="en-US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6.1 주차별 계획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8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633046"/>
                <a:gridCol w="3798277"/>
                <a:gridCol w="379827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일정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주요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작업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선행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조건·완료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기준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요구사항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정리,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흐름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작성,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API·인증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조사,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검증,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개인정보·법무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착수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API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샘플·계약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자동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분석은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검증만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진행하며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출시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필수로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간주하지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2주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홈·기록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디자인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확정,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데이터베이스·API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골격,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범위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범위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로그인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방식과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공급처가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지연되면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범위를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줄이는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미확정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자동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권장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칼로리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3주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생성,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직접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F-009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구조와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흐름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시작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4주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수정·삭제,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조회,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기록·즐겨찾기,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대응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핵심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흐름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통합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5주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완성,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리포트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집계,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검토·통합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판단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첨부는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회의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진행.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일정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영향이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있으면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범위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6주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신규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추가를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제한하고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수정·안정화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우선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6주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리포트·알림·개인정보·삭제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흐름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통합,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리포트·계정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삭제·푸시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7주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베타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시험,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수정,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스토어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자료와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준비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베타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치명적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수정.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7주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스토어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8주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후보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빌드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출시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준비,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심사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대응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8주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차는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출시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후보·제출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목표이며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공개일은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심사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베타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9주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스토어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심사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완충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외부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심사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지연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대응.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사전에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확정하지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82</a:t>
            </a:fld>
            <a:endParaRPr lang="en-US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6.1 주차별 계획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"주차는 킥오프 시점부터의 상대 일정입니다. 날짜별 시작·종료일은 회의에서 확정되지 않았습니다. 선행 작업의 완료와 검증이 끝난 뒤 다음 단계로 넘어가도록 운영합니다."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83</a:t>
            </a:fld>
            <a:endParaRPr lang="en-US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6.2 작업 선후관계와 일정 검산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8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418897"/>
                <a:gridCol w="3405352"/>
                <a:gridCol w="340535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선행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작업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검증·승인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기준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후속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작업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공급처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국내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음식·브랜드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범위,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라이선스,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비용,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처리·캐시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API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연결.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공급처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임시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개발하고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출시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위험으로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로그인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범위,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iOS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심사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조건,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게스트·계정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연결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범위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QA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검토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전문가·법무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의견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않으면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자동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칼로리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MVP에서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흐름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검토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앱·서버·외부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업체별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항목과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핵심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화면·데이터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홈·기록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흐름,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날짜·식사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API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모델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승인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3주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핵심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구현·통합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6주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베타·QA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베타·결함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치명적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유실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핵심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흐름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스토어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스토어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심사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승인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공개일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84</a:t>
            </a:fld>
            <a:endParaRPr lang="en-US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6.3 간트 차트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63040"/>
            <a:ext cx="7863840" cy="19659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85</a:t>
            </a:fld>
            <a:endParaRPr lang="en-US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6.3 간트 차트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"위 차트의 날짜는 2026-10-01 킥오프를 기준으로 주차를 배치한 일정 초안입니다. 실제 주차 경계, 휴일·인력 투입 가능일 및 심사 기간은 일정 담당자 확인 후 보정해야 합니다."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86</a:t>
            </a:fld>
            <a:endParaRPr lang="en-US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7. 리스크 관리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8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504661"/>
                <a:gridCol w="715617"/>
                <a:gridCol w="715617"/>
                <a:gridCol w="429370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리스크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발생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가능성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영향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대응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방안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공급처·라이선스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미확정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높음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높음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차에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샘플·계약·비용·국내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커버리지를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비교합니다.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공급처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임시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화면·어댑터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개발을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진행하고,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2주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화요일까지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미확정이면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일정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위험으로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상향합니다.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품질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부족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중간~높음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높음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대표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메뉴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50개와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브랜드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20개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자료로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미발견·오매칭을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확인합니다.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불확실하면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자동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직접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제공합니다.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외부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API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불명확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높음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공급자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보관·처리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조건,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미전달,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반영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여부를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출시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확인합니다.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로그인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병합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범위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미확정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높음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높음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이메일·Apple·Google·게스트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방식과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심사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조건을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조사하고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선택합니다.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일정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위험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게스트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범위를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줄입니다.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자동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칼로리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미확정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높음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높음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전문가·법무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검토를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진행합니다.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지연되면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자동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권장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칼로리를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MVP에서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제외하고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합니다.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첨부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포함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중간~높음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회의에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제외와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포함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결정이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모두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존재합니다.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저장·삭제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정책과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일정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영향을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검토해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승인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착수합니다.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리포트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푸시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포함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제공하고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리포트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푸시는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제외한다는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결론이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반복됐으나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일부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논의에서는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포함이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언급됐습니다.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범위는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제외로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확인합니다.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지원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부족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중간~높음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높음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프론트엔드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지원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인력과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투입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시점을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확인합니다.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공통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요소를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우선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전달해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병렬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개발하고,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동결을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6주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초로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유지합니다.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네트워크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오류로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유실·중복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높음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식별값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중복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방지,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입력값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임시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보존,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재시도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검증합니다.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완전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오프라인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동기화는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범위에서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제외합니다.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개인정보·외부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업체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지연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높음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흐름과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목적을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초기에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작성하고,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법무·보안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검토를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개발과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병행합니다.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미확인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외부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출시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승인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조건으로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둡니다.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계정·기록·백업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범위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미확정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높음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연관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우선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구현합니다.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백업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시점·보관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기간·처리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시간은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단정하지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않습니다.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87</a:t>
            </a:fld>
            <a:endParaRPr lang="en-US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7. 리스크 관리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8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665927"/>
                <a:gridCol w="695459"/>
                <a:gridCol w="695459"/>
                <a:gridCol w="417275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리스크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발생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가능성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영향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대응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방안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스토어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계정·권한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심사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지연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높음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등록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권한,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인증서,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푸시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스토어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자료를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조기에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확인합니다.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7주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제출을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하고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9주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차를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완충으로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둡니다.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QA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부재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기기별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부족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높음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중간~높음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기능·기기·사용성·개인정보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분리하고,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사내·외부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베타를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활용합니다.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지원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OS와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근거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확정합니다.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분석·오류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로그에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내용이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포함될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위험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높음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이벤트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목록과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로그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정의합니다.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음식명·칼로리·체중·자유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메모를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차단하는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코드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항목을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둡니다.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API·스토리지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비용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초과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중간~높음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호출량과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캐시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적용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비용을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비교하고,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호출량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알림·제한을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검토합니다.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30만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원은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언급됐으며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상한은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아닙니다.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범위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증가로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통합·검증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부족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높음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높음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6주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동결,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수정·안정화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우선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원칙을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적용합니다.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일정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영향을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받는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기능은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핵심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검색·기록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판단합니다.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88</a:t>
            </a:fld>
            <a:endParaRPr lang="en-US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8. 메트릭 및 KPI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회의에서 제시된 수치는 확정 성능 목표가 아니라 검증 가설 또는 시험 제안입니다. 베타 결과는 정량 지표와 인터뷰·관찰 내용을 함께 해석합니다.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89</a:t>
            </a:fld>
            <a:endParaRPr lang="en-US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8. 메트릭 및 KPI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9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354238"/>
                <a:gridCol w="625033"/>
                <a:gridCol w="2604304"/>
                <a:gridCol w="364602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지표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현재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목표·해석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방식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측정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방법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첫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완료율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베타에서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첫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완료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이벤트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집계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첫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완료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2분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완료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비율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75%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이상은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시작과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완료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차이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측정.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음식명은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수집하지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일수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지속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패턴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파악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섭취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일수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집계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비율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공급처·동의어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검토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유무만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집계하고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자체는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직접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비율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직접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여부를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첫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흐름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완료율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95%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이상은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베타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품질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제안값이며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경로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완료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집계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치명적인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유실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0건은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베타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품질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재조회·수정·삭제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크래시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세션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비율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99%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이상은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베타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품질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진단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집계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응답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대부분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2초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이내는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제안값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시각·응답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측정,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음식명은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리포트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이해도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참가자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인터뷰·관찰과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리포트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열람률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리포트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진입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이벤트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90</a:t>
            </a:fld>
            <a:endParaRPr lang="en-US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8. 메트릭 및 KPI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9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567543"/>
                <a:gridCol w="1175657"/>
                <a:gridCol w="2351314"/>
                <a:gridCol w="313508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지표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현재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목표·해석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방식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측정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방법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푸시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허용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현황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파악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동의·권한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집계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91</a:t>
            </a:fld>
            <a:endParaRPr lang="en-US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지표 수집 원칙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선택적 제품 분석 이벤트에는 음식명, 칼로리, 체중, 이메일, 자유 입력 메모를 포함하지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검색어는 분석 목적으로 저장하지 않습니다. 외부 식품 API에 검색어가 전달되는 경우는 별도 처리 조건과 고지를 확인합니다.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테스트 계정은 일반 서비스 분석에서 제외하거나 별도 표시합니다.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지표만으로 기능 범위를 판단하지 않고 사용자 인터뷰와 사용 관찰 결과를 함께 검토합니다.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베타 표본이 적으므로 수치 변동을 시장 전체의 사용자 행동으로 일반화하지 않습니다.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92</a:t>
            </a:fld>
            <a:endParaRPr lang="en-US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작성 완료 후 확인사항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☑ 모든 기능에 기능 ID, 설명, 우선순위, 공수, 담당 역할, 의존성이 기재됨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☑ 미정·제안·회의 내 상충 항목을 구분함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☑ 기능 간 의존 관계를 표와 그림으로 정리함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☑ 상대 주차 기준 일정과 선행 작업·검증 순서를 정리함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☑ 개발 구현 검토용 API·데이터 구조 초안을 포함함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☑ 위험 관리와 측정 지표를 포함함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로그인 제공자, 음식 데이터 공급처, 사진 첨부 및 주간 리포트 알림 범위 최종 승인 필요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93</a:t>
            </a:fld>
            <a:endParaRPr lang="en-US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작성 완료 후 확인사항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인력 배정, 지원 OS 버전, 개인정보·삭제 정책, 외부 업체 계약 조건 확인 필요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94</Slides>
  <Notes>94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94</vt:i4>
      </vt:variant>
    </vt:vector>
  </HeadingPairs>
  <TitlesOfParts>
    <vt:vector size="9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2026-10-06T12:36:32Z</dcterms:created>
  <dcterms:modified xsi:type="dcterms:W3CDTF">2026-10-06T12:36:32Z</dcterms:modified>
</cp:coreProperties>
</file>