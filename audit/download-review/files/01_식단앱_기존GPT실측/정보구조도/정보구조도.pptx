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</p:sldIdLst>
  <p:notesMasterIdLst>
    <p:notesMasterId r:id="rId1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notesMaster" Target="notesMasters/notesMaster1.xml"/><Relationship Id="rId112" Type="http://schemas.openxmlformats.org/officeDocument/2006/relationships/presProps" Target="presProps.xml"/><Relationship Id="rId113" Type="http://schemas.openxmlformats.org/officeDocument/2006/relationships/viewProps" Target="viewProps.xml"/><Relationship Id="rId114" Type="http://schemas.openxmlformats.org/officeDocument/2006/relationships/theme" Target="theme/theme1.xml"/><Relationship Id="rId1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v1.0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디자인팀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검토 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회의 원문의 명시적 결정과 미결정 사항을 구분해 작성했습니다. 선행 화면 목록은 화면 이름과 경로를 연결하는 참고 자료로 활용하되, 회의 원문과 충돌하는 항목은 회의 원문을 우선했습니다.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경로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아래 경로는 모바일 앱 내부 화면 경로 초안입니다. 웹 주소가 아니며, 실제 앱 내 주소 체계와 화면 구현 방식은 개발 설계 과정에서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변경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51338"/>
                <a:gridCol w="1418897"/>
                <a:gridCol w="5108028"/>
                <a:gridCol w="8513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메뉴·페이지·콘텐츠·검색·권한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문서 내 상태 표기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75657"/>
                <a:gridCol w="70539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결론을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내리지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방향이며,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분명하지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근거가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정보 구조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6077"/>
                <a:gridCol w="63035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구조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계층형·작업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중심·개인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하이브리드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깊이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4단계.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너비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페이지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18개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팝업·상태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싶지만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쉬운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작업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찾기·추가,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확인·수정·삭제,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계정·개인정보·알림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플랫폼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리액트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네이티브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관리자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권한·동의·접근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2.1 구조 유형 선정 이유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계층형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홈, 주간 리포트, 설정을 최상위 탐색 영역으로 두고 각 영역에서 관련 작업으로 이동합니다. 사용자는 홈에서 당일 기록을 확인하고, 음식 추가나 기록 수정 같은 세부 작업은 하위 화면에서 수행합니다.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장점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주요 목적과 화면 간 관계가 분명합니다.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주의점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기록 추가 과정이 길어지지 않도록 검색·최근 기록·즐겨찾기·직접 입력을 한 음식 추가 영역 안에 모읍니다.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적용 범위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홈·리포트·설정 및 각 영역의 세부 화면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작업 중심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사용자는 앱을 열어 정해진 메뉴를 탐색하기보다 “먹은 음식을 기록한다”, “기록을 고친다”, “지난주 기록을 확인한다”와 같은 목적을 수행합니다.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추가는 검색·최근 기록·즐겨찾기·직접 입력으로 이어집니다.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실패나 외부 API 오류가 있어도 직접 입력이나 최근 기록으로 기록을 이어갈 수 있어야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저장·수정·삭제 결과와 오류 상태를 명확히 보여줍니다.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개인 데이터 중심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식사 기록·사용자 입력 음식·즐겨찾기·목표·알림 설정은 사용자별로 분리합니다. 음식 데이터 공급자가 바뀌더라도 사용자의 과거 기록이 바뀌지 않도록 기록 당시 음식 이름과 영양값을 별도로 보존합니다.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대상자별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MVP는 일반 사용자 앱을 중심으로 구성합니다. 관리자용 메뉴나 다른 사용자의 기록을 보는 기능은 제공하지 않는 것을 기본으로 합니다. 관리자 권한과 운영 도구의 구체 범위는 추정 필요입니다.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정보 구조 설계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기록 우선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홈은 칼로리 목표 달성 여부보다 오늘의 기록 상태와 기록하기를 먼저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목표 비강요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사용자는 목표 없이도 기록과 주간 리포트를 이용할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참고값 명시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칼로리·영양값은 정확한 섭취량이 아닌 참고값으로 다룹니다.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결측값 보존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영양 정보가 없는 상태를 실제 값 0과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개인정보 최소화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식사 기록 내용을 분석 도구에 보내지 않으며, 외부 식품 API에는 검색어만 전달하는 방향으로 설계합니다.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정보 구조 설계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기록 안정성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저장 결과를 표시하고 실패 시 입력값을 보존하며, 재시도 때 중복 저장을 방지합니다.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확장 가능한 데이터 구조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음식 데이터 공급자 변경, 목표 이력, 시간대별 기록과 향후 리포트 확장을 고려합니다.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사이트맵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 사이트맵은 사용자에게 노출되는 MVP 화면을 중심으로 작성했습니다. 직접 음식 입력, 계정 삭제, 오류 안내처럼 메뉴에서 항상 보이지 않더라도 주요 작업 경로에 필요한 화면은 포함했습니다.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사이트맵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사이트맵 범위와 해석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와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는 음식 추가 화면 안의 목록 또는 탭입니다. 별도 화면으로 구현할지, 같은 화면의 전환 상태로 구현할지는 디자인·개발 단계에서 확정해야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목록과 음식 기록 항목은 날짜와 식사 구분에 따라 보여줍니다. 한 끼에 여러 항목을 추가할 수 있으며, 별도의 식사 모음 단위는 MVP에서 사용하지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한 장 첨부는 후반부 논의에서 포함 방향으로 정리됐습니다. 식사 저장을 먼저 완료한 뒤 사진을 추가하며, 사진 자동 인식은 MVP 필수 기능이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사이트맵 범위와 해석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칼로리 목표, 로그인 제공자, 게스트 계정, 사진 처리 세부, 주간 리포트의 최소 데이터 기준은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사용자용 화면이 아닌 서버 운영·관리 화면은 이 사이트맵에 포함하지 않았습니다.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네비게이션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글로벌 네비게이션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모바일 화면의 공통 주요 이동 구조입니다. 탭 형태로 제공할지, 다른 내비게이션 형식으로 제공할지는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글로벌 네비게이션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1727200"/>
                <a:gridCol w="1016000"/>
                <a:gridCol w="711200"/>
                <a:gridCol w="355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순서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메뉴명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아이콘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권한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/reports/weekly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요약·그래프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글로벌 네비게이션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탐색 원칙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앱을 열었을 때 기록 작업에 가장 빠르게 접근할 수 있도록 홈을 기본 진입 화면으로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추가, 날짜별 기록, 기록 수정·삭제는 홈과 기록 상세에서 이어지는 작업 경로로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리포트는 사용자가 직접 확인할 수 있어야 하며, 푸시를 설정하지 않아도 접근할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메뉴의 시각적 위치, 하단 메뉴 사용 여부, 뒤로가기 동작은 추정 필요입니다.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로컬 네비게이션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홈 내부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61884"/>
                <a:gridCol w="3982065"/>
                <a:gridCol w="31856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메뉴·동작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위치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돌아가기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/food/add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/reports/weekly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음식 추가 내부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97775"/>
                <a:gridCol w="3291840"/>
                <a:gridCol w="40399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메뉴·동작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위치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/food/custom/new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/food/:foodId/select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제공량·영양값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음식 추가 내부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기록·즐겨찾기·검색의 기본 탭은 회의에서 확정되지 않았습니다.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검색은 한 글자 입력을 허용하고 약 350밀리초 대기 후 요청하는 방향이 후반부에 제시됐습니다. 공급자 계약과 호출 제한 확인 후 확정해야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결과가 없거나 검색 API가 실패해도 직접 입력으로 이동할 수 있어야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설정 내부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0090"/>
                <a:gridCol w="3451123"/>
                <a:gridCol w="331838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메뉴명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/settings/profile-goal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/settings/notifications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/settings/privacy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/settings/account/delete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푸터 네비게이션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모바일 앱 전역에 고정 푸터 메뉴가 있는지는 회의에서 확정되지 않았습니다. 웹 서비스의 푸터를 그대로 적용하지 않으며, 아래 항목은 설정·안내 화면에 배치하는 구조를 제안합니다.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푸터 네비게이션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31259"/>
                <a:gridCol w="3872753"/>
                <a:gridCol w="30255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링크명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위치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/legal/terms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/legal/privacy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항목·목적·보유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기간·위탁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/support/food/:foodId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채운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푸터 네비게이션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약관·개인정보 안내 주소, 문의 주소, 외부 연결 방식은 추정 필요입니다.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마케팅 알림 동의는 MVP에 두지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이용약관, 개인정보 처리 동의, 푸시 선택은 서로 구분합니다.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브레드크럼 및 이전 화면 이동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모바일 앱에 웹 형태의 브레드크럼을 상시 표시할지는 회의에서 확정되지 않았습니다. 좁은 화면과 빠른 기록 흐름을 고려해, 기본적으로 상단 제목과 뒤로가기 동작으로 현재 위치를 표현하는 방안을 제안합니다.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위치 관계 예시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브레드크럼 및 이전 화면 이동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홈 &gt; 음식 추가 &gt; 검색 결과 &gt; 음식 상세·양 선택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홈 &gt; 날짜별 기록 &gt; 기록 상세 &gt; 기록 수정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설정 &gt; 개인정보·동의 관리 &gt; 계정 삭제 요청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브레드크럼 및 이전 화면 이동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구현 원칙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상위 화면으로 돌아가는 동작은 현재 작성 중인 입력을 잃지 않도록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실패나 통신 오류가 있으면 오류 화면에서 입력 흐름을 끊지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홈에서 특정 날짜를 선택해 기록을 추가하면 해당 날짜가 기록의 기본 섭취 날짜가 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수정·삭제 후에는 부모 기록 목록과 합계를 갱신합니다.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콘텐츠 분류 체계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1단계 카테고리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10653"/>
                <a:gridCol w="1443789"/>
                <a:gridCol w="4764505"/>
                <a:gridCol w="10106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카테고리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카테고리명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하위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일수·영양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정보·끼니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2단계 카테고리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48145"/>
                <a:gridCol w="1068779"/>
                <a:gridCol w="748145"/>
                <a:gridCol w="1068779"/>
                <a:gridCol w="3099460"/>
                <a:gridCol w="14962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상위명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하위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하위명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진입·인증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페이지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탐색·선택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2단계 카테고리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76393"/>
                <a:gridCol w="976393"/>
                <a:gridCol w="976393"/>
                <a:gridCol w="976393"/>
                <a:gridCol w="3487119"/>
                <a:gridCol w="8369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상위명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하위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하위명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SUB-014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3단계 카테고리: 화면 목록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33046"/>
                <a:gridCol w="1055077"/>
                <a:gridCol w="3059723"/>
                <a:gridCol w="949569"/>
                <a:gridCol w="25321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진입·인증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/onboarding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/food/add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탐색·선택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탐색·선택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/food/:foodId/select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탐색·선택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제공량·영양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정보·양·식사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/food/custom/new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이름·양·영양값·날짜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/records/items/:itemId/edit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/records/:recordId/photo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3단계 카테고리: 화면 목록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33046"/>
                <a:gridCol w="1477108"/>
                <a:gridCol w="2743200"/>
                <a:gridCol w="738554"/>
                <a:gridCol w="26376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/reports/weekly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정보·끼니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설정·개인정보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프로필·알림·개인정보·계정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/settings/profile-goal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/settings/notifications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동의·시간·운영체제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/settings/privacy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/settings/account/delete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3단계 카테고리: 화면 목록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페이지 수 산정 기준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위 18개는 화면 목적과 주요 구성이 구분되는 페이지 기준입니다.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로그인 제공자별 별도 화면이 필요한지, 약관·개인정보 안내를 별도 내부 페이지로 둘지는 미정입니다. 그에 따른 페이지 수는 추가될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없음, 네트워크 오류, 기록 없음은 별도 페이지가 아니라 같은 화면의 상태로 계산합니다.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기록과 즐겨찾기는 음식 추가 화면 안의 목록 또는 탭으로 분류하며, 별도 화면 수에는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3단계 카테고리: 화면 목록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선택 확인·날짜 선택·사진 선택 같은 겹쳐 표시되는 화면은 모달로 별도 집계합니다.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4단계 카테고리: 주요 상태·모달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17220"/>
                <a:gridCol w="1131570"/>
                <a:gridCol w="1028700"/>
                <a:gridCol w="1954530"/>
                <a:gridCol w="34975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P-003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P-007,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P-007,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P-008,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0칼로리로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오해되지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콘텐츠 모델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콘텐츠 유형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 모델은 회의에서 논의된 데이터 영역을 정보 구조 관점에서 정리한 것입니다. 필드의 구체 자료형, 필수 여부, 보유 기간, 암호화 방식은 개발·개인정보 검토 후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83771"/>
                <a:gridCol w="783771"/>
                <a:gridCol w="2220686"/>
                <a:gridCol w="35269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이메일·애플·구글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달라짐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활성·삭제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사용자 프로필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98171"/>
                <a:gridCol w="1175657"/>
                <a:gridCol w="783771"/>
                <a:gridCol w="2090057"/>
                <a:gridCol w="24819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계산·표시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계산·표시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생년월일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목표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45673"/>
                <a:gridCol w="748145"/>
                <a:gridCol w="748145"/>
                <a:gridCol w="2119745"/>
                <a:gridCol w="28678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습관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단백질·탄수화물·지방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향후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시작일·종료일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음식 마스터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16736"/>
                <a:gridCol w="658368"/>
                <a:gridCol w="2194560"/>
                <a:gridCol w="24140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출처·상업적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음식·브랜드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숫자·표시명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만들지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칼로리·탄수화물·단백질·지방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기준량의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보정값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사용자 입력 음식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93223"/>
                <a:gridCol w="1528354"/>
                <a:gridCol w="705394"/>
                <a:gridCol w="1998617"/>
                <a:gridCol w="27040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마스터와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경우에만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참·거짓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식사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회의에서는 식사와 식사 음식 항목을 분리하는 구조가 논의됐습니다. 한 식사 구분에 여러 음식 항목을 연결하며, 별도 식사 묶음 식별값은 MVP 필수로 두지 않는 방향입니다.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식사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93228"/>
                <a:gridCol w="851338"/>
                <a:gridCol w="993228"/>
                <a:gridCol w="2270234"/>
                <a:gridCol w="31215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속하는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표시·정렬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추가·이름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후반부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식사 음식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91014"/>
                <a:gridCol w="1240077"/>
                <a:gridCol w="676405"/>
                <a:gridCol w="2141951"/>
                <a:gridCol w="24801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마스터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영향받지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제공량·표시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숫자·문자열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기본값은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1회분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칼로리·탄수화물·단백질·지방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결측을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데이터·사용자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가능하도록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즐겨찾기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42204"/>
                <a:gridCol w="931653"/>
                <a:gridCol w="931653"/>
                <a:gridCol w="2639683"/>
                <a:gridCol w="24844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최근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842953"/>
                <a:gridCol w="897775"/>
                <a:gridCol w="897775"/>
                <a:gridCol w="1795549"/>
                <a:gridCol w="17955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31235"/>
                <a:gridCol w="715617"/>
                <a:gridCol w="715617"/>
                <a:gridCol w="2027583"/>
                <a:gridCol w="33395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참·거짓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허용·거부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탈퇴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비활성화·삭제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주간 리포트 집계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15979"/>
                <a:gridCol w="1191126"/>
                <a:gridCol w="649705"/>
                <a:gridCol w="2382253"/>
                <a:gridCol w="24905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시작일·종료일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월요일부터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탄수화물·단백질·지방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동의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77007"/>
                <a:gridCol w="851338"/>
                <a:gridCol w="851338"/>
                <a:gridCol w="2554014"/>
                <a:gridCol w="269590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비회원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달라짐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약관·개인정보·푸시·제품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각각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참·거짓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문자열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89212"/>
                <a:gridCol w="1210235"/>
                <a:gridCol w="726141"/>
                <a:gridCol w="1936376"/>
                <a:gridCol w="32676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제약·확인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접수·처리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중·완료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계정·기록·사진·푸시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콘텐츠 관계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357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데이터 구조 원칙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데이터는 내부 표준 모델로 변환하고 공급자 연결부를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시점의 음식 이름·양·단위·영양값·출처를 음식 항목에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데이터가 변경돼도 과거 기록이나 과거 리포트에 자동 반영하지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항목을 추가할 때 항목별로 저장하며, 같은 날짜와 식사 구분의 항목을 합산해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구분은 아침·점심·저녁·간식 네 가지로 고정합니다.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기록에는 생성 시각과 섭취 날짜를 구분해 저장합니다. 리포트는 생성 시각이 아니라 섭취 날짜 기준으로 집계합니다.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데이터 구조 원칙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시점의 현지 날짜를 기본값으로 사용하고, 시간대가 변경돼도 과거 식사 날짜를 자동으로 다시 계산하지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변경은 이력으로 관리하며, 식사 날짜 기준으로 당시 유효한 목표를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없던 날짜와 기록은 있으나 영양 정보가 없는 날짜를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영양소별 계산은 해당 영양소의 값이 있는 항목만 각각 포함합니다.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 데이터는 분석 이벤트와 진단 로그에 자동 첨부하지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데이터 구조 원칙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삭제와 연결된 기록·사진·푸시 토큰 삭제 흐름을 설계하되, 백업 삭제 시점과 보유 기간은 정책 확인 전 확정하지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라벨링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7.1 화면명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7706"/>
                <a:gridCol w="1679510"/>
                <a:gridCol w="2183363"/>
                <a:gridCol w="33590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한글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Onboarding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Food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Add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Food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Food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Select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정보·양·식사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Custom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Food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Daily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Records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Record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Detail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Record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Meal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7.1 화면명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81743"/>
                <a:gridCol w="2057400"/>
                <a:gridCol w="2792186"/>
                <a:gridCol w="24982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한글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Weekly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Settings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Profile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Notifications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Privacy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Consent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Account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Deletion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P-018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UI 요소 용어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81743"/>
                <a:gridCol w="1322614"/>
                <a:gridCol w="1322614"/>
                <a:gridCol w="47026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비슷한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재실행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닫기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편집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파괴적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작업.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의미하며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섭취량을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의미하지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예상값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칼로리·영양값의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불확실성을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UI 요소 용어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7706"/>
                <a:gridCol w="1343608"/>
                <a:gridCol w="1007706"/>
                <a:gridCol w="48705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비슷한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활성화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분석이며,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7.3 상태 메시지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0897"/>
                <a:gridCol w="4003589"/>
                <a:gridCol w="32251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메시지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“저장되지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유지했어요.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주세요.”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“찾는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불러오지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못했어요.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유지했어요.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주세요.”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지우지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“아직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남겨볼까요?”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저장했어요.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올릴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강요하지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“문제가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생겼어요.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주세요.”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불필요하게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7.4 영양·리포트 용어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“섭취량”을 단정하기보다 “기록된 섭취량” 또는 “기록된 내용 기준”을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기록하지 않은 날은 0으로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정보가 없는 값은 0으로 바꾸지 않고 “정보 없음”으로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“달성”, “실패”, “좋음”, “나쁨” 등 사용자를 평가하거나 압박하는 표현은 사용하지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없는 사용자에게 목표 대비 수치를 보여주지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지난주 비교는 데이터가 충분한 경우에만 보조 정보로 제공하며, 최소 기준은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7.4 영양·리포트 용어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칼로리·영양 정보는 참고값으로 안내하며, 의학적 조언이나 처방처럼 표현하지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검색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검색 범위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45178"/>
                <a:gridCol w="1197033"/>
                <a:gridCol w="50873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여부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범위와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원칙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출처·라이선스·상업적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아니며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검색어·음식명을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8.2 검색 동작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96291"/>
                <a:gridCol w="673330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후반부에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제시됨.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대기하는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후반부에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제시됨.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글자·약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먼저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띄어쓰기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줄이기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정규화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쓰는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20~30개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매핑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관련도·브랜드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일치·사용자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유사한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API·네트워크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8.2 검색 동작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75657"/>
                <a:gridCol w="70539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검색어·음식명은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8.3 검색 결과 콘텐츠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검색 결과에는 공급자 응답과 계약상 표시 조건을 확인한 뒤 아래 정보의 제공 여부를 확정합니다.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8.3 검색 결과 콘텐츠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828925"/>
                <a:gridCol w="54006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상품인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참고값으로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탄수화물·단백질·지방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가능하도록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출처·제공량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만들지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8.4 검색 개인정보·외부 처리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데이터 API에는 검색어만 전달하는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 식별자, 이메일, 프로필 정보, 기록 날짜, 식사 기록은 전달하지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검색어는 외부 공급자에게 전달될 수 있으므로 공급자의 보관 조건, 이용 조건, 국외 처리 여부를 확인해야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검색어 처리 조건은 개인정보 처리 안내에 반영해야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공급자별 캐시 보관 허용 기간과 호출 한도는 계약에서 확인해야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분석 이벤트에는 검색어·음식 이름을 넣지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8.4 검색 개인정보·외부 처리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대표 메뉴 50개와 브랜드 상품 20개 수준의 검색 시험 자료를 준비하는 방안이 논의됐습니다. 실제 시험 결과와 공급자 선정 기준은 별도 산출물로 관리합니다.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URL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9.1 설계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 경로는 모바일 앱 내부 화면 식별을 위한 초안입니다. 외부 웹 주소가 아닌 만큼, 실제 화면 전환은 앱의 탐색 구조와 개발 방식에 맞춰 확정해야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화면 목적과 상위 영역이 드러나는 경로를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사용자 기록은 날짜·기록 식별값을 경로로 표현합니다.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기록 상세와 수정은 같은 기록 식별값을 공유합니다.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검색어·이메일·식사 내용 등 개인정보를 경로 매개값에 넣지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모달과 상태 화면은 독립 경로 대신 부모 화면의 상태로 표현할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9.1 설계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동적 주소의 실제 형식과 식별자 형식은 개발 설계에서 확정합니다.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화면 경로 목록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68188"/>
                <a:gridCol w="2807746"/>
                <a:gridCol w="2904565"/>
                <a:gridCol w="15491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패턴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/onboarding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/onboarding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/food/add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/food/add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/food/:foodId/select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/food/food-123/select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/food/custom/new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/food/custom/new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/records/items/item-123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/records/items/:itemId/edit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/records/items/item-123/edit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/records/:recordId/photo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/records/record-123/photo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화면 경로 목록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55077"/>
                <a:gridCol w="2743200"/>
                <a:gridCol w="2743200"/>
                <a:gridCol w="16881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페이지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패턴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/reports/weekly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/reports/weekly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/settings/profile-goal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/settings/profile-goal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/settings/notifications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/settings/notifications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/settings/privacy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/settings/privacy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안내·동의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/settings/account/delete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/settings/account/delete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9.3 모달·화면 상태 경로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75657"/>
                <a:gridCol w="3206338"/>
                <a:gridCol w="1496291"/>
                <a:gridCol w="2351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식별자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modal/date-picker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modal/delete-record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modal/photo-picker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modal/delete-account-confirm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modal/analytics-consent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search-empty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search-error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save-error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photo-upload-error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리다이렉션 및 진입 규칙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34283"/>
                <a:gridCol w="3328827"/>
                <a:gridCol w="286649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원본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경로·상태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이유·처리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성공·온보딩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/onboarding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성공·온보딩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/entry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/food/search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/food/search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리다이렉션 및 진입 규칙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23319"/>
                <a:gridCol w="3113903"/>
                <a:gridCol w="38923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원본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경로·상태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이유·처리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/settings/notifications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/entry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로그아웃·푸시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잘못된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리다이렉션 및 진입 규칙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에서 다른 날짜를 보고 있는 상태는 경로에 날짜를 포함할지 화면 내부 상태로 유지할지 추정 필요입니다.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로그인 이후 게스트 기록 병합이 지원된다면 별도 연결·병합 흐름이 필요합니다. 계정 방식이 미정이므로 현재 경로에는 포함하지 않았습니다.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계정을 유지한 채 기록 전체를 초기화하는 기능은 MVP 필수 범위에서 제외됐습니다.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 사용자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11.1 신규 사용자 진입 및 온보딩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72" y="1463040"/>
            <a:ext cx="5650855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11.1 신규 사용자 진입 및 온보딩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로그인 제공자와 게스트 시작 여부는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없이 시작하는 흐름은 회의에서 합의됐습니다.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권장 칼로리는 전문가 검토와 안전 기준 확인 전 임의로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목표의 안전 기준을 다음 주 화요일까지 확인하지 못하면 자동 칼로리 목표는 MVP에서 제외합니다.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11.2 음식 검색·기록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653" y="1463040"/>
            <a:ext cx="7382694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11.2 음식 검색·기록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한 끼에 여러 음식 항목을 추가할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항목은 하나씩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날짜와 식사 구분은 음식 추가가 시작된 화면을 기준으로 전달합니다.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API 오류와 결과 없음은 다른 상태로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 음식은 영양 정보 없이도 저장할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11.3 기록 확인·수정·삭제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418" y="1463040"/>
            <a:ext cx="3497163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11.3 기록 확인·수정·삭제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날짜별 목록은 날짜와 식사 구분 기준으로 기록을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수정·삭제는 본인 기록만 가능합니다.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수정·삭제 후 다시 연 주간 리포트는 갱신된 기록을 기준으로 계산합니다.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미래 날짜 기록은 막는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과거 날짜 입력은 허용하는 방향이며, 화면 탐색 범위와 날짜 선택 정책은 확정 필요입니다.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11.4 주간 리포트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033" y="1463040"/>
            <a:ext cx="4573935" cy="36671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11.4 주간 리포트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리포트는 한국 시간 기준 월요일부터 일요일까지 완료된 주를 기준으로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리포트는 사용자가 열 때 계산하는 방식으로 시작합니다.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날은 0으로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평균 칼로리는 기록이 있는 날만 계산하고 기준을 명시합니다.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정보가 빠진 항목은 영양소별로 따로 계산에서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리포트의 최소 기록 기준과 지난주 비교 조건은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11.5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464" y="1463040"/>
            <a:ext cx="5285073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11.5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알림은 사용자가 앱 안에서 선택한 경우에만 활성화합니다.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기본 상태는 꺼짐입니다.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기본 시간은 저녁 8시로 논의됐으나, 사용자 시간 선택 방식과 기본값 적용 방식은 최종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첫 실행 직후가 아니라 첫 기록 완료 후 선택형 안내를 제공하는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알림은 하루 최대 한 번이며, 그날 기록이 한 건 이상이면 건너뜁니다.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 알림은 초기 범위에서 제외하는 결정이 우선합니다.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문구에는 음식명·칼로리·체중 등 개인 정보를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11.6 계정 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857" y="1463040"/>
            <a:ext cx="6580287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11.6 계정 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요청은 앱 안에서 할 수 있도록 설계합니다.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계정과 연관된 식사 기록 삭제를 기본으로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삭제, 푸시 토큰 비활성화, 백업에서의 완전 삭제 시점과 보유 기간은 정책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장기 미사용 계정 자동 삭제는 정책이 확정되기 전까지 구현하지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12. 모바일 대응 및 접근 권한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12.1 모바일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93214"/>
                <a:gridCol w="2478795"/>
                <a:gridCol w="2478795"/>
                <a:gridCol w="24787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안드로이드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리액트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네이티브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리액트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네이티브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네이티브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구현·심사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제한·시간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경우에만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크기·글자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복잡한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텍스트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우선순위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12.1 모바일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색상만으로 기록 상태를 표현하지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시스템 글자 크기를 키워도 주요 화면이 깨지지 않도록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버튼과 주요 조작 요소에 읽을 수 있는 이름을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상세 차트의 대체 설명 범위는 기능별 우선순위에 따라 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지원 운영체제 버전은 보급률과 시험 여건 확인 후 확정합니다.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12.2 권한별 접근 범위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14700"/>
                <a:gridCol w="12573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기능·화면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관리자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동일한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인증·게스트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인증·게스트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인증·게스트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12.2 권한별 접근 범위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44436"/>
                <a:gridCol w="1795549"/>
                <a:gridCol w="25436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기능·화면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회원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관리자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대신한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모달·상태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12.2 권한별 접근 범위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권한 표기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허용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해당 역할에서 이용 가능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허용하지 않음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해당 역할에서 이용 불가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미정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계정·게스트 방식 확정 후 결정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관리자 접근 원칙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MVP에는 관리자 전용 사용자 기록 열람 화면을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사용자의 식사 기록이나 사진을 운영자가 확인해야 하는 경우, 동의·권한 승인·접근 기록이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12.2 권한별 접근 범위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진단 로그에는 기기 종류·앱 버전·요청 식별값·오류 코드 등 필요한 정보만 포함하고 음식명과 자유 입력 내용은 자동 첨부하지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메뉴 구조를 최대 4단계 이내로 정리함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페이지 목록과 내부 경로를 정의함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메인 화면·세부 화면·모달·오류 상태를 구분함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글로벌·로컬·푸터 네비게이션을 구분하고 미확정 사항을 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URL 목록을 모바일 앱 내부 경로 초안으로 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비회원·회원·관리자별 접근 범위를 정리하고 미정 사항을 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음식 검색 범위와 검색 실패 대안을 정의함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콘텐츠 모델과 콘텐츠 관계를 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음식·영양 정보의 기록 시점 보존, 결측값 처리, 사용자별 비공개 원칙을 반영함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신규 사용자·음식 기록·수정·리포트·알림·계정 삭제 흐름을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접근성·개인정보·저장 실패·오류 상태를 IA에 반영함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로그인 제공자와 게스트 이용·계정 연결 방식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음식 데이터 공급처·검색 호출 조건·캐시 정책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검색의 최소 입력 길이와 요청 대기 시간 확정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수치 입력 여부와 안전 기준 전문가 검토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한 장 첨부의 최종 구현 범위·저장·삭제 조건 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알림의 기본 시간·시간 선택 방식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주간 리포트의 비교 최소 기록 기준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과거 날짜 탐색 범위와 날짜 선택 동작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지원 운영체제 버전과 권한별 시험 범위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계정 삭제 처리 시간·백업 삭제 시점·데이터 보유 정책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앱 내 문의 경로와 약관·개인정보 안내 경로 확정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109</Slides>
  <Notes>109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2026-10-06T12:37:06Z</dcterms:created>
  <dcterms:modified xsi:type="dcterms:W3CDTF">2026-10-06T12:37:06Z</dcterms:modified>
</cp:coreProperties>
</file>