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</p:sldIdLst>
  <p:notesMasterIdLst>
    <p:notesMasterId r:id="rId158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notesMaster" Target="notesMasters/notesMaster1.xml"/><Relationship Id="rId159" Type="http://schemas.openxmlformats.org/officeDocument/2006/relationships/presProps" Target="presProps.xml"/><Relationship Id="rId160" Type="http://schemas.openxmlformats.org/officeDocument/2006/relationships/viewProps" Target="viewProps.xml"/><Relationship Id="rId161" Type="http://schemas.openxmlformats.org/officeDocument/2006/relationships/theme" Target="theme/theme1.xml"/><Relationship Id="rId16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AN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MeetingAutoDocs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3F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1. 문서 정보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버전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v1.0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작성일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2026-10-01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작성자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데이터팀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문서 상태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검토 중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설계 기준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: PostgreSQL 15.x를 기준으로 한 설계 초안입니다. 회의에서 확정된 데이터 원칙과 설계 제안을 구분했으며, 미정 사항은 별도 확인 항목으로 표시했습니다.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변경 이력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66274"/>
                <a:gridCol w="1443789"/>
                <a:gridCol w="5053263"/>
                <a:gridCol w="8662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버전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날짜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작성자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2026-10-01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바탕으로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1. 문서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"범위 충돌 기록: 회의 초반과 최종 정리에는 사진 첨부와 사진 자동 인식이 MVP에서 제외된다고 되어 있으나, 후반 일부 논의에는 식사당 사진 한 장 첨부를 포함한다는 내용이 있습니다. 본 설계의 기본 범위는 회의 말미의 최종 정리와 앞선 명시적 제외 결정을 따라 사진 첨부와 사진 자동 인식을 MVP에서 제외하는 것으로 작성했습니다.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사진 관련 테이블은 기본 DDL에 넣지 않았으며, 최종 결정에 따라 별도 확장해야 합니다."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데이터베이스 개요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DBMS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PostgreSQL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15.x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목적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프로필·목표,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특징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관계형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트랜잭션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키·검사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문자셋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UTF-8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생성·수정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시각은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TIMESTAMPTZ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UTC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필드에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시간대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Asia/Seoul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기본값으로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마스터의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리포트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MVP에서는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테이블이나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작업은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두지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주소록·위치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API에는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전달하고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전달하지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사진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설계에서는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포함되면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추가해야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2. 데이터베이스 개요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583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DB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분류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관계형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DB를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도구·푸시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DB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구성으로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취급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선정 이유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기록과 식사 항목, 음식, 목표 이력 간 관계를 명확히 표현할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외래 키와 검사 제약으로 사용자별 데이터 분리, 값 범위, 중복 방지 조건을 데이터베이스 수준에서 보완할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주간 리포트는 기록 시점의 영양값을 바탕으로 관계형 질의를 통해 계산할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공급자별 응답은 내부 음식 모델로 정규화하여 공급자 교체 시 앱과 핵심 기록 구조의 영향을 줄일 수 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선정 이유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JSONB는 외부 공급자 원문을 장기간 저장하는 데 기본 사용하지 않습니다. 계약상 보관 허용 여부와 개인정보 검토가 선행되어야 하며, MVP에서는 필요한 필드만 표준 컬럼으로 보관하는 방안을 제안합니다.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설계 결정과 확인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420471"/>
                <a:gridCol w="580912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정리된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원칙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사용하고,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테이블로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미정·확인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병합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캐시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보관·백업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분석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전송하는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방향입니다.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원장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테이블을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포함했으며,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도입과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필요합니다.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설계 결정과 확인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ERD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다음 도식은 MVP 기본 데이터 구조입니다. 사진, 리포트 저장 결과, 기록 전체 초기화 작업은 기본 엔티티에서 제외했습니다.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3. ERD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7863840" cy="210825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ERD 관계 해석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사용자와 프로필은 1:0..1 관계입니다. 프로필 입력을 건너뛸 수 있으므로 프로필 행이 없을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사용자와 인증 연결은 1:N 관계입니다. 한 사용자가 복수의 인증 제공자를 연결할 수 있게 한 설계 제안입니다.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사용자와 목표 이력은 1:N 관계입니다. 목표 변경 시 새 이력을 추가하고 유효 기간으로 적용 범위를 관리합니다.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사용자와 식사 항목은 1:N 관계입니다. 식사 구분·섭취 날짜별로 항목을 묶어 화면에서 합산하며, 별도 식사 묶음 식별값은 두지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ERD 관계 해석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음식과 식사 항목은 1:N 관계입니다. 개인 음식은 공용 음식과 분리된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USER_FOODS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에서 참조합니다.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음식과 영양소는 N:N 관계이며, 연결 테이블에 해당 음식의 영양값과 값 상태를 보관합니다.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사용자와 음식 간 즐겨찾기는 연결 테이블을 통한 N:N 관계입니다. 공용 음식과 개인 음식 중 하나만 참조하도록 제약을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 테이블 상세 설계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공통 데이터 형식과 규칙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기본 키는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구성합니다.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시각 정보는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TIMESTAMPTZ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를 사용합니다. 앱과 서버 간 저장은 UTC를 기준으로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날짜만 필요한 식사 섭취일은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저장합니다. 시간대가 바뀌어도 과거 식사 날짜를 자동으로 다시 계산하지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구분은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breakfast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lunch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dinner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,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snack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네 값만 허용합니다.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정보가 없으면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저장하고 실제 값 0과 구분합니다.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 공통 데이터 형식과 규칙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수량은 제공량의 배수로 저장합니다. 자유 형식 단위와 그램 환산은 MVP 범위로 두지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사용자가 삭제를 요청하면 서비스 데이터 삭제 흐름을 수행합니다. 계정 삭제 요청 상태와 실제 데이터 삭제 완료 시점은 운영 정책 확정이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데이터베이스의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DELETE CASCADE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는 사용자 데이터 종속 관계에 적용합니다. 삭제 정책상 물리 삭제가 지연되어야 한다면 애플리케이션의 삭제 절차와 함께 운영 검토가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4.2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사용자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컬럼 명세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66092"/>
                <a:gridCol w="870438"/>
                <a:gridCol w="474785"/>
                <a:gridCol w="474785"/>
                <a:gridCol w="1503485"/>
                <a:gridCol w="791308"/>
                <a:gridCol w="28487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gen_random_uuid()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account_status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'active'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active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deletion_pending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UTC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마지막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UTC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일관성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컬럼 명세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인증 제공자, 이메일, 비밀번호 해시를 사용자 본문에 고정하지 않습니다. 이메일 수집과 이메일 인증 방식은 미확정이며, 원문 비밀번호를 저장하지 않는다는 원칙에 따라 인증 정보를 별도 테이블로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DDL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컬럼 명세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users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UUID PRIMARY KEY DEFAULT gen_random_uuid(),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account_status VARCHAR(20) NOT NULL DEFAULT 'active',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 NOT NULL DEFAULT 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updated_at TIMESTAMPTZ NOT NULL DEFAULT 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deleted_at TIMESTAMPTZ,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ck_users_account_status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(account_status IN ('active', 'deletion_pending', 'deleted')),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ck_users_deleted_state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(account_status = 'deleted' AND deleted_at IS NOT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(account_status &lt;&gt; 'deleted' AND deleted_at IS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idx_users_account_status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users (account_status);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idx_users_created_at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users (created_at);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auth_identities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인증 연결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로그인 제공자는 미확정입니다. 이메일·Apple·Google 등을 확정한 뒤 제공자 값과 인증 절차를 적용합니다. 원문 비밀번호는 저장하지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auth_identities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인증 연결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923803"/>
                <a:gridCol w="1282535"/>
                <a:gridCol w="641268"/>
                <a:gridCol w="641268"/>
                <a:gridCol w="641268"/>
                <a:gridCol w="1389413"/>
                <a:gridCol w="171004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VARCHAR(30)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제약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provider_subject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VARCHAR(255)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VARCHAR(320)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반환한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auth_identities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인증 연결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auth_identities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UUID PRIMARY KEY DEFAULT gen_random_uuid(),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UUID NOT NULL REFERENCES users(id)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 VARCHAR(30)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provider_subject VARCHAR(255)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email VARCHAR(320),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 NOT NULL DEFAULT 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updated_at TIMESTAMPTZ NOT NULL DEFAULT now(),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ck_auth_identities_provider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(provider IN ('apple', 'google', 'email', 'guest')),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uq_auth_identities_provider_subject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UNIQUE (provider, provider_subject)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idx_auth_identities_user_id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auth_identities (user_id);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4.3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auth_identities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인증 연결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guest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제공자 사용 여부와 게스트 계정의 서버 저장·앱 삭제 처리·계정 병합 방식은 확정되지 않았습니다. 게스트 계정을 채택하지 않으면 해당 제공자 값과 관련 흐름을 제거합니다."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user_profiles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선택적 프로필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체중·키 등 신체 정보의 수집 여부와 필드는 전문가·개인정보 검토가 필요합니다. 체중의 일별 추적은 MVP에서 제외합니다.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user_profiles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선택적 프로필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122218"/>
                <a:gridCol w="1122218"/>
                <a:gridCol w="561109"/>
                <a:gridCol w="561109"/>
                <a:gridCol w="1309255"/>
                <a:gridCol w="2150918"/>
                <a:gridCol w="140277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timezone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VARCHAR(64)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'Asia/Seoul'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birth_date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생년월일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height_cm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NUMERIC(5,2)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weight_kg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NUMERIC(5,2)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체중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아님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sex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참고용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여부·허용값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user_profiles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선택적 프로필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user_profiles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UUID PRIMARY KEY REFERENCES users(id)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timezone VARCHAR(64) NOT NULL DEFAULT 'Asia/Seoul',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birth_date 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height_cm NUMERIC(5,2),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weight_kg NUMERIC(5,2),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sex VARCHAR(20),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updated_at TIMESTAMPTZ NOT NULL DEFAULT now(),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ck_user_profiles_height_positive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(height_cm IS NULL OR height_cm &gt; 0),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ck_user_profiles_weight_positive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(weight_kg IS NULL OR weight_kg &gt; 0),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ck_user_profiles_sex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(sex IS NULL OR sex IN ('female', 'male', 'other', 'not_disclosed'))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4.4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user_profiles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선택적 프로필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"성별 입력 선택지와 생년월일 대신 연령대를 받을지 여부는 미정입니다. 실제 제품에 사용하지 않을 항목은 수집하지 않는 것을 원칙으로 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4.5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user_goals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목표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자동 권장 칼로리는 MVP에서 제공하지 않는 방향입니다. 사용자가 직접 목표를 입력하는 범위와 안전 기준은 전문가 검토가 필요합니다. 목표가 없다면 해당 사용자에게 목표 행이 없어도 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4.5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user_goals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목표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446638"/>
                <a:gridCol w="1334530"/>
                <a:gridCol w="667265"/>
                <a:gridCol w="667265"/>
                <a:gridCol w="667265"/>
                <a:gridCol w="1000897"/>
                <a:gridCol w="14457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daily_energy_kcal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NUMERIC(8,2)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에너지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daily_carbohydrate_g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NUMERIC(8,2)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daily_protein_g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NUMERIC(8,2)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단백질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daily_fat_g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NUMERIC(8,2)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valid_from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시작일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valid_to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종료일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종료일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4.5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user_goals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목표 이력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user_goals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UUID PRIMARY KEY DEFAULT gen_random_uuid(),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UUID NOT NULL REFERENCES users(id)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daily_energy_kcal NUMERIC(8,2),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daily_carbohydrate_g NUMERIC(8,2),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daily_protein_g NUMERIC(8,2),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daily_fat_g NUMERIC(8,2),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valid_from DATE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valid_to 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 NOT NULL DEFAULT now(),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ck_user_goals_non_negative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(daily_energy_kcal IS NULL OR daily_energy_kcal &gt;=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(daily_carbohydrate_g IS NULL OR daily_carbohydrate_g &gt;=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(daily_protein_g IS NULL OR daily_protein_g &gt;=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(daily_fat_g IS NULL OR daily_fat_g &gt;=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ck_user_goals_valid_period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(valid_to IS NULL OR valid_to &gt; valid_from)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idx_user_goals_user_valid_from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user_goals (user_id, valid_from DESC);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UNIQUE INDEX uq_user_goals_one_open_period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user_goals (user_id)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4.5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user_goals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목표 이력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valid_to IS NULL;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4.5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user_goals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목표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"기간이 겹치는 목표 행의 완전한 방지는 별도 트리거 또는 애플리케이션 트랜잭션 검증이 필요합니다. 종료일은 해당 날짜를 포함할지 제외할지 API와 리포트 계산 규칙에서 일관되게 확정해야 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4.6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food_providers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음식 정보 공급자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공급자와 라이선스 조건은 미확정입니다. 이 테이블은 공급자별 데이터 출처와 상태를 관리하기 위한 설계 제안입니다.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4.6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food_providers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음식 정보 공급자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70444"/>
                <a:gridCol w="1085222"/>
                <a:gridCol w="542611"/>
                <a:gridCol w="542611"/>
                <a:gridCol w="1446963"/>
                <a:gridCol w="1175657"/>
                <a:gridCol w="12660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provider_code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VARCHAR(50)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license_status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VARCHAR(30)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'under_review'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commercial_use_allowed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상업적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cache_allowed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응답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캐시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4.6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food_providers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음식 정보 공급자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food_providers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UUID PRIMARY KEY DEFAULT gen_random_uuid(),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provider_code VARCHAR(50) NOT NULL UNIQUE,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provider_name VARCHAR(200)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license_status VARCHAR(30) NOT NULL DEFAULT 'under_review',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commercial_use_allowed BOOLEAN,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cache_allowed BOOLEAN,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 NOT NULL DEFAULT 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updated_at TIMESTAMPTZ NOT NULL DEFAULT now(),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ck_food_providers_license_status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(license_status IN ('under_review', 'approved', 'rejected', 'expired'))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4.7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공용 음식 마스터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음식 정보는 내부 표준 모델로 정규화합니다. 공급자 원본의 캐시·재표시·보관 조건은 계약 확인 뒤 적용합니다.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4.7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공용 음식 마스터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610139"/>
                <a:gridCol w="1162878"/>
                <a:gridCol w="536713"/>
                <a:gridCol w="536713"/>
                <a:gridCol w="536713"/>
                <a:gridCol w="983974"/>
                <a:gridCol w="286247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food_providers.id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provider_food_id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VARCHAR(255)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source_type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public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internal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display_name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VARCHAR(300)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brand_name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브랜드명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serving_name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VARCHAR(100)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serving_amount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NUMERIC(10,3)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serving_unit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VARCHAR(30)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source_reference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VARCHAR(500)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계약·표시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반영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is_active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4.7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공용 음식 마스터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63306"/>
                <a:gridCol w="1708030"/>
                <a:gridCol w="931653"/>
                <a:gridCol w="931653"/>
                <a:gridCol w="931653"/>
                <a:gridCol w="931653"/>
                <a:gridCol w="9316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4.7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공용 음식 마스터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foods (
    id UUID PRIMARY KEY DEFAULT gen_random_uuid(),
    provider_id UUID REFERENCES food_providers(id) ON DELETE RESTRICT,
    provider_food_id VARCHAR(255),
    source_type VARCHAR(20) NOT NULL,
    display_name VARCHAR(300) NOT NULL,
    brand_name VARCHAR(200),
    serving_name VARCHAR(100),
    serving_amount NUMERIC(10,3),
    serving_unit VARCHAR(30),
    source_reference VARCHAR(500),
    is_active BOOLEAN NOT NULL DEFAULT TRUE,
    created_at TIMESTAMPTZ NOT NULL DEFAULT now(),
    updated_at TIMESTAMPTZ NOT NULL DEFAULT now(),
    CONSTRAINT ck_foods_source_type
        CHECK (source_type IN ('provider', 'public', 'internal')),
    CONSTRAINT ck_foods_serving_amount
        CHECK (serving_amount IS NULL OR serving_amount &gt; 0),
    CONSTRAINT ck_foods_provider_required
        CHECK (
            (source_type = 'provider' AND provider_id IS NOT NULL)
            OR
            (source_type &lt;&gt; 'provider')
        ),
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4.7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공용 음식 마스터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uq_foods_provider_food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UNIQUE (provider_id, provider_food_id)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idx_foods_display_name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foods (display_name);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idx_foods_active_display_name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foods (is_active, display_name)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is_active = TRUE;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idx_foods_brand_name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foods (brand_name)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brand_name IS NOT NULL;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4.7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공용 음식 마스터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"한국어 부분 검색, 띄어쓰기 정규화, 초성 검색의 실제 구현 방식은 검색 공급처와 데이터 규모를 확인한 뒤 결정합니다.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display_name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의 단순 B-tree 인덱스만으로 임의 문자열 부분 검색이 충분히 빨라진다고 가정하지 않습니다."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4.8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nutrients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영양소 사전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영양소 명칭과 단위를 데이터 행으로 관리해 음식별 영양값을 정규화합니다. 기본 영양소는 칼로리, 탄수화물, 단백질, 지방입니다.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4.8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nutrients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영양소 사전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70364"/>
                <a:gridCol w="1496291"/>
                <a:gridCol w="748145"/>
                <a:gridCol w="748145"/>
                <a:gridCol w="748145"/>
                <a:gridCol w="997527"/>
                <a:gridCol w="162098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SMALLINT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nutrient_code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VARCHAR(30)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nutrient_name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VARCHAR(100)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kcal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is_active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4.8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nutrients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영양소 사전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nutrients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SMALLINT GENERATED ALWAYS AS IDENTITY PRIMARY KEY,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nutrient_code VARCHAR(30) NOT NULL UNIQUE,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nutrient_name VARCHAR(100)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unit VARCHAR(20)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is_active BOOLEAN NOT NULL DEFAULT TRUE,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ck_nutrients_code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(nutrient_code IN ('energy_kcal', 'carbohydrate_g', 'protein_g', 'fat_g'))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nutrients (nutrient_code, nutrient_name, unit)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('energy_kcal', '에너지', 'kcal'),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('carbohydrate_g', '탄수화물', 'g'),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('protein_g', '단백질', 'g'),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('fat_g', '지방', 'g');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4.8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nutrients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영양소 사전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"데이터 커버리지가 확인되기 전에는 식이섬유·나트륨을 활성 영양소로 추가하지 않습니다."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4.9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food_nutrients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음식별 최신 영양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영양소가 없는 상태와 실제 값 0을 구분하기 위해 값이 없는 영양소는 행을 만들지 않습니다. 실제 값 0은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amount_per_serving = 0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으로 저장합니다.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4.9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food_nutrients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음식별 최신 영양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83443"/>
                <a:gridCol w="1354238"/>
                <a:gridCol w="625033"/>
                <a:gridCol w="625033"/>
                <a:gridCol w="625033"/>
                <a:gridCol w="1145894"/>
                <a:gridCol w="177092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nutrient_id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SMALLINT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nutrients.id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amount_per_serving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NUMERIC(12,4)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4.9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food_nutrients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음식별 최신 영양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food_nutrients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food_id UUID NOT NULL REFERENCES foods(id)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nutrient_id SMALLINT NOT NULL REFERENCES nutrients(id) ON DELETE RESTRICT,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amount_per_serving NUMERIC(12,4)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updated_at TIMESTAMPTZ NOT NULL DEFAULT now(),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pk_food_nutrients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PRIMARY KEY (food_id, nutrient_id),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ck_food_nutrients_non_negative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(amount_per_serving &gt;=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idx_food_nutrients_nutrient_id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food_nutrients (nutrient_id, food_id);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4.10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사용자 개인 음식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 입력 음식은 기본적으로 해당 사용자에게만 노출합니다. 공용 DB에 올리는 기능은 별도 동의를 받아야 하며 MVP 기본 범위로 포함하지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4.10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사용자 개인 음식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03748"/>
                <a:gridCol w="1465545"/>
                <a:gridCol w="676405"/>
                <a:gridCol w="676405"/>
                <a:gridCol w="789140"/>
                <a:gridCol w="1352811"/>
                <a:gridCol w="146554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VARCHAR(300)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serving_name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VARCHAR(100)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'1회분'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energy_kcal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NUMERIC(12,4)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미입력은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carbohydrate_g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NUMERIC(12,4)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미입력은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protein_g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NUMERIC(12,4)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단백질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미입력은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fat_g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NUMERIC(12,4)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미입력은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4.10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사용자 개인 음식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user_foods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UUID PRIMARY KEY DEFAULT gen_random_uuid(),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UUID NOT NULL REFERENCES users(id)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food_name VARCHAR(300)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serving_name VARCHAR(100) NOT NULL DEFAULT '1회분',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energy_kcal NUMERIC(12,4),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carbohydrate_g NUMERIC(12,4),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protein_g NUMERIC(12,4),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fat_g NUMERIC(12,4),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 NOT NULL DEFAULT 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updated_at TIMESTAMPTZ NOT NULL DEFAULT now(),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ck_user_foods_nutrients_non_negative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(energy_kcal IS NULL OR energy_kcal &gt;=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(carbohydrate_g IS NULL OR carbohydrate_g &gt;=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(protein_g IS NULL OR protein_g &gt;=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AND (fat_g IS NULL OR fat_g &gt;=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idx_user_foods_user_created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user_foods (user_id, created_at DESC);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idx_user_foods_user_name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user_foods (user_id, food_name);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4.11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식사 음식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회의에서는 한 식사 구분에 여러 음식을 추가하고, 각 항목을 즉시 저장하며, 같은 섭취 날짜와 식사 구분의 항목을 함께 합산하는 방향이 정리됐습니다. 별도의 식사 묶음 식별값은 두지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기록 당시의 음식명과 영양값을 스냅샷으로 저장합니다. 음식 마스터가 갱신되어도 과거 기록과 리포트가 바뀌지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4.11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식사 음식 항목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01174"/>
                <a:gridCol w="1050587"/>
                <a:gridCol w="525294"/>
                <a:gridCol w="525294"/>
                <a:gridCol w="525294"/>
                <a:gridCol w="1400783"/>
                <a:gridCol w="210117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user_food_id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user_foods.id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consumed_date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consumed_at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입력하지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않으면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meal_type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고정값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quantity_multiplier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NUMERIC(8,3)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quantity_unit_snapshot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VARCHAR(30)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food_name_snapshot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VARCHAR(300)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스냅샷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4.11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식사 음식 항목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24991"/>
                <a:gridCol w="1215736"/>
                <a:gridCol w="561109"/>
                <a:gridCol w="561109"/>
                <a:gridCol w="561109"/>
                <a:gridCol w="1309255"/>
                <a:gridCol w="14962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serving_name_snapshot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VARCHAR(100)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energy_kcal_snapshot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NUMERIC(12,4)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누락은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carbohydrate_g_snapshot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NUMERIC(12,4)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탄수화물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누락은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protein_g_snapshot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NUMERIC(12,4)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단백질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누락은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fat_g_snapshot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NUMERIC(12,4)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누락은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nutrient_source_type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공급자·사용자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입력·정보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source_reference_snapshot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VARCHAR(500)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당시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마지막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4.11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식사 음식 항목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meal_entries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UUID PRIMARY KEY DEFAULT gen_random_uuid(),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UUID NOT NULL REFERENCES users(id)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food_id UUID REFERENCES foods(id) ON DELETE RESTRICT,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user_food_id UUID REFERENCES user_foods(id) ON DELETE RESTRICT,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request_id UUID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consumed_date DATE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consumed_at TIMESTAMPTZ,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meal_type VARCHAR(20)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quantity_multiplier NUMERIC(8,3) NOT NULL DEFAULT 1.0,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quantity_unit_snapshot VARCHAR(30),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food_name_snapshot VARCHAR(300)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serving_name_snapshot VARCHAR(100),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energy_kcal_snapshot NUMERIC(12,4),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carbohydrate_g_snapshot NUMERIC(12,4),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protein_g_snapshot NUMERIC(12,4),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fat_g_snapshot NUMERIC(12,4),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nutrient_source_type VARCHAR(20)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source_reference_snapshot VARCHAR(500),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 NOT NULL DEFAULT 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updated_at TIMESTAMPTZ NOT NULL DEFAULT now(),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ck_meal_entries_meal_type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(meal_type IN ('breakfast', 'lunch', 'dinner', 'snack')),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ck_meal_entries_exactly_one_food_source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(food_id IS NOT NULL AND user_food_id IS NULL)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4.11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식사 음식 항목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
            (food_id IS NULL AND user_food_id IS NOT NULL)
        ),
    CONSTRAINT ck_meal_entries_quantity_positive
        CHECK (quantity_multiplier &gt; 0),
    CONSTRAINT ck_meal_entries_nutrients_non_negative
        CHECK (
            (energy_kcal_snapshot IS NULL OR energy_kcal_snapshot &gt;= 0)
            AND (carbohydrate_g_snapshot IS NULL OR carbohydrate_g_snapshot &gt;= 0)
            AND (protein_g_snapshot IS NULL OR protein_g_snapshot &gt;= 0)
            AND (fat_g_snapshot IS NULL OR fat_g_snapshot &gt;= 0)
        ),
    CONSTRAINT ck_meal_entries_nutrient_source
        CHECK (nutrient_source_type IN ('provider', 'user_input', 'none')),
    CONSTRAINT uq_meal_entries_user_request
        UNIQUE (user_id, request_id)
);
CREATE INDEX idx_meal_entries_user_date_type
    ON meal_entries (user_id, consumed_date DESC, meal_type);
CREATE INDEX idx_meal_entries_user_date_created
    ON meal_entries (user_id, consumed_date DESC, created_at DESC);
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4.11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식사 음식 항목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idx_meal_entries_food_id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meal_entries (food_id)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food_id IS NOT NULL;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idx_meal_entries_user_food_id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meal_entries (user_food_id)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user_food_id IS NOT NULL;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4.11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식사 음식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중요한 소유권 검증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일반적인 외래 키만으로는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가 개인 음식의 소유자와 일치하는지 보장할 수 없습니다. 개인 음식 참조가 다른 사용자의 항목을 가리키지 않도록 다음 중 한 방식을 적용해야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식사 항목 생성·수정 API에서 소유자 일치 여부를 트랜잭션 안에서 검증합니다.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user_foods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(id, user_id)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복합 유일 제약을 두고, 식사 항목에서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(user_food_id, user_id)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복합 외래 키를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두 번째 방식의 추가 제약 예시는 다음과 같습니다.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4.11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식사 음식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user_foods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CONSTRAINT uq_user_foods_id_user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UNIQUE (id, user_id);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meal_entries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 CONSTRAINT fk_meal_entries_user_food_owner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FOREIGN KEY (user_food_id, user_id)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user_foods (id, user_id);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4.11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식사 음식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공용 음식 참조의 사용자 소유권 문제는 없지만, 개인 음식과 공용 음식 중 정확히 하나만 참조하도록 검사 제약을 유지합니다.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4.12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favorite_foods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즐겨찾기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공용 음식 또는 개인 음식 중 하나를 사용자별로 즐겨찾기합니다.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4.12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favorite_foods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즐겨찾기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45673"/>
                <a:gridCol w="1371600"/>
                <a:gridCol w="748145"/>
                <a:gridCol w="748145"/>
                <a:gridCol w="748145"/>
                <a:gridCol w="1246909"/>
                <a:gridCol w="162098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하나만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user_food_id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하나만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지정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4.12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favorite_foods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즐겨찾기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favorite_foods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UUID NOT NULL REFERENCES users(id)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food_id UUID REFERENCES foods(id)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user_food_id UUID REFERENCES user_foods(id)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 NOT NULL DEFAULT now(),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ck_favorite_foods_exactly_one_source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(food_id IS NOT NULL AND user_food_id IS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(food_id IS NULL AND user_food_id IS NOT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UNIQUE INDEX uq_favorite_foods_public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favorite_foods (user_id, food_id)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food_id IS NOT NULL;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UNIQUE INDEX uq_favorite_foods_private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favorite_foods (user_id, user_food_id)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user_food_id IS NOT NULL;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idx_favorite_foods_user_created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favorite_foods (user_id, created_at DESC);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4.12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favorite_foods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즐겨찾기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개인 음식 즐겨찾기에 대해서도 음식 소유자와 즐겨찾기 사용자가 일치하는지 API 또는 복합 외래 키로 검증해야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4.13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notification_settings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 정리된 MVP 알림은 사용자 선택형 매일 기록 알림입니다. 기본값은 꺼짐이며, 기본 시간은 저녁 8시로 논의됐습니다. 운영체제 권한 상태는 기기별로 달라질 수 있으므로 이 테이블에는 앱 내 설정을 저장하고 기기별 상태는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push_devices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에서 관리합니다.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4.13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notification_settings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6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459421"/>
                <a:gridCol w="1040524"/>
                <a:gridCol w="567559"/>
                <a:gridCol w="567559"/>
                <a:gridCol w="851338"/>
                <a:gridCol w="1418897"/>
                <a:gridCol w="132430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daily_reminder_enabled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알림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꺼짐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reminder_local_time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'20:00'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발송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product_analysis_enabled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4.13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notification_settings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notification_settings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UUID PRIMARY KEY REFERENCES users(id)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daily_reminder_enabled BOOLEAN NOT NULL DEFAULT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reminder_local_time TIME NOT NULL DEFAULT TIME '20:00',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product_analysis_enabled BOOLEAN NOT NULL DEFAULT FALSE,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updated_at TIMESTAMPTZ NOT NULL DEFAULT now()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4.13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notification_settings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알림 설정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주간 리포트 푸시는 회의 초반 및 최종 정리에서 제외됐습니다. 일부 후반 대화에서는 별도 선택형 알림이 언급되지만, 기본 설계에는 넣지 않습니다. 출시 전에 범위가 바뀌면 별도 설정 필드를 추가합니다.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4.14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push_devices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푸시 기기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푸시 토큰은 개인정보 흐름과 삭제 대상에 포함해 관리해야 합니다. 실제 푸시 공급자·저장 기간·데이터 처리 위치는 확인이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4.14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push_devices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푸시 기기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41951"/>
                <a:gridCol w="1352811"/>
                <a:gridCol w="676405"/>
                <a:gridCol w="676405"/>
                <a:gridCol w="676405"/>
                <a:gridCol w="1127342"/>
                <a:gridCol w="157827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platform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iOS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Android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push_token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VARCHAR(512)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토큰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permission_status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운영체제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허용·거부·알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is_active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토큰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무효화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꺼짐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last_seen_at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마지막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updated_at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4.14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push_devices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푸시 기기 정보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push_devices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UUID PRIMARY KEY DEFAULT gen_random_uuid(),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UUID NOT NULL REFERENCES users(id)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platform VARCHAR(20)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push_token VARCHAR(512) NOT NULL UNIQUE,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permission_status VARCHAR(20) NOT NULL DEFAULT 'unknown',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is_active BOOLEAN NOT NULL DEFAULT TRUE,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last_seen_at TIMESTAMPTZ,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 NOT NULL DEFAULT 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updated_at TIMESTAMPTZ NOT NULL DEFAULT now(),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ck_push_devices_platform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(platform IN ('ios', 'android')),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ck_push_devices_permission_status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(permission_status IN ('granted', 'denied', 'unknown'))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idx_push_devices_user_active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push_devices (user_id, is_active);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4.15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consent_records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동의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이용약관, 개인정보 처리, 선택적 제품 분석, 푸시 수신 동의를 서로 구분합니다. 마케팅 동의는 MVP 범위에 포함하지 않습니다. 동의 문구와 보관 의무는 개인정보 담당자 확인이 필요합니다.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4.15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consent_records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동의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7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854558"/>
                <a:gridCol w="1275008"/>
                <a:gridCol w="695459"/>
                <a:gridCol w="695459"/>
                <a:gridCol w="695459"/>
                <a:gridCol w="1506828"/>
                <a:gridCol w="150682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consent_type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VARCHAR(40)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policy_version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VARCHAR(40)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accepted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동의·철회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명시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recorded_at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동의·철회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VARCHAR(30)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화면·경로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4.15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consent_records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동의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consent_records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UUID PRIMARY KEY DEFAULT gen_random_uuid(),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UUID NOT NULL REFERENCES users(id)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consent_type VARCHAR(40)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policy_version VARCHAR(40)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accepted BOOLEAN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recorded_at TIMESTAMPTZ NOT NULL DEFAULT 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source VARCHAR(30) NOT NULL,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ck_consent_records_type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consent_type IN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'terms_of_service',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'privacy_processing',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'product_analysis',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'push_daily_reminder'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idx_consent_records_user_type_time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consent_records (user_id, consent_type, recorded_at DESC);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4.15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consent_records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동의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"동의 이력을 계정 삭제 뒤에도 보관해야 하는지, 어떤 식별 방식으로 보관할지는 법무·개인정보 담당자 확인이 필요합니다. 계정 데이터 전체 삭제 원칙과 법적 이력 보존 의무가 충돌할 수 있으므로 확정 전에는 보존 기간을 단정하지 않습니다."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4.16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deletion_requests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계정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사용자가 앱 안에서 계정 삭제를 요청할 수 있게 합니다. 계정과 연관 기록의 삭제를 기본으로 하되, 백업 삭제 시점과 처리 완료 안내 시점은 미정입니다.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4.16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deletion_requests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계정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79373"/>
                <a:gridCol w="1223319"/>
                <a:gridCol w="667265"/>
                <a:gridCol w="667265"/>
                <a:gridCol w="1445741"/>
                <a:gridCol w="1000897"/>
                <a:gridCol w="14457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users.id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request_status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VARCHAR(30)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'requested'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completed_at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failure_code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VARCHAR(50)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민감한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금지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4.16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deletion_requests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계정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deletion_requests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UUID PRIMARY KEY DEFAULT gen_random_uuid(),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UUID NOT NULL REFERENCES users(id) ON DELETE CASCADE,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request_status VARCHAR(30) NOT NULL DEFAULT 'requested',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requested_at TIMESTAMPTZ NOT NULL DEFAULT 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completed_at TIMESTAMPTZ,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failure_code VARCHAR(50),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ck_deletion_requests_status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request_status IN ('requested', 'processing', 'completed', 'failed')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ck_deletion_requests_completed_at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(request_status = 'completed' AND completed_at IS NOT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(request_status &lt;&gt; 'completed' AND completed_at IS NULL)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idx_deletion_requests_status_time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deletion_requests (request_status, requested_at);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4.16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deletion_requests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계정 삭제 요청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"사용자가 삭제를 요청한 뒤 관련 데이터를 실제로 제거하면서 삭제 요청 기록도 함께 없애야 하는지, 비식별 처리 후 상태만 남길지 확정이 필요합니다. 이 테이블을 사용자 삭제 뒤에도 유지하려면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외부 키와 계정 삭제 순서를 별도로 설계해야 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4.17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product_events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선택적 제품 분석 이벤트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제품 분석 이벤트는 동의 여부에 따라 수집하고, 음식명·칼로리·체중·자유 입력 내용을 저장하지 않습니다. 검색 이벤트에는 검색어 대신 결과 유무 등 최소 정보만 포함합니다.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4.17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product_events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선택적 제품 분석 이벤트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70927"/>
                <a:gridCol w="1145894"/>
                <a:gridCol w="625033"/>
                <a:gridCol w="625033"/>
                <a:gridCol w="729205"/>
                <a:gridCol w="1458410"/>
                <a:gridCol w="18750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타입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NULL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기본값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제약조건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PK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생성값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UUID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FK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식별값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VARCHAR(50)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occurred_at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TIMESTAMPTZ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밀리초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정밀도는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duration_ms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INTEGER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소요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result_found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선택값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entry_method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VARCHAR(20)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is_test_account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BOOLEAN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불가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표시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4.17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product_events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선택적 제품 분석 이벤트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product_events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UUID PRIMARY KEY DEFAULT gen_random_uuid(),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UUID REFERENCES users(id) ON DELETE SET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event_name VARCHAR(50)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occurred_at TIMESTAMPTZ NOT NULL DEFAULT now(),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duration_ms INTEGER,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result_found BOOLEAN,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entry_method VARCHAR(20),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is_test_account BOOLEAN NOT NULL DEFAULT FALSE,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ck_product_events_duration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(duration_ms IS NULL OR duration_ms &gt;= 0),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ck_product_events_entry_method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(entry_method IS NULL OR entry_method IN ('search', 'direct')),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ck_product_events_name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event_name IN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'signup_completed',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'goal_setup_skipped',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'goal_setup_completed',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'first_meal_entry_completed',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'meal_entry_completed',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'food_search_executed',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'food_search_result_selected',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'food_search_no_result',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'direct_food_entry',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4.17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product_events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선택적 제품 분석 이벤트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'weekly_report_opened',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'push_permission_selected'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idx_product_events_time_name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product_events (occurred_at DESC, event_name);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idx_product_events_user_time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product_events (user_id, occurred_at DESC)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user_id IS NOT NULL;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4.17 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product_events</a:t>
            </a:r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 — 선택적 제품 분석 이벤트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"본 테이블은 DB 적재가 확정된 요구사항이 아니라 설계 제안입니다. 선택적 분석 도구를 사용한다면 해당 도구의 처리 위치, 보관 기간, 동의·철회 연계를 확인해야 합니다. 보안·장애 대응 로그는 제품 분석 데이터와 분리합니다."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4.18 음식 정보 변경·보정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음식 정보 오류 신고와 운영자 보정 기록은 논의됐지만, 운영 도구와 수정 정책은 확정되지 않았습니다. MVP에서 음식 값을 임의로 덮어쓰지 않도록 별도 이력 테이블을 두는 방안을 제안합니다.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4.18 음식 정보 변경·보정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food_corrections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 UUID PRIMARY KEY DEFAULT gen_random_uuid(),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food_id UUID NOT NULL REFERENCES foods(id) ON DELETE RESTRICT,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nutrient_id SMALLINT REFERENCES nutrients(id) ON DELETE RESTRICT,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original_value NUMERIC(12,4),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corrected_value NUMERIC(12,4),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correction_reason VARCHAR(500)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evidence_reference VARCHAR(500),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corrected_by VARCHAR(100) NOT NULL,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TIMESTAMPTZ NOT NULL DEFAULT now(),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ck_food_corrections_value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original_value IS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 original_value &gt;=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),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CONSTRAINT ck_food_corrections_corrected_value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corrected_value IS NULL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OR corrected_value &gt;=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idx_food_corrections_food_time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food_corrections (food_id, created_at DESC);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4.18 음식 정보 변경·보정 이력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 테이블은 운영 방식과 수정 권한이 확정된 경우에만 적용합니다. 공급자 원본과 내부 보정값은 서로 구분해야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 인덱스 전략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90</a:t>
            </a:fld>
            <a:endParaRPr 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 주요 인덱스 목록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51314"/>
                <a:gridCol w="1110343"/>
                <a:gridCol w="2351314"/>
                <a:gridCol w="587829"/>
                <a:gridCol w="1436914"/>
                <a:gridCol w="3918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인덱스명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중요도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인덱스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테이블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단건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조회·관계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idx_auth_identities_user_id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auth_identities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uq_auth_identities_provider_subject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auth_identities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provider_subject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idx_user_goals_user_valid_from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user_goals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valid_from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idx_foods_active_display_name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is_active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display_name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idx_foods_brand_name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brand_name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부분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탐색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idx_food_nutrients_nutrient_id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food_nutrients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nutrient_id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idx_user_foods_user_created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idx_user_foods_user_name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idx_meal_entries_user_date_type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consumed_date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meal_type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홈·날짜별·식사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매우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idx_meal_entries_user_date_created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consumed_date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날짜별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정렬·기록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7200"/>
          <a:ext cx="8229600" cy="914400"/>
        </p:xfrm>
        <a:graphic>
          <a:graphicData uri="http://schemas.openxmlformats.org/drawingml/2006/table">
            <a:tbl>
              <a:tblPr/>
              <a:tblGrid>
                <a:gridCol w="2351314"/>
                <a:gridCol w="1110343"/>
                <a:gridCol w="2351314"/>
                <a:gridCol w="587829"/>
                <a:gridCol w="1436914"/>
                <a:gridCol w="3918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인덱스명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중요도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5.1 주요 인덱스 목록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9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10725"/>
                <a:gridCol w="1325105"/>
                <a:gridCol w="2510725"/>
                <a:gridCol w="627681"/>
                <a:gridCol w="836908"/>
                <a:gridCol w="41845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인덱스명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유형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중요도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uq_meal_entries_user_request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고유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재시도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매우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idx_favorite_foods_user_created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favorite_foods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created_at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idx_push_devices_user_active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push_devices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is_active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idx_consent_records_user_type_time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consent_records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user_id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consent_type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recorded_at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idx_deletion_requests_status_time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deletion_requests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request_status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requested_at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높음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idx_product_events_time_name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product_events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occurred_at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DESC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,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event_name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B-tree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기간·이벤트별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93</a:t>
            </a:fld>
            <a:endParaRPr 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음식 검색 인덱스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음식 검색은 이름 일치, 띄어쓰기 정규화, 자주 쓰는 동의어, 부분 검색이 논의됐습니다. 기본 B-tree 인덱스는 접두 검색에 활용할 수 있지만, 임의 부분 문자열 검색이나 유사도 검색의 성능을 보장하지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단계별 제안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초기 개발은 공급자 API 또는 내부 데이터 검색으로 시작합니다.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앱이 공급자 응답에 종속되지 않도록 내부 표준 모델로 변환합니다.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검색 계약상 허용되는 경우에만 응답 캐시를 적용합니다.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94</a:t>
            </a:fld>
            <a:endParaRPr 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음식 검색 인덱스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내부 DB 검색이 필요해지면 검색 규모와 품질을 측정한 뒤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pg_trgm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또는 전문 검색 인덱스 도입을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검색어 자체를 제품 분석 이벤트나 일반 로그에 저장하지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예시 확장 인덱스는 제안이며, 공급자 계약·검색 방식 확정 전에는 적용을 확정하지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95</a:t>
            </a:fld>
            <a:endParaRPr 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5.2 음식 검색 인덱스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검색 요구와 데이터 규모 확인 후 적용하는 제안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EXTENSION IF NOT EXISTS pg_trgm;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INDEX idx_foods_display_name_trgm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ON foods USING GIN (display_name gin_trgm_ops)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is_active = TRUE;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96</a:t>
            </a:fld>
            <a:endParaRPr 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5.3 인덱스 설계 원칙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조회 조건에 맞춰 복합 인덱스의 컬럼 순서를 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 조회의 첫 조건은 사용자 식별값과 섭취 날짜이므로 이를 복합 인덱스 앞쪽에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request_id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의 사용자별 고유 제약으로 네트워크 재시도 중복 저장을 방지합니다.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외래 키 대상·자주 조인하는 외래 키에는 필요한 인덱스를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값 종류가 적은 상태 컬럼만 단독으로 인덱싱하지 않습니다. 처리 현황 조회에 실제로 쓰이는 경우에만 복합 인덱스를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모든 인덱스는 쓰기 비용과 저장 공간을 늘리므로 운영 지표를 보고 정리합니다.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97</a:t>
            </a:fld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 제약조건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98</a:t>
            </a:fld>
            <a:endParaRPr lang="en-US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6.1 기본 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모든 주요 테이블에 기본 키를 둡니다.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사용자·음식·기록 식별자는 UUID를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영양소 사전의 내부 번호는 작은 정수 자동 생성값을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즐겨찾기와 음식별 영양 정보는 복합 키 또는 부분 고유 인덱스로 중복을 방지합니다.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99</a:t>
            </a:fld>
            <a:endParaRPr lang="en-US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외래 키와 삭제 동작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554480"/>
                <a:gridCol w="1463040"/>
                <a:gridCol w="73152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외래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자식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부모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규칙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auth_identities.user_id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auth_identities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CASCADE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user_profiles.user_id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user_profiles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CASCADE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user_goals.user_id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user_goals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CASCADE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foods.provider_id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food_providers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RESTRICT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남은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food_nutrients.food_id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food_nutrients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CASCADE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food_nutrients.nutrient_id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food_nutrients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nutrients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RESTRICT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user_foods.user_id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CASCADE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meal_entries.user_id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CASCADE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meal_entries.food_id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RESTRICT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무단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favorite_foods.user_id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favorite_foods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CASCADE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push_devices.user_id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push_devices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CASCADE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토큰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</a:t>
            </a:fld>
            <a:endParaRPr 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외래 키와 삭제 동작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30400"/>
                <a:gridCol w="711200"/>
                <a:gridCol w="812800"/>
                <a:gridCol w="2032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외래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키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자식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부모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규칙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목적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consent_records.user_id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consent_records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CASCADE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임시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deletion_requests.user_id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deletion_requests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CASCADE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요청과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생명주기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product_events.user_id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product_events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SET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NULL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해제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101</a:t>
            </a:fld>
            <a:endParaRPr 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6.2 외래 키와 삭제 동작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"동의 이력과 삭제 요청 이력의 계정 삭제 후 처리 방식은 법무·개인정보 담당 확인이 필요합니다. 위 CASCADE 규칙은 기본 구조 제안이며, 별도 보존 의무가 확인되면 비식별 처리 또는 별도 보관 구조로 조정해야 합니다."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102</a:t>
            </a:fld>
            <a:endParaRPr 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6.3 고유 제약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27583"/>
                <a:gridCol w="3935896"/>
                <a:gridCol w="22661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컬럼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auth_identities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(provider,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provider_subject)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(provider_id,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provider_food_id)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같은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user_goals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미종료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(user_id,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request_id)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재전송에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favorite_foods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103</a:t>
            </a:fld>
            <a:endParaRPr 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6.4 검사 제약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0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394065"/>
                <a:gridCol w="3591098"/>
                <a:gridCol w="224443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테이블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조건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설명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user_profiles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키·체중이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음수·0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user_goals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목표가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제공량이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잘못된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food_nutrients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user_foods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영양값이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NULL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이상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미입력과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정확히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모호성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배수가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양수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0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또는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섭취량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favorite_foods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정확히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하나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참조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push_devices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플랫폼·권한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상태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허용값만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104</a:t>
            </a:fld>
            <a:endParaRPr 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6.4 검사 제약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105</a:t>
            </a:fld>
            <a:endParaRPr 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 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MVP 리포트는 별도 저장 테이블 없이 기록을 바탕으로 요청 시 계산하는 방향입니다. 다음 뷰는 화면 조회의 공통 집계 기준을 맞추기 위한 설계 제안입니다.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106</a:t>
            </a:fld>
            <a:endParaRPr 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7.1 식사 구분별 일일 합계 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각 영양소는 해당 값이 있는 항목만 합산합니다. 이 뷰는 칼로리가 없는 기록을 0으로 바꾸지 않으며, 합계 값이 없는 경우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유지합니다.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107</a:t>
            </a:fld>
            <a:endParaRPr 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7.1 식사 구분별 일일 합계 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meal_daily_nutrient_totals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consumed_date,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meal_type,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AS entry_count,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COUNT(energy_kcal_snapshot) AS energy_entry_count,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COUNT(carbohydrate_g_snapshot) AS carbohydrate_entry_count,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COUNT(protein_g_snapshot) AS protein_entry_count,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COUNT(fat_g_snapshot) AS fat_entry_count,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SUM(energy_kcal_snapshot * quantity_multiplier)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 (WHERE energy_kcal_snapshot IS NOT NULL) AS energy_kcal_total,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SUM(carbohydrate_g_snapshot * quantity_multiplier)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 (WHERE carbohydrate_g_snapshot IS NOT NULL) AS carbohydrate_g_total,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SUM(protein_g_snapshot * quantity_multiplier)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 (WHERE protein_g_snapshot IS NOT NULL) AS protein_g_total,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SUM(fat_g_snapshot * quantity_multiplier)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 (WHERE fat_g_snapshot IS NOT NULL) AS fat_g_total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meal_entries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user_id, consumed_date, meal_type;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108</a:t>
            </a:fld>
            <a:endParaRPr 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7.2 날짜별 영양 정보 합계 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VIEW daily_nutrient_totals 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consumed_date,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COUNT(*) AS entry_count,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COUNT(energy_kcal_snapshot) AS energy_entry_count,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COUNT(carbohydrate_g_snapshot) AS carbohydrate_entry_count,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COUNT(protein_g_snapshot) AS protein_entry_count,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COUNT(fat_g_snapshot) AS fat_entry_count,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SUM(energy_kcal_snapshot * quantity_multiplier)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 (WHERE energy_kcal_snapshot IS NOT NULL) AS energy_kcal_total,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SUM(carbohydrate_g_snapshot * quantity_multiplier)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 (WHERE carbohydrate_g_snapshot IS NOT NULL) AS carbohydrate_g_total,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SUM(protein_g_snapshot * quantity_multiplier)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 (WHERE protein_g_snapshot IS NOT NULL) AS protein_g_total,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SUM(fat_g_snapshot * quantity_multiplier)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FILTER (WHERE fat_g_snapshot IS NOT NULL) AS fat_g_total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meal_entries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user_id, consumed_date;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109</a:t>
            </a:fld>
            <a:endParaRPr 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7.3 뷰 사용 시 주의사항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전혀 없는 날짜는 뷰에 행이 생기지 않습니다. 리포트 화면에서 7일 달력 틀을 만들고, 해당 날짜 행이 없는 상태를 미기록으로 표시해야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기록은 있지만 특정 영양값이 없는 경우, 그 영양소의 합계를 미입력 상태와 구분해 표시해야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리포트 평균은 기록이 있는 날짜만 계산하고, 화면에 “기록한 날 기준”임을 표시합니다.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비교는 식사 날짜에 유효한 목표를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목표가 없던 날짜에는 목표 비교를 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110</a:t>
            </a:fld>
            <a:endParaRPr 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7.3 뷰 사용 시 주의사항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뷰는 저장 결과를 보장하는 리포트 기록이 아닙니다. 기록 수정·삭제 후 재조회하면 최신 데이터가 반영됩니다.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111</a:t>
            </a:fld>
            <a:endParaRPr 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 트리거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112</a:t>
            </a:fld>
            <a:endParaRPr 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8.1 수정 시각 자동 갱신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다음 트리거는 수정 시각을 자동으로 현재 시각으로 설정하는 제안입니다.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113</a:t>
            </a:fld>
            <a:endParaRPr 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8.1 수정 시각 자동 갱신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OR REPLACE FUNCTION set_updated_at()
RETURNS TRIGGER AS $$
BEGIN
    NEW.updated_at = now();
    RETURN NEW;
END;
$$ LANGUAGE plpgsql;
CREATE TRIGGER trg_users_updated_at
BEFORE UPDATE ON users
FOR EACH ROW
EXECUTE FUNCTION set_updated_at();
CREATE TRIGGER trg_auth_identities_updated_at
BEFORE UPDATE ON auth_identities
FOR EACH ROW
EXECUTE FUNCTION set_updated_at();
CREATE TRIGGER trg_user_profiles_updated_at
BEFORE UPDATE ON user_profiles
FOR EACH ROW
EXECUTE FUNCTION set_updated_at();
CREATE TRIGGER trg_food_providers_updated_at
BEFORE UPDATE ON food_providers
FOR EACH ROW
EXECUTE FUNCTION set_updated_at();
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114</a:t>
            </a:fld>
            <a:endParaRPr lang="en-US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8.1 수정 시각 자동 갱신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trg_foods_updated_at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UPDATE ON foods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FUNCTION set_updated_at();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trg_user_foods_updated_at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UPDATE ON user_foods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FUNCTION set_updated_at();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trg_meal_entries_updated_at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UPDATE ON meal_entries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FUNCTION set_updated_at();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trg_notification_settings_updated_at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UPDATE ON notification_settings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FUNCTION set_updated_at();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TRIGGER trg_push_devices_updated_at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UPDATE ON push_devices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ROW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 FUNCTION set_updated_at();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115</a:t>
            </a:fld>
            <a:endParaRPr 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8.2 목표 기간 검증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목표 이력의 기간 겹침 방지는 단순한 행 단위 검사만으로 충분하지 않습니다. 동시 저장까지 고려해 다음 방안 중 하나를 적용해야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 변경을 사용자별 직렬화 트랜잭션으로 처리하고 기존 목표 종료일과 새 목표 시작일을 함께 갱신합니다.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PostgreSQL 범위형 제약과 배제 제약을 사용합니다. 적용 시 확장 모듈 및 기간 경계 규칙을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애플리케이션에서 기간 중복을 검사하되, 데이터베이스 잠금 또는 직렬화 격리 수준으로 경쟁 상태를 방지합니다.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116</a:t>
            </a:fld>
            <a:endParaRPr 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8.3 삭제 처리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 데이터 삭제에 대해 광범위한 소프트 삭제 트리거를 적용하지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회의에서는 계정 및 연관 기록 삭제 필요성을 확인했습니다.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삭제 대기, 인증·푸시 토큰 비활성화, 사진·기록의 비동기 삭제가 논의됐으나 처리 시간과 백업 삭제 시점은 확정되지 않았습니다.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삭제 정책 확정 전에는 트리거만으로 삭제 완료를 표현하지 않고, 애플리케이션의 삭제 절차와 상태 기록을 설계합니다.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개인정보가 담길 수 있는 식사 항목을 일반 활동 로그나 오류 로그에 복사하지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117</a:t>
            </a:fld>
            <a:endParaRPr 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8.4 사용자별 데이터 접근 통제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행 수준 보안 적용은 설계 제안입니다. 애플리케이션의 모든 쿼리에서 인증된 사용자 식별값을 조건으로 사용해야 하며, 운영자 접근에는 별도 권한과 접근 기록이 필요합니다.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예시 정책은 실제 연결 사용자 설정 방식과 배포 구조를 확인한 뒤 적용합니다.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118</a:t>
            </a:fld>
            <a:endParaRPr 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8.4 사용자별 데이터 접근 통제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예시 정책: 연결된 세션 설정값을 사용하는 경우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ALTER TABLE meal_entries ENABLE ROW LEVEL SECURITY;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 meal_entries_owner_policy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meal_entries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= current_setting('app.user_id', true)::uuid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CHECK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user_id = current_setting('app.user_id', true)::uuid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119</a:t>
            </a:fld>
            <a:endParaRPr lang="en-US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8.4 사용자별 데이터 접근 통제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이 예시를 적용하려면 연결 풀에서 사용자 식별값을 안전하게 설정·초기화해야 합니다. 설정 누락 또는 재사용에 따른 다른 사용자 데이터 노출이 없도록 보안 검증을 수행해야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120</a:t>
            </a:fld>
            <a:endParaRPr 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 데이터 마이그레이션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121</a:t>
            </a:fld>
            <a:endParaRPr 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9.1 마이그레이션 도구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5760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도구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방향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구성과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흐름을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SQL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마이그레이션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파일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스키마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버전별로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ORM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마이그레이션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ORM과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배포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결정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영양소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코드와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적재에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활용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122</a:t>
            </a:fld>
            <a:endParaRPr 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9.2 마이그레이션 파일 예시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migrations/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001_create_users.sql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002_create_auth_identities_and_profiles.sql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003_create_goals.sql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004_create_food_provider_and_food_tables.sql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005_create_user_foods_and_meal_entries.sql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006_create_favorites_and_notifications.sql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007_create_consents_and_deletion_requests.sql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008_create_optional_product_events.sql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123</a:t>
            </a:fld>
            <a:endParaRPr 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9.3 마이그레이션 절차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변경 목적, 대상 테이블, 영향받는 화면·API를 기록합니다.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변경 전 데이터베이스 백업을 수행합니다.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개발·시험 환경에 같은 마이그레이션을 적용합니다.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제약 위반, 조회 성능, 사용자별 데이터 분리를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운영 반영은 트랜잭션으로 가능한 변경과 별도 단계가 필요한 변경을 구분합니다.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데이터가 큰 테이블의 컬럼 추가·인덱스 생성은 잠금 영향과 실행 시간을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되돌리기 스크립트와 데이터 복원 가능성을 점검합니다.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124</a:t>
            </a:fld>
            <a:endParaRPr 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9.3 마이그레이션 절차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운영 배포 후 핵심 기록 생성·조회·수정·삭제와 주간 집계 결과를 검증합니다.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125</a:t>
            </a:fld>
            <a:endParaRPr 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9.4 롤백 계획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스키마 변경 전 자동 백업과 복구 가능 여부를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하위 호환이 필요한 변경은 신규 컬럼 추가, 응용 프로그램 전환, 이전 컬럼 제거 순으로 나눕니다.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스냅샷 컬럼을 변경할 때는 과거 기록 값을 공급자 최신값으로 다시 채우지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기록 삭제·계정 삭제 관련 변경은 시험 데이터로 삭제 범위를 확인한 뒤 배포합니다.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 복구 시 이미 사용자가 삭제를 요청한 데이터가 복구본에 다시 나타나지 않도록 삭제 요청 반영 절차가 필요합니다. 처리 방식은 운영 정책 확인 사항입니다.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126</a:t>
            </a:fld>
            <a:endParaRPr 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 백업 및 복구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127</a:t>
            </a:fld>
            <a:endParaRPr 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10.1 백업 원칙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회의에서는 자동 백업, 백업 암호화·접근 권한 관리, 출시 전 최소 한 번의 복구 시험이 논의됐습니다. 백업 주기, 보관 기간, RPO·RTO는 회의에서 확정되지 않았습니다.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128</a:t>
            </a:fld>
            <a:endParaRPr 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10.1 백업 원칙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24000"/>
                <a:gridCol w="3505200"/>
                <a:gridCol w="3200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상태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데이터베이스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자동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필요성이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논의됨.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방식·주기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암호화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저장·전송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암호화와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필요성이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개인정보·운영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제거되는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RPO·RTO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리전·외부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위치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권한,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129</a:t>
            </a:fld>
            <a:endParaRPr 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10.2 RPO·RTO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회의에서는 RPO·RTO 수치를 확정하지 않았습니다. 임의의 서비스 수준을 확정하지 않으며 아래와 같이 표시합니다.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130</a:t>
            </a:fld>
            <a:endParaRPr 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10.2 RPO·RTO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36914"/>
                <a:gridCol w="2743200"/>
                <a:gridCol w="4049486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값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결정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필요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사항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RPO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미정,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가능한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유실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백업·로그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RTO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미정,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장애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시간과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인력·구성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시험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1회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담당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역할,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</a:rPr>
                        <a:t>무결성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사용자·식사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일치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131</a:t>
            </a:fld>
            <a:endParaRPr 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10.3 백업·복구 절차 제안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1. 운영 데이터베이스와 백업 대상의 암호화·접근 권한을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2. 백업 작업의 성공·실패 상태를 모니터링합니다.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3. 복구 대상 시점과 대상 환경을 확인합니다.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4. 운영 환경을 덮어쓰기 전에 별도 복구 환경에서 데이터를 복원합니다.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5. 사용자 수, 식사 항목 수, 외래 키 무결성, 삭제 상태, 목표 기간, 영양 스냅샷을 점검합니다.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6.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의 사용자별 날짜 조회와 주간 집계를 비교합니다.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7. 개인정보 삭제 요청이 백업 복구 과정에서 어떻게 반영되는지 확인합니다.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132</a:t>
            </a:fld>
            <a:endParaRPr lang="en-US"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10.3 백업·복구 절차 제안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8. 검증 결과와 소요 시간을 기록합니다.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133</a:t>
            </a:fld>
            <a:endParaRPr lang="en-US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10.4 백업과 계정 삭제의 관계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서비스 데이터에서의 삭제와 백업에서의 물리 삭제는 완료 시점이 다를 수 있습니다.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백업 보관 기간, 백업에서의 삭제 처리, 법적 보관 의무는 개인정보 처리방침과 함께 확정해야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사용자에게 삭제 완료 시점을 안내하기 전에는 즉시 완전 삭제된다고 단정하지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운영 로그와 백업에 식사명·영양값·자유 입력 내용이 불필요하게 복사되지 않도록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134</a:t>
            </a:fld>
            <a:endParaRPr 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 성능 최적화와 용량 계획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135</a:t>
            </a:fld>
            <a:endParaRPr 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11.1 데이터 크기 추정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회의에는 가입자 수, 월별 사용자 증가율, 실제 기록 생성량이 확정되어 있지 않습니다. 따라서 레코드 수와 증가율은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추정 필요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다음은 규모를 산정할 때 사용할 계산식이며, 수치는 요구사항이 아닙니다.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월간 식사 항목 수
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월간 활성 사용자 수 × 사용자당 월 기록 일수 × 기록일당 항목 수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마스터 규모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공급자 데이터 제공 범위, 내부 적재 여부, 캐시·재표시 계약 조건에 따라 달라집니다.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개인 음식 규모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사용자당 직접 입력 음식 생성량과 삭제율을 측정해야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136</a:t>
            </a:fld>
            <a:endParaRPr lang="en-US"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11.1 데이터 크기 추정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제품 이벤트 규모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동의율, 사용자당 이벤트 수, 보관 기간에 따라 달라집니다.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푸시 기기 정보 규모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사용자당 활성 기기 수에 따라 달라집니다.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137</a:t>
            </a:fld>
            <a:endParaRPr 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11.1 데이터 크기 추정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809469"/>
                <a:gridCol w="2428407"/>
                <a:gridCol w="2158584"/>
                <a:gridCol w="28331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묶음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예상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레코드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수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증가율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방법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베타·출시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수·일별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계약·라이선스와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함께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입력량과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베타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계정·정책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변경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문서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사용량에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동의율·이벤트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사용자당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추가에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138</a:t>
            </a:fld>
            <a:endParaRPr lang="en-US"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11.2 주요 질의와 처리 방향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139</a:t>
            </a:fld>
            <a:endParaRPr 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오늘 홈 조회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사용자와 현지 섭취 날짜로 식사 항목을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idx_meal_entries_user_date_type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인덱스를 이용합니다.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식사 구분별 합계는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quantity_multiplier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를 반영해 계산합니다.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목표가 없는 사용자는 목표 비교를 수행하지 않습니다.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140</a:t>
            </a:fld>
            <a:endParaRPr 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주간 리포트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한국 시간 기준으로 완료된 지난주 월요일부터 일요일까지의 섭취 날짜를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기록이 없는 날짜는 기록 행이 없는 상태로 표시하고 0으로 만들지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영양소별로 해당 값이 존재하는 항목만 집계합니다.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식품 API를 호출하지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수정·삭제 이후 리포트 화면을 다시 열면 최신 기록으로 계산합니다.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초기에는 온디맨드 계산으로 처리하고, 성능 확인 뒤 캐시 여부를 검토합니다.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141</a:t>
            </a:fld>
            <a:endParaRPr 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최근 기록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사용자의 최신 식사 항목에서 음식 참조값을 추출해 제공하는 방안을 제안합니다.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최근 기록의 목록 범위와 중복 음식 처리 방식은 제품 동작으로 확정해야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최근 기록은 검색어 기록과 구분합니다. 검색어 자체를 저장하지 않는 원칙을 유지합니다.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142</a:t>
            </a:fld>
            <a:endParaRPr 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11.3 파티셔닝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MVP의 핵심 데이터인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 대해 즉시 파티셔닝을 적용한다고 확정하지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기본 방침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초기에는 사용자·날짜 복합 인덱스로 성능을 관리합니다.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실제 데이터 크기와 조회 성능을 측정합니다.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 수와 기록량 증가로 단일 테이블 운영이 부담이 되는 경우 파티셔닝을 재검토합니다.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검토 후보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143</a:t>
            </a:fld>
            <a:endParaRPr 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11.3 파티셔닝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70927"/>
                <a:gridCol w="3020992"/>
                <a:gridCol w="833377"/>
                <a:gridCol w="26043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대상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파티셔닝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후보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여부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판단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기준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meal_entries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consumed_date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월별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파티셔닝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데이터량,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조회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삭제·보관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product_events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occurred_at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월별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파티셔닝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적용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도입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consent_records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비파티션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미적용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데이터량과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정책에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144</a:t>
            </a:fld>
            <a:endParaRPr 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11.3 파티셔닝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파티셔닝은 자식 테이블의 기본 키·고유 제약 설계와 마이그레이션 복잡도를 증가시킬 수 있습니다. 특히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의 사용자별 요청 식별값 중복 방지와 함께 적용 가능한지 확인해야 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145</a:t>
            </a:fld>
            <a:endParaRPr lang="en-US"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11.4 성능 운영 원칙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필요한 컬럼만 조회하고 무분별한 전체 행 조회를 피합니다.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사용자와 날짜를 기준으로 기록을 제한해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페이지가 필요한 경우 큰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OFFSET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보다 마지막 확인 시각·식별값을 사용하는 방식의 적용을 검토합니다.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리포트 집계는 기록 당시 스냅샷만 사용합니다.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 검색 외부 호출과 기록 저장·리포트 계산을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API 응답 지연이나 실패가 식사 기록 생성·수정·삭제를 막지 않게 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검색 캐시 적용 여부, 보관 기간, 호출 제한은 공급자 계약 확인 뒤 결정합니다.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146</a:t>
            </a:fld>
            <a:endParaRPr 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11.4 성능 운영 원칙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DB 연결 수, 질의 시간, 저장 실패율, 외부 API 오류율과 비용을 관찰합니다.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오류 기록에는 음식명·영양값·프로필 값·자유 입력 내용을 남기지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147</a:t>
            </a:fld>
            <a:endParaRPr 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정규화와 스냅샷 설계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148</a:t>
            </a:fld>
            <a:endParaRPr 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제3정규형 적용 기준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 계정, 프로필, 목표 이력, 음식 공급자, 음식 마스터, 영양소 사전을 각기 별도 테이블로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음식과 영양소의 다대다 관계는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food_nutrients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 연결 테이블로 분리합니다.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사용자가 직접 입력한 음식은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user_foods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로 분리해 사용자별 노출 범위를 강제합니다.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즐겨찾기는 사용자와 음식의 연결 테이블로 관리합니다.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동의 유형과 인증 제공자 같은 구분값은 정해진 허용값으로 제한합니다.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데이터베이스 제약과 애플리케이션 검증을 함께 사용합니다.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149</a:t>
            </a:fld>
            <a:endParaRPr 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의도적인 비정규화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meal_entries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에는 기록 당시 음식명, 단위, 영양값을 중복 저장합니다. 이는 일반적인 정규화만을 위한 중복이 아니라 회의에서 논의된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4B5563"/>
                </a:solidFill>
              </a:rPr>
              <a:t>과거 기록의 불변성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을 지키기 위한 스냅샷입니다.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외부 음식 마스터가 변경되어도 과거 기록은 바뀌지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사용자가 선택한 양의 배수를 기록 당시 영양값에 적용해 조회합니다.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영양 정보가 없는 값을 0으로 치환하지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· 최신 음식 정보로 과거 기록을 갱신하는 기능은 MVP에 포함하지 않습니다.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150</a:t>
            </a:fld>
            <a:endParaRPr 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미확정·사람 확인 항목 (1/2)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299411"/>
                <a:gridCol w="3248526"/>
                <a:gridCol w="368166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처리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확인할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방식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테이블로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제공자를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수용할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있게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Apple·Google·이메일·게스트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병합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게스트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로컬·서버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저장,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앱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식품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공급자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어댑터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전제로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국내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라이선스,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캐시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허용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신체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프로필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컬럼으로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실제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항목,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목적,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성별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선택지,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테이블로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수용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칼로리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목표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직접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입력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안전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이름·브랜드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인덱스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글자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검색·디바운스·부분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검색·동의어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첨부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포함·제외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의견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충돌의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승인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주간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푸시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설계에서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후속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버전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포함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리포트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온디맨드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집계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비교를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제공할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최소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계정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삭제하는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완료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재인증,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백업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시점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동의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이력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사용자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연결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구조로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초안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작성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탈퇴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필요성·보관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기간·비식별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151</a:t>
            </a:fld>
            <a:endParaRPr 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미확정·사람 확인 항목 (2/2)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graphicFrame>
        <p:nvGraphicFramePr>
          <p:cNvPr id="1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534332"/>
                <a:gridCol w="2929180"/>
                <a:gridCol w="37660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항목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현재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설계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처리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확인할 </a:t>
                      </a:r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F5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사본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다운로드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스키마에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별도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내보내기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없음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MVP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여부와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법무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검토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전체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초기화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기능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테이블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범위에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미포함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개별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기록·개인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음식·즐겨찾기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중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삭제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대상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정의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운영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로그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업무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테이블과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분리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보관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기간,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IP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처리,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관리자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접근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기록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RPO·RTO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서비스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수준과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복구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구성에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따른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수치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확정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데이터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증가량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미정,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추정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필요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가입자·기록량·이벤트량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기준선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</a:rPr>
                        <a:t>측정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152</a:t>
            </a:fld>
            <a:endParaRPr 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미확정·사람 확인 항목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———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153</a:t>
            </a:fld>
            <a:endParaRPr lang="en-US"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(1/3)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데이터베이스 개요와 선택 근거를 작성함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회의에서 논의된 주요 엔티티와 관계를 ERD로 표현함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주요 테이블에 컬럼, 타입, NULL 여부, 키, 기본값, 제약조건을 작성함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핵심 테이블의 실제 PostgreSQL DDL을 작성함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사용자별 개인 음식 분리와 소유권 검증 방안을 포함함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기록 시점 영양값·이름 스냅샷을 반영함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미입력 영양값과 실제 0을 구분함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154</a:t>
            </a:fld>
            <a:endParaRPr lang="en-US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(2/3)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주간 리포트 온디맨드 계산 방향을 반영함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인덱스 전략과 파티셔닝 검토 기준을 작성함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정규화 원칙과 의도적 스냅샷 중복을 설명함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마이그레이션, 백업·복구, 성능 운영 원칙을 작성함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데이터 크기와 증가율을 근거 없이 확정하지 않고 추정 필요로 표시함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☑ RPO·RTO가 회의에서 확정되지 않았음을 표시함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로그인 제공자·게스트 처리 최종 확정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155</a:t>
            </a:fld>
            <a:endParaRPr lang="en-US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</a:rPr>
              <a:t>작성 완료 후 확인사항 (3/3)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78992"/>
            <a:ext cx="2743200" cy="41148"/>
          </a:xfrm>
          <a:prstGeom prst="rect">
            <a:avLst/>
          </a:prstGeom>
          <a:solidFill>
            <a:srgbClr val="263F5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4572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음식 데이터 공급자·계약·검색어·캐시 정책 확인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사진 첨부 범위 충돌에 대한 최종 승인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신체 정보 수집 항목과 목표 안전 기준 검토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탈퇴·동의 이력·백업 삭제 정책 확인 필요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B5563"/>
                </a:solidFill>
              </a:rPr>
              <a:t>☐ 운영 환경의 보관 기간, RPO·RTO와 예상 데이터 규모 산정 필요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6446520"/>
            <a:ext cx="6400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156</Slides>
  <Notes>156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156</vt:i4>
      </vt:variant>
    </vt:vector>
  </HeadingPairs>
  <TitlesOfParts>
    <vt:vector size="15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2026-10-06T12:37:33Z</dcterms:created>
  <dcterms:modified xsi:type="dcterms:W3CDTF">2026-10-06T12:37:33Z</dcterms:modified>
</cp:coreProperties>
</file>