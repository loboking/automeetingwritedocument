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slideMasters/slideMaster165.xml" ContentType="application/vnd.openxmlformats-officedocument.presentationml.slideMaster+xml"/>
  <Override PartName="/ppt/slides/slide165.xml" ContentType="application/vnd.openxmlformats-officedocument.presentationml.slide+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slideMasters/slideMaster174.xml" ContentType="application/vnd.openxmlformats-officedocument.presentationml.slideMaster+xml"/>
  <Override PartName="/ppt/slides/slide174.xml" ContentType="application/vnd.openxmlformats-officedocument.presentationml.slide+xml"/>
  <Override PartName="/ppt/slideMasters/slideMaster175.xml" ContentType="application/vnd.openxmlformats-officedocument.presentationml.slideMaster+xml"/>
  <Override PartName="/ppt/slides/slide175.xml" ContentType="application/vnd.openxmlformats-officedocument.presentationml.slide+xml"/>
  <Override PartName="/ppt/slideMasters/slideMaster176.xml" ContentType="application/vnd.openxmlformats-officedocument.presentationml.slideMaster+xml"/>
  <Override PartName="/ppt/slides/slide176.xml" ContentType="application/vnd.openxmlformats-officedocument.presentationml.slide+xml"/>
  <Override PartName="/ppt/slideMasters/slideMaster177.xml" ContentType="application/vnd.openxmlformats-officedocument.presentationml.slideMaster+xml"/>
  <Override PartName="/ppt/slides/slide177.xml" ContentType="application/vnd.openxmlformats-officedocument.presentationml.slide+xml"/>
  <Override PartName="/ppt/slideMasters/slideMaster178.xml" ContentType="application/vnd.openxmlformats-officedocument.presentationml.slideMaster+xml"/>
  <Override PartName="/ppt/slides/slide178.xml" ContentType="application/vnd.openxmlformats-officedocument.presentationml.slide+xml"/>
  <Override PartName="/ppt/slideMasters/slideMaster179.xml" ContentType="application/vnd.openxmlformats-officedocument.presentationml.slideMaster+xml"/>
  <Override PartName="/ppt/slides/slide179.xml" ContentType="application/vnd.openxmlformats-officedocument.presentationml.slide+xml"/>
  <Override PartName="/ppt/slideMasters/slideMaster180.xml" ContentType="application/vnd.openxmlformats-officedocument.presentationml.slideMaster+xml"/>
  <Override PartName="/ppt/slides/slide180.xml" ContentType="application/vnd.openxmlformats-officedocument.presentationml.slide+xml"/>
  <Override PartName="/ppt/slideMasters/slideMaster181.xml" ContentType="application/vnd.openxmlformats-officedocument.presentationml.slideMaster+xml"/>
  <Override PartName="/ppt/slides/slide181.xml" ContentType="application/vnd.openxmlformats-officedocument.presentationml.slide+xml"/>
  <Override PartName="/ppt/slideMasters/slideMaster182.xml" ContentType="application/vnd.openxmlformats-officedocument.presentationml.slideMaster+xml"/>
  <Override PartName="/ppt/slides/slide182.xml" ContentType="application/vnd.openxmlformats-officedocument.presentationml.slide+xml"/>
  <Override PartName="/ppt/slideMasters/slideMaster183.xml" ContentType="application/vnd.openxmlformats-officedocument.presentationml.slideMaster+xml"/>
  <Override PartName="/ppt/slides/slide183.xml" ContentType="application/vnd.openxmlformats-officedocument.presentationml.slide+xml"/>
  <Override PartName="/ppt/slideMasters/slideMaster184.xml" ContentType="application/vnd.openxmlformats-officedocument.presentationml.slideMaster+xml"/>
  <Override PartName="/ppt/slides/slide184.xml" ContentType="application/vnd.openxmlformats-officedocument.presentationml.slide+xml"/>
  <Override PartName="/ppt/slideMasters/slideMaster185.xml" ContentType="application/vnd.openxmlformats-officedocument.presentationml.slideMaster+xml"/>
  <Override PartName="/ppt/slides/slide185.xml" ContentType="application/vnd.openxmlformats-officedocument.presentationml.slide+xml"/>
  <Override PartName="/ppt/slideMasters/slideMaster186.xml" ContentType="application/vnd.openxmlformats-officedocument.presentationml.slideMaster+xml"/>
  <Override PartName="/ppt/slides/slide186.xml" ContentType="application/vnd.openxmlformats-officedocument.presentationml.slide+xml"/>
  <Override PartName="/ppt/slideMasters/slideMaster187.xml" ContentType="application/vnd.openxmlformats-officedocument.presentationml.slideMaster+xml"/>
  <Override PartName="/ppt/slides/slide187.xml" ContentType="application/vnd.openxmlformats-officedocument.presentationml.slide+xml"/>
  <Override PartName="/ppt/slideMasters/slideMaster188.xml" ContentType="application/vnd.openxmlformats-officedocument.presentationml.slideMaster+xml"/>
  <Override PartName="/ppt/slides/slide188.xml" ContentType="application/vnd.openxmlformats-officedocument.presentationml.slide+xml"/>
  <Override PartName="/ppt/slideMasters/slideMaster189.xml" ContentType="application/vnd.openxmlformats-officedocument.presentationml.slideMaster+xml"/>
  <Override PartName="/ppt/slides/slide189.xml" ContentType="application/vnd.openxmlformats-officedocument.presentationml.slide+xml"/>
  <Override PartName="/ppt/slideMasters/slideMaster190.xml" ContentType="application/vnd.openxmlformats-officedocument.presentationml.slideMaster+xml"/>
  <Override PartName="/ppt/slides/slide190.xml" ContentType="application/vnd.openxmlformats-officedocument.presentationml.slide+xml"/>
  <Override PartName="/ppt/slideMasters/slideMaster191.xml" ContentType="application/vnd.openxmlformats-officedocument.presentationml.slideMaster+xml"/>
  <Override PartName="/ppt/slides/slide191.xml" ContentType="application/vnd.openxmlformats-officedocument.presentationml.slide+xml"/>
  <Override PartName="/ppt/slideMasters/slideMaster192.xml" ContentType="application/vnd.openxmlformats-officedocument.presentationml.slideMaster+xml"/>
  <Override PartName="/ppt/slides/slide192.xml" ContentType="application/vnd.openxmlformats-officedocument.presentationml.slide+xml"/>
  <Override PartName="/ppt/slideMasters/slideMaster193.xml" ContentType="application/vnd.openxmlformats-officedocument.presentationml.slideMaster+xml"/>
  <Override PartName="/ppt/slides/slide193.xml" ContentType="application/vnd.openxmlformats-officedocument.presentationml.slide+xml"/>
  <Override PartName="/ppt/slideMasters/slideMaster194.xml" ContentType="application/vnd.openxmlformats-officedocument.presentationml.slideMaster+xml"/>
  <Override PartName="/ppt/slides/slide194.xml" ContentType="application/vnd.openxmlformats-officedocument.presentationml.slide+xml"/>
  <Override PartName="/ppt/slideMasters/slideMaster195.xml" ContentType="application/vnd.openxmlformats-officedocument.presentationml.slideMaster+xml"/>
  <Override PartName="/ppt/slides/slide195.xml" ContentType="application/vnd.openxmlformats-officedocument.presentationml.slide+xml"/>
  <Override PartName="/ppt/slideMasters/slideMaster196.xml" ContentType="application/vnd.openxmlformats-officedocument.presentationml.slideMaster+xml"/>
  <Override PartName="/ppt/slides/slide196.xml" ContentType="application/vnd.openxmlformats-officedocument.presentationml.slide+xml"/>
  <Override PartName="/ppt/slideMasters/slideMaster197.xml" ContentType="application/vnd.openxmlformats-officedocument.presentationml.slideMaster+xml"/>
  <Override PartName="/ppt/slides/slide197.xml" ContentType="application/vnd.openxmlformats-officedocument.presentationml.slide+xml"/>
  <Override PartName="/ppt/slideMasters/slideMaster198.xml" ContentType="application/vnd.openxmlformats-officedocument.presentationml.slideMaster+xml"/>
  <Override PartName="/ppt/slides/slide198.xml" ContentType="application/vnd.openxmlformats-officedocument.presentationml.slide+xml"/>
  <Override PartName="/ppt/slideMasters/slideMaster199.xml" ContentType="application/vnd.openxmlformats-officedocument.presentationml.slideMaster+xml"/>
  <Override PartName="/ppt/slides/slide199.xml" ContentType="application/vnd.openxmlformats-officedocument.presentationml.slide+xml"/>
  <Override PartName="/ppt/slideMasters/slideMaster200.xml" ContentType="application/vnd.openxmlformats-officedocument.presentationml.slideMaster+xml"/>
  <Override PartName="/ppt/slides/slide200.xml" ContentType="application/vnd.openxmlformats-officedocument.presentationml.slide+xml"/>
  <Override PartName="/ppt/slideMasters/slideMaster201.xml" ContentType="application/vnd.openxmlformats-officedocument.presentationml.slideMaster+xml"/>
  <Override PartName="/ppt/slides/slide201.xml" ContentType="application/vnd.openxmlformats-officedocument.presentationml.slide+xml"/>
  <Override PartName="/ppt/slideMasters/slideMaster202.xml" ContentType="application/vnd.openxmlformats-officedocument.presentationml.slideMaster+xml"/>
  <Override PartName="/ppt/slides/slide202.xml" ContentType="application/vnd.openxmlformats-officedocument.presentationml.slide+xml"/>
  <Override PartName="/ppt/slideMasters/slideMaster203.xml" ContentType="application/vnd.openxmlformats-officedocument.presentationml.slideMaster+xml"/>
  <Override PartName="/ppt/slides/slide203.xml" ContentType="application/vnd.openxmlformats-officedocument.presentationml.slide+xml"/>
  <Override PartName="/ppt/slideMasters/slideMaster204.xml" ContentType="application/vnd.openxmlformats-officedocument.presentationml.slideMaster+xml"/>
  <Override PartName="/ppt/slides/slide204.xml" ContentType="application/vnd.openxmlformats-officedocument.presentationml.slide+xml"/>
  <Override PartName="/ppt/slideMasters/slideMaster205.xml" ContentType="application/vnd.openxmlformats-officedocument.presentationml.slideMaster+xml"/>
  <Override PartName="/ppt/slides/slide205.xml" ContentType="application/vnd.openxmlformats-officedocument.presentationml.slide+xml"/>
  <Override PartName="/ppt/slideMasters/slideMaster206.xml" ContentType="application/vnd.openxmlformats-officedocument.presentationml.slideMaster+xml"/>
  <Override PartName="/ppt/slides/slide206.xml" ContentType="application/vnd.openxmlformats-officedocument.presentationml.slide+xml"/>
  <Override PartName="/ppt/slideMasters/slideMaster207.xml" ContentType="application/vnd.openxmlformats-officedocument.presentationml.slideMaster+xml"/>
  <Override PartName="/ppt/slides/slide207.xml" ContentType="application/vnd.openxmlformats-officedocument.presentationml.slide+xml"/>
  <Override PartName="/ppt/slideMasters/slideMaster208.xml" ContentType="application/vnd.openxmlformats-officedocument.presentationml.slideMaster+xml"/>
  <Override PartName="/ppt/slides/slide208.xml" ContentType="application/vnd.openxmlformats-officedocument.presentationml.slide+xml"/>
  <Override PartName="/ppt/slideMasters/slideMaster209.xml" ContentType="application/vnd.openxmlformats-officedocument.presentationml.slideMaster+xml"/>
  <Override PartName="/ppt/slides/slide209.xml" ContentType="application/vnd.openxmlformats-officedocument.presentationml.slide+xml"/>
  <Override PartName="/ppt/slideMasters/slideMaster210.xml" ContentType="application/vnd.openxmlformats-officedocument.presentationml.slideMaster+xml"/>
  <Override PartName="/ppt/slides/slide210.xml" ContentType="application/vnd.openxmlformats-officedocument.presentationml.slide+xml"/>
  <Override PartName="/ppt/slideMasters/slideMaster211.xml" ContentType="application/vnd.openxmlformats-officedocument.presentationml.slideMaster+xml"/>
  <Override PartName="/ppt/slides/slide211.xml" ContentType="application/vnd.openxmlformats-officedocument.presentationml.slide+xml"/>
  <Override PartName="/ppt/slideMasters/slideMaster212.xml" ContentType="application/vnd.openxmlformats-officedocument.presentationml.slideMaster+xml"/>
  <Override PartName="/ppt/slides/slide212.xml" ContentType="application/vnd.openxmlformats-officedocument.presentationml.slide+xml"/>
  <Override PartName="/ppt/slideMasters/slideMaster213.xml" ContentType="application/vnd.openxmlformats-officedocument.presentationml.slideMaster+xml"/>
  <Override PartName="/ppt/slides/slide213.xml" ContentType="application/vnd.openxmlformats-officedocument.presentationml.slide+xml"/>
  <Override PartName="/ppt/slideMasters/slideMaster214.xml" ContentType="application/vnd.openxmlformats-officedocument.presentationml.slideMaster+xml"/>
  <Override PartName="/ppt/slides/slide214.xml" ContentType="application/vnd.openxmlformats-officedocument.presentationml.slide+xml"/>
  <Override PartName="/ppt/slideMasters/slideMaster215.xml" ContentType="application/vnd.openxmlformats-officedocument.presentationml.slideMaster+xml"/>
  <Override PartName="/ppt/slides/slide215.xml" ContentType="application/vnd.openxmlformats-officedocument.presentationml.slide+xml"/>
  <Override PartName="/ppt/slideMasters/slideMaster216.xml" ContentType="application/vnd.openxmlformats-officedocument.presentationml.slideMaster+xml"/>
  <Override PartName="/ppt/slides/slide216.xml" ContentType="application/vnd.openxmlformats-officedocument.presentationml.slide+xml"/>
  <Override PartName="/ppt/slideMasters/slideMaster217.xml" ContentType="application/vnd.openxmlformats-officedocument.presentationml.slideMaster+xml"/>
  <Override PartName="/ppt/slides/slide217.xml" ContentType="application/vnd.openxmlformats-officedocument.presentationml.slide+xml"/>
  <Override PartName="/ppt/slideMasters/slideMaster218.xml" ContentType="application/vnd.openxmlformats-officedocument.presentationml.slideMaster+xml"/>
  <Override PartName="/ppt/slides/slide218.xml" ContentType="application/vnd.openxmlformats-officedocument.presentationml.slide+xml"/>
  <Override PartName="/ppt/slideMasters/slideMaster219.xml" ContentType="application/vnd.openxmlformats-officedocument.presentationml.slideMaster+xml"/>
  <Override PartName="/ppt/slides/slide219.xml" ContentType="application/vnd.openxmlformats-officedocument.presentationml.slide+xml"/>
  <Override PartName="/ppt/slideMasters/slideMaster220.xml" ContentType="application/vnd.openxmlformats-officedocument.presentationml.slideMaster+xml"/>
  <Override PartName="/ppt/slides/slide220.xml" ContentType="application/vnd.openxmlformats-officedocument.presentationml.slide+xml"/>
  <Override PartName="/ppt/slideMasters/slideMaster221.xml" ContentType="application/vnd.openxmlformats-officedocument.presentationml.slideMaster+xml"/>
  <Override PartName="/ppt/slides/slide221.xml" ContentType="application/vnd.openxmlformats-officedocument.presentationml.slide+xml"/>
  <Override PartName="/ppt/slideMasters/slideMaster222.xml" ContentType="application/vnd.openxmlformats-officedocument.presentationml.slideMaster+xml"/>
  <Override PartName="/ppt/slides/slide222.xml" ContentType="application/vnd.openxmlformats-officedocument.presentationml.slide+xml"/>
  <Override PartName="/ppt/slideMasters/slideMaster223.xml" ContentType="application/vnd.openxmlformats-officedocument.presentationml.slideMaster+xml"/>
  <Override PartName="/ppt/slides/slide223.xml" ContentType="application/vnd.openxmlformats-officedocument.presentationml.slide+xml"/>
  <Override PartName="/ppt/slideMasters/slideMaster224.xml" ContentType="application/vnd.openxmlformats-officedocument.presentationml.slideMaster+xml"/>
  <Override PartName="/ppt/slides/slide224.xml" ContentType="application/vnd.openxmlformats-officedocument.presentationml.slide+xml"/>
  <Override PartName="/ppt/slideMasters/slideMaster225.xml" ContentType="application/vnd.openxmlformats-officedocument.presentationml.slideMaster+xml"/>
  <Override PartName="/ppt/slides/slide225.xml" ContentType="application/vnd.openxmlformats-officedocument.presentationml.slide+xml"/>
  <Override PartName="/ppt/slideMasters/slideMaster226.xml" ContentType="application/vnd.openxmlformats-officedocument.presentationml.slideMaster+xml"/>
  <Override PartName="/ppt/slides/slide226.xml" ContentType="application/vnd.openxmlformats-officedocument.presentationml.slide+xml"/>
  <Override PartName="/ppt/slideMasters/slideMaster227.xml" ContentType="application/vnd.openxmlformats-officedocument.presentationml.slideMaster+xml"/>
  <Override PartName="/ppt/slides/slide227.xml" ContentType="application/vnd.openxmlformats-officedocument.presentationml.slide+xml"/>
  <Override PartName="/ppt/slideMasters/slideMaster228.xml" ContentType="application/vnd.openxmlformats-officedocument.presentationml.slideMaster+xml"/>
  <Override PartName="/ppt/slides/slide228.xml" ContentType="application/vnd.openxmlformats-officedocument.presentationml.slide+xml"/>
  <Override PartName="/ppt/slideMasters/slideMaster229.xml" ContentType="application/vnd.openxmlformats-officedocument.presentationml.slideMaster+xml"/>
  <Override PartName="/ppt/slides/slide229.xml" ContentType="application/vnd.openxmlformats-officedocument.presentationml.slide+xml"/>
  <Override PartName="/ppt/slideMasters/slideMaster230.xml" ContentType="application/vnd.openxmlformats-officedocument.presentationml.slideMaster+xml"/>
  <Override PartName="/ppt/slides/slide230.xml" ContentType="application/vnd.openxmlformats-officedocument.presentationml.slide+xml"/>
  <Override PartName="/ppt/slideMasters/slideMaster231.xml" ContentType="application/vnd.openxmlformats-officedocument.presentationml.slideMaster+xml"/>
  <Override PartName="/ppt/slides/slide231.xml" ContentType="application/vnd.openxmlformats-officedocument.presentationml.slide+xml"/>
  <Override PartName="/ppt/slideMasters/slideMaster232.xml" ContentType="application/vnd.openxmlformats-officedocument.presentationml.slideMaster+xml"/>
  <Override PartName="/ppt/slides/slide232.xml" ContentType="application/vnd.openxmlformats-officedocument.presentationml.slide+xml"/>
  <Override PartName="/ppt/slideMasters/slideMaster233.xml" ContentType="application/vnd.openxmlformats-officedocument.presentationml.slideMaster+xml"/>
  <Override PartName="/ppt/slides/slide233.xml" ContentType="application/vnd.openxmlformats-officedocument.presentationml.slide+xml"/>
  <Override PartName="/ppt/slideMasters/slideMaster234.xml" ContentType="application/vnd.openxmlformats-officedocument.presentationml.slideMaster+xml"/>
  <Override PartName="/ppt/slides/slide234.xml" ContentType="application/vnd.openxmlformats-officedocument.presentationml.slide+xml"/>
  <Override PartName="/ppt/slideMasters/slideMaster235.xml" ContentType="application/vnd.openxmlformats-officedocument.presentationml.slideMaster+xml"/>
  <Override PartName="/ppt/slides/slide235.xml" ContentType="application/vnd.openxmlformats-officedocument.presentationml.slide+xml"/>
  <Override PartName="/ppt/slideMasters/slideMaster236.xml" ContentType="application/vnd.openxmlformats-officedocument.presentationml.slideMaster+xml"/>
  <Override PartName="/ppt/slides/slide236.xml" ContentType="application/vnd.openxmlformats-officedocument.presentationml.slide+xml"/>
  <Override PartName="/ppt/slideMasters/slideMaster237.xml" ContentType="application/vnd.openxmlformats-officedocument.presentationml.slideMaster+xml"/>
  <Override PartName="/ppt/slides/slide237.xml" ContentType="application/vnd.openxmlformats-officedocument.presentationml.slide+xml"/>
  <Override PartName="/ppt/slideMasters/slideMaster238.xml" ContentType="application/vnd.openxmlformats-officedocument.presentationml.slideMaster+xml"/>
  <Override PartName="/ppt/slides/slide238.xml" ContentType="application/vnd.openxmlformats-officedocument.presentationml.slide+xml"/>
  <Override PartName="/ppt/slideMasters/slideMaster239.xml" ContentType="application/vnd.openxmlformats-officedocument.presentationml.slideMaster+xml"/>
  <Override PartName="/ppt/slides/slide239.xml" ContentType="application/vnd.openxmlformats-officedocument.presentationml.slide+xml"/>
  <Override PartName="/ppt/slideMasters/slideMaster240.xml" ContentType="application/vnd.openxmlformats-officedocument.presentationml.slideMaster+xml"/>
  <Override PartName="/ppt/slides/slide240.xml" ContentType="application/vnd.openxmlformats-officedocument.presentationml.slide+xml"/>
  <Override PartName="/ppt/slideMasters/slideMaster241.xml" ContentType="application/vnd.openxmlformats-officedocument.presentationml.slideMaster+xml"/>
  <Override PartName="/ppt/slides/slide241.xml" ContentType="application/vnd.openxmlformats-officedocument.presentationml.slide+xml"/>
  <Override PartName="/ppt/slideMasters/slideMaster242.xml" ContentType="application/vnd.openxmlformats-officedocument.presentationml.slideMaster+xml"/>
  <Override PartName="/ppt/slides/slide242.xml" ContentType="application/vnd.openxmlformats-officedocument.presentationml.slide+xml"/>
  <Override PartName="/ppt/slideMasters/slideMaster243.xml" ContentType="application/vnd.openxmlformats-officedocument.presentationml.slideMaster+xml"/>
  <Override PartName="/ppt/slides/slide243.xml" ContentType="application/vnd.openxmlformats-officedocument.presentationml.slide+xml"/>
  <Override PartName="/ppt/slideMasters/slideMaster244.xml" ContentType="application/vnd.openxmlformats-officedocument.presentationml.slideMaster+xml"/>
  <Override PartName="/ppt/slides/slide244.xml" ContentType="application/vnd.openxmlformats-officedocument.presentationml.slide+xml"/>
  <Override PartName="/ppt/slideMasters/slideMaster245.xml" ContentType="application/vnd.openxmlformats-officedocument.presentationml.slideMaster+xml"/>
  <Override PartName="/ppt/slides/slide245.xml" ContentType="application/vnd.openxmlformats-officedocument.presentationml.slide+xml"/>
  <Override PartName="/ppt/slideMasters/slideMaster246.xml" ContentType="application/vnd.openxmlformats-officedocument.presentationml.slideMaster+xml"/>
  <Override PartName="/ppt/slides/slide2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Lst>
  <p:notesMasterIdLst>
    <p:notesMasterId r:id="rId248"/>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notesMaster" Target="notesMasters/notesMaster1.xml"/><Relationship Id="rId249" Type="http://schemas.openxmlformats.org/officeDocument/2006/relationships/presProps" Target="presProps.xml"/><Relationship Id="rId250" Type="http://schemas.openxmlformats.org/officeDocument/2006/relationships/viewProps" Target="viewProps.xml"/><Relationship Id="rId251" Type="http://schemas.openxmlformats.org/officeDocument/2006/relationships/theme" Target="theme/theme1.xml"/><Relationship Id="rId2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_rels/notesSlide1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7.xml"/>
		</Relationships>
</file>

<file path=ppt/notesSlides/_rels/notesSlide1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8.xml"/>
		</Relationships>
</file>

<file path=ppt/notesSlides/_rels/notesSlide1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9.xml"/>
		</Relationships>
</file>

<file path=ppt/notesSlides/_rels/notesSlide1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0.xml"/>
		</Relationships>
</file>

<file path=ppt/notesSlides/_rels/notesSlide1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1.xml"/>
		</Relationships>
</file>

<file path=ppt/notesSlides/_rels/notesSlide1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2.xml"/>
		</Relationships>
</file>

<file path=ppt/notesSlides/_rels/notesSlide1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3.xml"/>
		</Relationships>
</file>

<file path=ppt/notesSlides/_rels/notesSlide1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4.xml"/>
		</Relationships>
</file>

<file path=ppt/notesSlides/_rels/notesSlide1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5.xml"/>
		</Relationships>
</file>

<file path=ppt/notesSlides/_rels/notesSlide1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6.xml"/>
		</Relationships>
</file>

<file path=ppt/notesSlides/_rels/notesSlide1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7.xml"/>
		</Relationships>
</file>

<file path=ppt/notesSlides/_rels/notesSlide1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8.xml"/>
		</Relationships>
</file>

<file path=ppt/notesSlides/_rels/notesSlide1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9.xml"/>
		</Relationships>
</file>

<file path=ppt/notesSlides/_rels/notesSlide2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0.xml"/>
		</Relationships>
</file>

<file path=ppt/notesSlides/_rels/notesSlide2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1.xml"/>
		</Relationships>
</file>

<file path=ppt/notesSlides/_rels/notesSlide2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2.xml"/>
		</Relationships>
</file>

<file path=ppt/notesSlides/_rels/notesSlide2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3.xml"/>
		</Relationships>
</file>

<file path=ppt/notesSlides/_rels/notesSlide2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4.xml"/>
		</Relationships>
</file>

<file path=ppt/notesSlides/_rels/notesSlide2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5.xml"/>
		</Relationships>
</file>

<file path=ppt/notesSlides/_rels/notesSlide2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6.xml"/>
		</Relationships>
</file>

<file path=ppt/notesSlides/_rels/notesSlide2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7.xml"/>
		</Relationships>
</file>

<file path=ppt/notesSlides/_rels/notesSlide2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8.xml"/>
		</Relationships>
</file>

<file path=ppt/notesSlides/_rels/notesSlide2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9.xml"/>
		</Relationships>
</file>

<file path=ppt/notesSlides/_rels/notesSlide2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0.xml"/>
		</Relationships>
</file>

<file path=ppt/notesSlides/_rels/notesSlide2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1.xml"/>
		</Relationships>
</file>

<file path=ppt/notesSlides/_rels/notesSlide2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2.xml"/>
		</Relationships>
</file>

<file path=ppt/notesSlides/_rels/notesSlide2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3.xml"/>
		</Relationships>
</file>

<file path=ppt/notesSlides/_rels/notesSlide2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4.xml"/>
		</Relationships>
</file>

<file path=ppt/notesSlides/_rels/notesSlide2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5.xml"/>
		</Relationships>
</file>

<file path=ppt/notesSlides/_rels/notesSlide2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6.xml"/>
		</Relationships>
</file>

<file path=ppt/notesSlides/_rels/notesSlide2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7.xml"/>
		</Relationships>
</file>

<file path=ppt/notesSlides/_rels/notesSlide2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8.xml"/>
		</Relationships>
</file>

<file path=ppt/notesSlides/_rels/notesSlide2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9.xml"/>
		</Relationships>
</file>

<file path=ppt/notesSlides/_rels/notesSlide2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0.xml"/>
		</Relationships>
</file>

<file path=ppt/notesSlides/_rels/notesSlide2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1.xml"/>
		</Relationships>
</file>

<file path=ppt/notesSlides/_rels/notesSlide2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2.xml"/>
		</Relationships>
</file>

<file path=ppt/notesSlides/_rels/notesSlide2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3.xml"/>
		</Relationships>
</file>

<file path=ppt/notesSlides/_rels/notesSlide2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4.xml"/>
		</Relationships>
</file>

<file path=ppt/notesSlides/_rels/notesSlide2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5.xml"/>
		</Relationships>
</file>

<file path=ppt/notesSlides/_rels/notesSlide2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6.xml"/>
		</Relationships>
</file>

<file path=ppt/notesSlides/_rels/notesSlide2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7.xml"/>
		</Relationships>
</file>

<file path=ppt/notesSlides/_rels/notesSlide2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8.xml"/>
		</Relationships>
</file>

<file path=ppt/notesSlides/_rels/notesSlide2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9.xml"/>
		</Relationships>
</file>

<file path=ppt/notesSlides/_rels/notesSlide2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0.xml"/>
		</Relationships>
</file>

<file path=ppt/notesSlides/_rels/notesSlide2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1.xml"/>
		</Relationships>
</file>

<file path=ppt/notesSlides/_rels/notesSlide2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2.xml"/>
		</Relationships>
</file>

<file path=ppt/notesSlides/_rels/notesSlide2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3.xml"/>
		</Relationships>
</file>

<file path=ppt/notesSlides/_rels/notesSlide2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4.xml"/>
		</Relationships>
</file>

<file path=ppt/notesSlides/_rels/notesSlide2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5.xml"/>
		</Relationships>
</file>

<file path=ppt/notesSlides/_rels/notesSlide2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6.xml"/>
		</Relationships>
</file>

<file path=ppt/notesSlides/_rels/notesSlide2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7.xml"/>
		</Relationships>
</file>

<file path=ppt/notesSlides/_rels/notesSlide2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8.xml"/>
		</Relationships>
</file>

<file path=ppt/notesSlides/_rels/notesSlide2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9.xml"/>
		</Relationships>
</file>

<file path=ppt/notesSlides/_rels/notesSlide2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0.xml"/>
		</Relationships>
</file>

<file path=ppt/notesSlides/_rels/notesSlide2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1.xml"/>
		</Relationships>
</file>

<file path=ppt/notesSlides/_rels/notesSlide2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2.xml"/>
		</Relationships>
</file>

<file path=ppt/notesSlides/_rels/notesSlide2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3.xml"/>
		</Relationships>
</file>

<file path=ppt/notesSlides/_rels/notesSlide2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4.xml"/>
		</Relationships>
</file>

<file path=ppt/notesSlides/_rels/notesSlide2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5.xml"/>
		</Relationships>
</file>

<file path=ppt/notesSlides/_rels/notesSlide2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RAND">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46304"/>
          </a:xfrm>
          <a:prstGeom prst="rect">
            <a:avLst/>
          </a:prstGeom>
          <a:solidFill>
            <a:srgbClr val="263F59"/>
          </a:solidFill>
          <a:ln/>
        </p:spPr>
      </p:sp>
      <p:sp>
        <p:nvSpPr>
          <p:cNvPr id="3" name="Text 1"/>
          <p:cNvSpPr/>
          <p:nvPr/>
        </p:nvSpPr>
        <p:spPr>
          <a:xfrm>
            <a:off x="365760" y="6446520"/>
            <a:ext cx="4572000" cy="274320"/>
          </a:xfrm>
          <a:prstGeom prst="rect">
            <a:avLst/>
          </a:prstGeom>
          <a:noFill/>
          <a:ln/>
        </p:spPr>
        <p:txBody>
          <a:bodyPr wrap="square" rtlCol="0" anchor="ctr"/>
          <a:lstStyle/>
          <a:p>
            <a:pPr indent="0" marL="0">
              <a:buNone/>
            </a:pPr>
            <a:r>
              <a:rPr lang="en-US" sz="900" dirty="0">
                <a:solidFill>
                  <a:srgbClr val="9CA3AF"/>
                </a:solidFill>
              </a:rPr>
              <a:t>MeetingAutoDocs</a:t>
            </a:r>
            <a:endParaRPr lang="en-US" sz="9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image" Target="../media/image-232-1.png"/><Relationship Id="rId2" Type="http://schemas.openxmlformats.org/officeDocument/2006/relationships/slideLayout" Target="../slideLayouts/slideLayout2.xml"/><Relationship Id="rId3"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63F59"/>
        </a:solidFill>
      </p:bgPr>
    </p:bg>
    <p:spTree>
      <p:nvGrpSpPr>
        <p:cNvPr id="1" name=""/>
        <p:cNvGrpSpPr/>
        <p:nvPr/>
      </p:nvGrpSpPr>
      <p:grpSpPr>
        <a:xfrm>
          <a:off x="0" y="0"/>
          <a:ext cx="0" cy="0"/>
          <a:chOff x="0" y="0"/>
          <a:chExt cx="0" cy="0"/>
        </a:xfrm>
      </p:grpSpPr>
      <p:sp>
        <p:nvSpPr>
          <p:cNvPr id="2" name="Text 0"/>
          <p:cNvSpPr/>
          <p:nvPr/>
        </p:nvSpPr>
        <p:spPr>
          <a:xfrm>
            <a:off x="457200" y="2377440"/>
            <a:ext cx="8229600" cy="1645920"/>
          </a:xfrm>
          <a:prstGeom prst="rect">
            <a:avLst/>
          </a:prstGeom>
          <a:noFill/>
          <a:ln/>
        </p:spPr>
        <p:txBody>
          <a:bodyPr wrap="square" rtlCol="0" anchor="ctr"/>
          <a:lstStyle/>
          <a:p>
            <a:pPr algn="ctr" indent="0" marL="0">
              <a:buNone/>
            </a:pPr>
            <a:r>
              <a:rPr lang="en-US" sz="4000" b="1" dirty="0">
                <a:solidFill>
                  <a:srgbClr val="FFFFFF"/>
                </a:solidFill>
              </a:rPr>
              <a:t>1. 문서 정보</a:t>
            </a: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 문서 정보</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API 버전</a:t>
            </a:r>
            <a:pPr indent="0" marL="0">
              <a:spcAft>
                <a:spcPts val="800"/>
              </a:spcAft>
              <a:buNone/>
            </a:pPr>
            <a:r>
              <a:rPr lang="en-US" sz="1600" dirty="0">
                <a:solidFill>
                  <a:srgbClr val="4B5563"/>
                </a:solidFill>
              </a:rPr>
              <a:t>: v1.0</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작성일</a:t>
            </a:r>
            <a:pPr indent="0" marL="0">
              <a:spcAft>
                <a:spcPts val="800"/>
              </a:spcAft>
              <a:buNone/>
            </a:pPr>
            <a:r>
              <a:rPr lang="en-US" sz="1600" dirty="0">
                <a:solidFill>
                  <a:srgbClr val="4B5563"/>
                </a:solidFill>
              </a:rPr>
              <a:t>: 2026-10-01</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작성자</a:t>
            </a:r>
            <a:pPr indent="0" marL="0">
              <a:spcAft>
                <a:spcPts val="800"/>
              </a:spcAft>
              <a:buNone/>
            </a:pPr>
            <a:r>
              <a:rPr lang="en-US" sz="1600" dirty="0">
                <a:solidFill>
                  <a:srgbClr val="4B5563"/>
                </a:solidFill>
              </a:rPr>
              <a:t>: 백엔드팀</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문서 상태</a:t>
            </a:r>
            <a:pPr indent="0" marL="0">
              <a:spcAft>
                <a:spcPts val="800"/>
              </a:spcAft>
              <a:buNone/>
            </a:pPr>
            <a:r>
              <a:rPr lang="en-US" sz="1600" dirty="0">
                <a:solidFill>
                  <a:srgbClr val="4B5563"/>
                </a:solidFill>
              </a:rPr>
              <a:t>: 검토 중</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적용 범위</a:t>
            </a:r>
            <a:pPr indent="0" marL="0">
              <a:spcAft>
                <a:spcPts val="800"/>
              </a:spcAft>
              <a:buNone/>
            </a:pPr>
            <a:r>
              <a:rPr lang="en-US" sz="1600" dirty="0">
                <a:solidFill>
                  <a:srgbClr val="4B5563"/>
                </a:solidFill>
              </a:rPr>
              <a:t>: 식단 기록 앱 MVP 서버 API 초안</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작성 기준</a:t>
            </a:r>
            <a:pPr indent="0" marL="0">
              <a:spcAft>
                <a:spcPts val="800"/>
              </a:spcAft>
              <a:buNone/>
            </a:pPr>
            <a:r>
              <a:rPr lang="en-US" sz="1600" dirty="0">
                <a:solidFill>
                  <a:srgbClr val="4B5563"/>
                </a:solidFill>
              </a:rPr>
              <a:t>: 회의에서 정리된 기능과 데이터 처리 원칙을 반영했습니다. 경로, 자료 형식, 인증 토큰 구성, 요청 제한, 응답 시간 등 회의에서 확정되지 않은 구현 세부는 </a:t>
            </a:r>
            <a:pPr indent="0" marL="0">
              <a:spcAft>
                <a:spcPts val="800"/>
              </a:spcAft>
              <a:buNone/>
            </a:pPr>
            <a:r>
              <a:rPr lang="en-US" sz="1600" b="1" dirty="0">
                <a:solidFill>
                  <a:srgbClr val="4B5563"/>
                </a:solidFill>
              </a:rPr>
              <a:t>설계 제안</a:t>
            </a:r>
            <a:pPr indent="0" marL="0">
              <a:spcAft>
                <a:spcPts val="800"/>
              </a:spcAft>
              <a:buNone/>
            </a:pPr>
            <a:r>
              <a:rPr lang="en-US" sz="1600" dirty="0">
                <a:solidFill>
                  <a:srgbClr val="4B5563"/>
                </a:solidFill>
              </a:rPr>
              <a:t> 또는 </a:t>
            </a:r>
            <a:pPr indent="0" marL="0">
              <a:spcAft>
                <a:spcPts val="800"/>
              </a:spcAft>
              <a:buNone/>
            </a:pPr>
            <a:r>
              <a:rPr lang="en-US" sz="1600" b="1" dirty="0">
                <a:solidFill>
                  <a:srgbClr val="4B5563"/>
                </a:solidFill>
              </a:rPr>
              <a:t>추정 필요</a:t>
            </a:r>
            <a:pPr indent="0" marL="0">
              <a:spcAft>
                <a:spcPts val="800"/>
              </a:spcAft>
              <a:buNone/>
            </a:pPr>
            <a:r>
              <a:rPr lang="en-US" sz="1600" dirty="0">
                <a:solidFill>
                  <a:srgbClr val="4B5563"/>
                </a:solidFill>
              </a:rPr>
              <a:t>로 표시했습니다. 제안 사항은 회의 확정 사항이 아닙니다.</a:t>
            </a:r>
            <a:endParaRPr lang="en-US" sz="1600" dirty="0"/>
          </a:p>
          <a:p>
            <a:pPr indent="0" marL="0">
              <a:spcAft>
                <a:spcPts val="800"/>
              </a:spcAft>
              <a:buNone/>
            </a:pPr>
            <a:r>
              <a:rPr lang="en-US" sz="1600" b="1" dirty="0">
                <a:solidFill>
                  <a:srgbClr val="4B5563"/>
                </a:solidFill>
              </a:rPr>
              <a:t>변경 이력</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 문서 정보</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987552"/>
                <a:gridCol w="1645920"/>
                <a:gridCol w="4608576"/>
                <a:gridCol w="987552"/>
              </a:tblGrid>
              <a:tr h="0">
                <a:tc>
                  <a:txBody>
                    <a:bodyPr/>
                    <a:lstStyle/>
                    <a:p>
                      <a:pPr indent="0" marL="0">
                        <a:buNone/>
                      </a:pPr>
                      <a:r>
                        <a:rPr lang="en-US" sz="1200" b="1" dirty="0">
                          <a:solidFill>
                            <a:srgbClr val="FFFFFF"/>
                          </a:solidFill>
                        </a:rPr>
                        <a:t>버전</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날짜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변경 </a:t>
                      </a:r>
                      <a:pPr indent="0" marL="0">
                        <a:buNone/>
                      </a:pPr>
                      <a:r>
                        <a:rPr lang="en-US" sz="1200" b="1" dirty="0">
                          <a:solidFill>
                            <a:srgbClr val="FFFFFF"/>
                          </a:solidFill>
                        </a:rPr>
                        <a:t>내용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작성자</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v1.0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2026-10-01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회의 </a:t>
                      </a:r>
                      <a:pPr indent="0" marL="0">
                        <a:buNone/>
                      </a:pPr>
                      <a:r>
                        <a:rPr lang="en-US" sz="1100" dirty="0">
                          <a:solidFill>
                            <a:srgbClr val="1F2937"/>
                          </a:solidFill>
                        </a:rPr>
                        <a:t>내용을 </a:t>
                      </a:r>
                      <a:pPr indent="0" marL="0">
                        <a:buNone/>
                      </a:pPr>
                      <a:r>
                        <a:rPr lang="en-US" sz="1100" dirty="0">
                          <a:solidFill>
                            <a:srgbClr val="1F2937"/>
                          </a:solidFill>
                        </a:rPr>
                        <a:t>바탕으로 </a:t>
                      </a:r>
                      <a:pPr indent="0" marL="0">
                        <a:buNone/>
                      </a:pPr>
                      <a:r>
                        <a:rPr lang="en-US" sz="1100" dirty="0">
                          <a:solidFill>
                            <a:srgbClr val="1F2937"/>
                          </a:solidFill>
                        </a:rPr>
                        <a:t>MVP </a:t>
                      </a:r>
                      <a:pPr indent="0" marL="0">
                        <a:buNone/>
                      </a:pPr>
                      <a:r>
                        <a:rPr lang="en-US" sz="1100" dirty="0">
                          <a:solidFill>
                            <a:srgbClr val="1F2937"/>
                          </a:solidFill>
                        </a:rPr>
                        <a:t>API </a:t>
                      </a:r>
                      <a:pPr indent="0" marL="0">
                        <a:buNone/>
                      </a:pPr>
                      <a:r>
                        <a:rPr lang="en-US" sz="1100" dirty="0">
                          <a:solidFill>
                            <a:srgbClr val="1F2937"/>
                          </a:solidFill>
                        </a:rPr>
                        <a:t>명세 </a:t>
                      </a:r>
                      <a:pPr indent="0" marL="0">
                        <a:buNone/>
                      </a:pPr>
                      <a:r>
                        <a:rPr lang="en-US" sz="1100" dirty="0">
                          <a:solidFill>
                            <a:srgbClr val="1F2937"/>
                          </a:solidFill>
                        </a:rPr>
                        <a:t>초안 </a:t>
                      </a:r>
                      <a:pPr indent="0" marL="0">
                        <a:buNone/>
                      </a:pPr>
                      <a:r>
                        <a:rPr lang="en-US" sz="1100" dirty="0">
                          <a:solidFill>
                            <a:srgbClr val="1F2937"/>
                          </a:solidFill>
                        </a:rPr>
                        <a:t>작성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백엔드팀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 개요</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2.1 API 정보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이 API는 iOS·안드로이드 공통 앱에서 사용하는 식단 기록 기능을 제공합니다. 사용자는 음식 검색, 최근 기록·즐겨찾기 조회, 직접 입력, 식사 기록 생성·수정·삭제, 날짜별 기록 조회, 주간 리포트 확인, 알림 설정 및 계정 삭제 요청을 이용할 수 있습니다. 음식 검색이 실패하거나 영양 정보가 없어도 기록이 막히지 않도록 설계합니다.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2.1 API 정보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식사 기록은 사용자별로 분리하며, 기록 당시의 음식 이름과 영양값을 스냅샷으로 보관합니다. 따라서 외부 음식 데이터가 변경되어도 과거 기록과 리포트 값은 자동으로 바뀌지 않습니다. 외부 식품 데이터 공급처는 미확정이므로, 공급자 응답을 내부 표준 형식으로 바꾸는 구조를 전제로 합니다.</a:t>
            </a:r>
            <a:endParaRPr lang="en-US" sz="1600" dirty="0"/>
          </a:p>
          <a:p>
            <a:pPr indent="0" marL="0">
              <a:spcAft>
                <a:spcPts val="800"/>
              </a:spcAft>
              <a:buNone/>
            </a:pPr>
            <a:r>
              <a:rPr lang="en-US" sz="1600" dirty="0">
                <a:solidFill>
                  <a:srgbClr val="4B5563"/>
                </a:solidFill>
              </a:rPr>
              <a:t>외부 공급자에게는 검색어만 전달하고 사용자 식별 정보와 식사 기록은 전달하지 않는 방향입니다.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2.1 API 정보</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057400"/>
                <a:gridCol w="6172200"/>
              </a:tblGrid>
              <a:tr h="0">
                <a:tc>
                  <a:txBody>
                    <a:bodyPr/>
                    <a:lstStyle/>
                    <a:p>
                      <a:pPr indent="0" marL="0">
                        <a:buNone/>
                      </a:pPr>
                      <a:r>
                        <a:rPr lang="en-US" sz="1200" b="1" dirty="0">
                          <a:solidFill>
                            <a:srgbClr val="FFFFFF"/>
                          </a:solidFill>
                        </a:rPr>
                        <a:t>항목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값</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b="1" dirty="0">
                          <a:solidFill>
                            <a:srgbClr val="1F2937"/>
                          </a:solidFill>
                        </a:rPr>
                        <a:t>기본 </a:t>
                      </a:r>
                      <a:pPr indent="0" marL="0">
                        <a:buNone/>
                      </a:pPr>
                      <a:r>
                        <a:rPr lang="en-US" sz="1100" b="1" dirty="0">
                          <a:solidFill>
                            <a:srgbClr val="1F2937"/>
                          </a:solidFill>
                        </a:rPr>
                        <a:t>주소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https://api.example.com/v1</a:t>
                      </a:r>
                      <a:pPr indent="0" marL="0">
                        <a:buNone/>
                      </a:pPr>
                      <a:pPr indent="0" marL="0">
                        <a:buNone/>
                      </a:pPr>
                      <a:r>
                        <a:rPr lang="en-US" sz="1100" b="1" dirty="0">
                          <a:solidFill>
                            <a:srgbClr val="1F2937"/>
                          </a:solidFill>
                        </a:rPr>
                        <a:t>(제안, </a:t>
                      </a:r>
                      <a:pPr indent="0" marL="0">
                        <a:buNone/>
                      </a:pPr>
                      <a:r>
                        <a:rPr lang="en-US" sz="1100" b="1" dirty="0">
                          <a:solidFill>
                            <a:srgbClr val="1F2937"/>
                          </a:solidFill>
                        </a:rPr>
                        <a:t>실제 </a:t>
                      </a:r>
                      <a:pPr indent="0" marL="0">
                        <a:buNone/>
                      </a:pPr>
                      <a:r>
                        <a:rPr lang="en-US" sz="1100" b="1" dirty="0">
                          <a:solidFill>
                            <a:srgbClr val="1F2937"/>
                          </a:solidFill>
                        </a:rPr>
                        <a:t>주소 </a:t>
                      </a:r>
                      <a:pPr indent="0" marL="0">
                        <a:buNone/>
                      </a:pPr>
                      <a:r>
                        <a:rPr lang="en-US" sz="1100" b="1" dirty="0">
                          <a:solidFill>
                            <a:srgbClr val="1F2937"/>
                          </a:solidFill>
                        </a:rPr>
                        <a:t>추정 </a:t>
                      </a:r>
                      <a:pPr indent="0" marL="0">
                        <a:buNone/>
                      </a:pPr>
                      <a:r>
                        <a:rPr lang="en-US" sz="1100" b="1"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프로토콜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HTTPS </a:t>
                      </a:r>
                      <a:pPr indent="0" marL="0">
                        <a:buNone/>
                      </a:pPr>
                      <a:r>
                        <a:rPr lang="en-US" sz="1100" dirty="0">
                          <a:solidFill>
                            <a:srgbClr val="1F2937"/>
                          </a:solidFill>
                        </a:rPr>
                        <a:t>전용</a:t>
                      </a:r>
                      <a:pPr indent="0" marL="0">
                        <a:buNone/>
                      </a:pPr>
                      <a:r>
                        <a:rPr lang="en-US" sz="1100" b="1" dirty="0">
                          <a:solidFill>
                            <a:srgbClr val="1F2937"/>
                          </a:solidFill>
                        </a:rPr>
                        <a:t>(제안)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자료 </a:t>
                      </a:r>
                      <a:pPr indent="0" marL="0">
                        <a:buNone/>
                      </a:pPr>
                      <a:r>
                        <a:rPr lang="en-US" sz="1100" b="1" dirty="0">
                          <a:solidFill>
                            <a:srgbClr val="1F2937"/>
                          </a:solidFill>
                        </a:rPr>
                        <a:t>형식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JSON </a:t>
                      </a:r>
                      <a:pPr indent="0" marL="0">
                        <a:buNone/>
                      </a:pPr>
                      <a:r>
                        <a:rPr lang="en-US" sz="1100" dirty="0">
                          <a:solidFill>
                            <a:srgbClr val="1F2937"/>
                          </a:solidFill>
                        </a:rPr>
                        <a:t>(</a:t>
                      </a:r>
                      <a:pPr indent="0" marL="0">
                        <a:buNone/>
                      </a:pPr>
                      <a:r>
                        <a:rPr lang="en-US" sz="1100" dirty="0">
                          <a:solidFill>
                            <a:srgbClr val="1F2937"/>
                          </a:solidFill>
                          <a:latin typeface="Courier New" pitchFamily="34" charset="0"/>
                          <a:ea typeface="Courier New" pitchFamily="34" charset="-122"/>
                          <a:cs typeface="Courier New" pitchFamily="34" charset="-120"/>
                        </a:rPr>
                        <a:t>application/json</a:t>
                      </a:r>
                      <a:pPr indent="0" marL="0">
                        <a:buNone/>
                      </a:pPr>
                      <a:r>
                        <a:rPr lang="en-US" sz="1100" dirty="0">
                          <a:solidFill>
                            <a:srgbClr val="1F2937"/>
                          </a:solidFill>
                        </a:rPr>
                        <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문자 </a:t>
                      </a:r>
                      <a:pPr indent="0" marL="0">
                        <a:buNone/>
                      </a:pPr>
                      <a:r>
                        <a:rPr lang="en-US" sz="1100" b="1" dirty="0">
                          <a:solidFill>
                            <a:srgbClr val="1F2937"/>
                          </a:solidFill>
                        </a:rPr>
                        <a:t>인코딩</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UTF-8</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인증 </a:t>
                      </a:r>
                      <a:pPr indent="0" marL="0">
                        <a:buNone/>
                      </a:pPr>
                      <a:r>
                        <a:rPr lang="en-US" sz="1100" b="1" dirty="0">
                          <a:solidFill>
                            <a:srgbClr val="1F2937"/>
                          </a:solidFill>
                        </a:rPr>
                        <a:t>방식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인증 </a:t>
                      </a:r>
                      <a:pPr indent="0" marL="0">
                        <a:buNone/>
                      </a:pPr>
                      <a:r>
                        <a:rPr lang="en-US" sz="1100" dirty="0">
                          <a:solidFill>
                            <a:srgbClr val="1F2937"/>
                          </a:solidFill>
                        </a:rPr>
                        <a:t>제공자 </a:t>
                      </a:r>
                      <a:pPr indent="0" marL="0">
                        <a:buNone/>
                      </a:pPr>
                      <a:r>
                        <a:rPr lang="en-US" sz="1100" dirty="0">
                          <a:solidFill>
                            <a:srgbClr val="1F2937"/>
                          </a:solidFill>
                        </a:rPr>
                        <a:t>범위 </a:t>
                      </a:r>
                      <a:pPr indent="0" marL="0">
                        <a:buNone/>
                      </a:pPr>
                      <a:r>
                        <a:rPr lang="en-US" sz="1100" dirty="0">
                          <a:solidFill>
                            <a:srgbClr val="1F2937"/>
                          </a:solidFill>
                        </a:rPr>
                        <a:t>미확정. </a:t>
                      </a:r>
                      <a:pPr indent="0" marL="0">
                        <a:buNone/>
                      </a:pPr>
                      <a:r>
                        <a:rPr lang="en-US" sz="1100" dirty="0">
                          <a:solidFill>
                            <a:srgbClr val="1F2937"/>
                          </a:solidFill>
                        </a:rPr>
                        <a:t>접근 </a:t>
                      </a:r>
                      <a:pPr indent="0" marL="0">
                        <a:buNone/>
                      </a:pPr>
                      <a:r>
                        <a:rPr lang="en-US" sz="1100" dirty="0">
                          <a:solidFill>
                            <a:srgbClr val="1F2937"/>
                          </a:solidFill>
                        </a:rPr>
                        <a:t>토큰 </a:t>
                      </a:r>
                      <a:pPr indent="0" marL="0">
                        <a:buNone/>
                      </a:pPr>
                      <a:r>
                        <a:rPr lang="en-US" sz="1100" dirty="0">
                          <a:solidFill>
                            <a:srgbClr val="1F2937"/>
                          </a:solidFill>
                        </a:rPr>
                        <a:t>방식은 </a:t>
                      </a:r>
                      <a:pPr indent="0" marL="0">
                        <a:buNone/>
                      </a:pPr>
                      <a:r>
                        <a:rPr lang="en-US" sz="1100" dirty="0">
                          <a:solidFill>
                            <a:srgbClr val="1F2937"/>
                          </a:solidFill>
                        </a:rPr>
                        <a:t>구현 </a:t>
                      </a:r>
                      <a:pPr indent="0" marL="0">
                        <a:buNone/>
                      </a:pPr>
                      <a:r>
                        <a:rPr lang="en-US" sz="1100" dirty="0">
                          <a:solidFill>
                            <a:srgbClr val="1F2937"/>
                          </a:solidFill>
                        </a:rPr>
                        <a:t>제안이며, </a:t>
                      </a:r>
                      <a:pPr indent="0" marL="0">
                        <a:buNone/>
                      </a:pPr>
                      <a:r>
                        <a:rPr lang="en-US" sz="1100" dirty="0">
                          <a:solidFill>
                            <a:srgbClr val="1F2937"/>
                          </a:solidFill>
                        </a:rPr>
                        <a:t>JWT </a:t>
                      </a:r>
                      <a:pPr indent="0" marL="0">
                        <a:buNone/>
                      </a:pPr>
                      <a:r>
                        <a:rPr lang="en-US" sz="1100" dirty="0">
                          <a:solidFill>
                            <a:srgbClr val="1F2937"/>
                          </a:solidFill>
                        </a:rPr>
                        <a:t>사용 </a:t>
                      </a:r>
                      <a:pPr indent="0" marL="0">
                        <a:buNone/>
                      </a:pPr>
                      <a:r>
                        <a:rPr lang="en-US" sz="1100" dirty="0">
                          <a:solidFill>
                            <a:srgbClr val="1F2937"/>
                          </a:solidFill>
                        </a:rPr>
                        <a:t>여부·발급자·만료 </a:t>
                      </a:r>
                      <a:pPr indent="0" marL="0">
                        <a:buNone/>
                      </a:pPr>
                      <a:r>
                        <a:rPr lang="en-US" sz="1100" dirty="0">
                          <a:solidFill>
                            <a:srgbClr val="1F2937"/>
                          </a:solidFill>
                        </a:rPr>
                        <a:t>정책은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요청 </a:t>
                      </a:r>
                      <a:pPr indent="0" marL="0">
                        <a:buNone/>
                      </a:pPr>
                      <a:r>
                        <a:rPr lang="en-US" sz="1100" b="1" dirty="0">
                          <a:solidFill>
                            <a:srgbClr val="1F2937"/>
                          </a:solidFill>
                        </a:rPr>
                        <a:t>제한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미정. </a:t>
                      </a:r>
                      <a:pPr indent="0" marL="0">
                        <a:buNone/>
                      </a:pPr>
                      <a:r>
                        <a:rPr lang="en-US" sz="1100" dirty="0">
                          <a:solidFill>
                            <a:srgbClr val="1F2937"/>
                          </a:solidFill>
                        </a:rPr>
                        <a:t>외부 </a:t>
                      </a:r>
                      <a:pPr indent="0" marL="0">
                        <a:buNone/>
                      </a:pPr>
                      <a:r>
                        <a:rPr lang="en-US" sz="1100" dirty="0">
                          <a:solidFill>
                            <a:srgbClr val="1F2937"/>
                          </a:solidFill>
                        </a:rPr>
                        <a:t>음식 </a:t>
                      </a:r>
                      <a:pPr indent="0" marL="0">
                        <a:buNone/>
                      </a:pPr>
                      <a:r>
                        <a:rPr lang="en-US" sz="1100" dirty="0">
                          <a:solidFill>
                            <a:srgbClr val="1F2937"/>
                          </a:solidFill>
                        </a:rPr>
                        <a:t>API </a:t>
                      </a:r>
                      <a:pPr indent="0" marL="0">
                        <a:buNone/>
                      </a:pPr>
                      <a:r>
                        <a:rPr lang="en-US" sz="1100" dirty="0">
                          <a:solidFill>
                            <a:srgbClr val="1F2937"/>
                          </a:solidFill>
                        </a:rPr>
                        <a:t>호출 </a:t>
                      </a:r>
                      <a:pPr indent="0" marL="0">
                        <a:buNone/>
                      </a:pPr>
                      <a:r>
                        <a:rPr lang="en-US" sz="1100" dirty="0">
                          <a:solidFill>
                            <a:srgbClr val="1F2937"/>
                          </a:solidFill>
                        </a:rPr>
                        <a:t>제한과 </a:t>
                      </a:r>
                      <a:pPr indent="0" marL="0">
                        <a:buNone/>
                      </a:pPr>
                      <a:r>
                        <a:rPr lang="en-US" sz="1100" dirty="0">
                          <a:solidFill>
                            <a:srgbClr val="1F2937"/>
                          </a:solidFill>
                        </a:rPr>
                        <a:t>계약 </a:t>
                      </a:r>
                      <a:pPr indent="0" marL="0">
                        <a:buNone/>
                      </a:pPr>
                      <a:r>
                        <a:rPr lang="en-US" sz="1100" dirty="0">
                          <a:solidFill>
                            <a:srgbClr val="1F2937"/>
                          </a:solidFill>
                        </a:rPr>
                        <a:t>조건 </a:t>
                      </a:r>
                      <a:pPr indent="0" marL="0">
                        <a:buNone/>
                      </a:pPr>
                      <a:r>
                        <a:rPr lang="en-US" sz="1100" dirty="0">
                          <a:solidFill>
                            <a:srgbClr val="1F2937"/>
                          </a:solidFill>
                        </a:rPr>
                        <a:t>확인 </a:t>
                      </a:r>
                      <a:pPr indent="0" marL="0">
                        <a:buNone/>
                      </a:pPr>
                      <a:r>
                        <a:rPr lang="en-US" sz="1100" dirty="0">
                          <a:solidFill>
                            <a:srgbClr val="1F2937"/>
                          </a:solidFill>
                        </a:rPr>
                        <a:t>후 </a:t>
                      </a:r>
                      <a:pPr indent="0" marL="0">
                        <a:buNone/>
                      </a:pPr>
                      <a:r>
                        <a:rPr lang="en-US" sz="1100" dirty="0">
                          <a:solidFill>
                            <a:srgbClr val="1F2937"/>
                          </a:solidFill>
                        </a:rPr>
                        <a:t>산정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응답 </a:t>
                      </a:r>
                      <a:pPr indent="0" marL="0">
                        <a:buNone/>
                      </a:pPr>
                      <a:r>
                        <a:rPr lang="en-US" sz="1100" b="1" dirty="0">
                          <a:solidFill>
                            <a:srgbClr val="1F2937"/>
                          </a:solidFill>
                        </a:rPr>
                        <a:t>시간 </a:t>
                      </a:r>
                      <a:pPr indent="0" marL="0">
                        <a:buNone/>
                      </a:pPr>
                      <a:r>
                        <a:rPr lang="en-US" sz="1100" b="1" dirty="0">
                          <a:solidFill>
                            <a:srgbClr val="1F2937"/>
                          </a:solidFill>
                        </a:rPr>
                        <a:t>제한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미정. </a:t>
                      </a:r>
                      <a:pPr indent="0" marL="0">
                        <a:buNone/>
                      </a:pPr>
                      <a:r>
                        <a:rPr lang="en-US" sz="1100" dirty="0">
                          <a:solidFill>
                            <a:srgbClr val="1F2937"/>
                          </a:solidFill>
                        </a:rPr>
                        <a:t>음식 </a:t>
                      </a:r>
                      <a:pPr indent="0" marL="0">
                        <a:buNone/>
                      </a:pPr>
                      <a:r>
                        <a:rPr lang="en-US" sz="1100" dirty="0">
                          <a:solidFill>
                            <a:srgbClr val="1F2937"/>
                          </a:solidFill>
                        </a:rPr>
                        <a:t>검색 </a:t>
                      </a:r>
                      <a:pPr indent="0" marL="0">
                        <a:buNone/>
                      </a:pPr>
                      <a:r>
                        <a:rPr lang="en-US" sz="1100" dirty="0">
                          <a:solidFill>
                            <a:srgbClr val="1F2937"/>
                          </a:solidFill>
                        </a:rPr>
                        <a:t>응답 </a:t>
                      </a:r>
                      <a:pPr indent="0" marL="0">
                        <a:buNone/>
                      </a:pPr>
                      <a:r>
                        <a:rPr lang="en-US" sz="1100" dirty="0">
                          <a:solidFill>
                            <a:srgbClr val="1F2937"/>
                          </a:solidFill>
                        </a:rPr>
                        <a:t>목표와 </a:t>
                      </a:r>
                      <a:pPr indent="0" marL="0">
                        <a:buNone/>
                      </a:pPr>
                      <a:r>
                        <a:rPr lang="en-US" sz="1100" dirty="0">
                          <a:solidFill>
                            <a:srgbClr val="1F2937"/>
                          </a:solidFill>
                        </a:rPr>
                        <a:t>공급자 </a:t>
                      </a:r>
                      <a:pPr indent="0" marL="0">
                        <a:buNone/>
                      </a:pPr>
                      <a:r>
                        <a:rPr lang="en-US" sz="1100" dirty="0">
                          <a:solidFill>
                            <a:srgbClr val="1F2937"/>
                          </a:solidFill>
                        </a:rPr>
                        <a:t>응답 </a:t>
                      </a:r>
                      <a:pPr indent="0" marL="0">
                        <a:buNone/>
                      </a:pPr>
                      <a:r>
                        <a:rPr lang="en-US" sz="1100" dirty="0">
                          <a:solidFill>
                            <a:srgbClr val="1F2937"/>
                          </a:solidFill>
                        </a:rPr>
                        <a:t>지연 </a:t>
                      </a:r>
                      <a:pPr indent="0" marL="0">
                        <a:buNone/>
                      </a:pPr>
                      <a:r>
                        <a:rPr lang="en-US" sz="1100" dirty="0">
                          <a:solidFill>
                            <a:srgbClr val="1F2937"/>
                          </a:solidFill>
                        </a:rPr>
                        <a:t>처리 </a:t>
                      </a:r>
                      <a:pPr indent="0" marL="0">
                        <a:buNone/>
                      </a:pPr>
                      <a:r>
                        <a:rPr lang="en-US" sz="1100" dirty="0">
                          <a:solidFill>
                            <a:srgbClr val="1F2937"/>
                          </a:solidFill>
                        </a:rPr>
                        <a:t>기준은 </a:t>
                      </a:r>
                      <a:pPr indent="0" marL="0">
                        <a:buNone/>
                      </a:pPr>
                      <a:r>
                        <a:rPr lang="en-US" sz="1100" dirty="0">
                          <a:solidFill>
                            <a:srgbClr val="1F2937"/>
                          </a:solidFill>
                        </a:rPr>
                        <a:t>검증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시간 </a:t>
                      </a:r>
                      <a:pPr indent="0" marL="0">
                        <a:buNone/>
                      </a:pPr>
                      <a:r>
                        <a:rPr lang="en-US" sz="1100" b="1" dirty="0">
                          <a:solidFill>
                            <a:srgbClr val="1F2937"/>
                          </a:solidFill>
                        </a:rPr>
                        <a:t>처리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생성·수정 </a:t>
                      </a:r>
                      <a:pPr indent="0" marL="0">
                        <a:buNone/>
                      </a:pPr>
                      <a:r>
                        <a:rPr lang="en-US" sz="1100" dirty="0">
                          <a:solidFill>
                            <a:srgbClr val="1F2937"/>
                          </a:solidFill>
                        </a:rPr>
                        <a:t>시각은 </a:t>
                      </a:r>
                      <a:pPr indent="0" marL="0">
                        <a:buNone/>
                      </a:pPr>
                      <a:r>
                        <a:rPr lang="en-US" sz="1100" dirty="0">
                          <a:solidFill>
                            <a:srgbClr val="1F2937"/>
                          </a:solidFill>
                        </a:rPr>
                        <a:t>UTC </a:t>
                      </a:r>
                      <a:pPr indent="0" marL="0">
                        <a:buNone/>
                      </a:pPr>
                      <a:r>
                        <a:rPr lang="en-US" sz="1100" dirty="0">
                          <a:solidFill>
                            <a:srgbClr val="1F2937"/>
                          </a:solidFill>
                        </a:rPr>
                        <a:t>기준, </a:t>
                      </a:r>
                      <a:pPr indent="0" marL="0">
                        <a:buNone/>
                      </a:pPr>
                      <a:r>
                        <a:rPr lang="en-US" sz="1100" dirty="0">
                          <a:solidFill>
                            <a:srgbClr val="1F2937"/>
                          </a:solidFill>
                        </a:rPr>
                        <a:t>식사 </a:t>
                      </a:r>
                      <a:pPr indent="0" marL="0">
                        <a:buNone/>
                      </a:pPr>
                      <a:r>
                        <a:rPr lang="en-US" sz="1100" dirty="0">
                          <a:solidFill>
                            <a:srgbClr val="1F2937"/>
                          </a:solidFill>
                        </a:rPr>
                        <a:t>날짜는 </a:t>
                      </a:r>
                      <a:pPr indent="0" marL="0">
                        <a:buNone/>
                      </a:pPr>
                      <a:r>
                        <a:rPr lang="en-US" sz="1100" dirty="0">
                          <a:solidFill>
                            <a:srgbClr val="1F2937"/>
                          </a:solidFill>
                        </a:rPr>
                        <a:t>사용자 </a:t>
                      </a:r>
                      <a:pPr indent="0" marL="0">
                        <a:buNone/>
                      </a:pPr>
                      <a:r>
                        <a:rPr lang="en-US" sz="1100" dirty="0">
                          <a:solidFill>
                            <a:srgbClr val="1F2937"/>
                          </a:solidFill>
                        </a:rPr>
                        <a:t>현지 </a:t>
                      </a:r>
                      <a:pPr indent="0" marL="0">
                        <a:buNone/>
                      </a:pPr>
                      <a:r>
                        <a:rPr lang="en-US" sz="1100" dirty="0">
                          <a:solidFill>
                            <a:srgbClr val="1F2937"/>
                          </a:solidFill>
                        </a:rPr>
                        <a:t>날짜를 </a:t>
                      </a:r>
                      <a:pPr indent="0" marL="0">
                        <a:buNone/>
                      </a:pPr>
                      <a:r>
                        <a:rPr lang="en-US" sz="1100" dirty="0">
                          <a:solidFill>
                            <a:srgbClr val="1F2937"/>
                          </a:solidFill>
                        </a:rPr>
                        <a:t>별도 </a:t>
                      </a:r>
                      <a:pPr indent="0" marL="0">
                        <a:buNone/>
                      </a:pPr>
                      <a:r>
                        <a:rPr lang="en-US" sz="1100" dirty="0">
                          <a:solidFill>
                            <a:srgbClr val="1F2937"/>
                          </a:solidFill>
                        </a:rPr>
                        <a:t>저장하는 </a:t>
                      </a:r>
                      <a:pPr indent="0" marL="0">
                        <a:buNone/>
                      </a:pPr>
                      <a:r>
                        <a:rPr lang="en-US" sz="1100" dirty="0">
                          <a:solidFill>
                            <a:srgbClr val="1F2937"/>
                          </a:solidFill>
                        </a:rPr>
                        <a:t>방향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개인정보 </a:t>
                      </a:r>
                      <a:pPr indent="0" marL="0">
                        <a:buNone/>
                      </a:pPr>
                      <a:r>
                        <a:rPr lang="en-US" sz="1100" b="1" dirty="0">
                          <a:solidFill>
                            <a:srgbClr val="1F2937"/>
                          </a:solidFill>
                        </a:rPr>
                        <a:t>원칙</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음식명·칼로리·체중·자유 </a:t>
                      </a:r>
                      <a:pPr indent="0" marL="0">
                        <a:buNone/>
                      </a:pPr>
                      <a:r>
                        <a:rPr lang="en-US" sz="1100" dirty="0">
                          <a:solidFill>
                            <a:srgbClr val="1F2937"/>
                          </a:solidFill>
                        </a:rPr>
                        <a:t>입력 </a:t>
                      </a:r>
                      <a:pPr indent="0" marL="0">
                        <a:buNone/>
                      </a:pPr>
                      <a:r>
                        <a:rPr lang="en-US" sz="1100" dirty="0">
                          <a:solidFill>
                            <a:srgbClr val="1F2937"/>
                          </a:solidFill>
                        </a:rPr>
                        <a:t>내용은 </a:t>
                      </a:r>
                      <a:pPr indent="0" marL="0">
                        <a:buNone/>
                      </a:pPr>
                      <a:r>
                        <a:rPr lang="en-US" sz="1100" dirty="0">
                          <a:solidFill>
                            <a:srgbClr val="1F2937"/>
                          </a:solidFill>
                        </a:rPr>
                        <a:t>제품 </a:t>
                      </a:r>
                      <a:pPr indent="0" marL="0">
                        <a:buNone/>
                      </a:pPr>
                      <a:r>
                        <a:rPr lang="en-US" sz="1100" dirty="0">
                          <a:solidFill>
                            <a:srgbClr val="1F2937"/>
                          </a:solidFill>
                        </a:rPr>
                        <a:t>분석 </a:t>
                      </a:r>
                      <a:pPr indent="0" marL="0">
                        <a:buNone/>
                      </a:pPr>
                      <a:r>
                        <a:rPr lang="en-US" sz="1100" dirty="0">
                          <a:solidFill>
                            <a:srgbClr val="1F2937"/>
                          </a:solidFill>
                        </a:rPr>
                        <a:t>이벤트에 </a:t>
                      </a:r>
                      <a:pPr indent="0" marL="0">
                        <a:buNone/>
                      </a:pPr>
                      <a:r>
                        <a:rPr lang="en-US" sz="1100" dirty="0">
                          <a:solidFill>
                            <a:srgbClr val="1F2937"/>
                          </a:solidFill>
                        </a:rPr>
                        <a:t>포함하지 </a:t>
                      </a:r>
                      <a:pPr indent="0" marL="0">
                        <a:buNone/>
                      </a:pPr>
                      <a:r>
                        <a:rPr lang="en-US" sz="1100" dirty="0">
                          <a:solidFill>
                            <a:srgbClr val="1F2937"/>
                          </a:solidFill>
                        </a:rPr>
                        <a:t>않음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2.1 API 정보</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api.example.com</a:t>
            </a:r>
            <a:pPr indent="0" marL="0">
              <a:spcAft>
                <a:spcPts val="800"/>
              </a:spcAft>
              <a:buNone/>
            </a:pPr>
            <a:r>
              <a:rPr lang="en-US" sz="1600" dirty="0">
                <a:solidFill>
                  <a:srgbClr val="4B5563"/>
                </a:solidFill>
              </a:rPr>
              <a:t>은 문서 예시 주소입니다. 실제 주소가 확정된 것은 아닙니다."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2.2 버전 관리</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경로에 버전을 포함하는 방식</a:t>
            </a:r>
            <a:pPr indent="0" marL="0">
              <a:spcAft>
                <a:spcPts val="800"/>
              </a:spcAft>
              <a:buNone/>
            </a:pPr>
            <a:r>
              <a:rPr lang="en-US" sz="1600" dirty="0">
                <a:solidFill>
                  <a:srgbClr val="4B5563"/>
                </a:solidFill>
              </a:rPr>
              <a:t>을 제안합니다.</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/v1/</a:t>
            </a:r>
            <a:pPr indent="0" marL="0">
              <a:spcAft>
                <a:spcPts val="800"/>
              </a:spcAft>
              <a:buNone/>
            </a:pPr>
            <a:r>
              <a:rPr lang="en-US" sz="1600" dirty="0">
                <a:solidFill>
                  <a:srgbClr val="4B5563"/>
                </a:solidFill>
              </a:rPr>
              <a:t>: MVP용 첫 API 버전</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/v2/</a:t>
            </a:r>
            <a:pPr indent="0" marL="0">
              <a:spcAft>
                <a:spcPts val="800"/>
              </a:spcAft>
              <a:buNone/>
            </a:pPr>
            <a:r>
              <a:rPr lang="en-US" sz="1600" dirty="0">
                <a:solidFill>
                  <a:srgbClr val="4B5563"/>
                </a:solidFill>
              </a:rPr>
              <a:t>: 추후 별도 버전이 필요할 때 추가할 수 있는 경로. 현재 개발·시험 중이라는 의미로 확정된 것은 아닙니다.</a:t>
            </a:r>
            <a:endParaRPr lang="en-US" sz="1600" dirty="0"/>
          </a:p>
          <a:p>
            <a:pPr indent="0" marL="0">
              <a:spcAft>
                <a:spcPts val="800"/>
              </a:spcAft>
              <a:buNone/>
            </a:pPr>
            <a:r>
              <a:rPr lang="en-US" sz="1600" dirty="0">
                <a:solidFill>
                  <a:srgbClr val="4B5563"/>
                </a:solidFill>
              </a:rPr>
              <a:t>· 응답 필드의 선택적 추가와 같은 하위 호환 변경은 같은 버전에서 제공하고, 기존 필드의 의미 변경이나 제거는 새 버전에서 처리하는 방향을 제안합니다.</a:t>
            </a:r>
            <a:endParaRPr lang="en-US" sz="1600" dirty="0"/>
          </a:p>
          <a:p>
            <a:pPr indent="0" marL="0">
              <a:spcAft>
                <a:spcPts val="800"/>
              </a:spcAft>
              <a:buNone/>
            </a:pPr>
            <a:r>
              <a:rPr lang="en-US" sz="1600" dirty="0">
                <a:solidFill>
                  <a:srgbClr val="4B5563"/>
                </a:solidFill>
              </a:rPr>
              <a:t>· 새 버전의 지원 기간, 이전 버전 종료 방식은 추정 필요입니다.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 인증</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3.1 인증 방식</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로그인 제공자는 미확정입니다. 회의에서는 이메일·Apple·Google 인증을 우선 검토하고, 카카오는 1차 우선순위에서 제외하는 방향을 논의했습니다. 게스트 시작, 게스트 데이터 저장 위치와 계정 연결·병합 여부도 확정되지 않았습니다.</a:t>
            </a:r>
            <a:endParaRPr lang="en-US" sz="1600" dirty="0"/>
          </a:p>
          <a:p>
            <a:pPr indent="0" marL="0">
              <a:spcAft>
                <a:spcPts val="800"/>
              </a:spcAft>
              <a:buNone/>
            </a:pPr>
            <a:r>
              <a:rPr lang="en-US" sz="1600" dirty="0">
                <a:solidFill>
                  <a:srgbClr val="4B5563"/>
                </a:solidFill>
              </a:rPr>
              <a:t>아래와 같이 Bearer 방식의 접근 토큰을 사용하는 형태를 </a:t>
            </a:r>
            <a:pPr indent="0" marL="0">
              <a:spcAft>
                <a:spcPts val="800"/>
              </a:spcAft>
              <a:buNone/>
            </a:pPr>
            <a:r>
              <a:rPr lang="en-US" sz="1600" b="1" dirty="0">
                <a:solidFill>
                  <a:srgbClr val="4B5563"/>
                </a:solidFill>
              </a:rPr>
              <a:t>구현 제안</a:t>
            </a:r>
            <a:pPr indent="0" marL="0">
              <a:spcAft>
                <a:spcPts val="800"/>
              </a:spcAft>
              <a:buNone/>
            </a:pPr>
            <a:r>
              <a:rPr lang="en-US" sz="1600" dirty="0">
                <a:solidFill>
                  <a:srgbClr val="4B5563"/>
                </a:solidFill>
              </a:rPr>
              <a:t>으로 제시합니다. 토큰 형식이 JWT인지, 토큰 유효 기간과 갱신 방식이 무엇인지는 인증 제공자와 보안 검토 후 확정해야 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3.1 인증 방식</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GET /v1/me HTTP/1.1</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Host: api.example.com</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Authorization: Bearer &lt;접근_토큰&gt;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Accept: application/json</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User-Agent: MealRecordApp/1.0</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3.2 인증 시작 및 토큰 발급</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POST</a:t>
            </a:r>
            <a:pPr indent="0" marL="0">
              <a:spcAft>
                <a:spcPts val="800"/>
              </a:spcAft>
              <a:buNone/>
            </a:pPr>
            <a:r>
              <a:rPr lang="en-US" sz="1600" dirty="0">
                <a:solidFill>
                  <a:srgbClr val="4B5563"/>
                </a:solidFill>
              </a:rPr>
              <a:t>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/v1/auth/token</a:t>
            </a:r>
            <a:endParaRPr lang="en-US" sz="1600" dirty="0"/>
          </a:p>
          <a:p>
            <a:pPr indent="0" marL="0">
              <a:spcAft>
                <a:spcPts val="800"/>
              </a:spcAft>
              <a:buNone/>
            </a:pPr>
            <a:r>
              <a:rPr lang="en-US" sz="1600" dirty="0">
                <a:solidFill>
                  <a:srgbClr val="4B5563"/>
                </a:solidFill>
              </a:rPr>
              <a:t>인증 제공자에서 발급한 인증 결과를 서버가 검증하고, 서비스용 접근 토큰을 발급하는 형태의 </a:t>
            </a:r>
            <a:pPr indent="0" marL="0">
              <a:spcAft>
                <a:spcPts val="800"/>
              </a:spcAft>
              <a:buNone/>
            </a:pPr>
            <a:r>
              <a:rPr lang="en-US" sz="1600" b="1" dirty="0">
                <a:solidFill>
                  <a:srgbClr val="4B5563"/>
                </a:solidFill>
              </a:rPr>
              <a:t>설계 제안</a:t>
            </a:r>
            <a:pPr indent="0" marL="0">
              <a:spcAft>
                <a:spcPts val="800"/>
              </a:spcAft>
              <a:buNone/>
            </a:pPr>
            <a:r>
              <a:rPr lang="en-US" sz="1600" dirty="0">
                <a:solidFill>
                  <a:srgbClr val="4B5563"/>
                </a:solidFill>
              </a:rPr>
              <a:t>입니다. 실제 인증 제공자와 인증 교환 방식은 미확정입니다. 비밀번호를 서버에 원문으로 저장하지 않으며, 인증 제공자 토큰을 요청에 넣는 구체적인 방식도 제공자 확정 후 정합니다.</a:t>
            </a:r>
            <a:endParaRPr lang="en-US" sz="1600" dirty="0"/>
          </a:p>
          <a:p>
            <a:pPr indent="0" marL="0">
              <a:spcAft>
                <a:spcPts val="800"/>
              </a:spcAft>
              <a:buNone/>
            </a:pPr>
            <a:r>
              <a:rPr lang="en-US" sz="1600" b="1" dirty="0">
                <a:solidFill>
                  <a:srgbClr val="4B5563"/>
                </a:solidFill>
              </a:rPr>
              <a:t>요청 본문 예시</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3.2 인증 시작 및 토큰 발급</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"provider": "apple",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"providerToken": "&lt;인증_제공자_토큰&gt;",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"device":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"platform": "ios",</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"appVersion": "1.0.0"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3.2 인증 시작 및 토큰 발급</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성공 응답 예시 </a:t>
            </a:r>
            <a:pPr indent="0" marL="0">
              <a:spcAft>
                <a:spcPts val="800"/>
              </a:spcAft>
              <a:buNone/>
            </a:pPr>
            <a:r>
              <a:rPr lang="en-US" sz="1600" b="1" dirty="0">
                <a:solidFill>
                  <a:srgbClr val="4B5563"/>
                </a:solidFill>
                <a:latin typeface="Courier New" pitchFamily="34" charset="0"/>
                <a:ea typeface="Courier New" pitchFamily="34" charset="-122"/>
                <a:cs typeface="Courier New" pitchFamily="34" charset="-120"/>
              </a:rPr>
              <a:t>200 OK</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3.2 인증 시작 및 토큰 발급</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"success": true,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"data":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"accessToken": "&lt;서비스_접근_토큰&gt;",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"refreshToken": "&lt;갱신_토큰&gt;",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"tokenType": "Bearer",</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"expiresIn": 3600,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"user":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"id": "usr_0192d6a9-38a8-7c1f-9f3a-90b11ab41234",</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"accountStatus": "active"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"timestamp": "2026-10-01T02:00:00Z",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"requestId": "req_0192d6aa-7e18-7c31-a435-0b1d5fb11f01"</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3.2 인증 시작 및 토큰 발급</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expiresIn</a:t>
            </a:r>
            <a:pPr indent="0" marL="0">
              <a:spcAft>
                <a:spcPts val="800"/>
              </a:spcAft>
              <a:buNone/>
            </a:pPr>
            <a:r>
              <a:rPr lang="en-US" sz="1600" dirty="0">
                <a:solidFill>
                  <a:srgbClr val="4B5563"/>
                </a:solidFill>
              </a:rPr>
              <a:t>은 예시 값이며 실제 만료 시간은 추정 필요입니다. 게스트 계정 발급과 계정 연결·병합 요청은 별도 인증 흐름 확정 후 추가합니다.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3.3 토큰 갱신</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POST</a:t>
            </a:r>
            <a:pPr indent="0" marL="0">
              <a:spcAft>
                <a:spcPts val="800"/>
              </a:spcAft>
              <a:buNone/>
            </a:pPr>
            <a:r>
              <a:rPr lang="en-US" sz="1600" dirty="0">
                <a:solidFill>
                  <a:srgbClr val="4B5563"/>
                </a:solidFill>
              </a:rPr>
              <a:t>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/v1/auth/refresh</a:t>
            </a:r>
            <a:endParaRPr lang="en-US" sz="1600" dirty="0"/>
          </a:p>
          <a:p>
            <a:pPr indent="0" marL="0">
              <a:spcAft>
                <a:spcPts val="800"/>
              </a:spcAft>
              <a:buNone/>
            </a:pPr>
            <a:r>
              <a:rPr lang="en-US" sz="1600" b="1" dirty="0">
                <a:solidFill>
                  <a:srgbClr val="4B5563"/>
                </a:solidFill>
              </a:rPr>
              <a:t>요청 본문 예시</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3.3 토큰 갱신</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"refreshToken": "&lt;갱신_토큰&gt;"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3.3 토큰 갱신</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성공 응답 예시 </a:t>
            </a:r>
            <a:pPr indent="0" marL="0">
              <a:spcAft>
                <a:spcPts val="800"/>
              </a:spcAft>
              <a:buNone/>
            </a:pPr>
            <a:r>
              <a:rPr lang="en-US" sz="1600" b="1" dirty="0">
                <a:solidFill>
                  <a:srgbClr val="4B5563"/>
                </a:solidFill>
                <a:latin typeface="Courier New" pitchFamily="34" charset="0"/>
                <a:ea typeface="Courier New" pitchFamily="34" charset="-122"/>
                <a:cs typeface="Courier New" pitchFamily="34" charset="-120"/>
              </a:rPr>
              <a:t>200 OK</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3.3 토큰 갱신</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"success": true,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"data":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"accessToken": "&lt;새_서비스_접근_토큰&gt;",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"refreshToken": "&lt;새_갱신_토큰&gt;",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"tokenType": "Bearer",</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"expiresIn": 3600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"timestamp": "2026-10-01T02:05:00Z",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"requestId": "req_0192d6ab-1dc0-7055-8b66-4e9df7087b20"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3.3 토큰 갱신</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토큰 갱신 정책, 갱신 토큰 회전 여부, 로그아웃·탈퇴 시 토큰 폐기 방식은 추정 필요입니다.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3.4 인증·인가 원칙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사용자 개인 자료를 다루는 경로는 인증을 요구합니다.</a:t>
            </a:r>
            <a:endParaRPr lang="en-US" sz="1600" dirty="0"/>
          </a:p>
          <a:p>
            <a:pPr indent="0" marL="0">
              <a:spcAft>
                <a:spcPts val="800"/>
              </a:spcAft>
              <a:buNone/>
            </a:pPr>
            <a:r>
              <a:rPr lang="en-US" sz="1600" dirty="0">
                <a:solidFill>
                  <a:srgbClr val="4B5563"/>
                </a:solidFill>
              </a:rPr>
              <a:t>· 요청 본문이나 경로에 다른 사용자 식별값이 전달되더라도 이를 권한 판단의 근거로 사용하지 않습니다. 사용자 식별값은 인증 문맥에서 가져옵니다.</a:t>
            </a:r>
            <a:endParaRPr lang="en-US" sz="1600" dirty="0"/>
          </a:p>
          <a:p>
            <a:pPr indent="0" marL="0">
              <a:spcAft>
                <a:spcPts val="800"/>
              </a:spcAft>
              <a:buNone/>
            </a:pPr>
            <a:r>
              <a:rPr lang="en-US" sz="1600" dirty="0">
                <a:solidFill>
                  <a:srgbClr val="4B5563"/>
                </a:solidFill>
              </a:rPr>
              <a:t>· 개인 음식, 즐겨찾기, 식사 기록은 요청 사용자의 소유 여부를 확인한 뒤 조회·수정·삭제합니다.</a:t>
            </a:r>
            <a:endParaRPr lang="en-US" sz="1600" dirty="0"/>
          </a:p>
          <a:p>
            <a:pPr indent="0" marL="0">
              <a:spcAft>
                <a:spcPts val="800"/>
              </a:spcAft>
              <a:buNone/>
            </a:pPr>
            <a:r>
              <a:rPr lang="en-US" sz="1600" dirty="0">
                <a:solidFill>
                  <a:srgbClr val="4B5563"/>
                </a:solidFill>
              </a:rPr>
              <a:t>· 소유 여부를 확인할 수 없는 기록 식별값은 다른 사용자의 존재가 드러나지 않도록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404 Not Found</a:t>
            </a:r>
            <a:pPr indent="0" marL="0">
              <a:spcAft>
                <a:spcPts val="800"/>
              </a:spcAft>
              <a:buNone/>
            </a:pPr>
            <a:r>
              <a:rPr lang="en-US" sz="1600" dirty="0">
                <a:solidFill>
                  <a:srgbClr val="4B5563"/>
                </a:solidFill>
              </a:rPr>
              <a:t>로 응답하는 방식을 제안합니다.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3.4 인증·인가 원칙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삭제 요청이 접수된 계정은 서비스 접근을 제한하는 방향을 제안합니다. 실제 상태 전이 시점과 재인증 방식은 추정 필요입니다.</a:t>
            </a:r>
            <a:endParaRPr lang="en-US" sz="1600" dirty="0"/>
          </a:p>
          <a:p>
            <a:pPr indent="0" marL="0">
              <a:spcAft>
                <a:spcPts val="800"/>
              </a:spcAft>
              <a:buNone/>
            </a:pPr>
            <a:r>
              <a:rPr lang="en-US" sz="1600" dirty="0">
                <a:solidFill>
                  <a:srgbClr val="4B5563"/>
                </a:solidFill>
              </a:rPr>
              <a:t>· 운영자에 의한 식사 기록 조회는 일반 API로 제공하지 않습니다. 운영상 접근이 필요한 경우 동의·권한 승인·접근 기록을 갖춘 별도 절차가 필요합니다.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 공통 규약</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4.1 요청 규약</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420471"/>
                <a:gridCol w="5809129"/>
              </a:tblGrid>
              <a:tr h="0">
                <a:tc>
                  <a:txBody>
                    <a:bodyPr/>
                    <a:lstStyle/>
                    <a:p>
                      <a:pPr indent="0" marL="0">
                        <a:buNone/>
                      </a:pPr>
                      <a:r>
                        <a:rPr lang="en-US" sz="1200" b="1" dirty="0">
                          <a:solidFill>
                            <a:srgbClr val="FFFFFF"/>
                          </a:solidFill>
                        </a:rPr>
                        <a:t>항목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규칙</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Content-Type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본문이 </a:t>
                      </a:r>
                      <a:pPr indent="0" marL="0">
                        <a:buNone/>
                      </a:pPr>
                      <a:r>
                        <a:rPr lang="en-US" sz="1100" dirty="0">
                          <a:solidFill>
                            <a:srgbClr val="1F2937"/>
                          </a:solidFill>
                        </a:rPr>
                        <a:t>있는 </a:t>
                      </a:r>
                      <a:pPr indent="0" marL="0">
                        <a:buNone/>
                      </a:pPr>
                      <a:r>
                        <a:rPr lang="en-US" sz="1100" dirty="0">
                          <a:solidFill>
                            <a:srgbClr val="1F2937"/>
                          </a:solidFill>
                        </a:rPr>
                        <a:t>요청은</a:t>
                      </a:r>
                      <a:pPr indent="0" marL="0">
                        <a:buNone/>
                      </a:pPr>
                      <a:r>
                        <a:rPr lang="en-US" sz="1100" dirty="0">
                          <a:solidFill>
                            <a:srgbClr val="1F2937"/>
                          </a:solidFill>
                          <a:latin typeface="Courier New" pitchFamily="34" charset="0"/>
                          <a:ea typeface="Courier New" pitchFamily="34" charset="-122"/>
                          <a:cs typeface="Courier New" pitchFamily="34" charset="-120"/>
                        </a:rPr>
                        <a:t>application/json</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Accept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application/json</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Authorization</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인증이 </a:t>
                      </a:r>
                      <a:pPr indent="0" marL="0">
                        <a:buNone/>
                      </a:pPr>
                      <a:r>
                        <a:rPr lang="en-US" sz="1100" dirty="0">
                          <a:solidFill>
                            <a:srgbClr val="1F2937"/>
                          </a:solidFill>
                        </a:rPr>
                        <a:t>필요한 </a:t>
                      </a:r>
                      <a:pPr indent="0" marL="0">
                        <a:buNone/>
                      </a:pPr>
                      <a:r>
                        <a:rPr lang="en-US" sz="1100" dirty="0">
                          <a:solidFill>
                            <a:srgbClr val="1F2937"/>
                          </a:solidFill>
                        </a:rPr>
                        <a:t>요청은</a:t>
                      </a:r>
                      <a:pPr indent="0" marL="0">
                        <a:buNone/>
                      </a:pPr>
                      <a:r>
                        <a:rPr lang="en-US" sz="1100" dirty="0">
                          <a:solidFill>
                            <a:srgbClr val="1F2937"/>
                          </a:solidFill>
                          <a:latin typeface="Courier New" pitchFamily="34" charset="0"/>
                          <a:ea typeface="Courier New" pitchFamily="34" charset="-122"/>
                          <a:cs typeface="Courier New" pitchFamily="34" charset="-120"/>
                        </a:rPr>
                        <a:t>Bearer </a:t>
                      </a:r>
                      <a:pPr indent="0" marL="0">
                        <a:buNone/>
                      </a:pPr>
                      <a:r>
                        <a:rPr lang="en-US" sz="1100" dirty="0">
                          <a:solidFill>
                            <a:srgbClr val="1F2937"/>
                          </a:solidFill>
                          <a:latin typeface="Courier New" pitchFamily="34" charset="0"/>
                          <a:ea typeface="Courier New" pitchFamily="34" charset="-122"/>
                          <a:cs typeface="Courier New" pitchFamily="34" charset="-120"/>
                        </a:rPr>
                        <a:t>&lt;토큰&gt;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User-Agent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앱 </a:t>
                      </a:r>
                      <a:pPr indent="0" marL="0">
                        <a:buNone/>
                      </a:pPr>
                      <a:r>
                        <a:rPr lang="en-US" sz="1100" dirty="0">
                          <a:solidFill>
                            <a:srgbClr val="1F2937"/>
                          </a:solidFill>
                        </a:rPr>
                        <a:t>이름과 </a:t>
                      </a:r>
                      <a:pPr indent="0" marL="0">
                        <a:buNone/>
                      </a:pPr>
                      <a:r>
                        <a:rPr lang="en-US" sz="1100" dirty="0">
                          <a:solidFill>
                            <a:srgbClr val="1F2937"/>
                          </a:solidFill>
                        </a:rPr>
                        <a:t>버전을 </a:t>
                      </a:r>
                      <a:pPr indent="0" marL="0">
                        <a:buNone/>
                      </a:pPr>
                      <a:r>
                        <a:rPr lang="en-US" sz="1100" dirty="0">
                          <a:solidFill>
                            <a:srgbClr val="1F2937"/>
                          </a:solidFill>
                        </a:rPr>
                        <a:t>포함하는 </a:t>
                      </a:r>
                      <a:pPr indent="0" marL="0">
                        <a:buNone/>
                      </a:pPr>
                      <a:r>
                        <a:rPr lang="en-US" sz="1100" dirty="0">
                          <a:solidFill>
                            <a:srgbClr val="1F2937"/>
                          </a:solidFill>
                        </a:rPr>
                        <a:t>방향을 </a:t>
                      </a:r>
                      <a:pPr indent="0" marL="0">
                        <a:buNone/>
                      </a:pPr>
                      <a:r>
                        <a:rPr lang="en-US" sz="1100" dirty="0">
                          <a:solidFill>
                            <a:srgbClr val="1F2937"/>
                          </a:solidFill>
                        </a:rPr>
                        <a:t>제안합니다. </a:t>
                      </a:r>
                      <a:pPr indent="0" marL="0">
                        <a:buNone/>
                      </a:pPr>
                      <a:r>
                        <a:rPr lang="en-US" sz="1100" dirty="0">
                          <a:solidFill>
                            <a:srgbClr val="1F2937"/>
                          </a:solidFill>
                        </a:rPr>
                        <a:t>형식과 </a:t>
                      </a:r>
                      <a:pPr indent="0" marL="0">
                        <a:buNone/>
                      </a:pPr>
                      <a:r>
                        <a:rPr lang="en-US" sz="1100" dirty="0">
                          <a:solidFill>
                            <a:srgbClr val="1F2937"/>
                          </a:solidFill>
                        </a:rPr>
                        <a:t>필수 </a:t>
                      </a:r>
                      <a:pPr indent="0" marL="0">
                        <a:buNone/>
                      </a:pPr>
                      <a:r>
                        <a:rPr lang="en-US" sz="1100" dirty="0">
                          <a:solidFill>
                            <a:srgbClr val="1F2937"/>
                          </a:solidFill>
                        </a:rPr>
                        <a:t>여부는 </a:t>
                      </a:r>
                      <a:pPr indent="0" marL="0">
                        <a:buNone/>
                      </a:pPr>
                      <a:r>
                        <a:rPr lang="en-US" sz="1100" dirty="0">
                          <a:solidFill>
                            <a:srgbClr val="1F2937"/>
                          </a:solidFill>
                        </a:rPr>
                        <a:t>추정 </a:t>
                      </a:r>
                      <a:pPr indent="0" marL="0">
                        <a:buNone/>
                      </a:pPr>
                      <a:r>
                        <a:rPr lang="en-US" sz="1100" dirty="0">
                          <a:solidFill>
                            <a:srgbClr val="1F2937"/>
                          </a:solidFill>
                        </a:rPr>
                        <a:t>필요입니다.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요청 </a:t>
                      </a:r>
                      <a:pPr indent="0" marL="0">
                        <a:buNone/>
                      </a:pPr>
                      <a:r>
                        <a:rPr lang="en-US" sz="1100" dirty="0">
                          <a:solidFill>
                            <a:srgbClr val="1F2937"/>
                          </a:solidFill>
                        </a:rPr>
                        <a:t>식별값</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기록 </a:t>
                      </a:r>
                      <a:pPr indent="0" marL="0">
                        <a:buNone/>
                      </a:pPr>
                      <a:r>
                        <a:rPr lang="en-US" sz="1100" dirty="0">
                          <a:solidFill>
                            <a:srgbClr val="1F2937"/>
                          </a:solidFill>
                        </a:rPr>
                        <a:t>생성·재시도에는</a:t>
                      </a:r>
                      <a:pPr indent="0" marL="0">
                        <a:buNone/>
                      </a:pPr>
                      <a:r>
                        <a:rPr lang="en-US" sz="1100" dirty="0">
                          <a:solidFill>
                            <a:srgbClr val="1F2937"/>
                          </a:solidFill>
                          <a:latin typeface="Courier New" pitchFamily="34" charset="0"/>
                          <a:ea typeface="Courier New" pitchFamily="34" charset="-122"/>
                          <a:cs typeface="Courier New" pitchFamily="34" charset="-120"/>
                        </a:rPr>
                        <a:t>Idempotency-Key</a:t>
                      </a:r>
                      <a:pPr indent="0" marL="0">
                        <a:buNone/>
                      </a:pPr>
                      <a:r>
                        <a:rPr lang="en-US" sz="1100" dirty="0">
                          <a:solidFill>
                            <a:srgbClr val="1F2937"/>
                          </a:solidFill>
                        </a:rPr>
                        <a:t>요청 </a:t>
                      </a:r>
                      <a:pPr indent="0" marL="0">
                        <a:buNone/>
                      </a:pPr>
                      <a:r>
                        <a:rPr lang="en-US" sz="1100" dirty="0">
                          <a:solidFill>
                            <a:srgbClr val="1F2937"/>
                          </a:solidFill>
                        </a:rPr>
                        <a:t>헤더 </a:t>
                      </a:r>
                      <a:pPr indent="0" marL="0">
                        <a:buNone/>
                      </a:pPr>
                      <a:r>
                        <a:rPr lang="en-US" sz="1100" dirty="0">
                          <a:solidFill>
                            <a:srgbClr val="1F2937"/>
                          </a:solidFill>
                        </a:rPr>
                        <a:t>사용을 </a:t>
                      </a:r>
                      <a:pPr indent="0" marL="0">
                        <a:buNone/>
                      </a:pPr>
                      <a:r>
                        <a:rPr lang="en-US" sz="1100" dirty="0">
                          <a:solidFill>
                            <a:srgbClr val="1F2937"/>
                          </a:solidFill>
                        </a:rPr>
                        <a:t>제안합니다. </a:t>
                      </a:r>
                      <a:pPr indent="0" marL="0">
                        <a:buNone/>
                      </a:pPr>
                      <a:r>
                        <a:rPr lang="en-US" sz="1100" dirty="0">
                          <a:solidFill>
                            <a:srgbClr val="1F2937"/>
                          </a:solidFill>
                        </a:rPr>
                        <a:t>헤더 </a:t>
                      </a:r>
                      <a:pPr indent="0" marL="0">
                        <a:buNone/>
                      </a:pPr>
                      <a:r>
                        <a:rPr lang="en-US" sz="1100" dirty="0">
                          <a:solidFill>
                            <a:srgbClr val="1F2937"/>
                          </a:solidFill>
                        </a:rPr>
                        <a:t>이름과 </a:t>
                      </a:r>
                      <a:pPr indent="0" marL="0">
                        <a:buNone/>
                      </a:pPr>
                      <a:r>
                        <a:rPr lang="en-US" sz="1100" dirty="0">
                          <a:solidFill>
                            <a:srgbClr val="1F2937"/>
                          </a:solidFill>
                        </a:rPr>
                        <a:t>보존 </a:t>
                      </a:r>
                      <a:pPr indent="0" marL="0">
                        <a:buNone/>
                      </a:pPr>
                      <a:r>
                        <a:rPr lang="en-US" sz="1100" dirty="0">
                          <a:solidFill>
                            <a:srgbClr val="1F2937"/>
                          </a:solidFill>
                        </a:rPr>
                        <a:t>기간은 </a:t>
                      </a:r>
                      <a:pPr indent="0" marL="0">
                        <a:buNone/>
                      </a:pPr>
                      <a:r>
                        <a:rPr lang="en-US" sz="1100" dirty="0">
                          <a:solidFill>
                            <a:srgbClr val="1F2937"/>
                          </a:solidFill>
                        </a:rPr>
                        <a:t>구현 </a:t>
                      </a:r>
                      <a:pPr indent="0" marL="0">
                        <a:buNone/>
                      </a:pPr>
                      <a:r>
                        <a:rPr lang="en-US" sz="1100" dirty="0">
                          <a:solidFill>
                            <a:srgbClr val="1F2937"/>
                          </a:solidFill>
                        </a:rPr>
                        <a:t>확정 </a:t>
                      </a:r>
                      <a:pPr indent="0" marL="0">
                        <a:buNone/>
                      </a:pPr>
                      <a:r>
                        <a:rPr lang="en-US" sz="1100" dirty="0">
                          <a:solidFill>
                            <a:srgbClr val="1F2937"/>
                          </a:solidFill>
                        </a:rPr>
                        <a:t>필요입니다.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시간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API </a:t>
                      </a:r>
                      <a:pPr indent="0" marL="0">
                        <a:buNone/>
                      </a:pPr>
                      <a:r>
                        <a:rPr lang="en-US" sz="1100" dirty="0">
                          <a:solidFill>
                            <a:srgbClr val="1F2937"/>
                          </a:solidFill>
                        </a:rPr>
                        <a:t>시각 </a:t>
                      </a:r>
                      <a:pPr indent="0" marL="0">
                        <a:buNone/>
                      </a:pPr>
                      <a:r>
                        <a:rPr lang="en-US" sz="1100" dirty="0">
                          <a:solidFill>
                            <a:srgbClr val="1F2937"/>
                          </a:solidFill>
                        </a:rPr>
                        <a:t>값은 </a:t>
                      </a:r>
                      <a:pPr indent="0" marL="0">
                        <a:buNone/>
                      </a:pPr>
                      <a:r>
                        <a:rPr lang="en-US" sz="1100" dirty="0">
                          <a:solidFill>
                            <a:srgbClr val="1F2937"/>
                          </a:solidFill>
                        </a:rPr>
                        <a:t>ISO </a:t>
                      </a:r>
                      <a:pPr indent="0" marL="0">
                        <a:buNone/>
                      </a:pPr>
                      <a:r>
                        <a:rPr lang="en-US" sz="1100" dirty="0">
                          <a:solidFill>
                            <a:srgbClr val="1F2937"/>
                          </a:solidFill>
                        </a:rPr>
                        <a:t>8601 </a:t>
                      </a:r>
                      <a:pPr indent="0" marL="0">
                        <a:buNone/>
                      </a:pPr>
                      <a:r>
                        <a:rPr lang="en-US" sz="1100" dirty="0">
                          <a:solidFill>
                            <a:srgbClr val="1F2937"/>
                          </a:solidFill>
                        </a:rPr>
                        <a:t>형식의 </a:t>
                      </a:r>
                      <a:pPr indent="0" marL="0">
                        <a:buNone/>
                      </a:pPr>
                      <a:r>
                        <a:rPr lang="en-US" sz="1100" dirty="0">
                          <a:solidFill>
                            <a:srgbClr val="1F2937"/>
                          </a:solidFill>
                        </a:rPr>
                        <a:t>UTC </a:t>
                      </a:r>
                      <a:pPr indent="0" marL="0">
                        <a:buNone/>
                      </a:pPr>
                      <a:r>
                        <a:rPr lang="en-US" sz="1100" dirty="0">
                          <a:solidFill>
                            <a:srgbClr val="1F2937"/>
                          </a:solidFill>
                        </a:rPr>
                        <a:t>시각 </a:t>
                      </a:r>
                      <a:pPr indent="0" marL="0">
                        <a:buNone/>
                      </a:pPr>
                      <a:r>
                        <a:rPr lang="en-US" sz="1100" dirty="0">
                          <a:solidFill>
                            <a:srgbClr val="1F2937"/>
                          </a:solidFill>
                        </a:rPr>
                        <a:t>사용을 </a:t>
                      </a:r>
                      <a:pPr indent="0" marL="0">
                        <a:buNone/>
                      </a:pPr>
                      <a:r>
                        <a:rPr lang="en-US" sz="1100" dirty="0">
                          <a:solidFill>
                            <a:srgbClr val="1F2937"/>
                          </a:solidFill>
                        </a:rPr>
                        <a:t>제안합니다. </a:t>
                      </a:r>
                      <a:pPr indent="0" marL="0">
                        <a:buNone/>
                      </a:pPr>
                      <a:r>
                        <a:rPr lang="en-US" sz="1100" dirty="0">
                          <a:solidFill>
                            <a:srgbClr val="1F2937"/>
                          </a:solidFill>
                        </a:rPr>
                        <a:t>식사 </a:t>
                      </a:r>
                      <a:pPr indent="0" marL="0">
                        <a:buNone/>
                      </a:pPr>
                      <a:r>
                        <a:rPr lang="en-US" sz="1100" dirty="0">
                          <a:solidFill>
                            <a:srgbClr val="1F2937"/>
                          </a:solidFill>
                        </a:rPr>
                        <a:t>날짜는</a:t>
                      </a:r>
                      <a:pPr indent="0" marL="0">
                        <a:buNone/>
                      </a:pPr>
                      <a:r>
                        <a:rPr lang="en-US" sz="1100" dirty="0">
                          <a:solidFill>
                            <a:srgbClr val="1F2937"/>
                          </a:solidFill>
                          <a:latin typeface="Courier New" pitchFamily="34" charset="0"/>
                          <a:ea typeface="Courier New" pitchFamily="34" charset="-122"/>
                          <a:cs typeface="Courier New" pitchFamily="34" charset="-120"/>
                        </a:rPr>
                        <a:t>YYYY-MM-DD</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빈 </a:t>
                      </a:r>
                      <a:pPr indent="0" marL="0">
                        <a:buNone/>
                      </a:pPr>
                      <a:r>
                        <a:rPr lang="en-US" sz="1100" dirty="0">
                          <a:solidFill>
                            <a:srgbClr val="1F2937"/>
                          </a:solidFill>
                        </a:rPr>
                        <a:t>값</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영양 </a:t>
                      </a:r>
                      <a:pPr indent="0" marL="0">
                        <a:buNone/>
                      </a:pPr>
                      <a:r>
                        <a:rPr lang="en-US" sz="1100" dirty="0">
                          <a:solidFill>
                            <a:srgbClr val="1F2937"/>
                          </a:solidFill>
                        </a:rPr>
                        <a:t>정보 </a:t>
                      </a:r>
                      <a:pPr indent="0" marL="0">
                        <a:buNone/>
                      </a:pPr>
                      <a:r>
                        <a:rPr lang="en-US" sz="1100" dirty="0">
                          <a:solidFill>
                            <a:srgbClr val="1F2937"/>
                          </a:solidFill>
                        </a:rPr>
                        <a:t>미입력은</a:t>
                      </a:r>
                      <a:pPr indent="0" marL="0">
                        <a:buNone/>
                      </a:pPr>
                      <a:r>
                        <a:rPr lang="en-US" sz="1100" dirty="0">
                          <a:solidFill>
                            <a:srgbClr val="1F2937"/>
                          </a:solidFill>
                          <a:latin typeface="Courier New" pitchFamily="34" charset="0"/>
                          <a:ea typeface="Courier New" pitchFamily="34" charset="-122"/>
                          <a:cs typeface="Courier New" pitchFamily="34" charset="-120"/>
                        </a:rPr>
                        <a:t>null</a:t>
                      </a:r>
                      <a:pPr indent="0" marL="0">
                        <a:buNone/>
                      </a:pPr>
                      <a:r>
                        <a:rPr lang="en-US" sz="1100" dirty="0">
                          <a:solidFill>
                            <a:srgbClr val="1F2937"/>
                          </a:solidFill>
                        </a:rPr>
                        <a:t>로 </a:t>
                      </a:r>
                      <a:pPr indent="0" marL="0">
                        <a:buNone/>
                      </a:pPr>
                      <a:r>
                        <a:rPr lang="en-US" sz="1100" dirty="0">
                          <a:solidFill>
                            <a:srgbClr val="1F2937"/>
                          </a:solidFill>
                        </a:rPr>
                        <a:t>표현합니다. </a:t>
                      </a:r>
                      <a:pPr indent="0" marL="0">
                        <a:buNone/>
                      </a:pPr>
                      <a:r>
                        <a:rPr lang="en-US" sz="1100" dirty="0">
                          <a:solidFill>
                            <a:srgbClr val="1F2937"/>
                          </a:solidFill>
                        </a:rPr>
                        <a:t>실제 </a:t>
                      </a:r>
                      <a:pPr indent="0" marL="0">
                        <a:buNone/>
                      </a:pPr>
                      <a:r>
                        <a:rPr lang="en-US" sz="1100" dirty="0">
                          <a:solidFill>
                            <a:srgbClr val="1F2937"/>
                          </a:solidFill>
                        </a:rPr>
                        <a:t>값</a:t>
                      </a:r>
                      <a:pPr indent="0" marL="0">
                        <a:buNone/>
                      </a:pPr>
                      <a:r>
                        <a:rPr lang="en-US" sz="1100" dirty="0">
                          <a:solidFill>
                            <a:srgbClr val="1F2937"/>
                          </a:solidFill>
                          <a:latin typeface="Courier New" pitchFamily="34" charset="0"/>
                          <a:ea typeface="Courier New" pitchFamily="34" charset="-122"/>
                          <a:cs typeface="Courier New" pitchFamily="34" charset="-120"/>
                        </a:rPr>
                        <a:t>0</a:t>
                      </a:r>
                      <a:pPr indent="0" marL="0">
                        <a:buNone/>
                      </a:pPr>
                      <a:r>
                        <a:rPr lang="en-US" sz="1100" dirty="0">
                          <a:solidFill>
                            <a:srgbClr val="1F2937"/>
                          </a:solidFill>
                        </a:rPr>
                        <a:t>과 </a:t>
                      </a:r>
                      <a:pPr indent="0" marL="0">
                        <a:buNone/>
                      </a:pPr>
                      <a:r>
                        <a:rPr lang="en-US" sz="1100" dirty="0">
                          <a:solidFill>
                            <a:srgbClr val="1F2937"/>
                          </a:solidFill>
                        </a:rPr>
                        <a:t>구분합니다.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개인정보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검색어는 </a:t>
                      </a:r>
                      <a:pPr indent="0" marL="0">
                        <a:buNone/>
                      </a:pPr>
                      <a:r>
                        <a:rPr lang="en-US" sz="1100" dirty="0">
                          <a:solidFill>
                            <a:srgbClr val="1F2937"/>
                          </a:solidFill>
                        </a:rPr>
                        <a:t>외부 </a:t>
                      </a:r>
                      <a:pPr indent="0" marL="0">
                        <a:buNone/>
                      </a:pPr>
                      <a:r>
                        <a:rPr lang="en-US" sz="1100" dirty="0">
                          <a:solidFill>
                            <a:srgbClr val="1F2937"/>
                          </a:solidFill>
                        </a:rPr>
                        <a:t>식품 </a:t>
                      </a:r>
                      <a:pPr indent="0" marL="0">
                        <a:buNone/>
                      </a:pPr>
                      <a:r>
                        <a:rPr lang="en-US" sz="1100" dirty="0">
                          <a:solidFill>
                            <a:srgbClr val="1F2937"/>
                          </a:solidFill>
                        </a:rPr>
                        <a:t>공급자에게 </a:t>
                      </a:r>
                      <a:pPr indent="0" marL="0">
                        <a:buNone/>
                      </a:pPr>
                      <a:r>
                        <a:rPr lang="en-US" sz="1100" dirty="0">
                          <a:solidFill>
                            <a:srgbClr val="1F2937"/>
                          </a:solidFill>
                        </a:rPr>
                        <a:t>전달될 </a:t>
                      </a:r>
                      <a:pPr indent="0" marL="0">
                        <a:buNone/>
                      </a:pPr>
                      <a:r>
                        <a:rPr lang="en-US" sz="1100" dirty="0">
                          <a:solidFill>
                            <a:srgbClr val="1F2937"/>
                          </a:solidFill>
                        </a:rPr>
                        <a:t>수 </a:t>
                      </a:r>
                      <a:pPr indent="0" marL="0">
                        <a:buNone/>
                      </a:pPr>
                      <a:r>
                        <a:rPr lang="en-US" sz="1100" dirty="0">
                          <a:solidFill>
                            <a:srgbClr val="1F2937"/>
                          </a:solidFill>
                        </a:rPr>
                        <a:t>있습니다. </a:t>
                      </a:r>
                      <a:pPr indent="0" marL="0">
                        <a:buNone/>
                      </a:pPr>
                      <a:r>
                        <a:rPr lang="en-US" sz="1100" dirty="0">
                          <a:solidFill>
                            <a:srgbClr val="1F2937"/>
                          </a:solidFill>
                        </a:rPr>
                        <a:t>분석 </a:t>
                      </a:r>
                      <a:pPr indent="0" marL="0">
                        <a:buNone/>
                      </a:pPr>
                      <a:r>
                        <a:rPr lang="en-US" sz="1100" dirty="0">
                          <a:solidFill>
                            <a:srgbClr val="1F2937"/>
                          </a:solidFill>
                        </a:rPr>
                        <a:t>이벤트·일반 </a:t>
                      </a:r>
                      <a:pPr indent="0" marL="0">
                        <a:buNone/>
                      </a:pPr>
                      <a:r>
                        <a:rPr lang="en-US" sz="1100" dirty="0">
                          <a:solidFill>
                            <a:srgbClr val="1F2937"/>
                          </a:solidFill>
                        </a:rPr>
                        <a:t>오류 </a:t>
                      </a:r>
                      <a:pPr indent="0" marL="0">
                        <a:buNone/>
                      </a:pPr>
                      <a:r>
                        <a:rPr lang="en-US" sz="1100" dirty="0">
                          <a:solidFill>
                            <a:srgbClr val="1F2937"/>
                          </a:solidFill>
                        </a:rPr>
                        <a:t>로그에는 </a:t>
                      </a:r>
                      <a:pPr indent="0" marL="0">
                        <a:buNone/>
                      </a:pPr>
                      <a:r>
                        <a:rPr lang="en-US" sz="1100" dirty="0">
                          <a:solidFill>
                            <a:srgbClr val="1F2937"/>
                          </a:solidFill>
                        </a:rPr>
                        <a:t>저장하지 </a:t>
                      </a:r>
                      <a:pPr indent="0" marL="0">
                        <a:buNone/>
                      </a:pPr>
                      <a:r>
                        <a:rPr lang="en-US" sz="1100" dirty="0">
                          <a:solidFill>
                            <a:srgbClr val="1F2937"/>
                          </a:solidFill>
                        </a:rPr>
                        <a:t>않습니다.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4.1 요청 규약</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중복 생성 방지 헤더 예시</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4.1 요청 규약</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Idempotency-Key: 0192d6ac-6f7d-7458-9e1c-9d72a8b4c005</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4.1 요청 규약</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요청 식별값의 저장 기간과 재사용 조건은 추정 필요입니다. 같은 사용자가 같은 키로 같은 요청을 재전송하면 기존 처리 결과를 반환하는 방식을 제안합니다.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4.2 응답 규약</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모든 응답에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success</a:t>
            </a:r>
            <a:pPr indent="0" marL="0">
              <a:spcAft>
                <a:spcPts val="800"/>
              </a:spcAft>
              <a:buNone/>
            </a:pPr>
            <a:r>
              <a:rPr lang="en-US" sz="1600" dirty="0">
                <a:solidFill>
                  <a:srgbClr val="4B5563"/>
                </a:solidFill>
              </a:rPr>
              <a:t>와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meta</a:t>
            </a:r>
            <a:pPr indent="0" marL="0">
              <a:spcAft>
                <a:spcPts val="800"/>
              </a:spcAft>
              <a:buNone/>
            </a:pPr>
            <a:r>
              <a:rPr lang="en-US" sz="1600" dirty="0">
                <a:solidFill>
                  <a:srgbClr val="4B5563"/>
                </a:solidFill>
              </a:rPr>
              <a:t>를 포함하는 공통 응답 틀을 </a:t>
            </a:r>
            <a:pPr indent="0" marL="0">
              <a:spcAft>
                <a:spcPts val="800"/>
              </a:spcAft>
              <a:buNone/>
            </a:pPr>
            <a:r>
              <a:rPr lang="en-US" sz="1600" b="1" dirty="0">
                <a:solidFill>
                  <a:srgbClr val="4B5563"/>
                </a:solidFill>
              </a:rPr>
              <a:t>설계 제안</a:t>
            </a:r>
            <a:pPr indent="0" marL="0">
              <a:spcAft>
                <a:spcPts val="800"/>
              </a:spcAft>
              <a:buNone/>
            </a:pPr>
            <a:r>
              <a:rPr lang="en-US" sz="1600" dirty="0">
                <a:solidFill>
                  <a:srgbClr val="4B5563"/>
                </a:solidFill>
              </a:rPr>
              <a:t>으로 사용합니다. 목록 조회 응답에는 페이지 정보가 필요한 경우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pagination</a:t>
            </a:r>
            <a:pPr indent="0" marL="0">
              <a:spcAft>
                <a:spcPts val="800"/>
              </a:spcAft>
              <a:buNone/>
            </a:pPr>
            <a:r>
              <a:rPr lang="en-US" sz="1600" dirty="0">
                <a:solidFill>
                  <a:srgbClr val="4B5563"/>
                </a:solidFill>
              </a:rPr>
              <a:t>을 추가합니다. 일부 응답의 실제 필드 구성은 구현 단계에서 확정해야 합니다.</a:t>
            </a:r>
            <a:endParaRPr lang="en-US" sz="1600" dirty="0"/>
          </a:p>
          <a:p>
            <a:pPr indent="0" marL="0">
              <a:spcAft>
                <a:spcPts val="800"/>
              </a:spcAft>
              <a:buNone/>
            </a:pPr>
            <a:r>
              <a:rPr lang="en-US" sz="1600" b="1" dirty="0">
                <a:solidFill>
                  <a:srgbClr val="4B5563"/>
                </a:solidFill>
              </a:rPr>
              <a:t>성공 응답 예시</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4.2 응답 규약</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"success": true,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"data":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"id": "mei_0192d6ad-ea1a-7e33-9255-83efaa988210"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"timestamp": "2026-10-01T02:10:00Z",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"requestId": "req_0192d6ae-01ca-7b2f-84d6-1cfc7023af13"</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4.2 응답 규약</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오류 응답 예시</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4.2 응답 규약</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"success": false,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"error":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"code": "VALIDATION_ERROR",</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"message": "요청 내용을 확인해 주세요.",</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"details":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"field": "consumedDate",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"message": "미래 날짜는 식사 날짜로 지정할 수 없습니다."</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"timestamp": "2026-10-01T02:10:00Z",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"requestId": "req_0192d6ae-01ca-7b2f-84d6-1cfc7023af13"</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4.2 응답 규약</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오류 응답에 검색어, 음식명, 영양값, 자유 입력 내용을 자동으로 포함하지 않습니다.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4.3 HTTP 상태 코드 (1/2)</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949569"/>
                <a:gridCol w="3640015"/>
                <a:gridCol w="3640015"/>
              </a:tblGrid>
              <a:tr h="0">
                <a:tc>
                  <a:txBody>
                    <a:bodyPr/>
                    <a:lstStyle/>
                    <a:p>
                      <a:pPr indent="0" marL="0">
                        <a:buNone/>
                      </a:pPr>
                      <a:r>
                        <a:rPr lang="en-US" sz="1200" b="1" dirty="0">
                          <a:solidFill>
                            <a:srgbClr val="FFFFFF"/>
                          </a:solidFill>
                        </a:rPr>
                        <a:t>코드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설명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사용 </a:t>
                      </a:r>
                      <a:pPr indent="0" marL="0">
                        <a:buNone/>
                      </a:pPr>
                      <a:r>
                        <a:rPr lang="en-US" sz="1200" b="1" dirty="0">
                          <a:solidFill>
                            <a:srgbClr val="FFFFFF"/>
                          </a:solidFill>
                        </a:rPr>
                        <a:t>예</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200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요청 </a:t>
                      </a:r>
                      <a:pPr indent="0" marL="0">
                        <a:buNone/>
                      </a:pPr>
                      <a:r>
                        <a:rPr lang="en-US" sz="1100" dirty="0">
                          <a:solidFill>
                            <a:srgbClr val="1F2937"/>
                          </a:solidFill>
                        </a:rPr>
                        <a:t>성공</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조회·수정·인증 </a:t>
                      </a:r>
                      <a:pPr indent="0" marL="0">
                        <a:buNone/>
                      </a:pPr>
                      <a:r>
                        <a:rPr lang="en-US" sz="1100" dirty="0">
                          <a:solidFill>
                            <a:srgbClr val="1F2937"/>
                          </a:solidFill>
                        </a:rPr>
                        <a:t>토큰 </a:t>
                      </a:r>
                      <a:pPr indent="0" marL="0">
                        <a:buNone/>
                      </a:pPr>
                      <a:r>
                        <a:rPr lang="en-US" sz="1100" dirty="0">
                          <a:solidFill>
                            <a:srgbClr val="1F2937"/>
                          </a:solidFill>
                        </a:rPr>
                        <a:t>발급</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201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자료 </a:t>
                      </a:r>
                      <a:pPr indent="0" marL="0">
                        <a:buNone/>
                      </a:pPr>
                      <a:r>
                        <a:rPr lang="en-US" sz="1100" dirty="0">
                          <a:solidFill>
                            <a:srgbClr val="1F2937"/>
                          </a:solidFill>
                        </a:rPr>
                        <a:t>생성 </a:t>
                      </a:r>
                      <a:pPr indent="0" marL="0">
                        <a:buNone/>
                      </a:pPr>
                      <a:r>
                        <a:rPr lang="en-US" sz="1100" dirty="0">
                          <a:solidFill>
                            <a:srgbClr val="1F2937"/>
                          </a:solidFill>
                        </a:rPr>
                        <a:t>성공</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식사 </a:t>
                      </a:r>
                      <a:pPr indent="0" marL="0">
                        <a:buNone/>
                      </a:pPr>
                      <a:r>
                        <a:rPr lang="en-US" sz="1100" dirty="0">
                          <a:solidFill>
                            <a:srgbClr val="1F2937"/>
                          </a:solidFill>
                        </a:rPr>
                        <a:t>항목·개인 </a:t>
                      </a:r>
                      <a:pPr indent="0" marL="0">
                        <a:buNone/>
                      </a:pPr>
                      <a:r>
                        <a:rPr lang="en-US" sz="1100" dirty="0">
                          <a:solidFill>
                            <a:srgbClr val="1F2937"/>
                          </a:solidFill>
                        </a:rPr>
                        <a:t>음식·즐겨찾기 </a:t>
                      </a:r>
                      <a:pPr indent="0" marL="0">
                        <a:buNone/>
                      </a:pPr>
                      <a:r>
                        <a:rPr lang="en-US" sz="1100" dirty="0">
                          <a:solidFill>
                            <a:srgbClr val="1F2937"/>
                          </a:solidFill>
                        </a:rPr>
                        <a:t>생성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202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처리를 </a:t>
                      </a:r>
                      <a:pPr indent="0" marL="0">
                        <a:buNone/>
                      </a:pPr>
                      <a:r>
                        <a:rPr lang="en-US" sz="1100" dirty="0">
                          <a:solidFill>
                            <a:srgbClr val="1F2937"/>
                          </a:solidFill>
                        </a:rPr>
                        <a:t>접수했으나 </a:t>
                      </a:r>
                      <a:pPr indent="0" marL="0">
                        <a:buNone/>
                      </a:pPr>
                      <a:r>
                        <a:rPr lang="en-US" sz="1100" dirty="0">
                          <a:solidFill>
                            <a:srgbClr val="1F2937"/>
                          </a:solidFill>
                        </a:rPr>
                        <a:t>후속 </a:t>
                      </a:r>
                      <a:pPr indent="0" marL="0">
                        <a:buNone/>
                      </a:pPr>
                      <a:r>
                        <a:rPr lang="en-US" sz="1100" dirty="0">
                          <a:solidFill>
                            <a:srgbClr val="1F2937"/>
                          </a:solidFill>
                        </a:rPr>
                        <a:t>처리가 </a:t>
                      </a:r>
                      <a:pPr indent="0" marL="0">
                        <a:buNone/>
                      </a:pPr>
                      <a:r>
                        <a:rPr lang="en-US" sz="1100" dirty="0">
                          <a:solidFill>
                            <a:srgbClr val="1F2937"/>
                          </a:solidFill>
                        </a:rPr>
                        <a:t>진행 </a:t>
                      </a:r>
                      <a:pPr indent="0" marL="0">
                        <a:buNone/>
                      </a:pPr>
                      <a:r>
                        <a:rPr lang="en-US" sz="1100" dirty="0">
                          <a:solidFill>
                            <a:srgbClr val="1F2937"/>
                          </a:solidFill>
                        </a:rPr>
                        <a:t>중</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계정 </a:t>
                      </a:r>
                      <a:pPr indent="0" marL="0">
                        <a:buNone/>
                      </a:pPr>
                      <a:r>
                        <a:rPr lang="en-US" sz="1100" dirty="0">
                          <a:solidFill>
                            <a:srgbClr val="1F2937"/>
                          </a:solidFill>
                        </a:rPr>
                        <a:t>삭제 </a:t>
                      </a:r>
                      <a:pPr indent="0" marL="0">
                        <a:buNone/>
                      </a:pPr>
                      <a:r>
                        <a:rPr lang="en-US" sz="1100" dirty="0">
                          <a:solidFill>
                            <a:srgbClr val="1F2937"/>
                          </a:solidFill>
                        </a:rPr>
                        <a:t>요청 </a:t>
                      </a:r>
                      <a:pPr indent="0" marL="0">
                        <a:buNone/>
                      </a:pPr>
                      <a:r>
                        <a:rPr lang="en-US" sz="1100" dirty="0">
                          <a:solidFill>
                            <a:srgbClr val="1F2937"/>
                          </a:solidFill>
                        </a:rPr>
                        <a:t>접수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204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삭제 </a:t>
                      </a:r>
                      <a:pPr indent="0" marL="0">
                        <a:buNone/>
                      </a:pPr>
                      <a:r>
                        <a:rPr lang="en-US" sz="1100" dirty="0">
                          <a:solidFill>
                            <a:srgbClr val="1F2937"/>
                          </a:solidFill>
                        </a:rPr>
                        <a:t>성공, </a:t>
                      </a:r>
                      <a:pPr indent="0" marL="0">
                        <a:buNone/>
                      </a:pPr>
                      <a:r>
                        <a:rPr lang="en-US" sz="1100" dirty="0">
                          <a:solidFill>
                            <a:srgbClr val="1F2937"/>
                          </a:solidFill>
                        </a:rPr>
                        <a:t>응답 </a:t>
                      </a:r>
                      <a:pPr indent="0" marL="0">
                        <a:buNone/>
                      </a:pPr>
                      <a:r>
                        <a:rPr lang="en-US" sz="1100" dirty="0">
                          <a:solidFill>
                            <a:srgbClr val="1F2937"/>
                          </a:solidFill>
                        </a:rPr>
                        <a:t>본문 </a:t>
                      </a:r>
                      <a:pPr indent="0" marL="0">
                        <a:buNone/>
                      </a:pPr>
                      <a:r>
                        <a:rPr lang="en-US" sz="1100" dirty="0">
                          <a:solidFill>
                            <a:srgbClr val="1F2937"/>
                          </a:solidFill>
                        </a:rPr>
                        <a:t>없음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개별 </a:t>
                      </a:r>
                      <a:pPr indent="0" marL="0">
                        <a:buNone/>
                      </a:pPr>
                      <a:r>
                        <a:rPr lang="en-US" sz="1100" dirty="0">
                          <a:solidFill>
                            <a:srgbClr val="1F2937"/>
                          </a:solidFill>
                        </a:rPr>
                        <a:t>식사 </a:t>
                      </a:r>
                      <a:pPr indent="0" marL="0">
                        <a:buNone/>
                      </a:pPr>
                      <a:r>
                        <a:rPr lang="en-US" sz="1100" dirty="0">
                          <a:solidFill>
                            <a:srgbClr val="1F2937"/>
                          </a:solidFill>
                        </a:rPr>
                        <a:t>기록 </a:t>
                      </a:r>
                      <a:pPr indent="0" marL="0">
                        <a:buNone/>
                      </a:pPr>
                      <a:r>
                        <a:rPr lang="en-US" sz="1100" dirty="0">
                          <a:solidFill>
                            <a:srgbClr val="1F2937"/>
                          </a:solidFill>
                        </a:rPr>
                        <a:t>삭제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400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요청 </a:t>
                      </a:r>
                      <a:pPr indent="0" marL="0">
                        <a:buNone/>
                      </a:pPr>
                      <a:r>
                        <a:rPr lang="en-US" sz="1100" dirty="0">
                          <a:solidFill>
                            <a:srgbClr val="1F2937"/>
                          </a:solidFill>
                        </a:rPr>
                        <a:t>형식 </a:t>
                      </a:r>
                      <a:pPr indent="0" marL="0">
                        <a:buNone/>
                      </a:pPr>
                      <a:r>
                        <a:rPr lang="en-US" sz="1100" dirty="0">
                          <a:solidFill>
                            <a:srgbClr val="1F2937"/>
                          </a:solidFill>
                        </a:rPr>
                        <a:t>또는 </a:t>
                      </a:r>
                      <a:pPr indent="0" marL="0">
                        <a:buNone/>
                      </a:pPr>
                      <a:r>
                        <a:rPr lang="en-US" sz="1100" dirty="0">
                          <a:solidFill>
                            <a:srgbClr val="1F2937"/>
                          </a:solidFill>
                        </a:rPr>
                        <a:t>매개변수 </a:t>
                      </a:r>
                      <a:pPr indent="0" marL="0">
                        <a:buNone/>
                      </a:pPr>
                      <a:r>
                        <a:rPr lang="en-US" sz="1100" dirty="0">
                          <a:solidFill>
                            <a:srgbClr val="1F2937"/>
                          </a:solidFill>
                        </a:rPr>
                        <a:t>오류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날짜 </a:t>
                      </a:r>
                      <a:pPr indent="0" marL="0">
                        <a:buNone/>
                      </a:pPr>
                      <a:r>
                        <a:rPr lang="en-US" sz="1100" dirty="0">
                          <a:solidFill>
                            <a:srgbClr val="1F2937"/>
                          </a:solidFill>
                        </a:rPr>
                        <a:t>형식 </a:t>
                      </a:r>
                      <a:pPr indent="0" marL="0">
                        <a:buNone/>
                      </a:pPr>
                      <a:r>
                        <a:rPr lang="en-US" sz="1100" dirty="0">
                          <a:solidFill>
                            <a:srgbClr val="1F2937"/>
                          </a:solidFill>
                        </a:rPr>
                        <a:t>오류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401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인증 </a:t>
                      </a:r>
                      <a:pPr indent="0" marL="0">
                        <a:buNone/>
                      </a:pPr>
                      <a:r>
                        <a:rPr lang="en-US" sz="1100" dirty="0">
                          <a:solidFill>
                            <a:srgbClr val="1F2937"/>
                          </a:solidFill>
                        </a:rPr>
                        <a:t>실패 </a:t>
                      </a:r>
                      <a:pPr indent="0" marL="0">
                        <a:buNone/>
                      </a:pPr>
                      <a:r>
                        <a:rPr lang="en-US" sz="1100" dirty="0">
                          <a:solidFill>
                            <a:srgbClr val="1F2937"/>
                          </a:solidFill>
                        </a:rPr>
                        <a:t>또는 </a:t>
                      </a:r>
                      <a:pPr indent="0" marL="0">
                        <a:buNone/>
                      </a:pPr>
                      <a:r>
                        <a:rPr lang="en-US" sz="1100" dirty="0">
                          <a:solidFill>
                            <a:srgbClr val="1F2937"/>
                          </a:solidFill>
                        </a:rPr>
                        <a:t>토큰 </a:t>
                      </a:r>
                      <a:pPr indent="0" marL="0">
                        <a:buNone/>
                      </a:pPr>
                      <a:r>
                        <a:rPr lang="en-US" sz="1100" dirty="0">
                          <a:solidFill>
                            <a:srgbClr val="1F2937"/>
                          </a:solidFill>
                        </a:rPr>
                        <a:t>만료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인증 </a:t>
                      </a:r>
                      <a:pPr indent="0" marL="0">
                        <a:buNone/>
                      </a:pPr>
                      <a:r>
                        <a:rPr lang="en-US" sz="1100" dirty="0">
                          <a:solidFill>
                            <a:srgbClr val="1F2937"/>
                          </a:solidFill>
                        </a:rPr>
                        <a:t>토큰 </a:t>
                      </a:r>
                      <a:pPr indent="0" marL="0">
                        <a:buNone/>
                      </a:pPr>
                      <a:r>
                        <a:rPr lang="en-US" sz="1100" dirty="0">
                          <a:solidFill>
                            <a:srgbClr val="1F2937"/>
                          </a:solidFill>
                        </a:rPr>
                        <a:t>누락·유효하지 </a:t>
                      </a:r>
                      <a:pPr indent="0" marL="0">
                        <a:buNone/>
                      </a:pPr>
                      <a:r>
                        <a:rPr lang="en-US" sz="1100" dirty="0">
                          <a:solidFill>
                            <a:srgbClr val="1F2937"/>
                          </a:solidFill>
                        </a:rPr>
                        <a:t>않음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403</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이용 </a:t>
                      </a:r>
                      <a:pPr indent="0" marL="0">
                        <a:buNone/>
                      </a:pPr>
                      <a:r>
                        <a:rPr lang="en-US" sz="1100" dirty="0">
                          <a:solidFill>
                            <a:srgbClr val="1F2937"/>
                          </a:solidFill>
                        </a:rPr>
                        <a:t>권한 </a:t>
                      </a:r>
                      <a:pPr indent="0" marL="0">
                        <a:buNone/>
                      </a:pPr>
                      <a:r>
                        <a:rPr lang="en-US" sz="1100" dirty="0">
                          <a:solidFill>
                            <a:srgbClr val="1F2937"/>
                          </a:solidFill>
                        </a:rPr>
                        <a:t>없음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계정 </a:t>
                      </a:r>
                      <a:pPr indent="0" marL="0">
                        <a:buNone/>
                      </a:pPr>
                      <a:r>
                        <a:rPr lang="en-US" sz="1100" dirty="0">
                          <a:solidFill>
                            <a:srgbClr val="1F2937"/>
                          </a:solidFill>
                        </a:rPr>
                        <a:t>상태상 </a:t>
                      </a:r>
                      <a:pPr indent="0" marL="0">
                        <a:buNone/>
                      </a:pPr>
                      <a:r>
                        <a:rPr lang="en-US" sz="1100" dirty="0">
                          <a:solidFill>
                            <a:srgbClr val="1F2937"/>
                          </a:solidFill>
                        </a:rPr>
                        <a:t>요청 </a:t>
                      </a:r>
                      <a:pPr indent="0" marL="0">
                        <a:buNone/>
                      </a:pPr>
                      <a:r>
                        <a:rPr lang="en-US" sz="1100" dirty="0">
                          <a:solidFill>
                            <a:srgbClr val="1F2937"/>
                          </a:solidFill>
                        </a:rPr>
                        <a:t>제한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404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자료 </a:t>
                      </a:r>
                      <a:pPr indent="0" marL="0">
                        <a:buNone/>
                      </a:pPr>
                      <a:r>
                        <a:rPr lang="en-US" sz="1100" dirty="0">
                          <a:solidFill>
                            <a:srgbClr val="1F2937"/>
                          </a:solidFill>
                        </a:rPr>
                        <a:t>없음 </a:t>
                      </a:r>
                      <a:pPr indent="0" marL="0">
                        <a:buNone/>
                      </a:pPr>
                      <a:r>
                        <a:rPr lang="en-US" sz="1100" dirty="0">
                          <a:solidFill>
                            <a:srgbClr val="1F2937"/>
                          </a:solidFill>
                        </a:rPr>
                        <a:t>또는 </a:t>
                      </a:r>
                      <a:pPr indent="0" marL="0">
                        <a:buNone/>
                      </a:pPr>
                      <a:r>
                        <a:rPr lang="en-US" sz="1100" dirty="0">
                          <a:solidFill>
                            <a:srgbClr val="1F2937"/>
                          </a:solidFill>
                        </a:rPr>
                        <a:t>요청 </a:t>
                      </a:r>
                      <a:pPr indent="0" marL="0">
                        <a:buNone/>
                      </a:pPr>
                      <a:r>
                        <a:rPr lang="en-US" sz="1100" dirty="0">
                          <a:solidFill>
                            <a:srgbClr val="1F2937"/>
                          </a:solidFill>
                        </a:rPr>
                        <a:t>사용자의 </a:t>
                      </a:r>
                      <a:pPr indent="0" marL="0">
                        <a:buNone/>
                      </a:pPr>
                      <a:r>
                        <a:rPr lang="en-US" sz="1100" dirty="0">
                          <a:solidFill>
                            <a:srgbClr val="1F2937"/>
                          </a:solidFill>
                        </a:rPr>
                        <a:t>소유가 </a:t>
                      </a:r>
                      <a:pPr indent="0" marL="0">
                        <a:buNone/>
                      </a:pPr>
                      <a:r>
                        <a:rPr lang="en-US" sz="1100" dirty="0">
                          <a:solidFill>
                            <a:srgbClr val="1F2937"/>
                          </a:solidFill>
                        </a:rPr>
                        <a:t>아님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식사 </a:t>
                      </a:r>
                      <a:pPr indent="0" marL="0">
                        <a:buNone/>
                      </a:pPr>
                      <a:r>
                        <a:rPr lang="en-US" sz="1100" dirty="0">
                          <a:solidFill>
                            <a:srgbClr val="1F2937"/>
                          </a:solidFill>
                        </a:rPr>
                        <a:t>항목 </a:t>
                      </a:r>
                      <a:pPr indent="0" marL="0">
                        <a:buNone/>
                      </a:pPr>
                      <a:r>
                        <a:rPr lang="en-US" sz="1100" dirty="0">
                          <a:solidFill>
                            <a:srgbClr val="1F2937"/>
                          </a:solidFill>
                        </a:rPr>
                        <a:t>조회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409</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현재 </a:t>
                      </a:r>
                      <a:pPr indent="0" marL="0">
                        <a:buNone/>
                      </a:pPr>
                      <a:r>
                        <a:rPr lang="en-US" sz="1100" dirty="0">
                          <a:solidFill>
                            <a:srgbClr val="1F2937"/>
                          </a:solidFill>
                        </a:rPr>
                        <a:t>상태와 </a:t>
                      </a:r>
                      <a:pPr indent="0" marL="0">
                        <a:buNone/>
                      </a:pPr>
                      <a:r>
                        <a:rPr lang="en-US" sz="1100" dirty="0">
                          <a:solidFill>
                            <a:srgbClr val="1F2937"/>
                          </a:solidFill>
                        </a:rPr>
                        <a:t>충돌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중복 </a:t>
                      </a:r>
                      <a:pPr indent="0" marL="0">
                        <a:buNone/>
                      </a:pPr>
                      <a:r>
                        <a:rPr lang="en-US" sz="1100" dirty="0">
                          <a:solidFill>
                            <a:srgbClr val="1F2937"/>
                          </a:solidFill>
                        </a:rPr>
                        <a:t>즐겨찾기, </a:t>
                      </a:r>
                      <a:pPr indent="0" marL="0">
                        <a:buNone/>
                      </a:pPr>
                      <a:r>
                        <a:rPr lang="en-US" sz="1100" dirty="0">
                          <a:solidFill>
                            <a:srgbClr val="1F2937"/>
                          </a:solidFill>
                        </a:rPr>
                        <a:t>삭제 </a:t>
                      </a:r>
                      <a:pPr indent="0" marL="0">
                        <a:buNone/>
                      </a:pPr>
                      <a:r>
                        <a:rPr lang="en-US" sz="1100" dirty="0">
                          <a:solidFill>
                            <a:srgbClr val="1F2937"/>
                          </a:solidFill>
                        </a:rPr>
                        <a:t>진행 </a:t>
                      </a:r>
                      <a:pPr indent="0" marL="0">
                        <a:buNone/>
                      </a:pPr>
                      <a:r>
                        <a:rPr lang="en-US" sz="1100" dirty="0">
                          <a:solidFill>
                            <a:srgbClr val="1F2937"/>
                          </a:solidFill>
                        </a:rPr>
                        <a:t>중 </a:t>
                      </a:r>
                      <a:pPr indent="0" marL="0">
                        <a:buNone/>
                      </a:pPr>
                      <a:r>
                        <a:rPr lang="en-US" sz="1100" dirty="0">
                          <a:solidFill>
                            <a:srgbClr val="1F2937"/>
                          </a:solidFill>
                        </a:rPr>
                        <a:t>계정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422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자료 </a:t>
                      </a:r>
                      <a:pPr indent="0" marL="0">
                        <a:buNone/>
                      </a:pPr>
                      <a:r>
                        <a:rPr lang="en-US" sz="1100" dirty="0">
                          <a:solidFill>
                            <a:srgbClr val="1F2937"/>
                          </a:solidFill>
                        </a:rPr>
                        <a:t>형식은 </a:t>
                      </a:r>
                      <a:pPr indent="0" marL="0">
                        <a:buNone/>
                      </a:pPr>
                      <a:r>
                        <a:rPr lang="en-US" sz="1100" dirty="0">
                          <a:solidFill>
                            <a:srgbClr val="1F2937"/>
                          </a:solidFill>
                        </a:rPr>
                        <a:t>맞지만 </a:t>
                      </a:r>
                      <a:pPr indent="0" marL="0">
                        <a:buNone/>
                      </a:pPr>
                      <a:r>
                        <a:rPr lang="en-US" sz="1100" dirty="0">
                          <a:solidFill>
                            <a:srgbClr val="1F2937"/>
                          </a:solidFill>
                        </a:rPr>
                        <a:t>값 </a:t>
                      </a:r>
                      <a:pPr indent="0" marL="0">
                        <a:buNone/>
                      </a:pPr>
                      <a:r>
                        <a:rPr lang="en-US" sz="1100" dirty="0">
                          <a:solidFill>
                            <a:srgbClr val="1F2937"/>
                          </a:solidFill>
                        </a:rPr>
                        <a:t>검증 </a:t>
                      </a:r>
                      <a:pPr indent="0" marL="0">
                        <a:buNone/>
                      </a:pPr>
                      <a:r>
                        <a:rPr lang="en-US" sz="1100" dirty="0">
                          <a:solidFill>
                            <a:srgbClr val="1F2937"/>
                          </a:solidFill>
                        </a:rPr>
                        <a:t>실패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미래 </a:t>
                      </a:r>
                      <a:pPr indent="0" marL="0">
                        <a:buNone/>
                      </a:pPr>
                      <a:r>
                        <a:rPr lang="en-US" sz="1100" dirty="0">
                          <a:solidFill>
                            <a:srgbClr val="1F2937"/>
                          </a:solidFill>
                        </a:rPr>
                        <a:t>식사 </a:t>
                      </a:r>
                      <a:pPr indent="0" marL="0">
                        <a:buNone/>
                      </a:pPr>
                      <a:r>
                        <a:rPr lang="en-US" sz="1100" dirty="0">
                          <a:solidFill>
                            <a:srgbClr val="1F2937"/>
                          </a:solidFill>
                        </a:rPr>
                        <a:t>날짜, </a:t>
                      </a:r>
                      <a:pPr indent="0" marL="0">
                        <a:buNone/>
                      </a:pPr>
                      <a:r>
                        <a:rPr lang="en-US" sz="1100" dirty="0">
                          <a:solidFill>
                            <a:srgbClr val="1F2937"/>
                          </a:solidFill>
                        </a:rPr>
                        <a:t>허용되지 </a:t>
                      </a:r>
                      <a:pPr indent="0" marL="0">
                        <a:buNone/>
                      </a:pPr>
                      <a:r>
                        <a:rPr lang="en-US" sz="1100" dirty="0">
                          <a:solidFill>
                            <a:srgbClr val="1F2937"/>
                          </a:solidFill>
                        </a:rPr>
                        <a:t>않은 </a:t>
                      </a:r>
                      <a:pPr indent="0" marL="0">
                        <a:buNone/>
                      </a:pPr>
                      <a:r>
                        <a:rPr lang="en-US" sz="1100" dirty="0">
                          <a:solidFill>
                            <a:srgbClr val="1F2937"/>
                          </a:solidFill>
                        </a:rPr>
                        <a:t>식사 </a:t>
                      </a:r>
                      <a:pPr indent="0" marL="0">
                        <a:buNone/>
                      </a:pPr>
                      <a:r>
                        <a:rPr lang="en-US" sz="1100" dirty="0">
                          <a:solidFill>
                            <a:srgbClr val="1F2937"/>
                          </a:solidFill>
                        </a:rPr>
                        <a:t>구분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429</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요청 </a:t>
                      </a:r>
                      <a:pPr indent="0" marL="0">
                        <a:buNone/>
                      </a:pPr>
                      <a:r>
                        <a:rPr lang="en-US" sz="1100" dirty="0">
                          <a:solidFill>
                            <a:srgbClr val="1F2937"/>
                          </a:solidFill>
                        </a:rPr>
                        <a:t>제한 </a:t>
                      </a:r>
                      <a:pPr indent="0" marL="0">
                        <a:buNone/>
                      </a:pPr>
                      <a:r>
                        <a:rPr lang="en-US" sz="1100" dirty="0">
                          <a:solidFill>
                            <a:srgbClr val="1F2937"/>
                          </a:solidFill>
                        </a:rPr>
                        <a:t>초과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제한 </a:t>
                      </a:r>
                      <a:pPr indent="0" marL="0">
                        <a:buNone/>
                      </a:pPr>
                      <a:r>
                        <a:rPr lang="en-US" sz="1100" dirty="0">
                          <a:solidFill>
                            <a:srgbClr val="1F2937"/>
                          </a:solidFill>
                        </a:rPr>
                        <a:t>정책 </a:t>
                      </a:r>
                      <a:pPr indent="0" marL="0">
                        <a:buNone/>
                      </a:pPr>
                      <a:r>
                        <a:rPr lang="en-US" sz="1100" dirty="0">
                          <a:solidFill>
                            <a:srgbClr val="1F2937"/>
                          </a:solidFill>
                        </a:rPr>
                        <a:t>확정 </a:t>
                      </a:r>
                      <a:pPr indent="0" marL="0">
                        <a:buNone/>
                      </a:pPr>
                      <a:r>
                        <a:rPr lang="en-US" sz="1100" dirty="0">
                          <a:solidFill>
                            <a:srgbClr val="1F2937"/>
                          </a:solidFill>
                        </a:rPr>
                        <a:t>후 </a:t>
                      </a:r>
                      <a:pPr indent="0" marL="0">
                        <a:buNone/>
                      </a:pPr>
                      <a:r>
                        <a:rPr lang="en-US" sz="1100" dirty="0">
                          <a:solidFill>
                            <a:srgbClr val="1F2937"/>
                          </a:solidFill>
                        </a:rPr>
                        <a:t>적용</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4.3 HTTP 상태 코드 (2/2)</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266092"/>
                <a:gridCol w="3165231"/>
                <a:gridCol w="3798277"/>
              </a:tblGrid>
              <a:tr h="0">
                <a:tc>
                  <a:txBody>
                    <a:bodyPr/>
                    <a:lstStyle/>
                    <a:p>
                      <a:pPr indent="0" marL="0">
                        <a:buNone/>
                      </a:pPr>
                      <a:r>
                        <a:rPr lang="en-US" sz="1200" b="1" dirty="0">
                          <a:solidFill>
                            <a:srgbClr val="FFFFFF"/>
                          </a:solidFill>
                        </a:rPr>
                        <a:t>코드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설명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사용 </a:t>
                      </a:r>
                      <a:pPr indent="0" marL="0">
                        <a:buNone/>
                      </a:pPr>
                      <a:r>
                        <a:rPr lang="en-US" sz="1200" b="1" dirty="0">
                          <a:solidFill>
                            <a:srgbClr val="FFFFFF"/>
                          </a:solidFill>
                        </a:rPr>
                        <a:t>예</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500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서버 </a:t>
                      </a:r>
                      <a:pPr indent="0" marL="0">
                        <a:buNone/>
                      </a:pPr>
                      <a:r>
                        <a:rPr lang="en-US" sz="1100" dirty="0">
                          <a:solidFill>
                            <a:srgbClr val="1F2937"/>
                          </a:solidFill>
                        </a:rPr>
                        <a:t>내부 </a:t>
                      </a:r>
                      <a:pPr indent="0" marL="0">
                        <a:buNone/>
                      </a:pPr>
                      <a:r>
                        <a:rPr lang="en-US" sz="1100" dirty="0">
                          <a:solidFill>
                            <a:srgbClr val="1F2937"/>
                          </a:solidFill>
                        </a:rPr>
                        <a:t>오류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예기치 </a:t>
                      </a:r>
                      <a:pPr indent="0" marL="0">
                        <a:buNone/>
                      </a:pPr>
                      <a:r>
                        <a:rPr lang="en-US" sz="1100" dirty="0">
                          <a:solidFill>
                            <a:srgbClr val="1F2937"/>
                          </a:solidFill>
                        </a:rPr>
                        <a:t>않은 </a:t>
                      </a:r>
                      <a:pPr indent="0" marL="0">
                        <a:buNone/>
                      </a:pPr>
                      <a:r>
                        <a:rPr lang="en-US" sz="1100" dirty="0">
                          <a:solidFill>
                            <a:srgbClr val="1F2937"/>
                          </a:solidFill>
                        </a:rPr>
                        <a:t>처리 </a:t>
                      </a:r>
                      <a:pPr indent="0" marL="0">
                        <a:buNone/>
                      </a:pPr>
                      <a:r>
                        <a:rPr lang="en-US" sz="1100" dirty="0">
                          <a:solidFill>
                            <a:srgbClr val="1F2937"/>
                          </a:solidFill>
                        </a:rPr>
                        <a:t>실패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502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외부 </a:t>
                      </a:r>
                      <a:pPr indent="0" marL="0">
                        <a:buNone/>
                      </a:pPr>
                      <a:r>
                        <a:rPr lang="en-US" sz="1100" dirty="0">
                          <a:solidFill>
                            <a:srgbClr val="1F2937"/>
                          </a:solidFill>
                        </a:rPr>
                        <a:t>음식 </a:t>
                      </a:r>
                      <a:pPr indent="0" marL="0">
                        <a:buNone/>
                      </a:pPr>
                      <a:r>
                        <a:rPr lang="en-US" sz="1100" dirty="0">
                          <a:solidFill>
                            <a:srgbClr val="1F2937"/>
                          </a:solidFill>
                        </a:rPr>
                        <a:t>공급자 </a:t>
                      </a:r>
                      <a:pPr indent="0" marL="0">
                        <a:buNone/>
                      </a:pPr>
                      <a:r>
                        <a:rPr lang="en-US" sz="1100" dirty="0">
                          <a:solidFill>
                            <a:srgbClr val="1F2937"/>
                          </a:solidFill>
                        </a:rPr>
                        <a:t>오류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공급자 </a:t>
                      </a:r>
                      <a:pPr indent="0" marL="0">
                        <a:buNone/>
                      </a:pPr>
                      <a:r>
                        <a:rPr lang="en-US" sz="1100" dirty="0">
                          <a:solidFill>
                            <a:srgbClr val="1F2937"/>
                          </a:solidFill>
                        </a:rPr>
                        <a:t>응답 </a:t>
                      </a:r>
                      <a:pPr indent="0" marL="0">
                        <a:buNone/>
                      </a:pPr>
                      <a:r>
                        <a:rPr lang="en-US" sz="1100" dirty="0">
                          <a:solidFill>
                            <a:srgbClr val="1F2937"/>
                          </a:solidFill>
                        </a:rPr>
                        <a:t>오류 </a:t>
                      </a:r>
                      <a:pPr indent="0" marL="0">
                        <a:buNone/>
                      </a:pPr>
                      <a:r>
                        <a:rPr lang="en-US" sz="1100" dirty="0">
                          <a:solidFill>
                            <a:srgbClr val="1F2937"/>
                          </a:solidFill>
                        </a:rPr>
                        <a:t>또는 </a:t>
                      </a:r>
                      <a:pPr indent="0" marL="0">
                        <a:buNone/>
                      </a:pPr>
                      <a:r>
                        <a:rPr lang="en-US" sz="1100" dirty="0">
                          <a:solidFill>
                            <a:srgbClr val="1F2937"/>
                          </a:solidFill>
                        </a:rPr>
                        <a:t>이용 </a:t>
                      </a:r>
                      <a:pPr indent="0" marL="0">
                        <a:buNone/>
                      </a:pPr>
                      <a:r>
                        <a:rPr lang="en-US" sz="1100" dirty="0">
                          <a:solidFill>
                            <a:srgbClr val="1F2937"/>
                          </a:solidFill>
                        </a:rPr>
                        <a:t>불가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503</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일시적으로 </a:t>
                      </a:r>
                      <a:pPr indent="0" marL="0">
                        <a:buNone/>
                      </a:pPr>
                      <a:r>
                        <a:rPr lang="en-US" sz="1100" dirty="0">
                          <a:solidFill>
                            <a:srgbClr val="1F2937"/>
                          </a:solidFill>
                        </a:rPr>
                        <a:t>서비스 </a:t>
                      </a:r>
                      <a:pPr indent="0" marL="0">
                        <a:buNone/>
                      </a:pPr>
                      <a:r>
                        <a:rPr lang="en-US" sz="1100" dirty="0">
                          <a:solidFill>
                            <a:srgbClr val="1F2937"/>
                          </a:solidFill>
                        </a:rPr>
                        <a:t>사용 </a:t>
                      </a:r>
                      <a:pPr indent="0" marL="0">
                        <a:buNone/>
                      </a:pPr>
                      <a:r>
                        <a:rPr lang="en-US" sz="1100" dirty="0">
                          <a:solidFill>
                            <a:srgbClr val="1F2937"/>
                          </a:solidFill>
                        </a:rPr>
                        <a:t>불가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자체 </a:t>
                      </a:r>
                      <a:pPr indent="0" marL="0">
                        <a:buNone/>
                      </a:pPr>
                      <a:r>
                        <a:rPr lang="en-US" sz="1100" dirty="0">
                          <a:solidFill>
                            <a:srgbClr val="1F2937"/>
                          </a:solidFill>
                        </a:rPr>
                        <a:t>검색·기록 </a:t>
                      </a:r>
                      <a:pPr indent="0" marL="0">
                        <a:buNone/>
                      </a:pPr>
                      <a:r>
                        <a:rPr lang="en-US" sz="1100" dirty="0">
                          <a:solidFill>
                            <a:srgbClr val="1F2937"/>
                          </a:solidFill>
                        </a:rPr>
                        <a:t>API </a:t>
                      </a:r>
                      <a:pPr indent="0" marL="0">
                        <a:buNone/>
                      </a:pPr>
                      <a:r>
                        <a:rPr lang="en-US" sz="1100" dirty="0">
                          <a:solidFill>
                            <a:srgbClr val="1F2937"/>
                          </a:solidFill>
                        </a:rPr>
                        <a:t>점검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4.3 HTTP 상태 코드</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429</a:t>
            </a:r>
            <a:pPr indent="0" marL="0">
              <a:spcAft>
                <a:spcPts val="800"/>
              </a:spcAft>
              <a:buNone/>
            </a:pPr>
            <a:r>
              <a:rPr lang="en-US" sz="1600" dirty="0">
                <a:solidFill>
                  <a:srgbClr val="4B5563"/>
                </a:solidFill>
              </a:rPr>
              <a:t>,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502</a:t>
            </a:r>
            <a:pPr indent="0" marL="0">
              <a:spcAft>
                <a:spcPts val="800"/>
              </a:spcAft>
              <a:buNone/>
            </a:pPr>
            <a:r>
              <a:rPr lang="en-US" sz="1600" dirty="0">
                <a:solidFill>
                  <a:srgbClr val="4B5563"/>
                </a:solidFill>
              </a:rPr>
              <a:t>,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503</a:t>
            </a:r>
            <a:pPr indent="0" marL="0">
              <a:spcAft>
                <a:spcPts val="800"/>
              </a:spcAft>
              <a:buNone/>
            </a:pPr>
            <a:r>
              <a:rPr lang="en-US" sz="1600" dirty="0">
                <a:solidFill>
                  <a:srgbClr val="4B5563"/>
                </a:solidFill>
              </a:rPr>
              <a:t>의 세부 재시도 정책과 적용 범위는 추정 필요입니다. 외부 음식 API 오류가 식사 기록 생성·조회·수정·삭제까지 차단하지 않아야 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5. 엔드포인트 목록</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아래 경로는 구현 검토용 제안입니다. 회의에서 실제 URL이나 요청·응답 형식을 확정하지 않았습니다. 경로는 문서 본문에서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/v1</a:t>
            </a:r>
            <a:pPr indent="0" marL="0">
              <a:spcAft>
                <a:spcPts val="800"/>
              </a:spcAft>
              <a:buNone/>
            </a:pPr>
            <a:r>
              <a:rPr lang="en-US" sz="1600" dirty="0">
                <a:solidFill>
                  <a:srgbClr val="4B5563"/>
                </a:solidFill>
              </a:rPr>
              <a:t>을 생략해 표기합니다.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5. 엔드포인트 목록 (1/3)</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702527"/>
                <a:gridCol w="1806498"/>
                <a:gridCol w="2408663"/>
                <a:gridCol w="2709746"/>
                <a:gridCol w="602166"/>
              </a:tblGrid>
              <a:tr h="0">
                <a:tc>
                  <a:txBody>
                    <a:bodyPr/>
                    <a:lstStyle/>
                    <a:p>
                      <a:pPr indent="0" marL="0">
                        <a:buNone/>
                      </a:pPr>
                      <a:r>
                        <a:rPr lang="en-US" sz="1200" b="1" dirty="0">
                          <a:solidFill>
                            <a:srgbClr val="FFFFFF"/>
                          </a:solidFill>
                        </a:rPr>
                        <a:t>메서드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경로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설명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인증</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요청 </a:t>
                      </a:r>
                      <a:pPr indent="0" marL="0">
                        <a:buNone/>
                      </a:pPr>
                      <a:r>
                        <a:rPr lang="en-US" sz="1200" b="1" dirty="0">
                          <a:solidFill>
                            <a:srgbClr val="FFFFFF"/>
                          </a:solidFill>
                        </a:rPr>
                        <a:t>제한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POST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/auth/token</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인증 </a:t>
                      </a:r>
                      <a:pPr indent="0" marL="0">
                        <a:buNone/>
                      </a:pPr>
                      <a:r>
                        <a:rPr lang="en-US" sz="1100" dirty="0">
                          <a:solidFill>
                            <a:srgbClr val="1F2937"/>
                          </a:solidFill>
                        </a:rPr>
                        <a:t>제공자 </a:t>
                      </a:r>
                      <a:pPr indent="0" marL="0">
                        <a:buNone/>
                      </a:pPr>
                      <a:r>
                        <a:rPr lang="en-US" sz="1100" dirty="0">
                          <a:solidFill>
                            <a:srgbClr val="1F2937"/>
                          </a:solidFill>
                        </a:rPr>
                        <a:t>결과 </a:t>
                      </a:r>
                      <a:pPr indent="0" marL="0">
                        <a:buNone/>
                      </a:pPr>
                      <a:r>
                        <a:rPr lang="en-US" sz="1100" dirty="0">
                          <a:solidFill>
                            <a:srgbClr val="1F2937"/>
                          </a:solidFill>
                        </a:rPr>
                        <a:t>확인 </a:t>
                      </a:r>
                      <a:pPr indent="0" marL="0">
                        <a:buNone/>
                      </a:pPr>
                      <a:r>
                        <a:rPr lang="en-US" sz="1100" dirty="0">
                          <a:solidFill>
                            <a:srgbClr val="1F2937"/>
                          </a:solidFill>
                        </a:rPr>
                        <a:t>및 </a:t>
                      </a:r>
                      <a:pPr indent="0" marL="0">
                        <a:buNone/>
                      </a:pPr>
                      <a:r>
                        <a:rPr lang="en-US" sz="1100" dirty="0">
                          <a:solidFill>
                            <a:srgbClr val="1F2937"/>
                          </a:solidFill>
                        </a:rPr>
                        <a:t>서비스 </a:t>
                      </a:r>
                      <a:pPr indent="0" marL="0">
                        <a:buNone/>
                      </a:pPr>
                      <a:r>
                        <a:rPr lang="en-US" sz="1100" dirty="0">
                          <a:solidFill>
                            <a:srgbClr val="1F2937"/>
                          </a:solidFill>
                        </a:rPr>
                        <a:t>토큰 </a:t>
                      </a:r>
                      <a:pPr indent="0" marL="0">
                        <a:buNone/>
                      </a:pPr>
                      <a:r>
                        <a:rPr lang="en-US" sz="1100" dirty="0">
                          <a:solidFill>
                            <a:srgbClr val="1F2937"/>
                          </a:solidFill>
                        </a:rPr>
                        <a:t>발급</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아니요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POST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/auth/refresh</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접근 </a:t>
                      </a:r>
                      <a:pPr indent="0" marL="0">
                        <a:buNone/>
                      </a:pPr>
                      <a:r>
                        <a:rPr lang="en-US" sz="1100" dirty="0">
                          <a:solidFill>
                            <a:srgbClr val="1F2937"/>
                          </a:solidFill>
                        </a:rPr>
                        <a:t>토큰 </a:t>
                      </a:r>
                      <a:pPr indent="0" marL="0">
                        <a:buNone/>
                      </a:pPr>
                      <a:r>
                        <a:rPr lang="en-US" sz="1100" dirty="0">
                          <a:solidFill>
                            <a:srgbClr val="1F2937"/>
                          </a:solidFill>
                        </a:rPr>
                        <a:t>갱신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아니요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GET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/me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로그인 </a:t>
                      </a:r>
                      <a:pPr indent="0" marL="0">
                        <a:buNone/>
                      </a:pPr>
                      <a:r>
                        <a:rPr lang="en-US" sz="1100" dirty="0">
                          <a:solidFill>
                            <a:srgbClr val="1F2937"/>
                          </a:solidFill>
                        </a:rPr>
                        <a:t>사용자 </a:t>
                      </a:r>
                      <a:pPr indent="0" marL="0">
                        <a:buNone/>
                      </a:pPr>
                      <a:r>
                        <a:rPr lang="en-US" sz="1100" dirty="0">
                          <a:solidFill>
                            <a:srgbClr val="1F2937"/>
                          </a:solidFill>
                        </a:rPr>
                        <a:t>기본 </a:t>
                      </a:r>
                      <a:pPr indent="0" marL="0">
                        <a:buNone/>
                      </a:pPr>
                      <a:r>
                        <a:rPr lang="en-US" sz="1100" dirty="0">
                          <a:solidFill>
                            <a:srgbClr val="1F2937"/>
                          </a:solidFill>
                        </a:rPr>
                        <a:t>정보 </a:t>
                      </a:r>
                      <a:pPr indent="0" marL="0">
                        <a:buNone/>
                      </a:pPr>
                      <a:r>
                        <a:rPr lang="en-US" sz="1100" dirty="0">
                          <a:solidFill>
                            <a:srgbClr val="1F2937"/>
                          </a:solidFill>
                        </a:rPr>
                        <a:t>조회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GET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/me/profile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선택적 </a:t>
                      </a:r>
                      <a:pPr indent="0" marL="0">
                        <a:buNone/>
                      </a:pPr>
                      <a:r>
                        <a:rPr lang="en-US" sz="1100" dirty="0">
                          <a:solidFill>
                            <a:srgbClr val="1F2937"/>
                          </a:solidFill>
                        </a:rPr>
                        <a:t>프로필 </a:t>
                      </a:r>
                      <a:pPr indent="0" marL="0">
                        <a:buNone/>
                      </a:pPr>
                      <a:r>
                        <a:rPr lang="en-US" sz="1100" dirty="0">
                          <a:solidFill>
                            <a:srgbClr val="1F2937"/>
                          </a:solidFill>
                        </a:rPr>
                        <a:t>조회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PATCH</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/me/profile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선택적 </a:t>
                      </a:r>
                      <a:pPr indent="0" marL="0">
                        <a:buNone/>
                      </a:pPr>
                      <a:r>
                        <a:rPr lang="en-US" sz="1100" dirty="0">
                          <a:solidFill>
                            <a:srgbClr val="1F2937"/>
                          </a:solidFill>
                        </a:rPr>
                        <a:t>프로필 </a:t>
                      </a:r>
                      <a:pPr indent="0" marL="0">
                        <a:buNone/>
                      </a:pPr>
                      <a:r>
                        <a:rPr lang="en-US" sz="1100" dirty="0">
                          <a:solidFill>
                            <a:srgbClr val="1F2937"/>
                          </a:solidFill>
                        </a:rPr>
                        <a:t>수정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GET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/me/goals</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목표 </a:t>
                      </a:r>
                      <a:pPr indent="0" marL="0">
                        <a:buNone/>
                      </a:pPr>
                      <a:r>
                        <a:rPr lang="en-US" sz="1100" dirty="0">
                          <a:solidFill>
                            <a:srgbClr val="1F2937"/>
                          </a:solidFill>
                        </a:rPr>
                        <a:t>이력 </a:t>
                      </a:r>
                      <a:pPr indent="0" marL="0">
                        <a:buNone/>
                      </a:pPr>
                      <a:r>
                        <a:rPr lang="en-US" sz="1100" dirty="0">
                          <a:solidFill>
                            <a:srgbClr val="1F2937"/>
                          </a:solidFill>
                        </a:rPr>
                        <a:t>조회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POST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/me/goals</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목표 </a:t>
                      </a:r>
                      <a:pPr indent="0" marL="0">
                        <a:buNone/>
                      </a:pPr>
                      <a:r>
                        <a:rPr lang="en-US" sz="1100" dirty="0">
                          <a:solidFill>
                            <a:srgbClr val="1F2937"/>
                          </a:solidFill>
                        </a:rPr>
                        <a:t>생성 </a:t>
                      </a:r>
                      <a:pPr indent="0" marL="0">
                        <a:buNone/>
                      </a:pPr>
                      <a:r>
                        <a:rPr lang="en-US" sz="1100" dirty="0">
                          <a:solidFill>
                            <a:srgbClr val="1F2937"/>
                          </a:solidFill>
                        </a:rPr>
                        <a:t>또는 </a:t>
                      </a:r>
                      <a:pPr indent="0" marL="0">
                        <a:buNone/>
                      </a:pPr>
                      <a:r>
                        <a:rPr lang="en-US" sz="1100" dirty="0">
                          <a:solidFill>
                            <a:srgbClr val="1F2937"/>
                          </a:solidFill>
                        </a:rPr>
                        <a:t>변경 </a:t>
                      </a:r>
                      <a:pPr indent="0" marL="0">
                        <a:buNone/>
                      </a:pPr>
                      <a:r>
                        <a:rPr lang="en-US" sz="1100" dirty="0">
                          <a:solidFill>
                            <a:srgbClr val="1F2937"/>
                          </a:solidFill>
                        </a:rPr>
                        <a:t>이력 </a:t>
                      </a:r>
                      <a:pPr indent="0" marL="0">
                        <a:buNone/>
                      </a:pPr>
                      <a:r>
                        <a:rPr lang="en-US" sz="1100" dirty="0">
                          <a:solidFill>
                            <a:srgbClr val="1F2937"/>
                          </a:solidFill>
                        </a:rPr>
                        <a:t>추가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GET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/foods/search</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음식 </a:t>
                      </a:r>
                      <a:pPr indent="0" marL="0">
                        <a:buNone/>
                      </a:pPr>
                      <a:r>
                        <a:rPr lang="en-US" sz="1100" dirty="0">
                          <a:solidFill>
                            <a:srgbClr val="1F2937"/>
                          </a:solidFill>
                        </a:rPr>
                        <a:t>검색</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필요 </a:t>
                      </a:r>
                      <a:pPr indent="0" marL="0">
                        <a:buNone/>
                      </a:pPr>
                      <a:r>
                        <a:rPr lang="en-US" sz="1100" dirty="0">
                          <a:solidFill>
                            <a:srgbClr val="1F2937"/>
                          </a:solidFill>
                        </a:rPr>
                        <a:t>여부 </a:t>
                      </a:r>
                      <a:pPr indent="0" marL="0">
                        <a:buNone/>
                      </a:pPr>
                      <a:r>
                        <a:rPr lang="en-US" sz="1100" dirty="0">
                          <a:solidFill>
                            <a:srgbClr val="1F2937"/>
                          </a:solidFill>
                        </a:rPr>
                        <a:t>미정, </a:t>
                      </a:r>
                      <a:pPr indent="0" marL="0">
                        <a:buNone/>
                      </a:pPr>
                      <a:r>
                        <a:rPr lang="en-US" sz="1100" dirty="0">
                          <a:solidFill>
                            <a:srgbClr val="1F2937"/>
                          </a:solidFill>
                        </a:rPr>
                        <a:t>로그인 </a:t>
                      </a:r>
                      <a:pPr indent="0" marL="0">
                        <a:buNone/>
                      </a:pPr>
                      <a:r>
                        <a:rPr lang="en-US" sz="1100" dirty="0">
                          <a:solidFill>
                            <a:srgbClr val="1F2937"/>
                          </a:solidFill>
                        </a:rPr>
                        <a:t>없이 </a:t>
                      </a:r>
                      <a:pPr indent="0" marL="0">
                        <a:buNone/>
                      </a:pPr>
                      <a:r>
                        <a:rPr lang="en-US" sz="1100" dirty="0">
                          <a:solidFill>
                            <a:srgbClr val="1F2937"/>
                          </a:solidFill>
                        </a:rPr>
                        <a:t>허용할지 </a:t>
                      </a:r>
                      <a:pPr indent="0" marL="0">
                        <a:buNone/>
                      </a:pPr>
                      <a:r>
                        <a:rPr lang="en-US" sz="1100" dirty="0">
                          <a:solidFill>
                            <a:srgbClr val="1F2937"/>
                          </a:solidFill>
                        </a:rPr>
                        <a:t>확인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GET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/foods/recent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최근 </a:t>
                      </a:r>
                      <a:pPr indent="0" marL="0">
                        <a:buNone/>
                      </a:pPr>
                      <a:r>
                        <a:rPr lang="en-US" sz="1100" dirty="0">
                          <a:solidFill>
                            <a:srgbClr val="1F2937"/>
                          </a:solidFill>
                        </a:rPr>
                        <a:t>기록 </a:t>
                      </a:r>
                      <a:pPr indent="0" marL="0">
                        <a:buNone/>
                      </a:pPr>
                      <a:r>
                        <a:rPr lang="en-US" sz="1100" dirty="0">
                          <a:solidFill>
                            <a:srgbClr val="1F2937"/>
                          </a:solidFill>
                        </a:rPr>
                        <a:t>음식 </a:t>
                      </a:r>
                      <a:pPr indent="0" marL="0">
                        <a:buNone/>
                      </a:pPr>
                      <a:r>
                        <a:rPr lang="en-US" sz="1100" dirty="0">
                          <a:solidFill>
                            <a:srgbClr val="1F2937"/>
                          </a:solidFill>
                        </a:rPr>
                        <a:t>조회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GET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/foods/favorites</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즐겨찾기 </a:t>
                      </a:r>
                      <a:pPr indent="0" marL="0">
                        <a:buNone/>
                      </a:pPr>
                      <a:r>
                        <a:rPr lang="en-US" sz="1100" dirty="0">
                          <a:solidFill>
                            <a:srgbClr val="1F2937"/>
                          </a:solidFill>
                        </a:rPr>
                        <a:t>목록 </a:t>
                      </a:r>
                      <a:pPr indent="0" marL="0">
                        <a:buNone/>
                      </a:pPr>
                      <a:r>
                        <a:rPr lang="en-US" sz="1100" dirty="0">
                          <a:solidFill>
                            <a:srgbClr val="1F2937"/>
                          </a:solidFill>
                        </a:rPr>
                        <a:t>조회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POST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/foods/favorites</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음식 </a:t>
                      </a:r>
                      <a:pPr indent="0" marL="0">
                        <a:buNone/>
                      </a:pPr>
                      <a:r>
                        <a:rPr lang="en-US" sz="1100" dirty="0">
                          <a:solidFill>
                            <a:srgbClr val="1F2937"/>
                          </a:solidFill>
                        </a:rPr>
                        <a:t>즐겨찾기 </a:t>
                      </a:r>
                      <a:pPr indent="0" marL="0">
                        <a:buNone/>
                      </a:pPr>
                      <a:r>
                        <a:rPr lang="en-US" sz="1100" dirty="0">
                          <a:solidFill>
                            <a:srgbClr val="1F2937"/>
                          </a:solidFill>
                        </a:rPr>
                        <a:t>등록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5. 엔드포인트 목록 (2/3)</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927279"/>
                <a:gridCol w="3593206"/>
                <a:gridCol w="2318197"/>
                <a:gridCol w="695459"/>
                <a:gridCol w="695459"/>
              </a:tblGrid>
              <a:tr h="0">
                <a:tc>
                  <a:txBody>
                    <a:bodyPr/>
                    <a:lstStyle/>
                    <a:p>
                      <a:pPr indent="0" marL="0">
                        <a:buNone/>
                      </a:pPr>
                      <a:r>
                        <a:rPr lang="en-US" sz="1200" b="1" dirty="0">
                          <a:solidFill>
                            <a:srgbClr val="FFFFFF"/>
                          </a:solidFill>
                        </a:rPr>
                        <a:t>메서드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경로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설명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인증</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요청 </a:t>
                      </a:r>
                      <a:pPr indent="0" marL="0">
                        <a:buNone/>
                      </a:pPr>
                      <a:r>
                        <a:rPr lang="en-US" sz="1200" b="1" dirty="0">
                          <a:solidFill>
                            <a:srgbClr val="FFFFFF"/>
                          </a:solidFill>
                        </a:rPr>
                        <a:t>제한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DELETE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/foods/favorites/{favoriteId}</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즐겨찾기 </a:t>
                      </a:r>
                      <a:pPr indent="0" marL="0">
                        <a:buNone/>
                      </a:pPr>
                      <a:r>
                        <a:rPr lang="en-US" sz="1100" dirty="0">
                          <a:solidFill>
                            <a:srgbClr val="1F2937"/>
                          </a:solidFill>
                        </a:rPr>
                        <a:t>해제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GET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/me/foods</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사용자가 </a:t>
                      </a:r>
                      <a:pPr indent="0" marL="0">
                        <a:buNone/>
                      </a:pPr>
                      <a:r>
                        <a:rPr lang="en-US" sz="1100" dirty="0">
                          <a:solidFill>
                            <a:srgbClr val="1F2937"/>
                          </a:solidFill>
                        </a:rPr>
                        <a:t>입력한 </a:t>
                      </a:r>
                      <a:pPr indent="0" marL="0">
                        <a:buNone/>
                      </a:pPr>
                      <a:r>
                        <a:rPr lang="en-US" sz="1100" dirty="0">
                          <a:solidFill>
                            <a:srgbClr val="1F2937"/>
                          </a:solidFill>
                        </a:rPr>
                        <a:t>개인 </a:t>
                      </a:r>
                      <a:pPr indent="0" marL="0">
                        <a:buNone/>
                      </a:pPr>
                      <a:r>
                        <a:rPr lang="en-US" sz="1100" dirty="0">
                          <a:solidFill>
                            <a:srgbClr val="1F2937"/>
                          </a:solidFill>
                        </a:rPr>
                        <a:t>음식 </a:t>
                      </a:r>
                      <a:pPr indent="0" marL="0">
                        <a:buNone/>
                      </a:pPr>
                      <a:r>
                        <a:rPr lang="en-US" sz="1100" dirty="0">
                          <a:solidFill>
                            <a:srgbClr val="1F2937"/>
                          </a:solidFill>
                        </a:rPr>
                        <a:t>목록 </a:t>
                      </a:r>
                      <a:pPr indent="0" marL="0">
                        <a:buNone/>
                      </a:pPr>
                      <a:r>
                        <a:rPr lang="en-US" sz="1100" dirty="0">
                          <a:solidFill>
                            <a:srgbClr val="1F2937"/>
                          </a:solidFill>
                        </a:rPr>
                        <a:t>조회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POST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/me/foods</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개인 </a:t>
                      </a:r>
                      <a:pPr indent="0" marL="0">
                        <a:buNone/>
                      </a:pPr>
                      <a:r>
                        <a:rPr lang="en-US" sz="1100" dirty="0">
                          <a:solidFill>
                            <a:srgbClr val="1F2937"/>
                          </a:solidFill>
                        </a:rPr>
                        <a:t>음식 </a:t>
                      </a:r>
                      <a:pPr indent="0" marL="0">
                        <a:buNone/>
                      </a:pPr>
                      <a:r>
                        <a:rPr lang="en-US" sz="1100" dirty="0">
                          <a:solidFill>
                            <a:srgbClr val="1F2937"/>
                          </a:solidFill>
                        </a:rPr>
                        <a:t>생성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GET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/me/meals</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날짜별 </a:t>
                      </a:r>
                      <a:pPr indent="0" marL="0">
                        <a:buNone/>
                      </a:pPr>
                      <a:r>
                        <a:rPr lang="en-US" sz="1100" dirty="0">
                          <a:solidFill>
                            <a:srgbClr val="1F2937"/>
                          </a:solidFill>
                        </a:rPr>
                        <a:t>식사 </a:t>
                      </a:r>
                      <a:pPr indent="0" marL="0">
                        <a:buNone/>
                      </a:pPr>
                      <a:r>
                        <a:rPr lang="en-US" sz="1100" dirty="0">
                          <a:solidFill>
                            <a:srgbClr val="1F2937"/>
                          </a:solidFill>
                        </a:rPr>
                        <a:t>항목 </a:t>
                      </a:r>
                      <a:pPr indent="0" marL="0">
                        <a:buNone/>
                      </a:pPr>
                      <a:r>
                        <a:rPr lang="en-US" sz="1100" dirty="0">
                          <a:solidFill>
                            <a:srgbClr val="1F2937"/>
                          </a:solidFill>
                        </a:rPr>
                        <a:t>조회·합계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POST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/me/meals</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식사 </a:t>
                      </a:r>
                      <a:pPr indent="0" marL="0">
                        <a:buNone/>
                      </a:pPr>
                      <a:r>
                        <a:rPr lang="en-US" sz="1100" dirty="0">
                          <a:solidFill>
                            <a:srgbClr val="1F2937"/>
                          </a:solidFill>
                        </a:rPr>
                        <a:t>음식 </a:t>
                      </a:r>
                      <a:pPr indent="0" marL="0">
                        <a:buNone/>
                      </a:pPr>
                      <a:r>
                        <a:rPr lang="en-US" sz="1100" dirty="0">
                          <a:solidFill>
                            <a:srgbClr val="1F2937"/>
                          </a:solidFill>
                        </a:rPr>
                        <a:t>항목 </a:t>
                      </a:r>
                      <a:pPr indent="0" marL="0">
                        <a:buNone/>
                      </a:pPr>
                      <a:r>
                        <a:rPr lang="en-US" sz="1100" dirty="0">
                          <a:solidFill>
                            <a:srgbClr val="1F2937"/>
                          </a:solidFill>
                        </a:rPr>
                        <a:t>생성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GET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/me/meals/{mealEntryId}</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식사 </a:t>
                      </a:r>
                      <a:pPr indent="0" marL="0">
                        <a:buNone/>
                      </a:pPr>
                      <a:r>
                        <a:rPr lang="en-US" sz="1100" dirty="0">
                          <a:solidFill>
                            <a:srgbClr val="1F2937"/>
                          </a:solidFill>
                        </a:rPr>
                        <a:t>음식 </a:t>
                      </a:r>
                      <a:pPr indent="0" marL="0">
                        <a:buNone/>
                      </a:pPr>
                      <a:r>
                        <a:rPr lang="en-US" sz="1100" dirty="0">
                          <a:solidFill>
                            <a:srgbClr val="1F2937"/>
                          </a:solidFill>
                        </a:rPr>
                        <a:t>항목 </a:t>
                      </a:r>
                      <a:pPr indent="0" marL="0">
                        <a:buNone/>
                      </a:pPr>
                      <a:r>
                        <a:rPr lang="en-US" sz="1100" dirty="0">
                          <a:solidFill>
                            <a:srgbClr val="1F2937"/>
                          </a:solidFill>
                        </a:rPr>
                        <a:t>상세 </a:t>
                      </a:r>
                      <a:pPr indent="0" marL="0">
                        <a:buNone/>
                      </a:pPr>
                      <a:r>
                        <a:rPr lang="en-US" sz="1100" dirty="0">
                          <a:solidFill>
                            <a:srgbClr val="1F2937"/>
                          </a:solidFill>
                        </a:rPr>
                        <a:t>조회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PATCH</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/me/meals/{mealEntryId}</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식사 </a:t>
                      </a:r>
                      <a:pPr indent="0" marL="0">
                        <a:buNone/>
                      </a:pPr>
                      <a:r>
                        <a:rPr lang="en-US" sz="1100" dirty="0">
                          <a:solidFill>
                            <a:srgbClr val="1F2937"/>
                          </a:solidFill>
                        </a:rPr>
                        <a:t>음식 </a:t>
                      </a:r>
                      <a:pPr indent="0" marL="0">
                        <a:buNone/>
                      </a:pPr>
                      <a:r>
                        <a:rPr lang="en-US" sz="1100" dirty="0">
                          <a:solidFill>
                            <a:srgbClr val="1F2937"/>
                          </a:solidFill>
                        </a:rPr>
                        <a:t>항목 </a:t>
                      </a:r>
                      <a:pPr indent="0" marL="0">
                        <a:buNone/>
                      </a:pPr>
                      <a:r>
                        <a:rPr lang="en-US" sz="1100" dirty="0">
                          <a:solidFill>
                            <a:srgbClr val="1F2937"/>
                          </a:solidFill>
                        </a:rPr>
                        <a:t>수정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DELETE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/me/meals/{mealEntryId}</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식사 </a:t>
                      </a:r>
                      <a:pPr indent="0" marL="0">
                        <a:buNone/>
                      </a:pPr>
                      <a:r>
                        <a:rPr lang="en-US" sz="1100" dirty="0">
                          <a:solidFill>
                            <a:srgbClr val="1F2937"/>
                          </a:solidFill>
                        </a:rPr>
                        <a:t>음식 </a:t>
                      </a:r>
                      <a:pPr indent="0" marL="0">
                        <a:buNone/>
                      </a:pPr>
                      <a:r>
                        <a:rPr lang="en-US" sz="1100" dirty="0">
                          <a:solidFill>
                            <a:srgbClr val="1F2937"/>
                          </a:solidFill>
                        </a:rPr>
                        <a:t>항목 </a:t>
                      </a:r>
                      <a:pPr indent="0" marL="0">
                        <a:buNone/>
                      </a:pPr>
                      <a:r>
                        <a:rPr lang="en-US" sz="1100" dirty="0">
                          <a:solidFill>
                            <a:srgbClr val="1F2937"/>
                          </a:solidFill>
                        </a:rPr>
                        <a:t>삭제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GET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/me/reports/weekly</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완료된 </a:t>
                      </a:r>
                      <a:pPr indent="0" marL="0">
                        <a:buNone/>
                      </a:pPr>
                      <a:r>
                        <a:rPr lang="en-US" sz="1100" dirty="0">
                          <a:solidFill>
                            <a:srgbClr val="1F2937"/>
                          </a:solidFill>
                        </a:rPr>
                        <a:t>지난주 </a:t>
                      </a:r>
                      <a:pPr indent="0" marL="0">
                        <a:buNone/>
                      </a:pPr>
                      <a:r>
                        <a:rPr lang="en-US" sz="1100" dirty="0">
                          <a:solidFill>
                            <a:srgbClr val="1F2937"/>
                          </a:solidFill>
                        </a:rPr>
                        <a:t>기록 </a:t>
                      </a:r>
                      <a:pPr indent="0" marL="0">
                        <a:buNone/>
                      </a:pPr>
                      <a:r>
                        <a:rPr lang="en-US" sz="1100" dirty="0">
                          <a:solidFill>
                            <a:srgbClr val="1F2937"/>
                          </a:solidFill>
                        </a:rPr>
                        <a:t>기반 </a:t>
                      </a:r>
                      <a:pPr indent="0" marL="0">
                        <a:buNone/>
                      </a:pPr>
                      <a:r>
                        <a:rPr lang="en-US" sz="1100" dirty="0">
                          <a:solidFill>
                            <a:srgbClr val="1F2937"/>
                          </a:solidFill>
                        </a:rPr>
                        <a:t>리포트 </a:t>
                      </a:r>
                      <a:pPr indent="0" marL="0">
                        <a:buNone/>
                      </a:pPr>
                      <a:r>
                        <a:rPr lang="en-US" sz="1100" dirty="0">
                          <a:solidFill>
                            <a:srgbClr val="1F2937"/>
                          </a:solidFill>
                        </a:rPr>
                        <a:t>조회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GET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/me/settings/notifications</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알림 </a:t>
                      </a:r>
                      <a:pPr indent="0" marL="0">
                        <a:buNone/>
                      </a:pPr>
                      <a:r>
                        <a:rPr lang="en-US" sz="1100" dirty="0">
                          <a:solidFill>
                            <a:srgbClr val="1F2937"/>
                          </a:solidFill>
                        </a:rPr>
                        <a:t>설정 </a:t>
                      </a:r>
                      <a:pPr indent="0" marL="0">
                        <a:buNone/>
                      </a:pPr>
                      <a:r>
                        <a:rPr lang="en-US" sz="1100" dirty="0">
                          <a:solidFill>
                            <a:srgbClr val="1F2937"/>
                          </a:solidFill>
                        </a:rPr>
                        <a:t>조회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PUT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/me/settings/notifications</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기록 </a:t>
                      </a:r>
                      <a:pPr indent="0" marL="0">
                        <a:buNone/>
                      </a:pPr>
                      <a:r>
                        <a:rPr lang="en-US" sz="1100" dirty="0">
                          <a:solidFill>
                            <a:srgbClr val="1F2937"/>
                          </a:solidFill>
                        </a:rPr>
                        <a:t>알림 </a:t>
                      </a:r>
                      <a:pPr indent="0" marL="0">
                        <a:buNone/>
                      </a:pPr>
                      <a:r>
                        <a:rPr lang="en-US" sz="1100" dirty="0">
                          <a:solidFill>
                            <a:srgbClr val="1F2937"/>
                          </a:solidFill>
                        </a:rPr>
                        <a:t>설정 </a:t>
                      </a:r>
                      <a:pPr indent="0" marL="0">
                        <a:buNone/>
                      </a:pPr>
                      <a:r>
                        <a:rPr lang="en-US" sz="1100" dirty="0">
                          <a:solidFill>
                            <a:srgbClr val="1F2937"/>
                          </a:solidFill>
                        </a:rPr>
                        <a:t>변경</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5. 엔드포인트 목록 (3/3)</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045029"/>
                <a:gridCol w="3788229"/>
                <a:gridCol w="1828800"/>
                <a:gridCol w="783771"/>
                <a:gridCol w="783771"/>
              </a:tblGrid>
              <a:tr h="0">
                <a:tc>
                  <a:txBody>
                    <a:bodyPr/>
                    <a:lstStyle/>
                    <a:p>
                      <a:pPr indent="0" marL="0">
                        <a:buNone/>
                      </a:pPr>
                      <a:r>
                        <a:rPr lang="en-US" sz="1200" b="1" dirty="0">
                          <a:solidFill>
                            <a:srgbClr val="FFFFFF"/>
                          </a:solidFill>
                        </a:rPr>
                        <a:t>메서드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경로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설명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인증</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요청 </a:t>
                      </a:r>
                      <a:pPr indent="0" marL="0">
                        <a:buNone/>
                      </a:pPr>
                      <a:r>
                        <a:rPr lang="en-US" sz="1200" b="1" dirty="0">
                          <a:solidFill>
                            <a:srgbClr val="FFFFFF"/>
                          </a:solidFill>
                        </a:rPr>
                        <a:t>제한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POST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/me/push-devices</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푸시 </a:t>
                      </a:r>
                      <a:pPr indent="0" marL="0">
                        <a:buNone/>
                      </a:pPr>
                      <a:r>
                        <a:rPr lang="en-US" sz="1100" dirty="0">
                          <a:solidFill>
                            <a:srgbClr val="1F2937"/>
                          </a:solidFill>
                        </a:rPr>
                        <a:t>기기 </a:t>
                      </a:r>
                      <a:pPr indent="0" marL="0">
                        <a:buNone/>
                      </a:pPr>
                      <a:r>
                        <a:rPr lang="en-US" sz="1100" dirty="0">
                          <a:solidFill>
                            <a:srgbClr val="1F2937"/>
                          </a:solidFill>
                        </a:rPr>
                        <a:t>등록 </a:t>
                      </a:r>
                      <a:pPr indent="0" marL="0">
                        <a:buNone/>
                      </a:pPr>
                      <a:r>
                        <a:rPr lang="en-US" sz="1100" dirty="0">
                          <a:solidFill>
                            <a:srgbClr val="1F2937"/>
                          </a:solidFill>
                        </a:rPr>
                        <a:t>또는 </a:t>
                      </a:r>
                      <a:pPr indent="0" marL="0">
                        <a:buNone/>
                      </a:pPr>
                      <a:r>
                        <a:rPr lang="en-US" sz="1100" dirty="0">
                          <a:solidFill>
                            <a:srgbClr val="1F2937"/>
                          </a:solidFill>
                        </a:rPr>
                        <a:t>갱신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DELETE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/me/push-devices/{deviceId}</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푸시 </a:t>
                      </a:r>
                      <a:pPr indent="0" marL="0">
                        <a:buNone/>
                      </a:pPr>
                      <a:r>
                        <a:rPr lang="en-US" sz="1100" dirty="0">
                          <a:solidFill>
                            <a:srgbClr val="1F2937"/>
                          </a:solidFill>
                        </a:rPr>
                        <a:t>기기 </a:t>
                      </a:r>
                      <a:pPr indent="0" marL="0">
                        <a:buNone/>
                      </a:pPr>
                      <a:r>
                        <a:rPr lang="en-US" sz="1100" dirty="0">
                          <a:solidFill>
                            <a:srgbClr val="1F2937"/>
                          </a:solidFill>
                        </a:rPr>
                        <a:t>해제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GET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/me/consents</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동의 </a:t>
                      </a:r>
                      <a:pPr indent="0" marL="0">
                        <a:buNone/>
                      </a:pPr>
                      <a:r>
                        <a:rPr lang="en-US" sz="1100" dirty="0">
                          <a:solidFill>
                            <a:srgbClr val="1F2937"/>
                          </a:solidFill>
                        </a:rPr>
                        <a:t>상태 </a:t>
                      </a:r>
                      <a:pPr indent="0" marL="0">
                        <a:buNone/>
                      </a:pPr>
                      <a:r>
                        <a:rPr lang="en-US" sz="1100" dirty="0">
                          <a:solidFill>
                            <a:srgbClr val="1F2937"/>
                          </a:solidFill>
                        </a:rPr>
                        <a:t>조회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PUT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/me/consents/{consentType}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선택 </a:t>
                      </a:r>
                      <a:pPr indent="0" marL="0">
                        <a:buNone/>
                      </a:pPr>
                      <a:r>
                        <a:rPr lang="en-US" sz="1100" dirty="0">
                          <a:solidFill>
                            <a:srgbClr val="1F2937"/>
                          </a:solidFill>
                        </a:rPr>
                        <a:t>동의 </a:t>
                      </a:r>
                      <a:pPr indent="0" marL="0">
                        <a:buNone/>
                      </a:pPr>
                      <a:r>
                        <a:rPr lang="en-US" sz="1100" dirty="0">
                          <a:solidFill>
                            <a:srgbClr val="1F2937"/>
                          </a:solidFill>
                        </a:rPr>
                        <a:t>상태 </a:t>
                      </a:r>
                      <a:pPr indent="0" marL="0">
                        <a:buNone/>
                      </a:pPr>
                      <a:r>
                        <a:rPr lang="en-US" sz="1100" dirty="0">
                          <a:solidFill>
                            <a:srgbClr val="1F2937"/>
                          </a:solidFill>
                        </a:rPr>
                        <a:t>변경</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POST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/me/account-deletion</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계정 </a:t>
                      </a:r>
                      <a:pPr indent="0" marL="0">
                        <a:buNone/>
                      </a:pPr>
                      <a:r>
                        <a:rPr lang="en-US" sz="1100" dirty="0">
                          <a:solidFill>
                            <a:srgbClr val="1F2937"/>
                          </a:solidFill>
                        </a:rPr>
                        <a:t>삭제 </a:t>
                      </a:r>
                      <a:pPr indent="0" marL="0">
                        <a:buNone/>
                      </a:pPr>
                      <a:r>
                        <a:rPr lang="en-US" sz="1100" dirty="0">
                          <a:solidFill>
                            <a:srgbClr val="1F2937"/>
                          </a:solidFill>
                        </a:rPr>
                        <a:t>요청</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GET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/me/account-deletion</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계정 </a:t>
                      </a:r>
                      <a:pPr indent="0" marL="0">
                        <a:buNone/>
                      </a:pPr>
                      <a:r>
                        <a:rPr lang="en-US" sz="1100" dirty="0">
                          <a:solidFill>
                            <a:srgbClr val="1F2937"/>
                          </a:solidFill>
                        </a:rPr>
                        <a:t>삭제 </a:t>
                      </a:r>
                      <a:pPr indent="0" marL="0">
                        <a:buNone/>
                      </a:pPr>
                      <a:r>
                        <a:rPr lang="en-US" sz="1100" dirty="0">
                          <a:solidFill>
                            <a:srgbClr val="1F2937"/>
                          </a:solidFill>
                        </a:rPr>
                        <a:t>요청 </a:t>
                      </a:r>
                      <a:pPr indent="0" marL="0">
                        <a:buNone/>
                      </a:pPr>
                      <a:r>
                        <a:rPr lang="en-US" sz="1100" dirty="0">
                          <a:solidFill>
                            <a:srgbClr val="1F2937"/>
                          </a:solidFill>
                        </a:rPr>
                        <a:t>상태 </a:t>
                      </a:r>
                      <a:pPr indent="0" marL="0">
                        <a:buNone/>
                      </a:pPr>
                      <a:r>
                        <a:rPr lang="en-US" sz="1100" dirty="0">
                          <a:solidFill>
                            <a:srgbClr val="1F2937"/>
                          </a:solidFill>
                        </a:rPr>
                        <a:t>조회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5. 엔드포인트 목록</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"식사 사진 첨부는 회의 내에서 제외와 포함 의견이 모두 확인됩니다. 따라서 사진 업로드 API는 아래 기본 목록에 확정 기능으로 포함하지 않았습니다. 최종 포함 승인이 나면 파일 업로드·삭제 경로와 파일 제한, 저장소 접근 방식 및 보존 정책을 별도 확정해야 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 상세 명세</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 인증 토큰 발급</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POST</a:t>
            </a:r>
            <a:pPr indent="0" marL="0">
              <a:spcAft>
                <a:spcPts val="800"/>
              </a:spcAft>
              <a:buNone/>
            </a:pPr>
            <a:r>
              <a:rPr lang="en-US" sz="1600" dirty="0">
                <a:solidFill>
                  <a:srgbClr val="4B5563"/>
                </a:solidFill>
              </a:rPr>
              <a:t>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/v1/auth/token</a:t>
            </a:r>
            <a:endParaRPr lang="en-US" sz="1600" dirty="0"/>
          </a:p>
          <a:p>
            <a:pPr indent="0" marL="0">
              <a:spcAft>
                <a:spcPts val="800"/>
              </a:spcAft>
              <a:buNone/>
            </a:pPr>
            <a:r>
              <a:rPr lang="en-US" sz="1600" dirty="0">
                <a:solidFill>
                  <a:srgbClr val="4B5563"/>
                </a:solidFill>
              </a:rPr>
              <a:t>인증 제공자 범위와 게스트 지원 여부가 미확정입니다. 아래는 인증 제공자 토큰을 서버에서 검증하는 구현 제안입니다.</a:t>
            </a:r>
            <a:endParaRPr lang="en-US" sz="1600" dirty="0"/>
          </a:p>
          <a:p>
            <a:pPr indent="0" marL="0">
              <a:spcAft>
                <a:spcPts val="800"/>
              </a:spcAft>
              <a:buNone/>
            </a:pPr>
            <a:r>
              <a:rPr lang="en-US" sz="1600" b="1" dirty="0">
                <a:solidFill>
                  <a:srgbClr val="4B5563"/>
                </a:solidFill>
              </a:rPr>
              <a:t>요청 본문</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 인증 토큰 발급</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333767"/>
                <a:gridCol w="736979"/>
                <a:gridCol w="736979"/>
                <a:gridCol w="4421875"/>
              </a:tblGrid>
              <a:tr h="0">
                <a:tc>
                  <a:txBody>
                    <a:bodyPr/>
                    <a:lstStyle/>
                    <a:p>
                      <a:pPr indent="0" marL="0">
                        <a:buNone/>
                      </a:pPr>
                      <a:r>
                        <a:rPr lang="en-US" sz="1200" b="1" dirty="0">
                          <a:solidFill>
                            <a:srgbClr val="FFFFFF"/>
                          </a:solidFill>
                        </a:rPr>
                        <a:t>필드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형식</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필수</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제약·설명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provider</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문자열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apple</a:t>
                      </a:r>
                      <a:pPr indent="0" marL="0">
                        <a:buNone/>
                      </a:pPr>
                      <a:r>
                        <a:rPr lang="en-US" sz="1100" dirty="0">
                          <a:solidFill>
                            <a:srgbClr val="1F2937"/>
                          </a:solidFill>
                        </a:rPr>
                        <a:t>,</a:t>
                      </a:r>
                      <a:pPr indent="0" marL="0">
                        <a:buNone/>
                      </a:pPr>
                      <a:r>
                        <a:rPr lang="en-US" sz="1100" dirty="0">
                          <a:solidFill>
                            <a:srgbClr val="1F2937"/>
                          </a:solidFill>
                          <a:latin typeface="Courier New" pitchFamily="34" charset="0"/>
                          <a:ea typeface="Courier New" pitchFamily="34" charset="-122"/>
                          <a:cs typeface="Courier New" pitchFamily="34" charset="-120"/>
                        </a:rPr>
                        <a:t>google</a:t>
                      </a:r>
                      <a:pPr indent="0" marL="0">
                        <a:buNone/>
                      </a:pPr>
                      <a:r>
                        <a:rPr lang="en-US" sz="1100" dirty="0">
                          <a:solidFill>
                            <a:srgbClr val="1F2937"/>
                          </a:solidFill>
                        </a:rPr>
                        <a:t>,</a:t>
                      </a:r>
                      <a:pPr indent="0" marL="0">
                        <a:buNone/>
                      </a:pPr>
                      <a:r>
                        <a:rPr lang="en-US" sz="1100" dirty="0">
                          <a:solidFill>
                            <a:srgbClr val="1F2937"/>
                          </a:solidFill>
                          <a:latin typeface="Courier New" pitchFamily="34" charset="0"/>
                          <a:ea typeface="Courier New" pitchFamily="34" charset="-122"/>
                          <a:cs typeface="Courier New" pitchFamily="34" charset="-120"/>
                        </a:rPr>
                        <a:t>email</a:t>
                      </a:r>
                      <a:pPr indent="0" marL="0">
                        <a:buNone/>
                      </a:pPr>
                      <a:r>
                        <a:rPr lang="en-US" sz="1100" dirty="0">
                          <a:solidFill>
                            <a:srgbClr val="1F2937"/>
                          </a:solidFill>
                        </a:rPr>
                        <a:t>중 </a:t>
                      </a:r>
                      <a:pPr indent="0" marL="0">
                        <a:buNone/>
                      </a:pPr>
                      <a:r>
                        <a:rPr lang="en-US" sz="1100" dirty="0">
                          <a:solidFill>
                            <a:srgbClr val="1F2937"/>
                          </a:solidFill>
                        </a:rPr>
                        <a:t>확정된 </a:t>
                      </a:r>
                      <a:pPr indent="0" marL="0">
                        <a:buNone/>
                      </a:pPr>
                      <a:r>
                        <a:rPr lang="en-US" sz="1100" dirty="0">
                          <a:solidFill>
                            <a:srgbClr val="1F2937"/>
                          </a:solidFill>
                        </a:rPr>
                        <a:t>제공자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providerToken</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문자열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인증 </a:t>
                      </a:r>
                      <a:pPr indent="0" marL="0">
                        <a:buNone/>
                      </a:pPr>
                      <a:r>
                        <a:rPr lang="en-US" sz="1100" dirty="0">
                          <a:solidFill>
                            <a:srgbClr val="1F2937"/>
                          </a:solidFill>
                        </a:rPr>
                        <a:t>제공자에서 </a:t>
                      </a:r>
                      <a:pPr indent="0" marL="0">
                        <a:buNone/>
                      </a:pPr>
                      <a:r>
                        <a:rPr lang="en-US" sz="1100" dirty="0">
                          <a:solidFill>
                            <a:srgbClr val="1F2937"/>
                          </a:solidFill>
                        </a:rPr>
                        <a:t>받은 </a:t>
                      </a:r>
                      <a:pPr indent="0" marL="0">
                        <a:buNone/>
                      </a:pPr>
                      <a:r>
                        <a:rPr lang="en-US" sz="1100" dirty="0">
                          <a:solidFill>
                            <a:srgbClr val="1F2937"/>
                          </a:solidFill>
                        </a:rPr>
                        <a:t>검증용 </a:t>
                      </a:r>
                      <a:pPr indent="0" marL="0">
                        <a:buNone/>
                      </a:pPr>
                      <a:r>
                        <a:rPr lang="en-US" sz="1100" dirty="0">
                          <a:solidFill>
                            <a:srgbClr val="1F2937"/>
                          </a:solidFill>
                        </a:rPr>
                        <a:t>토큰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device.platform</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문자열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ios</a:t>
                      </a:r>
                      <a:pPr indent="0" marL="0">
                        <a:buNone/>
                      </a:pPr>
                      <a:r>
                        <a:rPr lang="en-US" sz="1100" dirty="0">
                          <a:solidFill>
                            <a:srgbClr val="1F2937"/>
                          </a:solidFill>
                        </a:rPr>
                        <a:t>또는</a:t>
                      </a:r>
                      <a:pPr indent="0" marL="0">
                        <a:buNone/>
                      </a:pPr>
                      <a:r>
                        <a:rPr lang="en-US" sz="1100" dirty="0">
                          <a:solidFill>
                            <a:srgbClr val="1F2937"/>
                          </a:solidFill>
                          <a:latin typeface="Courier New" pitchFamily="34" charset="0"/>
                          <a:ea typeface="Courier New" pitchFamily="34" charset="-122"/>
                          <a:cs typeface="Courier New" pitchFamily="34" charset="-120"/>
                        </a:rPr>
                        <a:t>android</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device.appVersion</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문자열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앱 </a:t>
                      </a:r>
                      <a:pPr indent="0" marL="0">
                        <a:buNone/>
                      </a:pPr>
                      <a:r>
                        <a:rPr lang="en-US" sz="1100" dirty="0">
                          <a:solidFill>
                            <a:srgbClr val="1F2937"/>
                          </a:solidFill>
                        </a:rPr>
                        <a:t>버전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guestSessionId</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문자열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아니요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게스트 </a:t>
                      </a:r>
                      <a:pPr indent="0" marL="0">
                        <a:buNone/>
                      </a:pPr>
                      <a:r>
                        <a:rPr lang="en-US" sz="1100" dirty="0">
                          <a:solidFill>
                            <a:srgbClr val="1F2937"/>
                          </a:solidFill>
                        </a:rPr>
                        <a:t>흐름이 </a:t>
                      </a:r>
                      <a:pPr indent="0" marL="0">
                        <a:buNone/>
                      </a:pPr>
                      <a:r>
                        <a:rPr lang="en-US" sz="1100" dirty="0">
                          <a:solidFill>
                            <a:srgbClr val="1F2937"/>
                          </a:solidFill>
                        </a:rPr>
                        <a:t>승인될 </a:t>
                      </a:r>
                      <a:pPr indent="0" marL="0">
                        <a:buNone/>
                      </a:pPr>
                      <a:r>
                        <a:rPr lang="en-US" sz="1100" dirty="0">
                          <a:solidFill>
                            <a:srgbClr val="1F2937"/>
                          </a:solidFill>
                        </a:rPr>
                        <a:t>경우 </a:t>
                      </a:r>
                      <a:pPr indent="0" marL="0">
                        <a:buNone/>
                      </a:pPr>
                      <a:r>
                        <a:rPr lang="en-US" sz="1100" dirty="0">
                          <a:solidFill>
                            <a:srgbClr val="1F2937"/>
                          </a:solidFill>
                        </a:rPr>
                        <a:t>사용. </a:t>
                      </a:r>
                      <a:pPr indent="0" marL="0">
                        <a:buNone/>
                      </a:pPr>
                      <a:r>
                        <a:rPr lang="en-US" sz="1100" dirty="0">
                          <a:solidFill>
                            <a:srgbClr val="1F2937"/>
                          </a:solidFill>
                        </a:rPr>
                        <a:t>현재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 인증 토큰 발급</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요청 예시</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 인증 토큰 발급</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"provider": "google",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"providerToken": "&lt;인증_제공자_토큰&gt;",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"device":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"platform": "android",</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"appVersion": "1.0.0"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 인증 토큰 발급</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성공 응답 </a:t>
            </a:r>
            <a:pPr indent="0" marL="0">
              <a:spcAft>
                <a:spcPts val="800"/>
              </a:spcAft>
              <a:buNone/>
            </a:pPr>
            <a:r>
              <a:rPr lang="en-US" sz="1600" b="1" dirty="0">
                <a:solidFill>
                  <a:srgbClr val="4B5563"/>
                </a:solidFill>
                <a:latin typeface="Courier New" pitchFamily="34" charset="0"/>
                <a:ea typeface="Courier New" pitchFamily="34" charset="-122"/>
                <a:cs typeface="Courier New" pitchFamily="34" charset="-120"/>
              </a:rPr>
              <a:t>200 OK</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 인증 토큰 발급</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"success": true,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"data":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"accessToken": "&lt;서비스_접근_토큰&gt;",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"refreshToken": "&lt;갱신_토큰&gt;",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"tokenType": "Bearer",</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"expiresIn": 3600,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"user":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"id": "usr_0192d6a9-38a8-7c1f-9f3a-90b11ab41234",</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"accountStatus": "active"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"timestamp": "2026-10-01T02:00:00Z",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"requestId": "req_0192d6aa-7e18-7c31-a435-0b1d5fb11f01"</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 인증 토큰 발급</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주요 처리 사례</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 인증 토큰 발급</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3291840"/>
                <a:gridCol w="4937760"/>
              </a:tblGrid>
              <a:tr h="0">
                <a:tc>
                  <a:txBody>
                    <a:bodyPr/>
                    <a:lstStyle/>
                    <a:p>
                      <a:pPr indent="0" marL="0">
                        <a:buNone/>
                      </a:pPr>
                      <a:r>
                        <a:rPr lang="en-US" sz="1200" b="1" dirty="0">
                          <a:solidFill>
                            <a:srgbClr val="FFFFFF"/>
                          </a:solidFill>
                        </a:rPr>
                        <a:t>사례</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처리</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인증 </a:t>
                      </a:r>
                      <a:pPr indent="0" marL="0">
                        <a:buNone/>
                      </a:pPr>
                      <a:r>
                        <a:rPr lang="en-US" sz="1100" dirty="0">
                          <a:solidFill>
                            <a:srgbClr val="1F2937"/>
                          </a:solidFill>
                        </a:rPr>
                        <a:t>제공자 </a:t>
                      </a:r>
                      <a:pPr indent="0" marL="0">
                        <a:buNone/>
                      </a:pPr>
                      <a:r>
                        <a:rPr lang="en-US" sz="1100" dirty="0">
                          <a:solidFill>
                            <a:srgbClr val="1F2937"/>
                          </a:solidFill>
                        </a:rPr>
                        <a:t>토큰이 </a:t>
                      </a:r>
                      <a:pPr indent="0" marL="0">
                        <a:buNone/>
                      </a:pPr>
                      <a:r>
                        <a:rPr lang="en-US" sz="1100" dirty="0">
                          <a:solidFill>
                            <a:srgbClr val="1F2937"/>
                          </a:solidFill>
                        </a:rPr>
                        <a:t>유효함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기존 </a:t>
                      </a:r>
                      <a:pPr indent="0" marL="0">
                        <a:buNone/>
                      </a:pPr>
                      <a:r>
                        <a:rPr lang="en-US" sz="1100" dirty="0">
                          <a:solidFill>
                            <a:srgbClr val="1F2937"/>
                          </a:solidFill>
                        </a:rPr>
                        <a:t>계정 </a:t>
                      </a:r>
                      <a:pPr indent="0" marL="0">
                        <a:buNone/>
                      </a:pPr>
                      <a:r>
                        <a:rPr lang="en-US" sz="1100" dirty="0">
                          <a:solidFill>
                            <a:srgbClr val="1F2937"/>
                          </a:solidFill>
                        </a:rPr>
                        <a:t>확인 </a:t>
                      </a:r>
                      <a:pPr indent="0" marL="0">
                        <a:buNone/>
                      </a:pPr>
                      <a:r>
                        <a:rPr lang="en-US" sz="1100" dirty="0">
                          <a:solidFill>
                            <a:srgbClr val="1F2937"/>
                          </a:solidFill>
                        </a:rPr>
                        <a:t>후 </a:t>
                      </a:r>
                      <a:pPr indent="0" marL="0">
                        <a:buNone/>
                      </a:pPr>
                      <a:r>
                        <a:rPr lang="en-US" sz="1100" dirty="0">
                          <a:solidFill>
                            <a:srgbClr val="1F2937"/>
                          </a:solidFill>
                        </a:rPr>
                        <a:t>토큰 </a:t>
                      </a:r>
                      <a:pPr indent="0" marL="0">
                        <a:buNone/>
                      </a:pPr>
                      <a:r>
                        <a:rPr lang="en-US" sz="1100" dirty="0">
                          <a:solidFill>
                            <a:srgbClr val="1F2937"/>
                          </a:solidFill>
                        </a:rPr>
                        <a:t>발급. </a:t>
                      </a:r>
                      <a:pPr indent="0" marL="0">
                        <a:buNone/>
                      </a:pPr>
                      <a:r>
                        <a:rPr lang="en-US" sz="1100" dirty="0">
                          <a:solidFill>
                            <a:srgbClr val="1F2937"/>
                          </a:solidFill>
                        </a:rPr>
                        <a:t>계정 </a:t>
                      </a:r>
                      <a:pPr indent="0" marL="0">
                        <a:buNone/>
                      </a:pPr>
                      <a:r>
                        <a:rPr lang="en-US" sz="1100" dirty="0">
                          <a:solidFill>
                            <a:srgbClr val="1F2937"/>
                          </a:solidFill>
                        </a:rPr>
                        <a:t>자동 </a:t>
                      </a:r>
                      <a:pPr indent="0" marL="0">
                        <a:buNone/>
                      </a:pPr>
                      <a:r>
                        <a:rPr lang="en-US" sz="1100" dirty="0">
                          <a:solidFill>
                            <a:srgbClr val="1F2937"/>
                          </a:solidFill>
                        </a:rPr>
                        <a:t>병합은 </a:t>
                      </a:r>
                      <a:pPr indent="0" marL="0">
                        <a:buNone/>
                      </a:pPr>
                      <a:r>
                        <a:rPr lang="en-US" sz="1100" dirty="0">
                          <a:solidFill>
                            <a:srgbClr val="1F2937"/>
                          </a:solidFill>
                        </a:rPr>
                        <a:t>하지 </a:t>
                      </a:r>
                      <a:pPr indent="0" marL="0">
                        <a:buNone/>
                      </a:pPr>
                      <a:r>
                        <a:rPr lang="en-US" sz="1100" dirty="0">
                          <a:solidFill>
                            <a:srgbClr val="1F2937"/>
                          </a:solidFill>
                        </a:rPr>
                        <a:t>않는 </a:t>
                      </a:r>
                      <a:pPr indent="0" marL="0">
                        <a:buNone/>
                      </a:pPr>
                      <a:r>
                        <a:rPr lang="en-US" sz="1100" dirty="0">
                          <a:solidFill>
                            <a:srgbClr val="1F2937"/>
                          </a:solidFill>
                        </a:rPr>
                        <a:t>방향을 </a:t>
                      </a:r>
                      <a:pPr indent="0" marL="0">
                        <a:buNone/>
                      </a:pPr>
                      <a:r>
                        <a:rPr lang="en-US" sz="1100" dirty="0">
                          <a:solidFill>
                            <a:srgbClr val="1F2937"/>
                          </a:solidFill>
                        </a:rPr>
                        <a:t>제안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처음 </a:t>
                      </a:r>
                      <a:pPr indent="0" marL="0">
                        <a:buNone/>
                      </a:pPr>
                      <a:r>
                        <a:rPr lang="en-US" sz="1100" dirty="0">
                          <a:solidFill>
                            <a:srgbClr val="1F2937"/>
                          </a:solidFill>
                        </a:rPr>
                        <a:t>로그인한 </a:t>
                      </a:r>
                      <a:pPr indent="0" marL="0">
                        <a:buNone/>
                      </a:pPr>
                      <a:r>
                        <a:rPr lang="en-US" sz="1100" dirty="0">
                          <a:solidFill>
                            <a:srgbClr val="1F2937"/>
                          </a:solidFill>
                        </a:rPr>
                        <a:t>제공자 </a:t>
                      </a:r>
                      <a:pPr indent="0" marL="0">
                        <a:buNone/>
                      </a:pPr>
                      <a:r>
                        <a:rPr lang="en-US" sz="1100" dirty="0">
                          <a:solidFill>
                            <a:srgbClr val="1F2937"/>
                          </a:solidFill>
                        </a:rPr>
                        <a:t>계정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내부 </a:t>
                      </a:r>
                      <a:pPr indent="0" marL="0">
                        <a:buNone/>
                      </a:pPr>
                      <a:r>
                        <a:rPr lang="en-US" sz="1100" dirty="0">
                          <a:solidFill>
                            <a:srgbClr val="1F2937"/>
                          </a:solidFill>
                        </a:rPr>
                        <a:t>사용자 </a:t>
                      </a:r>
                      <a:pPr indent="0" marL="0">
                        <a:buNone/>
                      </a:pPr>
                      <a:r>
                        <a:rPr lang="en-US" sz="1100" dirty="0">
                          <a:solidFill>
                            <a:srgbClr val="1F2937"/>
                          </a:solidFill>
                        </a:rPr>
                        <a:t>생성 </a:t>
                      </a:r>
                      <a:pPr indent="0" marL="0">
                        <a:buNone/>
                      </a:pPr>
                      <a:r>
                        <a:rPr lang="en-US" sz="1100" dirty="0">
                          <a:solidFill>
                            <a:srgbClr val="1F2937"/>
                          </a:solidFill>
                        </a:rPr>
                        <a:t>후 </a:t>
                      </a:r>
                      <a:pPr indent="0" marL="0">
                        <a:buNone/>
                      </a:pPr>
                      <a:r>
                        <a:rPr lang="en-US" sz="1100" dirty="0">
                          <a:solidFill>
                            <a:srgbClr val="1F2937"/>
                          </a:solidFill>
                        </a:rPr>
                        <a:t>토큰 </a:t>
                      </a:r>
                      <a:pPr indent="0" marL="0">
                        <a:buNone/>
                      </a:pPr>
                      <a:r>
                        <a:rPr lang="en-US" sz="1100" dirty="0">
                          <a:solidFill>
                            <a:srgbClr val="1F2937"/>
                          </a:solidFill>
                        </a:rPr>
                        <a:t>발급</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제공자 </a:t>
                      </a:r>
                      <a:pPr indent="0" marL="0">
                        <a:buNone/>
                      </a:pPr>
                      <a:r>
                        <a:rPr lang="en-US" sz="1100" dirty="0">
                          <a:solidFill>
                            <a:srgbClr val="1F2937"/>
                          </a:solidFill>
                        </a:rPr>
                        <a:t>토큰이 </a:t>
                      </a:r>
                      <a:pPr indent="0" marL="0">
                        <a:buNone/>
                      </a:pPr>
                      <a:r>
                        <a:rPr lang="en-US" sz="1100" dirty="0">
                          <a:solidFill>
                            <a:srgbClr val="1F2937"/>
                          </a:solidFill>
                        </a:rPr>
                        <a:t>만료·위조됨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401</a:t>
                      </a:r>
                      <a:pPr indent="0" marL="0">
                        <a:buNone/>
                      </a:pPr>
                      <a:r>
                        <a:rPr lang="en-US" sz="1100" dirty="0">
                          <a:solidFill>
                            <a:srgbClr val="1F2937"/>
                          </a:solidFill>
                        </a:rPr>
                        <a:t>,</a:t>
                      </a:r>
                      <a:pPr indent="0" marL="0">
                        <a:buNone/>
                      </a:pPr>
                      <a:r>
                        <a:rPr lang="en-US" sz="1100" dirty="0">
                          <a:solidFill>
                            <a:srgbClr val="1F2937"/>
                          </a:solidFill>
                          <a:latin typeface="Courier New" pitchFamily="34" charset="0"/>
                          <a:ea typeface="Courier New" pitchFamily="34" charset="-122"/>
                          <a:cs typeface="Courier New" pitchFamily="34" charset="-120"/>
                        </a:rPr>
                        <a:t>INVALID_PROVIDER_TOKEN</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승인되지 </a:t>
                      </a:r>
                      <a:pPr indent="0" marL="0">
                        <a:buNone/>
                      </a:pPr>
                      <a:r>
                        <a:rPr lang="en-US" sz="1100" dirty="0">
                          <a:solidFill>
                            <a:srgbClr val="1F2937"/>
                          </a:solidFill>
                        </a:rPr>
                        <a:t>않은 </a:t>
                      </a:r>
                      <a:pPr indent="0" marL="0">
                        <a:buNone/>
                      </a:pPr>
                      <a:r>
                        <a:rPr lang="en-US" sz="1100" dirty="0">
                          <a:solidFill>
                            <a:srgbClr val="1F2937"/>
                          </a:solidFill>
                        </a:rPr>
                        <a:t>제공자 </a:t>
                      </a:r>
                      <a:pPr indent="0" marL="0">
                        <a:buNone/>
                      </a:pPr>
                      <a:r>
                        <a:rPr lang="en-US" sz="1100" dirty="0">
                          <a:solidFill>
                            <a:srgbClr val="1F2937"/>
                          </a:solidFill>
                        </a:rPr>
                        <a:t>사용</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422</a:t>
                      </a:r>
                      <a:pPr indent="0" marL="0">
                        <a:buNone/>
                      </a:pPr>
                      <a:r>
                        <a:rPr lang="en-US" sz="1100" dirty="0">
                          <a:solidFill>
                            <a:srgbClr val="1F2937"/>
                          </a:solidFill>
                        </a:rPr>
                        <a:t>,</a:t>
                      </a:r>
                      <a:pPr indent="0" marL="0">
                        <a:buNone/>
                      </a:pPr>
                      <a:r>
                        <a:rPr lang="en-US" sz="1100" dirty="0">
                          <a:solidFill>
                            <a:srgbClr val="1F2937"/>
                          </a:solidFill>
                          <a:latin typeface="Courier New" pitchFamily="34" charset="0"/>
                          <a:ea typeface="Courier New" pitchFamily="34" charset="-122"/>
                          <a:cs typeface="Courier New" pitchFamily="34" charset="-120"/>
                        </a:rPr>
                        <a:t>UNSUPPORTED_AUTH_PROVIDER</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같은 </a:t>
                      </a:r>
                      <a:pPr indent="0" marL="0">
                        <a:buNone/>
                      </a:pPr>
                      <a:r>
                        <a:rPr lang="en-US" sz="1100" dirty="0">
                          <a:solidFill>
                            <a:srgbClr val="1F2937"/>
                          </a:solidFill>
                        </a:rPr>
                        <a:t>제공자 </a:t>
                      </a:r>
                      <a:pPr indent="0" marL="0">
                        <a:buNone/>
                      </a:pPr>
                      <a:r>
                        <a:rPr lang="en-US" sz="1100" dirty="0">
                          <a:solidFill>
                            <a:srgbClr val="1F2937"/>
                          </a:solidFill>
                        </a:rPr>
                        <a:t>계정이 </a:t>
                      </a:r>
                      <a:pPr indent="0" marL="0">
                        <a:buNone/>
                      </a:pPr>
                      <a:r>
                        <a:rPr lang="en-US" sz="1100" dirty="0">
                          <a:solidFill>
                            <a:srgbClr val="1F2937"/>
                          </a:solidFill>
                        </a:rPr>
                        <a:t>이미 </a:t>
                      </a:r>
                      <a:pPr indent="0" marL="0">
                        <a:buNone/>
                      </a:pPr>
                      <a:r>
                        <a:rPr lang="en-US" sz="1100" dirty="0">
                          <a:solidFill>
                            <a:srgbClr val="1F2937"/>
                          </a:solidFill>
                        </a:rPr>
                        <a:t>다른 </a:t>
                      </a:r>
                      <a:pPr indent="0" marL="0">
                        <a:buNone/>
                      </a:pPr>
                      <a:r>
                        <a:rPr lang="en-US" sz="1100" dirty="0">
                          <a:solidFill>
                            <a:srgbClr val="1F2937"/>
                          </a:solidFill>
                        </a:rPr>
                        <a:t>계정에 </a:t>
                      </a:r>
                      <a:pPr indent="0" marL="0">
                        <a:buNone/>
                      </a:pPr>
                      <a:r>
                        <a:rPr lang="en-US" sz="1100" dirty="0">
                          <a:solidFill>
                            <a:srgbClr val="1F2937"/>
                          </a:solidFill>
                        </a:rPr>
                        <a:t>연결됨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409</a:t>
                      </a:r>
                      <a:pPr indent="0" marL="0">
                        <a:buNone/>
                      </a:pPr>
                      <a:r>
                        <a:rPr lang="en-US" sz="1100" dirty="0">
                          <a:solidFill>
                            <a:srgbClr val="1F2937"/>
                          </a:solidFill>
                        </a:rPr>
                        <a:t>, </a:t>
                      </a:r>
                      <a:pPr indent="0" marL="0">
                        <a:buNone/>
                      </a:pPr>
                      <a:r>
                        <a:rPr lang="en-US" sz="1100" dirty="0">
                          <a:solidFill>
                            <a:srgbClr val="1F2937"/>
                          </a:solidFill>
                        </a:rPr>
                        <a:t>계정 </a:t>
                      </a:r>
                      <a:pPr indent="0" marL="0">
                        <a:buNone/>
                      </a:pPr>
                      <a:r>
                        <a:rPr lang="en-US" sz="1100" dirty="0">
                          <a:solidFill>
                            <a:srgbClr val="1F2937"/>
                          </a:solidFill>
                        </a:rPr>
                        <a:t>연결 </a:t>
                      </a:r>
                      <a:pPr indent="0" marL="0">
                        <a:buNone/>
                      </a:pPr>
                      <a:r>
                        <a:rPr lang="en-US" sz="1100" dirty="0">
                          <a:solidFill>
                            <a:srgbClr val="1F2937"/>
                          </a:solidFill>
                        </a:rPr>
                        <a:t>정책에 </a:t>
                      </a:r>
                      <a:pPr indent="0" marL="0">
                        <a:buNone/>
                      </a:pPr>
                      <a:r>
                        <a:rPr lang="en-US" sz="1100" dirty="0">
                          <a:solidFill>
                            <a:srgbClr val="1F2937"/>
                          </a:solidFill>
                        </a:rPr>
                        <a:t>따라 </a:t>
                      </a:r>
                      <a:pPr indent="0" marL="0">
                        <a:buNone/>
                      </a:pPr>
                      <a:r>
                        <a:rPr lang="en-US" sz="1100" dirty="0">
                          <a:solidFill>
                            <a:srgbClr val="1F2937"/>
                          </a:solidFill>
                        </a:rPr>
                        <a:t>처리. </a:t>
                      </a:r>
                      <a:pPr indent="0" marL="0">
                        <a:buNone/>
                      </a:pPr>
                      <a:r>
                        <a:rPr lang="en-US" sz="1100" dirty="0">
                          <a:solidFill>
                            <a:srgbClr val="1F2937"/>
                          </a:solidFill>
                        </a:rPr>
                        <a:t>자동 </a:t>
                      </a:r>
                      <a:pPr indent="0" marL="0">
                        <a:buNone/>
                      </a:pPr>
                      <a:r>
                        <a:rPr lang="en-US" sz="1100" dirty="0">
                          <a:solidFill>
                            <a:srgbClr val="1F2937"/>
                          </a:solidFill>
                        </a:rPr>
                        <a:t>병합은 </a:t>
                      </a:r>
                      <a:pPr indent="0" marL="0">
                        <a:buNone/>
                      </a:pPr>
                      <a:r>
                        <a:rPr lang="en-US" sz="1100" dirty="0">
                          <a:solidFill>
                            <a:srgbClr val="1F2937"/>
                          </a:solidFill>
                        </a:rPr>
                        <a:t>금지하고 </a:t>
                      </a:r>
                      <a:pPr indent="0" marL="0">
                        <a:buNone/>
                      </a:pPr>
                      <a:r>
                        <a:rPr lang="en-US" sz="1100" dirty="0">
                          <a:solidFill>
                            <a:srgbClr val="1F2937"/>
                          </a:solidFill>
                        </a:rPr>
                        <a:t>사용자 </a:t>
                      </a:r>
                      <a:pPr indent="0" marL="0">
                        <a:buNone/>
                      </a:pPr>
                      <a:r>
                        <a:rPr lang="en-US" sz="1100" dirty="0">
                          <a:solidFill>
                            <a:srgbClr val="1F2937"/>
                          </a:solidFill>
                        </a:rPr>
                        <a:t>확인 </a:t>
                      </a:r>
                      <a:pPr indent="0" marL="0">
                        <a:buNone/>
                      </a:pPr>
                      <a:r>
                        <a:rPr lang="en-US" sz="1100" dirty="0">
                          <a:solidFill>
                            <a:srgbClr val="1F2937"/>
                          </a:solidFill>
                        </a:rPr>
                        <a:t>흐름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 인증 토큰 발급</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오류 응답 예시</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 인증 토큰 발급</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"success": false,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"error":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"code": "INVALID_PROVIDER_TOKEN",</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"message": "인증 정보를 확인할 수 없습니다."</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"timestamp": "2026-10-01T02:00:00Z",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"requestId": "req_0192d6aa-7e18-7c31-a435-0b1d5fb11f01"</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6.2 인증 토큰 갱신</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POST</a:t>
            </a:r>
            <a:pPr indent="0" marL="0">
              <a:spcAft>
                <a:spcPts val="800"/>
              </a:spcAft>
              <a:buNone/>
            </a:pPr>
            <a:r>
              <a:rPr lang="en-US" sz="1600" dirty="0">
                <a:solidFill>
                  <a:srgbClr val="4B5563"/>
                </a:solidFill>
              </a:rPr>
              <a:t>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/v1/auth/refresh</a:t>
            </a:r>
            <a:endParaRPr lang="en-US" sz="1600" dirty="0"/>
          </a:p>
          <a:p>
            <a:pPr indent="0" marL="0">
              <a:spcAft>
                <a:spcPts val="800"/>
              </a:spcAft>
              <a:buNone/>
            </a:pPr>
            <a:r>
              <a:rPr lang="en-US" sz="1600" b="1" dirty="0">
                <a:solidFill>
                  <a:srgbClr val="4B5563"/>
                </a:solidFill>
              </a:rPr>
              <a:t>요청 본문</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6.2 인증 토큰 갱신</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954215"/>
                <a:gridCol w="1266092"/>
                <a:gridCol w="1266092"/>
                <a:gridCol w="2743200"/>
              </a:tblGrid>
              <a:tr h="0">
                <a:tc>
                  <a:txBody>
                    <a:bodyPr/>
                    <a:lstStyle/>
                    <a:p>
                      <a:pPr indent="0" marL="0">
                        <a:buNone/>
                      </a:pPr>
                      <a:r>
                        <a:rPr lang="en-US" sz="1200" b="1" dirty="0">
                          <a:solidFill>
                            <a:srgbClr val="FFFFFF"/>
                          </a:solidFill>
                        </a:rPr>
                        <a:t>필드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형식</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필수</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설명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refreshToken</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문자열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서버가 </a:t>
                      </a:r>
                      <a:pPr indent="0" marL="0">
                        <a:buNone/>
                      </a:pPr>
                      <a:r>
                        <a:rPr lang="en-US" sz="1100" dirty="0">
                          <a:solidFill>
                            <a:srgbClr val="1F2937"/>
                          </a:solidFill>
                        </a:rPr>
                        <a:t>발급한 </a:t>
                      </a:r>
                      <a:pPr indent="0" marL="0">
                        <a:buNone/>
                      </a:pPr>
                      <a:r>
                        <a:rPr lang="en-US" sz="1100" dirty="0">
                          <a:solidFill>
                            <a:srgbClr val="1F2937"/>
                          </a:solidFill>
                        </a:rPr>
                        <a:t>갱신 </a:t>
                      </a:r>
                      <a:pPr indent="0" marL="0">
                        <a:buNone/>
                      </a:pPr>
                      <a:r>
                        <a:rPr lang="en-US" sz="1100" dirty="0">
                          <a:solidFill>
                            <a:srgbClr val="1F2937"/>
                          </a:solidFill>
                        </a:rPr>
                        <a:t>토큰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6.2 인증 토큰 갱신</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요청 예시</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6.2 인증 토큰 갱신</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"refreshToken": "&lt;갱신_토큰&gt;"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6.2 인증 토큰 갱신</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성공 응답 </a:t>
            </a:r>
            <a:pPr indent="0" marL="0">
              <a:spcAft>
                <a:spcPts val="800"/>
              </a:spcAft>
              <a:buNone/>
            </a:pPr>
            <a:r>
              <a:rPr lang="en-US" sz="1600" b="1" dirty="0">
                <a:solidFill>
                  <a:srgbClr val="4B5563"/>
                </a:solidFill>
                <a:latin typeface="Courier New" pitchFamily="34" charset="0"/>
                <a:ea typeface="Courier New" pitchFamily="34" charset="-122"/>
                <a:cs typeface="Courier New" pitchFamily="34" charset="-120"/>
              </a:rPr>
              <a:t>200 OK</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6.2 인증 토큰 갱신</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"success": true,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"data":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"accessToken": "&lt;새_접근_토큰&gt;",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"refreshToken": "&lt;새_갱신_토큰&gt;",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"tokenType": "Bearer",</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"expiresIn": 3600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"timestamp": "2026-10-01T02:05:00Z",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"requestId": "req_0192d6ab-1dc0-7055-8b66-4e9df7087b20"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6.2 인증 토큰 갱신</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468880"/>
                <a:gridCol w="5760720"/>
              </a:tblGrid>
              <a:tr h="0">
                <a:tc>
                  <a:txBody>
                    <a:bodyPr/>
                    <a:lstStyle/>
                    <a:p>
                      <a:pPr indent="0" marL="0">
                        <a:buNone/>
                      </a:pPr>
                      <a:r>
                        <a:rPr lang="en-US" sz="1200" b="1" dirty="0">
                          <a:solidFill>
                            <a:srgbClr val="FFFFFF"/>
                          </a:solidFill>
                        </a:rPr>
                        <a:t>사례</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처리</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유효한 </a:t>
                      </a:r>
                      <a:pPr indent="0" marL="0">
                        <a:buNone/>
                      </a:pPr>
                      <a:r>
                        <a:rPr lang="en-US" sz="1100" dirty="0">
                          <a:solidFill>
                            <a:srgbClr val="1F2937"/>
                          </a:solidFill>
                        </a:rPr>
                        <a:t>갱신 </a:t>
                      </a:r>
                      <a:pPr indent="0" marL="0">
                        <a:buNone/>
                      </a:pPr>
                      <a:r>
                        <a:rPr lang="en-US" sz="1100" dirty="0">
                          <a:solidFill>
                            <a:srgbClr val="1F2937"/>
                          </a:solidFill>
                        </a:rPr>
                        <a:t>토큰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새 </a:t>
                      </a:r>
                      <a:pPr indent="0" marL="0">
                        <a:buNone/>
                      </a:pPr>
                      <a:r>
                        <a:rPr lang="en-US" sz="1100" dirty="0">
                          <a:solidFill>
                            <a:srgbClr val="1F2937"/>
                          </a:solidFill>
                        </a:rPr>
                        <a:t>접근 </a:t>
                      </a:r>
                      <a:pPr indent="0" marL="0">
                        <a:buNone/>
                      </a:pPr>
                      <a:r>
                        <a:rPr lang="en-US" sz="1100" dirty="0">
                          <a:solidFill>
                            <a:srgbClr val="1F2937"/>
                          </a:solidFill>
                        </a:rPr>
                        <a:t>토큰 </a:t>
                      </a:r>
                      <a:pPr indent="0" marL="0">
                        <a:buNone/>
                      </a:pPr>
                      <a:r>
                        <a:rPr lang="en-US" sz="1100" dirty="0">
                          <a:solidFill>
                            <a:srgbClr val="1F2937"/>
                          </a:solidFill>
                        </a:rPr>
                        <a:t>발급</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만료된 </a:t>
                      </a:r>
                      <a:pPr indent="0" marL="0">
                        <a:buNone/>
                      </a:pPr>
                      <a:r>
                        <a:rPr lang="en-US" sz="1100" dirty="0">
                          <a:solidFill>
                            <a:srgbClr val="1F2937"/>
                          </a:solidFill>
                        </a:rPr>
                        <a:t>갱신 </a:t>
                      </a:r>
                      <a:pPr indent="0" marL="0">
                        <a:buNone/>
                      </a:pPr>
                      <a:r>
                        <a:rPr lang="en-US" sz="1100" dirty="0">
                          <a:solidFill>
                            <a:srgbClr val="1F2937"/>
                          </a:solidFill>
                        </a:rPr>
                        <a:t>토큰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401</a:t>
                      </a:r>
                      <a:pPr indent="0" marL="0">
                        <a:buNone/>
                      </a:pPr>
                      <a:r>
                        <a:rPr lang="en-US" sz="1100" dirty="0">
                          <a:solidFill>
                            <a:srgbClr val="1F2937"/>
                          </a:solidFill>
                        </a:rPr>
                        <a:t>, </a:t>
                      </a:r>
                      <a:pPr indent="0" marL="0">
                        <a:buNone/>
                      </a:pPr>
                      <a:r>
                        <a:rPr lang="en-US" sz="1100" dirty="0">
                          <a:solidFill>
                            <a:srgbClr val="1F2937"/>
                          </a:solidFill>
                        </a:rPr>
                        <a:t>재인증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탈퇴 </a:t>
                      </a:r>
                      <a:pPr indent="0" marL="0">
                        <a:buNone/>
                      </a:pPr>
                      <a:r>
                        <a:rPr lang="en-US" sz="1100" dirty="0">
                          <a:solidFill>
                            <a:srgbClr val="1F2937"/>
                          </a:solidFill>
                        </a:rPr>
                        <a:t>처리 </a:t>
                      </a:r>
                      <a:pPr indent="0" marL="0">
                        <a:buNone/>
                      </a:pPr>
                      <a:r>
                        <a:rPr lang="en-US" sz="1100" dirty="0">
                          <a:solidFill>
                            <a:srgbClr val="1F2937"/>
                          </a:solidFill>
                        </a:rPr>
                        <a:t>중인 </a:t>
                      </a:r>
                      <a:pPr indent="0" marL="0">
                        <a:buNone/>
                      </a:pPr>
                      <a:r>
                        <a:rPr lang="en-US" sz="1100" dirty="0">
                          <a:solidFill>
                            <a:srgbClr val="1F2937"/>
                          </a:solidFill>
                        </a:rPr>
                        <a:t>계정의 </a:t>
                      </a:r>
                      <a:pPr indent="0" marL="0">
                        <a:buNone/>
                      </a:pPr>
                      <a:r>
                        <a:rPr lang="en-US" sz="1100" dirty="0">
                          <a:solidFill>
                            <a:srgbClr val="1F2937"/>
                          </a:solidFill>
                        </a:rPr>
                        <a:t>토큰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정책에 </a:t>
                      </a:r>
                      <a:pPr indent="0" marL="0">
                        <a:buNone/>
                      </a:pPr>
                      <a:r>
                        <a:rPr lang="en-US" sz="1100" dirty="0">
                          <a:solidFill>
                            <a:srgbClr val="1F2937"/>
                          </a:solidFill>
                        </a:rPr>
                        <a:t>따라</a:t>
                      </a:r>
                      <a:pPr indent="0" marL="0">
                        <a:buNone/>
                      </a:pPr>
                      <a:r>
                        <a:rPr lang="en-US" sz="1100" dirty="0">
                          <a:solidFill>
                            <a:srgbClr val="1F2937"/>
                          </a:solidFill>
                          <a:latin typeface="Courier New" pitchFamily="34" charset="0"/>
                          <a:ea typeface="Courier New" pitchFamily="34" charset="-122"/>
                          <a:cs typeface="Courier New" pitchFamily="34" charset="-120"/>
                        </a:rPr>
                        <a:t>403</a:t>
                      </a:r>
                      <a:pPr indent="0" marL="0">
                        <a:buNone/>
                      </a:pPr>
                      <a:r>
                        <a:rPr lang="en-US" sz="1100" dirty="0">
                          <a:solidFill>
                            <a:srgbClr val="1F2937"/>
                          </a:solidFill>
                        </a:rPr>
                        <a:t>또는</a:t>
                      </a:r>
                      <a:pPr indent="0" marL="0">
                        <a:buNone/>
                      </a:pPr>
                      <a:r>
                        <a:rPr lang="en-US" sz="1100" dirty="0">
                          <a:solidFill>
                            <a:srgbClr val="1F2937"/>
                          </a:solidFill>
                          <a:latin typeface="Courier New" pitchFamily="34" charset="0"/>
                          <a:ea typeface="Courier New" pitchFamily="34" charset="-122"/>
                          <a:cs typeface="Courier New" pitchFamily="34" charset="-120"/>
                        </a:rPr>
                        <a:t>401</a:t>
                      </a:r>
                      <a:pPr indent="0" marL="0">
                        <a:buNone/>
                      </a:pPr>
                      <a:r>
                        <a:rPr lang="en-US" sz="1100" dirty="0">
                          <a:solidFill>
                            <a:srgbClr val="1F2937"/>
                          </a:solidFill>
                        </a:rPr>
                        <a:t>. </a:t>
                      </a:r>
                      <a:pPr indent="0" marL="0">
                        <a:buNone/>
                      </a:pPr>
                      <a:r>
                        <a:rPr lang="en-US" sz="1100" dirty="0">
                          <a:solidFill>
                            <a:srgbClr val="1F2937"/>
                          </a:solidFill>
                        </a:rPr>
                        <a:t>실제 </a:t>
                      </a:r>
                      <a:pPr indent="0" marL="0">
                        <a:buNone/>
                      </a:pPr>
                      <a:r>
                        <a:rPr lang="en-US" sz="1100" dirty="0">
                          <a:solidFill>
                            <a:srgbClr val="1F2937"/>
                          </a:solidFill>
                        </a:rPr>
                        <a:t>응답은 </a:t>
                      </a:r>
                      <a:pPr indent="0" marL="0">
                        <a:buNone/>
                      </a:pPr>
                      <a:r>
                        <a:rPr lang="en-US" sz="1100" dirty="0">
                          <a:solidFill>
                            <a:srgbClr val="1F2937"/>
                          </a:solidFill>
                        </a:rPr>
                        <a:t>확정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잘못된 </a:t>
                      </a:r>
                      <a:pPr indent="0" marL="0">
                        <a:buNone/>
                      </a:pPr>
                      <a:r>
                        <a:rPr lang="en-US" sz="1100" dirty="0">
                          <a:solidFill>
                            <a:srgbClr val="1F2937"/>
                          </a:solidFill>
                        </a:rPr>
                        <a:t>요청 </a:t>
                      </a:r>
                      <a:pPr indent="0" marL="0">
                        <a:buNone/>
                      </a:pPr>
                      <a:r>
                        <a:rPr lang="en-US" sz="1100" dirty="0">
                          <a:solidFill>
                            <a:srgbClr val="1F2937"/>
                          </a:solidFill>
                        </a:rPr>
                        <a:t>본문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422</a:t>
                      </a:r>
                      <a:pPr indent="0" marL="0">
                        <a:buNone/>
                      </a:pPr>
                      <a:r>
                        <a:rPr lang="en-US" sz="1100" dirty="0">
                          <a:solidFill>
                            <a:srgbClr val="1F2937"/>
                          </a:solidFill>
                        </a:rPr>
                        <a:t>, </a:t>
                      </a:r>
                      <a:pPr indent="0" marL="0">
                        <a:buNone/>
                      </a:pPr>
                      <a:r>
                        <a:rPr lang="en-US" sz="1100" dirty="0">
                          <a:solidFill>
                            <a:srgbClr val="1F2937"/>
                          </a:solidFill>
                        </a:rPr>
                        <a:t>필드 </a:t>
                      </a:r>
                      <a:pPr indent="0" marL="0">
                        <a:buNone/>
                      </a:pPr>
                      <a:r>
                        <a:rPr lang="en-US" sz="1100" dirty="0">
                          <a:solidFill>
                            <a:srgbClr val="1F2937"/>
                          </a:solidFill>
                        </a:rPr>
                        <a:t>오류 </a:t>
                      </a:r>
                      <a:pPr indent="0" marL="0">
                        <a:buNone/>
                      </a:pPr>
                      <a:r>
                        <a:rPr lang="en-US" sz="1100" dirty="0">
                          <a:solidFill>
                            <a:srgbClr val="1F2937"/>
                          </a:solidFill>
                        </a:rPr>
                        <a:t>반환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토큰 </a:t>
                      </a:r>
                      <a:pPr indent="0" marL="0">
                        <a:buNone/>
                      </a:pPr>
                      <a:r>
                        <a:rPr lang="en-US" sz="1100" dirty="0">
                          <a:solidFill>
                            <a:srgbClr val="1F2937"/>
                          </a:solidFill>
                        </a:rPr>
                        <a:t>저장소·인증 </a:t>
                      </a:r>
                      <a:pPr indent="0" marL="0">
                        <a:buNone/>
                      </a:pPr>
                      <a:r>
                        <a:rPr lang="en-US" sz="1100" dirty="0">
                          <a:solidFill>
                            <a:srgbClr val="1F2937"/>
                          </a:solidFill>
                        </a:rPr>
                        <a:t>처리 </a:t>
                      </a:r>
                      <a:pPr indent="0" marL="0">
                        <a:buNone/>
                      </a:pPr>
                      <a:r>
                        <a:rPr lang="en-US" sz="1100" dirty="0">
                          <a:solidFill>
                            <a:srgbClr val="1F2937"/>
                          </a:solidFill>
                        </a:rPr>
                        <a:t>장애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500</a:t>
                      </a:r>
                      <a:pPr indent="0" marL="0">
                        <a:buNone/>
                      </a:pPr>
                      <a:r>
                        <a:rPr lang="en-US" sz="1100" dirty="0">
                          <a:solidFill>
                            <a:srgbClr val="1F2937"/>
                          </a:solidFill>
                        </a:rPr>
                        <a:t>, </a:t>
                      </a:r>
                      <a:pPr indent="0" marL="0">
                        <a:buNone/>
                      </a:pPr>
                      <a:r>
                        <a:rPr lang="en-US" sz="1100" dirty="0">
                          <a:solidFill>
                            <a:srgbClr val="1F2937"/>
                          </a:solidFill>
                        </a:rPr>
                        <a:t>토큰 </a:t>
                      </a:r>
                      <a:pPr indent="0" marL="0">
                        <a:buNone/>
                      </a:pPr>
                      <a:r>
                        <a:rPr lang="en-US" sz="1100" dirty="0">
                          <a:solidFill>
                            <a:srgbClr val="1F2937"/>
                          </a:solidFill>
                        </a:rPr>
                        <a:t>원문을 </a:t>
                      </a:r>
                      <a:pPr indent="0" marL="0">
                        <a:buNone/>
                      </a:pPr>
                      <a:r>
                        <a:rPr lang="en-US" sz="1100" dirty="0">
                          <a:solidFill>
                            <a:srgbClr val="1F2937"/>
                          </a:solidFill>
                        </a:rPr>
                        <a:t>로그에 </a:t>
                      </a:r>
                      <a:pPr indent="0" marL="0">
                        <a:buNone/>
                      </a:pPr>
                      <a:r>
                        <a:rPr lang="en-US" sz="1100" dirty="0">
                          <a:solidFill>
                            <a:srgbClr val="1F2937"/>
                          </a:solidFill>
                        </a:rPr>
                        <a:t>남기지 </a:t>
                      </a:r>
                      <a:pPr indent="0" marL="0">
                        <a:buNone/>
                      </a:pPr>
                      <a:r>
                        <a:rPr lang="en-US" sz="1100" dirty="0">
                          <a:solidFill>
                            <a:srgbClr val="1F2937"/>
                          </a:solidFill>
                        </a:rPr>
                        <a:t>않음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6.3 로그인 사용자 조회</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GET</a:t>
            </a:r>
            <a:pPr indent="0" marL="0">
              <a:spcAft>
                <a:spcPts val="800"/>
              </a:spcAft>
              <a:buNone/>
            </a:pPr>
            <a:r>
              <a:rPr lang="en-US" sz="1600" dirty="0">
                <a:solidFill>
                  <a:srgbClr val="4B5563"/>
                </a:solidFill>
              </a:rPr>
              <a:t>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/v1/me</a:t>
            </a:r>
            <a:endParaRPr lang="en-US" sz="1600" dirty="0"/>
          </a:p>
          <a:p>
            <a:pPr indent="0" marL="0">
              <a:spcAft>
                <a:spcPts val="800"/>
              </a:spcAft>
              <a:buNone/>
            </a:pPr>
            <a:r>
              <a:rPr lang="en-US" sz="1600" b="1" dirty="0">
                <a:solidFill>
                  <a:srgbClr val="4B5563"/>
                </a:solidFill>
              </a:rPr>
              <a:t>인증</a:t>
            </a:r>
            <a:pPr indent="0" marL="0">
              <a:spcAft>
                <a:spcPts val="800"/>
              </a:spcAft>
              <a:buNone/>
            </a:pPr>
            <a:r>
              <a:rPr lang="en-US" sz="1600" dirty="0">
                <a:solidFill>
                  <a:srgbClr val="4B5563"/>
                </a:solidFill>
              </a:rPr>
              <a:t>: 필요</a:t>
            </a:r>
            <a:endParaRPr lang="en-US" sz="1600" dirty="0"/>
          </a:p>
          <a:p>
            <a:pPr indent="0" marL="0">
              <a:spcAft>
                <a:spcPts val="800"/>
              </a:spcAft>
              <a:buNone/>
            </a:pPr>
            <a:r>
              <a:rPr lang="en-US" sz="1600" b="1" dirty="0">
                <a:solidFill>
                  <a:srgbClr val="4B5563"/>
                </a:solidFill>
              </a:rPr>
              <a:t>성공 응답 </a:t>
            </a:r>
            <a:pPr indent="0" marL="0">
              <a:spcAft>
                <a:spcPts val="800"/>
              </a:spcAft>
              <a:buNone/>
            </a:pPr>
            <a:r>
              <a:rPr lang="en-US" sz="1600" b="1" dirty="0">
                <a:solidFill>
                  <a:srgbClr val="4B5563"/>
                </a:solidFill>
                <a:latin typeface="Courier New" pitchFamily="34" charset="0"/>
                <a:ea typeface="Courier New" pitchFamily="34" charset="-122"/>
                <a:cs typeface="Courier New" pitchFamily="34" charset="-120"/>
              </a:rPr>
              <a:t>200 OK</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6.3 로그인 사용자 조회</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"success": true,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"data":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"id": "usr_0192d6a9-38a8-7c1f-9f3a-90b11ab41234",</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"accountStatus": "active",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"createdAt": "2026-10-01T01:30:00Z",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"profileCompleted": false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"timestamp": "2026-10-01T02:15:00Z",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"requestId": "req_0192d6b2-15d0-7b21-8de0-909544b02003"</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6.3 로그인 사용자 조회</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519265"/>
                <a:gridCol w="5710335"/>
              </a:tblGrid>
              <a:tr h="0">
                <a:tc>
                  <a:txBody>
                    <a:bodyPr/>
                    <a:lstStyle/>
                    <a:p>
                      <a:pPr indent="0" marL="0">
                        <a:buNone/>
                      </a:pPr>
                      <a:r>
                        <a:rPr lang="en-US" sz="1200" b="1" dirty="0">
                          <a:solidFill>
                            <a:srgbClr val="FFFFFF"/>
                          </a:solidFill>
                        </a:rPr>
                        <a:t>사례</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처리</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유효한 </a:t>
                      </a:r>
                      <a:pPr indent="0" marL="0">
                        <a:buNone/>
                      </a:pPr>
                      <a:r>
                        <a:rPr lang="en-US" sz="1100" dirty="0">
                          <a:solidFill>
                            <a:srgbClr val="1F2937"/>
                          </a:solidFill>
                        </a:rPr>
                        <a:t>인증 </a:t>
                      </a:r>
                      <a:pPr indent="0" marL="0">
                        <a:buNone/>
                      </a:pPr>
                      <a:r>
                        <a:rPr lang="en-US" sz="1100" dirty="0">
                          <a:solidFill>
                            <a:srgbClr val="1F2937"/>
                          </a:solidFill>
                        </a:rPr>
                        <a:t>사용자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사용자 </a:t>
                      </a:r>
                      <a:pPr indent="0" marL="0">
                        <a:buNone/>
                      </a:pPr>
                      <a:r>
                        <a:rPr lang="en-US" sz="1100" dirty="0">
                          <a:solidFill>
                            <a:srgbClr val="1F2937"/>
                          </a:solidFill>
                        </a:rPr>
                        <a:t>기본 </a:t>
                      </a:r>
                      <a:pPr indent="0" marL="0">
                        <a:buNone/>
                      </a:pPr>
                      <a:r>
                        <a:rPr lang="en-US" sz="1100" dirty="0">
                          <a:solidFill>
                            <a:srgbClr val="1F2937"/>
                          </a:solidFill>
                        </a:rPr>
                        <a:t>정보 </a:t>
                      </a:r>
                      <a:pPr indent="0" marL="0">
                        <a:buNone/>
                      </a:pPr>
                      <a:r>
                        <a:rPr lang="en-US" sz="1100" dirty="0">
                          <a:solidFill>
                            <a:srgbClr val="1F2937"/>
                          </a:solidFill>
                        </a:rPr>
                        <a:t>반환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토큰 </a:t>
                      </a:r>
                      <a:pPr indent="0" marL="0">
                        <a:buNone/>
                      </a:pPr>
                      <a:r>
                        <a:rPr lang="en-US" sz="1100" dirty="0">
                          <a:solidFill>
                            <a:srgbClr val="1F2937"/>
                          </a:solidFill>
                        </a:rPr>
                        <a:t>없음·만료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401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사용자를 </a:t>
                      </a:r>
                      <a:pPr indent="0" marL="0">
                        <a:buNone/>
                      </a:pPr>
                      <a:r>
                        <a:rPr lang="en-US" sz="1100" dirty="0">
                          <a:solidFill>
                            <a:srgbClr val="1F2937"/>
                          </a:solidFill>
                        </a:rPr>
                        <a:t>찾을 </a:t>
                      </a:r>
                      <a:pPr indent="0" marL="0">
                        <a:buNone/>
                      </a:pPr>
                      <a:r>
                        <a:rPr lang="en-US" sz="1100" dirty="0">
                          <a:solidFill>
                            <a:srgbClr val="1F2937"/>
                          </a:solidFill>
                        </a:rPr>
                        <a:t>수 </a:t>
                      </a:r>
                      <a:pPr indent="0" marL="0">
                        <a:buNone/>
                      </a:pPr>
                      <a:r>
                        <a:rPr lang="en-US" sz="1100" dirty="0">
                          <a:solidFill>
                            <a:srgbClr val="1F2937"/>
                          </a:solidFill>
                        </a:rPr>
                        <a:t>없음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404</a:t>
                      </a:r>
                      <a:pPr indent="0" marL="0">
                        <a:buNone/>
                      </a:pPr>
                      <a:r>
                        <a:rPr lang="en-US" sz="1100" dirty="0">
                          <a:solidFill>
                            <a:srgbClr val="1F2937"/>
                          </a:solidFill>
                        </a:rPr>
                        <a:t>또는</a:t>
                      </a:r>
                      <a:pPr indent="0" marL="0">
                        <a:buNone/>
                      </a:pPr>
                      <a:r>
                        <a:rPr lang="en-US" sz="1100" dirty="0">
                          <a:solidFill>
                            <a:srgbClr val="1F2937"/>
                          </a:solidFill>
                          <a:latin typeface="Courier New" pitchFamily="34" charset="0"/>
                          <a:ea typeface="Courier New" pitchFamily="34" charset="-122"/>
                          <a:cs typeface="Courier New" pitchFamily="34" charset="-120"/>
                        </a:rPr>
                        <a:t>401</a:t>
                      </a:r>
                      <a:pPr indent="0" marL="0">
                        <a:buNone/>
                      </a:pPr>
                      <a:r>
                        <a:rPr lang="en-US" sz="1100" dirty="0">
                          <a:solidFill>
                            <a:srgbClr val="1F2937"/>
                          </a:solidFill>
                        </a:rPr>
                        <a:t>. </a:t>
                      </a:r>
                      <a:pPr indent="0" marL="0">
                        <a:buNone/>
                      </a:pPr>
                      <a:r>
                        <a:rPr lang="en-US" sz="1100" dirty="0">
                          <a:solidFill>
                            <a:srgbClr val="1F2937"/>
                          </a:solidFill>
                        </a:rPr>
                        <a:t>토큰 </a:t>
                      </a:r>
                      <a:pPr indent="0" marL="0">
                        <a:buNone/>
                      </a:pPr>
                      <a:r>
                        <a:rPr lang="en-US" sz="1100" dirty="0">
                          <a:solidFill>
                            <a:srgbClr val="1F2937"/>
                          </a:solidFill>
                        </a:rPr>
                        <a:t>검증 </a:t>
                      </a:r>
                      <a:pPr indent="0" marL="0">
                        <a:buNone/>
                      </a:pPr>
                      <a:r>
                        <a:rPr lang="en-US" sz="1100" dirty="0">
                          <a:solidFill>
                            <a:srgbClr val="1F2937"/>
                          </a:solidFill>
                        </a:rPr>
                        <a:t>정책 </a:t>
                      </a:r>
                      <a:pPr indent="0" marL="0">
                        <a:buNone/>
                      </a:pPr>
                      <a:r>
                        <a:rPr lang="en-US" sz="1100" dirty="0">
                          <a:solidFill>
                            <a:srgbClr val="1F2937"/>
                          </a:solidFill>
                        </a:rPr>
                        <a:t>확정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삭제 </a:t>
                      </a:r>
                      <a:pPr indent="0" marL="0">
                        <a:buNone/>
                      </a:pPr>
                      <a:r>
                        <a:rPr lang="en-US" sz="1100" dirty="0">
                          <a:solidFill>
                            <a:srgbClr val="1F2937"/>
                          </a:solidFill>
                        </a:rPr>
                        <a:t>요청이 </a:t>
                      </a:r>
                      <a:pPr indent="0" marL="0">
                        <a:buNone/>
                      </a:pPr>
                      <a:r>
                        <a:rPr lang="en-US" sz="1100" dirty="0">
                          <a:solidFill>
                            <a:srgbClr val="1F2937"/>
                          </a:solidFill>
                        </a:rPr>
                        <a:t>진행 </a:t>
                      </a:r>
                      <a:pPr indent="0" marL="0">
                        <a:buNone/>
                      </a:pPr>
                      <a:r>
                        <a:rPr lang="en-US" sz="1100" dirty="0">
                          <a:solidFill>
                            <a:srgbClr val="1F2937"/>
                          </a:solidFill>
                        </a:rPr>
                        <a:t>중인 </a:t>
                      </a:r>
                      <a:pPr indent="0" marL="0">
                        <a:buNone/>
                      </a:pPr>
                      <a:r>
                        <a:rPr lang="en-US" sz="1100" dirty="0">
                          <a:solidFill>
                            <a:srgbClr val="1F2937"/>
                          </a:solidFill>
                        </a:rPr>
                        <a:t>계정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403</a:t>
                      </a:r>
                      <a:pPr indent="0" marL="0">
                        <a:buNone/>
                      </a:pPr>
                      <a:r>
                        <a:rPr lang="en-US" sz="1100" dirty="0">
                          <a:solidFill>
                            <a:srgbClr val="1F2937"/>
                          </a:solidFill>
                        </a:rPr>
                        <a:t>또는 </a:t>
                      </a:r>
                      <a:pPr indent="0" marL="0">
                        <a:buNone/>
                      </a:pPr>
                      <a:r>
                        <a:rPr lang="en-US" sz="1100" dirty="0">
                          <a:solidFill>
                            <a:srgbClr val="1F2937"/>
                          </a:solidFill>
                        </a:rPr>
                        <a:t>제한된 </a:t>
                      </a:r>
                      <a:pPr indent="0" marL="0">
                        <a:buNone/>
                      </a:pPr>
                      <a:r>
                        <a:rPr lang="en-US" sz="1100" dirty="0">
                          <a:solidFill>
                            <a:srgbClr val="1F2937"/>
                          </a:solidFill>
                        </a:rPr>
                        <a:t>삭제 </a:t>
                      </a:r>
                      <a:pPr indent="0" marL="0">
                        <a:buNone/>
                      </a:pPr>
                      <a:r>
                        <a:rPr lang="en-US" sz="1100" dirty="0">
                          <a:solidFill>
                            <a:srgbClr val="1F2937"/>
                          </a:solidFill>
                        </a:rPr>
                        <a:t>상태 </a:t>
                      </a:r>
                      <a:pPr indent="0" marL="0">
                        <a:buNone/>
                      </a:pPr>
                      <a:r>
                        <a:rPr lang="en-US" sz="1100" dirty="0">
                          <a:solidFill>
                            <a:srgbClr val="1F2937"/>
                          </a:solidFill>
                        </a:rPr>
                        <a:t>정보 </a:t>
                      </a:r>
                      <a:pPr indent="0" marL="0">
                        <a:buNone/>
                      </a:pPr>
                      <a:r>
                        <a:rPr lang="en-US" sz="1100" dirty="0">
                          <a:solidFill>
                            <a:srgbClr val="1F2937"/>
                          </a:solidFill>
                        </a:rPr>
                        <a:t>반환. </a:t>
                      </a:r>
                      <a:pPr indent="0" marL="0">
                        <a:buNone/>
                      </a:pPr>
                      <a:r>
                        <a:rPr lang="en-US" sz="1100" dirty="0">
                          <a:solidFill>
                            <a:srgbClr val="1F2937"/>
                          </a:solidFill>
                        </a:rPr>
                        <a:t>정책 </a:t>
                      </a:r>
                      <a:pPr indent="0" marL="0">
                        <a:buNone/>
                      </a:pPr>
                      <a:r>
                        <a:rPr lang="en-US" sz="1100" dirty="0">
                          <a:solidFill>
                            <a:srgbClr val="1F2937"/>
                          </a:solidFill>
                        </a:rPr>
                        <a:t>확정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서버 </a:t>
                      </a:r>
                      <a:pPr indent="0" marL="0">
                        <a:buNone/>
                      </a:pPr>
                      <a:r>
                        <a:rPr lang="en-US" sz="1100" dirty="0">
                          <a:solidFill>
                            <a:srgbClr val="1F2937"/>
                          </a:solidFill>
                        </a:rPr>
                        <a:t>오류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500</a:t>
                      </a:r>
                      <a:pPr indent="0" marL="0">
                        <a:buNone/>
                      </a:pPr>
                      <a:r>
                        <a:rPr lang="en-US" sz="1100" dirty="0">
                          <a:solidFill>
                            <a:srgbClr val="1F2937"/>
                          </a:solidFill>
                        </a:rPr>
                        <a:t>, </a:t>
                      </a:r>
                      <a:pPr indent="0" marL="0">
                        <a:buNone/>
                      </a:pPr>
                      <a:r>
                        <a:rPr lang="en-US" sz="1100" dirty="0">
                          <a:solidFill>
                            <a:srgbClr val="1F2937"/>
                          </a:solidFill>
                        </a:rPr>
                        <a:t>내부 </a:t>
                      </a:r>
                      <a:pPr indent="0" marL="0">
                        <a:buNone/>
                      </a:pPr>
                      <a:r>
                        <a:rPr lang="en-US" sz="1100" dirty="0">
                          <a:solidFill>
                            <a:srgbClr val="1F2937"/>
                          </a:solidFill>
                        </a:rPr>
                        <a:t>상세 </a:t>
                      </a:r>
                      <a:pPr indent="0" marL="0">
                        <a:buNone/>
                      </a:pPr>
                      <a:r>
                        <a:rPr lang="en-US" sz="1100" dirty="0">
                          <a:solidFill>
                            <a:srgbClr val="1F2937"/>
                          </a:solidFill>
                        </a:rPr>
                        <a:t>내용은 </a:t>
                      </a:r>
                      <a:pPr indent="0" marL="0">
                        <a:buNone/>
                      </a:pPr>
                      <a:r>
                        <a:rPr lang="en-US" sz="1100" dirty="0">
                          <a:solidFill>
                            <a:srgbClr val="1F2937"/>
                          </a:solidFill>
                        </a:rPr>
                        <a:t>숨김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6.3 로그인 사용자 조회</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이 응답에는 음식 기록, 체중 등 식사 내용은 포함하지 않습니다.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6.4 프로필 조회 및 수정</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프로필 조회</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GET</a:t>
            </a:r>
            <a:pPr indent="0" marL="0">
              <a:spcAft>
                <a:spcPts val="800"/>
              </a:spcAft>
              <a:buNone/>
            </a:pPr>
            <a:r>
              <a:rPr lang="en-US" sz="1600" dirty="0">
                <a:solidFill>
                  <a:srgbClr val="4B5563"/>
                </a:solidFill>
              </a:rPr>
              <a:t>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/v1/me/profile</a:t>
            </a:r>
            <a:endParaRPr lang="en-US" sz="1600" dirty="0"/>
          </a:p>
          <a:p>
            <a:pPr indent="0" marL="0">
              <a:spcAft>
                <a:spcPts val="800"/>
              </a:spcAft>
              <a:buNone/>
            </a:pPr>
            <a:r>
              <a:rPr lang="en-US" sz="1600" b="1" dirty="0">
                <a:solidFill>
                  <a:srgbClr val="4B5563"/>
                </a:solidFill>
              </a:rPr>
              <a:t>성공 응답 </a:t>
            </a:r>
            <a:pPr indent="0" marL="0">
              <a:spcAft>
                <a:spcPts val="800"/>
              </a:spcAft>
              <a:buNone/>
            </a:pPr>
            <a:r>
              <a:rPr lang="en-US" sz="1600" b="1" dirty="0">
                <a:solidFill>
                  <a:srgbClr val="4B5563"/>
                </a:solidFill>
                <a:latin typeface="Courier New" pitchFamily="34" charset="0"/>
                <a:ea typeface="Courier New" pitchFamily="34" charset="-122"/>
                <a:cs typeface="Courier New" pitchFamily="34" charset="-120"/>
              </a:rPr>
              <a:t>200 OK</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프로필 조회</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"success": true,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"data":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"timezone": "Asia/Seoul",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"birthDate":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"heightCm":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"weightKg":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"sex":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"timestamp": "2026-10-01T02:20:00Z",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"requestId": "req_0192d6b3-bca0-73d8-92cb-a439e193e7d2"</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프로필 수정</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PATCH</a:t>
            </a:r>
            <a:pPr indent="0" marL="0">
              <a:spcAft>
                <a:spcPts val="800"/>
              </a:spcAft>
              <a:buNone/>
            </a:pPr>
            <a:r>
              <a:rPr lang="en-US" sz="1600" dirty="0">
                <a:solidFill>
                  <a:srgbClr val="4B5563"/>
                </a:solidFill>
              </a:rPr>
              <a:t>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/v1/me/profile</a:t>
            </a:r>
            <a:endParaRPr lang="en-US" sz="1600" dirty="0"/>
          </a:p>
          <a:p>
            <a:pPr indent="0" marL="0">
              <a:spcAft>
                <a:spcPts val="800"/>
              </a:spcAft>
              <a:buNone/>
            </a:pPr>
            <a:r>
              <a:rPr lang="en-US" sz="1600" dirty="0">
                <a:solidFill>
                  <a:srgbClr val="4B5563"/>
                </a:solidFill>
              </a:rPr>
              <a:t>신체 정보의 실제 수집 항목과 연령 입력 방식은 미정입니다. 입력하지 않은 값은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null</a:t>
            </a:r>
            <a:pPr indent="0" marL="0">
              <a:spcAft>
                <a:spcPts val="800"/>
              </a:spcAft>
              <a:buNone/>
            </a:pPr>
            <a:r>
              <a:rPr lang="en-US" sz="1600" dirty="0">
                <a:solidFill>
                  <a:srgbClr val="4B5563"/>
                </a:solidFill>
              </a:rPr>
              <a:t>로 보존하는 방향입니다. 신체 정보는 수정·삭제할 수 있어야 한다는 원칙을 반영합니다.</a:t>
            </a:r>
            <a:endParaRPr lang="en-US" sz="1600" dirty="0"/>
          </a:p>
          <a:p>
            <a:pPr indent="0" marL="0">
              <a:spcAft>
                <a:spcPts val="800"/>
              </a:spcAft>
              <a:buNone/>
            </a:pPr>
            <a:r>
              <a:rPr lang="en-US" sz="1600" b="1" dirty="0">
                <a:solidFill>
                  <a:srgbClr val="4B5563"/>
                </a:solidFill>
              </a:rPr>
              <a:t>요청 본문 예시</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프로필 수정</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"timezone": "Asia/Seoul",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"birthDate":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"heightCm": 165.5,</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"weightKg": 62.0,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"sex":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프로필 수정</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필드 검증</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프로필 수정</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460090"/>
                <a:gridCol w="1725561"/>
                <a:gridCol w="796413"/>
                <a:gridCol w="4247535"/>
              </a:tblGrid>
              <a:tr h="0">
                <a:tc>
                  <a:txBody>
                    <a:bodyPr/>
                    <a:lstStyle/>
                    <a:p>
                      <a:pPr indent="0" marL="0">
                        <a:buNone/>
                      </a:pPr>
                      <a:r>
                        <a:rPr lang="en-US" sz="1200" b="1" dirty="0">
                          <a:solidFill>
                            <a:srgbClr val="FFFFFF"/>
                          </a:solidFill>
                        </a:rPr>
                        <a:t>필드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형식</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필수</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검증</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timezone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문자열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아니요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시간대 </a:t>
                      </a:r>
                      <a:pPr indent="0" marL="0">
                        <a:buNone/>
                      </a:pPr>
                      <a:r>
                        <a:rPr lang="en-US" sz="1100" dirty="0">
                          <a:solidFill>
                            <a:srgbClr val="1F2937"/>
                          </a:solidFill>
                        </a:rPr>
                        <a:t>식별값이어야 </a:t>
                      </a:r>
                      <a:pPr indent="0" marL="0">
                        <a:buNone/>
                      </a:pPr>
                      <a:r>
                        <a:rPr lang="en-US" sz="1100" dirty="0">
                          <a:solidFill>
                            <a:srgbClr val="1F2937"/>
                          </a:solidFill>
                        </a:rPr>
                        <a:t>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birthDate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날짜 </a:t>
                      </a:r>
                      <a:pPr indent="0" marL="0">
                        <a:buNone/>
                      </a:pPr>
                      <a:r>
                        <a:rPr lang="en-US" sz="1100" dirty="0">
                          <a:solidFill>
                            <a:srgbClr val="1F2937"/>
                          </a:solidFill>
                        </a:rPr>
                        <a:t>또는</a:t>
                      </a:r>
                      <a:pPr indent="0" marL="0">
                        <a:buNone/>
                      </a:pPr>
                      <a:r>
                        <a:rPr lang="en-US" sz="1100" dirty="0">
                          <a:solidFill>
                            <a:srgbClr val="1F2937"/>
                          </a:solidFill>
                          <a:latin typeface="Courier New" pitchFamily="34" charset="0"/>
                          <a:ea typeface="Courier New" pitchFamily="34" charset="-122"/>
                          <a:cs typeface="Courier New" pitchFamily="34" charset="-120"/>
                        </a:rPr>
                        <a:t>null</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아니요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형식</a:t>
                      </a:r>
                      <a:pPr indent="0" marL="0">
                        <a:buNone/>
                      </a:pPr>
                      <a:r>
                        <a:rPr lang="en-US" sz="1100" dirty="0">
                          <a:solidFill>
                            <a:srgbClr val="1F2937"/>
                          </a:solidFill>
                          <a:latin typeface="Courier New" pitchFamily="34" charset="0"/>
                          <a:ea typeface="Courier New" pitchFamily="34" charset="-122"/>
                          <a:cs typeface="Courier New" pitchFamily="34" charset="-120"/>
                        </a:rPr>
                        <a:t>YYYY-MM-DD</a:t>
                      </a:r>
                      <a:pPr indent="0" marL="0">
                        <a:buNone/>
                      </a:pPr>
                      <a:r>
                        <a:rPr lang="en-US" sz="1100" dirty="0">
                          <a:solidFill>
                            <a:srgbClr val="1F2937"/>
                          </a:solidFill>
                        </a:rPr>
                        <a:t>. </a:t>
                      </a:r>
                      <a:pPr indent="0" marL="0">
                        <a:buNone/>
                      </a:pPr>
                      <a:r>
                        <a:rPr lang="en-US" sz="1100" dirty="0">
                          <a:solidFill>
                            <a:srgbClr val="1F2937"/>
                          </a:solidFill>
                        </a:rPr>
                        <a:t>수집 </a:t>
                      </a:r>
                      <a:pPr indent="0" marL="0">
                        <a:buNone/>
                      </a:pPr>
                      <a:r>
                        <a:rPr lang="en-US" sz="1100" dirty="0">
                          <a:solidFill>
                            <a:srgbClr val="1F2937"/>
                          </a:solidFill>
                        </a:rPr>
                        <a:t>여부·연령 </a:t>
                      </a:r>
                      <a:pPr indent="0" marL="0">
                        <a:buNone/>
                      </a:pPr>
                      <a:r>
                        <a:rPr lang="en-US" sz="1100" dirty="0">
                          <a:solidFill>
                            <a:srgbClr val="1F2937"/>
                          </a:solidFill>
                        </a:rPr>
                        <a:t>기준은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heightCm</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숫자 </a:t>
                      </a:r>
                      <a:pPr indent="0" marL="0">
                        <a:buNone/>
                      </a:pPr>
                      <a:r>
                        <a:rPr lang="en-US" sz="1100" dirty="0">
                          <a:solidFill>
                            <a:srgbClr val="1F2937"/>
                          </a:solidFill>
                        </a:rPr>
                        <a:t>또는</a:t>
                      </a:r>
                      <a:pPr indent="0" marL="0">
                        <a:buNone/>
                      </a:pPr>
                      <a:r>
                        <a:rPr lang="en-US" sz="1100" dirty="0">
                          <a:solidFill>
                            <a:srgbClr val="1F2937"/>
                          </a:solidFill>
                          <a:latin typeface="Courier New" pitchFamily="34" charset="0"/>
                          <a:ea typeface="Courier New" pitchFamily="34" charset="-122"/>
                          <a:cs typeface="Courier New" pitchFamily="34" charset="-120"/>
                        </a:rPr>
                        <a:t>null</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아니요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양수. </a:t>
                      </a:r>
                      <a:pPr indent="0" marL="0">
                        <a:buNone/>
                      </a:pPr>
                      <a:r>
                        <a:rPr lang="en-US" sz="1100" dirty="0">
                          <a:solidFill>
                            <a:srgbClr val="1F2937"/>
                          </a:solidFill>
                        </a:rPr>
                        <a:t>허용 </a:t>
                      </a:r>
                      <a:pPr indent="0" marL="0">
                        <a:buNone/>
                      </a:pPr>
                      <a:r>
                        <a:rPr lang="en-US" sz="1100" dirty="0">
                          <a:solidFill>
                            <a:srgbClr val="1F2937"/>
                          </a:solidFill>
                        </a:rPr>
                        <a:t>범위는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weightKg</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숫자 </a:t>
                      </a:r>
                      <a:pPr indent="0" marL="0">
                        <a:buNone/>
                      </a:pPr>
                      <a:r>
                        <a:rPr lang="en-US" sz="1100" dirty="0">
                          <a:solidFill>
                            <a:srgbClr val="1F2937"/>
                          </a:solidFill>
                        </a:rPr>
                        <a:t>또는</a:t>
                      </a:r>
                      <a:pPr indent="0" marL="0">
                        <a:buNone/>
                      </a:pPr>
                      <a:r>
                        <a:rPr lang="en-US" sz="1100" dirty="0">
                          <a:solidFill>
                            <a:srgbClr val="1F2937"/>
                          </a:solidFill>
                          <a:latin typeface="Courier New" pitchFamily="34" charset="0"/>
                          <a:ea typeface="Courier New" pitchFamily="34" charset="-122"/>
                          <a:cs typeface="Courier New" pitchFamily="34" charset="-120"/>
                        </a:rPr>
                        <a:t>null</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아니요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양수. </a:t>
                      </a:r>
                      <a:pPr indent="0" marL="0">
                        <a:buNone/>
                      </a:pPr>
                      <a:r>
                        <a:rPr lang="en-US" sz="1100" dirty="0">
                          <a:solidFill>
                            <a:srgbClr val="1F2937"/>
                          </a:solidFill>
                        </a:rPr>
                        <a:t>허용 </a:t>
                      </a:r>
                      <a:pPr indent="0" marL="0">
                        <a:buNone/>
                      </a:pPr>
                      <a:r>
                        <a:rPr lang="en-US" sz="1100" dirty="0">
                          <a:solidFill>
                            <a:srgbClr val="1F2937"/>
                          </a:solidFill>
                        </a:rPr>
                        <a:t>범위는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sex</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문자열 </a:t>
                      </a:r>
                      <a:pPr indent="0" marL="0">
                        <a:buNone/>
                      </a:pPr>
                      <a:r>
                        <a:rPr lang="en-US" sz="1100" dirty="0">
                          <a:solidFill>
                            <a:srgbClr val="1F2937"/>
                          </a:solidFill>
                        </a:rPr>
                        <a:t>또는</a:t>
                      </a:r>
                      <a:pPr indent="0" marL="0">
                        <a:buNone/>
                      </a:pPr>
                      <a:r>
                        <a:rPr lang="en-US" sz="1100" dirty="0">
                          <a:solidFill>
                            <a:srgbClr val="1F2937"/>
                          </a:solidFill>
                          <a:latin typeface="Courier New" pitchFamily="34" charset="0"/>
                          <a:ea typeface="Courier New" pitchFamily="34" charset="-122"/>
                          <a:cs typeface="Courier New" pitchFamily="34" charset="-120"/>
                        </a:rPr>
                        <a:t>null</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아니요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필수 </a:t>
                      </a:r>
                      <a:pPr indent="0" marL="0">
                        <a:buNone/>
                      </a:pPr>
                      <a:r>
                        <a:rPr lang="en-US" sz="1100" dirty="0">
                          <a:solidFill>
                            <a:srgbClr val="1F2937"/>
                          </a:solidFill>
                        </a:rPr>
                        <a:t>여부와 </a:t>
                      </a:r>
                      <a:pPr indent="0" marL="0">
                        <a:buNone/>
                      </a:pPr>
                      <a:r>
                        <a:rPr lang="en-US" sz="1100" dirty="0">
                          <a:solidFill>
                            <a:srgbClr val="1F2937"/>
                          </a:solidFill>
                        </a:rPr>
                        <a:t>허용 </a:t>
                      </a:r>
                      <a:pPr indent="0" marL="0">
                        <a:buNone/>
                      </a:pPr>
                      <a:r>
                        <a:rPr lang="en-US" sz="1100" dirty="0">
                          <a:solidFill>
                            <a:srgbClr val="1F2937"/>
                          </a:solidFill>
                        </a:rPr>
                        <a:t>선택지는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프로필 수정</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성공 응답 </a:t>
            </a:r>
            <a:pPr indent="0" marL="0">
              <a:spcAft>
                <a:spcPts val="800"/>
              </a:spcAft>
              <a:buNone/>
            </a:pPr>
            <a:r>
              <a:rPr lang="en-US" sz="1600" b="1" dirty="0">
                <a:solidFill>
                  <a:srgbClr val="4B5563"/>
                </a:solidFill>
                <a:latin typeface="Courier New" pitchFamily="34" charset="0"/>
                <a:ea typeface="Courier New" pitchFamily="34" charset="-122"/>
                <a:cs typeface="Courier New" pitchFamily="34" charset="-120"/>
              </a:rPr>
              <a:t>200 OK</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프로필 수정</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"success": true,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"data":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"timezone": "Asia/Seoul",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"birthDate":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"heightCm": 165.5,</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"weightKg": 62.0,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"sex":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"updatedAt": "2026-10-01T02:21:00Z"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"timestamp": "2026-10-01T02:21:00Z",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"requestId": "req_0192d6b4-4a5b-7de3-9c25-a6705ba182aa"</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프로필 수정</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3253563"/>
                <a:gridCol w="4976037"/>
              </a:tblGrid>
              <a:tr h="0">
                <a:tc>
                  <a:txBody>
                    <a:bodyPr/>
                    <a:lstStyle/>
                    <a:p>
                      <a:pPr indent="0" marL="0">
                        <a:buNone/>
                      </a:pPr>
                      <a:r>
                        <a:rPr lang="en-US" sz="1200" b="1" dirty="0">
                          <a:solidFill>
                            <a:srgbClr val="FFFFFF"/>
                          </a:solidFill>
                        </a:rPr>
                        <a:t>사례</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처리</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선택 </a:t>
                      </a:r>
                      <a:pPr indent="0" marL="0">
                        <a:buNone/>
                      </a:pPr>
                      <a:r>
                        <a:rPr lang="en-US" sz="1100" dirty="0">
                          <a:solidFill>
                            <a:srgbClr val="1F2937"/>
                          </a:solidFill>
                        </a:rPr>
                        <a:t>필드만 </a:t>
                      </a:r>
                      <a:pPr indent="0" marL="0">
                        <a:buNone/>
                      </a:pPr>
                      <a:r>
                        <a:rPr lang="en-US" sz="1100" dirty="0">
                          <a:solidFill>
                            <a:srgbClr val="1F2937"/>
                          </a:solidFill>
                        </a:rPr>
                        <a:t>변경</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전달된 </a:t>
                      </a:r>
                      <a:pPr indent="0" marL="0">
                        <a:buNone/>
                      </a:pPr>
                      <a:r>
                        <a:rPr lang="en-US" sz="1100" dirty="0">
                          <a:solidFill>
                            <a:srgbClr val="1F2937"/>
                          </a:solidFill>
                        </a:rPr>
                        <a:t>필드만 </a:t>
                      </a:r>
                      <a:pPr indent="0" marL="0">
                        <a:buNone/>
                      </a:pPr>
                      <a:r>
                        <a:rPr lang="en-US" sz="1100" dirty="0">
                          <a:solidFill>
                            <a:srgbClr val="1F2937"/>
                          </a:solidFill>
                        </a:rPr>
                        <a:t>수정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값에</a:t>
                      </a:r>
                      <a:pPr indent="0" marL="0">
                        <a:buNone/>
                      </a:pPr>
                      <a:r>
                        <a:rPr lang="en-US" sz="1100" dirty="0">
                          <a:solidFill>
                            <a:srgbClr val="1F2937"/>
                          </a:solidFill>
                          <a:latin typeface="Courier New" pitchFamily="34" charset="0"/>
                          <a:ea typeface="Courier New" pitchFamily="34" charset="-122"/>
                          <a:cs typeface="Courier New" pitchFamily="34" charset="-120"/>
                        </a:rPr>
                        <a:t>null</a:t>
                      </a:r>
                      <a:pPr indent="0" marL="0">
                        <a:buNone/>
                      </a:pPr>
                      <a:r>
                        <a:rPr lang="en-US" sz="1100" dirty="0">
                          <a:solidFill>
                            <a:srgbClr val="1F2937"/>
                          </a:solidFill>
                        </a:rPr>
                        <a:t>전달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해당 </a:t>
                      </a:r>
                      <a:pPr indent="0" marL="0">
                        <a:buNone/>
                      </a:pPr>
                      <a:r>
                        <a:rPr lang="en-US" sz="1100" dirty="0">
                          <a:solidFill>
                            <a:srgbClr val="1F2937"/>
                          </a:solidFill>
                        </a:rPr>
                        <a:t>값 </a:t>
                      </a:r>
                      <a:pPr indent="0" marL="0">
                        <a:buNone/>
                      </a:pPr>
                      <a:r>
                        <a:rPr lang="en-US" sz="1100" dirty="0">
                          <a:solidFill>
                            <a:srgbClr val="1F2937"/>
                          </a:solidFill>
                        </a:rPr>
                        <a:t>삭제. </a:t>
                      </a:r>
                      <a:pPr indent="0" marL="0">
                        <a:buNone/>
                      </a:pPr>
                      <a:r>
                        <a:rPr lang="en-US" sz="1100" dirty="0">
                          <a:solidFill>
                            <a:srgbClr val="1F2937"/>
                          </a:solidFill>
                        </a:rPr>
                        <a:t>필드 </a:t>
                      </a:r>
                      <a:pPr indent="0" marL="0">
                        <a:buNone/>
                      </a:pPr>
                      <a:r>
                        <a:rPr lang="en-US" sz="1100" dirty="0">
                          <a:solidFill>
                            <a:srgbClr val="1F2937"/>
                          </a:solidFill>
                        </a:rPr>
                        <a:t>생략과 </a:t>
                      </a:r>
                      <a:pPr indent="0" marL="0">
                        <a:buNone/>
                      </a:pPr>
                      <a:r>
                        <a:rPr lang="en-US" sz="1100" dirty="0">
                          <a:solidFill>
                            <a:srgbClr val="1F2937"/>
                          </a:solidFill>
                        </a:rPr>
                        <a:t>구분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키·체중에 </a:t>
                      </a:r>
                      <a:pPr indent="0" marL="0">
                        <a:buNone/>
                      </a:pPr>
                      <a:r>
                        <a:rPr lang="en-US" sz="1100" dirty="0">
                          <a:solidFill>
                            <a:srgbClr val="1F2937"/>
                          </a:solidFill>
                        </a:rPr>
                        <a:t>0 </a:t>
                      </a:r>
                      <a:pPr indent="0" marL="0">
                        <a:buNone/>
                      </a:pPr>
                      <a:r>
                        <a:rPr lang="en-US" sz="1100" dirty="0">
                          <a:solidFill>
                            <a:srgbClr val="1F2937"/>
                          </a:solidFill>
                        </a:rPr>
                        <a:t>또는 </a:t>
                      </a:r>
                      <a:pPr indent="0" marL="0">
                        <a:buNone/>
                      </a:pPr>
                      <a:r>
                        <a:rPr lang="en-US" sz="1100" dirty="0">
                          <a:solidFill>
                            <a:srgbClr val="1F2937"/>
                          </a:solidFill>
                        </a:rPr>
                        <a:t>음수 </a:t>
                      </a:r>
                      <a:pPr indent="0" marL="0">
                        <a:buNone/>
                      </a:pPr>
                      <a:r>
                        <a:rPr lang="en-US" sz="1100" dirty="0">
                          <a:solidFill>
                            <a:srgbClr val="1F2937"/>
                          </a:solidFill>
                        </a:rPr>
                        <a:t>전달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422</a:t>
                      </a:r>
                      <a:pPr indent="0" marL="0">
                        <a:buNone/>
                      </a:pPr>
                      <a:r>
                        <a:rPr lang="en-US" sz="1100" dirty="0">
                          <a:solidFill>
                            <a:srgbClr val="1F2937"/>
                          </a:solidFill>
                        </a:rPr>
                        <a:t>, </a:t>
                      </a:r>
                      <a:pPr indent="0" marL="0">
                        <a:buNone/>
                      </a:pPr>
                      <a:r>
                        <a:rPr lang="en-US" sz="1100" dirty="0">
                          <a:solidFill>
                            <a:srgbClr val="1F2937"/>
                          </a:solidFill>
                        </a:rPr>
                        <a:t>값 </a:t>
                      </a:r>
                      <a:pPr indent="0" marL="0">
                        <a:buNone/>
                      </a:pPr>
                      <a:r>
                        <a:rPr lang="en-US" sz="1100" dirty="0">
                          <a:solidFill>
                            <a:srgbClr val="1F2937"/>
                          </a:solidFill>
                        </a:rPr>
                        <a:t>검증 </a:t>
                      </a:r>
                      <a:pPr indent="0" marL="0">
                        <a:buNone/>
                      </a:pPr>
                      <a:r>
                        <a:rPr lang="en-US" sz="1100" dirty="0">
                          <a:solidFill>
                            <a:srgbClr val="1F2937"/>
                          </a:solidFill>
                        </a:rPr>
                        <a:t>오류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잘못된 </a:t>
                      </a:r>
                      <a:pPr indent="0" marL="0">
                        <a:buNone/>
                      </a:pPr>
                      <a:r>
                        <a:rPr lang="en-US" sz="1100" dirty="0">
                          <a:solidFill>
                            <a:srgbClr val="1F2937"/>
                          </a:solidFill>
                        </a:rPr>
                        <a:t>시간대 </a:t>
                      </a:r>
                      <a:pPr indent="0" marL="0">
                        <a:buNone/>
                      </a:pPr>
                      <a:r>
                        <a:rPr lang="en-US" sz="1100" dirty="0">
                          <a:solidFill>
                            <a:srgbClr val="1F2937"/>
                          </a:solidFill>
                        </a:rPr>
                        <a:t>전달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422</a:t>
                      </a:r>
                      <a:pPr indent="0" marL="0">
                        <a:buNone/>
                      </a:pPr>
                      <a:r>
                        <a:rPr lang="en-US" sz="1100" dirty="0">
                          <a:solidFill>
                            <a:srgbClr val="1F2937"/>
                          </a:solidFill>
                        </a:rPr>
                        <a:t>, </a:t>
                      </a:r>
                      <a:pPr indent="0" marL="0">
                        <a:buNone/>
                      </a:pPr>
                      <a:r>
                        <a:rPr lang="en-US" sz="1100" dirty="0">
                          <a:solidFill>
                            <a:srgbClr val="1F2937"/>
                          </a:solidFill>
                        </a:rPr>
                        <a:t>시간대 </a:t>
                      </a:r>
                      <a:pPr indent="0" marL="0">
                        <a:buNone/>
                      </a:pPr>
                      <a:r>
                        <a:rPr lang="en-US" sz="1100" dirty="0">
                          <a:solidFill>
                            <a:srgbClr val="1F2937"/>
                          </a:solidFill>
                        </a:rPr>
                        <a:t>오류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토큰 </a:t>
                      </a:r>
                      <a:pPr indent="0" marL="0">
                        <a:buNone/>
                      </a:pPr>
                      <a:r>
                        <a:rPr lang="en-US" sz="1100" dirty="0">
                          <a:solidFill>
                            <a:srgbClr val="1F2937"/>
                          </a:solidFill>
                        </a:rPr>
                        <a:t>무효 </a:t>
                      </a:r>
                      <a:pPr indent="0" marL="0">
                        <a:buNone/>
                      </a:pPr>
                      <a:r>
                        <a:rPr lang="en-US" sz="1100" dirty="0">
                          <a:solidFill>
                            <a:srgbClr val="1F2937"/>
                          </a:solidFill>
                        </a:rPr>
                        <a:t>또는 </a:t>
                      </a:r>
                      <a:pPr indent="0" marL="0">
                        <a:buNone/>
                      </a:pPr>
                      <a:r>
                        <a:rPr lang="en-US" sz="1100" dirty="0">
                          <a:solidFill>
                            <a:srgbClr val="1F2937"/>
                          </a:solidFill>
                        </a:rPr>
                        <a:t>타인 </a:t>
                      </a:r>
                      <a:pPr indent="0" marL="0">
                        <a:buNone/>
                      </a:pPr>
                      <a:r>
                        <a:rPr lang="en-US" sz="1100" dirty="0">
                          <a:solidFill>
                            <a:srgbClr val="1F2937"/>
                          </a:solidFill>
                        </a:rPr>
                        <a:t>자료 </a:t>
                      </a:r>
                      <a:pPr indent="0" marL="0">
                        <a:buNone/>
                      </a:pPr>
                      <a:r>
                        <a:rPr lang="en-US" sz="1100" dirty="0">
                          <a:solidFill>
                            <a:srgbClr val="1F2937"/>
                          </a:solidFill>
                        </a:rPr>
                        <a:t>요청</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401</a:t>
                      </a:r>
                      <a:pPr indent="0" marL="0">
                        <a:buNone/>
                      </a:pPr>
                      <a:r>
                        <a:rPr lang="en-US" sz="1100" dirty="0">
                          <a:solidFill>
                            <a:srgbClr val="1F2937"/>
                          </a:solidFill>
                        </a:rPr>
                        <a:t>; </a:t>
                      </a:r>
                      <a:pPr indent="0" marL="0">
                        <a:buNone/>
                      </a:pPr>
                      <a:r>
                        <a:rPr lang="en-US" sz="1100" dirty="0">
                          <a:solidFill>
                            <a:srgbClr val="1F2937"/>
                          </a:solidFill>
                        </a:rPr>
                        <a:t>사용자 </a:t>
                      </a:r>
                      <a:pPr indent="0" marL="0">
                        <a:buNone/>
                      </a:pPr>
                      <a:r>
                        <a:rPr lang="en-US" sz="1100" dirty="0">
                          <a:solidFill>
                            <a:srgbClr val="1F2937"/>
                          </a:solidFill>
                        </a:rPr>
                        <a:t>식별값을 </a:t>
                      </a:r>
                      <a:pPr indent="0" marL="0">
                        <a:buNone/>
                      </a:pPr>
                      <a:r>
                        <a:rPr lang="en-US" sz="1100" dirty="0">
                          <a:solidFill>
                            <a:srgbClr val="1F2937"/>
                          </a:solidFill>
                        </a:rPr>
                        <a:t>요청에서 </a:t>
                      </a:r>
                      <a:pPr indent="0" marL="0">
                        <a:buNone/>
                      </a:pPr>
                      <a:r>
                        <a:rPr lang="en-US" sz="1100" dirty="0">
                          <a:solidFill>
                            <a:srgbClr val="1F2937"/>
                          </a:solidFill>
                        </a:rPr>
                        <a:t>받지 </a:t>
                      </a:r>
                      <a:pPr indent="0" marL="0">
                        <a:buNone/>
                      </a:pPr>
                      <a:r>
                        <a:rPr lang="en-US" sz="1100" dirty="0">
                          <a:solidFill>
                            <a:srgbClr val="1F2937"/>
                          </a:solidFill>
                        </a:rPr>
                        <a:t>않음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6.5 목표 이력 조회 및 생성</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목표 이력 조회</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GET</a:t>
            </a:r>
            <a:pPr indent="0" marL="0">
              <a:spcAft>
                <a:spcPts val="800"/>
              </a:spcAft>
              <a:buNone/>
            </a:pPr>
            <a:r>
              <a:rPr lang="en-US" sz="1600" dirty="0">
                <a:solidFill>
                  <a:srgbClr val="4B5563"/>
                </a:solidFill>
              </a:rPr>
              <a:t>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/v1/me/goals</a:t>
            </a:r>
            <a:endParaRPr lang="en-US" sz="1600" dirty="0"/>
          </a:p>
          <a:p>
            <a:pPr indent="0" marL="0">
              <a:spcAft>
                <a:spcPts val="800"/>
              </a:spcAft>
              <a:buNone/>
            </a:pPr>
            <a:r>
              <a:rPr lang="en-US" sz="1600" dirty="0">
                <a:solidFill>
                  <a:srgbClr val="4B5563"/>
                </a:solidFill>
              </a:rPr>
              <a:t>선택적 쿼리 매개변수:</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목표 이력 조회</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057400"/>
                <a:gridCol w="2057400"/>
                <a:gridCol w="2057400"/>
                <a:gridCol w="2057400"/>
              </a:tblGrid>
              <a:tr h="0">
                <a:tc>
                  <a:txBody>
                    <a:bodyPr/>
                    <a:lstStyle/>
                    <a:p>
                      <a:pPr indent="0" marL="0">
                        <a:buNone/>
                      </a:pPr>
                      <a:r>
                        <a:rPr lang="en-US" sz="1200" b="1" dirty="0">
                          <a:solidFill>
                            <a:srgbClr val="FFFFFF"/>
                          </a:solidFill>
                        </a:rPr>
                        <a:t>매개변수</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형식</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필수</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설명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from</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날짜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아니요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조회 </a:t>
                      </a:r>
                      <a:pPr indent="0" marL="0">
                        <a:buNone/>
                      </a:pPr>
                      <a:r>
                        <a:rPr lang="en-US" sz="1100" dirty="0">
                          <a:solidFill>
                            <a:srgbClr val="1F2937"/>
                          </a:solidFill>
                        </a:rPr>
                        <a:t>시작일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to</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날짜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아니요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조회 </a:t>
                      </a:r>
                      <a:pPr indent="0" marL="0">
                        <a:buNone/>
                      </a:pPr>
                      <a:r>
                        <a:rPr lang="en-US" sz="1100" dirty="0">
                          <a:solidFill>
                            <a:srgbClr val="1F2937"/>
                          </a:solidFill>
                        </a:rPr>
                        <a:t>종료일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목표 이력 조회</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성공 응답 </a:t>
            </a:r>
            <a:pPr indent="0" marL="0">
              <a:spcAft>
                <a:spcPts val="800"/>
              </a:spcAft>
              <a:buNone/>
            </a:pPr>
            <a:r>
              <a:rPr lang="en-US" sz="1600" b="1" dirty="0">
                <a:solidFill>
                  <a:srgbClr val="4B5563"/>
                </a:solidFill>
                <a:latin typeface="Courier New" pitchFamily="34" charset="0"/>
                <a:ea typeface="Courier New" pitchFamily="34" charset="-122"/>
                <a:cs typeface="Courier New" pitchFamily="34" charset="-120"/>
              </a:rPr>
              <a:t>200 OK</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목표 이력 조회</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"success": true,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"data":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"goals":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"id": "gol_0192d6b5-95f9-7b5d-8723-f88fd702b981",</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"dailyEnergyKcal": 1800,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"validFrom": "2026-10-01",</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"validTo":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"createdAt": "2026-10-01T02:30:00Z"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"timestamp": "2026-10-01T02:30:00Z",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"requestId": "req_0192d6b5-e262-7d23-8768-29476fce0877"</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목표 생성 또는 변경</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POST</a:t>
            </a:r>
            <a:pPr indent="0" marL="0">
              <a:spcAft>
                <a:spcPts val="800"/>
              </a:spcAft>
              <a:buNone/>
            </a:pPr>
            <a:r>
              <a:rPr lang="en-US" sz="1600" dirty="0">
                <a:solidFill>
                  <a:srgbClr val="4B5563"/>
                </a:solidFill>
              </a:rPr>
              <a:t>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/v1/me/goals</a:t>
            </a:r>
            <a:endParaRPr lang="en-US" sz="1600" dirty="0"/>
          </a:p>
          <a:p>
            <a:pPr indent="0" marL="0">
              <a:spcAft>
                <a:spcPts val="800"/>
              </a:spcAft>
              <a:buNone/>
            </a:pPr>
            <a:r>
              <a:rPr lang="en-US" sz="1600" dirty="0">
                <a:solidFill>
                  <a:srgbClr val="4B5563"/>
                </a:solidFill>
              </a:rPr>
              <a:t>자동 권장 칼로리는 MVP에서 제공하지 않는 방향입니다. 사용자가 직접 목표 수치를 입력할 수 있는지와 안전 기준은 미확정입니다. 아래 경로는 목표 이력 구조를 위한 설계 제안이며, 목표 수치 입력 화면과 허용 범위가 승인되기 전에는 개발 확정 요구사항으로 보지 않습니다.</a:t>
            </a:r>
            <a:endParaRPr lang="en-US" sz="1600" dirty="0"/>
          </a:p>
          <a:p>
            <a:pPr indent="0" marL="0">
              <a:spcAft>
                <a:spcPts val="800"/>
              </a:spcAft>
              <a:buNone/>
            </a:pPr>
            <a:r>
              <a:rPr lang="en-US" sz="1600" b="1" dirty="0">
                <a:solidFill>
                  <a:srgbClr val="4B5563"/>
                </a:solidFill>
              </a:rPr>
              <a:t>요청 본문 예시</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목표 생성 또는 변경</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"dailyEnergyKcal": 1800,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"validFrom": "2026-10-01"</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목표 생성 또는 변경</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성공 응답 </a:t>
            </a:r>
            <a:pPr indent="0" marL="0">
              <a:spcAft>
                <a:spcPts val="800"/>
              </a:spcAft>
              <a:buNone/>
            </a:pPr>
            <a:r>
              <a:rPr lang="en-US" sz="1600" b="1" dirty="0">
                <a:solidFill>
                  <a:srgbClr val="4B5563"/>
                </a:solidFill>
                <a:latin typeface="Courier New" pitchFamily="34" charset="0"/>
                <a:ea typeface="Courier New" pitchFamily="34" charset="-122"/>
                <a:cs typeface="Courier New" pitchFamily="34" charset="-120"/>
              </a:rPr>
              <a:t>201 Created</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목표 생성 또는 변경</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"success": true,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"data":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"id": "gol_0192d6b5-95f9-7b5d-8723-f88fd702b981",</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"dailyEnergyKcal": 1800,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"validFrom": "2026-10-01",</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"validTo":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"createdAt": "2026-10-01T02:30:00Z"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"timestamp": "2026-10-01T02:30:00Z",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"requestId": "req_0192d6b5-e262-7d23-8768-29476fce0877"</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목표 생성 또는 변경</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85"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3121572"/>
                <a:gridCol w="5108028"/>
              </a:tblGrid>
              <a:tr h="0">
                <a:tc>
                  <a:txBody>
                    <a:bodyPr/>
                    <a:lstStyle/>
                    <a:p>
                      <a:pPr indent="0" marL="0">
                        <a:buNone/>
                      </a:pPr>
                      <a:r>
                        <a:rPr lang="en-US" sz="1200" b="1" dirty="0">
                          <a:solidFill>
                            <a:srgbClr val="FFFFFF"/>
                          </a:solidFill>
                        </a:rPr>
                        <a:t>사례</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처리</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목표 </a:t>
                      </a:r>
                      <a:pPr indent="0" marL="0">
                        <a:buNone/>
                      </a:pPr>
                      <a:r>
                        <a:rPr lang="en-US" sz="1100" dirty="0">
                          <a:solidFill>
                            <a:srgbClr val="1F2937"/>
                          </a:solidFill>
                        </a:rPr>
                        <a:t>없이 </a:t>
                      </a:r>
                      <a:pPr indent="0" marL="0">
                        <a:buNone/>
                      </a:pPr>
                      <a:r>
                        <a:rPr lang="en-US" sz="1100" dirty="0">
                          <a:solidFill>
                            <a:srgbClr val="1F2937"/>
                          </a:solidFill>
                        </a:rPr>
                        <a:t>시작</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목표 </a:t>
                      </a:r>
                      <a:pPr indent="0" marL="0">
                        <a:buNone/>
                      </a:pPr>
                      <a:r>
                        <a:rPr lang="en-US" sz="1100" dirty="0">
                          <a:solidFill>
                            <a:srgbClr val="1F2937"/>
                          </a:solidFill>
                        </a:rPr>
                        <a:t>자료 </a:t>
                      </a:r>
                      <a:pPr indent="0" marL="0">
                        <a:buNone/>
                      </a:pPr>
                      <a:r>
                        <a:rPr lang="en-US" sz="1100" dirty="0">
                          <a:solidFill>
                            <a:srgbClr val="1F2937"/>
                          </a:solidFill>
                        </a:rPr>
                        <a:t>없이 </a:t>
                      </a:r>
                      <a:pPr indent="0" marL="0">
                        <a:buNone/>
                      </a:pPr>
                      <a:r>
                        <a:rPr lang="en-US" sz="1100" dirty="0">
                          <a:solidFill>
                            <a:srgbClr val="1F2937"/>
                          </a:solidFill>
                        </a:rPr>
                        <a:t>기록·리포트 </a:t>
                      </a:r>
                      <a:pPr indent="0" marL="0">
                        <a:buNone/>
                      </a:pPr>
                      <a:r>
                        <a:rPr lang="en-US" sz="1100" dirty="0">
                          <a:solidFill>
                            <a:srgbClr val="1F2937"/>
                          </a:solidFill>
                        </a:rPr>
                        <a:t>기능 </a:t>
                      </a:r>
                      <a:pPr indent="0" marL="0">
                        <a:buNone/>
                      </a:pPr>
                      <a:r>
                        <a:rPr lang="en-US" sz="1100" dirty="0">
                          <a:solidFill>
                            <a:srgbClr val="1F2937"/>
                          </a:solidFill>
                        </a:rPr>
                        <a:t>제공</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승인된 </a:t>
                      </a:r>
                      <a:pPr indent="0" marL="0">
                        <a:buNone/>
                      </a:pPr>
                      <a:r>
                        <a:rPr lang="en-US" sz="1100" dirty="0">
                          <a:solidFill>
                            <a:srgbClr val="1F2937"/>
                          </a:solidFill>
                        </a:rPr>
                        <a:t>목표 </a:t>
                      </a:r>
                      <a:pPr indent="0" marL="0">
                        <a:buNone/>
                      </a:pPr>
                      <a:r>
                        <a:rPr lang="en-US" sz="1100" dirty="0">
                          <a:solidFill>
                            <a:srgbClr val="1F2937"/>
                          </a:solidFill>
                        </a:rPr>
                        <a:t>수치 </a:t>
                      </a:r>
                      <a:pPr indent="0" marL="0">
                        <a:buNone/>
                      </a:pPr>
                      <a:r>
                        <a:rPr lang="en-US" sz="1100" dirty="0">
                          <a:solidFill>
                            <a:srgbClr val="1F2937"/>
                          </a:solidFill>
                        </a:rPr>
                        <a:t>입력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새 </a:t>
                      </a:r>
                      <a:pPr indent="0" marL="0">
                        <a:buNone/>
                      </a:pPr>
                      <a:r>
                        <a:rPr lang="en-US" sz="1100" dirty="0">
                          <a:solidFill>
                            <a:srgbClr val="1F2937"/>
                          </a:solidFill>
                        </a:rPr>
                        <a:t>목표 </a:t>
                      </a:r>
                      <a:pPr indent="0" marL="0">
                        <a:buNone/>
                      </a:pPr>
                      <a:r>
                        <a:rPr lang="en-US" sz="1100" dirty="0">
                          <a:solidFill>
                            <a:srgbClr val="1F2937"/>
                          </a:solidFill>
                        </a:rPr>
                        <a:t>이력 </a:t>
                      </a:r>
                      <a:pPr indent="0" marL="0">
                        <a:buNone/>
                      </a:pPr>
                      <a:r>
                        <a:rPr lang="en-US" sz="1100" dirty="0">
                          <a:solidFill>
                            <a:srgbClr val="1F2937"/>
                          </a:solidFill>
                        </a:rPr>
                        <a:t>생성, </a:t>
                      </a:r>
                      <a:pPr indent="0" marL="0">
                        <a:buNone/>
                      </a:pPr>
                      <a:r>
                        <a:rPr lang="en-US" sz="1100" dirty="0">
                          <a:solidFill>
                            <a:srgbClr val="1F2937"/>
                          </a:solidFill>
                        </a:rPr>
                        <a:t>기존 </a:t>
                      </a:r>
                      <a:pPr indent="0" marL="0">
                        <a:buNone/>
                      </a:pPr>
                      <a:r>
                        <a:rPr lang="en-US" sz="1100" dirty="0">
                          <a:solidFill>
                            <a:srgbClr val="1F2937"/>
                          </a:solidFill>
                        </a:rPr>
                        <a:t>목표의 </a:t>
                      </a:r>
                      <a:pPr indent="0" marL="0">
                        <a:buNone/>
                      </a:pPr>
                      <a:r>
                        <a:rPr lang="en-US" sz="1100" dirty="0">
                          <a:solidFill>
                            <a:srgbClr val="1F2937"/>
                          </a:solidFill>
                        </a:rPr>
                        <a:t>유효 </a:t>
                      </a:r>
                      <a:pPr indent="0" marL="0">
                        <a:buNone/>
                      </a:pPr>
                      <a:r>
                        <a:rPr lang="en-US" sz="1100" dirty="0">
                          <a:solidFill>
                            <a:srgbClr val="1F2937"/>
                          </a:solidFill>
                        </a:rPr>
                        <a:t>기간 </a:t>
                      </a:r>
                      <a:pPr indent="0" marL="0">
                        <a:buNone/>
                      </a:pPr>
                      <a:r>
                        <a:rPr lang="en-US" sz="1100" dirty="0">
                          <a:solidFill>
                            <a:srgbClr val="1F2937"/>
                          </a:solidFill>
                        </a:rPr>
                        <a:t>종료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자동 </a:t>
                      </a:r>
                      <a:pPr indent="0" marL="0">
                        <a:buNone/>
                      </a:pPr>
                      <a:r>
                        <a:rPr lang="en-US" sz="1100" dirty="0">
                          <a:solidFill>
                            <a:srgbClr val="1F2937"/>
                          </a:solidFill>
                        </a:rPr>
                        <a:t>권장 </a:t>
                      </a:r>
                      <a:pPr indent="0" marL="0">
                        <a:buNone/>
                      </a:pPr>
                      <a:r>
                        <a:rPr lang="en-US" sz="1100" dirty="0">
                          <a:solidFill>
                            <a:srgbClr val="1F2937"/>
                          </a:solidFill>
                        </a:rPr>
                        <a:t>목표 </a:t>
                      </a:r>
                      <a:pPr indent="0" marL="0">
                        <a:buNone/>
                      </a:pPr>
                      <a:r>
                        <a:rPr lang="en-US" sz="1100" dirty="0">
                          <a:solidFill>
                            <a:srgbClr val="1F2937"/>
                          </a:solidFill>
                        </a:rPr>
                        <a:t>요청</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422</a:t>
                      </a:r>
                      <a:pPr indent="0" marL="0">
                        <a:buNone/>
                      </a:pPr>
                      <a:r>
                        <a:rPr lang="en-US" sz="1100" dirty="0">
                          <a:solidFill>
                            <a:srgbClr val="1F2937"/>
                          </a:solidFill>
                        </a:rPr>
                        <a:t>또는 </a:t>
                      </a:r>
                      <a:pPr indent="0" marL="0">
                        <a:buNone/>
                      </a:pPr>
                      <a:r>
                        <a:rPr lang="en-US" sz="1100" dirty="0">
                          <a:solidFill>
                            <a:srgbClr val="1F2937"/>
                          </a:solidFill>
                        </a:rPr>
                        <a:t>기능 </a:t>
                      </a:r>
                      <a:pPr indent="0" marL="0">
                        <a:buNone/>
                      </a:pPr>
                      <a:r>
                        <a:rPr lang="en-US" sz="1100" dirty="0">
                          <a:solidFill>
                            <a:srgbClr val="1F2937"/>
                          </a:solidFill>
                        </a:rPr>
                        <a:t>미지원 </a:t>
                      </a:r>
                      <a:pPr indent="0" marL="0">
                        <a:buNone/>
                      </a:pPr>
                      <a:r>
                        <a:rPr lang="en-US" sz="1100" dirty="0">
                          <a:solidFill>
                            <a:srgbClr val="1F2937"/>
                          </a:solidFill>
                        </a:rPr>
                        <a:t>응답. </a:t>
                      </a:r>
                      <a:pPr indent="0" marL="0">
                        <a:buNone/>
                      </a:pPr>
                      <a:r>
                        <a:rPr lang="en-US" sz="1100" dirty="0">
                          <a:solidFill>
                            <a:srgbClr val="1F2937"/>
                          </a:solidFill>
                        </a:rPr>
                        <a:t>자동 </a:t>
                      </a:r>
                      <a:pPr indent="0" marL="0">
                        <a:buNone/>
                      </a:pPr>
                      <a:r>
                        <a:rPr lang="en-US" sz="1100" dirty="0">
                          <a:solidFill>
                            <a:srgbClr val="1F2937"/>
                          </a:solidFill>
                        </a:rPr>
                        <a:t>권장 </a:t>
                      </a:r>
                      <a:pPr indent="0" marL="0">
                        <a:buNone/>
                      </a:pPr>
                      <a:r>
                        <a:rPr lang="en-US" sz="1100" dirty="0">
                          <a:solidFill>
                            <a:srgbClr val="1F2937"/>
                          </a:solidFill>
                        </a:rPr>
                        <a:t>수치는 </a:t>
                      </a:r>
                      <a:pPr indent="0" marL="0">
                        <a:buNone/>
                      </a:pPr>
                      <a:r>
                        <a:rPr lang="en-US" sz="1100" dirty="0">
                          <a:solidFill>
                            <a:srgbClr val="1F2937"/>
                          </a:solidFill>
                        </a:rPr>
                        <a:t>임의 </a:t>
                      </a:r>
                      <a:pPr indent="0" marL="0">
                        <a:buNone/>
                      </a:pPr>
                      <a:r>
                        <a:rPr lang="en-US" sz="1100" dirty="0">
                          <a:solidFill>
                            <a:srgbClr val="1F2937"/>
                          </a:solidFill>
                        </a:rPr>
                        <a:t>생성하지 </a:t>
                      </a:r>
                      <a:pPr indent="0" marL="0">
                        <a:buNone/>
                      </a:pPr>
                      <a:r>
                        <a:rPr lang="en-US" sz="1100" dirty="0">
                          <a:solidFill>
                            <a:srgbClr val="1F2937"/>
                          </a:solidFill>
                        </a:rPr>
                        <a:t>않음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위험 </a:t>
                      </a:r>
                      <a:pPr indent="0" marL="0">
                        <a:buNone/>
                      </a:pPr>
                      <a:r>
                        <a:rPr lang="en-US" sz="1100" dirty="0">
                          <a:solidFill>
                            <a:srgbClr val="1F2937"/>
                          </a:solidFill>
                        </a:rPr>
                        <a:t>범위 </a:t>
                      </a:r>
                      <a:pPr indent="0" marL="0">
                        <a:buNone/>
                      </a:pPr>
                      <a:r>
                        <a:rPr lang="en-US" sz="1100" dirty="0">
                          <a:solidFill>
                            <a:srgbClr val="1F2937"/>
                          </a:solidFill>
                        </a:rPr>
                        <a:t>또는 </a:t>
                      </a:r>
                      <a:pPr indent="0" marL="0">
                        <a:buNone/>
                      </a:pPr>
                      <a:r>
                        <a:rPr lang="en-US" sz="1100" dirty="0">
                          <a:solidFill>
                            <a:srgbClr val="1F2937"/>
                          </a:solidFill>
                        </a:rPr>
                        <a:t>미확정 </a:t>
                      </a:r>
                      <a:pPr indent="0" marL="0">
                        <a:buNone/>
                      </a:pPr>
                      <a:r>
                        <a:rPr lang="en-US" sz="1100" dirty="0">
                          <a:solidFill>
                            <a:srgbClr val="1F2937"/>
                          </a:solidFill>
                        </a:rPr>
                        <a:t>범위의 </a:t>
                      </a:r>
                      <a:pPr indent="0" marL="0">
                        <a:buNone/>
                      </a:pPr>
                      <a:r>
                        <a:rPr lang="en-US" sz="1100" dirty="0">
                          <a:solidFill>
                            <a:srgbClr val="1F2937"/>
                          </a:solidFill>
                        </a:rPr>
                        <a:t>목표 </a:t>
                      </a:r>
                      <a:pPr indent="0" marL="0">
                        <a:buNone/>
                      </a:pPr>
                      <a:r>
                        <a:rPr lang="en-US" sz="1100" dirty="0">
                          <a:solidFill>
                            <a:srgbClr val="1F2937"/>
                          </a:solidFill>
                        </a:rPr>
                        <a:t>입력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안전 </a:t>
                      </a:r>
                      <a:pPr indent="0" marL="0">
                        <a:buNone/>
                      </a:pPr>
                      <a:r>
                        <a:rPr lang="en-US" sz="1100" dirty="0">
                          <a:solidFill>
                            <a:srgbClr val="1F2937"/>
                          </a:solidFill>
                        </a:rPr>
                        <a:t>기준 </a:t>
                      </a:r>
                      <a:pPr indent="0" marL="0">
                        <a:buNone/>
                      </a:pPr>
                      <a:r>
                        <a:rPr lang="en-US" sz="1100" dirty="0">
                          <a:solidFill>
                            <a:srgbClr val="1F2937"/>
                          </a:solidFill>
                        </a:rPr>
                        <a:t>확정 </a:t>
                      </a:r>
                      <a:pPr indent="0" marL="0">
                        <a:buNone/>
                      </a:pPr>
                      <a:r>
                        <a:rPr lang="en-US" sz="1100" dirty="0">
                          <a:solidFill>
                            <a:srgbClr val="1F2937"/>
                          </a:solidFill>
                        </a:rPr>
                        <a:t>전 </a:t>
                      </a:r>
                      <a:pPr indent="0" marL="0">
                        <a:buNone/>
                      </a:pPr>
                      <a:r>
                        <a:rPr lang="en-US" sz="1100" dirty="0">
                          <a:solidFill>
                            <a:srgbClr val="1F2937"/>
                          </a:solidFill>
                        </a:rPr>
                        <a:t>저장 </a:t>
                      </a:r>
                      <a:pPr indent="0" marL="0">
                        <a:buNone/>
                      </a:pPr>
                      <a:r>
                        <a:rPr lang="en-US" sz="1100" dirty="0">
                          <a:solidFill>
                            <a:srgbClr val="1F2937"/>
                          </a:solidFill>
                        </a:rPr>
                        <a:t>정책 </a:t>
                      </a:r>
                      <a:pPr indent="0" marL="0">
                        <a:buNone/>
                      </a:pPr>
                      <a:r>
                        <a:rPr lang="en-US" sz="1100" dirty="0">
                          <a:solidFill>
                            <a:srgbClr val="1F2937"/>
                          </a:solidFill>
                        </a:rPr>
                        <a:t>미정. </a:t>
                      </a:r>
                      <a:pPr indent="0" marL="0">
                        <a:buNone/>
                      </a:pPr>
                      <a:r>
                        <a:rPr lang="en-US" sz="1100" dirty="0">
                          <a:solidFill>
                            <a:srgbClr val="1F2937"/>
                          </a:solidFill>
                        </a:rPr>
                        <a:t>기준 </a:t>
                      </a:r>
                      <a:pPr indent="0" marL="0">
                        <a:buNone/>
                      </a:pPr>
                      <a:r>
                        <a:rPr lang="en-US" sz="1100" dirty="0">
                          <a:solidFill>
                            <a:srgbClr val="1F2937"/>
                          </a:solidFill>
                        </a:rPr>
                        <a:t>확정 </a:t>
                      </a:r>
                      <a:pPr indent="0" marL="0">
                        <a:buNone/>
                      </a:pPr>
                      <a:r>
                        <a:rPr lang="en-US" sz="1100" dirty="0">
                          <a:solidFill>
                            <a:srgbClr val="1F2937"/>
                          </a:solidFill>
                        </a:rPr>
                        <a:t>후 </a:t>
                      </a:r>
                      <a:pPr indent="0" marL="0">
                        <a:buNone/>
                      </a:pPr>
                      <a:r>
                        <a:rPr lang="en-US" sz="1100" dirty="0">
                          <a:solidFill>
                            <a:srgbClr val="1F2937"/>
                          </a:solidFill>
                        </a:rPr>
                        <a:t>검증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목표 </a:t>
                      </a:r>
                      <a:pPr indent="0" marL="0">
                        <a:buNone/>
                      </a:pPr>
                      <a:r>
                        <a:rPr lang="en-US" sz="1100" dirty="0">
                          <a:solidFill>
                            <a:srgbClr val="1F2937"/>
                          </a:solidFill>
                        </a:rPr>
                        <a:t>유효 </a:t>
                      </a:r>
                      <a:pPr indent="0" marL="0">
                        <a:buNone/>
                      </a:pPr>
                      <a:r>
                        <a:rPr lang="en-US" sz="1100" dirty="0">
                          <a:solidFill>
                            <a:srgbClr val="1F2937"/>
                          </a:solidFill>
                        </a:rPr>
                        <a:t>기간 </a:t>
                      </a:r>
                      <a:pPr indent="0" marL="0">
                        <a:buNone/>
                      </a:pPr>
                      <a:r>
                        <a:rPr lang="en-US" sz="1100" dirty="0">
                          <a:solidFill>
                            <a:srgbClr val="1F2937"/>
                          </a:solidFill>
                        </a:rPr>
                        <a:t>중복</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409</a:t>
                      </a:r>
                      <a:pPr indent="0" marL="0">
                        <a:buNone/>
                      </a:pPr>
                      <a:r>
                        <a:rPr lang="en-US" sz="1100" dirty="0">
                          <a:solidFill>
                            <a:srgbClr val="1F2937"/>
                          </a:solidFill>
                        </a:rPr>
                        <a:t>, </a:t>
                      </a:r>
                      <a:pPr indent="0" marL="0">
                        <a:buNone/>
                      </a:pPr>
                      <a:r>
                        <a:rPr lang="en-US" sz="1100" dirty="0">
                          <a:solidFill>
                            <a:srgbClr val="1F2937"/>
                          </a:solidFill>
                        </a:rPr>
                        <a:t>목표 </a:t>
                      </a:r>
                      <a:pPr indent="0" marL="0">
                        <a:buNone/>
                      </a:pPr>
                      <a:r>
                        <a:rPr lang="en-US" sz="1100" dirty="0">
                          <a:solidFill>
                            <a:srgbClr val="1F2937"/>
                          </a:solidFill>
                        </a:rPr>
                        <a:t>이력 </a:t>
                      </a:r>
                      <a:pPr indent="0" marL="0">
                        <a:buNone/>
                      </a:pPr>
                      <a:r>
                        <a:rPr lang="en-US" sz="1100" dirty="0">
                          <a:solidFill>
                            <a:srgbClr val="1F2937"/>
                          </a:solidFill>
                        </a:rPr>
                        <a:t>충돌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목표 생성 또는 변경</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목표 변경은 기존 기록에 소급 적용하지 않고, 식사 날짜 기준 당시 유효한 목표를 사용합니다.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6.6 음식 검색</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GET</a:t>
            </a:r>
            <a:pPr indent="0" marL="0">
              <a:spcAft>
                <a:spcPts val="800"/>
              </a:spcAft>
              <a:buNone/>
            </a:pPr>
            <a:r>
              <a:rPr lang="en-US" sz="1600" dirty="0">
                <a:solidFill>
                  <a:srgbClr val="4B5563"/>
                </a:solidFill>
              </a:rPr>
              <a:t>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/v1/foods/search</a:t>
            </a:r>
            <a:endParaRPr lang="en-US" sz="1600" dirty="0"/>
          </a:p>
          <a:p>
            <a:pPr indent="0" marL="0">
              <a:spcAft>
                <a:spcPts val="800"/>
              </a:spcAft>
              <a:buNone/>
            </a:pPr>
            <a:r>
              <a:rPr lang="en-US" sz="1600" dirty="0">
                <a:solidFill>
                  <a:srgbClr val="4B5563"/>
                </a:solidFill>
              </a:rPr>
              <a:t>음식 검색은 한 글자 검색을 허용하는 방향으로 정리됐습니다. 회의 내용에는 검색 대기 시간이 약 300밀리초와 약 350밀리초로 서로 다르게 제시되어 있어, 지연 시간은 최종 구현값을 확정해야 합니다. 앱이 디바운스를 적용하더라도 서버는 개별 요청을 안전하게 처리해야 합니다.</a:t>
            </a:r>
            <a:endParaRPr lang="en-US" sz="1600" dirty="0"/>
          </a:p>
          <a:p>
            <a:pPr indent="0" marL="0">
              <a:spcAft>
                <a:spcPts val="800"/>
              </a:spcAft>
              <a:buNone/>
            </a:pPr>
            <a:r>
              <a:rPr lang="en-US" sz="1600" b="1" dirty="0">
                <a:solidFill>
                  <a:srgbClr val="4B5563"/>
                </a:solidFill>
              </a:rPr>
              <a:t>쿼리 매개변수</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6.6 음식 검색</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8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242204"/>
                <a:gridCol w="931653"/>
                <a:gridCol w="931653"/>
                <a:gridCol w="931653"/>
                <a:gridCol w="4192438"/>
              </a:tblGrid>
              <a:tr h="0">
                <a:tc>
                  <a:txBody>
                    <a:bodyPr/>
                    <a:lstStyle/>
                    <a:p>
                      <a:pPr indent="0" marL="0">
                        <a:buNone/>
                      </a:pPr>
                      <a:r>
                        <a:rPr lang="en-US" sz="1200" b="1" dirty="0">
                          <a:solidFill>
                            <a:srgbClr val="FFFFFF"/>
                          </a:solidFill>
                        </a:rPr>
                        <a:t>매개변수</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형식</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필수</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기본값</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제약·설명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q</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문자열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없음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검색어. </a:t>
                      </a:r>
                      <a:pPr indent="0" marL="0">
                        <a:buNone/>
                      </a:pPr>
                      <a:r>
                        <a:rPr lang="en-US" sz="1100" dirty="0">
                          <a:solidFill>
                            <a:srgbClr val="1F2937"/>
                          </a:solidFill>
                        </a:rPr>
                        <a:t>분석 </a:t>
                      </a:r>
                      <a:pPr indent="0" marL="0">
                        <a:buNone/>
                      </a:pPr>
                      <a:r>
                        <a:rPr lang="en-US" sz="1100" dirty="0">
                          <a:solidFill>
                            <a:srgbClr val="1F2937"/>
                          </a:solidFill>
                        </a:rPr>
                        <a:t>이벤트·일반 </a:t>
                      </a:r>
                      <a:pPr indent="0" marL="0">
                        <a:buNone/>
                      </a:pPr>
                      <a:r>
                        <a:rPr lang="en-US" sz="1100" dirty="0">
                          <a:solidFill>
                            <a:srgbClr val="1F2937"/>
                          </a:solidFill>
                        </a:rPr>
                        <a:t>로그에 </a:t>
                      </a:r>
                      <a:pPr indent="0" marL="0">
                        <a:buNone/>
                      </a:pPr>
                      <a:r>
                        <a:rPr lang="en-US" sz="1100" dirty="0">
                          <a:solidFill>
                            <a:srgbClr val="1F2937"/>
                          </a:solidFill>
                        </a:rPr>
                        <a:t>원문 </a:t>
                      </a:r>
                      <a:pPr indent="0" marL="0">
                        <a:buNone/>
                      </a:pPr>
                      <a:r>
                        <a:rPr lang="en-US" sz="1100" dirty="0">
                          <a:solidFill>
                            <a:srgbClr val="1F2937"/>
                          </a:solidFill>
                        </a:rPr>
                        <a:t>저장 </a:t>
                      </a:r>
                      <a:pPr indent="0" marL="0">
                        <a:buNone/>
                      </a:pPr>
                      <a:r>
                        <a:rPr lang="en-US" sz="1100" dirty="0">
                          <a:solidFill>
                            <a:srgbClr val="1F2937"/>
                          </a:solidFill>
                        </a:rPr>
                        <a:t>금지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limit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정수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아니요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결과 </a:t>
                      </a:r>
                      <a:pPr indent="0" marL="0">
                        <a:buNone/>
                      </a:pPr>
                      <a:r>
                        <a:rPr lang="en-US" sz="1100" dirty="0">
                          <a:solidFill>
                            <a:srgbClr val="1F2937"/>
                          </a:solidFill>
                        </a:rPr>
                        <a:t>수 </a:t>
                      </a:r>
                      <a:pPr indent="0" marL="0">
                        <a:buNone/>
                      </a:pPr>
                      <a:r>
                        <a:rPr lang="en-US" sz="1100" dirty="0">
                          <a:solidFill>
                            <a:srgbClr val="1F2937"/>
                          </a:solidFill>
                        </a:rPr>
                        <a:t>제한. </a:t>
                      </a:r>
                      <a:pPr indent="0" marL="0">
                        <a:buNone/>
                      </a:pPr>
                      <a:r>
                        <a:rPr lang="en-US" sz="1100" dirty="0">
                          <a:solidFill>
                            <a:srgbClr val="1F2937"/>
                          </a:solidFill>
                        </a:rPr>
                        <a:t>상한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cursor</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문자열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아니요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없음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결과가 </a:t>
                      </a:r>
                      <a:pPr indent="0" marL="0">
                        <a:buNone/>
                      </a:pPr>
                      <a:r>
                        <a:rPr lang="en-US" sz="1100" dirty="0">
                          <a:solidFill>
                            <a:srgbClr val="1F2937"/>
                          </a:solidFill>
                        </a:rPr>
                        <a:t>많을 </a:t>
                      </a:r>
                      <a:pPr indent="0" marL="0">
                        <a:buNone/>
                      </a:pPr>
                      <a:r>
                        <a:rPr lang="en-US" sz="1100" dirty="0">
                          <a:solidFill>
                            <a:srgbClr val="1F2937"/>
                          </a:solidFill>
                        </a:rPr>
                        <a:t>때 </a:t>
                      </a:r>
                      <a:pPr indent="0" marL="0">
                        <a:buNone/>
                      </a:pPr>
                      <a:r>
                        <a:rPr lang="en-US" sz="1100" dirty="0">
                          <a:solidFill>
                            <a:srgbClr val="1F2937"/>
                          </a:solidFill>
                        </a:rPr>
                        <a:t>이어 </a:t>
                      </a:r>
                      <a:pPr indent="0" marL="0">
                        <a:buNone/>
                      </a:pPr>
                      <a:r>
                        <a:rPr lang="en-US" sz="1100" dirty="0">
                          <a:solidFill>
                            <a:srgbClr val="1F2937"/>
                          </a:solidFill>
                        </a:rPr>
                        <a:t>보기. </a:t>
                      </a:r>
                      <a:pPr indent="0" marL="0">
                        <a:buNone/>
                      </a:pPr>
                      <a:r>
                        <a:rPr lang="en-US" sz="1100" dirty="0">
                          <a:solidFill>
                            <a:srgbClr val="1F2937"/>
                          </a:solidFill>
                        </a:rPr>
                        <a:t>적용 </a:t>
                      </a:r>
                      <a:pPr indent="0" marL="0">
                        <a:buNone/>
                      </a:pPr>
                      <a:r>
                        <a:rPr lang="en-US" sz="1100" dirty="0">
                          <a:solidFill>
                            <a:srgbClr val="1F2937"/>
                          </a:solidFill>
                        </a:rPr>
                        <a:t>여부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6.6 음식 검색</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요청 예시</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6.6 음식 검색</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GET /v1/foods/search?q=닭가슴살&amp;limit=10 HTTP/1.1</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Host: api.example.com</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Authorization: Bearer &lt;접근_토큰&gt;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Accept: application/json</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6.6 음식 검색</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성공 응답 </a:t>
            </a:r>
            <a:pPr indent="0" marL="0">
              <a:spcAft>
                <a:spcPts val="800"/>
              </a:spcAft>
              <a:buNone/>
            </a:pPr>
            <a:r>
              <a:rPr lang="en-US" sz="1600" b="1" dirty="0">
                <a:solidFill>
                  <a:srgbClr val="4B5563"/>
                </a:solidFill>
                <a:latin typeface="Courier New" pitchFamily="34" charset="0"/>
                <a:ea typeface="Courier New" pitchFamily="34" charset="-122"/>
                <a:cs typeface="Courier New" pitchFamily="34" charset="-120"/>
              </a:rPr>
              <a:t>200 OK</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6.6 음식 검색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"success": true,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"data":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"items":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"id": "fod_0192d6b6-0e01-796b-910c-75652a14d2d1",</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"name": "닭가슴살",</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"brandName":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"sourceType": "provider",</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"serving":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"name": "기준 제공량",</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"amount": 100,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"unit": "g"</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"nutrients":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"energyKcal": 165,</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"carbohydrateG": 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"proteinG": 31,</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"fatG": 3.6</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"nutrientAvailability":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"energyKcal": "available",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"carbohydrateG": "available",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"proteinG": "available",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"fatG": "available"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"source":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"name": "음식 정보 제공처",</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6.6 음식 검색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          "reference": "provider-item-123"</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"nextCursor":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"timestamp": "2026-10-01T02:40:00Z",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"requestId": "req_0192d6b6-6d0e-7b55-8988-fd4c7337c04c"</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6.6 음식 검색</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위 음식명과 영양값은 응답 구조를 설명하기 위한 예시이며, 실제 공급자 데이터가 아닙니다.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0</a:t>
            </a:r>
            <a:pPr indent="0" marL="0">
              <a:spcAft>
                <a:spcPts val="800"/>
              </a:spcAft>
              <a:buNone/>
            </a:pPr>
            <a:r>
              <a:rPr lang="en-US" sz="1600" dirty="0">
                <a:solidFill>
                  <a:srgbClr val="4B5563"/>
                </a:solidFill>
              </a:rPr>
              <a:t>은 실제 값이 0인 경우만 사용하고, 정보 없음은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null</a:t>
            </a:r>
            <a:pPr indent="0" marL="0">
              <a:spcAft>
                <a:spcPts val="800"/>
              </a:spcAft>
              <a:buNone/>
            </a:pPr>
            <a:r>
              <a:rPr lang="en-US" sz="1600" dirty="0">
                <a:solidFill>
                  <a:srgbClr val="4B5563"/>
                </a:solidFill>
              </a:rPr>
              <a:t> 및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unavailable</a:t>
            </a:r>
            <a:pPr indent="0" marL="0">
              <a:spcAft>
                <a:spcPts val="800"/>
              </a:spcAft>
              <a:buNone/>
            </a:pPr>
            <a:r>
              <a:rPr lang="en-US" sz="1600" dirty="0">
                <a:solidFill>
                  <a:srgbClr val="4B5563"/>
                </a:solidFill>
              </a:rPr>
              <a:t> 상태로 표현합니다.</a:t>
            </a:r>
            <a:endParaRPr lang="en-US" sz="1600" dirty="0"/>
          </a:p>
          <a:p>
            <a:pPr indent="0" marL="0">
              <a:spcAft>
                <a:spcPts val="800"/>
              </a:spcAft>
              <a:buNone/>
            </a:pPr>
            <a:r>
              <a:rPr lang="en-US" sz="1600" b="1" dirty="0">
                <a:solidFill>
                  <a:srgbClr val="4B5563"/>
                </a:solidFill>
              </a:rPr>
              <a:t>대표 처리 사례</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6.6 음식 검색</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95"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171700"/>
                <a:gridCol w="1943100"/>
                <a:gridCol w="4114800"/>
              </a:tblGrid>
              <a:tr h="0">
                <a:tc>
                  <a:txBody>
                    <a:bodyPr/>
                    <a:lstStyle/>
                    <a:p>
                      <a:pPr indent="0" marL="0">
                        <a:buNone/>
                      </a:pPr>
                      <a:r>
                        <a:rPr lang="en-US" sz="1200" b="1" dirty="0">
                          <a:solidFill>
                            <a:srgbClr val="FFFFFF"/>
                          </a:solidFill>
                        </a:rPr>
                        <a:t>사례</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상태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처리</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검색 </a:t>
                      </a:r>
                      <a:pPr indent="0" marL="0">
                        <a:buNone/>
                      </a:pPr>
                      <a:r>
                        <a:rPr lang="en-US" sz="1100" dirty="0">
                          <a:solidFill>
                            <a:srgbClr val="1F2937"/>
                          </a:solidFill>
                        </a:rPr>
                        <a:t>결과가 </a:t>
                      </a:r>
                      <a:pPr indent="0" marL="0">
                        <a:buNone/>
                      </a:pPr>
                      <a:r>
                        <a:rPr lang="en-US" sz="1100" dirty="0">
                          <a:solidFill>
                            <a:srgbClr val="1F2937"/>
                          </a:solidFill>
                        </a:rPr>
                        <a:t>있음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200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내부 </a:t>
                      </a:r>
                      <a:pPr indent="0" marL="0">
                        <a:buNone/>
                      </a:pPr>
                      <a:r>
                        <a:rPr lang="en-US" sz="1100" dirty="0">
                          <a:solidFill>
                            <a:srgbClr val="1F2937"/>
                          </a:solidFill>
                        </a:rPr>
                        <a:t>표준 </a:t>
                      </a:r>
                      <a:pPr indent="0" marL="0">
                        <a:buNone/>
                      </a:pPr>
                      <a:r>
                        <a:rPr lang="en-US" sz="1100" dirty="0">
                          <a:solidFill>
                            <a:srgbClr val="1F2937"/>
                          </a:solidFill>
                        </a:rPr>
                        <a:t>모델로 </a:t>
                      </a:r>
                      <a:pPr indent="0" marL="0">
                        <a:buNone/>
                      </a:pPr>
                      <a:r>
                        <a:rPr lang="en-US" sz="1100" dirty="0">
                          <a:solidFill>
                            <a:srgbClr val="1F2937"/>
                          </a:solidFill>
                        </a:rPr>
                        <a:t>변환한 </a:t>
                      </a:r>
                      <a:pPr indent="0" marL="0">
                        <a:buNone/>
                      </a:pPr>
                      <a:r>
                        <a:rPr lang="en-US" sz="1100" dirty="0">
                          <a:solidFill>
                            <a:srgbClr val="1F2937"/>
                          </a:solidFill>
                        </a:rPr>
                        <a:t>결과 </a:t>
                      </a:r>
                      <a:pPr indent="0" marL="0">
                        <a:buNone/>
                      </a:pPr>
                      <a:r>
                        <a:rPr lang="en-US" sz="1100" dirty="0">
                          <a:solidFill>
                            <a:srgbClr val="1F2937"/>
                          </a:solidFill>
                        </a:rPr>
                        <a:t>반환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검색 </a:t>
                      </a:r>
                      <a:pPr indent="0" marL="0">
                        <a:buNone/>
                      </a:pPr>
                      <a:r>
                        <a:rPr lang="en-US" sz="1100" dirty="0">
                          <a:solidFill>
                            <a:srgbClr val="1F2937"/>
                          </a:solidFill>
                        </a:rPr>
                        <a:t>결과가 </a:t>
                      </a:r>
                      <a:pPr indent="0" marL="0">
                        <a:buNone/>
                      </a:pPr>
                      <a:r>
                        <a:rPr lang="en-US" sz="1100" dirty="0">
                          <a:solidFill>
                            <a:srgbClr val="1F2937"/>
                          </a:solidFill>
                        </a:rPr>
                        <a:t>없음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200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items: </a:t>
                      </a:r>
                      <a:pPr indent="0" marL="0">
                        <a:buNone/>
                      </a:pPr>
                      <a:r>
                        <a:rPr lang="en-US" sz="1100" dirty="0">
                          <a:solidFill>
                            <a:srgbClr val="1F2937"/>
                          </a:solidFill>
                          <a:latin typeface="Courier New" pitchFamily="34" charset="0"/>
                          <a:ea typeface="Courier New" pitchFamily="34" charset="-122"/>
                          <a:cs typeface="Courier New" pitchFamily="34" charset="-120"/>
                        </a:rPr>
                        <a:t>[]</a:t>
                      </a:r>
                      <a:pPr indent="0" marL="0">
                        <a:buNone/>
                      </a:pPr>
                      <a:r>
                        <a:rPr lang="en-US" sz="1100" dirty="0">
                          <a:solidFill>
                            <a:srgbClr val="1F2937"/>
                          </a:solidFill>
                        </a:rPr>
                        <a:t>,</a:t>
                      </a:r>
                      <a:pPr indent="0" marL="0">
                        <a:buNone/>
                      </a:pPr>
                      <a:r>
                        <a:rPr lang="en-US" sz="1100" dirty="0">
                          <a:solidFill>
                            <a:srgbClr val="1F2937"/>
                          </a:solidFill>
                          <a:latin typeface="Courier New" pitchFamily="34" charset="0"/>
                          <a:ea typeface="Courier New" pitchFamily="34" charset="-122"/>
                          <a:cs typeface="Courier New" pitchFamily="34" charset="-120"/>
                        </a:rPr>
                        <a:t>resultStatus: </a:t>
                      </a:r>
                      <a:pPr indent="0" marL="0">
                        <a:buNone/>
                      </a:pPr>
                      <a:r>
                        <a:rPr lang="en-US" sz="1100" dirty="0">
                          <a:solidFill>
                            <a:srgbClr val="1F2937"/>
                          </a:solidFill>
                          <a:latin typeface="Courier New" pitchFamily="34" charset="0"/>
                          <a:ea typeface="Courier New" pitchFamily="34" charset="-122"/>
                          <a:cs typeface="Courier New" pitchFamily="34" charset="-120"/>
                        </a:rPr>
                        <a:t>"no_results"</a:t>
                      </a:r>
                      <a:pPr indent="0" marL="0">
                        <a:buNone/>
                      </a:pPr>
                      <a:r>
                        <a:rPr lang="en-US" sz="1100" dirty="0">
                          <a:solidFill>
                            <a:srgbClr val="1F2937"/>
                          </a:solidFill>
                        </a:rPr>
                        <a:t>를 </a:t>
                      </a:r>
                      <a:pPr indent="0" marL="0">
                        <a:buNone/>
                      </a:pPr>
                      <a:r>
                        <a:rPr lang="en-US" sz="1100" dirty="0">
                          <a:solidFill>
                            <a:srgbClr val="1F2937"/>
                          </a:solidFill>
                        </a:rPr>
                        <a:t>반환하는 </a:t>
                      </a:r>
                      <a:pPr indent="0" marL="0">
                        <a:buNone/>
                      </a:pPr>
                      <a:r>
                        <a:rPr lang="en-US" sz="1100" dirty="0">
                          <a:solidFill>
                            <a:srgbClr val="1F2937"/>
                          </a:solidFill>
                        </a:rPr>
                        <a:t>방식 </a:t>
                      </a:r>
                      <a:pPr indent="0" marL="0">
                        <a:buNone/>
                      </a:pPr>
                      <a:r>
                        <a:rPr lang="en-US" sz="1100" dirty="0">
                          <a:solidFill>
                            <a:srgbClr val="1F2937"/>
                          </a:solidFill>
                        </a:rPr>
                        <a:t>제안. </a:t>
                      </a:r>
                      <a:pPr indent="0" marL="0">
                        <a:buNone/>
                      </a:pPr>
                      <a:r>
                        <a:rPr lang="en-US" sz="1100" dirty="0">
                          <a:solidFill>
                            <a:srgbClr val="1F2937"/>
                          </a:solidFill>
                        </a:rPr>
                        <a:t>직접 </a:t>
                      </a:r>
                      <a:pPr indent="0" marL="0">
                        <a:buNone/>
                      </a:pPr>
                      <a:r>
                        <a:rPr lang="en-US" sz="1100" dirty="0">
                          <a:solidFill>
                            <a:srgbClr val="1F2937"/>
                          </a:solidFill>
                        </a:rPr>
                        <a:t>입력 </a:t>
                      </a:r>
                      <a:pPr indent="0" marL="0">
                        <a:buNone/>
                      </a:pPr>
                      <a:r>
                        <a:rPr lang="en-US" sz="1100" dirty="0">
                          <a:solidFill>
                            <a:srgbClr val="1F2937"/>
                          </a:solidFill>
                        </a:rPr>
                        <a:t>경로 </a:t>
                      </a:r>
                      <a:pPr indent="0" marL="0">
                        <a:buNone/>
                      </a:pPr>
                      <a:r>
                        <a:rPr lang="en-US" sz="1100" dirty="0">
                          <a:solidFill>
                            <a:srgbClr val="1F2937"/>
                          </a:solidFill>
                        </a:rPr>
                        <a:t>제공</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공급자 </a:t>
                      </a:r>
                      <a:pPr indent="0" marL="0">
                        <a:buNone/>
                      </a:pPr>
                      <a:r>
                        <a:rPr lang="en-US" sz="1100" dirty="0">
                          <a:solidFill>
                            <a:srgbClr val="1F2937"/>
                          </a:solidFill>
                        </a:rPr>
                        <a:t>응답 </a:t>
                      </a:r>
                      <a:pPr indent="0" marL="0">
                        <a:buNone/>
                      </a:pPr>
                      <a:r>
                        <a:rPr lang="en-US" sz="1100" dirty="0">
                          <a:solidFill>
                            <a:srgbClr val="1F2937"/>
                          </a:solidFill>
                        </a:rPr>
                        <a:t>오류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502</a:t>
                      </a:r>
                      <a:pPr indent="0" marL="0">
                        <a:buNone/>
                      </a:pPr>
                      <a:r>
                        <a:rPr lang="en-US" sz="1100" dirty="0">
                          <a:solidFill>
                            <a:srgbClr val="1F2937"/>
                          </a:solidFill>
                        </a:rPr>
                        <a:t>또는</a:t>
                      </a:r>
                      <a:pPr indent="0" marL="0">
                        <a:buNone/>
                      </a:pPr>
                      <a:r>
                        <a:rPr lang="en-US" sz="1100" dirty="0">
                          <a:solidFill>
                            <a:srgbClr val="1F2937"/>
                          </a:solidFill>
                          <a:latin typeface="Courier New" pitchFamily="34" charset="0"/>
                          <a:ea typeface="Courier New" pitchFamily="34" charset="-122"/>
                          <a:cs typeface="Courier New" pitchFamily="34" charset="-120"/>
                        </a:rPr>
                        <a:t>503</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검색 </a:t>
                      </a:r>
                      <a:pPr indent="0" marL="0">
                        <a:buNone/>
                      </a:pPr>
                      <a:r>
                        <a:rPr lang="en-US" sz="1100" dirty="0">
                          <a:solidFill>
                            <a:srgbClr val="1F2937"/>
                          </a:solidFill>
                        </a:rPr>
                        <a:t>실패와 </a:t>
                      </a:r>
                      <a:pPr indent="0" marL="0">
                        <a:buNone/>
                      </a:pPr>
                      <a:r>
                        <a:rPr lang="en-US" sz="1100" dirty="0">
                          <a:solidFill>
                            <a:srgbClr val="1F2937"/>
                          </a:solidFill>
                        </a:rPr>
                        <a:t>빈 </a:t>
                      </a:r>
                      <a:pPr indent="0" marL="0">
                        <a:buNone/>
                      </a:pPr>
                      <a:r>
                        <a:rPr lang="en-US" sz="1100" dirty="0">
                          <a:solidFill>
                            <a:srgbClr val="1F2937"/>
                          </a:solidFill>
                        </a:rPr>
                        <a:t>결과를 </a:t>
                      </a:r>
                      <a:pPr indent="0" marL="0">
                        <a:buNone/>
                      </a:pPr>
                      <a:r>
                        <a:rPr lang="en-US" sz="1100" dirty="0">
                          <a:solidFill>
                            <a:srgbClr val="1F2937"/>
                          </a:solidFill>
                        </a:rPr>
                        <a:t>구분. </a:t>
                      </a:r>
                      <a:pPr indent="0" marL="0">
                        <a:buNone/>
                      </a:pPr>
                      <a:r>
                        <a:rPr lang="en-US" sz="1100" dirty="0">
                          <a:solidFill>
                            <a:srgbClr val="1F2937"/>
                          </a:solidFill>
                        </a:rPr>
                        <a:t>직접 </a:t>
                      </a:r>
                      <a:pPr indent="0" marL="0">
                        <a:buNone/>
                      </a:pPr>
                      <a:r>
                        <a:rPr lang="en-US" sz="1100" dirty="0">
                          <a:solidFill>
                            <a:srgbClr val="1F2937"/>
                          </a:solidFill>
                        </a:rPr>
                        <a:t>입력·최근 </a:t>
                      </a:r>
                      <a:pPr indent="0" marL="0">
                        <a:buNone/>
                      </a:pPr>
                      <a:r>
                        <a:rPr lang="en-US" sz="1100" dirty="0">
                          <a:solidFill>
                            <a:srgbClr val="1F2937"/>
                          </a:solidFill>
                        </a:rPr>
                        <a:t>음식으로 </a:t>
                      </a:r>
                      <a:pPr indent="0" marL="0">
                        <a:buNone/>
                      </a:pPr>
                      <a:r>
                        <a:rPr lang="en-US" sz="1100" dirty="0">
                          <a:solidFill>
                            <a:srgbClr val="1F2937"/>
                          </a:solidFill>
                        </a:rPr>
                        <a:t>기록을 </a:t>
                      </a:r>
                      <a:pPr indent="0" marL="0">
                        <a:buNone/>
                      </a:pPr>
                      <a:r>
                        <a:rPr lang="en-US" sz="1100" dirty="0">
                          <a:solidFill>
                            <a:srgbClr val="1F2937"/>
                          </a:solidFill>
                        </a:rPr>
                        <a:t>이어갈 </a:t>
                      </a:r>
                      <a:pPr indent="0" marL="0">
                        <a:buNone/>
                      </a:pPr>
                      <a:r>
                        <a:rPr lang="en-US" sz="1100" dirty="0">
                          <a:solidFill>
                            <a:srgbClr val="1F2937"/>
                          </a:solidFill>
                        </a:rPr>
                        <a:t>수 </a:t>
                      </a:r>
                      <a:pPr indent="0" marL="0">
                        <a:buNone/>
                      </a:pPr>
                      <a:r>
                        <a:rPr lang="en-US" sz="1100" dirty="0">
                          <a:solidFill>
                            <a:srgbClr val="1F2937"/>
                          </a:solidFill>
                        </a:rPr>
                        <a:t>있게 </a:t>
                      </a:r>
                      <a:pPr indent="0" marL="0">
                        <a:buNone/>
                      </a:pPr>
                      <a:r>
                        <a:rPr lang="en-US" sz="1100" dirty="0">
                          <a:solidFill>
                            <a:srgbClr val="1F2937"/>
                          </a:solidFill>
                        </a:rPr>
                        <a:t>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공급자 </a:t>
                      </a:r>
                      <a:pPr indent="0" marL="0">
                        <a:buNone/>
                      </a:pPr>
                      <a:r>
                        <a:rPr lang="en-US" sz="1100" dirty="0">
                          <a:solidFill>
                            <a:srgbClr val="1F2937"/>
                          </a:solidFill>
                        </a:rPr>
                        <a:t>응답 </a:t>
                      </a:r>
                      <a:pPr indent="0" marL="0">
                        <a:buNone/>
                      </a:pPr>
                      <a:r>
                        <a:rPr lang="en-US" sz="1100" dirty="0">
                          <a:solidFill>
                            <a:srgbClr val="1F2937"/>
                          </a:solidFill>
                        </a:rPr>
                        <a:t>지연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504</a:t>
                      </a:r>
                      <a:pPr indent="0" marL="0">
                        <a:buNone/>
                      </a:pPr>
                      <a:r>
                        <a:rPr lang="en-US" sz="1100" dirty="0">
                          <a:solidFill>
                            <a:srgbClr val="1F2937"/>
                          </a:solidFill>
                        </a:rPr>
                        <a:t>제안 </a:t>
                      </a:r>
                      <a:pPr indent="0" marL="0">
                        <a:buNone/>
                      </a:pPr>
                      <a:r>
                        <a:rPr lang="en-US" sz="1100" dirty="0">
                          <a:solidFill>
                            <a:srgbClr val="1F2937"/>
                          </a:solidFill>
                        </a:rPr>
                        <a:t>또는</a:t>
                      </a:r>
                      <a:pPr indent="0" marL="0">
                        <a:buNone/>
                      </a:pPr>
                      <a:r>
                        <a:rPr lang="en-US" sz="1100" dirty="0">
                          <a:solidFill>
                            <a:srgbClr val="1F2937"/>
                          </a:solidFill>
                          <a:latin typeface="Courier New" pitchFamily="34" charset="0"/>
                          <a:ea typeface="Courier New" pitchFamily="34" charset="-122"/>
                          <a:cs typeface="Courier New" pitchFamily="34" charset="-120"/>
                        </a:rPr>
                        <a:t>503</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실제 </a:t>
                      </a:r>
                      <a:pPr indent="0" marL="0">
                        <a:buNone/>
                      </a:pPr>
                      <a:r>
                        <a:rPr lang="en-US" sz="1100" dirty="0">
                          <a:solidFill>
                            <a:srgbClr val="1F2937"/>
                          </a:solidFill>
                        </a:rPr>
                        <a:t>시간 </a:t>
                      </a:r>
                      <a:pPr indent="0" marL="0">
                        <a:buNone/>
                      </a:pPr>
                      <a:r>
                        <a:rPr lang="en-US" sz="1100" dirty="0">
                          <a:solidFill>
                            <a:srgbClr val="1F2937"/>
                          </a:solidFill>
                        </a:rPr>
                        <a:t>제한은 </a:t>
                      </a:r>
                      <a:pPr indent="0" marL="0">
                        <a:buNone/>
                      </a:pPr>
                      <a:r>
                        <a:rPr lang="en-US" sz="1100" dirty="0">
                          <a:solidFill>
                            <a:srgbClr val="1F2937"/>
                          </a:solidFill>
                        </a:rPr>
                        <a:t>추정 </a:t>
                      </a:r>
                      <a:pPr indent="0" marL="0">
                        <a:buNone/>
                      </a:pPr>
                      <a:r>
                        <a:rPr lang="en-US" sz="1100" dirty="0">
                          <a:solidFill>
                            <a:srgbClr val="1F2937"/>
                          </a:solidFill>
                        </a:rPr>
                        <a:t>필요. </a:t>
                      </a:r>
                      <a:pPr indent="0" marL="0">
                        <a:buNone/>
                      </a:pPr>
                      <a:r>
                        <a:rPr lang="en-US" sz="1100" dirty="0">
                          <a:solidFill>
                            <a:srgbClr val="1F2937"/>
                          </a:solidFill>
                        </a:rPr>
                        <a:t>검색어를 </a:t>
                      </a:r>
                      <a:pPr indent="0" marL="0">
                        <a:buNone/>
                      </a:pPr>
                      <a:r>
                        <a:rPr lang="en-US" sz="1100" dirty="0">
                          <a:solidFill>
                            <a:srgbClr val="1F2937"/>
                          </a:solidFill>
                        </a:rPr>
                        <a:t>유지하도록 </a:t>
                      </a:r>
                      <a:pPr indent="0" marL="0">
                        <a:buNone/>
                      </a:pPr>
                      <a:r>
                        <a:rPr lang="en-US" sz="1100" dirty="0">
                          <a:solidFill>
                            <a:srgbClr val="1F2937"/>
                          </a:solidFill>
                        </a:rPr>
                        <a:t>앱에 </a:t>
                      </a:r>
                      <a:pPr indent="0" marL="0">
                        <a:buNone/>
                      </a:pPr>
                      <a:r>
                        <a:rPr lang="en-US" sz="1100" dirty="0">
                          <a:solidFill>
                            <a:srgbClr val="1F2937"/>
                          </a:solidFill>
                        </a:rPr>
                        <a:t>오류 </a:t>
                      </a:r>
                      <a:pPr indent="0" marL="0">
                        <a:buNone/>
                      </a:pPr>
                      <a:r>
                        <a:rPr lang="en-US" sz="1100" dirty="0">
                          <a:solidFill>
                            <a:srgbClr val="1F2937"/>
                          </a:solidFill>
                        </a:rPr>
                        <a:t>상태 </a:t>
                      </a:r>
                      <a:pPr indent="0" marL="0">
                        <a:buNone/>
                      </a:pPr>
                      <a:r>
                        <a:rPr lang="en-US" sz="1100" dirty="0">
                          <a:solidFill>
                            <a:srgbClr val="1F2937"/>
                          </a:solidFill>
                        </a:rPr>
                        <a:t>반환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잘못된 </a:t>
                      </a:r>
                      <a:pPr indent="0" marL="0">
                        <a:buNone/>
                      </a:pPr>
                      <a:r>
                        <a:rPr lang="en-US" sz="1100" dirty="0">
                          <a:solidFill>
                            <a:srgbClr val="1F2937"/>
                          </a:solidFill>
                        </a:rPr>
                        <a:t>매개변수·공백만 </a:t>
                      </a:r>
                      <a:pPr indent="0" marL="0">
                        <a:buNone/>
                      </a:pPr>
                      <a:r>
                        <a:rPr lang="en-US" sz="1100" dirty="0">
                          <a:solidFill>
                            <a:srgbClr val="1F2937"/>
                          </a:solidFill>
                        </a:rPr>
                        <a:t>있는 </a:t>
                      </a:r>
                      <a:pPr indent="0" marL="0">
                        <a:buNone/>
                      </a:pPr>
                      <a:r>
                        <a:rPr lang="en-US" sz="1100" dirty="0">
                          <a:solidFill>
                            <a:srgbClr val="1F2937"/>
                          </a:solidFill>
                        </a:rPr>
                        <a:t>검색어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400</a:t>
                      </a:r>
                      <a:pPr indent="0" marL="0">
                        <a:buNone/>
                      </a:pPr>
                      <a:r>
                        <a:rPr lang="en-US" sz="1100" dirty="0">
                          <a:solidFill>
                            <a:srgbClr val="1F2937"/>
                          </a:solidFill>
                        </a:rPr>
                        <a:t>또는</a:t>
                      </a:r>
                      <a:pPr indent="0" marL="0">
                        <a:buNone/>
                      </a:pPr>
                      <a:r>
                        <a:rPr lang="en-US" sz="1100" dirty="0">
                          <a:solidFill>
                            <a:srgbClr val="1F2937"/>
                          </a:solidFill>
                          <a:latin typeface="Courier New" pitchFamily="34" charset="0"/>
                          <a:ea typeface="Courier New" pitchFamily="34" charset="-122"/>
                          <a:cs typeface="Courier New" pitchFamily="34" charset="-120"/>
                        </a:rPr>
                        <a:t>422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매개변수 </a:t>
                      </a:r>
                      <a:pPr indent="0" marL="0">
                        <a:buNone/>
                      </a:pPr>
                      <a:r>
                        <a:rPr lang="en-US" sz="1100" dirty="0">
                          <a:solidFill>
                            <a:srgbClr val="1F2937"/>
                          </a:solidFill>
                        </a:rPr>
                        <a:t>오류 </a:t>
                      </a:r>
                      <a:pPr indent="0" marL="0">
                        <a:buNone/>
                      </a:pPr>
                      <a:r>
                        <a:rPr lang="en-US" sz="1100" dirty="0">
                          <a:solidFill>
                            <a:srgbClr val="1F2937"/>
                          </a:solidFill>
                        </a:rPr>
                        <a:t>반환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공급자 </a:t>
                      </a:r>
                      <a:pPr indent="0" marL="0">
                        <a:buNone/>
                      </a:pPr>
                      <a:r>
                        <a:rPr lang="en-US" sz="1100" dirty="0">
                          <a:solidFill>
                            <a:srgbClr val="1F2937"/>
                          </a:solidFill>
                        </a:rPr>
                        <a:t>계약상 </a:t>
                      </a:r>
                      <a:pPr indent="0" marL="0">
                        <a:buNone/>
                      </a:pPr>
                      <a:r>
                        <a:rPr lang="en-US" sz="1100" dirty="0">
                          <a:solidFill>
                            <a:srgbClr val="1F2937"/>
                          </a:solidFill>
                        </a:rPr>
                        <a:t>검색어 </a:t>
                      </a:r>
                      <a:pPr indent="0" marL="0">
                        <a:buNone/>
                      </a:pPr>
                      <a:r>
                        <a:rPr lang="en-US" sz="1100" dirty="0">
                          <a:solidFill>
                            <a:srgbClr val="1F2937"/>
                          </a:solidFill>
                        </a:rPr>
                        <a:t>처리 </a:t>
                      </a:r>
                      <a:pPr indent="0" marL="0">
                        <a:buNone/>
                      </a:pPr>
                      <a:r>
                        <a:rPr lang="en-US" sz="1100" dirty="0">
                          <a:solidFill>
                            <a:srgbClr val="1F2937"/>
                          </a:solidFill>
                        </a:rPr>
                        <a:t>불가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서비스 </a:t>
                      </a:r>
                      <a:pPr indent="0" marL="0">
                        <a:buNone/>
                      </a:pPr>
                      <a:r>
                        <a:rPr lang="en-US" sz="1100" dirty="0">
                          <a:solidFill>
                            <a:srgbClr val="1F2937"/>
                          </a:solidFill>
                        </a:rPr>
                        <a:t>정책에 </a:t>
                      </a:r>
                      <a:pPr indent="0" marL="0">
                        <a:buNone/>
                      </a:pPr>
                      <a:r>
                        <a:rPr lang="en-US" sz="1100" dirty="0">
                          <a:solidFill>
                            <a:srgbClr val="1F2937"/>
                          </a:solidFill>
                        </a:rPr>
                        <a:t>따라 </a:t>
                      </a:r>
                      <a:pPr indent="0" marL="0">
                        <a:buNone/>
                      </a:pPr>
                      <a:r>
                        <a:rPr lang="en-US" sz="1100" dirty="0">
                          <a:solidFill>
                            <a:srgbClr val="1F2937"/>
                          </a:solidFill>
                        </a:rPr>
                        <a:t>제한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계약과 </a:t>
                      </a:r>
                      <a:pPr indent="0" marL="0">
                        <a:buNone/>
                      </a:pPr>
                      <a:r>
                        <a:rPr lang="en-US" sz="1100" dirty="0">
                          <a:solidFill>
                            <a:srgbClr val="1F2937"/>
                          </a:solidFill>
                        </a:rPr>
                        <a:t>개인정보 </a:t>
                      </a:r>
                      <a:pPr indent="0" marL="0">
                        <a:buNone/>
                      </a:pPr>
                      <a:r>
                        <a:rPr lang="en-US" sz="1100" dirty="0">
                          <a:solidFill>
                            <a:srgbClr val="1F2937"/>
                          </a:solidFill>
                        </a:rPr>
                        <a:t>안내 </a:t>
                      </a:r>
                      <a:pPr indent="0" marL="0">
                        <a:buNone/>
                      </a:pPr>
                      <a:r>
                        <a:rPr lang="en-US" sz="1100" dirty="0">
                          <a:solidFill>
                            <a:srgbClr val="1F2937"/>
                          </a:solidFill>
                        </a:rPr>
                        <a:t>확인 </a:t>
                      </a:r>
                      <a:pPr indent="0" marL="0">
                        <a:buNone/>
                      </a:pPr>
                      <a:r>
                        <a:rPr lang="en-US" sz="1100" dirty="0">
                          <a:solidFill>
                            <a:srgbClr val="1F2937"/>
                          </a:solidFill>
                        </a:rPr>
                        <a:t>전 </a:t>
                      </a:r>
                      <a:pPr indent="0" marL="0">
                        <a:buNone/>
                      </a:pPr>
                      <a:r>
                        <a:rPr lang="en-US" sz="1100" dirty="0">
                          <a:solidFill>
                            <a:srgbClr val="1F2937"/>
                          </a:solidFill>
                        </a:rPr>
                        <a:t>외부 </a:t>
                      </a:r>
                      <a:pPr indent="0" marL="0">
                        <a:buNone/>
                      </a:pPr>
                      <a:r>
                        <a:rPr lang="en-US" sz="1100" dirty="0">
                          <a:solidFill>
                            <a:srgbClr val="1F2937"/>
                          </a:solidFill>
                        </a:rPr>
                        <a:t>공급자 </a:t>
                      </a:r>
                      <a:pPr indent="0" marL="0">
                        <a:buNone/>
                      </a:pPr>
                      <a:r>
                        <a:rPr lang="en-US" sz="1100" dirty="0">
                          <a:solidFill>
                            <a:srgbClr val="1F2937"/>
                          </a:solidFill>
                        </a:rPr>
                        <a:t>호출 </a:t>
                      </a:r>
                      <a:pPr indent="0" marL="0">
                        <a:buNone/>
                      </a:pPr>
                      <a:r>
                        <a:rPr lang="en-US" sz="1100" dirty="0">
                          <a:solidFill>
                            <a:srgbClr val="1F2937"/>
                          </a:solidFill>
                        </a:rPr>
                        <a:t>금지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6.6 음식 검색</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검색 응답 오류 예시</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6.6 음식 검색</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"success": false,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"error":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"code": "FOOD_PROVIDER_UNAVAILABLE",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"message": "음식 검색을 일시적으로 이용할 수 없습니다. 직접 입력하거나 최근 음식을 선택해 주세요."</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"timestamp": "2026-10-01T02:40:00Z",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"requestId": "req_0192d6b6-6d0e-7b55-8988-fd4c7337c04c"</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6.6 음식 검색</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개인정보·공급자 처리</a:t>
            </a:r>
            <a:endParaRPr lang="en-US" sz="1600" dirty="0"/>
          </a:p>
          <a:p>
            <a:pPr indent="0" marL="0">
              <a:spcAft>
                <a:spcPts val="800"/>
              </a:spcAft>
              <a:buNone/>
            </a:pPr>
            <a:r>
              <a:rPr lang="en-US" sz="1600" dirty="0">
                <a:solidFill>
                  <a:srgbClr val="4B5563"/>
                </a:solidFill>
              </a:rPr>
              <a:t>· 외부 공급자 호출에는 검색어만 전달합니다.</a:t>
            </a:r>
            <a:endParaRPr lang="en-US" sz="1600" dirty="0"/>
          </a:p>
          <a:p>
            <a:pPr indent="0" marL="0">
              <a:spcAft>
                <a:spcPts val="800"/>
              </a:spcAft>
              <a:buNone/>
            </a:pPr>
            <a:r>
              <a:rPr lang="en-US" sz="1600" dirty="0">
                <a:solidFill>
                  <a:srgbClr val="4B5563"/>
                </a:solidFill>
              </a:rPr>
              <a:t>· 사용자 식별값, 이메일, 섭취 날짜, 식사 기록은 전달하지 않습니다.</a:t>
            </a:r>
            <a:endParaRPr lang="en-US" sz="1600" dirty="0"/>
          </a:p>
          <a:p>
            <a:pPr indent="0" marL="0">
              <a:spcAft>
                <a:spcPts val="800"/>
              </a:spcAft>
              <a:buNone/>
            </a:pPr>
            <a:r>
              <a:rPr lang="en-US" sz="1600" dirty="0">
                <a:solidFill>
                  <a:srgbClr val="4B5563"/>
                </a:solidFill>
              </a:rPr>
              <a:t>· 검색어 보관 조건, 재표시 권한, 캐시 보관 허용 여부, 국외 처리 여부와 비용은 공급자 계약 확인 전 미정입니다.</a:t>
            </a:r>
            <a:endParaRPr lang="en-US" sz="1600" dirty="0"/>
          </a:p>
          <a:p>
            <a:pPr indent="0" marL="0">
              <a:spcAft>
                <a:spcPts val="800"/>
              </a:spcAft>
              <a:buNone/>
            </a:pPr>
            <a:r>
              <a:rPr lang="en-US" sz="1600" dirty="0">
                <a:solidFill>
                  <a:srgbClr val="4B5563"/>
                </a:solidFill>
              </a:rPr>
              <a:t>· 검색어 자체는 제품 분석 이벤트와 일반 오류 로그에 넣지 않습니다.</a:t>
            </a:r>
            <a:endParaRPr lang="en-US" sz="1600" dirty="0"/>
          </a:p>
          <a:p>
            <a:pPr indent="0" marL="0">
              <a:spcAft>
                <a:spcPts val="800"/>
              </a:spcAft>
              <a:buNone/>
            </a:pPr>
            <a:r>
              <a:rPr lang="en-US" sz="1600" dirty="0">
                <a:solidFill>
                  <a:srgbClr val="4B5563"/>
                </a:solidFill>
              </a:rPr>
              <a:t>· 공급자 응답은 앱에 그대로 전달하지 않고 내부 표준 자료 형식으로 변환합니다.</a:t>
            </a:r>
            <a:endParaRPr lang="en-US" sz="1600" dirty="0"/>
          </a:p>
          <a:p>
            <a:pPr indent="0" marL="0">
              <a:spcAft>
                <a:spcPts val="800"/>
              </a:spcAft>
              <a:buNone/>
            </a:pPr>
            <a:r>
              <a:rPr lang="en-US" sz="1600" dirty="0">
                <a:solidFill>
                  <a:srgbClr val="4B5563"/>
                </a:solidFill>
              </a:rPr>
              <a:t>· 부정확한 결과를 자동 선택하거나 자동 저장하지 않습니다.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6.7 최근 음식 조회</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GET</a:t>
            </a:r>
            <a:pPr indent="0" marL="0">
              <a:spcAft>
                <a:spcPts val="800"/>
              </a:spcAft>
              <a:buNone/>
            </a:pPr>
            <a:r>
              <a:rPr lang="en-US" sz="1600" dirty="0">
                <a:solidFill>
                  <a:srgbClr val="4B5563"/>
                </a:solidFill>
              </a:rPr>
              <a:t>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/v1/foods/recent</a:t>
            </a:r>
            <a:endParaRPr lang="en-US" sz="1600" dirty="0"/>
          </a:p>
          <a:p>
            <a:pPr indent="0" marL="0">
              <a:spcAft>
                <a:spcPts val="800"/>
              </a:spcAft>
              <a:buNone/>
            </a:pPr>
            <a:r>
              <a:rPr lang="en-US" sz="1600" dirty="0">
                <a:solidFill>
                  <a:srgbClr val="4B5563"/>
                </a:solidFill>
              </a:rPr>
              <a:t>최근 음식은 최근에 저장한 식사 항목을 기준으로 조회하는 제안입니다. 조회 기간과 중복 항목 제거 규칙은 회의에서 확정되지 않았습니다.</a:t>
            </a:r>
            <a:endParaRPr lang="en-US" sz="1600" dirty="0"/>
          </a:p>
          <a:p>
            <a:pPr indent="0" marL="0">
              <a:spcAft>
                <a:spcPts val="800"/>
              </a:spcAft>
              <a:buNone/>
            </a:pPr>
            <a:r>
              <a:rPr lang="en-US" sz="1600" b="1" dirty="0">
                <a:solidFill>
                  <a:srgbClr val="4B5563"/>
                </a:solidFill>
              </a:rPr>
              <a:t>쿼리 매개변수</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6.7 최근 음식 조회</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100"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405054"/>
                <a:gridCol w="1204332"/>
                <a:gridCol w="1204332"/>
                <a:gridCol w="4415883"/>
              </a:tblGrid>
              <a:tr h="0">
                <a:tc>
                  <a:txBody>
                    <a:bodyPr/>
                    <a:lstStyle/>
                    <a:p>
                      <a:pPr indent="0" marL="0">
                        <a:buNone/>
                      </a:pPr>
                      <a:r>
                        <a:rPr lang="en-US" sz="1200" b="1" dirty="0">
                          <a:solidFill>
                            <a:srgbClr val="FFFFFF"/>
                          </a:solidFill>
                        </a:rPr>
                        <a:t>매개변수</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형식</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필수</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설명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limit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정수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아니요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반환할 </a:t>
                      </a:r>
                      <a:pPr indent="0" marL="0">
                        <a:buNone/>
                      </a:pPr>
                      <a:r>
                        <a:rPr lang="en-US" sz="1100" dirty="0">
                          <a:solidFill>
                            <a:srgbClr val="1F2937"/>
                          </a:solidFill>
                        </a:rPr>
                        <a:t>음식 </a:t>
                      </a:r>
                      <a:pPr indent="0" marL="0">
                        <a:buNone/>
                      </a:pPr>
                      <a:r>
                        <a:rPr lang="en-US" sz="1100" dirty="0">
                          <a:solidFill>
                            <a:srgbClr val="1F2937"/>
                          </a:solidFill>
                        </a:rPr>
                        <a:t>수. </a:t>
                      </a:r>
                      <a:pPr indent="0" marL="0">
                        <a:buNone/>
                      </a:pPr>
                      <a:r>
                        <a:rPr lang="en-US" sz="1100" dirty="0">
                          <a:solidFill>
                            <a:srgbClr val="1F2937"/>
                          </a:solidFill>
                        </a:rPr>
                        <a:t>기본값·상한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6.7 최근 음식 조회</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성공 응답 </a:t>
            </a:r>
            <a:pPr indent="0" marL="0">
              <a:spcAft>
                <a:spcPts val="800"/>
              </a:spcAft>
              <a:buNone/>
            </a:pPr>
            <a:r>
              <a:rPr lang="en-US" sz="1600" b="1" dirty="0">
                <a:solidFill>
                  <a:srgbClr val="4B5563"/>
                </a:solidFill>
                <a:latin typeface="Courier New" pitchFamily="34" charset="0"/>
                <a:ea typeface="Courier New" pitchFamily="34" charset="-122"/>
                <a:cs typeface="Courier New" pitchFamily="34" charset="-120"/>
              </a:rPr>
              <a:t>200 OK</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6.7 최근 음식 조회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"success": true,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"data":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"items":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"foodId": "fod_0192d6b6-0e01-796b-910c-75652a14d2d1",</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"name": "닭가슴살",</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"sourceType": "provider",</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"lastConsumedAt": "2026-10-01T01:20:00Z",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"nutrients":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"energyKcal": 165,</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"carbohydrateG": 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"proteinG": 31,</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"fatG": 3.6</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"userFoodId": "ufd_0192d6b7-76fd-7a33-a1c1-8fa644516a50",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"name": "집에서 만든 국",</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"sourceType": "user_input",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"lastConsumedAt": "2026-09-30T23:10:00Z",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"nutrients":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"energyKcal":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"carbohydrateG":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"proteinG":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"fatG":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6.7 최근 음식 조회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"timestamp": "2026-10-01T02:45:00Z",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"requestId": "req_0192d6b7-d3a4-7be7-8ae0-d3011c7f9130"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6.7 최근 음식 조회</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104"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837793"/>
                <a:gridCol w="5391807"/>
              </a:tblGrid>
              <a:tr h="0">
                <a:tc>
                  <a:txBody>
                    <a:bodyPr/>
                    <a:lstStyle/>
                    <a:p>
                      <a:pPr indent="0" marL="0">
                        <a:buNone/>
                      </a:pPr>
                      <a:r>
                        <a:rPr lang="en-US" sz="1200" b="1" dirty="0">
                          <a:solidFill>
                            <a:srgbClr val="FFFFFF"/>
                          </a:solidFill>
                        </a:rPr>
                        <a:t>사례</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처리</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기록이 </a:t>
                      </a:r>
                      <a:pPr indent="0" marL="0">
                        <a:buNone/>
                      </a:pPr>
                      <a:r>
                        <a:rPr lang="en-US" sz="1100" dirty="0">
                          <a:solidFill>
                            <a:srgbClr val="1F2937"/>
                          </a:solidFill>
                        </a:rPr>
                        <a:t>있는 </a:t>
                      </a:r>
                      <a:pPr indent="0" marL="0">
                        <a:buNone/>
                      </a:pPr>
                      <a:r>
                        <a:rPr lang="en-US" sz="1100" dirty="0">
                          <a:solidFill>
                            <a:srgbClr val="1F2937"/>
                          </a:solidFill>
                        </a:rPr>
                        <a:t>사용자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최근 </a:t>
                      </a:r>
                      <a:pPr indent="0" marL="0">
                        <a:buNone/>
                      </a:pPr>
                      <a:r>
                        <a:rPr lang="en-US" sz="1100" dirty="0">
                          <a:solidFill>
                            <a:srgbClr val="1F2937"/>
                          </a:solidFill>
                        </a:rPr>
                        <a:t>순으로 </a:t>
                      </a:r>
                      <a:pPr indent="0" marL="0">
                        <a:buNone/>
                      </a:pPr>
                      <a:r>
                        <a:rPr lang="en-US" sz="1100" dirty="0">
                          <a:solidFill>
                            <a:srgbClr val="1F2937"/>
                          </a:solidFill>
                        </a:rPr>
                        <a:t>반환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기록이 </a:t>
                      </a:r>
                      <a:pPr indent="0" marL="0">
                        <a:buNone/>
                      </a:pPr>
                      <a:r>
                        <a:rPr lang="en-US" sz="1100" dirty="0">
                          <a:solidFill>
                            <a:srgbClr val="1F2937"/>
                          </a:solidFill>
                        </a:rPr>
                        <a:t>없는 </a:t>
                      </a:r>
                      <a:pPr indent="0" marL="0">
                        <a:buNone/>
                      </a:pPr>
                      <a:r>
                        <a:rPr lang="en-US" sz="1100" dirty="0">
                          <a:solidFill>
                            <a:srgbClr val="1F2937"/>
                          </a:solidFill>
                        </a:rPr>
                        <a:t>사용자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빈</a:t>
                      </a:r>
                      <a:pPr indent="0" marL="0">
                        <a:buNone/>
                      </a:pPr>
                      <a:r>
                        <a:rPr lang="en-US" sz="1100" dirty="0">
                          <a:solidFill>
                            <a:srgbClr val="1F2937"/>
                          </a:solidFill>
                          <a:latin typeface="Courier New" pitchFamily="34" charset="0"/>
                          <a:ea typeface="Courier New" pitchFamily="34" charset="-122"/>
                          <a:cs typeface="Courier New" pitchFamily="34" charset="-120"/>
                        </a:rPr>
                        <a:t>items</a:t>
                      </a:r>
                      <a:pPr indent="0" marL="0">
                        <a:buNone/>
                      </a:pPr>
                      <a:r>
                        <a:rPr lang="en-US" sz="1100" dirty="0">
                          <a:solidFill>
                            <a:srgbClr val="1F2937"/>
                          </a:solidFill>
                        </a:rPr>
                        <a:t>반환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개인 </a:t>
                      </a:r>
                      <a:pPr indent="0" marL="0">
                        <a:buNone/>
                      </a:pPr>
                      <a:r>
                        <a:rPr lang="en-US" sz="1100" dirty="0">
                          <a:solidFill>
                            <a:srgbClr val="1F2937"/>
                          </a:solidFill>
                        </a:rPr>
                        <a:t>음식이 </a:t>
                      </a:r>
                      <a:pPr indent="0" marL="0">
                        <a:buNone/>
                      </a:pPr>
                      <a:r>
                        <a:rPr lang="en-US" sz="1100" dirty="0">
                          <a:solidFill>
                            <a:srgbClr val="1F2937"/>
                          </a:solidFill>
                        </a:rPr>
                        <a:t>포함됨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해당 </a:t>
                      </a:r>
                      <a:pPr indent="0" marL="0">
                        <a:buNone/>
                      </a:pPr>
                      <a:r>
                        <a:rPr lang="en-US" sz="1100" dirty="0">
                          <a:solidFill>
                            <a:srgbClr val="1F2937"/>
                          </a:solidFill>
                        </a:rPr>
                        <a:t>사용자에게만 </a:t>
                      </a:r>
                      <a:pPr indent="0" marL="0">
                        <a:buNone/>
                      </a:pPr>
                      <a:r>
                        <a:rPr lang="en-US" sz="1100" dirty="0">
                          <a:solidFill>
                            <a:srgbClr val="1F2937"/>
                          </a:solidFill>
                        </a:rPr>
                        <a:t>반환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요청 </a:t>
                      </a:r>
                      <a:pPr indent="0" marL="0">
                        <a:buNone/>
                      </a:pPr>
                      <a:r>
                        <a:rPr lang="en-US" sz="1100" dirty="0">
                          <a:solidFill>
                            <a:srgbClr val="1F2937"/>
                          </a:solidFill>
                        </a:rPr>
                        <a:t>제한 </a:t>
                      </a:r>
                      <a:pPr indent="0" marL="0">
                        <a:buNone/>
                      </a:pPr>
                      <a:r>
                        <a:rPr lang="en-US" sz="1100" dirty="0">
                          <a:solidFill>
                            <a:srgbClr val="1F2937"/>
                          </a:solidFill>
                        </a:rPr>
                        <a:t>초과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제한 </a:t>
                      </a:r>
                      <a:pPr indent="0" marL="0">
                        <a:buNone/>
                      </a:pPr>
                      <a:r>
                        <a:rPr lang="en-US" sz="1100" dirty="0">
                          <a:solidFill>
                            <a:srgbClr val="1F2937"/>
                          </a:solidFill>
                        </a:rPr>
                        <a:t>정책 </a:t>
                      </a:r>
                      <a:pPr indent="0" marL="0">
                        <a:buNone/>
                      </a:pPr>
                      <a:r>
                        <a:rPr lang="en-US" sz="1100" dirty="0">
                          <a:solidFill>
                            <a:srgbClr val="1F2937"/>
                          </a:solidFill>
                        </a:rPr>
                        <a:t>확정 </a:t>
                      </a:r>
                      <a:pPr indent="0" marL="0">
                        <a:buNone/>
                      </a:pPr>
                      <a:r>
                        <a:rPr lang="en-US" sz="1100" dirty="0">
                          <a:solidFill>
                            <a:srgbClr val="1F2937"/>
                          </a:solidFill>
                        </a:rPr>
                        <a:t>후</a:t>
                      </a:r>
                      <a:pPr indent="0" marL="0">
                        <a:buNone/>
                      </a:pPr>
                      <a:r>
                        <a:rPr lang="en-US" sz="1100" dirty="0">
                          <a:solidFill>
                            <a:srgbClr val="1F2937"/>
                          </a:solidFill>
                          <a:latin typeface="Courier New" pitchFamily="34" charset="0"/>
                          <a:ea typeface="Courier New" pitchFamily="34" charset="-122"/>
                          <a:cs typeface="Courier New" pitchFamily="34" charset="-120"/>
                        </a:rPr>
                        <a:t>429</a:t>
                      </a:r>
                      <a:pPr indent="0" marL="0">
                        <a:buNone/>
                      </a:pPr>
                      <a:r>
                        <a:rPr lang="en-US" sz="1100" dirty="0">
                          <a:solidFill>
                            <a:srgbClr val="1F2937"/>
                          </a:solidFill>
                        </a:rPr>
                        <a:t>적용</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인증 </a:t>
                      </a:r>
                      <a:pPr indent="0" marL="0">
                        <a:buNone/>
                      </a:pPr>
                      <a:r>
                        <a:rPr lang="en-US" sz="1100" dirty="0">
                          <a:solidFill>
                            <a:srgbClr val="1F2937"/>
                          </a:solidFill>
                        </a:rPr>
                        <a:t>오류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401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6.7 최근 음식 조회</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최근 기록에서 음식을 선택해 새 기록을 만들더라도, 새 기록은 새 항목으로 생성하고 과거 기록을 변경하지 않습니다.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6.8 개인 음식 조회·생성</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개인 음식 조회</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GET</a:t>
            </a:r>
            <a:pPr indent="0" marL="0">
              <a:spcAft>
                <a:spcPts val="800"/>
              </a:spcAft>
              <a:buNone/>
            </a:pPr>
            <a:r>
              <a:rPr lang="en-US" sz="1600" dirty="0">
                <a:solidFill>
                  <a:srgbClr val="4B5563"/>
                </a:solidFill>
              </a:rPr>
              <a:t>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/v1/me/foods</a:t>
            </a:r>
            <a:endParaRPr lang="en-US" sz="1600" dirty="0"/>
          </a:p>
          <a:p>
            <a:pPr indent="0" marL="0">
              <a:spcAft>
                <a:spcPts val="800"/>
              </a:spcAft>
              <a:buNone/>
            </a:pPr>
            <a:r>
              <a:rPr lang="en-US" sz="1600" b="1" dirty="0">
                <a:solidFill>
                  <a:srgbClr val="4B5563"/>
                </a:solidFill>
              </a:rPr>
              <a:t>성공 응답 </a:t>
            </a:r>
            <a:pPr indent="0" marL="0">
              <a:spcAft>
                <a:spcPts val="800"/>
              </a:spcAft>
              <a:buNone/>
            </a:pPr>
            <a:r>
              <a:rPr lang="en-US" sz="1600" b="1" dirty="0">
                <a:solidFill>
                  <a:srgbClr val="4B5563"/>
                </a:solidFill>
                <a:latin typeface="Courier New" pitchFamily="34" charset="0"/>
                <a:ea typeface="Courier New" pitchFamily="34" charset="-122"/>
                <a:cs typeface="Courier New" pitchFamily="34" charset="-120"/>
              </a:rPr>
              <a:t>200 OK</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개인 음식 조회</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"success": true,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"data":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"items":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"id": "ufd_0192d6b7-76fd-7a33-a1c1-8fa644516a50",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"name": "집에서 만든 국",</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"servingName": "1회분",</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"nutrients":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"energyKcal":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"carbohydrateG":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"proteinG":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"fatG":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"createdAt": "2026-10-01T02:50:00Z"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"timestamp": "2026-10-01T02:50:00Z",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"requestId": "req_0192d6b8-4dd6-7bbb-8c77-990f6482ae08"</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개인 음식 생성</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POST</a:t>
            </a:r>
            <a:pPr indent="0" marL="0">
              <a:spcAft>
                <a:spcPts val="800"/>
              </a:spcAft>
              <a:buNone/>
            </a:pPr>
            <a:r>
              <a:rPr lang="en-US" sz="1600" dirty="0">
                <a:solidFill>
                  <a:srgbClr val="4B5563"/>
                </a:solidFill>
              </a:rPr>
              <a:t>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/v1/me/foods</a:t>
            </a:r>
            <a:endParaRPr lang="en-US" sz="1600" dirty="0"/>
          </a:p>
          <a:p>
            <a:pPr indent="0" marL="0">
              <a:spcAft>
                <a:spcPts val="800"/>
              </a:spcAft>
              <a:buNone/>
            </a:pPr>
            <a:r>
              <a:rPr lang="en-US" sz="1600" b="1" dirty="0">
                <a:solidFill>
                  <a:srgbClr val="4B5563"/>
                </a:solidFill>
              </a:rPr>
              <a:t>요청 본문</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개인 음식 생성</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110"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637692"/>
                <a:gridCol w="1266092"/>
                <a:gridCol w="633046"/>
                <a:gridCol w="3692769"/>
              </a:tblGrid>
              <a:tr h="0">
                <a:tc>
                  <a:txBody>
                    <a:bodyPr/>
                    <a:lstStyle/>
                    <a:p>
                      <a:pPr indent="0" marL="0">
                        <a:buNone/>
                      </a:pPr>
                      <a:r>
                        <a:rPr lang="en-US" sz="1200" b="1" dirty="0">
                          <a:solidFill>
                            <a:srgbClr val="FFFFFF"/>
                          </a:solidFill>
                        </a:rPr>
                        <a:t>필드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형식</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필수</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제약·설명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name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문자열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음식명. </a:t>
                      </a:r>
                      <a:pPr indent="0" marL="0">
                        <a:buNone/>
                      </a:pPr>
                      <a:r>
                        <a:rPr lang="en-US" sz="1100" dirty="0">
                          <a:solidFill>
                            <a:srgbClr val="1F2937"/>
                          </a:solidFill>
                        </a:rPr>
                        <a:t>앞뒤 </a:t>
                      </a:r>
                      <a:pPr indent="0" marL="0">
                        <a:buNone/>
                      </a:pPr>
                      <a:r>
                        <a:rPr lang="en-US" sz="1100" dirty="0">
                          <a:solidFill>
                            <a:srgbClr val="1F2937"/>
                          </a:solidFill>
                        </a:rPr>
                        <a:t>공백 </a:t>
                      </a:r>
                      <a:pPr indent="0" marL="0">
                        <a:buNone/>
                      </a:pPr>
                      <a:r>
                        <a:rPr lang="en-US" sz="1100" dirty="0">
                          <a:solidFill>
                            <a:srgbClr val="1F2937"/>
                          </a:solidFill>
                        </a:rPr>
                        <a:t>제거 </a:t>
                      </a:r>
                      <a:pPr indent="0" marL="0">
                        <a:buNone/>
                      </a:pPr>
                      <a:r>
                        <a:rPr lang="en-US" sz="1100" dirty="0">
                          <a:solidFill>
                            <a:srgbClr val="1F2937"/>
                          </a:solidFill>
                        </a:rPr>
                        <a:t>후 </a:t>
                      </a:r>
                      <a:pPr indent="0" marL="0">
                        <a:buNone/>
                      </a:pPr>
                      <a:r>
                        <a:rPr lang="en-US" sz="1100" dirty="0">
                          <a:solidFill>
                            <a:srgbClr val="1F2937"/>
                          </a:solidFill>
                        </a:rPr>
                        <a:t>빈 </a:t>
                      </a:r>
                      <a:pPr indent="0" marL="0">
                        <a:buNone/>
                      </a:pPr>
                      <a:r>
                        <a:rPr lang="en-US" sz="1100" dirty="0">
                          <a:solidFill>
                            <a:srgbClr val="1F2937"/>
                          </a:solidFill>
                        </a:rPr>
                        <a:t>값 </a:t>
                      </a:r>
                      <a:pPr indent="0" marL="0">
                        <a:buNone/>
                      </a:pPr>
                      <a:r>
                        <a:rPr lang="en-US" sz="1100" dirty="0">
                          <a:solidFill>
                            <a:srgbClr val="1F2937"/>
                          </a:solidFill>
                        </a:rPr>
                        <a:t>불가. </a:t>
                      </a:r>
                      <a:pPr indent="0" marL="0">
                        <a:buNone/>
                      </a:pPr>
                      <a:r>
                        <a:rPr lang="en-US" sz="1100" dirty="0">
                          <a:solidFill>
                            <a:srgbClr val="1F2937"/>
                          </a:solidFill>
                        </a:rPr>
                        <a:t>길이 </a:t>
                      </a:r>
                      <a:pPr indent="0" marL="0">
                        <a:buNone/>
                      </a:pPr>
                      <a:r>
                        <a:rPr lang="en-US" sz="1100" dirty="0">
                          <a:solidFill>
                            <a:srgbClr val="1F2937"/>
                          </a:solidFill>
                        </a:rPr>
                        <a:t>상한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servingName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문자열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아니요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미입력 </a:t>
                      </a:r>
                      <a:pPr indent="0" marL="0">
                        <a:buNone/>
                      </a:pPr>
                      <a:r>
                        <a:rPr lang="en-US" sz="1100" dirty="0">
                          <a:solidFill>
                            <a:srgbClr val="1F2937"/>
                          </a:solidFill>
                        </a:rPr>
                        <a:t>시</a:t>
                      </a:r>
                      <a:pPr indent="0" marL="0">
                        <a:buNone/>
                      </a:pPr>
                      <a:r>
                        <a:rPr lang="en-US" sz="1100" dirty="0">
                          <a:solidFill>
                            <a:srgbClr val="1F2937"/>
                          </a:solidFill>
                          <a:latin typeface="Courier New" pitchFamily="34" charset="0"/>
                          <a:ea typeface="Courier New" pitchFamily="34" charset="-122"/>
                          <a:cs typeface="Courier New" pitchFamily="34" charset="-120"/>
                        </a:rPr>
                        <a:t>1회분</a:t>
                      </a:r>
                      <a:pPr indent="0" marL="0">
                        <a:buNone/>
                      </a:pPr>
                      <a:r>
                        <a:rPr lang="en-US" sz="1100" dirty="0">
                          <a:solidFill>
                            <a:srgbClr val="1F2937"/>
                          </a:solidFill>
                        </a:rPr>
                        <a:t>제안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nutrients.energyKcal</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숫자 </a:t>
                      </a:r>
                      <a:pPr indent="0" marL="0">
                        <a:buNone/>
                      </a:pPr>
                      <a:r>
                        <a:rPr lang="en-US" sz="1100" dirty="0">
                          <a:solidFill>
                            <a:srgbClr val="1F2937"/>
                          </a:solidFill>
                        </a:rPr>
                        <a:t>또는</a:t>
                      </a:r>
                      <a:pPr indent="0" marL="0">
                        <a:buNone/>
                      </a:pPr>
                      <a:r>
                        <a:rPr lang="en-US" sz="1100" dirty="0">
                          <a:solidFill>
                            <a:srgbClr val="1F2937"/>
                          </a:solidFill>
                          <a:latin typeface="Courier New" pitchFamily="34" charset="0"/>
                          <a:ea typeface="Courier New" pitchFamily="34" charset="-122"/>
                          <a:cs typeface="Courier New" pitchFamily="34" charset="-120"/>
                        </a:rPr>
                        <a:t>null</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아니요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0 </a:t>
                      </a:r>
                      <a:pPr indent="0" marL="0">
                        <a:buNone/>
                      </a:pPr>
                      <a:r>
                        <a:rPr lang="en-US" sz="1100" dirty="0">
                          <a:solidFill>
                            <a:srgbClr val="1F2937"/>
                          </a:solidFill>
                        </a:rPr>
                        <a:t>이상</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nutrients.carbohydrateG</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숫자 </a:t>
                      </a:r>
                      <a:pPr indent="0" marL="0">
                        <a:buNone/>
                      </a:pPr>
                      <a:r>
                        <a:rPr lang="en-US" sz="1100" dirty="0">
                          <a:solidFill>
                            <a:srgbClr val="1F2937"/>
                          </a:solidFill>
                        </a:rPr>
                        <a:t>또는</a:t>
                      </a:r>
                      <a:pPr indent="0" marL="0">
                        <a:buNone/>
                      </a:pPr>
                      <a:r>
                        <a:rPr lang="en-US" sz="1100" dirty="0">
                          <a:solidFill>
                            <a:srgbClr val="1F2937"/>
                          </a:solidFill>
                          <a:latin typeface="Courier New" pitchFamily="34" charset="0"/>
                          <a:ea typeface="Courier New" pitchFamily="34" charset="-122"/>
                          <a:cs typeface="Courier New" pitchFamily="34" charset="-120"/>
                        </a:rPr>
                        <a:t>null</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아니요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0 </a:t>
                      </a:r>
                      <a:pPr indent="0" marL="0">
                        <a:buNone/>
                      </a:pPr>
                      <a:r>
                        <a:rPr lang="en-US" sz="1100" dirty="0">
                          <a:solidFill>
                            <a:srgbClr val="1F2937"/>
                          </a:solidFill>
                        </a:rPr>
                        <a:t>이상</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nutrients.proteinG</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숫자 </a:t>
                      </a:r>
                      <a:pPr indent="0" marL="0">
                        <a:buNone/>
                      </a:pPr>
                      <a:r>
                        <a:rPr lang="en-US" sz="1100" dirty="0">
                          <a:solidFill>
                            <a:srgbClr val="1F2937"/>
                          </a:solidFill>
                        </a:rPr>
                        <a:t>또는</a:t>
                      </a:r>
                      <a:pPr indent="0" marL="0">
                        <a:buNone/>
                      </a:pPr>
                      <a:r>
                        <a:rPr lang="en-US" sz="1100" dirty="0">
                          <a:solidFill>
                            <a:srgbClr val="1F2937"/>
                          </a:solidFill>
                          <a:latin typeface="Courier New" pitchFamily="34" charset="0"/>
                          <a:ea typeface="Courier New" pitchFamily="34" charset="-122"/>
                          <a:cs typeface="Courier New" pitchFamily="34" charset="-120"/>
                        </a:rPr>
                        <a:t>null</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아니요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0 </a:t>
                      </a:r>
                      <a:pPr indent="0" marL="0">
                        <a:buNone/>
                      </a:pPr>
                      <a:r>
                        <a:rPr lang="en-US" sz="1100" dirty="0">
                          <a:solidFill>
                            <a:srgbClr val="1F2937"/>
                          </a:solidFill>
                        </a:rPr>
                        <a:t>이상</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nutrients.fatG</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숫자 </a:t>
                      </a:r>
                      <a:pPr indent="0" marL="0">
                        <a:buNone/>
                      </a:pPr>
                      <a:r>
                        <a:rPr lang="en-US" sz="1100" dirty="0">
                          <a:solidFill>
                            <a:srgbClr val="1F2937"/>
                          </a:solidFill>
                        </a:rPr>
                        <a:t>또는</a:t>
                      </a:r>
                      <a:pPr indent="0" marL="0">
                        <a:buNone/>
                      </a:pPr>
                      <a:r>
                        <a:rPr lang="en-US" sz="1100" dirty="0">
                          <a:solidFill>
                            <a:srgbClr val="1F2937"/>
                          </a:solidFill>
                          <a:latin typeface="Courier New" pitchFamily="34" charset="0"/>
                          <a:ea typeface="Courier New" pitchFamily="34" charset="-122"/>
                          <a:cs typeface="Courier New" pitchFamily="34" charset="-120"/>
                        </a:rPr>
                        <a:t>null</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아니요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0 </a:t>
                      </a:r>
                      <a:pPr indent="0" marL="0">
                        <a:buNone/>
                      </a:pPr>
                      <a:r>
                        <a:rPr lang="en-US" sz="1100" dirty="0">
                          <a:solidFill>
                            <a:srgbClr val="1F2937"/>
                          </a:solidFill>
                        </a:rPr>
                        <a:t>이상</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개인 음식 생성</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요청 예시</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개인 음식 생성</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"name": "집에서 만든 국",</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"servingName": "1회분",</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"nutrients":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"energyKcal":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"carbohydrateG":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"proteinG":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"fatG":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개인 음식 생성</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성공 응답 </a:t>
            </a:r>
            <a:pPr indent="0" marL="0">
              <a:spcAft>
                <a:spcPts val="800"/>
              </a:spcAft>
              <a:buNone/>
            </a:pPr>
            <a:r>
              <a:rPr lang="en-US" sz="1600" b="1" dirty="0">
                <a:solidFill>
                  <a:srgbClr val="4B5563"/>
                </a:solidFill>
                <a:latin typeface="Courier New" pitchFamily="34" charset="0"/>
                <a:ea typeface="Courier New" pitchFamily="34" charset="-122"/>
                <a:cs typeface="Courier New" pitchFamily="34" charset="-120"/>
              </a:rPr>
              <a:t>201 Created</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개인 음식 생성</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"success": true,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"data":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"id": "ufd_0192d6b7-76fd-7a33-a1c1-8fa644516a50",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"name": "집에서 만든 국",</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"servingName": "1회분",</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"nutrients":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"energyKcal":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"carbohydrateG":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"proteinG":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"fatG":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"createdAt": "2026-10-01T02:50:00Z"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"timestamp": "2026-10-01T02:50:00Z",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"requestId": "req_0192d6b8-4dd6-7bbb-8c77-990f6482ae08"</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개인 음식 생성</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115"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3227294"/>
                <a:gridCol w="5002306"/>
              </a:tblGrid>
              <a:tr h="0">
                <a:tc>
                  <a:txBody>
                    <a:bodyPr/>
                    <a:lstStyle/>
                    <a:p>
                      <a:pPr indent="0" marL="0">
                        <a:buNone/>
                      </a:pPr>
                      <a:r>
                        <a:rPr lang="en-US" sz="1200" b="1" dirty="0">
                          <a:solidFill>
                            <a:srgbClr val="FFFFFF"/>
                          </a:solidFill>
                        </a:rPr>
                        <a:t>사례</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처리</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음식명만 </a:t>
                      </a:r>
                      <a:pPr indent="0" marL="0">
                        <a:buNone/>
                      </a:pPr>
                      <a:r>
                        <a:rPr lang="en-US" sz="1100" dirty="0">
                          <a:solidFill>
                            <a:srgbClr val="1F2937"/>
                          </a:solidFill>
                        </a:rPr>
                        <a:t>입력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생성 </a:t>
                      </a:r>
                      <a:pPr indent="0" marL="0">
                        <a:buNone/>
                      </a:pPr>
                      <a:r>
                        <a:rPr lang="en-US" sz="1100" dirty="0">
                          <a:solidFill>
                            <a:srgbClr val="1F2937"/>
                          </a:solidFill>
                        </a:rPr>
                        <a:t>허용, </a:t>
                      </a:r>
                      <a:pPr indent="0" marL="0">
                        <a:buNone/>
                      </a:pPr>
                      <a:r>
                        <a:rPr lang="en-US" sz="1100" dirty="0">
                          <a:solidFill>
                            <a:srgbClr val="1F2937"/>
                          </a:solidFill>
                        </a:rPr>
                        <a:t>영양값은</a:t>
                      </a:r>
                      <a:pPr indent="0" marL="0">
                        <a:buNone/>
                      </a:pPr>
                      <a:r>
                        <a:rPr lang="en-US" sz="1100" dirty="0">
                          <a:solidFill>
                            <a:srgbClr val="1F2937"/>
                          </a:solidFill>
                          <a:latin typeface="Courier New" pitchFamily="34" charset="0"/>
                          <a:ea typeface="Courier New" pitchFamily="34" charset="-122"/>
                          <a:cs typeface="Courier New" pitchFamily="34" charset="-120"/>
                        </a:rPr>
                        <a:t>null</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영양값이 </a:t>
                      </a:r>
                      <a:pPr indent="0" marL="0">
                        <a:buNone/>
                      </a:pPr>
                      <a:r>
                        <a:rPr lang="en-US" sz="1100" dirty="0">
                          <a:solidFill>
                            <a:srgbClr val="1F2937"/>
                          </a:solidFill>
                        </a:rPr>
                        <a:t>실제 </a:t>
                      </a:r>
                      <a:pPr indent="0" marL="0">
                        <a:buNone/>
                      </a:pPr>
                      <a:r>
                        <a:rPr lang="en-US" sz="1100" dirty="0">
                          <a:solidFill>
                            <a:srgbClr val="1F2937"/>
                          </a:solidFill>
                        </a:rPr>
                        <a:t>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숫자</a:t>
                      </a:r>
                      <a:pPr indent="0" marL="0">
                        <a:buNone/>
                      </a:pPr>
                      <a:r>
                        <a:rPr lang="en-US" sz="1100" dirty="0">
                          <a:solidFill>
                            <a:srgbClr val="1F2937"/>
                          </a:solidFill>
                          <a:latin typeface="Courier New" pitchFamily="34" charset="0"/>
                          <a:ea typeface="Courier New" pitchFamily="34" charset="-122"/>
                          <a:cs typeface="Courier New" pitchFamily="34" charset="-120"/>
                        </a:rPr>
                        <a:t>0</a:t>
                      </a:r>
                      <a:pPr indent="0" marL="0">
                        <a:buNone/>
                      </a:pPr>
                      <a:r>
                        <a:rPr lang="en-US" sz="1100" dirty="0">
                          <a:solidFill>
                            <a:srgbClr val="1F2937"/>
                          </a:solidFill>
                        </a:rPr>
                        <a:t>으로 </a:t>
                      </a:r>
                      <a:pPr indent="0" marL="0">
                        <a:buNone/>
                      </a:pPr>
                      <a:r>
                        <a:rPr lang="en-US" sz="1100" dirty="0">
                          <a:solidFill>
                            <a:srgbClr val="1F2937"/>
                          </a:solidFill>
                        </a:rPr>
                        <a:t>저장해 </a:t>
                      </a:r>
                      <a:pPr indent="0" marL="0">
                        <a:buNone/>
                      </a:pPr>
                      <a:r>
                        <a:rPr lang="en-US" sz="1100" dirty="0">
                          <a:solidFill>
                            <a:srgbClr val="1F2937"/>
                          </a:solidFill>
                        </a:rPr>
                        <a:t>미입력과 </a:t>
                      </a:r>
                      <a:pPr indent="0" marL="0">
                        <a:buNone/>
                      </a:pPr>
                      <a:r>
                        <a:rPr lang="en-US" sz="1100" dirty="0">
                          <a:solidFill>
                            <a:srgbClr val="1F2937"/>
                          </a:solidFill>
                        </a:rPr>
                        <a:t>구분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영양값이 </a:t>
                      </a:r>
                      <a:pPr indent="0" marL="0">
                        <a:buNone/>
                      </a:pPr>
                      <a:r>
                        <a:rPr lang="en-US" sz="1100" dirty="0">
                          <a:solidFill>
                            <a:srgbClr val="1F2937"/>
                          </a:solidFill>
                        </a:rPr>
                        <a:t>음수 </a:t>
                      </a:r>
                      <a:pPr indent="0" marL="0">
                        <a:buNone/>
                      </a:pPr>
                      <a:r>
                        <a:rPr lang="en-US" sz="1100" dirty="0">
                          <a:solidFill>
                            <a:srgbClr val="1F2937"/>
                          </a:solidFill>
                        </a:rPr>
                        <a:t>또는 </a:t>
                      </a:r>
                      <a:pPr indent="0" marL="0">
                        <a:buNone/>
                      </a:pPr>
                      <a:r>
                        <a:rPr lang="en-US" sz="1100" dirty="0">
                          <a:solidFill>
                            <a:srgbClr val="1F2937"/>
                          </a:solidFill>
                        </a:rPr>
                        <a:t>숫자 </a:t>
                      </a:r>
                      <a:pPr indent="0" marL="0">
                        <a:buNone/>
                      </a:pPr>
                      <a:r>
                        <a:rPr lang="en-US" sz="1100" dirty="0">
                          <a:solidFill>
                            <a:srgbClr val="1F2937"/>
                          </a:solidFill>
                        </a:rPr>
                        <a:t>형식이 </a:t>
                      </a:r>
                      <a:pPr indent="0" marL="0">
                        <a:buNone/>
                      </a:pPr>
                      <a:r>
                        <a:rPr lang="en-US" sz="1100" dirty="0">
                          <a:solidFill>
                            <a:srgbClr val="1F2937"/>
                          </a:solidFill>
                        </a:rPr>
                        <a:t>아님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422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이름이 </a:t>
                      </a:r>
                      <a:pPr indent="0" marL="0">
                        <a:buNone/>
                      </a:pPr>
                      <a:r>
                        <a:rPr lang="en-US" sz="1100" dirty="0">
                          <a:solidFill>
                            <a:srgbClr val="1F2937"/>
                          </a:solidFill>
                        </a:rPr>
                        <a:t>공백뿐임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422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다른 </a:t>
                      </a:r>
                      <a:pPr indent="0" marL="0">
                        <a:buNone/>
                      </a:pPr>
                      <a:r>
                        <a:rPr lang="en-US" sz="1100" dirty="0">
                          <a:solidFill>
                            <a:srgbClr val="1F2937"/>
                          </a:solidFill>
                        </a:rPr>
                        <a:t>사용자의 </a:t>
                      </a:r>
                      <a:pPr indent="0" marL="0">
                        <a:buNone/>
                      </a:pPr>
                      <a:r>
                        <a:rPr lang="en-US" sz="1100" dirty="0">
                          <a:solidFill>
                            <a:srgbClr val="1F2937"/>
                          </a:solidFill>
                        </a:rPr>
                        <a:t>개인 </a:t>
                      </a:r>
                      <a:pPr indent="0" marL="0">
                        <a:buNone/>
                      </a:pPr>
                      <a:r>
                        <a:rPr lang="en-US" sz="1100" dirty="0">
                          <a:solidFill>
                            <a:srgbClr val="1F2937"/>
                          </a:solidFill>
                        </a:rPr>
                        <a:t>음식 </a:t>
                      </a:r>
                      <a:pPr indent="0" marL="0">
                        <a:buNone/>
                      </a:pPr>
                      <a:r>
                        <a:rPr lang="en-US" sz="1100" dirty="0">
                          <a:solidFill>
                            <a:srgbClr val="1F2937"/>
                          </a:solidFill>
                        </a:rPr>
                        <a:t>식별값 </a:t>
                      </a:r>
                      <a:pPr indent="0" marL="0">
                        <a:buNone/>
                      </a:pPr>
                      <a:r>
                        <a:rPr lang="en-US" sz="1100" dirty="0">
                          <a:solidFill>
                            <a:srgbClr val="1F2937"/>
                          </a:solidFill>
                        </a:rPr>
                        <a:t>사용</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404</a:t>
                      </a:r>
                      <a:pPr indent="0" marL="0">
                        <a:buNone/>
                      </a:pPr>
                      <a:r>
                        <a:rPr lang="en-US" sz="1100" dirty="0">
                          <a:solidFill>
                            <a:srgbClr val="1F2937"/>
                          </a:solidFill>
                        </a:rPr>
                        <a:t>또는</a:t>
                      </a:r>
                      <a:pPr indent="0" marL="0">
                        <a:buNone/>
                      </a:pPr>
                      <a:r>
                        <a:rPr lang="en-US" sz="1100" dirty="0">
                          <a:solidFill>
                            <a:srgbClr val="1F2937"/>
                          </a:solidFill>
                          <a:latin typeface="Courier New" pitchFamily="34" charset="0"/>
                          <a:ea typeface="Courier New" pitchFamily="34" charset="-122"/>
                          <a:cs typeface="Courier New" pitchFamily="34" charset="-120"/>
                        </a:rPr>
                        <a:t>403</a:t>
                      </a:r>
                      <a:pPr indent="0" marL="0">
                        <a:buNone/>
                      </a:pPr>
                      <a:r>
                        <a:rPr lang="en-US" sz="1100" dirty="0">
                          <a:solidFill>
                            <a:srgbClr val="1F2937"/>
                          </a:solidFill>
                        </a:rPr>
                        <a:t>; </a:t>
                      </a:r>
                      <a:pPr indent="0" marL="0">
                        <a:buNone/>
                      </a:pPr>
                      <a:r>
                        <a:rPr lang="en-US" sz="1100" dirty="0">
                          <a:solidFill>
                            <a:srgbClr val="1F2937"/>
                          </a:solidFill>
                        </a:rPr>
                        <a:t>타인 </a:t>
                      </a:r>
                      <a:pPr indent="0" marL="0">
                        <a:buNone/>
                      </a:pPr>
                      <a:r>
                        <a:rPr lang="en-US" sz="1100" dirty="0">
                          <a:solidFill>
                            <a:srgbClr val="1F2937"/>
                          </a:solidFill>
                        </a:rPr>
                        <a:t>자료 </a:t>
                      </a:r>
                      <a:pPr indent="0" marL="0">
                        <a:buNone/>
                      </a:pPr>
                      <a:r>
                        <a:rPr lang="en-US" sz="1100" dirty="0">
                          <a:solidFill>
                            <a:srgbClr val="1F2937"/>
                          </a:solidFill>
                        </a:rPr>
                        <a:t>존재 </a:t>
                      </a:r>
                      <a:pPr indent="0" marL="0">
                        <a:buNone/>
                      </a:pPr>
                      <a:r>
                        <a:rPr lang="en-US" sz="1100" dirty="0">
                          <a:solidFill>
                            <a:srgbClr val="1F2937"/>
                          </a:solidFill>
                        </a:rPr>
                        <a:t>노출 </a:t>
                      </a:r>
                      <a:pPr indent="0" marL="0">
                        <a:buNone/>
                      </a:pPr>
                      <a:r>
                        <a:rPr lang="en-US" sz="1100" dirty="0">
                          <a:solidFill>
                            <a:srgbClr val="1F2937"/>
                          </a:solidFill>
                        </a:rPr>
                        <a:t>방지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같은 </a:t>
                      </a:r>
                      <a:pPr indent="0" marL="0">
                        <a:buNone/>
                      </a:pPr>
                      <a:r>
                        <a:rPr lang="en-US" sz="1100" dirty="0">
                          <a:solidFill>
                            <a:srgbClr val="1F2937"/>
                          </a:solidFill>
                        </a:rPr>
                        <a:t>이름의 </a:t>
                      </a:r>
                      <a:pPr indent="0" marL="0">
                        <a:buNone/>
                      </a:pPr>
                      <a:r>
                        <a:rPr lang="en-US" sz="1100" dirty="0">
                          <a:solidFill>
                            <a:srgbClr val="1F2937"/>
                          </a:solidFill>
                        </a:rPr>
                        <a:t>개인 </a:t>
                      </a:r>
                      <a:pPr indent="0" marL="0">
                        <a:buNone/>
                      </a:pPr>
                      <a:r>
                        <a:rPr lang="en-US" sz="1100" dirty="0">
                          <a:solidFill>
                            <a:srgbClr val="1F2937"/>
                          </a:solidFill>
                        </a:rPr>
                        <a:t>음식 </a:t>
                      </a:r>
                      <a:pPr indent="0" marL="0">
                        <a:buNone/>
                      </a:pPr>
                      <a:r>
                        <a:rPr lang="en-US" sz="1100" dirty="0">
                          <a:solidFill>
                            <a:srgbClr val="1F2937"/>
                          </a:solidFill>
                        </a:rPr>
                        <a:t>생성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중복 </a:t>
                      </a:r>
                      <a:pPr indent="0" marL="0">
                        <a:buNone/>
                      </a:pPr>
                      <a:r>
                        <a:rPr lang="en-US" sz="1100" dirty="0">
                          <a:solidFill>
                            <a:srgbClr val="1F2937"/>
                          </a:solidFill>
                        </a:rPr>
                        <a:t>허용 </a:t>
                      </a:r>
                      <a:pPr indent="0" marL="0">
                        <a:buNone/>
                      </a:pPr>
                      <a:r>
                        <a:rPr lang="en-US" sz="1100" dirty="0">
                          <a:solidFill>
                            <a:srgbClr val="1F2937"/>
                          </a:solidFill>
                        </a:rPr>
                        <a:t>여부 </a:t>
                      </a:r>
                      <a:pPr indent="0" marL="0">
                        <a:buNone/>
                      </a:pPr>
                      <a:r>
                        <a:rPr lang="en-US" sz="1100" dirty="0">
                          <a:solidFill>
                            <a:srgbClr val="1F2937"/>
                          </a:solidFill>
                        </a:rPr>
                        <a:t>미정. </a:t>
                      </a:r>
                      <a:pPr indent="0" marL="0">
                        <a:buNone/>
                      </a:pPr>
                      <a:r>
                        <a:rPr lang="en-US" sz="1100" dirty="0">
                          <a:solidFill>
                            <a:srgbClr val="1F2937"/>
                          </a:solidFill>
                        </a:rPr>
                        <a:t>사용자 </a:t>
                      </a:r>
                      <a:pPr indent="0" marL="0">
                        <a:buNone/>
                      </a:pPr>
                      <a:r>
                        <a:rPr lang="en-US" sz="1100" dirty="0">
                          <a:solidFill>
                            <a:srgbClr val="1F2937"/>
                          </a:solidFill>
                        </a:rPr>
                        <a:t>경험·중복 </a:t>
                      </a:r>
                      <a:pPr indent="0" marL="0">
                        <a:buNone/>
                      </a:pPr>
                      <a:r>
                        <a:rPr lang="en-US" sz="1100" dirty="0">
                          <a:solidFill>
                            <a:srgbClr val="1F2937"/>
                          </a:solidFill>
                        </a:rPr>
                        <a:t>기준 </a:t>
                      </a:r>
                      <a:pPr indent="0" marL="0">
                        <a:buNone/>
                      </a:pPr>
                      <a:r>
                        <a:rPr lang="en-US" sz="1100" dirty="0">
                          <a:solidFill>
                            <a:srgbClr val="1F2937"/>
                          </a:solidFill>
                        </a:rPr>
                        <a:t>확인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개인 음식 생성</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개인 음식은 다른 사용자의 검색 결과에 노출하지 않습니다. 공용 음식 자료로 올리는 기능은 별도 동의 절차가 없으므로 이 명세 범위에 포함하지 않습니다.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6.9 즐겨찾기 조회·등록·해제</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116</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즐겨찾기 조회</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GET</a:t>
            </a:r>
            <a:pPr indent="0" marL="0">
              <a:spcAft>
                <a:spcPts val="800"/>
              </a:spcAft>
              <a:buNone/>
            </a:pPr>
            <a:r>
              <a:rPr lang="en-US" sz="1600" dirty="0">
                <a:solidFill>
                  <a:srgbClr val="4B5563"/>
                </a:solidFill>
              </a:rPr>
              <a:t>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/v1/foods/favorites</a:t>
            </a:r>
            <a:endParaRPr lang="en-US" sz="1600" dirty="0"/>
          </a:p>
          <a:p>
            <a:pPr indent="0" marL="0">
              <a:spcAft>
                <a:spcPts val="800"/>
              </a:spcAft>
              <a:buNone/>
            </a:pPr>
            <a:r>
              <a:rPr lang="en-US" sz="1600" b="1" dirty="0">
                <a:solidFill>
                  <a:srgbClr val="4B5563"/>
                </a:solidFill>
              </a:rPr>
              <a:t>성공 응답 </a:t>
            </a:r>
            <a:pPr indent="0" marL="0">
              <a:spcAft>
                <a:spcPts val="800"/>
              </a:spcAft>
              <a:buNone/>
            </a:pPr>
            <a:r>
              <a:rPr lang="en-US" sz="1600" b="1" dirty="0">
                <a:solidFill>
                  <a:srgbClr val="4B5563"/>
                </a:solidFill>
                <a:latin typeface="Courier New" pitchFamily="34" charset="0"/>
                <a:ea typeface="Courier New" pitchFamily="34" charset="-122"/>
                <a:cs typeface="Courier New" pitchFamily="34" charset="-120"/>
              </a:rPr>
              <a:t>200 OK</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117</a:t>
            </a:fld>
            <a:endParaRPr 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즐겨찾기 조회</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"success": true,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"data":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"items":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"id": "fav_0192d6b9-3fd1-700a-bb2f-e59df6e73d94",</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"food":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"id": "fod_0192d6b6-0e01-796b-910c-75652a14d2d1",</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"name": "닭가슴살",</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"sourceType": "provider"</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"createdAt": "2026-10-01T02:55:00Z"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"timestamp": "2026-10-01T02:55:00Z",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"requestId": "req_0192d6b9-7fda-722b-9dab-d6e7a91a6d16"</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118</a:t>
            </a:fld>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즐겨찾기 등록</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POST</a:t>
            </a:r>
            <a:pPr indent="0" marL="0">
              <a:spcAft>
                <a:spcPts val="800"/>
              </a:spcAft>
              <a:buNone/>
            </a:pPr>
            <a:r>
              <a:rPr lang="en-US" sz="1600" dirty="0">
                <a:solidFill>
                  <a:srgbClr val="4B5563"/>
                </a:solidFill>
              </a:rPr>
              <a:t>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/v1/foods/favorites</a:t>
            </a:r>
            <a:endParaRPr lang="en-US" sz="1600" dirty="0"/>
          </a:p>
          <a:p>
            <a:pPr indent="0" marL="0">
              <a:spcAft>
                <a:spcPts val="800"/>
              </a:spcAft>
              <a:buNone/>
            </a:pPr>
            <a:r>
              <a:rPr lang="en-US" sz="1600" b="1" dirty="0">
                <a:solidFill>
                  <a:srgbClr val="4B5563"/>
                </a:solidFill>
              </a:rPr>
              <a:t>요청 본문</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119</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즐겨찾기 등록</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"foodId": "fod_0192d6b6-0e01-796b-910c-75652a14d2d1"</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120</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즐겨찾기 등록</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개인 음식은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userFoodId</a:t>
            </a:r>
            <a:pPr indent="0" marL="0">
              <a:spcAft>
                <a:spcPts val="800"/>
              </a:spcAft>
              <a:buNone/>
            </a:pPr>
            <a:r>
              <a:rPr lang="en-US" sz="1600" dirty="0">
                <a:solidFill>
                  <a:srgbClr val="4B5563"/>
                </a:solidFill>
              </a:rPr>
              <a:t>를 사용합니다. 두 식별값을 동시에 보내는 요청은 허용하지 않습니다.</a:t>
            </a:r>
            <a:endParaRPr lang="en-US" sz="1600" dirty="0"/>
          </a:p>
          <a:p>
            <a:pPr indent="0" marL="0">
              <a:spcAft>
                <a:spcPts val="800"/>
              </a:spcAft>
              <a:buNone/>
            </a:pPr>
            <a:r>
              <a:rPr lang="en-US" sz="1600" b="1" dirty="0">
                <a:solidFill>
                  <a:srgbClr val="4B5563"/>
                </a:solidFill>
              </a:rPr>
              <a:t>성공 응답 </a:t>
            </a:r>
            <a:pPr indent="0" marL="0">
              <a:spcAft>
                <a:spcPts val="800"/>
              </a:spcAft>
              <a:buNone/>
            </a:pPr>
            <a:r>
              <a:rPr lang="en-US" sz="1600" b="1" dirty="0">
                <a:solidFill>
                  <a:srgbClr val="4B5563"/>
                </a:solidFill>
                <a:latin typeface="Courier New" pitchFamily="34" charset="0"/>
                <a:ea typeface="Courier New" pitchFamily="34" charset="-122"/>
                <a:cs typeface="Courier New" pitchFamily="34" charset="-120"/>
              </a:rPr>
              <a:t>201 Created</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121</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즐겨찾기 등록</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"success": true,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"data":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"id": "fav_0192d6b9-3fd1-700a-bb2f-e59df6e73d94",</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"foodId": "fod_0192d6b6-0e01-796b-910c-75652a14d2d1",</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"userFoodId":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"createdAt": "2026-10-01T02:55:00Z"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"timestamp": "2026-10-01T02:55:00Z",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"requestId": "req_0192d6b9-7fda-722b-9dab-d6e7a91a6d16"</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122</a:t>
            </a:fld>
            <a:endParaRPr 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즐겨찾기 해제</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DELETE</a:t>
            </a:r>
            <a:pPr indent="0" marL="0">
              <a:spcAft>
                <a:spcPts val="800"/>
              </a:spcAft>
              <a:buNone/>
            </a:pPr>
            <a:r>
              <a:rPr lang="en-US" sz="1600" dirty="0">
                <a:solidFill>
                  <a:srgbClr val="4B5563"/>
                </a:solidFill>
              </a:rPr>
              <a:t>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/v1/foods/favorites/{favoriteId}</a:t>
            </a:r>
            <a:endParaRPr lang="en-US" sz="1600" dirty="0"/>
          </a:p>
          <a:p>
            <a:pPr indent="0" marL="0">
              <a:spcAft>
                <a:spcPts val="800"/>
              </a:spcAft>
              <a:buNone/>
            </a:pPr>
            <a:r>
              <a:rPr lang="en-US" sz="1600" b="1" dirty="0">
                <a:solidFill>
                  <a:srgbClr val="4B5563"/>
                </a:solidFill>
              </a:rPr>
              <a:t>성공 응답 </a:t>
            </a:r>
            <a:pPr indent="0" marL="0">
              <a:spcAft>
                <a:spcPts val="800"/>
              </a:spcAft>
              <a:buNone/>
            </a:pPr>
            <a:r>
              <a:rPr lang="en-US" sz="1600" b="1" dirty="0">
                <a:solidFill>
                  <a:srgbClr val="4B5563"/>
                </a:solidFill>
                <a:latin typeface="Courier New" pitchFamily="34" charset="0"/>
                <a:ea typeface="Courier New" pitchFamily="34" charset="-122"/>
                <a:cs typeface="Courier New" pitchFamily="34" charset="-120"/>
              </a:rPr>
              <a:t>204 No Content</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123</a:t>
            </a:fld>
            <a:endParaRPr lang="en-US"/>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즐겨찾기 해제</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125"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3872753"/>
                <a:gridCol w="4356847"/>
              </a:tblGrid>
              <a:tr h="0">
                <a:tc>
                  <a:txBody>
                    <a:bodyPr/>
                    <a:lstStyle/>
                    <a:p>
                      <a:pPr indent="0" marL="0">
                        <a:buNone/>
                      </a:pPr>
                      <a:r>
                        <a:rPr lang="en-US" sz="1200" b="1" dirty="0">
                          <a:solidFill>
                            <a:srgbClr val="FFFFFF"/>
                          </a:solidFill>
                        </a:rPr>
                        <a:t>사례</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처리</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사용자 </a:t>
                      </a:r>
                      <a:pPr indent="0" marL="0">
                        <a:buNone/>
                      </a:pPr>
                      <a:r>
                        <a:rPr lang="en-US" sz="1100" dirty="0">
                          <a:solidFill>
                            <a:srgbClr val="1F2937"/>
                          </a:solidFill>
                        </a:rPr>
                        <a:t>소유 </a:t>
                      </a:r>
                      <a:pPr indent="0" marL="0">
                        <a:buNone/>
                      </a:pPr>
                      <a:r>
                        <a:rPr lang="en-US" sz="1100" dirty="0">
                          <a:solidFill>
                            <a:srgbClr val="1F2937"/>
                          </a:solidFill>
                        </a:rPr>
                        <a:t>즐겨찾기 </a:t>
                      </a:r>
                      <a:pPr indent="0" marL="0">
                        <a:buNone/>
                      </a:pPr>
                      <a:r>
                        <a:rPr lang="en-US" sz="1100" dirty="0">
                          <a:solidFill>
                            <a:srgbClr val="1F2937"/>
                          </a:solidFill>
                        </a:rPr>
                        <a:t>등록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201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이미 </a:t>
                      </a:r>
                      <a:pPr indent="0" marL="0">
                        <a:buNone/>
                      </a:pPr>
                      <a:r>
                        <a:rPr lang="en-US" sz="1100" dirty="0">
                          <a:solidFill>
                            <a:srgbClr val="1F2937"/>
                          </a:solidFill>
                        </a:rPr>
                        <a:t>등록된 </a:t>
                      </a:r>
                      <a:pPr indent="0" marL="0">
                        <a:buNone/>
                      </a:pPr>
                      <a:r>
                        <a:rPr lang="en-US" sz="1100" dirty="0">
                          <a:solidFill>
                            <a:srgbClr val="1F2937"/>
                          </a:solidFill>
                        </a:rPr>
                        <a:t>즐겨찾기 </a:t>
                      </a:r>
                      <a:pPr indent="0" marL="0">
                        <a:buNone/>
                      </a:pPr>
                      <a:r>
                        <a:rPr lang="en-US" sz="1100" dirty="0">
                          <a:solidFill>
                            <a:srgbClr val="1F2937"/>
                          </a:solidFill>
                        </a:rPr>
                        <a:t>재등록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409</a:t>
                      </a:r>
                      <a:pPr indent="0" marL="0">
                        <a:buNone/>
                      </a:pPr>
                      <a:r>
                        <a:rPr lang="en-US" sz="1100" dirty="0">
                          <a:solidFill>
                            <a:srgbClr val="1F2937"/>
                          </a:solidFill>
                        </a:rPr>
                        <a:t>또는 </a:t>
                      </a:r>
                      <a:pPr indent="0" marL="0">
                        <a:buNone/>
                      </a:pPr>
                      <a:r>
                        <a:rPr lang="en-US" sz="1100" dirty="0">
                          <a:solidFill>
                            <a:srgbClr val="1F2937"/>
                          </a:solidFill>
                        </a:rPr>
                        <a:t>기존 </a:t>
                      </a:r>
                      <a:pPr indent="0" marL="0">
                        <a:buNone/>
                      </a:pPr>
                      <a:r>
                        <a:rPr lang="en-US" sz="1100" dirty="0">
                          <a:solidFill>
                            <a:srgbClr val="1F2937"/>
                          </a:solidFill>
                        </a:rPr>
                        <a:t>결과 </a:t>
                      </a:r>
                      <a:pPr indent="0" marL="0">
                        <a:buNone/>
                      </a:pPr>
                      <a:r>
                        <a:rPr lang="en-US" sz="1100" dirty="0">
                          <a:solidFill>
                            <a:srgbClr val="1F2937"/>
                          </a:solidFill>
                        </a:rPr>
                        <a:t>반환. </a:t>
                      </a:r>
                      <a:pPr indent="0" marL="0">
                        <a:buNone/>
                      </a:pPr>
                      <a:r>
                        <a:rPr lang="en-US" sz="1100" dirty="0">
                          <a:solidFill>
                            <a:srgbClr val="1F2937"/>
                          </a:solidFill>
                        </a:rPr>
                        <a:t>정책 </a:t>
                      </a:r>
                      <a:pPr indent="0" marL="0">
                        <a:buNone/>
                      </a:pPr>
                      <a:r>
                        <a:rPr lang="en-US" sz="1100" dirty="0">
                          <a:solidFill>
                            <a:srgbClr val="1F2937"/>
                          </a:solidFill>
                        </a:rPr>
                        <a:t>확정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공용 </a:t>
                      </a:r>
                      <a:pPr indent="0" marL="0">
                        <a:buNone/>
                      </a:pPr>
                      <a:r>
                        <a:rPr lang="en-US" sz="1100" dirty="0">
                          <a:solidFill>
                            <a:srgbClr val="1F2937"/>
                          </a:solidFill>
                        </a:rPr>
                        <a:t>음식·개인 </a:t>
                      </a:r>
                      <a:pPr indent="0" marL="0">
                        <a:buNone/>
                      </a:pPr>
                      <a:r>
                        <a:rPr lang="en-US" sz="1100" dirty="0">
                          <a:solidFill>
                            <a:srgbClr val="1F2937"/>
                          </a:solidFill>
                        </a:rPr>
                        <a:t>음식 </a:t>
                      </a:r>
                      <a:pPr indent="0" marL="0">
                        <a:buNone/>
                      </a:pPr>
                      <a:r>
                        <a:rPr lang="en-US" sz="1100" dirty="0">
                          <a:solidFill>
                            <a:srgbClr val="1F2937"/>
                          </a:solidFill>
                        </a:rPr>
                        <a:t>식별값을 </a:t>
                      </a:r>
                      <a:pPr indent="0" marL="0">
                        <a:buNone/>
                      </a:pPr>
                      <a:r>
                        <a:rPr lang="en-US" sz="1100" dirty="0">
                          <a:solidFill>
                            <a:srgbClr val="1F2937"/>
                          </a:solidFill>
                        </a:rPr>
                        <a:t>모두 </a:t>
                      </a:r>
                      <a:pPr indent="0" marL="0">
                        <a:buNone/>
                      </a:pPr>
                      <a:r>
                        <a:rPr lang="en-US" sz="1100" dirty="0">
                          <a:solidFill>
                            <a:srgbClr val="1F2937"/>
                          </a:solidFill>
                        </a:rPr>
                        <a:t>전달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422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다른 </a:t>
                      </a:r>
                      <a:pPr indent="0" marL="0">
                        <a:buNone/>
                      </a:pPr>
                      <a:r>
                        <a:rPr lang="en-US" sz="1100" dirty="0">
                          <a:solidFill>
                            <a:srgbClr val="1F2937"/>
                          </a:solidFill>
                        </a:rPr>
                        <a:t>사용자의 </a:t>
                      </a:r>
                      <a:pPr indent="0" marL="0">
                        <a:buNone/>
                      </a:pPr>
                      <a:r>
                        <a:rPr lang="en-US" sz="1100" dirty="0">
                          <a:solidFill>
                            <a:srgbClr val="1F2937"/>
                          </a:solidFill>
                        </a:rPr>
                        <a:t>개인 </a:t>
                      </a:r>
                      <a:pPr indent="0" marL="0">
                        <a:buNone/>
                      </a:pPr>
                      <a:r>
                        <a:rPr lang="en-US" sz="1100" dirty="0">
                          <a:solidFill>
                            <a:srgbClr val="1F2937"/>
                          </a:solidFill>
                        </a:rPr>
                        <a:t>음식 </a:t>
                      </a:r>
                      <a:pPr indent="0" marL="0">
                        <a:buNone/>
                      </a:pPr>
                      <a:r>
                        <a:rPr lang="en-US" sz="1100" dirty="0">
                          <a:solidFill>
                            <a:srgbClr val="1F2937"/>
                          </a:solidFill>
                        </a:rPr>
                        <a:t>지정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404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즐겨찾기 </a:t>
                      </a:r>
                      <a:pPr indent="0" marL="0">
                        <a:buNone/>
                      </a:pPr>
                      <a:r>
                        <a:rPr lang="en-US" sz="1100" dirty="0">
                          <a:solidFill>
                            <a:srgbClr val="1F2937"/>
                          </a:solidFill>
                        </a:rPr>
                        <a:t>해제 </a:t>
                      </a:r>
                      <a:pPr indent="0" marL="0">
                        <a:buNone/>
                      </a:pPr>
                      <a:r>
                        <a:rPr lang="en-US" sz="1100" dirty="0">
                          <a:solidFill>
                            <a:srgbClr val="1F2937"/>
                          </a:solidFill>
                        </a:rPr>
                        <a:t>성공</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204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존재하지 </a:t>
                      </a:r>
                      <a:pPr indent="0" marL="0">
                        <a:buNone/>
                      </a:pPr>
                      <a:r>
                        <a:rPr lang="en-US" sz="1100" dirty="0">
                          <a:solidFill>
                            <a:srgbClr val="1F2937"/>
                          </a:solidFill>
                        </a:rPr>
                        <a:t>않거나 </a:t>
                      </a:r>
                      <a:pPr indent="0" marL="0">
                        <a:buNone/>
                      </a:pPr>
                      <a:r>
                        <a:rPr lang="en-US" sz="1100" dirty="0">
                          <a:solidFill>
                            <a:srgbClr val="1F2937"/>
                          </a:solidFill>
                        </a:rPr>
                        <a:t>다른 </a:t>
                      </a:r>
                      <a:pPr indent="0" marL="0">
                        <a:buNone/>
                      </a:pPr>
                      <a:r>
                        <a:rPr lang="en-US" sz="1100" dirty="0">
                          <a:solidFill>
                            <a:srgbClr val="1F2937"/>
                          </a:solidFill>
                        </a:rPr>
                        <a:t>사용자의 </a:t>
                      </a:r>
                      <a:pPr indent="0" marL="0">
                        <a:buNone/>
                      </a:pPr>
                      <a:r>
                        <a:rPr lang="en-US" sz="1100" dirty="0">
                          <a:solidFill>
                            <a:srgbClr val="1F2937"/>
                          </a:solidFill>
                        </a:rPr>
                        <a:t>즐겨찾기 </a:t>
                      </a:r>
                      <a:pPr indent="0" marL="0">
                        <a:buNone/>
                      </a:pPr>
                      <a:r>
                        <a:rPr lang="en-US" sz="1100" dirty="0">
                          <a:solidFill>
                            <a:srgbClr val="1F2937"/>
                          </a:solidFill>
                        </a:rPr>
                        <a:t>해제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404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124</a:t>
            </a:fld>
            <a:endParaRPr lang="en-US"/>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6.10 날짜별 식사 기록 조회</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GET</a:t>
            </a:r>
            <a:pPr indent="0" marL="0">
              <a:spcAft>
                <a:spcPts val="800"/>
              </a:spcAft>
              <a:buNone/>
            </a:pPr>
            <a:r>
              <a:rPr lang="en-US" sz="1600" dirty="0">
                <a:solidFill>
                  <a:srgbClr val="4B5563"/>
                </a:solidFill>
              </a:rPr>
              <a:t>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/v1/me/meals</a:t>
            </a:r>
            <a:endParaRPr lang="en-US" sz="1600" dirty="0"/>
          </a:p>
          <a:p>
            <a:pPr indent="0" marL="0">
              <a:spcAft>
                <a:spcPts val="800"/>
              </a:spcAft>
              <a:buNone/>
            </a:pPr>
            <a:r>
              <a:rPr lang="en-US" sz="1600" dirty="0">
                <a:solidFill>
                  <a:srgbClr val="4B5563"/>
                </a:solidFill>
              </a:rPr>
              <a:t>요청 사용자의 식사 음식 항목을 조회합니다. 화면에서는 같은 섭취 날짜와 식사 구분의 항목을 묶어 보여주고 합산합니다. 별도 식사 묶음 식별값은 사용하지 않습니다.</a:t>
            </a:r>
            <a:endParaRPr lang="en-US" sz="1600" dirty="0"/>
          </a:p>
          <a:p>
            <a:pPr indent="0" marL="0">
              <a:spcAft>
                <a:spcPts val="800"/>
              </a:spcAft>
              <a:buNone/>
            </a:pPr>
            <a:r>
              <a:rPr lang="en-US" sz="1600" b="1" dirty="0">
                <a:solidFill>
                  <a:srgbClr val="4B5563"/>
                </a:solidFill>
              </a:rPr>
              <a:t>쿼리 매개변수</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125</a:t>
            </a:fld>
            <a:endParaRPr 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6.10 날짜별 식사 기록 조회</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127"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228299"/>
                <a:gridCol w="736979"/>
                <a:gridCol w="736979"/>
                <a:gridCol w="1105469"/>
                <a:gridCol w="4421875"/>
              </a:tblGrid>
              <a:tr h="0">
                <a:tc>
                  <a:txBody>
                    <a:bodyPr/>
                    <a:lstStyle/>
                    <a:p>
                      <a:pPr indent="0" marL="0">
                        <a:buNone/>
                      </a:pPr>
                      <a:r>
                        <a:rPr lang="en-US" sz="1200" b="1" dirty="0">
                          <a:solidFill>
                            <a:srgbClr val="FFFFFF"/>
                          </a:solidFill>
                        </a:rPr>
                        <a:t>매개변수</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형식</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필수</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기본값</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설명·검증</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date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날짜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아니요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사용자 </a:t>
                      </a:r>
                      <a:pPr indent="0" marL="0">
                        <a:buNone/>
                      </a:pPr>
                      <a:r>
                        <a:rPr lang="en-US" sz="1100" dirty="0">
                          <a:solidFill>
                            <a:srgbClr val="1F2937"/>
                          </a:solidFill>
                        </a:rPr>
                        <a:t>현지 </a:t>
                      </a:r>
                      <a:pPr indent="0" marL="0">
                        <a:buNone/>
                      </a:pPr>
                      <a:r>
                        <a:rPr lang="en-US" sz="1100" dirty="0">
                          <a:solidFill>
                            <a:srgbClr val="1F2937"/>
                          </a:solidFill>
                        </a:rPr>
                        <a:t>오늘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YYYY-MM-DD</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from</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날짜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아니요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없음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기간 </a:t>
                      </a:r>
                      <a:pPr indent="0" marL="0">
                        <a:buNone/>
                      </a:pPr>
                      <a:r>
                        <a:rPr lang="en-US" sz="1100" dirty="0">
                          <a:solidFill>
                            <a:srgbClr val="1F2937"/>
                          </a:solidFill>
                        </a:rPr>
                        <a:t>조회 </a:t>
                      </a:r>
                      <a:pPr indent="0" marL="0">
                        <a:buNone/>
                      </a:pPr>
                      <a:r>
                        <a:rPr lang="en-US" sz="1100" dirty="0">
                          <a:solidFill>
                            <a:srgbClr val="1F2937"/>
                          </a:solidFill>
                        </a:rPr>
                        <a:t>시작일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to</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날짜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아니요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없음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기간 </a:t>
                      </a:r>
                      <a:pPr indent="0" marL="0">
                        <a:buNone/>
                      </a:pPr>
                      <a:r>
                        <a:rPr lang="en-US" sz="1100" dirty="0">
                          <a:solidFill>
                            <a:srgbClr val="1F2937"/>
                          </a:solidFill>
                        </a:rPr>
                        <a:t>조회 </a:t>
                      </a:r>
                      <a:pPr indent="0" marL="0">
                        <a:buNone/>
                      </a:pPr>
                      <a:r>
                        <a:rPr lang="en-US" sz="1100" dirty="0">
                          <a:solidFill>
                            <a:srgbClr val="1F2937"/>
                          </a:solidFill>
                        </a:rPr>
                        <a:t>종료일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mealType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문자열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아니요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없음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breakfast</a:t>
                      </a:r>
                      <a:pPr indent="0" marL="0">
                        <a:buNone/>
                      </a:pPr>
                      <a:r>
                        <a:rPr lang="en-US" sz="1100" dirty="0">
                          <a:solidFill>
                            <a:srgbClr val="1F2937"/>
                          </a:solidFill>
                        </a:rPr>
                        <a:t>,</a:t>
                      </a:r>
                      <a:pPr indent="0" marL="0">
                        <a:buNone/>
                      </a:pPr>
                      <a:r>
                        <a:rPr lang="en-US" sz="1100" dirty="0">
                          <a:solidFill>
                            <a:srgbClr val="1F2937"/>
                          </a:solidFill>
                          <a:latin typeface="Courier New" pitchFamily="34" charset="0"/>
                          <a:ea typeface="Courier New" pitchFamily="34" charset="-122"/>
                          <a:cs typeface="Courier New" pitchFamily="34" charset="-120"/>
                        </a:rPr>
                        <a:t>lunch</a:t>
                      </a:r>
                      <a:pPr indent="0" marL="0">
                        <a:buNone/>
                      </a:pPr>
                      <a:r>
                        <a:rPr lang="en-US" sz="1100" dirty="0">
                          <a:solidFill>
                            <a:srgbClr val="1F2937"/>
                          </a:solidFill>
                        </a:rPr>
                        <a:t>,</a:t>
                      </a:r>
                      <a:pPr indent="0" marL="0">
                        <a:buNone/>
                      </a:pPr>
                      <a:r>
                        <a:rPr lang="en-US" sz="1100" dirty="0">
                          <a:solidFill>
                            <a:srgbClr val="1F2937"/>
                          </a:solidFill>
                          <a:latin typeface="Courier New" pitchFamily="34" charset="0"/>
                          <a:ea typeface="Courier New" pitchFamily="34" charset="-122"/>
                          <a:cs typeface="Courier New" pitchFamily="34" charset="-120"/>
                        </a:rPr>
                        <a:t>dinner</a:t>
                      </a:r>
                      <a:pPr indent="0" marL="0">
                        <a:buNone/>
                      </a:pPr>
                      <a:r>
                        <a:rPr lang="en-US" sz="1100" dirty="0">
                          <a:solidFill>
                            <a:srgbClr val="1F2937"/>
                          </a:solidFill>
                        </a:rPr>
                        <a:t>,</a:t>
                      </a:r>
                      <a:pPr indent="0" marL="0">
                        <a:buNone/>
                      </a:pPr>
                      <a:r>
                        <a:rPr lang="en-US" sz="1100" dirty="0">
                          <a:solidFill>
                            <a:srgbClr val="1F2937"/>
                          </a:solidFill>
                          <a:latin typeface="Courier New" pitchFamily="34" charset="0"/>
                          <a:ea typeface="Courier New" pitchFamily="34" charset="-122"/>
                          <a:cs typeface="Courier New" pitchFamily="34" charset="-120"/>
                        </a:rPr>
                        <a:t>snack</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cursor</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문자열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아니요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없음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큰 </a:t>
                      </a:r>
                      <a:pPr indent="0" marL="0">
                        <a:buNone/>
                      </a:pPr>
                      <a:r>
                        <a:rPr lang="en-US" sz="1100" dirty="0">
                          <a:solidFill>
                            <a:srgbClr val="1F2937"/>
                          </a:solidFill>
                        </a:rPr>
                        <a:t>목록의 </a:t>
                      </a:r>
                      <a:pPr indent="0" marL="0">
                        <a:buNone/>
                      </a:pPr>
                      <a:r>
                        <a:rPr lang="en-US" sz="1100" dirty="0">
                          <a:solidFill>
                            <a:srgbClr val="1F2937"/>
                          </a:solidFill>
                        </a:rPr>
                        <a:t>이어 </a:t>
                      </a:r>
                      <a:pPr indent="0" marL="0">
                        <a:buNone/>
                      </a:pPr>
                      <a:r>
                        <a:rPr lang="en-US" sz="1100" dirty="0">
                          <a:solidFill>
                            <a:srgbClr val="1F2937"/>
                          </a:solidFill>
                        </a:rPr>
                        <a:t>보기 </a:t>
                      </a:r>
                      <a:pPr indent="0" marL="0">
                        <a:buNone/>
                      </a:pPr>
                      <a:r>
                        <a:rPr lang="en-US" sz="1100" dirty="0">
                          <a:solidFill>
                            <a:srgbClr val="1F2937"/>
                          </a:solidFill>
                        </a:rPr>
                        <a:t>여부는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126</a:t>
            </a:fld>
            <a:endParaRPr lang="en-US"/>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6.10 날짜별 식사 기록 조회</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date</a:t>
            </a:r>
            <a:pPr indent="0" marL="0">
              <a:spcAft>
                <a:spcPts val="800"/>
              </a:spcAft>
              <a:buNone/>
            </a:pPr>
            <a:r>
              <a:rPr lang="en-US" sz="1600" dirty="0">
                <a:solidFill>
                  <a:srgbClr val="4B5563"/>
                </a:solidFill>
              </a:rPr>
              <a:t>와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from</a:t>
            </a:r>
            <a:pPr indent="0" marL="0">
              <a:spcAft>
                <a:spcPts val="800"/>
              </a:spcAft>
              <a:buNone/>
            </a:pPr>
            <a:r>
              <a:rPr lang="en-US" sz="1600" dirty="0">
                <a:solidFill>
                  <a:srgbClr val="4B5563"/>
                </a:solidFill>
              </a:rPr>
              <a:t>·</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to</a:t>
            </a:r>
            <a:pPr indent="0" marL="0">
              <a:spcAft>
                <a:spcPts val="800"/>
              </a:spcAft>
              <a:buNone/>
            </a:pPr>
            <a:r>
              <a:rPr lang="en-US" sz="1600" dirty="0">
                <a:solidFill>
                  <a:srgbClr val="4B5563"/>
                </a:solidFill>
              </a:rPr>
              <a:t>를 함께 보낼 수 있는지, 기간의 최대 길이는 미정입니다. 화면 날짜 탐색은 최근 7일 안으로 제한하는 안이 제시됐지만, 더 오래된 과거 날짜를 선택할 수 있도록 하는 화면 정책도 논의됐습니다. API는 임의의 과거 날짜 조회를 지원하는 방향을 제안합니다.</a:t>
            </a:r>
            <a:endParaRPr lang="en-US" sz="1600" dirty="0"/>
          </a:p>
          <a:p>
            <a:pPr indent="0" marL="0">
              <a:spcAft>
                <a:spcPts val="800"/>
              </a:spcAft>
              <a:buNone/>
            </a:pPr>
            <a:r>
              <a:rPr lang="en-US" sz="1600" b="1" dirty="0">
                <a:solidFill>
                  <a:srgbClr val="4B5563"/>
                </a:solidFill>
              </a:rPr>
              <a:t>요청 예시</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127</a:t>
            </a:fld>
            <a:endParaRPr lang="en-US"/>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6.10 날짜별 식사 기록 조회</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GET /v1/me/meals?date=2026-10-01 HTTP/1.1</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Host: api.example.com</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Authorization: Bearer &lt;접근_토큰&gt;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Accept: application/json</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128</a:t>
            </a:fld>
            <a:endParaRPr lang="en-US"/>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6.10 날짜별 식사 기록 조회</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성공 응답 </a:t>
            </a:r>
            <a:pPr indent="0" marL="0">
              <a:spcAft>
                <a:spcPts val="800"/>
              </a:spcAft>
              <a:buNone/>
            </a:pPr>
            <a:r>
              <a:rPr lang="en-US" sz="1600" b="1" dirty="0">
                <a:solidFill>
                  <a:srgbClr val="4B5563"/>
                </a:solidFill>
                <a:latin typeface="Courier New" pitchFamily="34" charset="0"/>
                <a:ea typeface="Courier New" pitchFamily="34" charset="-122"/>
                <a:cs typeface="Courier New" pitchFamily="34" charset="-120"/>
              </a:rPr>
              <a:t>200 OK</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129</a:t>
            </a:fld>
            <a:endParaRPr lang="en-US"/>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6.10 날짜별 식사 기록 조회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"success": true,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"data":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"date": "2026-10-01",</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"timezone": "Asia/Seoul",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"meals":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"mealType": "lunch",</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"items":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"id": "mei_0192d6ba-5084-7e90-aead-2e081223885a",</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"food":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"id": "fod_0192d6bb-0e01-796b-910c-75652a14d2d1",</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"name": "닭가슴살"</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"foodNameSnapshot": "닭가슴살",</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"quantityMultiplier": 1.0,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"servingNameSnapshot": "100g",</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"nutrientSourceType": "provider",</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"nutrients":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"energyKcal": 165,</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"carbohydrateG": 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"proteinG": 31,</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"fatG": 3.6</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"createdAt": "2026-10-01T03:10:00Z"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130</a:t>
            </a:fld>
            <a:endParaRPr lang="en-US"/>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6.10 날짜별 식사 기록 조회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        "totals":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"entryCount": 1,</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"energyKcal": 165,</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"carbohydrateG": 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"proteinG": 31,</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"fatG": 3.6</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"dayTotals":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"entryCount": 1,</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"energyKcal": 165,</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"carbohydrateG": 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"proteinG": 31,</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"fatG": 3.6</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"timestamp": "2026-10-01T03:15:00Z",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"requestId": "req_0192d6bb-5d7a-7b47-84d7-f9cdb9c8496b"</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131</a:t>
            </a:fld>
            <a:endParaRPr lang="en-US"/>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6.10 날짜별 식사 기록 조회</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주요 처리 사례</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132</a:t>
            </a:fld>
            <a:endParaRPr lang="en-US"/>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6.10 날짜별 식사 기록 조회</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134"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939143"/>
                <a:gridCol w="5290457"/>
              </a:tblGrid>
              <a:tr h="0">
                <a:tc>
                  <a:txBody>
                    <a:bodyPr/>
                    <a:lstStyle/>
                    <a:p>
                      <a:pPr indent="0" marL="0">
                        <a:buNone/>
                      </a:pPr>
                      <a:r>
                        <a:rPr lang="en-US" sz="1200" b="1" dirty="0">
                          <a:solidFill>
                            <a:srgbClr val="FFFFFF"/>
                          </a:solidFill>
                        </a:rPr>
                        <a:t>사례</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처리</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선택 </a:t>
                      </a:r>
                      <a:pPr indent="0" marL="0">
                        <a:buNone/>
                      </a:pPr>
                      <a:r>
                        <a:rPr lang="en-US" sz="1100" dirty="0">
                          <a:solidFill>
                            <a:srgbClr val="1F2937"/>
                          </a:solidFill>
                        </a:rPr>
                        <a:t>날짜에 </a:t>
                      </a:r>
                      <a:pPr indent="0" marL="0">
                        <a:buNone/>
                      </a:pPr>
                      <a:r>
                        <a:rPr lang="en-US" sz="1100" dirty="0">
                          <a:solidFill>
                            <a:srgbClr val="1F2937"/>
                          </a:solidFill>
                        </a:rPr>
                        <a:t>기록이 </a:t>
                      </a:r>
                      <a:pPr indent="0" marL="0">
                        <a:buNone/>
                      </a:pPr>
                      <a:r>
                        <a:rPr lang="en-US" sz="1100" dirty="0">
                          <a:solidFill>
                            <a:srgbClr val="1F2937"/>
                          </a:solidFill>
                        </a:rPr>
                        <a:t>있음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항목·식사 </a:t>
                      </a:r>
                      <a:pPr indent="0" marL="0">
                        <a:buNone/>
                      </a:pPr>
                      <a:r>
                        <a:rPr lang="en-US" sz="1100" dirty="0">
                          <a:solidFill>
                            <a:srgbClr val="1F2937"/>
                          </a:solidFill>
                        </a:rPr>
                        <a:t>구분별 </a:t>
                      </a:r>
                      <a:pPr indent="0" marL="0">
                        <a:buNone/>
                      </a:pPr>
                      <a:r>
                        <a:rPr lang="en-US" sz="1100" dirty="0">
                          <a:solidFill>
                            <a:srgbClr val="1F2937"/>
                          </a:solidFill>
                        </a:rPr>
                        <a:t>합계 </a:t>
                      </a:r>
                      <a:pPr indent="0" marL="0">
                        <a:buNone/>
                      </a:pPr>
                      <a:r>
                        <a:rPr lang="en-US" sz="1100" dirty="0">
                          <a:solidFill>
                            <a:srgbClr val="1F2937"/>
                          </a:solidFill>
                        </a:rPr>
                        <a:t>반환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선택 </a:t>
                      </a:r>
                      <a:pPr indent="0" marL="0">
                        <a:buNone/>
                      </a:pPr>
                      <a:r>
                        <a:rPr lang="en-US" sz="1100" dirty="0">
                          <a:solidFill>
                            <a:srgbClr val="1F2937"/>
                          </a:solidFill>
                        </a:rPr>
                        <a:t>날짜에 </a:t>
                      </a:r>
                      <a:pPr indent="0" marL="0">
                        <a:buNone/>
                      </a:pPr>
                      <a:r>
                        <a:rPr lang="en-US" sz="1100" dirty="0">
                          <a:solidFill>
                            <a:srgbClr val="1F2937"/>
                          </a:solidFill>
                        </a:rPr>
                        <a:t>기록이 </a:t>
                      </a:r>
                      <a:pPr indent="0" marL="0">
                        <a:buNone/>
                      </a:pPr>
                      <a:r>
                        <a:rPr lang="en-US" sz="1100" dirty="0">
                          <a:solidFill>
                            <a:srgbClr val="1F2937"/>
                          </a:solidFill>
                        </a:rPr>
                        <a:t>없음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빈 </a:t>
                      </a:r>
                      <a:pPr indent="0" marL="0">
                        <a:buNone/>
                      </a:pPr>
                      <a:r>
                        <a:rPr lang="en-US" sz="1100" dirty="0">
                          <a:solidFill>
                            <a:srgbClr val="1F2937"/>
                          </a:solidFill>
                        </a:rPr>
                        <a:t>식사 </a:t>
                      </a:r>
                      <a:pPr indent="0" marL="0">
                        <a:buNone/>
                      </a:pPr>
                      <a:r>
                        <a:rPr lang="en-US" sz="1100" dirty="0">
                          <a:solidFill>
                            <a:srgbClr val="1F2937"/>
                          </a:solidFill>
                        </a:rPr>
                        <a:t>목록 </a:t>
                      </a:r>
                      <a:pPr indent="0" marL="0">
                        <a:buNone/>
                      </a:pPr>
                      <a:r>
                        <a:rPr lang="en-US" sz="1100" dirty="0">
                          <a:solidFill>
                            <a:srgbClr val="1F2937"/>
                          </a:solidFill>
                        </a:rPr>
                        <a:t>반환. </a:t>
                      </a:r>
                      <a:pPr indent="0" marL="0">
                        <a:buNone/>
                      </a:pPr>
                      <a:r>
                        <a:rPr lang="en-US" sz="1100" dirty="0">
                          <a:solidFill>
                            <a:srgbClr val="1F2937"/>
                          </a:solidFill>
                        </a:rPr>
                        <a:t>칼로리 </a:t>
                      </a:r>
                      <a:pPr indent="0" marL="0">
                        <a:buNone/>
                      </a:pPr>
                      <a:r>
                        <a:rPr lang="en-US" sz="1100" dirty="0">
                          <a:solidFill>
                            <a:srgbClr val="1F2937"/>
                          </a:solidFill>
                        </a:rPr>
                        <a:t>0으로 </a:t>
                      </a:r>
                      <a:pPr indent="0" marL="0">
                        <a:buNone/>
                      </a:pPr>
                      <a:r>
                        <a:rPr lang="en-US" sz="1100" dirty="0">
                          <a:solidFill>
                            <a:srgbClr val="1F2937"/>
                          </a:solidFill>
                        </a:rPr>
                        <a:t>오해되지 </a:t>
                      </a:r>
                      <a:pPr indent="0" marL="0">
                        <a:buNone/>
                      </a:pPr>
                      <a:r>
                        <a:rPr lang="en-US" sz="1100" dirty="0">
                          <a:solidFill>
                            <a:srgbClr val="1F2937"/>
                          </a:solidFill>
                        </a:rPr>
                        <a:t>않게 </a:t>
                      </a:r>
                      <a:pPr indent="0" marL="0">
                        <a:buNone/>
                      </a:pPr>
                      <a:r>
                        <a:rPr lang="en-US" sz="1100" dirty="0">
                          <a:solidFill>
                            <a:srgbClr val="1F2937"/>
                          </a:solidFill>
                        </a:rPr>
                        <a:t>상태를 </a:t>
                      </a:r>
                      <a:pPr indent="0" marL="0">
                        <a:buNone/>
                      </a:pPr>
                      <a:r>
                        <a:rPr lang="en-US" sz="1100" dirty="0">
                          <a:solidFill>
                            <a:srgbClr val="1F2937"/>
                          </a:solidFill>
                        </a:rPr>
                        <a:t>구분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일부 </a:t>
                      </a:r>
                      <a:pPr indent="0" marL="0">
                        <a:buNone/>
                      </a:pPr>
                      <a:r>
                        <a:rPr lang="en-US" sz="1100" dirty="0">
                          <a:solidFill>
                            <a:srgbClr val="1F2937"/>
                          </a:solidFill>
                        </a:rPr>
                        <a:t>항목에 </a:t>
                      </a:r>
                      <a:pPr indent="0" marL="0">
                        <a:buNone/>
                      </a:pPr>
                      <a:r>
                        <a:rPr lang="en-US" sz="1100" dirty="0">
                          <a:solidFill>
                            <a:srgbClr val="1F2937"/>
                          </a:solidFill>
                        </a:rPr>
                        <a:t>영양값이 </a:t>
                      </a:r>
                      <a:pPr indent="0" marL="0">
                        <a:buNone/>
                      </a:pPr>
                      <a:r>
                        <a:rPr lang="en-US" sz="1100" dirty="0">
                          <a:solidFill>
                            <a:srgbClr val="1F2937"/>
                          </a:solidFill>
                        </a:rPr>
                        <a:t>없음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해당 </a:t>
                      </a:r>
                      <a:pPr indent="0" marL="0">
                        <a:buNone/>
                      </a:pPr>
                      <a:r>
                        <a:rPr lang="en-US" sz="1100" dirty="0">
                          <a:solidFill>
                            <a:srgbClr val="1F2937"/>
                          </a:solidFill>
                        </a:rPr>
                        <a:t>영양소만 </a:t>
                      </a:r>
                      <a:pPr indent="0" marL="0">
                        <a:buNone/>
                      </a:pPr>
                      <a:r>
                        <a:rPr lang="en-US" sz="1100" dirty="0">
                          <a:solidFill>
                            <a:srgbClr val="1F2937"/>
                          </a:solidFill>
                        </a:rPr>
                        <a:t>집계에서 </a:t>
                      </a:r>
                      <a:pPr indent="0" marL="0">
                        <a:buNone/>
                      </a:pPr>
                      <a:r>
                        <a:rPr lang="en-US" sz="1100" dirty="0">
                          <a:solidFill>
                            <a:srgbClr val="1F2937"/>
                          </a:solidFill>
                        </a:rPr>
                        <a:t>제외하고 </a:t>
                      </a:r>
                      <a:pPr indent="0" marL="0">
                        <a:buNone/>
                      </a:pPr>
                      <a:r>
                        <a:rPr lang="en-US" sz="1100" dirty="0">
                          <a:solidFill>
                            <a:srgbClr val="1F2937"/>
                          </a:solidFill>
                        </a:rPr>
                        <a:t>기록 </a:t>
                      </a:r>
                      <a:pPr indent="0" marL="0">
                        <a:buNone/>
                      </a:pPr>
                      <a:r>
                        <a:rPr lang="en-US" sz="1100" dirty="0">
                          <a:solidFill>
                            <a:srgbClr val="1F2937"/>
                          </a:solidFill>
                        </a:rPr>
                        <a:t>수에는 </a:t>
                      </a:r>
                      <a:pPr indent="0" marL="0">
                        <a:buNone/>
                      </a:pPr>
                      <a:r>
                        <a:rPr lang="en-US" sz="1100" dirty="0">
                          <a:solidFill>
                            <a:srgbClr val="1F2937"/>
                          </a:solidFill>
                        </a:rPr>
                        <a:t>포함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미래 </a:t>
                      </a:r>
                      <a:pPr indent="0" marL="0">
                        <a:buNone/>
                      </a:pPr>
                      <a:r>
                        <a:rPr lang="en-US" sz="1100" dirty="0">
                          <a:solidFill>
                            <a:srgbClr val="1F2937"/>
                          </a:solidFill>
                        </a:rPr>
                        <a:t>날짜 </a:t>
                      </a:r>
                      <a:pPr indent="0" marL="0">
                        <a:buNone/>
                      </a:pPr>
                      <a:r>
                        <a:rPr lang="en-US" sz="1100" dirty="0">
                          <a:solidFill>
                            <a:srgbClr val="1F2937"/>
                          </a:solidFill>
                        </a:rPr>
                        <a:t>조회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조회 </a:t>
                      </a:r>
                      <a:pPr indent="0" marL="0">
                        <a:buNone/>
                      </a:pPr>
                      <a:r>
                        <a:rPr lang="en-US" sz="1100" dirty="0">
                          <a:solidFill>
                            <a:srgbClr val="1F2937"/>
                          </a:solidFill>
                        </a:rPr>
                        <a:t>자체 </a:t>
                      </a:r>
                      <a:pPr indent="0" marL="0">
                        <a:buNone/>
                      </a:pPr>
                      <a:r>
                        <a:rPr lang="en-US" sz="1100" dirty="0">
                          <a:solidFill>
                            <a:srgbClr val="1F2937"/>
                          </a:solidFill>
                        </a:rPr>
                        <a:t>허용 </a:t>
                      </a:r>
                      <a:pPr indent="0" marL="0">
                        <a:buNone/>
                      </a:pPr>
                      <a:r>
                        <a:rPr lang="en-US" sz="1100" dirty="0">
                          <a:solidFill>
                            <a:srgbClr val="1F2937"/>
                          </a:solidFill>
                        </a:rPr>
                        <a:t>여부는 </a:t>
                      </a:r>
                      <a:pPr indent="0" marL="0">
                        <a:buNone/>
                      </a:pPr>
                      <a:r>
                        <a:rPr lang="en-US" sz="1100" dirty="0">
                          <a:solidFill>
                            <a:srgbClr val="1F2937"/>
                          </a:solidFill>
                        </a:rPr>
                        <a:t>미정. </a:t>
                      </a:r>
                      <a:pPr indent="0" marL="0">
                        <a:buNone/>
                      </a:pPr>
                      <a:r>
                        <a:rPr lang="en-US" sz="1100" dirty="0">
                          <a:solidFill>
                            <a:srgbClr val="1F2937"/>
                          </a:solidFill>
                        </a:rPr>
                        <a:t>생성 </a:t>
                      </a:r>
                      <a:pPr indent="0" marL="0">
                        <a:buNone/>
                      </a:pPr>
                      <a:r>
                        <a:rPr lang="en-US" sz="1100" dirty="0">
                          <a:solidFill>
                            <a:srgbClr val="1F2937"/>
                          </a:solidFill>
                        </a:rPr>
                        <a:t>제한과 </a:t>
                      </a:r>
                      <a:pPr indent="0" marL="0">
                        <a:buNone/>
                      </a:pPr>
                      <a:r>
                        <a:rPr lang="en-US" sz="1100" dirty="0">
                          <a:solidFill>
                            <a:srgbClr val="1F2937"/>
                          </a:solidFill>
                        </a:rPr>
                        <a:t>구분해 </a:t>
                      </a:r>
                      <a:pPr indent="0" marL="0">
                        <a:buNone/>
                      </a:pPr>
                      <a:r>
                        <a:rPr lang="en-US" sz="1100" dirty="0">
                          <a:solidFill>
                            <a:srgbClr val="1F2937"/>
                          </a:solidFill>
                        </a:rPr>
                        <a:t>정책 </a:t>
                      </a:r>
                      <a:pPr indent="0" marL="0">
                        <a:buNone/>
                      </a:pPr>
                      <a:r>
                        <a:rPr lang="en-US" sz="1100" dirty="0">
                          <a:solidFill>
                            <a:srgbClr val="1F2937"/>
                          </a:solidFill>
                        </a:rPr>
                        <a:t>확정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잘못된 </a:t>
                      </a:r>
                      <a:pPr indent="0" marL="0">
                        <a:buNone/>
                      </a:pPr>
                      <a:r>
                        <a:rPr lang="en-US" sz="1100" dirty="0">
                          <a:solidFill>
                            <a:srgbClr val="1F2937"/>
                          </a:solidFill>
                        </a:rPr>
                        <a:t>날짜·시작일이 </a:t>
                      </a:r>
                      <a:pPr indent="0" marL="0">
                        <a:buNone/>
                      </a:pPr>
                      <a:r>
                        <a:rPr lang="en-US" sz="1100" dirty="0">
                          <a:solidFill>
                            <a:srgbClr val="1F2937"/>
                          </a:solidFill>
                        </a:rPr>
                        <a:t>종료일보다 </a:t>
                      </a:r>
                      <a:pPr indent="0" marL="0">
                        <a:buNone/>
                      </a:pPr>
                      <a:r>
                        <a:rPr lang="en-US" sz="1100" dirty="0">
                          <a:solidFill>
                            <a:srgbClr val="1F2937"/>
                          </a:solidFill>
                        </a:rPr>
                        <a:t>늦음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400</a:t>
                      </a:r>
                      <a:pPr indent="0" marL="0">
                        <a:buNone/>
                      </a:pPr>
                      <a:r>
                        <a:rPr lang="en-US" sz="1100" dirty="0">
                          <a:solidFill>
                            <a:srgbClr val="1F2937"/>
                          </a:solidFill>
                        </a:rPr>
                        <a:t>또는</a:t>
                      </a:r>
                      <a:pPr indent="0" marL="0">
                        <a:buNone/>
                      </a:pPr>
                      <a:r>
                        <a:rPr lang="en-US" sz="1100" dirty="0">
                          <a:solidFill>
                            <a:srgbClr val="1F2937"/>
                          </a:solidFill>
                          <a:latin typeface="Courier New" pitchFamily="34" charset="0"/>
                          <a:ea typeface="Courier New" pitchFamily="34" charset="-122"/>
                          <a:cs typeface="Courier New" pitchFamily="34" charset="-120"/>
                        </a:rPr>
                        <a:t>422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다른 </a:t>
                      </a:r>
                      <a:pPr indent="0" marL="0">
                        <a:buNone/>
                      </a:pPr>
                      <a:r>
                        <a:rPr lang="en-US" sz="1100" dirty="0">
                          <a:solidFill>
                            <a:srgbClr val="1F2937"/>
                          </a:solidFill>
                        </a:rPr>
                        <a:t>사용자 </a:t>
                      </a:r>
                      <a:pPr indent="0" marL="0">
                        <a:buNone/>
                      </a:pPr>
                      <a:r>
                        <a:rPr lang="en-US" sz="1100" dirty="0">
                          <a:solidFill>
                            <a:srgbClr val="1F2937"/>
                          </a:solidFill>
                        </a:rPr>
                        <a:t>식별값으로 </a:t>
                      </a:r>
                      <a:pPr indent="0" marL="0">
                        <a:buNone/>
                      </a:pPr>
                      <a:r>
                        <a:rPr lang="en-US" sz="1100" dirty="0">
                          <a:solidFill>
                            <a:srgbClr val="1F2937"/>
                          </a:solidFill>
                        </a:rPr>
                        <a:t>조회 </a:t>
                      </a:r>
                      <a:pPr indent="0" marL="0">
                        <a:buNone/>
                      </a:pPr>
                      <a:r>
                        <a:rPr lang="en-US" sz="1100" dirty="0">
                          <a:solidFill>
                            <a:srgbClr val="1F2937"/>
                          </a:solidFill>
                        </a:rPr>
                        <a:t>시도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사용자 </a:t>
                      </a:r>
                      <a:pPr indent="0" marL="0">
                        <a:buNone/>
                      </a:pPr>
                      <a:r>
                        <a:rPr lang="en-US" sz="1100" dirty="0">
                          <a:solidFill>
                            <a:srgbClr val="1F2937"/>
                          </a:solidFill>
                        </a:rPr>
                        <a:t>식별값을 </a:t>
                      </a:r>
                      <a:pPr indent="0" marL="0">
                        <a:buNone/>
                      </a:pPr>
                      <a:r>
                        <a:rPr lang="en-US" sz="1100" dirty="0">
                          <a:solidFill>
                            <a:srgbClr val="1F2937"/>
                          </a:solidFill>
                        </a:rPr>
                        <a:t>요청으로 </a:t>
                      </a:r>
                      <a:pPr indent="0" marL="0">
                        <a:buNone/>
                      </a:pPr>
                      <a:r>
                        <a:rPr lang="en-US" sz="1100" dirty="0">
                          <a:solidFill>
                            <a:srgbClr val="1F2937"/>
                          </a:solidFill>
                        </a:rPr>
                        <a:t>받지 </a:t>
                      </a:r>
                      <a:pPr indent="0" marL="0">
                        <a:buNone/>
                      </a:pPr>
                      <a:r>
                        <a:rPr lang="en-US" sz="1100" dirty="0">
                          <a:solidFill>
                            <a:srgbClr val="1F2937"/>
                          </a:solidFill>
                        </a:rPr>
                        <a:t>않음. </a:t>
                      </a:r>
                      <a:pPr indent="0" marL="0">
                        <a:buNone/>
                      </a:pPr>
                      <a:r>
                        <a:rPr lang="en-US" sz="1100" dirty="0">
                          <a:solidFill>
                            <a:srgbClr val="1F2937"/>
                          </a:solidFill>
                        </a:rPr>
                        <a:t>인증된 </a:t>
                      </a:r>
                      <a:pPr indent="0" marL="0">
                        <a:buNone/>
                      </a:pPr>
                      <a:r>
                        <a:rPr lang="en-US" sz="1100" dirty="0">
                          <a:solidFill>
                            <a:srgbClr val="1F2937"/>
                          </a:solidFill>
                        </a:rPr>
                        <a:t>사용자 </a:t>
                      </a:r>
                      <a:pPr indent="0" marL="0">
                        <a:buNone/>
                      </a:pPr>
                      <a:r>
                        <a:rPr lang="en-US" sz="1100" dirty="0">
                          <a:solidFill>
                            <a:srgbClr val="1F2937"/>
                          </a:solidFill>
                        </a:rPr>
                        <a:t>자료만 </a:t>
                      </a:r>
                      <a:pPr indent="0" marL="0">
                        <a:buNone/>
                      </a:pPr>
                      <a:r>
                        <a:rPr lang="en-US" sz="1100" dirty="0">
                          <a:solidFill>
                            <a:srgbClr val="1F2937"/>
                          </a:solidFill>
                        </a:rPr>
                        <a:t>조회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133</a:t>
            </a:fld>
            <a:endParaRPr lang="en-US"/>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6.10 날짜별 식사 기록 조회</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영양값이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null</a:t>
            </a:r>
            <a:pPr indent="0" marL="0">
              <a:spcAft>
                <a:spcPts val="800"/>
              </a:spcAft>
              <a:buNone/>
            </a:pPr>
            <a:r>
              <a:rPr lang="en-US" sz="1600" dirty="0">
                <a:solidFill>
                  <a:srgbClr val="4B5563"/>
                </a:solidFill>
              </a:rPr>
              <a:t>인 항목을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0</a:t>
            </a:r>
            <a:pPr indent="0" marL="0">
              <a:spcAft>
                <a:spcPts val="800"/>
              </a:spcAft>
              <a:buNone/>
            </a:pPr>
            <a:r>
              <a:rPr lang="en-US" sz="1600" dirty="0">
                <a:solidFill>
                  <a:srgbClr val="4B5563"/>
                </a:solidFill>
              </a:rPr>
              <a:t>으로 합산하지 않습니다. 영양소별로 값이 있는 항목만 따로 합산합니다.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134</a:t>
            </a:fld>
            <a:endParaRPr lang="en-US"/>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6.11 식사 기록 생성</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POST</a:t>
            </a:r>
            <a:pPr indent="0" marL="0">
              <a:spcAft>
                <a:spcPts val="800"/>
              </a:spcAft>
              <a:buNone/>
            </a:pPr>
            <a:r>
              <a:rPr lang="en-US" sz="1600" dirty="0">
                <a:solidFill>
                  <a:srgbClr val="4B5563"/>
                </a:solidFill>
              </a:rPr>
              <a:t>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/v1/me/meals</a:t>
            </a:r>
            <a:endParaRPr lang="en-US" sz="1600" dirty="0"/>
          </a:p>
          <a:p>
            <a:pPr indent="0" marL="0">
              <a:spcAft>
                <a:spcPts val="800"/>
              </a:spcAft>
              <a:buNone/>
            </a:pPr>
            <a:r>
              <a:rPr lang="en-US" sz="1600" dirty="0">
                <a:solidFill>
                  <a:srgbClr val="4B5563"/>
                </a:solidFill>
              </a:rPr>
              <a:t>이름은 식사 기록 경로로 사용하지만, 본문에서 생성하는 자원은 </a:t>
            </a:r>
            <a:pPr indent="0" marL="0">
              <a:spcAft>
                <a:spcPts val="800"/>
              </a:spcAft>
              <a:buNone/>
            </a:pPr>
            <a:r>
              <a:rPr lang="en-US" sz="1600" b="1" dirty="0">
                <a:solidFill>
                  <a:srgbClr val="4B5563"/>
                </a:solidFill>
              </a:rPr>
              <a:t>식사 음식 항목 한 건</a:t>
            </a:r>
            <a:pPr indent="0" marL="0">
              <a:spcAft>
                <a:spcPts val="800"/>
              </a:spcAft>
              <a:buNone/>
            </a:pPr>
            <a:r>
              <a:rPr lang="en-US" sz="1600" dirty="0">
                <a:solidFill>
                  <a:srgbClr val="4B5563"/>
                </a:solidFill>
              </a:rPr>
              <a:t>입니다. 한 끼에 여러 음식을 추가하면 항목마다 요청해 즉시 저장합니다.</a:t>
            </a:r>
            <a:endParaRPr lang="en-US" sz="1600" dirty="0"/>
          </a:p>
          <a:p>
            <a:pPr indent="0" marL="0">
              <a:spcAft>
                <a:spcPts val="800"/>
              </a:spcAft>
              <a:buNone/>
            </a:pPr>
            <a:r>
              <a:rPr lang="en-US" sz="1600" b="1" dirty="0">
                <a:solidFill>
                  <a:srgbClr val="4B5563"/>
                </a:solidFill>
              </a:rPr>
              <a:t>요청 헤더</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135</a:t>
            </a:fld>
            <a:endParaRPr lang="en-US"/>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6.11 식사 기록 생성</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Authorization: Bearer &lt;접근_토큰&gt;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Content-Type: application/json</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Idempotency-Key: 0192d6bc-55bc-7cde-a54a-9c126c8dc011</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136</a:t>
            </a:fld>
            <a:endParaRPr lang="en-US"/>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6.11 식사 기록 생성</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요청 본문 필드</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137</a:t>
            </a:fld>
            <a:endParaRPr lang="en-US"/>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6.11 식사 기록 생성</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139"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318197"/>
                <a:gridCol w="1506828"/>
                <a:gridCol w="695459"/>
                <a:gridCol w="3709115"/>
              </a:tblGrid>
              <a:tr h="0">
                <a:tc>
                  <a:txBody>
                    <a:bodyPr/>
                    <a:lstStyle/>
                    <a:p>
                      <a:pPr indent="0" marL="0">
                        <a:buNone/>
                      </a:pPr>
                      <a:r>
                        <a:rPr lang="en-US" sz="1200" b="1" dirty="0">
                          <a:solidFill>
                            <a:srgbClr val="FFFFFF"/>
                          </a:solidFill>
                        </a:rPr>
                        <a:t>필드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형식</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필수</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검증·설명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foodId</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문자열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조건부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공용 </a:t>
                      </a:r>
                      <a:pPr indent="0" marL="0">
                        <a:buNone/>
                      </a:pPr>
                      <a:r>
                        <a:rPr lang="en-US" sz="1100" dirty="0">
                          <a:solidFill>
                            <a:srgbClr val="1F2937"/>
                          </a:solidFill>
                        </a:rPr>
                        <a:t>음식 </a:t>
                      </a:r>
                      <a:pPr indent="0" marL="0">
                        <a:buNone/>
                      </a:pPr>
                      <a:r>
                        <a:rPr lang="en-US" sz="1100" dirty="0">
                          <a:solidFill>
                            <a:srgbClr val="1F2937"/>
                          </a:solidFill>
                        </a:rPr>
                        <a:t>식별값</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userFoodId</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문자열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조건부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사용자 </a:t>
                      </a:r>
                      <a:pPr indent="0" marL="0">
                        <a:buNone/>
                      </a:pPr>
                      <a:r>
                        <a:rPr lang="en-US" sz="1100" dirty="0">
                          <a:solidFill>
                            <a:srgbClr val="1F2937"/>
                          </a:solidFill>
                        </a:rPr>
                        <a:t>개인 </a:t>
                      </a:r>
                      <a:pPr indent="0" marL="0">
                        <a:buNone/>
                      </a:pPr>
                      <a:r>
                        <a:rPr lang="en-US" sz="1100" dirty="0">
                          <a:solidFill>
                            <a:srgbClr val="1F2937"/>
                          </a:solidFill>
                        </a:rPr>
                        <a:t>음식 </a:t>
                      </a:r>
                      <a:pPr indent="0" marL="0">
                        <a:buNone/>
                      </a:pPr>
                      <a:r>
                        <a:rPr lang="en-US" sz="1100" dirty="0">
                          <a:solidFill>
                            <a:srgbClr val="1F2937"/>
                          </a:solidFill>
                        </a:rPr>
                        <a:t>식별값</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consumedDate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날짜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실제 </a:t>
                      </a:r>
                      <a:pPr indent="0" marL="0">
                        <a:buNone/>
                      </a:pPr>
                      <a:r>
                        <a:rPr lang="en-US" sz="1100" dirty="0">
                          <a:solidFill>
                            <a:srgbClr val="1F2937"/>
                          </a:solidFill>
                        </a:rPr>
                        <a:t>섭취 </a:t>
                      </a:r>
                      <a:pPr indent="0" marL="0">
                        <a:buNone/>
                      </a:pPr>
                      <a:r>
                        <a:rPr lang="en-US" sz="1100" dirty="0">
                          <a:solidFill>
                            <a:srgbClr val="1F2937"/>
                          </a:solidFill>
                        </a:rPr>
                        <a:t>날짜. </a:t>
                      </a:r>
                      <a:pPr indent="0" marL="0">
                        <a:buNone/>
                      </a:pPr>
                      <a:r>
                        <a:rPr lang="en-US" sz="1100" dirty="0">
                          <a:solidFill>
                            <a:srgbClr val="1F2937"/>
                          </a:solidFill>
                        </a:rPr>
                        <a:t>미래 </a:t>
                      </a:r>
                      <a:pPr indent="0" marL="0">
                        <a:buNone/>
                      </a:pPr>
                      <a:r>
                        <a:rPr lang="en-US" sz="1100" dirty="0">
                          <a:solidFill>
                            <a:srgbClr val="1F2937"/>
                          </a:solidFill>
                        </a:rPr>
                        <a:t>날짜는 </a:t>
                      </a:r>
                      <a:pPr indent="0" marL="0">
                        <a:buNone/>
                      </a:pPr>
                      <a:r>
                        <a:rPr lang="en-US" sz="1100" dirty="0">
                          <a:solidFill>
                            <a:srgbClr val="1F2937"/>
                          </a:solidFill>
                        </a:rPr>
                        <a:t>허용하지 </a:t>
                      </a:r>
                      <a:pPr indent="0" marL="0">
                        <a:buNone/>
                      </a:pPr>
                      <a:r>
                        <a:rPr lang="en-US" sz="1100" dirty="0">
                          <a:solidFill>
                            <a:srgbClr val="1F2937"/>
                          </a:solidFill>
                        </a:rPr>
                        <a:t>않는 </a:t>
                      </a:r>
                      <a:pPr indent="0" marL="0">
                        <a:buNone/>
                      </a:pPr>
                      <a:r>
                        <a:rPr lang="en-US" sz="1100" dirty="0">
                          <a:solidFill>
                            <a:srgbClr val="1F2937"/>
                          </a:solidFill>
                        </a:rPr>
                        <a:t>방향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consumedAt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시각 </a:t>
                      </a:r>
                      <a:pPr indent="0" marL="0">
                        <a:buNone/>
                      </a:pPr>
                      <a:r>
                        <a:rPr lang="en-US" sz="1100" dirty="0">
                          <a:solidFill>
                            <a:srgbClr val="1F2937"/>
                          </a:solidFill>
                        </a:rPr>
                        <a:t>또는</a:t>
                      </a:r>
                      <a:pPr indent="0" marL="0">
                        <a:buNone/>
                      </a:pPr>
                      <a:r>
                        <a:rPr lang="en-US" sz="1100" dirty="0">
                          <a:solidFill>
                            <a:srgbClr val="1F2937"/>
                          </a:solidFill>
                          <a:latin typeface="Courier New" pitchFamily="34" charset="0"/>
                          <a:ea typeface="Courier New" pitchFamily="34" charset="-122"/>
                          <a:cs typeface="Courier New" pitchFamily="34" charset="-120"/>
                        </a:rPr>
                        <a:t>null</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아니요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실제 </a:t>
                      </a:r>
                      <a:pPr indent="0" marL="0">
                        <a:buNone/>
                      </a:pPr>
                      <a:r>
                        <a:rPr lang="en-US" sz="1100" dirty="0">
                          <a:solidFill>
                            <a:srgbClr val="1F2937"/>
                          </a:solidFill>
                        </a:rPr>
                        <a:t>섭취 </a:t>
                      </a:r>
                      <a:pPr indent="0" marL="0">
                        <a:buNone/>
                      </a:pPr>
                      <a:r>
                        <a:rPr lang="en-US" sz="1100" dirty="0">
                          <a:solidFill>
                            <a:srgbClr val="1F2937"/>
                          </a:solidFill>
                        </a:rPr>
                        <a:t>시각. </a:t>
                      </a:r>
                      <a:pPr indent="0" marL="0">
                        <a:buNone/>
                      </a:pPr>
                      <a:r>
                        <a:rPr lang="en-US" sz="1100" dirty="0">
                          <a:solidFill>
                            <a:srgbClr val="1F2937"/>
                          </a:solidFill>
                        </a:rPr>
                        <a:t>사용자가 </a:t>
                      </a:r>
                      <a:pPr indent="0" marL="0">
                        <a:buNone/>
                      </a:pPr>
                      <a:r>
                        <a:rPr lang="en-US" sz="1100" dirty="0">
                          <a:solidFill>
                            <a:srgbClr val="1F2937"/>
                          </a:solidFill>
                        </a:rPr>
                        <a:t>입력하지 </a:t>
                      </a:r>
                      <a:pPr indent="0" marL="0">
                        <a:buNone/>
                      </a:pPr>
                      <a:r>
                        <a:rPr lang="en-US" sz="1100" dirty="0">
                          <a:solidFill>
                            <a:srgbClr val="1F2937"/>
                          </a:solidFill>
                        </a:rPr>
                        <a:t>않을 </a:t>
                      </a:r>
                      <a:pPr indent="0" marL="0">
                        <a:buNone/>
                      </a:pPr>
                      <a:r>
                        <a:rPr lang="en-US" sz="1100" dirty="0">
                          <a:solidFill>
                            <a:srgbClr val="1F2937"/>
                          </a:solidFill>
                        </a:rPr>
                        <a:t>수 </a:t>
                      </a:r>
                      <a:pPr indent="0" marL="0">
                        <a:buNone/>
                      </a:pPr>
                      <a:r>
                        <a:rPr lang="en-US" sz="1100" dirty="0">
                          <a:solidFill>
                            <a:srgbClr val="1F2937"/>
                          </a:solidFill>
                        </a:rPr>
                        <a:t>있음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mealType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문자열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아침·점심·저녁·간식의 </a:t>
                      </a:r>
                      <a:pPr indent="0" marL="0">
                        <a:buNone/>
                      </a:pPr>
                      <a:r>
                        <a:rPr lang="en-US" sz="1100" dirty="0">
                          <a:solidFill>
                            <a:srgbClr val="1F2937"/>
                          </a:solidFill>
                        </a:rPr>
                        <a:t>내부 </a:t>
                      </a:r>
                      <a:pPr indent="0" marL="0">
                        <a:buNone/>
                      </a:pPr>
                      <a:r>
                        <a:rPr lang="en-US" sz="1100" dirty="0">
                          <a:solidFill>
                            <a:srgbClr val="1F2937"/>
                          </a:solidFill>
                        </a:rPr>
                        <a:t>값</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quantityMultiplier</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숫자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양의 </a:t>
                      </a:r>
                      <a:pPr indent="0" marL="0">
                        <a:buNone/>
                      </a:pPr>
                      <a:r>
                        <a:rPr lang="en-US" sz="1100" dirty="0">
                          <a:solidFill>
                            <a:srgbClr val="1F2937"/>
                          </a:solidFill>
                        </a:rPr>
                        <a:t>수. </a:t>
                      </a:r>
                      <a:pPr indent="0" marL="0">
                        <a:buNone/>
                      </a:pPr>
                      <a:r>
                        <a:rPr lang="en-US" sz="1100" dirty="0">
                          <a:solidFill>
                            <a:srgbClr val="1F2937"/>
                          </a:solidFill>
                        </a:rPr>
                        <a:t>기본값</a:t>
                      </a:r>
                      <a:pPr indent="0" marL="0">
                        <a:buNone/>
                      </a:pPr>
                      <a:r>
                        <a:rPr lang="en-US" sz="1100" dirty="0">
                          <a:solidFill>
                            <a:srgbClr val="1F2937"/>
                          </a:solidFill>
                          <a:latin typeface="Courier New" pitchFamily="34" charset="0"/>
                          <a:ea typeface="Courier New" pitchFamily="34" charset="-122"/>
                          <a:cs typeface="Courier New" pitchFamily="34" charset="-120"/>
                        </a:rPr>
                        <a:t>1.0</a:t>
                      </a:r>
                      <a:pPr indent="0" marL="0">
                        <a:buNone/>
                      </a:pPr>
                      <a:r>
                        <a:rPr lang="en-US" sz="1100" dirty="0">
                          <a:solidFill>
                            <a:srgbClr val="1F2937"/>
                          </a:solidFill>
                        </a:rPr>
                        <a:t>을 </a:t>
                      </a:r>
                      <a:pPr indent="0" marL="0">
                        <a:buNone/>
                      </a:pPr>
                      <a:r>
                        <a:rPr lang="en-US" sz="1100" dirty="0">
                          <a:solidFill>
                            <a:srgbClr val="1F2937"/>
                          </a:solidFill>
                        </a:rPr>
                        <a:t>앱이 </a:t>
                      </a:r>
                      <a:pPr indent="0" marL="0">
                        <a:buNone/>
                      </a:pPr>
                      <a:r>
                        <a:rPr lang="en-US" sz="1100" dirty="0">
                          <a:solidFill>
                            <a:srgbClr val="1F2937"/>
                          </a:solidFill>
                        </a:rPr>
                        <a:t>전달하는 </a:t>
                      </a:r>
                      <a:pPr indent="0" marL="0">
                        <a:buNone/>
                      </a:pPr>
                      <a:r>
                        <a:rPr lang="en-US" sz="1100" dirty="0">
                          <a:solidFill>
                            <a:srgbClr val="1F2937"/>
                          </a:solidFill>
                        </a:rPr>
                        <a:t>방식 </a:t>
                      </a:r>
                      <a:pPr indent="0" marL="0">
                        <a:buNone/>
                      </a:pPr>
                      <a:r>
                        <a:rPr lang="en-US" sz="1100" dirty="0">
                          <a:solidFill>
                            <a:srgbClr val="1F2937"/>
                          </a:solidFill>
                        </a:rPr>
                        <a:t>제안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foodNameSnapshot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문자열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조건부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사용자가 </a:t>
                      </a:r>
                      <a:pPr indent="0" marL="0">
                        <a:buNone/>
                      </a:pPr>
                      <a:r>
                        <a:rPr lang="en-US" sz="1100" dirty="0">
                          <a:solidFill>
                            <a:srgbClr val="1F2937"/>
                          </a:solidFill>
                        </a:rPr>
                        <a:t>직접 </a:t>
                      </a:r>
                      <a:pPr indent="0" marL="0">
                        <a:buNone/>
                      </a:pPr>
                      <a:r>
                        <a:rPr lang="en-US" sz="1100" dirty="0">
                          <a:solidFill>
                            <a:srgbClr val="1F2937"/>
                          </a:solidFill>
                        </a:rPr>
                        <a:t>입력한 </a:t>
                      </a:r>
                      <a:pPr indent="0" marL="0">
                        <a:buNone/>
                      </a:pPr>
                      <a:r>
                        <a:rPr lang="en-US" sz="1100" dirty="0">
                          <a:solidFill>
                            <a:srgbClr val="1F2937"/>
                          </a:solidFill>
                        </a:rPr>
                        <a:t>음식명 </a:t>
                      </a:r>
                      <a:pPr indent="0" marL="0">
                        <a:buNone/>
                      </a:pPr>
                      <a:r>
                        <a:rPr lang="en-US" sz="1100" dirty="0">
                          <a:solidFill>
                            <a:srgbClr val="1F2937"/>
                          </a:solidFill>
                        </a:rPr>
                        <a:t>또는 </a:t>
                      </a:r>
                      <a:pPr indent="0" marL="0">
                        <a:buNone/>
                      </a:pPr>
                      <a:r>
                        <a:rPr lang="en-US" sz="1100" dirty="0">
                          <a:solidFill>
                            <a:srgbClr val="1F2937"/>
                          </a:solidFill>
                        </a:rPr>
                        <a:t>선택 </a:t>
                      </a:r>
                      <a:pPr indent="0" marL="0">
                        <a:buNone/>
                      </a:pPr>
                      <a:r>
                        <a:rPr lang="en-US" sz="1100" dirty="0">
                          <a:solidFill>
                            <a:srgbClr val="1F2937"/>
                          </a:solidFill>
                        </a:rPr>
                        <a:t>시점 </a:t>
                      </a:r>
                      <a:pPr indent="0" marL="0">
                        <a:buNone/>
                      </a:pPr>
                      <a:r>
                        <a:rPr lang="en-US" sz="1100" dirty="0">
                          <a:solidFill>
                            <a:srgbClr val="1F2937"/>
                          </a:solidFill>
                        </a:rPr>
                        <a:t>이름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nutrients</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객체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영양 </a:t>
                      </a:r>
                      <a:pPr indent="0" marL="0">
                        <a:buNone/>
                      </a:pPr>
                      <a:r>
                        <a:rPr lang="en-US" sz="1100" dirty="0">
                          <a:solidFill>
                            <a:srgbClr val="1F2937"/>
                          </a:solidFill>
                        </a:rPr>
                        <a:t>정보 </a:t>
                      </a:r>
                      <a:pPr indent="0" marL="0">
                        <a:buNone/>
                      </a:pPr>
                      <a:r>
                        <a:rPr lang="en-US" sz="1100" dirty="0">
                          <a:solidFill>
                            <a:srgbClr val="1F2937"/>
                          </a:solidFill>
                        </a:rPr>
                        <a:t>스냅샷. </a:t>
                      </a:r>
                      <a:pPr indent="0" marL="0">
                        <a:buNone/>
                      </a:pPr>
                      <a:r>
                        <a:rPr lang="en-US" sz="1100" dirty="0">
                          <a:solidFill>
                            <a:srgbClr val="1F2937"/>
                          </a:solidFill>
                        </a:rPr>
                        <a:t>각 </a:t>
                      </a:r>
                      <a:pPr indent="0" marL="0">
                        <a:buNone/>
                      </a:pPr>
                      <a:r>
                        <a:rPr lang="en-US" sz="1100" dirty="0">
                          <a:solidFill>
                            <a:srgbClr val="1F2937"/>
                          </a:solidFill>
                        </a:rPr>
                        <a:t>항목은 </a:t>
                      </a:r>
                      <a:pPr indent="0" marL="0">
                        <a:buNone/>
                      </a:pPr>
                      <a:r>
                        <a:rPr lang="en-US" sz="1100" dirty="0">
                          <a:solidFill>
                            <a:srgbClr val="1F2937"/>
                          </a:solidFill>
                        </a:rPr>
                        <a:t>숫자 </a:t>
                      </a:r>
                      <a:pPr indent="0" marL="0">
                        <a:buNone/>
                      </a:pPr>
                      <a:r>
                        <a:rPr lang="en-US" sz="1100" dirty="0">
                          <a:solidFill>
                            <a:srgbClr val="1F2937"/>
                          </a:solidFill>
                        </a:rPr>
                        <a:t>또는</a:t>
                      </a:r>
                      <a:pPr indent="0" marL="0">
                        <a:buNone/>
                      </a:pPr>
                      <a:r>
                        <a:rPr lang="en-US" sz="1100" dirty="0">
                          <a:solidFill>
                            <a:srgbClr val="1F2937"/>
                          </a:solidFill>
                          <a:latin typeface="Courier New" pitchFamily="34" charset="0"/>
                          <a:ea typeface="Courier New" pitchFamily="34" charset="-122"/>
                          <a:cs typeface="Courier New" pitchFamily="34" charset="-120"/>
                        </a:rPr>
                        <a:t>null</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nutrientSourceType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문자열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provider</a:t>
                      </a:r>
                      <a:pPr indent="0" marL="0">
                        <a:buNone/>
                      </a:pPr>
                      <a:r>
                        <a:rPr lang="en-US" sz="1100" dirty="0">
                          <a:solidFill>
                            <a:srgbClr val="1F2937"/>
                          </a:solidFill>
                        </a:rPr>
                        <a:t>,</a:t>
                      </a:r>
                      <a:pPr indent="0" marL="0">
                        <a:buNone/>
                      </a:pPr>
                      <a:r>
                        <a:rPr lang="en-US" sz="1100" dirty="0">
                          <a:solidFill>
                            <a:srgbClr val="1F2937"/>
                          </a:solidFill>
                          <a:latin typeface="Courier New" pitchFamily="34" charset="0"/>
                          <a:ea typeface="Courier New" pitchFamily="34" charset="-122"/>
                          <a:cs typeface="Courier New" pitchFamily="34" charset="-120"/>
                        </a:rPr>
                        <a:t>user_input</a:t>
                      </a:r>
                      <a:pPr indent="0" marL="0">
                        <a:buNone/>
                      </a:pPr>
                      <a:r>
                        <a:rPr lang="en-US" sz="1100" dirty="0">
                          <a:solidFill>
                            <a:srgbClr val="1F2937"/>
                          </a:solidFill>
                        </a:rPr>
                        <a:t>,</a:t>
                      </a:r>
                      <a:pPr indent="0" marL="0">
                        <a:buNone/>
                      </a:pPr>
                      <a:r>
                        <a:rPr lang="en-US" sz="1100" dirty="0">
                          <a:solidFill>
                            <a:srgbClr val="1F2937"/>
                          </a:solidFill>
                          <a:latin typeface="Courier New" pitchFamily="34" charset="0"/>
                          <a:ea typeface="Courier New" pitchFamily="34" charset="-122"/>
                          <a:cs typeface="Courier New" pitchFamily="34" charset="-120"/>
                        </a:rPr>
                        <a:t>none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sourceReference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문자열 </a:t>
                      </a:r>
                      <a:pPr indent="0" marL="0">
                        <a:buNone/>
                      </a:pPr>
                      <a:r>
                        <a:rPr lang="en-US" sz="1100" dirty="0">
                          <a:solidFill>
                            <a:srgbClr val="1F2937"/>
                          </a:solidFill>
                        </a:rPr>
                        <a:t>또는</a:t>
                      </a:r>
                      <a:pPr indent="0" marL="0">
                        <a:buNone/>
                      </a:pPr>
                      <a:r>
                        <a:rPr lang="en-US" sz="1100" dirty="0">
                          <a:solidFill>
                            <a:srgbClr val="1F2937"/>
                          </a:solidFill>
                          <a:latin typeface="Courier New" pitchFamily="34" charset="0"/>
                          <a:ea typeface="Courier New" pitchFamily="34" charset="-122"/>
                          <a:cs typeface="Courier New" pitchFamily="34" charset="-120"/>
                        </a:rPr>
                        <a:t>null</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아니요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표시 </a:t>
                      </a:r>
                      <a:pPr indent="0" marL="0">
                        <a:buNone/>
                      </a:pPr>
                      <a:r>
                        <a:rPr lang="en-US" sz="1100" dirty="0">
                          <a:solidFill>
                            <a:srgbClr val="1F2937"/>
                          </a:solidFill>
                        </a:rPr>
                        <a:t>가능한 </a:t>
                      </a:r>
                      <a:pPr indent="0" marL="0">
                        <a:buNone/>
                      </a:pPr>
                      <a:r>
                        <a:rPr lang="en-US" sz="1100" dirty="0">
                          <a:solidFill>
                            <a:srgbClr val="1F2937"/>
                          </a:solidFill>
                        </a:rPr>
                        <a:t>출처 </a:t>
                      </a:r>
                      <a:pPr indent="0" marL="0">
                        <a:buNone/>
                      </a:pPr>
                      <a:r>
                        <a:rPr lang="en-US" sz="1100" dirty="0">
                          <a:solidFill>
                            <a:srgbClr val="1F2937"/>
                          </a:solidFill>
                        </a:rPr>
                        <a:t>정보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138</a:t>
            </a:fld>
            <a:endParaRPr lang="en-US"/>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6.11 식사 기록 생성</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foodId</a:t>
            </a:r>
            <a:pPr indent="0" marL="0">
              <a:spcAft>
                <a:spcPts val="800"/>
              </a:spcAft>
              <a:buNone/>
            </a:pPr>
            <a:r>
              <a:rPr lang="en-US" sz="1600" dirty="0">
                <a:solidFill>
                  <a:srgbClr val="4B5563"/>
                </a:solidFill>
              </a:rPr>
              <a:t>와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userFoodId</a:t>
            </a:r>
            <a:pPr indent="0" marL="0">
              <a:spcAft>
                <a:spcPts val="800"/>
              </a:spcAft>
              <a:buNone/>
            </a:pPr>
            <a:r>
              <a:rPr lang="en-US" sz="1600" dirty="0">
                <a:solidFill>
                  <a:srgbClr val="4B5563"/>
                </a:solidFill>
              </a:rPr>
              <a:t> 중 정확히 하나만 지정해야 합니다. 해당 음식의 이름·영양값·기준 제공량은 서버가 조회해 스냅샷을 만드는 방향을 권장합니다. 앱에서 스냅샷을 직접 제출하도록 허용할지는 공급자 신뢰·조작 방지 관점에서 구현 확정이 필요합니다.</a:t>
            </a:r>
            <a:endParaRPr lang="en-US" sz="1600" dirty="0"/>
          </a:p>
          <a:p>
            <a:pPr indent="0" marL="0">
              <a:spcAft>
                <a:spcPts val="800"/>
              </a:spcAft>
              <a:buNone/>
            </a:pPr>
            <a:r>
              <a:rPr lang="en-US" sz="1600" b="1" dirty="0">
                <a:solidFill>
                  <a:srgbClr val="4B5563"/>
                </a:solidFill>
              </a:rPr>
              <a:t>요청 예시</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139</a:t>
            </a:fld>
            <a:endParaRPr lang="en-US"/>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6.11 식사 기록 생성</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"foodId": "fod_0192d6bb-0e01-796b-910c-75652a14d2d1",</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"userFoodId":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"consumedDate": "2026-10-01",</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"consumedAt": "2026-10-01T12:15:00+09:00",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"mealType": "lunch",</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"quantityMultiplier": 1.0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140</a:t>
            </a:fld>
            <a:endParaRPr lang="en-US"/>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6.11 식사 기록 생성</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직접 입력 음식 기록 예시</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141</a:t>
            </a:fld>
            <a:endParaRPr lang="en-US"/>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6.11 식사 기록 생성</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"userFoodId": "ufd_0192d6bd-9d0e-7b6b-87c5-7f84794262d4",</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"foodId":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"consumedDate": "2026-10-01",</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"consumedAt":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"mealType": "lunch",</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"quantityMultiplier": 1.0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142</a:t>
            </a:fld>
            <a:endParaRPr lang="en-US"/>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6.11 식사 기록 생성</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성공 응답 </a:t>
            </a:r>
            <a:pPr indent="0" marL="0">
              <a:spcAft>
                <a:spcPts val="800"/>
              </a:spcAft>
              <a:buNone/>
            </a:pPr>
            <a:r>
              <a:rPr lang="en-US" sz="1600" b="1" dirty="0">
                <a:solidFill>
                  <a:srgbClr val="4B5563"/>
                </a:solidFill>
                <a:latin typeface="Courier New" pitchFamily="34" charset="0"/>
                <a:ea typeface="Courier New" pitchFamily="34" charset="-122"/>
                <a:cs typeface="Courier New" pitchFamily="34" charset="-120"/>
              </a:rPr>
              <a:t>201 Created</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143</a:t>
            </a:fld>
            <a:endParaRPr lang="en-US"/>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6.11 식사 기록 생성</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"success": true,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"data":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"id": "mei_0192d6be-8ef2-7362-9e89-6e6b5e63f310",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"consumedDate": "2026-10-01",</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"consumedAt": "2026-10-01T03:15:00Z",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"mealType": "lunch",</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"foodNameSnapshot": "집에서 만든 국",</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"quantityMultiplier": 1.0,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"nutrients":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"energyKcal":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"carbohydrateG":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"proteinG":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"fatG":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"nutrientSourceType": "none",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"createdAt": "2026-10-01T03:16:00Z"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"timestamp": "2026-10-01T03:16:00Z",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"requestId": "req_0192d6be-cdc6-727f-a074-5888e67af63a"</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144</a:t>
            </a:fld>
            <a:endParaRPr lang="en-US"/>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6.11 식사 기록 생성</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주요 처리 사례</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145</a:t>
            </a:fld>
            <a:endParaRPr lang="en-US"/>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6.11 식사 기록 생성</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147"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3657600"/>
                <a:gridCol w="1422400"/>
                <a:gridCol w="3149600"/>
              </a:tblGrid>
              <a:tr h="0">
                <a:tc>
                  <a:txBody>
                    <a:bodyPr/>
                    <a:lstStyle/>
                    <a:p>
                      <a:pPr indent="0" marL="0">
                        <a:buNone/>
                      </a:pPr>
                      <a:r>
                        <a:rPr lang="en-US" sz="1200" b="1" dirty="0">
                          <a:solidFill>
                            <a:srgbClr val="FFFFFF"/>
                          </a:solidFill>
                        </a:rPr>
                        <a:t>사례</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상태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처리</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공용 </a:t>
                      </a:r>
                      <a:pPr indent="0" marL="0">
                        <a:buNone/>
                      </a:pPr>
                      <a:r>
                        <a:rPr lang="en-US" sz="1100" dirty="0">
                          <a:solidFill>
                            <a:srgbClr val="1F2937"/>
                          </a:solidFill>
                        </a:rPr>
                        <a:t>음식 </a:t>
                      </a:r>
                      <a:pPr indent="0" marL="0">
                        <a:buNone/>
                      </a:pPr>
                      <a:r>
                        <a:rPr lang="en-US" sz="1100" dirty="0">
                          <a:solidFill>
                            <a:srgbClr val="1F2937"/>
                          </a:solidFill>
                        </a:rPr>
                        <a:t>항목 </a:t>
                      </a:r>
                      <a:pPr indent="0" marL="0">
                        <a:buNone/>
                      </a:pPr>
                      <a:r>
                        <a:rPr lang="en-US" sz="1100" dirty="0">
                          <a:solidFill>
                            <a:srgbClr val="1F2937"/>
                          </a:solidFill>
                        </a:rPr>
                        <a:t>생성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201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기록 </a:t>
                      </a:r>
                      <a:pPr indent="0" marL="0">
                        <a:buNone/>
                      </a:pPr>
                      <a:r>
                        <a:rPr lang="en-US" sz="1100" dirty="0">
                          <a:solidFill>
                            <a:srgbClr val="1F2937"/>
                          </a:solidFill>
                        </a:rPr>
                        <a:t>시점 </a:t>
                      </a:r>
                      <a:pPr indent="0" marL="0">
                        <a:buNone/>
                      </a:pPr>
                      <a:r>
                        <a:rPr lang="en-US" sz="1100" dirty="0">
                          <a:solidFill>
                            <a:srgbClr val="1F2937"/>
                          </a:solidFill>
                        </a:rPr>
                        <a:t>음식명·영양값 </a:t>
                      </a:r>
                      <a:pPr indent="0" marL="0">
                        <a:buNone/>
                      </a:pPr>
                      <a:r>
                        <a:rPr lang="en-US" sz="1100" dirty="0">
                          <a:solidFill>
                            <a:srgbClr val="1F2937"/>
                          </a:solidFill>
                        </a:rPr>
                        <a:t>스냅샷 </a:t>
                      </a:r>
                      <a:pPr indent="0" marL="0">
                        <a:buNone/>
                      </a:pPr>
                      <a:r>
                        <a:rPr lang="en-US" sz="1100" dirty="0">
                          <a:solidFill>
                            <a:srgbClr val="1F2937"/>
                          </a:solidFill>
                        </a:rPr>
                        <a:t>저장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영양 </a:t>
                      </a:r>
                      <a:pPr indent="0" marL="0">
                        <a:buNone/>
                      </a:pPr>
                      <a:r>
                        <a:rPr lang="en-US" sz="1100" dirty="0">
                          <a:solidFill>
                            <a:srgbClr val="1F2937"/>
                          </a:solidFill>
                        </a:rPr>
                        <a:t>정보가 </a:t>
                      </a:r>
                      <a:pPr indent="0" marL="0">
                        <a:buNone/>
                      </a:pPr>
                      <a:r>
                        <a:rPr lang="en-US" sz="1100" dirty="0">
                          <a:solidFill>
                            <a:srgbClr val="1F2937"/>
                          </a:solidFill>
                        </a:rPr>
                        <a:t>없는 </a:t>
                      </a:r>
                      <a:pPr indent="0" marL="0">
                        <a:buNone/>
                      </a:pPr>
                      <a:r>
                        <a:rPr lang="en-US" sz="1100" dirty="0">
                          <a:solidFill>
                            <a:srgbClr val="1F2937"/>
                          </a:solidFill>
                        </a:rPr>
                        <a:t>개인 </a:t>
                      </a:r>
                      <a:pPr indent="0" marL="0">
                        <a:buNone/>
                      </a:pPr>
                      <a:r>
                        <a:rPr lang="en-US" sz="1100" dirty="0">
                          <a:solidFill>
                            <a:srgbClr val="1F2937"/>
                          </a:solidFill>
                        </a:rPr>
                        <a:t>음식 </a:t>
                      </a:r>
                      <a:pPr indent="0" marL="0">
                        <a:buNone/>
                      </a:pPr>
                      <a:r>
                        <a:rPr lang="en-US" sz="1100" dirty="0">
                          <a:solidFill>
                            <a:srgbClr val="1F2937"/>
                          </a:solidFill>
                        </a:rPr>
                        <a:t>생성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201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기록은 </a:t>
                      </a:r>
                      <a:pPr indent="0" marL="0">
                        <a:buNone/>
                      </a:pPr>
                      <a:r>
                        <a:rPr lang="en-US" sz="1100" dirty="0">
                          <a:solidFill>
                            <a:srgbClr val="1F2937"/>
                          </a:solidFill>
                        </a:rPr>
                        <a:t>저장하고 </a:t>
                      </a:r>
                      <a:pPr indent="0" marL="0">
                        <a:buNone/>
                      </a:pPr>
                      <a:r>
                        <a:rPr lang="en-US" sz="1100" dirty="0">
                          <a:solidFill>
                            <a:srgbClr val="1F2937"/>
                          </a:solidFill>
                        </a:rPr>
                        <a:t>영양값은</a:t>
                      </a:r>
                      <a:pPr indent="0" marL="0">
                        <a:buNone/>
                      </a:pPr>
                      <a:r>
                        <a:rPr lang="en-US" sz="1100" dirty="0">
                          <a:solidFill>
                            <a:srgbClr val="1F2937"/>
                          </a:solidFill>
                          <a:latin typeface="Courier New" pitchFamily="34" charset="0"/>
                          <a:ea typeface="Courier New" pitchFamily="34" charset="-122"/>
                          <a:cs typeface="Courier New" pitchFamily="34" charset="-120"/>
                        </a:rPr>
                        <a:t>null</a:t>
                      </a:r>
                      <a:pPr indent="0" marL="0">
                        <a:buNone/>
                      </a:pPr>
                      <a:r>
                        <a:rPr lang="en-US" sz="1100" dirty="0">
                          <a:solidFill>
                            <a:srgbClr val="1F2937"/>
                          </a:solidFill>
                        </a:rPr>
                        <a:t>로 </a:t>
                      </a:r>
                      <a:pPr indent="0" marL="0">
                        <a:buNone/>
                      </a:pPr>
                      <a:r>
                        <a:rPr lang="en-US" sz="1100" dirty="0">
                          <a:solidFill>
                            <a:srgbClr val="1F2937"/>
                          </a:solidFill>
                        </a:rPr>
                        <a:t>유지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동일 </a:t>
                      </a:r>
                      <a:pPr indent="0" marL="0">
                        <a:buNone/>
                      </a:pPr>
                      <a:r>
                        <a:rPr lang="en-US" sz="1100" dirty="0">
                          <a:solidFill>
                            <a:srgbClr val="1F2937"/>
                          </a:solidFill>
                        </a:rPr>
                        <a:t>요청 </a:t>
                      </a:r>
                      <a:pPr indent="0" marL="0">
                        <a:buNone/>
                      </a:pPr>
                      <a:r>
                        <a:rPr lang="en-US" sz="1100" dirty="0">
                          <a:solidFill>
                            <a:srgbClr val="1F2937"/>
                          </a:solidFill>
                        </a:rPr>
                        <a:t>식별값으로 </a:t>
                      </a:r>
                      <a:pPr indent="0" marL="0">
                        <a:buNone/>
                      </a:pPr>
                      <a:r>
                        <a:rPr lang="en-US" sz="1100" dirty="0">
                          <a:solidFill>
                            <a:srgbClr val="1F2937"/>
                          </a:solidFill>
                        </a:rPr>
                        <a:t>재전송</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201</a:t>
                      </a:r>
                      <a:pPr indent="0" marL="0">
                        <a:buNone/>
                      </a:pPr>
                      <a:r>
                        <a:rPr lang="en-US" sz="1100" dirty="0">
                          <a:solidFill>
                            <a:srgbClr val="1F2937"/>
                          </a:solidFill>
                        </a:rPr>
                        <a:t>또는 </a:t>
                      </a:r>
                      <a:pPr indent="0" marL="0">
                        <a:buNone/>
                      </a:pPr>
                      <a:r>
                        <a:rPr lang="en-US" sz="1100" dirty="0">
                          <a:solidFill>
                            <a:srgbClr val="1F2937"/>
                          </a:solidFill>
                        </a:rPr>
                        <a:t>기존 </a:t>
                      </a:r>
                      <a:pPr indent="0" marL="0">
                        <a:buNone/>
                      </a:pPr>
                      <a:r>
                        <a:rPr lang="en-US" sz="1100" dirty="0">
                          <a:solidFill>
                            <a:srgbClr val="1F2937"/>
                          </a:solidFill>
                        </a:rPr>
                        <a:t>결과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중복 </a:t>
                      </a:r>
                      <a:pPr indent="0" marL="0">
                        <a:buNone/>
                      </a:pPr>
                      <a:r>
                        <a:rPr lang="en-US" sz="1100" dirty="0">
                          <a:solidFill>
                            <a:srgbClr val="1F2937"/>
                          </a:solidFill>
                        </a:rPr>
                        <a:t>생성 </a:t>
                      </a:r>
                      <a:pPr indent="0" marL="0">
                        <a:buNone/>
                      </a:pPr>
                      <a:r>
                        <a:rPr lang="en-US" sz="1100" dirty="0">
                          <a:solidFill>
                            <a:srgbClr val="1F2937"/>
                          </a:solidFill>
                        </a:rPr>
                        <a:t>없이 </a:t>
                      </a:r>
                      <a:pPr indent="0" marL="0">
                        <a:buNone/>
                      </a:pPr>
                      <a:r>
                        <a:rPr lang="en-US" sz="1100" dirty="0">
                          <a:solidFill>
                            <a:srgbClr val="1F2937"/>
                          </a:solidFill>
                        </a:rPr>
                        <a:t>최초 </a:t>
                      </a:r>
                      <a:pPr indent="0" marL="0">
                        <a:buNone/>
                      </a:pPr>
                      <a:r>
                        <a:rPr lang="en-US" sz="1100" dirty="0">
                          <a:solidFill>
                            <a:srgbClr val="1F2937"/>
                          </a:solidFill>
                        </a:rPr>
                        <a:t>결과 </a:t>
                      </a:r>
                      <a:pPr indent="0" marL="0">
                        <a:buNone/>
                      </a:pPr>
                      <a:r>
                        <a:rPr lang="en-US" sz="1100" dirty="0">
                          <a:solidFill>
                            <a:srgbClr val="1F2937"/>
                          </a:solidFill>
                        </a:rPr>
                        <a:t>반환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foodId</a:t>
                      </a:r>
                      <a:pPr indent="0" marL="0">
                        <a:buNone/>
                      </a:pPr>
                      <a:r>
                        <a:rPr lang="en-US" sz="1100" dirty="0">
                          <a:solidFill>
                            <a:srgbClr val="1F2937"/>
                          </a:solidFill>
                        </a:rPr>
                        <a:t>와</a:t>
                      </a:r>
                      <a:pPr indent="0" marL="0">
                        <a:buNone/>
                      </a:pPr>
                      <a:r>
                        <a:rPr lang="en-US" sz="1100" dirty="0">
                          <a:solidFill>
                            <a:srgbClr val="1F2937"/>
                          </a:solidFill>
                          <a:latin typeface="Courier New" pitchFamily="34" charset="0"/>
                          <a:ea typeface="Courier New" pitchFamily="34" charset="-122"/>
                          <a:cs typeface="Courier New" pitchFamily="34" charset="-120"/>
                        </a:rPr>
                        <a:t>userFoodId</a:t>
                      </a:r>
                      <a:pPr indent="0" marL="0">
                        <a:buNone/>
                      </a:pPr>
                      <a:r>
                        <a:rPr lang="en-US" sz="1100" dirty="0">
                          <a:solidFill>
                            <a:srgbClr val="1F2937"/>
                          </a:solidFill>
                        </a:rPr>
                        <a:t>를 </a:t>
                      </a:r>
                      <a:pPr indent="0" marL="0">
                        <a:buNone/>
                      </a:pPr>
                      <a:r>
                        <a:rPr lang="en-US" sz="1100" dirty="0">
                          <a:solidFill>
                            <a:srgbClr val="1F2937"/>
                          </a:solidFill>
                        </a:rPr>
                        <a:t>모두 </a:t>
                      </a:r>
                      <a:pPr indent="0" marL="0">
                        <a:buNone/>
                      </a:pPr>
                      <a:r>
                        <a:rPr lang="en-US" sz="1100" dirty="0">
                          <a:solidFill>
                            <a:srgbClr val="1F2937"/>
                          </a:solidFill>
                        </a:rPr>
                        <a:t>지정하거나 </a:t>
                      </a:r>
                      <a:pPr indent="0" marL="0">
                        <a:buNone/>
                      </a:pPr>
                      <a:r>
                        <a:rPr lang="en-US" sz="1100" dirty="0">
                          <a:solidFill>
                            <a:srgbClr val="1F2937"/>
                          </a:solidFill>
                        </a:rPr>
                        <a:t>모두 </a:t>
                      </a:r>
                      <a:pPr indent="0" marL="0">
                        <a:buNone/>
                      </a:pPr>
                      <a:r>
                        <a:rPr lang="en-US" sz="1100" dirty="0">
                          <a:solidFill>
                            <a:srgbClr val="1F2937"/>
                          </a:solidFill>
                        </a:rPr>
                        <a:t>생략</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422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음식 </a:t>
                      </a:r>
                      <a:pPr indent="0" marL="0">
                        <a:buNone/>
                      </a:pPr>
                      <a:r>
                        <a:rPr lang="en-US" sz="1100" dirty="0">
                          <a:solidFill>
                            <a:srgbClr val="1F2937"/>
                          </a:solidFill>
                        </a:rPr>
                        <a:t>참조 </a:t>
                      </a:r>
                      <a:pPr indent="0" marL="0">
                        <a:buNone/>
                      </a:pPr>
                      <a:r>
                        <a:rPr lang="en-US" sz="1100" dirty="0">
                          <a:solidFill>
                            <a:srgbClr val="1F2937"/>
                          </a:solidFill>
                        </a:rPr>
                        <a:t>검증 </a:t>
                      </a:r>
                      <a:pPr indent="0" marL="0">
                        <a:buNone/>
                      </a:pPr>
                      <a:r>
                        <a:rPr lang="en-US" sz="1100" dirty="0">
                          <a:solidFill>
                            <a:srgbClr val="1F2937"/>
                          </a:solidFill>
                        </a:rPr>
                        <a:t>오류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다른 </a:t>
                      </a:r>
                      <a:pPr indent="0" marL="0">
                        <a:buNone/>
                      </a:pPr>
                      <a:r>
                        <a:rPr lang="en-US" sz="1100" dirty="0">
                          <a:solidFill>
                            <a:srgbClr val="1F2937"/>
                          </a:solidFill>
                        </a:rPr>
                        <a:t>사용자의 </a:t>
                      </a:r>
                      <a:pPr indent="0" marL="0">
                        <a:buNone/>
                      </a:pPr>
                      <a:r>
                        <a:rPr lang="en-US" sz="1100" dirty="0">
                          <a:solidFill>
                            <a:srgbClr val="1F2937"/>
                          </a:solidFill>
                        </a:rPr>
                        <a:t>개인 </a:t>
                      </a:r>
                      <a:pPr indent="0" marL="0">
                        <a:buNone/>
                      </a:pPr>
                      <a:r>
                        <a:rPr lang="en-US" sz="1100" dirty="0">
                          <a:solidFill>
                            <a:srgbClr val="1F2937"/>
                          </a:solidFill>
                        </a:rPr>
                        <a:t>음식 </a:t>
                      </a:r>
                      <a:pPr indent="0" marL="0">
                        <a:buNone/>
                      </a:pPr>
                      <a:r>
                        <a:rPr lang="en-US" sz="1100" dirty="0">
                          <a:solidFill>
                            <a:srgbClr val="1F2937"/>
                          </a:solidFill>
                        </a:rPr>
                        <a:t>지정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404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타인 </a:t>
                      </a:r>
                      <a:pPr indent="0" marL="0">
                        <a:buNone/>
                      </a:pPr>
                      <a:r>
                        <a:rPr lang="en-US" sz="1100" dirty="0">
                          <a:solidFill>
                            <a:srgbClr val="1F2937"/>
                          </a:solidFill>
                        </a:rPr>
                        <a:t>자료 </a:t>
                      </a:r>
                      <a:pPr indent="0" marL="0">
                        <a:buNone/>
                      </a:pPr>
                      <a:r>
                        <a:rPr lang="en-US" sz="1100" dirty="0">
                          <a:solidFill>
                            <a:srgbClr val="1F2937"/>
                          </a:solidFill>
                        </a:rPr>
                        <a:t>존재 </a:t>
                      </a:r>
                      <a:pPr indent="0" marL="0">
                        <a:buNone/>
                      </a:pPr>
                      <a:r>
                        <a:rPr lang="en-US" sz="1100" dirty="0">
                          <a:solidFill>
                            <a:srgbClr val="1F2937"/>
                          </a:solidFill>
                        </a:rPr>
                        <a:t>여부를 </a:t>
                      </a:r>
                      <a:pPr indent="0" marL="0">
                        <a:buNone/>
                      </a:pPr>
                      <a:r>
                        <a:rPr lang="en-US" sz="1100" dirty="0">
                          <a:solidFill>
                            <a:srgbClr val="1F2937"/>
                          </a:solidFill>
                        </a:rPr>
                        <a:t>노출하지 </a:t>
                      </a:r>
                      <a:pPr indent="0" marL="0">
                        <a:buNone/>
                      </a:pPr>
                      <a:r>
                        <a:rPr lang="en-US" sz="1100" dirty="0">
                          <a:solidFill>
                            <a:srgbClr val="1F2937"/>
                          </a:solidFill>
                        </a:rPr>
                        <a:t>않음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미래 </a:t>
                      </a:r>
                      <a:pPr indent="0" marL="0">
                        <a:buNone/>
                      </a:pPr>
                      <a:r>
                        <a:rPr lang="en-US" sz="1100" dirty="0">
                          <a:solidFill>
                            <a:srgbClr val="1F2937"/>
                          </a:solidFill>
                        </a:rPr>
                        <a:t>날짜 </a:t>
                      </a:r>
                      <a:pPr indent="0" marL="0">
                        <a:buNone/>
                      </a:pPr>
                      <a:r>
                        <a:rPr lang="en-US" sz="1100" dirty="0">
                          <a:solidFill>
                            <a:srgbClr val="1F2937"/>
                          </a:solidFill>
                        </a:rPr>
                        <a:t>또는 </a:t>
                      </a:r>
                      <a:pPr indent="0" marL="0">
                        <a:buNone/>
                      </a:pPr>
                      <a:r>
                        <a:rPr lang="en-US" sz="1100" dirty="0">
                          <a:solidFill>
                            <a:srgbClr val="1F2937"/>
                          </a:solidFill>
                        </a:rPr>
                        <a:t>잘못된 </a:t>
                      </a:r>
                      <a:pPr indent="0" marL="0">
                        <a:buNone/>
                      </a:pPr>
                      <a:r>
                        <a:rPr lang="en-US" sz="1100" dirty="0">
                          <a:solidFill>
                            <a:srgbClr val="1F2937"/>
                          </a:solidFill>
                        </a:rPr>
                        <a:t>식사 </a:t>
                      </a:r>
                      <a:pPr indent="0" marL="0">
                        <a:buNone/>
                      </a:pPr>
                      <a:r>
                        <a:rPr lang="en-US" sz="1100" dirty="0">
                          <a:solidFill>
                            <a:srgbClr val="1F2937"/>
                          </a:solidFill>
                        </a:rPr>
                        <a:t>구분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422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기록 </a:t>
                      </a:r>
                      <a:pPr indent="0" marL="0">
                        <a:buNone/>
                      </a:pPr>
                      <a:r>
                        <a:rPr lang="en-US" sz="1100" dirty="0">
                          <a:solidFill>
                            <a:srgbClr val="1F2937"/>
                          </a:solidFill>
                        </a:rPr>
                        <a:t>생성 </a:t>
                      </a:r>
                      <a:pPr indent="0" marL="0">
                        <a:buNone/>
                      </a:pPr>
                      <a:r>
                        <a:rPr lang="en-US" sz="1100" dirty="0">
                          <a:solidFill>
                            <a:srgbClr val="1F2937"/>
                          </a:solidFill>
                        </a:rPr>
                        <a:t>거부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외부 </a:t>
                      </a:r>
                      <a:pPr indent="0" marL="0">
                        <a:buNone/>
                      </a:pPr>
                      <a:r>
                        <a:rPr lang="en-US" sz="1100" dirty="0">
                          <a:solidFill>
                            <a:srgbClr val="1F2937"/>
                          </a:solidFill>
                        </a:rPr>
                        <a:t>음식 </a:t>
                      </a:r>
                      <a:pPr indent="0" marL="0">
                        <a:buNone/>
                      </a:pPr>
                      <a:r>
                        <a:rPr lang="en-US" sz="1100" dirty="0">
                          <a:solidFill>
                            <a:srgbClr val="1F2937"/>
                          </a:solidFill>
                        </a:rPr>
                        <a:t>공급자 </a:t>
                      </a:r>
                      <a:pPr indent="0" marL="0">
                        <a:buNone/>
                      </a:pPr>
                      <a:r>
                        <a:rPr lang="en-US" sz="1100" dirty="0">
                          <a:solidFill>
                            <a:srgbClr val="1F2937"/>
                          </a:solidFill>
                        </a:rPr>
                        <a:t>장애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기록 </a:t>
                      </a:r>
                      <a:pPr indent="0" marL="0">
                        <a:buNone/>
                      </a:pPr>
                      <a:r>
                        <a:rPr lang="en-US" sz="1100" dirty="0">
                          <a:solidFill>
                            <a:srgbClr val="1F2937"/>
                          </a:solidFill>
                        </a:rPr>
                        <a:t>생성은 </a:t>
                      </a:r>
                      <a:pPr indent="0" marL="0">
                        <a:buNone/>
                      </a:pPr>
                      <a:r>
                        <a:rPr lang="en-US" sz="1100" dirty="0">
                          <a:solidFill>
                            <a:srgbClr val="1F2937"/>
                          </a:solidFill>
                        </a:rPr>
                        <a:t>차단하지 </a:t>
                      </a:r>
                      <a:pPr indent="0" marL="0">
                        <a:buNone/>
                      </a:pPr>
                      <a:r>
                        <a:rPr lang="en-US" sz="1100" dirty="0">
                          <a:solidFill>
                            <a:srgbClr val="1F2937"/>
                          </a:solidFill>
                        </a:rPr>
                        <a:t>않음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이미 </a:t>
                      </a:r>
                      <a:pPr indent="0" marL="0">
                        <a:buNone/>
                      </a:pPr>
                      <a:r>
                        <a:rPr lang="en-US" sz="1100" dirty="0">
                          <a:solidFill>
                            <a:srgbClr val="1F2937"/>
                          </a:solidFill>
                        </a:rPr>
                        <a:t>선택한 </a:t>
                      </a:r>
                      <a:pPr indent="0" marL="0">
                        <a:buNone/>
                      </a:pPr>
                      <a:r>
                        <a:rPr lang="en-US" sz="1100" dirty="0">
                          <a:solidFill>
                            <a:srgbClr val="1F2937"/>
                          </a:solidFill>
                        </a:rPr>
                        <a:t>내부 </a:t>
                      </a:r>
                      <a:pPr indent="0" marL="0">
                        <a:buNone/>
                      </a:pPr>
                      <a:r>
                        <a:rPr lang="en-US" sz="1100" dirty="0">
                          <a:solidFill>
                            <a:srgbClr val="1F2937"/>
                          </a:solidFill>
                        </a:rPr>
                        <a:t>음식·개인 </a:t>
                      </a:r>
                      <a:pPr indent="0" marL="0">
                        <a:buNone/>
                      </a:pPr>
                      <a:r>
                        <a:rPr lang="en-US" sz="1100" dirty="0">
                          <a:solidFill>
                            <a:srgbClr val="1F2937"/>
                          </a:solidFill>
                        </a:rPr>
                        <a:t>음식 </a:t>
                      </a:r>
                      <a:pPr indent="0" marL="0">
                        <a:buNone/>
                      </a:pPr>
                      <a:r>
                        <a:rPr lang="en-US" sz="1100" dirty="0">
                          <a:solidFill>
                            <a:srgbClr val="1F2937"/>
                          </a:solidFill>
                        </a:rPr>
                        <a:t>기록은 </a:t>
                      </a:r>
                      <a:pPr indent="0" marL="0">
                        <a:buNone/>
                      </a:pPr>
                      <a:r>
                        <a:rPr lang="en-US" sz="1100" dirty="0">
                          <a:solidFill>
                            <a:srgbClr val="1F2937"/>
                          </a:solidFill>
                        </a:rPr>
                        <a:t>저장 </a:t>
                      </a:r>
                      <a:pPr indent="0" marL="0">
                        <a:buNone/>
                      </a:pPr>
                      <a:r>
                        <a:rPr lang="en-US" sz="1100" dirty="0">
                          <a:solidFill>
                            <a:srgbClr val="1F2937"/>
                          </a:solidFill>
                        </a:rPr>
                        <a:t>가능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저장소·서버 </a:t>
                      </a:r>
                      <a:pPr indent="0" marL="0">
                        <a:buNone/>
                      </a:pPr>
                      <a:r>
                        <a:rPr lang="en-US" sz="1100" dirty="0">
                          <a:solidFill>
                            <a:srgbClr val="1F2937"/>
                          </a:solidFill>
                        </a:rPr>
                        <a:t>오류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500</a:t>
                      </a:r>
                      <a:pPr indent="0" marL="0">
                        <a:buNone/>
                      </a:pPr>
                      <a:r>
                        <a:rPr lang="en-US" sz="1100" dirty="0">
                          <a:solidFill>
                            <a:srgbClr val="1F2937"/>
                          </a:solidFill>
                        </a:rPr>
                        <a:t>또는</a:t>
                      </a:r>
                      <a:pPr indent="0" marL="0">
                        <a:buNone/>
                      </a:pPr>
                      <a:r>
                        <a:rPr lang="en-US" sz="1100" dirty="0">
                          <a:solidFill>
                            <a:srgbClr val="1F2937"/>
                          </a:solidFill>
                          <a:latin typeface="Courier New" pitchFamily="34" charset="0"/>
                          <a:ea typeface="Courier New" pitchFamily="34" charset="-122"/>
                          <a:cs typeface="Courier New" pitchFamily="34" charset="-120"/>
                        </a:rPr>
                        <a:t>503</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요청 </a:t>
                      </a:r>
                      <a:pPr indent="0" marL="0">
                        <a:buNone/>
                      </a:pPr>
                      <a:r>
                        <a:rPr lang="en-US" sz="1100" dirty="0">
                          <a:solidFill>
                            <a:srgbClr val="1F2937"/>
                          </a:solidFill>
                        </a:rPr>
                        <a:t>식별값을 </a:t>
                      </a:r>
                      <a:pPr indent="0" marL="0">
                        <a:buNone/>
                      </a:pPr>
                      <a:r>
                        <a:rPr lang="en-US" sz="1100" dirty="0">
                          <a:solidFill>
                            <a:srgbClr val="1F2937"/>
                          </a:solidFill>
                        </a:rPr>
                        <a:t>활용해 </a:t>
                      </a:r>
                      <a:pPr indent="0" marL="0">
                        <a:buNone/>
                      </a:pPr>
                      <a:r>
                        <a:rPr lang="en-US" sz="1100" dirty="0">
                          <a:solidFill>
                            <a:srgbClr val="1F2937"/>
                          </a:solidFill>
                        </a:rPr>
                        <a:t>재시도, </a:t>
                      </a:r>
                      <a:pPr indent="0" marL="0">
                        <a:buNone/>
                      </a:pPr>
                      <a:r>
                        <a:rPr lang="en-US" sz="1100" dirty="0">
                          <a:solidFill>
                            <a:srgbClr val="1F2937"/>
                          </a:solidFill>
                        </a:rPr>
                        <a:t>입력값 </a:t>
                      </a:r>
                      <a:pPr indent="0" marL="0">
                        <a:buNone/>
                      </a:pPr>
                      <a:r>
                        <a:rPr lang="en-US" sz="1100" dirty="0">
                          <a:solidFill>
                            <a:srgbClr val="1F2937"/>
                          </a:solidFill>
                        </a:rPr>
                        <a:t>보존은 </a:t>
                      </a:r>
                      <a:pPr indent="0" marL="0">
                        <a:buNone/>
                      </a:pPr>
                      <a:r>
                        <a:rPr lang="en-US" sz="1100" dirty="0">
                          <a:solidFill>
                            <a:srgbClr val="1F2937"/>
                          </a:solidFill>
                        </a:rPr>
                        <a:t>앱에서 </a:t>
                      </a:r>
                      <a:pPr indent="0" marL="0">
                        <a:buNone/>
                      </a:pPr>
                      <a:r>
                        <a:rPr lang="en-US" sz="1100" dirty="0">
                          <a:solidFill>
                            <a:srgbClr val="1F2937"/>
                          </a:solidFill>
                        </a:rPr>
                        <a:t>처리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146</a:t>
            </a:fld>
            <a:endParaRPr lang="en-US"/>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6.11 식사 기록 생성</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한 식사 구분에 여러 항목을 저장할 수 있으며, 같은 날짜·식사 구분의 항목을 조회할 때 합산합니다. 별도 식사 모음 자원은 MVP에서 두지 않습니다.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147</a:t>
            </a:fld>
            <a:endParaRPr lang="en-US"/>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6.12 식사 기록 상세 조회·수정·삭제</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148</a:t>
            </a:fld>
            <a:endParaRPr lang="en-US"/>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상세 조회</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GET</a:t>
            </a:r>
            <a:pPr indent="0" marL="0">
              <a:spcAft>
                <a:spcPts val="800"/>
              </a:spcAft>
              <a:buNone/>
            </a:pPr>
            <a:r>
              <a:rPr lang="en-US" sz="1600" dirty="0">
                <a:solidFill>
                  <a:srgbClr val="4B5563"/>
                </a:solidFill>
              </a:rPr>
              <a:t>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/v1/me/meals/{mealEntryId}</a:t>
            </a:r>
            <a:endParaRPr lang="en-US" sz="1600" dirty="0"/>
          </a:p>
          <a:p>
            <a:pPr indent="0" marL="0">
              <a:spcAft>
                <a:spcPts val="800"/>
              </a:spcAft>
              <a:buNone/>
            </a:pPr>
            <a:r>
              <a:rPr lang="en-US" sz="1600" b="1" dirty="0">
                <a:solidFill>
                  <a:srgbClr val="4B5563"/>
                </a:solidFill>
              </a:rPr>
              <a:t>성공 응답 </a:t>
            </a:r>
            <a:pPr indent="0" marL="0">
              <a:spcAft>
                <a:spcPts val="800"/>
              </a:spcAft>
              <a:buNone/>
            </a:pPr>
            <a:r>
              <a:rPr lang="en-US" sz="1600" b="1" dirty="0">
                <a:solidFill>
                  <a:srgbClr val="4B5563"/>
                </a:solidFill>
                <a:latin typeface="Courier New" pitchFamily="34" charset="0"/>
                <a:ea typeface="Courier New" pitchFamily="34" charset="-122"/>
                <a:cs typeface="Courier New" pitchFamily="34" charset="-120"/>
              </a:rPr>
              <a:t>200 OK</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149</a:t>
            </a:fld>
            <a:endParaRPr lang="en-US"/>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상세 조회</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"success": true,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"data":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"id": "mei_0192d6be-8ef2-7362-9e89-6e6b5e63f310",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"consumedDate": "2026-10-01",</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"consumedAt":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"mealType": "lunch",</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"foodNameSnapshot": "집에서 만든 국",</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"quantityMultiplier": 1.0,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"nutrients":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"energyKcal":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"carbohydrateG":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"proteinG":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"fatG":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"nutrientSourceType": "none",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"createdAt": "2026-10-01T03:16:00Z",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"updatedAt": "2026-10-01T03:16:00Z"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"timestamp": "2026-10-01T03:20:00Z",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"requestId": "req_0192d6bf-4b49-7d59-9980-982e6b2a1e4d"</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150</a:t>
            </a:fld>
            <a:endParaRPr lang="en-US"/>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수정</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PATCH</a:t>
            </a:r>
            <a:pPr indent="0" marL="0">
              <a:spcAft>
                <a:spcPts val="800"/>
              </a:spcAft>
              <a:buNone/>
            </a:pPr>
            <a:r>
              <a:rPr lang="en-US" sz="1600" dirty="0">
                <a:solidFill>
                  <a:srgbClr val="4B5563"/>
                </a:solidFill>
              </a:rPr>
              <a:t>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/v1/me/meals/{mealEntryId}</a:t>
            </a:r>
            <a:endParaRPr lang="en-US" sz="1600" dirty="0"/>
          </a:p>
          <a:p>
            <a:pPr indent="0" marL="0">
              <a:spcAft>
                <a:spcPts val="800"/>
              </a:spcAft>
              <a:buNone/>
            </a:pPr>
            <a:r>
              <a:rPr lang="en-US" sz="1600" b="1" dirty="0">
                <a:solidFill>
                  <a:srgbClr val="4B5563"/>
                </a:solidFill>
              </a:rPr>
              <a:t>요청 본문 예시</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151</a:t>
            </a:fld>
            <a:endParaRPr lang="en-US"/>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수정</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"consumedDate": "2026-09-30",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"consumedAt": "2026-09-30T11:30:00+09:00",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"mealType": "dinner",</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"quantityMultiplier": 0.5</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152</a:t>
            </a:fld>
            <a:endParaRPr lang="en-US"/>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수정</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성공 응답 </a:t>
            </a:r>
            <a:pPr indent="0" marL="0">
              <a:spcAft>
                <a:spcPts val="800"/>
              </a:spcAft>
              <a:buNone/>
            </a:pPr>
            <a:r>
              <a:rPr lang="en-US" sz="1600" b="1" dirty="0">
                <a:solidFill>
                  <a:srgbClr val="4B5563"/>
                </a:solidFill>
                <a:latin typeface="Courier New" pitchFamily="34" charset="0"/>
                <a:ea typeface="Courier New" pitchFamily="34" charset="-122"/>
                <a:cs typeface="Courier New" pitchFamily="34" charset="-120"/>
              </a:rPr>
              <a:t>200 OK</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153</a:t>
            </a:fld>
            <a:endParaRPr lang="en-US"/>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수정</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"success": true,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"data":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"id": "mei_0192d6be-8ef2-7362-9e89-6e6b5e63f310",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"consumedDate": "2026-09-30",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"consumedAt": "2026-09-30T02:30:00Z",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"mealType": "dinner",</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"foodNameSnapshot": "집에서 만든 국",</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"quantityMultiplier": 0.5,</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"nutrients":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"energyKcal":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"carbohydrateG":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"proteinG":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"fatG":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"updatedAt": "2026-10-01T03:21:00Z"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"timestamp": "2026-10-01T03:21:00Z",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"requestId": "req_0192d6bf-943f-7773-9b8a-0f4a6c0d93be"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154</a:t>
            </a:fld>
            <a:endParaRPr lang="en-US"/>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수정</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수정 시 음식 마스터의 최신 정보로 영양값을 자동 갱신하지 않습니다. 사용자가 양을 바꾸면 기록 당시 스냅샷 값에 변경된 배수를 적용합니다. 음식 정보를 최신 값으로 갱신하는 기능은 MVP에 포함하지 않습니다.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155</a:t>
            </a:fld>
            <a:endParaRPr lang="en-US"/>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삭제</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DELETE</a:t>
            </a:r>
            <a:pPr indent="0" marL="0">
              <a:spcAft>
                <a:spcPts val="800"/>
              </a:spcAft>
              <a:buNone/>
            </a:pPr>
            <a:r>
              <a:rPr lang="en-US" sz="1600" dirty="0">
                <a:solidFill>
                  <a:srgbClr val="4B5563"/>
                </a:solidFill>
              </a:rPr>
              <a:t>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/v1/me/meals/{mealEntryId}</a:t>
            </a:r>
            <a:endParaRPr lang="en-US" sz="1600" dirty="0"/>
          </a:p>
          <a:p>
            <a:pPr indent="0" marL="0">
              <a:spcAft>
                <a:spcPts val="800"/>
              </a:spcAft>
              <a:buNone/>
            </a:pPr>
            <a:r>
              <a:rPr lang="en-US" sz="1600" b="1" dirty="0">
                <a:solidFill>
                  <a:srgbClr val="4B5563"/>
                </a:solidFill>
              </a:rPr>
              <a:t>성공 응답 </a:t>
            </a:r>
            <a:pPr indent="0" marL="0">
              <a:spcAft>
                <a:spcPts val="800"/>
              </a:spcAft>
              <a:buNone/>
            </a:pPr>
            <a:r>
              <a:rPr lang="en-US" sz="1600" b="1" dirty="0">
                <a:solidFill>
                  <a:srgbClr val="4B5563"/>
                </a:solidFill>
                <a:latin typeface="Courier New" pitchFamily="34" charset="0"/>
                <a:ea typeface="Courier New" pitchFamily="34" charset="-122"/>
                <a:cs typeface="Courier New" pitchFamily="34" charset="-120"/>
              </a:rPr>
              <a:t>204 No Content</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156</a:t>
            </a:fld>
            <a:endParaRPr lang="en-US"/>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삭제</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15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3263462"/>
                <a:gridCol w="4966138"/>
              </a:tblGrid>
              <a:tr h="0">
                <a:tc>
                  <a:txBody>
                    <a:bodyPr/>
                    <a:lstStyle/>
                    <a:p>
                      <a:pPr indent="0" marL="0">
                        <a:buNone/>
                      </a:pPr>
                      <a:r>
                        <a:rPr lang="en-US" sz="1200" b="1" dirty="0">
                          <a:solidFill>
                            <a:srgbClr val="FFFFFF"/>
                          </a:solidFill>
                        </a:rPr>
                        <a:t>사례</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처리</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사용자 </a:t>
                      </a:r>
                      <a:pPr indent="0" marL="0">
                        <a:buNone/>
                      </a:pPr>
                      <a:r>
                        <a:rPr lang="en-US" sz="1100" dirty="0">
                          <a:solidFill>
                            <a:srgbClr val="1F2937"/>
                          </a:solidFill>
                        </a:rPr>
                        <a:t>소유 </a:t>
                      </a:r>
                      <a:pPr indent="0" marL="0">
                        <a:buNone/>
                      </a:pPr>
                      <a:r>
                        <a:rPr lang="en-US" sz="1100" dirty="0">
                          <a:solidFill>
                            <a:srgbClr val="1F2937"/>
                          </a:solidFill>
                        </a:rPr>
                        <a:t>항목 </a:t>
                      </a:r>
                      <a:pPr indent="0" marL="0">
                        <a:buNone/>
                      </a:pPr>
                      <a:r>
                        <a:rPr lang="en-US" sz="1100" dirty="0">
                          <a:solidFill>
                            <a:srgbClr val="1F2937"/>
                          </a:solidFill>
                        </a:rPr>
                        <a:t>조회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200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존재하지 </a:t>
                      </a:r>
                      <a:pPr indent="0" marL="0">
                        <a:buNone/>
                      </a:pPr>
                      <a:r>
                        <a:rPr lang="en-US" sz="1100" dirty="0">
                          <a:solidFill>
                            <a:srgbClr val="1F2937"/>
                          </a:solidFill>
                        </a:rPr>
                        <a:t>않거나 </a:t>
                      </a:r>
                      <a:pPr indent="0" marL="0">
                        <a:buNone/>
                      </a:pPr>
                      <a:r>
                        <a:rPr lang="en-US" sz="1100" dirty="0">
                          <a:solidFill>
                            <a:srgbClr val="1F2937"/>
                          </a:solidFill>
                        </a:rPr>
                        <a:t>타인 </a:t>
                      </a:r>
                      <a:pPr indent="0" marL="0">
                        <a:buNone/>
                      </a:pPr>
                      <a:r>
                        <a:rPr lang="en-US" sz="1100" dirty="0">
                          <a:solidFill>
                            <a:srgbClr val="1F2937"/>
                          </a:solidFill>
                        </a:rPr>
                        <a:t>소유 </a:t>
                      </a:r>
                      <a:pPr indent="0" marL="0">
                        <a:buNone/>
                      </a:pPr>
                      <a:r>
                        <a:rPr lang="en-US" sz="1100" dirty="0">
                          <a:solidFill>
                            <a:srgbClr val="1F2937"/>
                          </a:solidFill>
                        </a:rPr>
                        <a:t>항목 </a:t>
                      </a:r>
                      <a:pPr indent="0" marL="0">
                        <a:buNone/>
                      </a:pPr>
                      <a:r>
                        <a:rPr lang="en-US" sz="1100" dirty="0">
                          <a:solidFill>
                            <a:srgbClr val="1F2937"/>
                          </a:solidFill>
                        </a:rPr>
                        <a:t>조회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404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유효한 </a:t>
                      </a:r>
                      <a:pPr indent="0" marL="0">
                        <a:buNone/>
                      </a:pPr>
                      <a:r>
                        <a:rPr lang="en-US" sz="1100" dirty="0">
                          <a:solidFill>
                            <a:srgbClr val="1F2937"/>
                          </a:solidFill>
                        </a:rPr>
                        <a:t>수정 </a:t>
                      </a:r>
                      <a:pPr indent="0" marL="0">
                        <a:buNone/>
                      </a:pPr>
                      <a:r>
                        <a:rPr lang="en-US" sz="1100" dirty="0">
                          <a:solidFill>
                            <a:srgbClr val="1F2937"/>
                          </a:solidFill>
                        </a:rPr>
                        <a:t>요청</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200</a:t>
                      </a:r>
                      <a:pPr indent="0" marL="0">
                        <a:buNone/>
                      </a:pPr>
                      <a:r>
                        <a:rPr lang="en-US" sz="1100" dirty="0">
                          <a:solidFill>
                            <a:srgbClr val="1F2937"/>
                          </a:solidFill>
                        </a:rPr>
                        <a:t>, </a:t>
                      </a:r>
                      <a:pPr indent="0" marL="0">
                        <a:buNone/>
                      </a:pPr>
                      <a:r>
                        <a:rPr lang="en-US" sz="1100" dirty="0">
                          <a:solidFill>
                            <a:srgbClr val="1F2937"/>
                          </a:solidFill>
                        </a:rPr>
                        <a:t>허용된 </a:t>
                      </a:r>
                      <a:pPr indent="0" marL="0">
                        <a:buNone/>
                      </a:pPr>
                      <a:r>
                        <a:rPr lang="en-US" sz="1100" dirty="0">
                          <a:solidFill>
                            <a:srgbClr val="1F2937"/>
                          </a:solidFill>
                        </a:rPr>
                        <a:t>필드만 </a:t>
                      </a:r>
                      <a:pPr indent="0" marL="0">
                        <a:buNone/>
                      </a:pPr>
                      <a:r>
                        <a:rPr lang="en-US" sz="1100" dirty="0">
                          <a:solidFill>
                            <a:srgbClr val="1F2937"/>
                          </a:solidFill>
                        </a:rPr>
                        <a:t>변경</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미래 </a:t>
                      </a:r>
                      <a:pPr indent="0" marL="0">
                        <a:buNone/>
                      </a:pPr>
                      <a:r>
                        <a:rPr lang="en-US" sz="1100" dirty="0">
                          <a:solidFill>
                            <a:srgbClr val="1F2937"/>
                          </a:solidFill>
                        </a:rPr>
                        <a:t>날짜·잘못된 </a:t>
                      </a:r>
                      <a:pPr indent="0" marL="0">
                        <a:buNone/>
                      </a:pPr>
                      <a:r>
                        <a:rPr lang="en-US" sz="1100" dirty="0">
                          <a:solidFill>
                            <a:srgbClr val="1F2937"/>
                          </a:solidFill>
                        </a:rPr>
                        <a:t>식사 </a:t>
                      </a:r>
                      <a:pPr indent="0" marL="0">
                        <a:buNone/>
                      </a:pPr>
                      <a:r>
                        <a:rPr lang="en-US" sz="1100" dirty="0">
                          <a:solidFill>
                            <a:srgbClr val="1F2937"/>
                          </a:solidFill>
                        </a:rPr>
                        <a:t>구분·0 </a:t>
                      </a:r>
                      <a:pPr indent="0" marL="0">
                        <a:buNone/>
                      </a:pPr>
                      <a:r>
                        <a:rPr lang="en-US" sz="1100" dirty="0">
                          <a:solidFill>
                            <a:srgbClr val="1F2937"/>
                          </a:solidFill>
                        </a:rPr>
                        <a:t>이하 </a:t>
                      </a:r>
                      <a:pPr indent="0" marL="0">
                        <a:buNone/>
                      </a:pPr>
                      <a:r>
                        <a:rPr lang="en-US" sz="1100" dirty="0">
                          <a:solidFill>
                            <a:srgbClr val="1F2937"/>
                          </a:solidFill>
                        </a:rPr>
                        <a:t>배수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422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수정 </a:t>
                      </a:r>
                      <a:pPr indent="0" marL="0">
                        <a:buNone/>
                      </a:pPr>
                      <a:r>
                        <a:rPr lang="en-US" sz="1100" dirty="0">
                          <a:solidFill>
                            <a:srgbClr val="1F2937"/>
                          </a:solidFill>
                        </a:rPr>
                        <a:t>대상이 </a:t>
                      </a:r>
                      <a:pPr indent="0" marL="0">
                        <a:buNone/>
                      </a:pPr>
                      <a:r>
                        <a:rPr lang="en-US" sz="1100" dirty="0">
                          <a:solidFill>
                            <a:srgbClr val="1F2937"/>
                          </a:solidFill>
                        </a:rPr>
                        <a:t>타인 </a:t>
                      </a:r>
                      <a:pPr indent="0" marL="0">
                        <a:buNone/>
                      </a:pPr>
                      <a:r>
                        <a:rPr lang="en-US" sz="1100" dirty="0">
                          <a:solidFill>
                            <a:srgbClr val="1F2937"/>
                          </a:solidFill>
                        </a:rPr>
                        <a:t>소유 </a:t>
                      </a:r>
                      <a:pPr indent="0" marL="0">
                        <a:buNone/>
                      </a:pPr>
                      <a:r>
                        <a:rPr lang="en-US" sz="1100" dirty="0">
                          <a:solidFill>
                            <a:srgbClr val="1F2937"/>
                          </a:solidFill>
                        </a:rPr>
                        <a:t>항목</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404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삭제 </a:t>
                      </a:r>
                      <a:pPr indent="0" marL="0">
                        <a:buNone/>
                      </a:pPr>
                      <a:r>
                        <a:rPr lang="en-US" sz="1100" dirty="0">
                          <a:solidFill>
                            <a:srgbClr val="1F2937"/>
                          </a:solidFill>
                        </a:rPr>
                        <a:t>성공</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204</a:t>
                      </a:r>
                      <a:pPr indent="0" marL="0">
                        <a:buNone/>
                      </a:pPr>
                      <a:r>
                        <a:rPr lang="en-US" sz="1100" dirty="0">
                          <a:solidFill>
                            <a:srgbClr val="1F2937"/>
                          </a:solidFill>
                        </a:rPr>
                        <a:t>, </a:t>
                      </a:r>
                      <a:pPr indent="0" marL="0">
                        <a:buNone/>
                      </a:pPr>
                      <a:r>
                        <a:rPr lang="en-US" sz="1100" dirty="0">
                          <a:solidFill>
                            <a:srgbClr val="1F2937"/>
                          </a:solidFill>
                        </a:rPr>
                        <a:t>홈·리포트는 </a:t>
                      </a:r>
                      <a:pPr indent="0" marL="0">
                        <a:buNone/>
                      </a:pPr>
                      <a:r>
                        <a:rPr lang="en-US" sz="1100" dirty="0">
                          <a:solidFill>
                            <a:srgbClr val="1F2937"/>
                          </a:solidFill>
                        </a:rPr>
                        <a:t>다음 </a:t>
                      </a:r>
                      <a:pPr indent="0" marL="0">
                        <a:buNone/>
                      </a:pPr>
                      <a:r>
                        <a:rPr lang="en-US" sz="1100" dirty="0">
                          <a:solidFill>
                            <a:srgbClr val="1F2937"/>
                          </a:solidFill>
                        </a:rPr>
                        <a:t>조회에서 </a:t>
                      </a:r>
                      <a:pPr indent="0" marL="0">
                        <a:buNone/>
                      </a:pPr>
                      <a:r>
                        <a:rPr lang="en-US" sz="1100" dirty="0">
                          <a:solidFill>
                            <a:srgbClr val="1F2937"/>
                          </a:solidFill>
                        </a:rPr>
                        <a:t>최신 </a:t>
                      </a:r>
                      <a:pPr indent="0" marL="0">
                        <a:buNone/>
                      </a:pPr>
                      <a:r>
                        <a:rPr lang="en-US" sz="1100" dirty="0">
                          <a:solidFill>
                            <a:srgbClr val="1F2937"/>
                          </a:solidFill>
                        </a:rPr>
                        <a:t>자료로 </a:t>
                      </a:r>
                      <a:pPr indent="0" marL="0">
                        <a:buNone/>
                      </a:pPr>
                      <a:r>
                        <a:rPr lang="en-US" sz="1100" dirty="0">
                          <a:solidFill>
                            <a:srgbClr val="1F2937"/>
                          </a:solidFill>
                        </a:rPr>
                        <a:t>계산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이미 </a:t>
                      </a:r>
                      <a:pPr indent="0" marL="0">
                        <a:buNone/>
                      </a:pPr>
                      <a:r>
                        <a:rPr lang="en-US" sz="1100" dirty="0">
                          <a:solidFill>
                            <a:srgbClr val="1F2937"/>
                          </a:solidFill>
                        </a:rPr>
                        <a:t>삭제된 </a:t>
                      </a:r>
                      <a:pPr indent="0" marL="0">
                        <a:buNone/>
                      </a:pPr>
                      <a:r>
                        <a:rPr lang="en-US" sz="1100" dirty="0">
                          <a:solidFill>
                            <a:srgbClr val="1F2937"/>
                          </a:solidFill>
                        </a:rPr>
                        <a:t>항목</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404</a:t>
                      </a:r>
                      <a:pPr indent="0" marL="0">
                        <a:buNone/>
                      </a:pPr>
                      <a:r>
                        <a:rPr lang="en-US" sz="1100" dirty="0">
                          <a:solidFill>
                            <a:srgbClr val="1F2937"/>
                          </a:solidFill>
                        </a:rPr>
                        <a:t>또는 </a:t>
                      </a:r>
                      <a:pPr indent="0" marL="0">
                        <a:buNone/>
                      </a:pPr>
                      <a:r>
                        <a:rPr lang="en-US" sz="1100" dirty="0">
                          <a:solidFill>
                            <a:srgbClr val="1F2937"/>
                          </a:solidFill>
                        </a:rPr>
                        <a:t>반복 </a:t>
                      </a:r>
                      <a:pPr indent="0" marL="0">
                        <a:buNone/>
                      </a:pPr>
                      <a:r>
                        <a:rPr lang="en-US" sz="1100" dirty="0">
                          <a:solidFill>
                            <a:srgbClr val="1F2937"/>
                          </a:solidFill>
                        </a:rPr>
                        <a:t>삭제 </a:t>
                      </a:r>
                      <a:pPr indent="0" marL="0">
                        <a:buNone/>
                      </a:pPr>
                      <a:r>
                        <a:rPr lang="en-US" sz="1100" dirty="0">
                          <a:solidFill>
                            <a:srgbClr val="1F2937"/>
                          </a:solidFill>
                        </a:rPr>
                        <a:t>성공 </a:t>
                      </a:r>
                      <a:pPr indent="0" marL="0">
                        <a:buNone/>
                      </a:pPr>
                      <a:r>
                        <a:rPr lang="en-US" sz="1100" dirty="0">
                          <a:solidFill>
                            <a:srgbClr val="1F2937"/>
                          </a:solidFill>
                        </a:rPr>
                        <a:t>처리 </a:t>
                      </a:r>
                      <a:pPr indent="0" marL="0">
                        <a:buNone/>
                      </a:pPr>
                      <a:r>
                        <a:rPr lang="en-US" sz="1100" dirty="0">
                          <a:solidFill>
                            <a:srgbClr val="1F2937"/>
                          </a:solidFill>
                        </a:rPr>
                        <a:t>중 </a:t>
                      </a:r>
                      <a:pPr indent="0" marL="0">
                        <a:buNone/>
                      </a:pPr>
                      <a:r>
                        <a:rPr lang="en-US" sz="1100" dirty="0">
                          <a:solidFill>
                            <a:srgbClr val="1F2937"/>
                          </a:solidFill>
                        </a:rPr>
                        <a:t>하나로 </a:t>
                      </a:r>
                      <a:pPr indent="0" marL="0">
                        <a:buNone/>
                      </a:pPr>
                      <a:r>
                        <a:rPr lang="en-US" sz="1100" dirty="0">
                          <a:solidFill>
                            <a:srgbClr val="1F2937"/>
                          </a:solidFill>
                        </a:rPr>
                        <a:t>정책 </a:t>
                      </a:r>
                      <a:pPr indent="0" marL="0">
                        <a:buNone/>
                      </a:pPr>
                      <a:r>
                        <a:rPr lang="en-US" sz="1100" dirty="0">
                          <a:solidFill>
                            <a:srgbClr val="1F2937"/>
                          </a:solidFill>
                        </a:rPr>
                        <a:t>확정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157</a:t>
            </a:fld>
            <a:endParaRPr lang="en-US"/>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삭제</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수정·삭제 후 리포트 캐시를 사용하는 경우 무효화해야 합니다. MVP 기본은 리포트 화면 진입 시 다시 계산하는 방향입니다.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158</a:t>
            </a:fld>
            <a:endParaRPr lang="en-US"/>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6.13 주간 리포트 조회</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GET</a:t>
            </a:r>
            <a:pPr indent="0" marL="0">
              <a:spcAft>
                <a:spcPts val="800"/>
              </a:spcAft>
              <a:buNone/>
            </a:pPr>
            <a:r>
              <a:rPr lang="en-US" sz="1600" dirty="0">
                <a:solidFill>
                  <a:srgbClr val="4B5563"/>
                </a:solidFill>
              </a:rPr>
              <a:t>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/v1/me/reports/weekly</a:t>
            </a:r>
            <a:endParaRPr lang="en-US" sz="1600" dirty="0"/>
          </a:p>
          <a:p>
            <a:pPr indent="0" marL="0">
              <a:spcAft>
                <a:spcPts val="800"/>
              </a:spcAft>
              <a:buNone/>
            </a:pPr>
            <a:r>
              <a:rPr lang="en-US" sz="1600" dirty="0">
                <a:solidFill>
                  <a:srgbClr val="4B5563"/>
                </a:solidFill>
              </a:rPr>
              <a:t>MVP는 한국 시간 기준 월요일부터 일요일까지의 </a:t>
            </a:r>
            <a:pPr indent="0" marL="0">
              <a:spcAft>
                <a:spcPts val="800"/>
              </a:spcAft>
              <a:buNone/>
            </a:pPr>
            <a:r>
              <a:rPr lang="en-US" sz="1600" b="1" dirty="0">
                <a:solidFill>
                  <a:srgbClr val="4B5563"/>
                </a:solidFill>
              </a:rPr>
              <a:t>완료된 지난주</a:t>
            </a:r>
            <a:pPr indent="0" marL="0">
              <a:spcAft>
                <a:spcPts val="800"/>
              </a:spcAft>
              <a:buNone/>
            </a:pPr>
            <a:r>
              <a:rPr lang="en-US" sz="1600" dirty="0">
                <a:solidFill>
                  <a:srgbClr val="4B5563"/>
                </a:solidFill>
              </a:rPr>
              <a:t>를 제공합니다. 리포트는 사용자가 열 때 서버에서 기록 당시 영양값을 기준으로 계산합니다. 기록이 없는 날은 0으로 계산하지 않습니다.</a:t>
            </a:r>
            <a:endParaRPr lang="en-US" sz="1600" dirty="0"/>
          </a:p>
          <a:p>
            <a:pPr indent="0" marL="0">
              <a:spcAft>
                <a:spcPts val="800"/>
              </a:spcAft>
              <a:buNone/>
            </a:pPr>
            <a:r>
              <a:rPr lang="en-US" sz="1600" b="1" dirty="0">
                <a:solidFill>
                  <a:srgbClr val="4B5563"/>
                </a:solidFill>
              </a:rPr>
              <a:t>쿼리 매개변수</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159</a:t>
            </a:fld>
            <a:endParaRPr lang="en-US"/>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6.13 주간 리포트 조회</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161"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534332"/>
                <a:gridCol w="836908"/>
                <a:gridCol w="836908"/>
                <a:gridCol w="5021451"/>
              </a:tblGrid>
              <a:tr h="0">
                <a:tc>
                  <a:txBody>
                    <a:bodyPr/>
                    <a:lstStyle/>
                    <a:p>
                      <a:pPr indent="0" marL="0">
                        <a:buNone/>
                      </a:pPr>
                      <a:r>
                        <a:rPr lang="en-US" sz="1200" b="1" dirty="0">
                          <a:solidFill>
                            <a:srgbClr val="FFFFFF"/>
                          </a:solidFill>
                        </a:rPr>
                        <a:t>매개변수</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형식</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필수</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설명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weekStart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날짜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아니요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조회할 </a:t>
                      </a:r>
                      <a:pPr indent="0" marL="0">
                        <a:buNone/>
                      </a:pPr>
                      <a:r>
                        <a:rPr lang="en-US" sz="1100" dirty="0">
                          <a:solidFill>
                            <a:srgbClr val="1F2937"/>
                          </a:solidFill>
                        </a:rPr>
                        <a:t>주의 </a:t>
                      </a:r>
                      <a:pPr indent="0" marL="0">
                        <a:buNone/>
                      </a:pPr>
                      <a:r>
                        <a:rPr lang="en-US" sz="1100" dirty="0">
                          <a:solidFill>
                            <a:srgbClr val="1F2937"/>
                          </a:solidFill>
                        </a:rPr>
                        <a:t>월요일. </a:t>
                      </a:r>
                      <a:pPr indent="0" marL="0">
                        <a:buNone/>
                      </a:pPr>
                      <a:r>
                        <a:rPr lang="en-US" sz="1100" dirty="0">
                          <a:solidFill>
                            <a:srgbClr val="1F2937"/>
                          </a:solidFill>
                        </a:rPr>
                        <a:t>미입력 </a:t>
                      </a:r>
                      <a:pPr indent="0" marL="0">
                        <a:buNone/>
                      </a:pPr>
                      <a:r>
                        <a:rPr lang="en-US" sz="1100" dirty="0">
                          <a:solidFill>
                            <a:srgbClr val="1F2937"/>
                          </a:solidFill>
                        </a:rPr>
                        <a:t>시 </a:t>
                      </a:r>
                      <a:pPr indent="0" marL="0">
                        <a:buNone/>
                      </a:pPr>
                      <a:r>
                        <a:rPr lang="en-US" sz="1100" dirty="0">
                          <a:solidFill>
                            <a:srgbClr val="1F2937"/>
                          </a:solidFill>
                        </a:rPr>
                        <a:t>완료된 </a:t>
                      </a:r>
                      <a:pPr indent="0" marL="0">
                        <a:buNone/>
                      </a:pPr>
                      <a:r>
                        <a:rPr lang="en-US" sz="1100" dirty="0">
                          <a:solidFill>
                            <a:srgbClr val="1F2937"/>
                          </a:solidFill>
                        </a:rPr>
                        <a:t>지난주를 </a:t>
                      </a:r>
                      <a:pPr indent="0" marL="0">
                        <a:buNone/>
                      </a:pPr>
                      <a:r>
                        <a:rPr lang="en-US" sz="1100" dirty="0">
                          <a:solidFill>
                            <a:srgbClr val="1F2937"/>
                          </a:solidFill>
                        </a:rPr>
                        <a:t>선택하는 </a:t>
                      </a:r>
                      <a:pPr indent="0" marL="0">
                        <a:buNone/>
                      </a:pPr>
                      <a:r>
                        <a:rPr lang="en-US" sz="1100" dirty="0">
                          <a:solidFill>
                            <a:srgbClr val="1F2937"/>
                          </a:solidFill>
                        </a:rPr>
                        <a:t>방식 </a:t>
                      </a:r>
                      <a:pPr indent="0" marL="0">
                        <a:buNone/>
                      </a:pPr>
                      <a:r>
                        <a:rPr lang="en-US" sz="1100" dirty="0">
                          <a:solidFill>
                            <a:srgbClr val="1F2937"/>
                          </a:solidFill>
                        </a:rPr>
                        <a:t>제안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timezone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문자열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아니요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기본은 </a:t>
                      </a:r>
                      <a:pPr indent="0" marL="0">
                        <a:buNone/>
                      </a:pPr>
                      <a:r>
                        <a:rPr lang="en-US" sz="1100" dirty="0">
                          <a:solidFill>
                            <a:srgbClr val="1F2937"/>
                          </a:solidFill>
                        </a:rPr>
                        <a:t>프로필 </a:t>
                      </a:r>
                      <a:pPr indent="0" marL="0">
                        <a:buNone/>
                      </a:pPr>
                      <a:r>
                        <a:rPr lang="en-US" sz="1100" dirty="0">
                          <a:solidFill>
                            <a:srgbClr val="1F2937"/>
                          </a:solidFill>
                        </a:rPr>
                        <a:t>시간대. </a:t>
                      </a:r>
                      <a:pPr indent="0" marL="0">
                        <a:buNone/>
                      </a:pPr>
                      <a:r>
                        <a:rPr lang="en-US" sz="1100" dirty="0">
                          <a:solidFill>
                            <a:srgbClr val="1F2937"/>
                          </a:solidFill>
                        </a:rPr>
                        <a:t>MVP </a:t>
                      </a:r>
                      <a:pPr indent="0" marL="0">
                        <a:buNone/>
                      </a:pPr>
                      <a:r>
                        <a:rPr lang="en-US" sz="1100" dirty="0">
                          <a:solidFill>
                            <a:srgbClr val="1F2937"/>
                          </a:solidFill>
                        </a:rPr>
                        <a:t>한국 </a:t>
                      </a:r>
                      <a:pPr indent="0" marL="0">
                        <a:buNone/>
                      </a:pPr>
                      <a:r>
                        <a:rPr lang="en-US" sz="1100" dirty="0">
                          <a:solidFill>
                            <a:srgbClr val="1F2937"/>
                          </a:solidFill>
                        </a:rPr>
                        <a:t>기준 </a:t>
                      </a:r>
                      <a:pPr indent="0" marL="0">
                        <a:buNone/>
                      </a:pPr>
                      <a:r>
                        <a:rPr lang="en-US" sz="1100" dirty="0">
                          <a:solidFill>
                            <a:srgbClr val="1F2937"/>
                          </a:solidFill>
                        </a:rPr>
                        <a:t>정책의 </a:t>
                      </a:r>
                      <a:pPr indent="0" marL="0">
                        <a:buNone/>
                      </a:pPr>
                      <a:r>
                        <a:rPr lang="en-US" sz="1100" dirty="0">
                          <a:solidFill>
                            <a:srgbClr val="1F2937"/>
                          </a:solidFill>
                        </a:rPr>
                        <a:t>최종 </a:t>
                      </a:r>
                      <a:pPr indent="0" marL="0">
                        <a:buNone/>
                      </a:pPr>
                      <a:r>
                        <a:rPr lang="en-US" sz="1100" dirty="0">
                          <a:solidFill>
                            <a:srgbClr val="1F2937"/>
                          </a:solidFill>
                        </a:rPr>
                        <a:t>적용 </a:t>
                      </a:r>
                      <a:pPr indent="0" marL="0">
                        <a:buNone/>
                      </a:pPr>
                      <a:r>
                        <a:rPr lang="en-US" sz="1100" dirty="0">
                          <a:solidFill>
                            <a:srgbClr val="1F2937"/>
                          </a:solidFill>
                        </a:rPr>
                        <a:t>범위 </a:t>
                      </a:r>
                      <a:pPr indent="0" marL="0">
                        <a:buNone/>
                      </a:pPr>
                      <a:r>
                        <a:rPr lang="en-US" sz="1100" dirty="0">
                          <a:solidFill>
                            <a:srgbClr val="1F2937"/>
                          </a:solidFill>
                        </a:rPr>
                        <a:t>확인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160</a:t>
            </a:fld>
            <a:endParaRPr lang="en-US"/>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6.13 주간 리포트 조회</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요청 예시</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161</a:t>
            </a:fld>
            <a:endParaRPr lang="en-US"/>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6.13 주간 리포트 조회</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GET /v1/me/reports/weekly?weekStart=2026-09-21 HTTP/1.1</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Host: api.example.com</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Authorization: Bearer &lt;접근_토큰&gt;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Accept: application/json</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162</a:t>
            </a:fld>
            <a:endParaRPr lang="en-US"/>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6.13 주간 리포트 조회</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성공 응답 </a:t>
            </a:r>
            <a:pPr indent="0" marL="0">
              <a:spcAft>
                <a:spcPts val="800"/>
              </a:spcAft>
              <a:buNone/>
            </a:pPr>
            <a:r>
              <a:rPr lang="en-US" sz="1600" b="1" dirty="0">
                <a:solidFill>
                  <a:srgbClr val="4B5563"/>
                </a:solidFill>
                <a:latin typeface="Courier New" pitchFamily="34" charset="0"/>
                <a:ea typeface="Courier New" pitchFamily="34" charset="-122"/>
                <a:cs typeface="Courier New" pitchFamily="34" charset="-120"/>
              </a:rPr>
              <a:t>200 OK</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163</a:t>
            </a:fld>
            <a:endParaRPr lang="en-US"/>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6.13 주간 리포트 조회 (1/3)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"success": true,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"data":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"period":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"startDate": "2026-09-21",</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"endDate": "2026-09-27",</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"timezone": "Asia/Seoul"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"recordedDayCount": 4,</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"unrecordedDayCount": 3,</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"averageOnRecordedDays":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"energyKcal": 1720,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"carbohydrateG": 190,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"proteinG": 82,</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"fatG": 58</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"goalComparison":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"available": true,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"dailyEnergyKcalGoal": 1800,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"averageOnRecordedDaysKcal": 1720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"mealPattern":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"mostRecordedMealType": "lunch",</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"recordCountsByMealType":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"breakfast": 2,</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"lunch": 4,</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"dinner": 3,</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"snack": 1</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164</a:t>
            </a:fld>
            <a:endParaRPr lang="en-US"/>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6.13 주간 리포트 조회 (2/3)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"days":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"date": "2026-09-21",</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"hasRecords": true,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"entryCount": 3,</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"nutrients":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"energyKcal": 1680,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"carbohydrateG": 180,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"proteinG": 85,</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"fatG": 52</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"hasMissingNutrients": true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"date": "2026-09-22",</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"hasRecords": false,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"entryCount": 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"nutrients":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"energyKcal":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"carbohydrateG":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"proteinG":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"fatG":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"hasMissingNutrients": false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165</a:t>
            </a:fld>
            <a:endParaRPr lang="en-US"/>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6.13 주간 리포트 조회 (3/3)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    "notice": "기록된 내용 기준이며, 일부 음식 정보가 없어 영양소별 합계가 다를 수 있어요."</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"timestamp": "2026-10-01T03:30:00Z",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"requestId": "req_0192d6c0-d555-78c0-825c-cf4d5f8e67d7"</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166</a:t>
            </a:fld>
            <a:endParaRPr lang="en-US"/>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6.13 주간 리포트 조회</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응답 수치는 형식 설명용 예시입니다. 실제 리포트는 기록 자료에서 계산합니다.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167</a:t>
            </a:fld>
            <a:endParaRPr lang="en-US"/>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6.13 주간 리포트 조회</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169"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532185"/>
                <a:gridCol w="5697415"/>
              </a:tblGrid>
              <a:tr h="0">
                <a:tc>
                  <a:txBody>
                    <a:bodyPr/>
                    <a:lstStyle/>
                    <a:p>
                      <a:pPr indent="0" marL="0">
                        <a:buNone/>
                      </a:pPr>
                      <a:r>
                        <a:rPr lang="en-US" sz="1200" b="1" dirty="0">
                          <a:solidFill>
                            <a:srgbClr val="FFFFFF"/>
                          </a:solidFill>
                        </a:rPr>
                        <a:t>사례</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처리</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주간 </a:t>
                      </a:r>
                      <a:pPr indent="0" marL="0">
                        <a:buNone/>
                      </a:pPr>
                      <a:r>
                        <a:rPr lang="en-US" sz="1100" dirty="0">
                          <a:solidFill>
                            <a:srgbClr val="1F2937"/>
                          </a:solidFill>
                        </a:rPr>
                        <a:t>기록이 </a:t>
                      </a:r>
                      <a:pPr indent="0" marL="0">
                        <a:buNone/>
                      </a:pPr>
                      <a:r>
                        <a:rPr lang="en-US" sz="1100" dirty="0">
                          <a:solidFill>
                            <a:srgbClr val="1F2937"/>
                          </a:solidFill>
                        </a:rPr>
                        <a:t>있음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기록 </a:t>
                      </a:r>
                      <a:pPr indent="0" marL="0">
                        <a:buNone/>
                      </a:pPr>
                      <a:r>
                        <a:rPr lang="en-US" sz="1100" dirty="0">
                          <a:solidFill>
                            <a:srgbClr val="1F2937"/>
                          </a:solidFill>
                        </a:rPr>
                        <a:t>일수, </a:t>
                      </a:r>
                      <a:pPr indent="0" marL="0">
                        <a:buNone/>
                      </a:pPr>
                      <a:r>
                        <a:rPr lang="en-US" sz="1100" dirty="0">
                          <a:solidFill>
                            <a:srgbClr val="1F2937"/>
                          </a:solidFill>
                        </a:rPr>
                        <a:t>기록한 </a:t>
                      </a:r>
                      <a:pPr indent="0" marL="0">
                        <a:buNone/>
                      </a:pPr>
                      <a:r>
                        <a:rPr lang="en-US" sz="1100" dirty="0">
                          <a:solidFill>
                            <a:srgbClr val="1F2937"/>
                          </a:solidFill>
                        </a:rPr>
                        <a:t>날 </a:t>
                      </a:r>
                      <a:pPr indent="0" marL="0">
                        <a:buNone/>
                      </a:pPr>
                      <a:r>
                        <a:rPr lang="en-US" sz="1100" dirty="0">
                          <a:solidFill>
                            <a:srgbClr val="1F2937"/>
                          </a:solidFill>
                        </a:rPr>
                        <a:t>기준 </a:t>
                      </a:r>
                      <a:pPr indent="0" marL="0">
                        <a:buNone/>
                      </a:pPr>
                      <a:r>
                        <a:rPr lang="en-US" sz="1100" dirty="0">
                          <a:solidFill>
                            <a:srgbClr val="1F2937"/>
                          </a:solidFill>
                        </a:rPr>
                        <a:t>평균, </a:t>
                      </a:r>
                      <a:pPr indent="0" marL="0">
                        <a:buNone/>
                      </a:pPr>
                      <a:r>
                        <a:rPr lang="en-US" sz="1100" dirty="0">
                          <a:solidFill>
                            <a:srgbClr val="1F2937"/>
                          </a:solidFill>
                        </a:rPr>
                        <a:t>끼니 </a:t>
                      </a:r>
                      <a:pPr indent="0" marL="0">
                        <a:buNone/>
                      </a:pPr>
                      <a:r>
                        <a:rPr lang="en-US" sz="1100" dirty="0">
                          <a:solidFill>
                            <a:srgbClr val="1F2937"/>
                          </a:solidFill>
                        </a:rPr>
                        <a:t>패턴 </a:t>
                      </a:r>
                      <a:pPr indent="0" marL="0">
                        <a:buNone/>
                      </a:pPr>
                      <a:r>
                        <a:rPr lang="en-US" sz="1100" dirty="0">
                          <a:solidFill>
                            <a:srgbClr val="1F2937"/>
                          </a:solidFill>
                        </a:rPr>
                        <a:t>반환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기록이 </a:t>
                      </a:r>
                      <a:pPr indent="0" marL="0">
                        <a:buNone/>
                      </a:pPr>
                      <a:r>
                        <a:rPr lang="en-US" sz="1100" dirty="0">
                          <a:solidFill>
                            <a:srgbClr val="1F2937"/>
                          </a:solidFill>
                        </a:rPr>
                        <a:t>전혀 </a:t>
                      </a:r>
                      <a:pPr indent="0" marL="0">
                        <a:buNone/>
                      </a:pPr>
                      <a:r>
                        <a:rPr lang="en-US" sz="1100" dirty="0">
                          <a:solidFill>
                            <a:srgbClr val="1F2937"/>
                          </a:solidFill>
                        </a:rPr>
                        <a:t>없음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빈 </a:t>
                      </a:r>
                      <a:pPr indent="0" marL="0">
                        <a:buNone/>
                      </a:pPr>
                      <a:r>
                        <a:rPr lang="en-US" sz="1100" dirty="0">
                          <a:solidFill>
                            <a:srgbClr val="1F2937"/>
                          </a:solidFill>
                        </a:rPr>
                        <a:t>상태 </a:t>
                      </a:r>
                      <a:pPr indent="0" marL="0">
                        <a:buNone/>
                      </a:pPr>
                      <a:r>
                        <a:rPr lang="en-US" sz="1100" dirty="0">
                          <a:solidFill>
                            <a:srgbClr val="1F2937"/>
                          </a:solidFill>
                        </a:rPr>
                        <a:t>자료 </a:t>
                      </a:r>
                      <a:pPr indent="0" marL="0">
                        <a:buNone/>
                      </a:pPr>
                      <a:r>
                        <a:rPr lang="en-US" sz="1100" dirty="0">
                          <a:solidFill>
                            <a:srgbClr val="1F2937"/>
                          </a:solidFill>
                        </a:rPr>
                        <a:t>반환. </a:t>
                      </a:r>
                      <a:pPr indent="0" marL="0">
                        <a:buNone/>
                      </a:pPr>
                      <a:r>
                        <a:rPr lang="en-US" sz="1100" dirty="0">
                          <a:solidFill>
                            <a:srgbClr val="1F2937"/>
                          </a:solidFill>
                        </a:rPr>
                        <a:t>영양값은</a:t>
                      </a:r>
                      <a:pPr indent="0" marL="0">
                        <a:buNone/>
                      </a:pPr>
                      <a:r>
                        <a:rPr lang="en-US" sz="1100" dirty="0">
                          <a:solidFill>
                            <a:srgbClr val="1F2937"/>
                          </a:solidFill>
                          <a:latin typeface="Courier New" pitchFamily="34" charset="0"/>
                          <a:ea typeface="Courier New" pitchFamily="34" charset="-122"/>
                          <a:cs typeface="Courier New" pitchFamily="34" charset="-120"/>
                        </a:rPr>
                        <a:t>null</a:t>
                      </a:r>
                      <a:pPr indent="0" marL="0">
                        <a:buNone/>
                      </a:pPr>
                      <a:r>
                        <a:rPr lang="en-US" sz="1100" dirty="0">
                          <a:solidFill>
                            <a:srgbClr val="1F2937"/>
                          </a:solidFill>
                        </a:rPr>
                        <a:t>, </a:t>
                      </a:r>
                      <a:pPr indent="0" marL="0">
                        <a:buNone/>
                      </a:pPr>
                      <a:r>
                        <a:rPr lang="en-US" sz="1100" dirty="0">
                          <a:solidFill>
                            <a:srgbClr val="1F2937"/>
                          </a:solidFill>
                        </a:rPr>
                        <a:t>기록 </a:t>
                      </a:r>
                      <a:pPr indent="0" marL="0">
                        <a:buNone/>
                      </a:pPr>
                      <a:r>
                        <a:rPr lang="en-US" sz="1100" dirty="0">
                          <a:solidFill>
                            <a:srgbClr val="1F2937"/>
                          </a:solidFill>
                        </a:rPr>
                        <a:t>일수는 </a:t>
                      </a:r>
                      <a:pPr indent="0" marL="0">
                        <a:buNone/>
                      </a:pPr>
                      <a:r>
                        <a:rPr lang="en-US" sz="1100" dirty="0">
                          <a:solidFill>
                            <a:srgbClr val="1F2937"/>
                          </a:solidFill>
                        </a:rPr>
                        <a:t>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목표가 </a:t>
                      </a:r>
                      <a:pPr indent="0" marL="0">
                        <a:buNone/>
                      </a:pPr>
                      <a:r>
                        <a:rPr lang="en-US" sz="1100" dirty="0">
                          <a:solidFill>
                            <a:srgbClr val="1F2937"/>
                          </a:solidFill>
                        </a:rPr>
                        <a:t>있는 </a:t>
                      </a:r>
                      <a:pPr indent="0" marL="0">
                        <a:buNone/>
                      </a:pPr>
                      <a:r>
                        <a:rPr lang="en-US" sz="1100" dirty="0">
                          <a:solidFill>
                            <a:srgbClr val="1F2937"/>
                          </a:solidFill>
                        </a:rPr>
                        <a:t>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해당 </a:t>
                      </a:r>
                      <a:pPr indent="0" marL="0">
                        <a:buNone/>
                      </a:pPr>
                      <a:r>
                        <a:rPr lang="en-US" sz="1100" dirty="0">
                          <a:solidFill>
                            <a:srgbClr val="1F2937"/>
                          </a:solidFill>
                        </a:rPr>
                        <a:t>식사 </a:t>
                      </a:r>
                      <a:pPr indent="0" marL="0">
                        <a:buNone/>
                      </a:pPr>
                      <a:r>
                        <a:rPr lang="en-US" sz="1100" dirty="0">
                          <a:solidFill>
                            <a:srgbClr val="1F2937"/>
                          </a:solidFill>
                        </a:rPr>
                        <a:t>날짜에 </a:t>
                      </a:r>
                      <a:pPr indent="0" marL="0">
                        <a:buNone/>
                      </a:pPr>
                      <a:r>
                        <a:rPr lang="en-US" sz="1100" dirty="0">
                          <a:solidFill>
                            <a:srgbClr val="1F2937"/>
                          </a:solidFill>
                        </a:rPr>
                        <a:t>유효한 </a:t>
                      </a:r>
                      <a:pPr indent="0" marL="0">
                        <a:buNone/>
                      </a:pPr>
                      <a:r>
                        <a:rPr lang="en-US" sz="1100" dirty="0">
                          <a:solidFill>
                            <a:srgbClr val="1F2937"/>
                          </a:solidFill>
                        </a:rPr>
                        <a:t>목표만 </a:t>
                      </a:r>
                      <a:pPr indent="0" marL="0">
                        <a:buNone/>
                      </a:pPr>
                      <a:r>
                        <a:rPr lang="en-US" sz="1100" dirty="0">
                          <a:solidFill>
                            <a:srgbClr val="1F2937"/>
                          </a:solidFill>
                        </a:rPr>
                        <a:t>비교에 </a:t>
                      </a:r>
                      <a:pPr indent="0" marL="0">
                        <a:buNone/>
                      </a:pPr>
                      <a:r>
                        <a:rPr lang="en-US" sz="1100" dirty="0">
                          <a:solidFill>
                            <a:srgbClr val="1F2937"/>
                          </a:solidFill>
                        </a:rPr>
                        <a:t>사용</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목표가 </a:t>
                      </a:r>
                      <a:pPr indent="0" marL="0">
                        <a:buNone/>
                      </a:pPr>
                      <a:r>
                        <a:rPr lang="en-US" sz="1100" dirty="0">
                          <a:solidFill>
                            <a:srgbClr val="1F2937"/>
                          </a:solidFill>
                        </a:rPr>
                        <a:t>없는 </a:t>
                      </a:r>
                      <a:pPr indent="0" marL="0">
                        <a:buNone/>
                      </a:pPr>
                      <a:r>
                        <a:rPr lang="en-US" sz="1100" dirty="0">
                          <a:solidFill>
                            <a:srgbClr val="1F2937"/>
                          </a:solidFill>
                        </a:rPr>
                        <a:t>날짜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목표 </a:t>
                      </a:r>
                      <a:pPr indent="0" marL="0">
                        <a:buNone/>
                      </a:pPr>
                      <a:r>
                        <a:rPr lang="en-US" sz="1100" dirty="0">
                          <a:solidFill>
                            <a:srgbClr val="1F2937"/>
                          </a:solidFill>
                        </a:rPr>
                        <a:t>비교를 </a:t>
                      </a:r>
                      <a:pPr indent="0" marL="0">
                        <a:buNone/>
                      </a:pPr>
                      <a:r>
                        <a:rPr lang="en-US" sz="1100" dirty="0">
                          <a:solidFill>
                            <a:srgbClr val="1F2937"/>
                          </a:solidFill>
                        </a:rPr>
                        <a:t>제공하지 </a:t>
                      </a:r>
                      <a:pPr indent="0" marL="0">
                        <a:buNone/>
                      </a:pPr>
                      <a:r>
                        <a:rPr lang="en-US" sz="1100" dirty="0">
                          <a:solidFill>
                            <a:srgbClr val="1F2937"/>
                          </a:solidFill>
                        </a:rPr>
                        <a:t>않음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영양소별 </a:t>
                      </a:r>
                      <a:pPr indent="0" marL="0">
                        <a:buNone/>
                      </a:pPr>
                      <a:r>
                        <a:rPr lang="en-US" sz="1100" dirty="0">
                          <a:solidFill>
                            <a:srgbClr val="1F2937"/>
                          </a:solidFill>
                        </a:rPr>
                        <a:t>값 </a:t>
                      </a:r>
                      <a:pPr indent="0" marL="0">
                        <a:buNone/>
                      </a:pPr>
                      <a:r>
                        <a:rPr lang="en-US" sz="1100" dirty="0">
                          <a:solidFill>
                            <a:srgbClr val="1F2937"/>
                          </a:solidFill>
                        </a:rPr>
                        <a:t>누락</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각 </a:t>
                      </a:r>
                      <a:pPr indent="0" marL="0">
                        <a:buNone/>
                      </a:pPr>
                      <a:r>
                        <a:rPr lang="en-US" sz="1100" dirty="0">
                          <a:solidFill>
                            <a:srgbClr val="1F2937"/>
                          </a:solidFill>
                        </a:rPr>
                        <a:t>영양소별로 </a:t>
                      </a:r>
                      <a:pPr indent="0" marL="0">
                        <a:buNone/>
                      </a:pPr>
                      <a:r>
                        <a:rPr lang="en-US" sz="1100" dirty="0">
                          <a:solidFill>
                            <a:srgbClr val="1F2937"/>
                          </a:solidFill>
                        </a:rPr>
                        <a:t>값이 </a:t>
                      </a:r>
                      <a:pPr indent="0" marL="0">
                        <a:buNone/>
                      </a:pPr>
                      <a:r>
                        <a:rPr lang="en-US" sz="1100" dirty="0">
                          <a:solidFill>
                            <a:srgbClr val="1F2937"/>
                          </a:solidFill>
                        </a:rPr>
                        <a:t>있는 </a:t>
                      </a:r>
                      <a:pPr indent="0" marL="0">
                        <a:buNone/>
                      </a:pPr>
                      <a:r>
                        <a:rPr lang="en-US" sz="1100" dirty="0">
                          <a:solidFill>
                            <a:srgbClr val="1F2937"/>
                          </a:solidFill>
                        </a:rPr>
                        <a:t>항목만 </a:t>
                      </a:r>
                      <a:pPr indent="0" marL="0">
                        <a:buNone/>
                      </a:pPr>
                      <a:r>
                        <a:rPr lang="en-US" sz="1100" dirty="0">
                          <a:solidFill>
                            <a:srgbClr val="1F2937"/>
                          </a:solidFill>
                        </a:rPr>
                        <a:t>계산하고 </a:t>
                      </a:r>
                      <a:pPr indent="0" marL="0">
                        <a:buNone/>
                      </a:pPr>
                      <a:r>
                        <a:rPr lang="en-US" sz="1100" dirty="0">
                          <a:solidFill>
                            <a:srgbClr val="1F2937"/>
                          </a:solidFill>
                        </a:rPr>
                        <a:t>누락 </a:t>
                      </a:r>
                      <a:pPr indent="0" marL="0">
                        <a:buNone/>
                      </a:pPr>
                      <a:r>
                        <a:rPr lang="en-US" sz="1100" dirty="0">
                          <a:solidFill>
                            <a:srgbClr val="1F2937"/>
                          </a:solidFill>
                        </a:rPr>
                        <a:t>안내 </a:t>
                      </a:r>
                      <a:pPr indent="0" marL="0">
                        <a:buNone/>
                      </a:pPr>
                      <a:r>
                        <a:rPr lang="en-US" sz="1100" dirty="0">
                          <a:solidFill>
                            <a:srgbClr val="1F2937"/>
                          </a:solidFill>
                        </a:rPr>
                        <a:t>제공</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요청 </a:t>
                      </a:r>
                      <a:pPr indent="0" marL="0">
                        <a:buNone/>
                      </a:pPr>
                      <a:r>
                        <a:rPr lang="en-US" sz="1100" dirty="0">
                          <a:solidFill>
                            <a:srgbClr val="1F2937"/>
                          </a:solidFill>
                        </a:rPr>
                        <a:t>기간이 </a:t>
                      </a:r>
                      <a:pPr indent="0" marL="0">
                        <a:buNone/>
                      </a:pPr>
                      <a:r>
                        <a:rPr lang="en-US" sz="1100" dirty="0">
                          <a:solidFill>
                            <a:srgbClr val="1F2937"/>
                          </a:solidFill>
                        </a:rPr>
                        <a:t>완료된 </a:t>
                      </a:r>
                      <a:pPr indent="0" marL="0">
                        <a:buNone/>
                      </a:pPr>
                      <a:r>
                        <a:rPr lang="en-US" sz="1100" dirty="0">
                          <a:solidFill>
                            <a:srgbClr val="1F2937"/>
                          </a:solidFill>
                        </a:rPr>
                        <a:t>주가 </a:t>
                      </a:r>
                      <a:pPr indent="0" marL="0">
                        <a:buNone/>
                      </a:pPr>
                      <a:r>
                        <a:rPr lang="en-US" sz="1100" dirty="0">
                          <a:solidFill>
                            <a:srgbClr val="1F2937"/>
                          </a:solidFill>
                        </a:rPr>
                        <a:t>아님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현재 </a:t>
                      </a:r>
                      <a:pPr indent="0" marL="0">
                        <a:buNone/>
                      </a:pPr>
                      <a:r>
                        <a:rPr lang="en-US" sz="1100" dirty="0">
                          <a:solidFill>
                            <a:srgbClr val="1F2937"/>
                          </a:solidFill>
                        </a:rPr>
                        <a:t>주를 </a:t>
                      </a:r>
                      <a:pPr indent="0" marL="0">
                        <a:buNone/>
                      </a:pPr>
                      <a:r>
                        <a:rPr lang="en-US" sz="1100" dirty="0">
                          <a:solidFill>
                            <a:srgbClr val="1F2937"/>
                          </a:solidFill>
                        </a:rPr>
                        <a:t>지난주 </a:t>
                      </a:r>
                      <a:pPr indent="0" marL="0">
                        <a:buNone/>
                      </a:pPr>
                      <a:r>
                        <a:rPr lang="en-US" sz="1100" dirty="0">
                          <a:solidFill>
                            <a:srgbClr val="1F2937"/>
                          </a:solidFill>
                        </a:rPr>
                        <a:t>리포트로 </a:t>
                      </a:r>
                      <a:pPr indent="0" marL="0">
                        <a:buNone/>
                      </a:pPr>
                      <a:r>
                        <a:rPr lang="en-US" sz="1100" dirty="0">
                          <a:solidFill>
                            <a:srgbClr val="1F2937"/>
                          </a:solidFill>
                        </a:rPr>
                        <a:t>오인하지 </a:t>
                      </a:r>
                      <a:pPr indent="0" marL="0">
                        <a:buNone/>
                      </a:pPr>
                      <a:r>
                        <a:rPr lang="en-US" sz="1100" dirty="0">
                          <a:solidFill>
                            <a:srgbClr val="1F2937"/>
                          </a:solidFill>
                        </a:rPr>
                        <a:t>않도록</a:t>
                      </a:r>
                      <a:pPr indent="0" marL="0">
                        <a:buNone/>
                      </a:pPr>
                      <a:r>
                        <a:rPr lang="en-US" sz="1100" dirty="0">
                          <a:solidFill>
                            <a:srgbClr val="1F2937"/>
                          </a:solidFill>
                          <a:latin typeface="Courier New" pitchFamily="34" charset="0"/>
                          <a:ea typeface="Courier New" pitchFamily="34" charset="-122"/>
                          <a:cs typeface="Courier New" pitchFamily="34" charset="-120"/>
                        </a:rPr>
                        <a:t>422</a:t>
                      </a:r>
                      <a:pPr indent="0" marL="0">
                        <a:buNone/>
                      </a:pPr>
                      <a:r>
                        <a:rPr lang="en-US" sz="1100" dirty="0">
                          <a:solidFill>
                            <a:srgbClr val="1F2937"/>
                          </a:solidFill>
                        </a:rPr>
                        <a:t>또는 </a:t>
                      </a:r>
                      <a:pPr indent="0" marL="0">
                        <a:buNone/>
                      </a:pPr>
                      <a:r>
                        <a:rPr lang="en-US" sz="1100" dirty="0">
                          <a:solidFill>
                            <a:srgbClr val="1F2937"/>
                          </a:solidFill>
                        </a:rPr>
                        <a:t>명시적 </a:t>
                      </a:r>
                      <a:pPr indent="0" marL="0">
                        <a:buNone/>
                      </a:pPr>
                      <a:r>
                        <a:rPr lang="en-US" sz="1100" dirty="0">
                          <a:solidFill>
                            <a:srgbClr val="1F2937"/>
                          </a:solidFill>
                        </a:rPr>
                        <a:t>미지원 </a:t>
                      </a:r>
                      <a:pPr indent="0" marL="0">
                        <a:buNone/>
                      </a:pPr>
                      <a:r>
                        <a:rPr lang="en-US" sz="1100" dirty="0">
                          <a:solidFill>
                            <a:srgbClr val="1F2937"/>
                          </a:solidFill>
                        </a:rPr>
                        <a:t>처리. </a:t>
                      </a:r>
                      <a:pPr indent="0" marL="0">
                        <a:buNone/>
                      </a:pPr>
                      <a:r>
                        <a:rPr lang="en-US" sz="1100" dirty="0">
                          <a:solidFill>
                            <a:srgbClr val="1F2937"/>
                          </a:solidFill>
                        </a:rPr>
                        <a:t>정책 </a:t>
                      </a:r>
                      <a:pPr indent="0" marL="0">
                        <a:buNone/>
                      </a:pPr>
                      <a:r>
                        <a:rPr lang="en-US" sz="1100" dirty="0">
                          <a:solidFill>
                            <a:srgbClr val="1F2937"/>
                          </a:solidFill>
                        </a:rPr>
                        <a:t>확정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잘못된 </a:t>
                      </a:r>
                      <a:pPr indent="0" marL="0">
                        <a:buNone/>
                      </a:pPr>
                      <a:r>
                        <a:rPr lang="en-US" sz="1100" dirty="0">
                          <a:solidFill>
                            <a:srgbClr val="1F2937"/>
                          </a:solidFill>
                        </a:rPr>
                        <a:t>주 </a:t>
                      </a:r>
                      <a:pPr indent="0" marL="0">
                        <a:buNone/>
                      </a:pPr>
                      <a:r>
                        <a:rPr lang="en-US" sz="1100" dirty="0">
                          <a:solidFill>
                            <a:srgbClr val="1F2937"/>
                          </a:solidFill>
                        </a:rPr>
                        <a:t>시작 </a:t>
                      </a:r>
                      <a:pPr indent="0" marL="0">
                        <a:buNone/>
                      </a:pPr>
                      <a:r>
                        <a:rPr lang="en-US" sz="1100" dirty="0">
                          <a:solidFill>
                            <a:srgbClr val="1F2937"/>
                          </a:solidFill>
                        </a:rPr>
                        <a:t>날짜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422</a:t>
                      </a:r>
                      <a:pPr indent="0" marL="0">
                        <a:buNone/>
                      </a:pPr>
                      <a:r>
                        <a:rPr lang="en-US" sz="1100" dirty="0">
                          <a:solidFill>
                            <a:srgbClr val="1F2937"/>
                          </a:solidFill>
                        </a:rPr>
                        <a:t>, </a:t>
                      </a:r>
                      <a:pPr indent="0" marL="0">
                        <a:buNone/>
                      </a:pPr>
                      <a:r>
                        <a:rPr lang="en-US" sz="1100" dirty="0">
                          <a:solidFill>
                            <a:srgbClr val="1F2937"/>
                          </a:solidFill>
                        </a:rPr>
                        <a:t>월요일 </a:t>
                      </a:r>
                      <a:pPr indent="0" marL="0">
                        <a:buNone/>
                      </a:pPr>
                      <a:r>
                        <a:rPr lang="en-US" sz="1100" dirty="0">
                          <a:solidFill>
                            <a:srgbClr val="1F2937"/>
                          </a:solidFill>
                        </a:rPr>
                        <a:t>기준 </a:t>
                      </a:r>
                      <a:pPr indent="0" marL="0">
                        <a:buNone/>
                      </a:pPr>
                      <a:r>
                        <a:rPr lang="en-US" sz="1100" dirty="0">
                          <a:solidFill>
                            <a:srgbClr val="1F2937"/>
                          </a:solidFill>
                        </a:rPr>
                        <a:t>검증 </a:t>
                      </a:r>
                      <a:pPr indent="0" marL="0">
                        <a:buNone/>
                      </a:pPr>
                      <a:r>
                        <a:rPr lang="en-US" sz="1100" dirty="0">
                          <a:solidFill>
                            <a:srgbClr val="1F2937"/>
                          </a:solidFill>
                        </a:rPr>
                        <a:t>오류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비교 </a:t>
                      </a:r>
                      <a:pPr indent="0" marL="0">
                        <a:buNone/>
                      </a:pPr>
                      <a:r>
                        <a:rPr lang="en-US" sz="1100" dirty="0">
                          <a:solidFill>
                            <a:srgbClr val="1F2937"/>
                          </a:solidFill>
                        </a:rPr>
                        <a:t>자료가 </a:t>
                      </a:r>
                      <a:pPr indent="0" marL="0">
                        <a:buNone/>
                      </a:pPr>
                      <a:r>
                        <a:rPr lang="en-US" sz="1100" dirty="0">
                          <a:solidFill>
                            <a:srgbClr val="1F2937"/>
                          </a:solidFill>
                        </a:rPr>
                        <a:t>부족함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지난주 </a:t>
                      </a:r>
                      <a:pPr indent="0" marL="0">
                        <a:buNone/>
                      </a:pPr>
                      <a:r>
                        <a:rPr lang="en-US" sz="1100" dirty="0">
                          <a:solidFill>
                            <a:srgbClr val="1F2937"/>
                          </a:solidFill>
                        </a:rPr>
                        <a:t>비교를 </a:t>
                      </a:r>
                      <a:pPr indent="0" marL="0">
                        <a:buNone/>
                      </a:pPr>
                      <a:r>
                        <a:rPr lang="en-US" sz="1100" dirty="0">
                          <a:solidFill>
                            <a:srgbClr val="1F2937"/>
                          </a:solidFill>
                        </a:rPr>
                        <a:t>반환하지 </a:t>
                      </a:r>
                      <a:pPr indent="0" marL="0">
                        <a:buNone/>
                      </a:pPr>
                      <a:r>
                        <a:rPr lang="en-US" sz="1100" dirty="0">
                          <a:solidFill>
                            <a:srgbClr val="1F2937"/>
                          </a:solidFill>
                        </a:rPr>
                        <a:t>않거나</a:t>
                      </a:r>
                      <a:pPr indent="0" marL="0">
                        <a:buNone/>
                      </a:pPr>
                      <a:r>
                        <a:rPr lang="en-US" sz="1100" dirty="0">
                          <a:solidFill>
                            <a:srgbClr val="1F2937"/>
                          </a:solidFill>
                          <a:latin typeface="Courier New" pitchFamily="34" charset="0"/>
                          <a:ea typeface="Courier New" pitchFamily="34" charset="-122"/>
                          <a:cs typeface="Courier New" pitchFamily="34" charset="-120"/>
                        </a:rPr>
                        <a:t>available: </a:t>
                      </a:r>
                      <a:pPr indent="0" marL="0">
                        <a:buNone/>
                      </a:pPr>
                      <a:r>
                        <a:rPr lang="en-US" sz="1100" dirty="0">
                          <a:solidFill>
                            <a:srgbClr val="1F2937"/>
                          </a:solidFill>
                          <a:latin typeface="Courier New" pitchFamily="34" charset="0"/>
                          <a:ea typeface="Courier New" pitchFamily="34" charset="-122"/>
                          <a:cs typeface="Courier New" pitchFamily="34" charset="-120"/>
                        </a:rPr>
                        <a:t>false</a:t>
                      </a:r>
                      <a:pPr indent="0" marL="0">
                        <a:buNone/>
                      </a:pPr>
                      <a:r>
                        <a:rPr lang="en-US" sz="1100" dirty="0">
                          <a:solidFill>
                            <a:srgbClr val="1F2937"/>
                          </a:solidFill>
                        </a:rPr>
                        <a:t>로 </a:t>
                      </a:r>
                      <a:pPr indent="0" marL="0">
                        <a:buNone/>
                      </a:pPr>
                      <a:r>
                        <a:rPr lang="en-US" sz="1100" dirty="0">
                          <a:solidFill>
                            <a:srgbClr val="1F2937"/>
                          </a:solidFill>
                        </a:rPr>
                        <a:t>제공. </a:t>
                      </a:r>
                      <a:pPr indent="0" marL="0">
                        <a:buNone/>
                      </a:pPr>
                      <a:r>
                        <a:rPr lang="en-US" sz="1100" dirty="0">
                          <a:solidFill>
                            <a:srgbClr val="1F2937"/>
                          </a:solidFill>
                        </a:rPr>
                        <a:t>최소 </a:t>
                      </a:r>
                      <a:pPr indent="0" marL="0">
                        <a:buNone/>
                      </a:pPr>
                      <a:r>
                        <a:rPr lang="en-US" sz="1100" dirty="0">
                          <a:solidFill>
                            <a:srgbClr val="1F2937"/>
                          </a:solidFill>
                        </a:rPr>
                        <a:t>기록 </a:t>
                      </a:r>
                      <a:pPr indent="0" marL="0">
                        <a:buNone/>
                      </a:pPr>
                      <a:r>
                        <a:rPr lang="en-US" sz="1100" dirty="0">
                          <a:solidFill>
                            <a:srgbClr val="1F2937"/>
                          </a:solidFill>
                        </a:rPr>
                        <a:t>기준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168</a:t>
            </a:fld>
            <a:endParaRPr lang="en-US"/>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6.13 주간 리포트 조회</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리포트에는 건강 점수, 좋음·나쁨 평가, 실패를 암시하는 표현 또는 직접적인 식품 추천을 포함하지 않습니다. 칼로리 평균이 전체 날짜 평균인지 기록한 날 평균인지 명시해야 하며, MVP에서는 기록한 날 기준으로 계산합니다.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169</a:t>
            </a:fld>
            <a:endParaRPr lang="en-US"/>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6.14 알림 설정 조회·변경</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170</a:t>
            </a:fld>
            <a:endParaRPr lang="en-US"/>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알림 설정 조회</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GET</a:t>
            </a:r>
            <a:pPr indent="0" marL="0">
              <a:spcAft>
                <a:spcPts val="800"/>
              </a:spcAft>
              <a:buNone/>
            </a:pPr>
            <a:r>
              <a:rPr lang="en-US" sz="1600" dirty="0">
                <a:solidFill>
                  <a:srgbClr val="4B5563"/>
                </a:solidFill>
              </a:rPr>
              <a:t>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/v1/me/settings/notifications</a:t>
            </a:r>
            <a:endParaRPr lang="en-US" sz="1600" dirty="0"/>
          </a:p>
          <a:p>
            <a:pPr indent="0" marL="0">
              <a:spcAft>
                <a:spcPts val="800"/>
              </a:spcAft>
              <a:buNone/>
            </a:pPr>
            <a:r>
              <a:rPr lang="en-US" sz="1600" b="1" dirty="0">
                <a:solidFill>
                  <a:srgbClr val="4B5563"/>
                </a:solidFill>
              </a:rPr>
              <a:t>성공 응답 </a:t>
            </a:r>
            <a:pPr indent="0" marL="0">
              <a:spcAft>
                <a:spcPts val="800"/>
              </a:spcAft>
              <a:buNone/>
            </a:pPr>
            <a:r>
              <a:rPr lang="en-US" sz="1600" b="1" dirty="0">
                <a:solidFill>
                  <a:srgbClr val="4B5563"/>
                </a:solidFill>
                <a:latin typeface="Courier New" pitchFamily="34" charset="0"/>
                <a:ea typeface="Courier New" pitchFamily="34" charset="-122"/>
                <a:cs typeface="Courier New" pitchFamily="34" charset="-120"/>
              </a:rPr>
              <a:t>200 OK</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171</a:t>
            </a:fld>
            <a:endParaRPr lang="en-US"/>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알림 설정 조회</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"success": true,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"data":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"dailyReminderEnabled": false,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"reminderLocalTime": "20:00",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"platformPermissionStatus": "unknown",</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"weeklyReportReminderEnabled": false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"timestamp": "2026-10-01T03:40:00Z",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"requestId": "req_0192d6c1-0190-7b15-9da8-78cc8156c64e"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172</a:t>
            </a:fld>
            <a:endParaRPr lang="en-US"/>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알림 설정 조회</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weeklyReportReminderEnabled</a:t>
            </a:r>
            <a:pPr indent="0" marL="0">
              <a:spcAft>
                <a:spcPts val="800"/>
              </a:spcAft>
              <a:buNone/>
            </a:pPr>
            <a:r>
              <a:rPr lang="en-US" sz="1600" dirty="0">
                <a:solidFill>
                  <a:srgbClr val="4B5563"/>
                </a:solidFill>
              </a:rPr>
              <a:t>는 회의에서 주간 리포트 푸시 제외 결정이 확인되므로 기본 명세에서는 사용하지 않는 값입니다. 일부 논의에서 선택형 주간 리포트 알림이 언급된 충돌을 기록하기 위한 예시일 뿐, MVP 기능으로 확정하지 않습니다.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173</a:t>
            </a:fld>
            <a:endParaRPr lang="en-US"/>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알림 설정 변경</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PUT</a:t>
            </a:r>
            <a:pPr indent="0" marL="0">
              <a:spcAft>
                <a:spcPts val="800"/>
              </a:spcAft>
              <a:buNone/>
            </a:pPr>
            <a:r>
              <a:rPr lang="en-US" sz="1600" dirty="0">
                <a:solidFill>
                  <a:srgbClr val="4B5563"/>
                </a:solidFill>
              </a:rPr>
              <a:t>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/v1/me/settings/notifications</a:t>
            </a:r>
            <a:endParaRPr lang="en-US" sz="1600" dirty="0"/>
          </a:p>
          <a:p>
            <a:pPr indent="0" marL="0">
              <a:spcAft>
                <a:spcPts val="800"/>
              </a:spcAft>
              <a:buNone/>
            </a:pPr>
            <a:r>
              <a:rPr lang="en-US" sz="1600" b="1" dirty="0">
                <a:solidFill>
                  <a:srgbClr val="4B5563"/>
                </a:solidFill>
              </a:rPr>
              <a:t>요청 본문 예시</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174</a:t>
            </a:fld>
            <a:endParaRPr lang="en-US"/>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알림 설정 변경</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"dailyReminderEnabled": true,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"reminderLocalTime": "20:00"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175</a:t>
            </a:fld>
            <a:endParaRPr lang="en-US"/>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알림 설정 변경</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알림 기본값은 꺼짐이며, 사용자가 앱 안에서 명시적으로 선택해야 합니다. 기본 시간은 저녁 8시로 정리됐습니다. 시스템 권한이 없으면 앱 내 알림 설정만 켠 상태로 발송하지 않습니다.</a:t>
            </a:r>
            <a:endParaRPr lang="en-US" sz="1600" dirty="0"/>
          </a:p>
          <a:p>
            <a:pPr indent="0" marL="0">
              <a:spcAft>
                <a:spcPts val="800"/>
              </a:spcAft>
              <a:buNone/>
            </a:pPr>
            <a:r>
              <a:rPr lang="en-US" sz="1600" b="1" dirty="0">
                <a:solidFill>
                  <a:srgbClr val="4B5563"/>
                </a:solidFill>
              </a:rPr>
              <a:t>성공 응답 </a:t>
            </a:r>
            <a:pPr indent="0" marL="0">
              <a:spcAft>
                <a:spcPts val="800"/>
              </a:spcAft>
              <a:buNone/>
            </a:pPr>
            <a:r>
              <a:rPr lang="en-US" sz="1600" b="1" dirty="0">
                <a:solidFill>
                  <a:srgbClr val="4B5563"/>
                </a:solidFill>
                <a:latin typeface="Courier New" pitchFamily="34" charset="0"/>
                <a:ea typeface="Courier New" pitchFamily="34" charset="-122"/>
                <a:cs typeface="Courier New" pitchFamily="34" charset="-120"/>
              </a:rPr>
              <a:t>200 OK</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176</a:t>
            </a:fld>
            <a:endParaRPr lang="en-US"/>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알림 설정 변경</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"success": true,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"data":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"dailyReminderEnabled": true,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"reminderLocalTime": "20:00",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"platformPermissionStatus": "granted"</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"timestamp": "2026-10-01T03:41:00Z",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"requestId": "req_0192d6c1-aee9-7ca0-81f6-1a1bf1591e5a"</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177</a:t>
            </a:fld>
            <a:endParaRPr lang="en-US"/>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알림 설정 변경</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179"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3291840"/>
                <a:gridCol w="4937760"/>
              </a:tblGrid>
              <a:tr h="0">
                <a:tc>
                  <a:txBody>
                    <a:bodyPr/>
                    <a:lstStyle/>
                    <a:p>
                      <a:pPr indent="0" marL="0">
                        <a:buNone/>
                      </a:pPr>
                      <a:r>
                        <a:rPr lang="en-US" sz="1200" b="1" dirty="0">
                          <a:solidFill>
                            <a:srgbClr val="FFFFFF"/>
                          </a:solidFill>
                        </a:rPr>
                        <a:t>사례</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처리</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사용자가 </a:t>
                      </a:r>
                      <a:pPr indent="0" marL="0">
                        <a:buNone/>
                      </a:pPr>
                      <a:r>
                        <a:rPr lang="en-US" sz="1100" dirty="0">
                          <a:solidFill>
                            <a:srgbClr val="1F2937"/>
                          </a:solidFill>
                        </a:rPr>
                        <a:t>기록 </a:t>
                      </a:r>
                      <a:pPr indent="0" marL="0">
                        <a:buNone/>
                      </a:pPr>
                      <a:r>
                        <a:rPr lang="en-US" sz="1100" dirty="0">
                          <a:solidFill>
                            <a:srgbClr val="1F2937"/>
                          </a:solidFill>
                        </a:rPr>
                        <a:t>알림을 </a:t>
                      </a:r>
                      <a:pPr indent="0" marL="0">
                        <a:buNone/>
                      </a:pPr>
                      <a:r>
                        <a:rPr lang="en-US" sz="1100" dirty="0">
                          <a:solidFill>
                            <a:srgbClr val="1F2937"/>
                          </a:solidFill>
                        </a:rPr>
                        <a:t>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설정 </a:t>
                      </a:r>
                      <a:pPr indent="0" marL="0">
                        <a:buNone/>
                      </a:pPr>
                      <a:r>
                        <a:rPr lang="en-US" sz="1100" dirty="0">
                          <a:solidFill>
                            <a:srgbClr val="1F2937"/>
                          </a:solidFill>
                        </a:rPr>
                        <a:t>저장. </a:t>
                      </a:r>
                      <a:pPr indent="0" marL="0">
                        <a:buNone/>
                      </a:pPr>
                      <a:r>
                        <a:rPr lang="en-US" sz="1100" dirty="0">
                          <a:solidFill>
                            <a:srgbClr val="1F2937"/>
                          </a:solidFill>
                        </a:rPr>
                        <a:t>시스템 </a:t>
                      </a:r>
                      <a:pPr indent="0" marL="0">
                        <a:buNone/>
                      </a:pPr>
                      <a:r>
                        <a:rPr lang="en-US" sz="1100" dirty="0">
                          <a:solidFill>
                            <a:srgbClr val="1F2937"/>
                          </a:solidFill>
                        </a:rPr>
                        <a:t>권한은 </a:t>
                      </a:r>
                      <a:pPr indent="0" marL="0">
                        <a:buNone/>
                      </a:pPr>
                      <a:r>
                        <a:rPr lang="en-US" sz="1100" dirty="0">
                          <a:solidFill>
                            <a:srgbClr val="1F2937"/>
                          </a:solidFill>
                        </a:rPr>
                        <a:t>앱이 </a:t>
                      </a:r>
                      <a:pPr indent="0" marL="0">
                        <a:buNone/>
                      </a:pPr>
                      <a:r>
                        <a:rPr lang="en-US" sz="1100" dirty="0">
                          <a:solidFill>
                            <a:srgbClr val="1F2937"/>
                          </a:solidFill>
                        </a:rPr>
                        <a:t>별도로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사용자가 </a:t>
                      </a:r>
                      <a:pPr indent="0" marL="0">
                        <a:buNone/>
                      </a:pPr>
                      <a:r>
                        <a:rPr lang="en-US" sz="1100" dirty="0">
                          <a:solidFill>
                            <a:srgbClr val="1F2937"/>
                          </a:solidFill>
                        </a:rPr>
                        <a:t>알림을 </a:t>
                      </a:r>
                      <a:pPr indent="0" marL="0">
                        <a:buNone/>
                      </a:pPr>
                      <a:r>
                        <a:rPr lang="en-US" sz="1100" dirty="0">
                          <a:solidFill>
                            <a:srgbClr val="1F2937"/>
                          </a:solidFill>
                        </a:rPr>
                        <a:t>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설정 </a:t>
                      </a:r>
                      <a:pPr indent="0" marL="0">
                        <a:buNone/>
                      </a:pPr>
                      <a:r>
                        <a:rPr lang="en-US" sz="1100" dirty="0">
                          <a:solidFill>
                            <a:srgbClr val="1F2937"/>
                          </a:solidFill>
                        </a:rPr>
                        <a:t>저장, </a:t>
                      </a:r>
                      <a:pPr indent="0" marL="0">
                        <a:buNone/>
                      </a:pPr>
                      <a:r>
                        <a:rPr lang="en-US" sz="1100" dirty="0">
                          <a:solidFill>
                            <a:srgbClr val="1F2937"/>
                          </a:solidFill>
                        </a:rPr>
                        <a:t>예약 </a:t>
                      </a:r>
                      <a:pPr indent="0" marL="0">
                        <a:buNone/>
                      </a:pPr>
                      <a:r>
                        <a:rPr lang="en-US" sz="1100" dirty="0">
                          <a:solidFill>
                            <a:srgbClr val="1F2937"/>
                          </a:solidFill>
                        </a:rPr>
                        <a:t>발송은 </a:t>
                      </a:r>
                      <a:pPr indent="0" marL="0">
                        <a:buNone/>
                      </a:pPr>
                      <a:r>
                        <a:rPr lang="en-US" sz="1100" dirty="0">
                          <a:solidFill>
                            <a:srgbClr val="1F2937"/>
                          </a:solidFill>
                        </a:rPr>
                        <a:t>발송 </a:t>
                      </a:r>
                      <a:pPr indent="0" marL="0">
                        <a:buNone/>
                      </a:pPr>
                      <a:r>
                        <a:rPr lang="en-US" sz="1100" dirty="0">
                          <a:solidFill>
                            <a:srgbClr val="1F2937"/>
                          </a:solidFill>
                        </a:rPr>
                        <a:t>직전 </a:t>
                      </a:r>
                      <a:pPr indent="0" marL="0">
                        <a:buNone/>
                      </a:pPr>
                      <a:r>
                        <a:rPr lang="en-US" sz="1100" dirty="0">
                          <a:solidFill>
                            <a:srgbClr val="1F2937"/>
                          </a:solidFill>
                        </a:rPr>
                        <a:t>설정을 </a:t>
                      </a:r>
                      <a:pPr indent="0" marL="0">
                        <a:buNone/>
                      </a:pPr>
                      <a:r>
                        <a:rPr lang="en-US" sz="1100" dirty="0">
                          <a:solidFill>
                            <a:srgbClr val="1F2937"/>
                          </a:solidFill>
                        </a:rPr>
                        <a:t>다시 </a:t>
                      </a:r>
                      <a:pPr indent="0" marL="0">
                        <a:buNone/>
                      </a:pPr>
                      <a:r>
                        <a:rPr lang="en-US" sz="1100" dirty="0">
                          <a:solidFill>
                            <a:srgbClr val="1F2937"/>
                          </a:solidFill>
                        </a:rPr>
                        <a:t>확인해 </a:t>
                      </a:r>
                      <a:pPr indent="0" marL="0">
                        <a:buNone/>
                      </a:pPr>
                      <a:r>
                        <a:rPr lang="en-US" sz="1100" dirty="0">
                          <a:solidFill>
                            <a:srgbClr val="1F2937"/>
                          </a:solidFill>
                        </a:rPr>
                        <a:t>중단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설정을 </a:t>
                      </a:r>
                      <a:pPr indent="0" marL="0">
                        <a:buNone/>
                      </a:pPr>
                      <a:r>
                        <a:rPr lang="en-US" sz="1100" dirty="0">
                          <a:solidFill>
                            <a:srgbClr val="1F2937"/>
                          </a:solidFill>
                        </a:rPr>
                        <a:t>바꾸지 </a:t>
                      </a:r>
                      <a:pPr indent="0" marL="0">
                        <a:buNone/>
                      </a:pPr>
                      <a:r>
                        <a:rPr lang="en-US" sz="1100" dirty="0">
                          <a:solidFill>
                            <a:srgbClr val="1F2937"/>
                          </a:solidFill>
                        </a:rPr>
                        <a:t>않고 </a:t>
                      </a:r>
                      <a:pPr indent="0" marL="0">
                        <a:buNone/>
                      </a:pPr>
                      <a:r>
                        <a:rPr lang="en-US" sz="1100" dirty="0">
                          <a:solidFill>
                            <a:srgbClr val="1F2937"/>
                          </a:solidFill>
                        </a:rPr>
                        <a:t>운영체제 </a:t>
                      </a:r>
                      <a:pPr indent="0" marL="0">
                        <a:buNone/>
                      </a:pPr>
                      <a:r>
                        <a:rPr lang="en-US" sz="1100" dirty="0">
                          <a:solidFill>
                            <a:srgbClr val="1F2937"/>
                          </a:solidFill>
                        </a:rPr>
                        <a:t>권한만 </a:t>
                      </a:r>
                      <a:pPr indent="0" marL="0">
                        <a:buNone/>
                      </a:pPr>
                      <a:r>
                        <a:rPr lang="en-US" sz="1100" dirty="0">
                          <a:solidFill>
                            <a:srgbClr val="1F2937"/>
                          </a:solidFill>
                        </a:rPr>
                        <a:t>허용</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앱 </a:t>
                      </a:r>
                      <a:pPr indent="0" marL="0">
                        <a:buNone/>
                      </a:pPr>
                      <a:r>
                        <a:rPr lang="en-US" sz="1100" dirty="0">
                          <a:solidFill>
                            <a:srgbClr val="1F2937"/>
                          </a:solidFill>
                        </a:rPr>
                        <a:t>안의 </a:t>
                      </a:r>
                      <a:pPr indent="0" marL="0">
                        <a:buNone/>
                      </a:pPr>
                      <a:r>
                        <a:rPr lang="en-US" sz="1100" dirty="0">
                          <a:solidFill>
                            <a:srgbClr val="1F2937"/>
                          </a:solidFill>
                        </a:rPr>
                        <a:t>명시적 </a:t>
                      </a:r>
                      <a:pPr indent="0" marL="0">
                        <a:buNone/>
                      </a:pPr>
                      <a:r>
                        <a:rPr lang="en-US" sz="1100" dirty="0">
                          <a:solidFill>
                            <a:srgbClr val="1F2937"/>
                          </a:solidFill>
                        </a:rPr>
                        <a:t>선택이 </a:t>
                      </a:r>
                      <a:pPr indent="0" marL="0">
                        <a:buNone/>
                      </a:pPr>
                      <a:r>
                        <a:rPr lang="en-US" sz="1100" dirty="0">
                          <a:solidFill>
                            <a:srgbClr val="1F2937"/>
                          </a:solidFill>
                        </a:rPr>
                        <a:t>없으면 </a:t>
                      </a:r>
                      <a:pPr indent="0" marL="0">
                        <a:buNone/>
                      </a:pPr>
                      <a:r>
                        <a:rPr lang="en-US" sz="1100" dirty="0">
                          <a:solidFill>
                            <a:srgbClr val="1F2937"/>
                          </a:solidFill>
                        </a:rPr>
                        <a:t>발송하지 </a:t>
                      </a:r>
                      <a:pPr indent="0" marL="0">
                        <a:buNone/>
                      </a:pPr>
                      <a:r>
                        <a:rPr lang="en-US" sz="1100" dirty="0">
                          <a:solidFill>
                            <a:srgbClr val="1F2937"/>
                          </a:solidFill>
                        </a:rPr>
                        <a:t>않음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권한이 </a:t>
                      </a:r>
                      <a:pPr indent="0" marL="0">
                        <a:buNone/>
                      </a:pPr>
                      <a:r>
                        <a:rPr lang="en-US" sz="1100" dirty="0">
                          <a:solidFill>
                            <a:srgbClr val="1F2937"/>
                          </a:solidFill>
                        </a:rPr>
                        <a:t>거부된 </a:t>
                      </a:r>
                      <a:pPr indent="0" marL="0">
                        <a:buNone/>
                      </a:pPr>
                      <a:r>
                        <a:rPr lang="en-US" sz="1100" dirty="0">
                          <a:solidFill>
                            <a:srgbClr val="1F2937"/>
                          </a:solidFill>
                        </a:rPr>
                        <a:t>상태에서 </a:t>
                      </a:r>
                      <a:pPr indent="0" marL="0">
                        <a:buNone/>
                      </a:pPr>
                      <a:r>
                        <a:rPr lang="en-US" sz="1100" dirty="0">
                          <a:solidFill>
                            <a:srgbClr val="1F2937"/>
                          </a:solidFill>
                        </a:rPr>
                        <a:t>알림 </a:t>
                      </a:r>
                      <a:pPr indent="0" marL="0">
                        <a:buNone/>
                      </a:pPr>
                      <a:r>
                        <a:rPr lang="en-US" sz="1100" dirty="0">
                          <a:solidFill>
                            <a:srgbClr val="1F2937"/>
                          </a:solidFill>
                        </a:rPr>
                        <a:t>활성화 </a:t>
                      </a:r>
                      <a:pPr indent="0" marL="0">
                        <a:buNone/>
                      </a:pPr>
                      <a:r>
                        <a:rPr lang="en-US" sz="1100" dirty="0">
                          <a:solidFill>
                            <a:srgbClr val="1F2937"/>
                          </a:solidFill>
                        </a:rPr>
                        <a:t>시도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서버 </a:t>
                      </a:r>
                      <a:pPr indent="0" marL="0">
                        <a:buNone/>
                      </a:pPr>
                      <a:r>
                        <a:rPr lang="en-US" sz="1100" dirty="0">
                          <a:solidFill>
                            <a:srgbClr val="1F2937"/>
                          </a:solidFill>
                        </a:rPr>
                        <a:t>발송 </a:t>
                      </a:r>
                      <a:pPr indent="0" marL="0">
                        <a:buNone/>
                      </a:pPr>
                      <a:r>
                        <a:rPr lang="en-US" sz="1100" dirty="0">
                          <a:solidFill>
                            <a:srgbClr val="1F2937"/>
                          </a:solidFill>
                        </a:rPr>
                        <a:t>설정과 </a:t>
                      </a:r>
                      <a:pPr indent="0" marL="0">
                        <a:buNone/>
                      </a:pPr>
                      <a:r>
                        <a:rPr lang="en-US" sz="1100" dirty="0">
                          <a:solidFill>
                            <a:srgbClr val="1F2937"/>
                          </a:solidFill>
                        </a:rPr>
                        <a:t>운영체제 </a:t>
                      </a:r>
                      <a:pPr indent="0" marL="0">
                        <a:buNone/>
                      </a:pPr>
                      <a:r>
                        <a:rPr lang="en-US" sz="1100" dirty="0">
                          <a:solidFill>
                            <a:srgbClr val="1F2937"/>
                          </a:solidFill>
                        </a:rPr>
                        <a:t>상태를 </a:t>
                      </a:r>
                      <a:pPr indent="0" marL="0">
                        <a:buNone/>
                      </a:pPr>
                      <a:r>
                        <a:rPr lang="en-US" sz="1100" dirty="0">
                          <a:solidFill>
                            <a:srgbClr val="1F2937"/>
                          </a:solidFill>
                        </a:rPr>
                        <a:t>분리해 </a:t>
                      </a:r>
                      <a:pPr indent="0" marL="0">
                        <a:buNone/>
                      </a:pPr>
                      <a:r>
                        <a:rPr lang="en-US" sz="1100" dirty="0">
                          <a:solidFill>
                            <a:srgbClr val="1F2937"/>
                          </a:solidFill>
                        </a:rPr>
                        <a:t>반환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해당 </a:t>
                      </a:r>
                      <a:pPr indent="0" marL="0">
                        <a:buNone/>
                      </a:pPr>
                      <a:r>
                        <a:rPr lang="en-US" sz="1100" dirty="0">
                          <a:solidFill>
                            <a:srgbClr val="1F2937"/>
                          </a:solidFill>
                        </a:rPr>
                        <a:t>날짜에 </a:t>
                      </a:r>
                      <a:pPr indent="0" marL="0">
                        <a:buNone/>
                      </a:pPr>
                      <a:r>
                        <a:rPr lang="en-US" sz="1100" dirty="0">
                          <a:solidFill>
                            <a:srgbClr val="1F2937"/>
                          </a:solidFill>
                        </a:rPr>
                        <a:t>기록이 </a:t>
                      </a:r>
                      <a:pPr indent="0" marL="0">
                        <a:buNone/>
                      </a:pPr>
                      <a:r>
                        <a:rPr lang="en-US" sz="1100" dirty="0">
                          <a:solidFill>
                            <a:srgbClr val="1F2937"/>
                          </a:solidFill>
                        </a:rPr>
                        <a:t>한 </a:t>
                      </a:r>
                      <a:pPr indent="0" marL="0">
                        <a:buNone/>
                      </a:pPr>
                      <a:r>
                        <a:rPr lang="en-US" sz="1100" dirty="0">
                          <a:solidFill>
                            <a:srgbClr val="1F2937"/>
                          </a:solidFill>
                        </a:rPr>
                        <a:t>건 </a:t>
                      </a:r>
                      <a:pPr indent="0" marL="0">
                        <a:buNone/>
                      </a:pPr>
                      <a:r>
                        <a:rPr lang="en-US" sz="1100" dirty="0">
                          <a:solidFill>
                            <a:srgbClr val="1F2937"/>
                          </a:solidFill>
                        </a:rPr>
                        <a:t>이상 </a:t>
                      </a:r>
                      <a:pPr indent="0" marL="0">
                        <a:buNone/>
                      </a:pPr>
                      <a:r>
                        <a:rPr lang="en-US" sz="1100" dirty="0">
                          <a:solidFill>
                            <a:srgbClr val="1F2937"/>
                          </a:solidFill>
                        </a:rPr>
                        <a:t>있음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당일 </a:t>
                      </a:r>
                      <a:pPr indent="0" marL="0">
                        <a:buNone/>
                      </a:pPr>
                      <a:r>
                        <a:rPr lang="en-US" sz="1100" dirty="0">
                          <a:solidFill>
                            <a:srgbClr val="1F2937"/>
                          </a:solidFill>
                        </a:rPr>
                        <a:t>기록 </a:t>
                      </a:r>
                      <a:pPr indent="0" marL="0">
                        <a:buNone/>
                      </a:pPr>
                      <a:r>
                        <a:rPr lang="en-US" sz="1100" dirty="0">
                          <a:solidFill>
                            <a:srgbClr val="1F2937"/>
                          </a:solidFill>
                        </a:rPr>
                        <a:t>알림 </a:t>
                      </a:r>
                      <a:pPr indent="0" marL="0">
                        <a:buNone/>
                      </a:pPr>
                      <a:r>
                        <a:rPr lang="en-US" sz="1100" dirty="0">
                          <a:solidFill>
                            <a:srgbClr val="1F2937"/>
                          </a:solidFill>
                        </a:rPr>
                        <a:t>발송을 </a:t>
                      </a:r>
                      <a:pPr indent="0" marL="0">
                        <a:buNone/>
                      </a:pPr>
                      <a:r>
                        <a:rPr lang="en-US" sz="1100" dirty="0">
                          <a:solidFill>
                            <a:srgbClr val="1F2937"/>
                          </a:solidFill>
                        </a:rPr>
                        <a:t>건너뜀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알림 </a:t>
                      </a:r>
                      <a:pPr indent="0" marL="0">
                        <a:buNone/>
                      </a:pPr>
                      <a:r>
                        <a:rPr lang="en-US" sz="1100" dirty="0">
                          <a:solidFill>
                            <a:srgbClr val="1F2937"/>
                          </a:solidFill>
                        </a:rPr>
                        <a:t>시각 </a:t>
                      </a:r>
                      <a:pPr indent="0" marL="0">
                        <a:buNone/>
                      </a:pPr>
                      <a:r>
                        <a:rPr lang="en-US" sz="1100" dirty="0">
                          <a:solidFill>
                            <a:srgbClr val="1F2937"/>
                          </a:solidFill>
                        </a:rPr>
                        <a:t>형식 </a:t>
                      </a:r>
                      <a:pPr indent="0" marL="0">
                        <a:buNone/>
                      </a:pPr>
                      <a:r>
                        <a:rPr lang="en-US" sz="1100" dirty="0">
                          <a:solidFill>
                            <a:srgbClr val="1F2937"/>
                          </a:solidFill>
                        </a:rPr>
                        <a:t>오류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422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같은 </a:t>
                      </a:r>
                      <a:pPr indent="0" marL="0">
                        <a:buNone/>
                      </a:pPr>
                      <a:r>
                        <a:rPr lang="en-US" sz="1100" dirty="0">
                          <a:solidFill>
                            <a:srgbClr val="1F2937"/>
                          </a:solidFill>
                        </a:rPr>
                        <a:t>날짜에 </a:t>
                      </a:r>
                      <a:pPr indent="0" marL="0">
                        <a:buNone/>
                      </a:pPr>
                      <a:r>
                        <a:rPr lang="en-US" sz="1100" dirty="0">
                          <a:solidFill>
                            <a:srgbClr val="1F2937"/>
                          </a:solidFill>
                        </a:rPr>
                        <a:t>발송 </a:t>
                      </a:r>
                      <a:pPr indent="0" marL="0">
                        <a:buNone/>
                      </a:pPr>
                      <a:r>
                        <a:rPr lang="en-US" sz="1100" dirty="0">
                          <a:solidFill>
                            <a:srgbClr val="1F2937"/>
                          </a:solidFill>
                        </a:rPr>
                        <a:t>재시도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중복 </a:t>
                      </a:r>
                      <a:pPr indent="0" marL="0">
                        <a:buNone/>
                      </a:pPr>
                      <a:r>
                        <a:rPr lang="en-US" sz="1100" dirty="0">
                          <a:solidFill>
                            <a:srgbClr val="1F2937"/>
                          </a:solidFill>
                        </a:rPr>
                        <a:t>발송 </a:t>
                      </a:r>
                      <a:pPr indent="0" marL="0">
                        <a:buNone/>
                      </a:pPr>
                      <a:r>
                        <a:rPr lang="en-US" sz="1100" dirty="0">
                          <a:solidFill>
                            <a:srgbClr val="1F2937"/>
                          </a:solidFill>
                        </a:rPr>
                        <a:t>방지. </a:t>
                      </a:r>
                      <a:pPr indent="0" marL="0">
                        <a:buNone/>
                      </a:pPr>
                      <a:r>
                        <a:rPr lang="en-US" sz="1100" dirty="0">
                          <a:solidFill>
                            <a:srgbClr val="1F2937"/>
                          </a:solidFill>
                        </a:rPr>
                        <a:t>구체적인 </a:t>
                      </a:r>
                      <a:pPr indent="0" marL="0">
                        <a:buNone/>
                      </a:pPr>
                      <a:r>
                        <a:rPr lang="en-US" sz="1100" dirty="0">
                          <a:solidFill>
                            <a:srgbClr val="1F2937"/>
                          </a:solidFill>
                        </a:rPr>
                        <a:t>발송 </a:t>
                      </a:r>
                      <a:pPr indent="0" marL="0">
                        <a:buNone/>
                      </a:pPr>
                      <a:r>
                        <a:rPr lang="en-US" sz="1100" dirty="0">
                          <a:solidFill>
                            <a:srgbClr val="1F2937"/>
                          </a:solidFill>
                        </a:rPr>
                        <a:t>식별 </a:t>
                      </a:r>
                      <a:pPr indent="0" marL="0">
                        <a:buNone/>
                      </a:pPr>
                      <a:r>
                        <a:rPr lang="en-US" sz="1100" dirty="0">
                          <a:solidFill>
                            <a:srgbClr val="1F2937"/>
                          </a:solidFill>
                        </a:rPr>
                        <a:t>방식은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178</a:t>
            </a:fld>
            <a:endParaRPr lang="en-US"/>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알림 설정 변경</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푸시 본문에는 음식명·칼로리·체중 등 개인 기록을 넣지 않습니다. 하루 최대 한 번만 보내며, 리포트 푸시는 MVP 기본 범위에서 제외합니다.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179</a:t>
            </a:fld>
            <a:endParaRPr lang="en-US"/>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6.15 푸시 기기 등록·해제</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180</a:t>
            </a:fld>
            <a:endParaRPr lang="en-US"/>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기기 등록 또는 갱신</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POST</a:t>
            </a:r>
            <a:pPr indent="0" marL="0">
              <a:spcAft>
                <a:spcPts val="800"/>
              </a:spcAft>
              <a:buNone/>
            </a:pPr>
            <a:r>
              <a:rPr lang="en-US" sz="1600" dirty="0">
                <a:solidFill>
                  <a:srgbClr val="4B5563"/>
                </a:solidFill>
              </a:rPr>
              <a:t>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/v1/me/push-devices</a:t>
            </a:r>
            <a:endParaRPr lang="en-US" sz="1600" dirty="0"/>
          </a:p>
          <a:p>
            <a:pPr indent="0" marL="0">
              <a:spcAft>
                <a:spcPts val="800"/>
              </a:spcAft>
              <a:buNone/>
            </a:pPr>
            <a:r>
              <a:rPr lang="en-US" sz="1600" b="1" dirty="0">
                <a:solidFill>
                  <a:srgbClr val="4B5563"/>
                </a:solidFill>
              </a:rPr>
              <a:t>요청 본문 예시</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181</a:t>
            </a:fld>
            <a:endParaRPr lang="en-US"/>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기기 등록 또는 갱신</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"platform": "ios",</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"pushToken": "&lt;푸시_토큰&gt;",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"permissionStatus": "granted",</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"appVersion": "1.0.0"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182</a:t>
            </a:fld>
            <a:endParaRPr lang="en-US"/>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기기 등록 또는 갱신</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성공 응답 </a:t>
            </a:r>
            <a:pPr indent="0" marL="0">
              <a:spcAft>
                <a:spcPts val="800"/>
              </a:spcAft>
              <a:buNone/>
            </a:pPr>
            <a:r>
              <a:rPr lang="en-US" sz="1600" b="1" dirty="0">
                <a:solidFill>
                  <a:srgbClr val="4B5563"/>
                </a:solidFill>
                <a:latin typeface="Courier New" pitchFamily="34" charset="0"/>
                <a:ea typeface="Courier New" pitchFamily="34" charset="-122"/>
                <a:cs typeface="Courier New" pitchFamily="34" charset="-120"/>
              </a:rPr>
              <a:t>201 Created</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183</a:t>
            </a:fld>
            <a:endParaRPr lang="en-US"/>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기기 등록 또는 갱신</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"success": true,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"data":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"deviceId": "pde_0192d6c2-ec5c-7571-8ebd-f7e0d2921d48",</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"platform": "ios",</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"permissionStatus": "granted",</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"isActive": true,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"updatedAt": "2026-10-01T03:45:00Z"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"timestamp": "2026-10-01T03:45:00Z",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"requestId": "req_0192d6c3-24f0-7cc5-b29d-d5f55b161823"</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184</a:t>
            </a:fld>
            <a:endParaRPr lang="en-US"/>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기기 해제</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DELETE</a:t>
            </a:r>
            <a:pPr indent="0" marL="0">
              <a:spcAft>
                <a:spcPts val="800"/>
              </a:spcAft>
              <a:buNone/>
            </a:pPr>
            <a:r>
              <a:rPr lang="en-US" sz="1600" dirty="0">
                <a:solidFill>
                  <a:srgbClr val="4B5563"/>
                </a:solidFill>
              </a:rPr>
              <a:t>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/v1/me/push-devices/{deviceId}</a:t>
            </a:r>
            <a:endParaRPr lang="en-US" sz="1600" dirty="0"/>
          </a:p>
          <a:p>
            <a:pPr indent="0" marL="0">
              <a:spcAft>
                <a:spcPts val="800"/>
              </a:spcAft>
              <a:buNone/>
            </a:pPr>
            <a:r>
              <a:rPr lang="en-US" sz="1600" dirty="0">
                <a:solidFill>
                  <a:srgbClr val="4B5563"/>
                </a:solidFill>
              </a:rPr>
              <a:t>성공 시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204 No Content</a:t>
            </a:r>
            <a:pPr indent="0" marL="0">
              <a:spcAft>
                <a:spcPts val="800"/>
              </a:spcAft>
              <a:buNone/>
            </a:pPr>
            <a:r>
              <a:rPr lang="en-US" sz="1600" dirty="0">
                <a:solidFill>
                  <a:srgbClr val="4B5563"/>
                </a:solidFill>
              </a:rPr>
              <a:t>를 반환하는 방식을 제안합니다.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185</a:t>
            </a:fld>
            <a:endParaRPr lang="en-US"/>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기기 해제</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187"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3376246"/>
                <a:gridCol w="4853354"/>
              </a:tblGrid>
              <a:tr h="0">
                <a:tc>
                  <a:txBody>
                    <a:bodyPr/>
                    <a:lstStyle/>
                    <a:p>
                      <a:pPr indent="0" marL="0">
                        <a:buNone/>
                      </a:pPr>
                      <a:r>
                        <a:rPr lang="en-US" sz="1200" b="1" dirty="0">
                          <a:solidFill>
                            <a:srgbClr val="FFFFFF"/>
                          </a:solidFill>
                        </a:rPr>
                        <a:t>사례</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처리</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유효한 </a:t>
                      </a:r>
                      <a:pPr indent="0" marL="0">
                        <a:buNone/>
                      </a:pPr>
                      <a:r>
                        <a:rPr lang="en-US" sz="1100" dirty="0">
                          <a:solidFill>
                            <a:srgbClr val="1F2937"/>
                          </a:solidFill>
                        </a:rPr>
                        <a:t>기기 </a:t>
                      </a:r>
                      <a:pPr indent="0" marL="0">
                        <a:buNone/>
                      </a:pPr>
                      <a:r>
                        <a:rPr lang="en-US" sz="1100" dirty="0">
                          <a:solidFill>
                            <a:srgbClr val="1F2937"/>
                          </a:solidFill>
                        </a:rPr>
                        <a:t>등록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사용자와 </a:t>
                      </a:r>
                      <a:pPr indent="0" marL="0">
                        <a:buNone/>
                      </a:pPr>
                      <a:r>
                        <a:rPr lang="en-US" sz="1100" dirty="0">
                          <a:solidFill>
                            <a:srgbClr val="1F2937"/>
                          </a:solidFill>
                        </a:rPr>
                        <a:t>기기를 </a:t>
                      </a:r>
                      <a:pPr indent="0" marL="0">
                        <a:buNone/>
                      </a:pPr>
                      <a:r>
                        <a:rPr lang="en-US" sz="1100" dirty="0">
                          <a:solidFill>
                            <a:srgbClr val="1F2937"/>
                          </a:solidFill>
                        </a:rPr>
                        <a:t>연결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같은 </a:t>
                      </a:r>
                      <a:pPr indent="0" marL="0">
                        <a:buNone/>
                      </a:pPr>
                      <a:r>
                        <a:rPr lang="en-US" sz="1100" dirty="0">
                          <a:solidFill>
                            <a:srgbClr val="1F2937"/>
                          </a:solidFill>
                        </a:rPr>
                        <a:t>토큰 </a:t>
                      </a:r>
                      <a:pPr indent="0" marL="0">
                        <a:buNone/>
                      </a:pPr>
                      <a:r>
                        <a:rPr lang="en-US" sz="1100" dirty="0">
                          <a:solidFill>
                            <a:srgbClr val="1F2937"/>
                          </a:solidFill>
                        </a:rPr>
                        <a:t>재등록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새 </a:t>
                      </a:r>
                      <a:pPr indent="0" marL="0">
                        <a:buNone/>
                      </a:pPr>
                      <a:r>
                        <a:rPr lang="en-US" sz="1100" dirty="0">
                          <a:solidFill>
                            <a:srgbClr val="1F2937"/>
                          </a:solidFill>
                        </a:rPr>
                        <a:t>기기를 </a:t>
                      </a:r>
                      <a:pPr indent="0" marL="0">
                        <a:buNone/>
                      </a:pPr>
                      <a:r>
                        <a:rPr lang="en-US" sz="1100" dirty="0">
                          <a:solidFill>
                            <a:srgbClr val="1F2937"/>
                          </a:solidFill>
                        </a:rPr>
                        <a:t>중복 </a:t>
                      </a:r>
                      <a:pPr indent="0" marL="0">
                        <a:buNone/>
                      </a:pPr>
                      <a:r>
                        <a:rPr lang="en-US" sz="1100" dirty="0">
                          <a:solidFill>
                            <a:srgbClr val="1F2937"/>
                          </a:solidFill>
                        </a:rPr>
                        <a:t>생성하지 </a:t>
                      </a:r>
                      <a:pPr indent="0" marL="0">
                        <a:buNone/>
                      </a:pPr>
                      <a:r>
                        <a:rPr lang="en-US" sz="1100" dirty="0">
                          <a:solidFill>
                            <a:srgbClr val="1F2937"/>
                          </a:solidFill>
                        </a:rPr>
                        <a:t>않고 </a:t>
                      </a:r>
                      <a:pPr indent="0" marL="0">
                        <a:buNone/>
                      </a:pPr>
                      <a:r>
                        <a:rPr lang="en-US" sz="1100" dirty="0">
                          <a:solidFill>
                            <a:srgbClr val="1F2937"/>
                          </a:solidFill>
                        </a:rPr>
                        <a:t>갱신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잘못된 </a:t>
                      </a:r>
                      <a:pPr indent="0" marL="0">
                        <a:buNone/>
                      </a:pPr>
                      <a:r>
                        <a:rPr lang="en-US" sz="1100" dirty="0">
                          <a:solidFill>
                            <a:srgbClr val="1F2937"/>
                          </a:solidFill>
                        </a:rPr>
                        <a:t>운영체제 </a:t>
                      </a:r>
                      <a:pPr indent="0" marL="0">
                        <a:buNone/>
                      </a:pPr>
                      <a:r>
                        <a:rPr lang="en-US" sz="1100" dirty="0">
                          <a:solidFill>
                            <a:srgbClr val="1F2937"/>
                          </a:solidFill>
                        </a:rPr>
                        <a:t>값</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422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다른 </a:t>
                      </a:r>
                      <a:pPr indent="0" marL="0">
                        <a:buNone/>
                      </a:pPr>
                      <a:r>
                        <a:rPr lang="en-US" sz="1100" dirty="0">
                          <a:solidFill>
                            <a:srgbClr val="1F2937"/>
                          </a:solidFill>
                        </a:rPr>
                        <a:t>사용자의 </a:t>
                      </a:r>
                      <a:pPr indent="0" marL="0">
                        <a:buNone/>
                      </a:pPr>
                      <a:r>
                        <a:rPr lang="en-US" sz="1100" dirty="0">
                          <a:solidFill>
                            <a:srgbClr val="1F2937"/>
                          </a:solidFill>
                        </a:rPr>
                        <a:t>기기 </a:t>
                      </a:r>
                      <a:pPr indent="0" marL="0">
                        <a:buNone/>
                      </a:pPr>
                      <a:r>
                        <a:rPr lang="en-US" sz="1100" dirty="0">
                          <a:solidFill>
                            <a:srgbClr val="1F2937"/>
                          </a:solidFill>
                        </a:rPr>
                        <a:t>해제 </a:t>
                      </a:r>
                      <a:pPr indent="0" marL="0">
                        <a:buNone/>
                      </a:pPr>
                      <a:r>
                        <a:rPr lang="en-US" sz="1100" dirty="0">
                          <a:solidFill>
                            <a:srgbClr val="1F2937"/>
                          </a:solidFill>
                        </a:rPr>
                        <a:t>요청</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404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계정 </a:t>
                      </a:r>
                      <a:pPr indent="0" marL="0">
                        <a:buNone/>
                      </a:pPr>
                      <a:r>
                        <a:rPr lang="en-US" sz="1100" dirty="0">
                          <a:solidFill>
                            <a:srgbClr val="1F2937"/>
                          </a:solidFill>
                        </a:rPr>
                        <a:t>삭제 </a:t>
                      </a:r>
                      <a:pPr indent="0" marL="0">
                        <a:buNone/>
                      </a:pPr>
                      <a:r>
                        <a:rPr lang="en-US" sz="1100" dirty="0">
                          <a:solidFill>
                            <a:srgbClr val="1F2937"/>
                          </a:solidFill>
                        </a:rPr>
                        <a:t>요청</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연결된 </a:t>
                      </a:r>
                      <a:pPr indent="0" marL="0">
                        <a:buNone/>
                      </a:pPr>
                      <a:r>
                        <a:rPr lang="en-US" sz="1100" dirty="0">
                          <a:solidFill>
                            <a:srgbClr val="1F2937"/>
                          </a:solidFill>
                        </a:rPr>
                        <a:t>푸시 </a:t>
                      </a:r>
                      <a:pPr indent="0" marL="0">
                        <a:buNone/>
                      </a:pPr>
                      <a:r>
                        <a:rPr lang="en-US" sz="1100" dirty="0">
                          <a:solidFill>
                            <a:srgbClr val="1F2937"/>
                          </a:solidFill>
                        </a:rPr>
                        <a:t>토큰 </a:t>
                      </a:r>
                      <a:pPr indent="0" marL="0">
                        <a:buNone/>
                      </a:pPr>
                      <a:r>
                        <a:rPr lang="en-US" sz="1100" dirty="0">
                          <a:solidFill>
                            <a:srgbClr val="1F2937"/>
                          </a:solidFill>
                        </a:rPr>
                        <a:t>비활성화·삭제 </a:t>
                      </a:r>
                      <a:pPr indent="0" marL="0">
                        <a:buNone/>
                      </a:pPr>
                      <a:r>
                        <a:rPr lang="en-US" sz="1100" dirty="0">
                          <a:solidFill>
                            <a:srgbClr val="1F2937"/>
                          </a:solidFill>
                        </a:rPr>
                        <a:t>흐름 </a:t>
                      </a:r>
                      <a:pPr indent="0" marL="0">
                        <a:buNone/>
                      </a:pPr>
                      <a:r>
                        <a:rPr lang="en-US" sz="1100" dirty="0">
                          <a:solidFill>
                            <a:srgbClr val="1F2937"/>
                          </a:solidFill>
                        </a:rPr>
                        <a:t>수행</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푸시 </a:t>
                      </a:r>
                      <a:pPr indent="0" marL="0">
                        <a:buNone/>
                      </a:pPr>
                      <a:r>
                        <a:rPr lang="en-US" sz="1100" dirty="0">
                          <a:solidFill>
                            <a:srgbClr val="1F2937"/>
                          </a:solidFill>
                        </a:rPr>
                        <a:t>공급자 </a:t>
                      </a:r>
                      <a:pPr indent="0" marL="0">
                        <a:buNone/>
                      </a:pPr>
                      <a:r>
                        <a:rPr lang="en-US" sz="1100" dirty="0">
                          <a:solidFill>
                            <a:srgbClr val="1F2937"/>
                          </a:solidFill>
                        </a:rPr>
                        <a:t>오류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식사 </a:t>
                      </a:r>
                      <a:pPr indent="0" marL="0">
                        <a:buNone/>
                      </a:pPr>
                      <a:r>
                        <a:rPr lang="en-US" sz="1100" dirty="0">
                          <a:solidFill>
                            <a:srgbClr val="1F2937"/>
                          </a:solidFill>
                        </a:rPr>
                        <a:t>기록 </a:t>
                      </a:r>
                      <a:pPr indent="0" marL="0">
                        <a:buNone/>
                      </a:pPr>
                      <a:r>
                        <a:rPr lang="en-US" sz="1100" dirty="0">
                          <a:solidFill>
                            <a:srgbClr val="1F2937"/>
                          </a:solidFill>
                        </a:rPr>
                        <a:t>API에 </a:t>
                      </a:r>
                      <a:pPr indent="0" marL="0">
                        <a:buNone/>
                      </a:pPr>
                      <a:r>
                        <a:rPr lang="en-US" sz="1100" dirty="0">
                          <a:solidFill>
                            <a:srgbClr val="1F2937"/>
                          </a:solidFill>
                        </a:rPr>
                        <a:t>영향을 </a:t>
                      </a:r>
                      <a:pPr indent="0" marL="0">
                        <a:buNone/>
                      </a:pPr>
                      <a:r>
                        <a:rPr lang="en-US" sz="1100" dirty="0">
                          <a:solidFill>
                            <a:srgbClr val="1F2937"/>
                          </a:solidFill>
                        </a:rPr>
                        <a:t>주지 </a:t>
                      </a:r>
                      <a:pPr indent="0" marL="0">
                        <a:buNone/>
                      </a:pPr>
                      <a:r>
                        <a:rPr lang="en-US" sz="1100" dirty="0">
                          <a:solidFill>
                            <a:srgbClr val="1F2937"/>
                          </a:solidFill>
                        </a:rPr>
                        <a:t>않음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186</a:t>
            </a:fld>
            <a:endParaRPr lang="en-US"/>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기기 해제</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푸시 토큰의 보관 기간·암호화·삭제 시점과 푸시 사업자의 처리 위치는 확인이 필요합니다.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187</a:t>
            </a:fld>
            <a:endParaRPr lang="en-US"/>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6.16 동의 조회·변경</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188</a:t>
            </a:fld>
            <a:endParaRPr lang="en-US"/>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동의 상태 조회</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GET</a:t>
            </a:r>
            <a:pPr indent="0" marL="0">
              <a:spcAft>
                <a:spcPts val="800"/>
              </a:spcAft>
              <a:buNone/>
            </a:pPr>
            <a:r>
              <a:rPr lang="en-US" sz="1600" dirty="0">
                <a:solidFill>
                  <a:srgbClr val="4B5563"/>
                </a:solidFill>
              </a:rPr>
              <a:t>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/v1/me/consents</a:t>
            </a:r>
            <a:endParaRPr lang="en-US" sz="1600" dirty="0"/>
          </a:p>
          <a:p>
            <a:pPr indent="0" marL="0">
              <a:spcAft>
                <a:spcPts val="800"/>
              </a:spcAft>
              <a:buNone/>
            </a:pPr>
            <a:r>
              <a:rPr lang="en-US" sz="1600" b="1" dirty="0">
                <a:solidFill>
                  <a:srgbClr val="4B5563"/>
                </a:solidFill>
              </a:rPr>
              <a:t>성공 응답 </a:t>
            </a:r>
            <a:pPr indent="0" marL="0">
              <a:spcAft>
                <a:spcPts val="800"/>
              </a:spcAft>
              <a:buNone/>
            </a:pPr>
            <a:r>
              <a:rPr lang="en-US" sz="1600" b="1" dirty="0">
                <a:solidFill>
                  <a:srgbClr val="4B5563"/>
                </a:solidFill>
                <a:latin typeface="Courier New" pitchFamily="34" charset="0"/>
                <a:ea typeface="Courier New" pitchFamily="34" charset="-122"/>
                <a:cs typeface="Courier New" pitchFamily="34" charset="-120"/>
              </a:rPr>
              <a:t>200 OK</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189</a:t>
            </a:fld>
            <a:endParaRPr lang="en-US"/>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동의 상태 조회</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"success": true,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"data":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"items":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"consentType": "product_analysis",</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"accepted": false,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"policyVersion": "1.0",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"recordedAt": "2026-10-01T03:50:00Z"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"timestamp": "2026-10-01T03:50:00Z",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"requestId": "req_0192d6c3-b05d-7846-86a2-c888620ab312"</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190</a:t>
            </a:fld>
            <a:endParaRPr lang="en-US"/>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선택 동의 변경</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PUT</a:t>
            </a:r>
            <a:pPr indent="0" marL="0">
              <a:spcAft>
                <a:spcPts val="800"/>
              </a:spcAft>
              <a:buNone/>
            </a:pPr>
            <a:r>
              <a:rPr lang="en-US" sz="1600" dirty="0">
                <a:solidFill>
                  <a:srgbClr val="4B5563"/>
                </a:solidFill>
              </a:rPr>
              <a:t>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/v1/me/consents/{consentType}</a:t>
            </a:r>
            <a:endParaRPr lang="en-US" sz="1600" dirty="0"/>
          </a:p>
          <a:p>
            <a:pPr indent="0" marL="0">
              <a:spcAft>
                <a:spcPts val="800"/>
              </a:spcAft>
              <a:buNone/>
            </a:pPr>
            <a:r>
              <a:rPr lang="en-US" sz="1600" dirty="0">
                <a:solidFill>
                  <a:srgbClr val="4B5563"/>
                </a:solidFill>
              </a:rPr>
              <a:t>허용할 동의 유형은 계약·개인정보 검토 후 확정해야 합니다. 서비스 이용약관, 개인정보 처리 동의, 제품 분석, 푸시 설정은 서로 구분합니다. 마케팅 알림 동의는 MVP 범위에 포함하지 않습니다.</a:t>
            </a:r>
            <a:endParaRPr lang="en-US" sz="1600" dirty="0"/>
          </a:p>
          <a:p>
            <a:pPr indent="0" marL="0">
              <a:spcAft>
                <a:spcPts val="800"/>
              </a:spcAft>
              <a:buNone/>
            </a:pPr>
            <a:r>
              <a:rPr lang="en-US" sz="1600" b="1" dirty="0">
                <a:solidFill>
                  <a:srgbClr val="4B5563"/>
                </a:solidFill>
              </a:rPr>
              <a:t>요청 본문 예시</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191</a:t>
            </a:fld>
            <a:endParaRPr lang="en-US"/>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선택 동의 변경</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"accepted": true,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"policyVersion": "1.0"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192</a:t>
            </a:fld>
            <a:endParaRPr lang="en-US"/>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선택 동의 변경</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성공 응답 </a:t>
            </a:r>
            <a:pPr indent="0" marL="0">
              <a:spcAft>
                <a:spcPts val="800"/>
              </a:spcAft>
              <a:buNone/>
            </a:pPr>
            <a:r>
              <a:rPr lang="en-US" sz="1600" b="1" dirty="0">
                <a:solidFill>
                  <a:srgbClr val="4B5563"/>
                </a:solidFill>
                <a:latin typeface="Courier New" pitchFamily="34" charset="0"/>
                <a:ea typeface="Courier New" pitchFamily="34" charset="-122"/>
                <a:cs typeface="Courier New" pitchFamily="34" charset="-120"/>
              </a:rPr>
              <a:t>200 OK</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193</a:t>
            </a:fld>
            <a:endParaRPr lang="en-US"/>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9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선택 동의 변경</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"success": true,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"data":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"consentType": "product_analysis",</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"accepted": true,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"policyVersion": "1.0",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"recordedAt": "2026-10-01T03:51:00Z"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"timestamp": "2026-10-01T03:51:00Z",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"requestId": "req_0192d6c4-44a7-7f02-b5d3-41825606c94d"</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194</a:t>
            </a:fld>
            <a:endParaRPr lang="en-US"/>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9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선택 동의 변경</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196"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183363"/>
                <a:gridCol w="6046237"/>
              </a:tblGrid>
              <a:tr h="0">
                <a:tc>
                  <a:txBody>
                    <a:bodyPr/>
                    <a:lstStyle/>
                    <a:p>
                      <a:pPr indent="0" marL="0">
                        <a:buNone/>
                      </a:pPr>
                      <a:r>
                        <a:rPr lang="en-US" sz="1200" b="1" dirty="0">
                          <a:solidFill>
                            <a:srgbClr val="FFFFFF"/>
                          </a:solidFill>
                        </a:rPr>
                        <a:t>사례</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처리</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제품 </a:t>
                      </a:r>
                      <a:pPr indent="0" marL="0">
                        <a:buNone/>
                      </a:pPr>
                      <a:r>
                        <a:rPr lang="en-US" sz="1100" dirty="0">
                          <a:solidFill>
                            <a:srgbClr val="1F2937"/>
                          </a:solidFill>
                        </a:rPr>
                        <a:t>분석 </a:t>
                      </a:r>
                      <a:pPr indent="0" marL="0">
                        <a:buNone/>
                      </a:pPr>
                      <a:r>
                        <a:rPr lang="en-US" sz="1100" dirty="0">
                          <a:solidFill>
                            <a:srgbClr val="1F2937"/>
                          </a:solidFill>
                        </a:rPr>
                        <a:t>동의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선택적 </a:t>
                      </a:r>
                      <a:pPr indent="0" marL="0">
                        <a:buNone/>
                      </a:pPr>
                      <a:r>
                        <a:rPr lang="en-US" sz="1100" dirty="0">
                          <a:solidFill>
                            <a:srgbClr val="1F2937"/>
                          </a:solidFill>
                        </a:rPr>
                        <a:t>행동 </a:t>
                      </a:r>
                      <a:pPr indent="0" marL="0">
                        <a:buNone/>
                      </a:pPr>
                      <a:r>
                        <a:rPr lang="en-US" sz="1100" dirty="0">
                          <a:solidFill>
                            <a:srgbClr val="1F2937"/>
                          </a:solidFill>
                        </a:rPr>
                        <a:t>이벤트 </a:t>
                      </a:r>
                      <a:pPr indent="0" marL="0">
                        <a:buNone/>
                      </a:pPr>
                      <a:r>
                        <a:rPr lang="en-US" sz="1100" dirty="0">
                          <a:solidFill>
                            <a:srgbClr val="1F2937"/>
                          </a:solidFill>
                        </a:rPr>
                        <a:t>전송 </a:t>
                      </a:r>
                      <a:pPr indent="0" marL="0">
                        <a:buNone/>
                      </a:pPr>
                      <a:r>
                        <a:rPr lang="en-US" sz="1100" dirty="0">
                          <a:solidFill>
                            <a:srgbClr val="1F2937"/>
                          </a:solidFill>
                        </a:rPr>
                        <a:t>허용</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제품 </a:t>
                      </a:r>
                      <a:pPr indent="0" marL="0">
                        <a:buNone/>
                      </a:pPr>
                      <a:r>
                        <a:rPr lang="en-US" sz="1100" dirty="0">
                          <a:solidFill>
                            <a:srgbClr val="1F2937"/>
                          </a:solidFill>
                        </a:rPr>
                        <a:t>분석 </a:t>
                      </a:r>
                      <a:pPr indent="0" marL="0">
                        <a:buNone/>
                      </a:pPr>
                      <a:r>
                        <a:rPr lang="en-US" sz="1100" dirty="0">
                          <a:solidFill>
                            <a:srgbClr val="1F2937"/>
                          </a:solidFill>
                        </a:rPr>
                        <a:t>거부·철회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제품 </a:t>
                      </a:r>
                      <a:pPr indent="0" marL="0">
                        <a:buNone/>
                      </a:pPr>
                      <a:r>
                        <a:rPr lang="en-US" sz="1100" dirty="0">
                          <a:solidFill>
                            <a:srgbClr val="1F2937"/>
                          </a:solidFill>
                        </a:rPr>
                        <a:t>분석을 </a:t>
                      </a:r>
                      <a:pPr indent="0" marL="0">
                        <a:buNone/>
                      </a:pPr>
                      <a:r>
                        <a:rPr lang="en-US" sz="1100" dirty="0">
                          <a:solidFill>
                            <a:srgbClr val="1F2937"/>
                          </a:solidFill>
                        </a:rPr>
                        <a:t>중단. </a:t>
                      </a:r>
                      <a:pPr indent="0" marL="0">
                        <a:buNone/>
                      </a:pPr>
                      <a:r>
                        <a:rPr lang="en-US" sz="1100" dirty="0">
                          <a:solidFill>
                            <a:srgbClr val="1F2937"/>
                          </a:solidFill>
                        </a:rPr>
                        <a:t>서비스 </a:t>
                      </a:r>
                      <a:pPr indent="0" marL="0">
                        <a:buNone/>
                      </a:pPr>
                      <a:r>
                        <a:rPr lang="en-US" sz="1100" dirty="0">
                          <a:solidFill>
                            <a:srgbClr val="1F2937"/>
                          </a:solidFill>
                        </a:rPr>
                        <a:t>보안·장애 </a:t>
                      </a:r>
                      <a:pPr indent="0" marL="0">
                        <a:buNone/>
                      </a:pPr>
                      <a:r>
                        <a:rPr lang="en-US" sz="1100" dirty="0">
                          <a:solidFill>
                            <a:srgbClr val="1F2937"/>
                          </a:solidFill>
                        </a:rPr>
                        <a:t>대응 </a:t>
                      </a:r>
                      <a:pPr indent="0" marL="0">
                        <a:buNone/>
                      </a:pPr>
                      <a:r>
                        <a:rPr lang="en-US" sz="1100" dirty="0">
                          <a:solidFill>
                            <a:srgbClr val="1F2937"/>
                          </a:solidFill>
                        </a:rPr>
                        <a:t>최소 </a:t>
                      </a:r>
                      <a:pPr indent="0" marL="0">
                        <a:buNone/>
                      </a:pPr>
                      <a:r>
                        <a:rPr lang="en-US" sz="1100" dirty="0">
                          <a:solidFill>
                            <a:srgbClr val="1F2937"/>
                          </a:solidFill>
                        </a:rPr>
                        <a:t>로그와 </a:t>
                      </a:r>
                      <a:pPr indent="0" marL="0">
                        <a:buNone/>
                      </a:pPr>
                      <a:r>
                        <a:rPr lang="en-US" sz="1100" dirty="0">
                          <a:solidFill>
                            <a:srgbClr val="1F2937"/>
                          </a:solidFill>
                        </a:rPr>
                        <a:t>분리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푸시 </a:t>
                      </a:r>
                      <a:pPr indent="0" marL="0">
                        <a:buNone/>
                      </a:pPr>
                      <a:r>
                        <a:rPr lang="en-US" sz="1100" dirty="0">
                          <a:solidFill>
                            <a:srgbClr val="1F2937"/>
                          </a:solidFill>
                        </a:rPr>
                        <a:t>동의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앱 </a:t>
                      </a:r>
                      <a:pPr indent="0" marL="0">
                        <a:buNone/>
                      </a:pPr>
                      <a:r>
                        <a:rPr lang="en-US" sz="1100" dirty="0">
                          <a:solidFill>
                            <a:srgbClr val="1F2937"/>
                          </a:solidFill>
                        </a:rPr>
                        <a:t>알림 </a:t>
                      </a:r>
                      <a:pPr indent="0" marL="0">
                        <a:buNone/>
                      </a:pPr>
                      <a:r>
                        <a:rPr lang="en-US" sz="1100" dirty="0">
                          <a:solidFill>
                            <a:srgbClr val="1F2937"/>
                          </a:solidFill>
                        </a:rPr>
                        <a:t>설정과 </a:t>
                      </a:r>
                      <a:pPr indent="0" marL="0">
                        <a:buNone/>
                      </a:pPr>
                      <a:r>
                        <a:rPr lang="en-US" sz="1100" dirty="0">
                          <a:solidFill>
                            <a:srgbClr val="1F2937"/>
                          </a:solidFill>
                        </a:rPr>
                        <a:t>운영체제 </a:t>
                      </a:r>
                      <a:pPr indent="0" marL="0">
                        <a:buNone/>
                      </a:pPr>
                      <a:r>
                        <a:rPr lang="en-US" sz="1100" dirty="0">
                          <a:solidFill>
                            <a:srgbClr val="1F2937"/>
                          </a:solidFill>
                        </a:rPr>
                        <a:t>권한을 </a:t>
                      </a:r>
                      <a:pPr indent="0" marL="0">
                        <a:buNone/>
                      </a:pPr>
                      <a:r>
                        <a:rPr lang="en-US" sz="1100" dirty="0">
                          <a:solidFill>
                            <a:srgbClr val="1F2937"/>
                          </a:solidFill>
                        </a:rPr>
                        <a:t>별도로 </a:t>
                      </a:r>
                      <a:pPr indent="0" marL="0">
                        <a:buNone/>
                      </a:pPr>
                      <a:r>
                        <a:rPr lang="en-US" sz="1100" dirty="0">
                          <a:solidFill>
                            <a:srgbClr val="1F2937"/>
                          </a:solidFill>
                        </a:rPr>
                        <a:t>관리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존재하지 </a:t>
                      </a:r>
                      <a:pPr indent="0" marL="0">
                        <a:buNone/>
                      </a:pPr>
                      <a:r>
                        <a:rPr lang="en-US" sz="1100" dirty="0">
                          <a:solidFill>
                            <a:srgbClr val="1F2937"/>
                          </a:solidFill>
                        </a:rPr>
                        <a:t>않는 </a:t>
                      </a:r>
                      <a:pPr indent="0" marL="0">
                        <a:buNone/>
                      </a:pPr>
                      <a:r>
                        <a:rPr lang="en-US" sz="1100" dirty="0">
                          <a:solidFill>
                            <a:srgbClr val="1F2937"/>
                          </a:solidFill>
                        </a:rPr>
                        <a:t>동의 </a:t>
                      </a:r>
                      <a:pPr indent="0" marL="0">
                        <a:buNone/>
                      </a:pPr>
                      <a:r>
                        <a:rPr lang="en-US" sz="1100" dirty="0">
                          <a:solidFill>
                            <a:srgbClr val="1F2937"/>
                          </a:solidFill>
                        </a:rPr>
                        <a:t>유형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422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문서 </a:t>
                      </a:r>
                      <a:pPr indent="0" marL="0">
                        <a:buNone/>
                      </a:pPr>
                      <a:r>
                        <a:rPr lang="en-US" sz="1100" dirty="0">
                          <a:solidFill>
                            <a:srgbClr val="1F2937"/>
                          </a:solidFill>
                        </a:rPr>
                        <a:t>버전이 </a:t>
                      </a:r>
                      <a:pPr indent="0" marL="0">
                        <a:buNone/>
                      </a:pPr>
                      <a:r>
                        <a:rPr lang="en-US" sz="1100" dirty="0">
                          <a:solidFill>
                            <a:srgbClr val="1F2937"/>
                          </a:solidFill>
                        </a:rPr>
                        <a:t>현재와 </a:t>
                      </a:r>
                      <a:pPr indent="0" marL="0">
                        <a:buNone/>
                      </a:pPr>
                      <a:r>
                        <a:rPr lang="en-US" sz="1100" dirty="0">
                          <a:solidFill>
                            <a:srgbClr val="1F2937"/>
                          </a:solidFill>
                        </a:rPr>
                        <a:t>다름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서버가 </a:t>
                      </a:r>
                      <a:pPr indent="0" marL="0">
                        <a:buNone/>
                      </a:pPr>
                      <a:r>
                        <a:rPr lang="en-US" sz="1100" dirty="0">
                          <a:solidFill>
                            <a:srgbClr val="1F2937"/>
                          </a:solidFill>
                        </a:rPr>
                        <a:t>최신 </a:t>
                      </a:r>
                      <a:pPr indent="0" marL="0">
                        <a:buNone/>
                      </a:pPr>
                      <a:r>
                        <a:rPr lang="en-US" sz="1100" dirty="0">
                          <a:solidFill>
                            <a:srgbClr val="1F2937"/>
                          </a:solidFill>
                        </a:rPr>
                        <a:t>문서 </a:t>
                      </a:r>
                      <a:pPr indent="0" marL="0">
                        <a:buNone/>
                      </a:pPr>
                      <a:r>
                        <a:rPr lang="en-US" sz="1100" dirty="0">
                          <a:solidFill>
                            <a:srgbClr val="1F2937"/>
                          </a:solidFill>
                        </a:rPr>
                        <a:t>정보를 </a:t>
                      </a:r>
                      <a:pPr indent="0" marL="0">
                        <a:buNone/>
                      </a:pPr>
                      <a:r>
                        <a:rPr lang="en-US" sz="1100" dirty="0">
                          <a:solidFill>
                            <a:srgbClr val="1F2937"/>
                          </a:solidFill>
                        </a:rPr>
                        <a:t>반환하거나</a:t>
                      </a:r>
                      <a:pPr indent="0" marL="0">
                        <a:buNone/>
                      </a:pPr>
                      <a:r>
                        <a:rPr lang="en-US" sz="1100" dirty="0">
                          <a:solidFill>
                            <a:srgbClr val="1F2937"/>
                          </a:solidFill>
                          <a:latin typeface="Courier New" pitchFamily="34" charset="0"/>
                          <a:ea typeface="Courier New" pitchFamily="34" charset="-122"/>
                          <a:cs typeface="Courier New" pitchFamily="34" charset="-120"/>
                        </a:rPr>
                        <a:t>409</a:t>
                      </a:r>
                      <a:pPr indent="0" marL="0">
                        <a:buNone/>
                      </a:pPr>
                      <a:r>
                        <a:rPr lang="en-US" sz="1100" dirty="0">
                          <a:solidFill>
                            <a:srgbClr val="1F2937"/>
                          </a:solidFill>
                        </a:rPr>
                        <a:t>처리하는 </a:t>
                      </a:r>
                      <a:pPr indent="0" marL="0">
                        <a:buNone/>
                      </a:pPr>
                      <a:r>
                        <a:rPr lang="en-US" sz="1100" dirty="0">
                          <a:solidFill>
                            <a:srgbClr val="1F2937"/>
                          </a:solidFill>
                        </a:rPr>
                        <a:t>방식 </a:t>
                      </a:r>
                      <a:pPr indent="0" marL="0">
                        <a:buNone/>
                      </a:pPr>
                      <a:r>
                        <a:rPr lang="en-US" sz="1100" dirty="0">
                          <a:solidFill>
                            <a:srgbClr val="1F2937"/>
                          </a:solidFill>
                        </a:rPr>
                        <a:t>검토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동의 </a:t>
                      </a:r>
                      <a:pPr indent="0" marL="0">
                        <a:buNone/>
                      </a:pPr>
                      <a:r>
                        <a:rPr lang="en-US" sz="1100" dirty="0">
                          <a:solidFill>
                            <a:srgbClr val="1F2937"/>
                          </a:solidFill>
                        </a:rPr>
                        <a:t>변경 </a:t>
                      </a:r>
                      <a:pPr indent="0" marL="0">
                        <a:buNone/>
                      </a:pPr>
                      <a:r>
                        <a:rPr lang="en-US" sz="1100" dirty="0">
                          <a:solidFill>
                            <a:srgbClr val="1F2937"/>
                          </a:solidFill>
                        </a:rPr>
                        <a:t>저장 </a:t>
                      </a:r>
                      <a:pPr indent="0" marL="0">
                        <a:buNone/>
                      </a:pPr>
                      <a:r>
                        <a:rPr lang="en-US" sz="1100" dirty="0">
                          <a:solidFill>
                            <a:srgbClr val="1F2937"/>
                          </a:solidFill>
                        </a:rPr>
                        <a:t>실패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변경되지 </a:t>
                      </a:r>
                      <a:pPr indent="0" marL="0">
                        <a:buNone/>
                      </a:pPr>
                      <a:r>
                        <a:rPr lang="en-US" sz="1100" dirty="0">
                          <a:solidFill>
                            <a:srgbClr val="1F2937"/>
                          </a:solidFill>
                        </a:rPr>
                        <a:t>않은 </a:t>
                      </a:r>
                      <a:pPr indent="0" marL="0">
                        <a:buNone/>
                      </a:pPr>
                      <a:r>
                        <a:rPr lang="en-US" sz="1100" dirty="0">
                          <a:solidFill>
                            <a:srgbClr val="1F2937"/>
                          </a:solidFill>
                        </a:rPr>
                        <a:t>상태를 </a:t>
                      </a:r>
                      <a:pPr indent="0" marL="0">
                        <a:buNone/>
                      </a:pPr>
                      <a:r>
                        <a:rPr lang="en-US" sz="1100" dirty="0">
                          <a:solidFill>
                            <a:srgbClr val="1F2937"/>
                          </a:solidFill>
                        </a:rPr>
                        <a:t>명확히 </a:t>
                      </a:r>
                      <a:pPr indent="0" marL="0">
                        <a:buNone/>
                      </a:pPr>
                      <a:r>
                        <a:rPr lang="en-US" sz="1100" dirty="0">
                          <a:solidFill>
                            <a:srgbClr val="1F2937"/>
                          </a:solidFill>
                        </a:rPr>
                        <a:t>반환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195</a:t>
            </a:fld>
            <a:endParaRPr lang="en-US"/>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9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선택 동의 변경</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이벤트에 음식명, 칼로리, 체중, 이메일, 자유 입력 내용을 포함하지 않습니다.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196</a:t>
            </a:fld>
            <a:endParaRPr lang="en-US"/>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9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6.17 계정 삭제 요청 및 상태 조회</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197</a:t>
            </a:fld>
            <a:endParaRPr lang="en-US"/>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9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삭제 요청</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POST</a:t>
            </a:r>
            <a:pPr indent="0" marL="0">
              <a:spcAft>
                <a:spcPts val="800"/>
              </a:spcAft>
              <a:buNone/>
            </a:pPr>
            <a:r>
              <a:rPr lang="en-US" sz="1600" dirty="0">
                <a:solidFill>
                  <a:srgbClr val="4B5563"/>
                </a:solidFill>
              </a:rPr>
              <a:t>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/v1/me/account-deletion</a:t>
            </a:r>
            <a:endParaRPr lang="en-US" sz="1600" dirty="0"/>
          </a:p>
          <a:p>
            <a:pPr indent="0" marL="0">
              <a:spcAft>
                <a:spcPts val="800"/>
              </a:spcAft>
              <a:buNone/>
            </a:pPr>
            <a:r>
              <a:rPr lang="en-US" sz="1600" dirty="0">
                <a:solidFill>
                  <a:srgbClr val="4B5563"/>
                </a:solidFill>
              </a:rPr>
              <a:t>계정 삭제 시 계정과 연관 식사 기록을 함께 삭제하는 방향입니다. 요청 접수 후 처리 상태, 삭제 완료 시간, 백업의 완전 삭제 시점은 정책 확인이 필요합니다.</a:t>
            </a:r>
            <a:endParaRPr lang="en-US" sz="1600" dirty="0"/>
          </a:p>
          <a:p>
            <a:pPr indent="0" marL="0">
              <a:spcAft>
                <a:spcPts val="800"/>
              </a:spcAft>
              <a:buNone/>
            </a:pPr>
            <a:r>
              <a:rPr lang="en-US" sz="1600" b="1" dirty="0">
                <a:solidFill>
                  <a:srgbClr val="4B5563"/>
                </a:solidFill>
              </a:rPr>
              <a:t>요청 본문 예시</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198</a:t>
            </a:fld>
            <a:endParaRPr lang="en-US"/>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19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삭제 요청</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"confirmation": true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199</a:t>
            </a:fld>
            <a:endParaRPr lang="en-US"/>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0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삭제 요청</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재인증을 요구할지 여부는 미정입니다. 실제 적용 전 보안·법무 검토가 필요합니다.</a:t>
            </a:r>
            <a:endParaRPr lang="en-US" sz="1600" dirty="0"/>
          </a:p>
          <a:p>
            <a:pPr indent="0" marL="0">
              <a:spcAft>
                <a:spcPts val="800"/>
              </a:spcAft>
              <a:buNone/>
            </a:pPr>
            <a:r>
              <a:rPr lang="en-US" sz="1600" b="1" dirty="0">
                <a:solidFill>
                  <a:srgbClr val="4B5563"/>
                </a:solidFill>
              </a:rPr>
              <a:t>접수 응답 </a:t>
            </a:r>
            <a:pPr indent="0" marL="0">
              <a:spcAft>
                <a:spcPts val="800"/>
              </a:spcAft>
              <a:buNone/>
            </a:pPr>
            <a:r>
              <a:rPr lang="en-US" sz="1600" b="1" dirty="0">
                <a:solidFill>
                  <a:srgbClr val="4B5563"/>
                </a:solidFill>
                <a:latin typeface="Courier New" pitchFamily="34" charset="0"/>
                <a:ea typeface="Courier New" pitchFamily="34" charset="-122"/>
                <a:cs typeface="Courier New" pitchFamily="34" charset="-120"/>
              </a:rPr>
              <a:t>202 Accepted</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200</a:t>
            </a:fld>
            <a:endParaRPr lang="en-US"/>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0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삭제 요청</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"success": true,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"data":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"requestId": "del_0192d6c5-2165-73b2-ae8c-19e77e3400bc",</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"status": "requested",</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"requestedAt": "2026-10-01T04:00:00Z",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"message": "계정 삭제 요청을 접수했습니다."</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"timestamp": "2026-10-01T04:00:00Z",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"requestId": "req_0192d6c5-6890-75a4-b32e-bc568cba20af"</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201</a:t>
            </a:fld>
            <a:endParaRPr lang="en-US"/>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lide 20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삭제 요청 상태 조회</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b="1" dirty="0">
                <a:solidFill>
                  <a:srgbClr val="4B5563"/>
                </a:solidFill>
              </a:rPr>
              <a:t>GET</a:t>
            </a:r>
            <a:pPr indent="0" marL="0">
              <a:spcAft>
                <a:spcPts val="800"/>
              </a:spcAft>
              <a:buNone/>
            </a:pPr>
            <a:r>
              <a:rPr lang="en-US" sz="1600" dirty="0">
                <a:solidFill>
                  <a:srgbClr val="4B5563"/>
                </a:solidFill>
              </a:rPr>
              <a:t>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/v1/me/account-deletion</a:t>
            </a:r>
            <a:endParaRPr lang="en-US" sz="1600" dirty="0"/>
          </a:p>
          <a:p>
            <a:pPr indent="0" marL="0">
              <a:spcAft>
                <a:spcPts val="800"/>
              </a:spcAft>
              <a:buNone/>
            </a:pPr>
            <a:r>
              <a:rPr lang="en-US" sz="1600" b="1" dirty="0">
                <a:solidFill>
                  <a:srgbClr val="4B5563"/>
                </a:solidFill>
              </a:rPr>
              <a:t>성공 응답 </a:t>
            </a:r>
            <a:pPr indent="0" marL="0">
              <a:spcAft>
                <a:spcPts val="800"/>
              </a:spcAft>
              <a:buNone/>
            </a:pPr>
            <a:r>
              <a:rPr lang="en-US" sz="1600" b="1" dirty="0">
                <a:solidFill>
                  <a:srgbClr val="4B5563"/>
                </a:solidFill>
                <a:latin typeface="Courier New" pitchFamily="34" charset="0"/>
                <a:ea typeface="Courier New" pitchFamily="34" charset="-122"/>
                <a:cs typeface="Courier New" pitchFamily="34" charset="-120"/>
              </a:rPr>
              <a:t>200 OK</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202</a:t>
            </a:fld>
            <a:endParaRPr lang="en-US"/>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name="Slide 20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삭제 요청 상태 조회</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"success": true,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"data":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"requestId": "del_0192d6c5-2165-73b2-ae8c-19e77e3400bc",</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"status": "processing",</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"requestedAt": "2026-10-01T04:00:00Z",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"completedAt": null</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"timestamp": "2026-10-01T04:05:00Z",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"requestId": "req_0192d6c6-001c-7600-8607-42cba06fe639"</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203</a:t>
            </a:fld>
            <a:endParaRPr lang="en-US"/>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name="Slide 20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삭제 요청 상태 조회</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205"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504661"/>
                <a:gridCol w="5724939"/>
              </a:tblGrid>
              <a:tr h="0">
                <a:tc>
                  <a:txBody>
                    <a:bodyPr/>
                    <a:lstStyle/>
                    <a:p>
                      <a:pPr indent="0" marL="0">
                        <a:buNone/>
                      </a:pPr>
                      <a:r>
                        <a:rPr lang="en-US" sz="1200" b="1" dirty="0">
                          <a:solidFill>
                            <a:srgbClr val="FFFFFF"/>
                          </a:solidFill>
                        </a:rPr>
                        <a:t>사례</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처리</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삭제 </a:t>
                      </a:r>
                      <a:pPr indent="0" marL="0">
                        <a:buNone/>
                      </a:pPr>
                      <a:r>
                        <a:rPr lang="en-US" sz="1100" dirty="0">
                          <a:solidFill>
                            <a:srgbClr val="1F2937"/>
                          </a:solidFill>
                        </a:rPr>
                        <a:t>확인값이 </a:t>
                      </a:r>
                      <a:pPr indent="0" marL="0">
                        <a:buNone/>
                      </a:pPr>
                      <a:r>
                        <a:rPr lang="en-US" sz="1100" dirty="0">
                          <a:solidFill>
                            <a:srgbClr val="1F2937"/>
                          </a:solidFill>
                        </a:rPr>
                        <a:t>유효함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202</a:t>
                      </a:r>
                      <a:pPr indent="0" marL="0">
                        <a:buNone/>
                      </a:pPr>
                      <a:r>
                        <a:rPr lang="en-US" sz="1100" dirty="0">
                          <a:solidFill>
                            <a:srgbClr val="1F2937"/>
                          </a:solidFill>
                        </a:rPr>
                        <a:t>, </a:t>
                      </a:r>
                      <a:pPr indent="0" marL="0">
                        <a:buNone/>
                      </a:pPr>
                      <a:r>
                        <a:rPr lang="en-US" sz="1100" dirty="0">
                          <a:solidFill>
                            <a:srgbClr val="1F2937"/>
                          </a:solidFill>
                        </a:rPr>
                        <a:t>삭제 </a:t>
                      </a:r>
                      <a:pPr indent="0" marL="0">
                        <a:buNone/>
                      </a:pPr>
                      <a:r>
                        <a:rPr lang="en-US" sz="1100" dirty="0">
                          <a:solidFill>
                            <a:srgbClr val="1F2937"/>
                          </a:solidFill>
                        </a:rPr>
                        <a:t>처리 </a:t>
                      </a:r>
                      <a:pPr indent="0" marL="0">
                        <a:buNone/>
                      </a:pPr>
                      <a:r>
                        <a:rPr lang="en-US" sz="1100" dirty="0">
                          <a:solidFill>
                            <a:srgbClr val="1F2937"/>
                          </a:solidFill>
                        </a:rPr>
                        <a:t>접수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확인값 </a:t>
                      </a:r>
                      <a:pPr indent="0" marL="0">
                        <a:buNone/>
                      </a:pPr>
                      <a:r>
                        <a:rPr lang="en-US" sz="1100" dirty="0">
                          <a:solidFill>
                            <a:srgbClr val="1F2937"/>
                          </a:solidFill>
                        </a:rPr>
                        <a:t>누락 </a:t>
                      </a:r>
                      <a:pPr indent="0" marL="0">
                        <a:buNone/>
                      </a:pPr>
                      <a:r>
                        <a:rPr lang="en-US" sz="1100" dirty="0">
                          <a:solidFill>
                            <a:srgbClr val="1F2937"/>
                          </a:solidFill>
                        </a:rPr>
                        <a:t>또는 </a:t>
                      </a:r>
                      <a:pPr indent="0" marL="0">
                        <a:buNone/>
                      </a:pPr>
                      <a:r>
                        <a:rPr lang="en-US" sz="1100" dirty="0">
                          <a:solidFill>
                            <a:srgbClr val="1F2937"/>
                          </a:solidFill>
                        </a:rPr>
                        <a:t>거짓</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422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이미 </a:t>
                      </a:r>
                      <a:pPr indent="0" marL="0">
                        <a:buNone/>
                      </a:pPr>
                      <a:r>
                        <a:rPr lang="en-US" sz="1100" dirty="0">
                          <a:solidFill>
                            <a:srgbClr val="1F2937"/>
                          </a:solidFill>
                        </a:rPr>
                        <a:t>삭제 </a:t>
                      </a:r>
                      <a:pPr indent="0" marL="0">
                        <a:buNone/>
                      </a:pPr>
                      <a:r>
                        <a:rPr lang="en-US" sz="1100" dirty="0">
                          <a:solidFill>
                            <a:srgbClr val="1F2937"/>
                          </a:solidFill>
                        </a:rPr>
                        <a:t>요청이 </a:t>
                      </a:r>
                      <a:pPr indent="0" marL="0">
                        <a:buNone/>
                      </a:pPr>
                      <a:r>
                        <a:rPr lang="en-US" sz="1100" dirty="0">
                          <a:solidFill>
                            <a:srgbClr val="1F2937"/>
                          </a:solidFill>
                        </a:rPr>
                        <a:t>진행 </a:t>
                      </a:r>
                      <a:pPr indent="0" marL="0">
                        <a:buNone/>
                      </a:pPr>
                      <a:r>
                        <a:rPr lang="en-US" sz="1100" dirty="0">
                          <a:solidFill>
                            <a:srgbClr val="1F2937"/>
                          </a:solidFill>
                        </a:rPr>
                        <a:t>중</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409</a:t>
                      </a:r>
                      <a:pPr indent="0" marL="0">
                        <a:buNone/>
                      </a:pPr>
                      <a:r>
                        <a:rPr lang="en-US" sz="1100" dirty="0">
                          <a:solidFill>
                            <a:srgbClr val="1F2937"/>
                          </a:solidFill>
                        </a:rPr>
                        <a:t>또는 </a:t>
                      </a:r>
                      <a:pPr indent="0" marL="0">
                        <a:buNone/>
                      </a:pPr>
                      <a:r>
                        <a:rPr lang="en-US" sz="1100" dirty="0">
                          <a:solidFill>
                            <a:srgbClr val="1F2937"/>
                          </a:solidFill>
                        </a:rPr>
                        <a:t>기존 </a:t>
                      </a:r>
                      <a:pPr indent="0" marL="0">
                        <a:buNone/>
                      </a:pPr>
                      <a:r>
                        <a:rPr lang="en-US" sz="1100" dirty="0">
                          <a:solidFill>
                            <a:srgbClr val="1F2937"/>
                          </a:solidFill>
                        </a:rPr>
                        <a:t>요청 </a:t>
                      </a:r>
                      <a:pPr indent="0" marL="0">
                        <a:buNone/>
                      </a:pPr>
                      <a:r>
                        <a:rPr lang="en-US" sz="1100" dirty="0">
                          <a:solidFill>
                            <a:srgbClr val="1F2937"/>
                          </a:solidFill>
                        </a:rPr>
                        <a:t>상태 </a:t>
                      </a:r>
                      <a:pPr indent="0" marL="0">
                        <a:buNone/>
                      </a:pPr>
                      <a:r>
                        <a:rPr lang="en-US" sz="1100" dirty="0">
                          <a:solidFill>
                            <a:srgbClr val="1F2937"/>
                          </a:solidFill>
                        </a:rPr>
                        <a:t>반환. </a:t>
                      </a:r>
                      <a:pPr indent="0" marL="0">
                        <a:buNone/>
                      </a:pPr>
                      <a:r>
                        <a:rPr lang="en-US" sz="1100" dirty="0">
                          <a:solidFill>
                            <a:srgbClr val="1F2937"/>
                          </a:solidFill>
                        </a:rPr>
                        <a:t>정책 </a:t>
                      </a:r>
                      <a:pPr indent="0" marL="0">
                        <a:buNone/>
                      </a:pPr>
                      <a:r>
                        <a:rPr lang="en-US" sz="1100" dirty="0">
                          <a:solidFill>
                            <a:srgbClr val="1F2937"/>
                          </a:solidFill>
                        </a:rPr>
                        <a:t>확정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계정이 </a:t>
                      </a:r>
                      <a:pPr indent="0" marL="0">
                        <a:buNone/>
                      </a:pPr>
                      <a:r>
                        <a:rPr lang="en-US" sz="1100" dirty="0">
                          <a:solidFill>
                            <a:srgbClr val="1F2937"/>
                          </a:solidFill>
                        </a:rPr>
                        <a:t>존재하지 </a:t>
                      </a:r>
                      <a:pPr indent="0" marL="0">
                        <a:buNone/>
                      </a:pPr>
                      <a:r>
                        <a:rPr lang="en-US" sz="1100" dirty="0">
                          <a:solidFill>
                            <a:srgbClr val="1F2937"/>
                          </a:solidFill>
                        </a:rPr>
                        <a:t>않음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404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삭제 </a:t>
                      </a:r>
                      <a:pPr indent="0" marL="0">
                        <a:buNone/>
                      </a:pPr>
                      <a:r>
                        <a:rPr lang="en-US" sz="1100" dirty="0">
                          <a:solidFill>
                            <a:srgbClr val="1F2937"/>
                          </a:solidFill>
                        </a:rPr>
                        <a:t>처리 </a:t>
                      </a:r>
                      <a:pPr indent="0" marL="0">
                        <a:buNone/>
                      </a:pPr>
                      <a:r>
                        <a:rPr lang="en-US" sz="1100" dirty="0">
                          <a:solidFill>
                            <a:srgbClr val="1F2937"/>
                          </a:solidFill>
                        </a:rPr>
                        <a:t>중 </a:t>
                      </a:r>
                      <a:pPr indent="0" marL="0">
                        <a:buNone/>
                      </a:pPr>
                      <a:r>
                        <a:rPr lang="en-US" sz="1100" dirty="0">
                          <a:solidFill>
                            <a:srgbClr val="1F2937"/>
                          </a:solidFill>
                        </a:rPr>
                        <a:t>로그인·푸시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접근 </a:t>
                      </a:r>
                      <a:pPr indent="0" marL="0">
                        <a:buNone/>
                      </a:pPr>
                      <a:r>
                        <a:rPr lang="en-US" sz="1100" dirty="0">
                          <a:solidFill>
                            <a:srgbClr val="1F2937"/>
                          </a:solidFill>
                        </a:rPr>
                        <a:t>제한 </a:t>
                      </a:r>
                      <a:pPr indent="0" marL="0">
                        <a:buNone/>
                      </a:pPr>
                      <a:r>
                        <a:rPr lang="en-US" sz="1100" dirty="0">
                          <a:solidFill>
                            <a:srgbClr val="1F2937"/>
                          </a:solidFill>
                        </a:rPr>
                        <a:t>및 </a:t>
                      </a:r>
                      <a:pPr indent="0" marL="0">
                        <a:buNone/>
                      </a:pPr>
                      <a:r>
                        <a:rPr lang="en-US" sz="1100" dirty="0">
                          <a:solidFill>
                            <a:srgbClr val="1F2937"/>
                          </a:solidFill>
                        </a:rPr>
                        <a:t>푸시 </a:t>
                      </a:r>
                      <a:pPr indent="0" marL="0">
                        <a:buNone/>
                      </a:pPr>
                      <a:r>
                        <a:rPr lang="en-US" sz="1100" dirty="0">
                          <a:solidFill>
                            <a:srgbClr val="1F2937"/>
                          </a:solidFill>
                        </a:rPr>
                        <a:t>토큰 </a:t>
                      </a:r>
                      <a:pPr indent="0" marL="0">
                        <a:buNone/>
                      </a:pPr>
                      <a:r>
                        <a:rPr lang="en-US" sz="1100" dirty="0">
                          <a:solidFill>
                            <a:srgbClr val="1F2937"/>
                          </a:solidFill>
                        </a:rPr>
                        <a:t>비활성화 </a:t>
                      </a:r>
                      <a:pPr indent="0" marL="0">
                        <a:buNone/>
                      </a:pPr>
                      <a:r>
                        <a:rPr lang="en-US" sz="1100" dirty="0">
                          <a:solidFill>
                            <a:srgbClr val="1F2937"/>
                          </a:solidFill>
                        </a:rPr>
                        <a:t>방향. </a:t>
                      </a:r>
                      <a:pPr indent="0" marL="0">
                        <a:buNone/>
                      </a:pPr>
                      <a:r>
                        <a:rPr lang="en-US" sz="1100" dirty="0">
                          <a:solidFill>
                            <a:srgbClr val="1F2937"/>
                          </a:solidFill>
                        </a:rPr>
                        <a:t>정확한 </a:t>
                      </a:r>
                      <a:pPr indent="0" marL="0">
                        <a:buNone/>
                      </a:pPr>
                      <a:r>
                        <a:rPr lang="en-US" sz="1100" dirty="0">
                          <a:solidFill>
                            <a:srgbClr val="1F2937"/>
                          </a:solidFill>
                        </a:rPr>
                        <a:t>시점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삭제 </a:t>
                      </a:r>
                      <a:pPr indent="0" marL="0">
                        <a:buNone/>
                      </a:pPr>
                      <a:r>
                        <a:rPr lang="en-US" sz="1100" dirty="0">
                          <a:solidFill>
                            <a:srgbClr val="1F2937"/>
                          </a:solidFill>
                        </a:rPr>
                        <a:t>완료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상태 </a:t>
                      </a:r>
                      <a:pPr indent="0" marL="0">
                        <a:buNone/>
                      </a:pPr>
                      <a:r>
                        <a:rPr lang="en-US" sz="1100" dirty="0">
                          <a:solidFill>
                            <a:srgbClr val="1F2937"/>
                          </a:solidFill>
                        </a:rPr>
                        <a:t>조회를 </a:t>
                      </a:r>
                      <a:pPr indent="0" marL="0">
                        <a:buNone/>
                      </a:pPr>
                      <a:r>
                        <a:rPr lang="en-US" sz="1100" dirty="0">
                          <a:solidFill>
                            <a:srgbClr val="1F2937"/>
                          </a:solidFill>
                        </a:rPr>
                        <a:t>허용할 </a:t>
                      </a:r>
                      <a:pPr indent="0" marL="0">
                        <a:buNone/>
                      </a:pPr>
                      <a:r>
                        <a:rPr lang="en-US" sz="1100" dirty="0">
                          <a:solidFill>
                            <a:srgbClr val="1F2937"/>
                          </a:solidFill>
                        </a:rPr>
                        <a:t>최소 </a:t>
                      </a:r>
                      <a:pPr indent="0" marL="0">
                        <a:buNone/>
                      </a:pPr>
                      <a:r>
                        <a:rPr lang="en-US" sz="1100" dirty="0">
                          <a:solidFill>
                            <a:srgbClr val="1F2937"/>
                          </a:solidFill>
                        </a:rPr>
                        <a:t>범위·기간은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데이터 </a:t>
                      </a:r>
                      <a:pPr indent="0" marL="0">
                        <a:buNone/>
                      </a:pPr>
                      <a:r>
                        <a:rPr lang="en-US" sz="1100" dirty="0">
                          <a:solidFill>
                            <a:srgbClr val="1F2937"/>
                          </a:solidFill>
                        </a:rPr>
                        <a:t>삭제 </a:t>
                      </a:r>
                      <a:pPr indent="0" marL="0">
                        <a:buNone/>
                      </a:pPr>
                      <a:r>
                        <a:rPr lang="en-US" sz="1100" dirty="0">
                          <a:solidFill>
                            <a:srgbClr val="1F2937"/>
                          </a:solidFill>
                        </a:rPr>
                        <a:t>작업 </a:t>
                      </a:r>
                      <a:pPr indent="0" marL="0">
                        <a:buNone/>
                      </a:pPr>
                      <a:r>
                        <a:rPr lang="en-US" sz="1100" dirty="0">
                          <a:solidFill>
                            <a:srgbClr val="1F2937"/>
                          </a:solidFill>
                        </a:rPr>
                        <a:t>실패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실패 </a:t>
                      </a:r>
                      <a:pPr indent="0" marL="0">
                        <a:buNone/>
                      </a:pPr>
                      <a:r>
                        <a:rPr lang="en-US" sz="1100" dirty="0">
                          <a:solidFill>
                            <a:srgbClr val="1F2937"/>
                          </a:solidFill>
                        </a:rPr>
                        <a:t>상태와 </a:t>
                      </a:r>
                      <a:pPr indent="0" marL="0">
                        <a:buNone/>
                      </a:pPr>
                      <a:r>
                        <a:rPr lang="en-US" sz="1100" dirty="0">
                          <a:solidFill>
                            <a:srgbClr val="1F2937"/>
                          </a:solidFill>
                        </a:rPr>
                        <a:t>재처리 </a:t>
                      </a:r>
                      <a:pPr indent="0" marL="0">
                        <a:buNone/>
                      </a:pPr>
                      <a:r>
                        <a:rPr lang="en-US" sz="1100" dirty="0">
                          <a:solidFill>
                            <a:srgbClr val="1F2937"/>
                          </a:solidFill>
                        </a:rPr>
                        <a:t>방식을 </a:t>
                      </a:r>
                      <a:pPr indent="0" marL="0">
                        <a:buNone/>
                      </a:pPr>
                      <a:r>
                        <a:rPr lang="en-US" sz="1100" dirty="0">
                          <a:solidFill>
                            <a:srgbClr val="1F2937"/>
                          </a:solidFill>
                        </a:rPr>
                        <a:t>운영 </a:t>
                      </a:r>
                      <a:pPr indent="0" marL="0">
                        <a:buNone/>
                      </a:pPr>
                      <a:r>
                        <a:rPr lang="en-US" sz="1100" dirty="0">
                          <a:solidFill>
                            <a:srgbClr val="1F2937"/>
                          </a:solidFill>
                        </a:rPr>
                        <a:t>절차로 </a:t>
                      </a:r>
                      <a:pPr indent="0" marL="0">
                        <a:buNone/>
                      </a:pPr>
                      <a:r>
                        <a:rPr lang="en-US" sz="1100" dirty="0">
                          <a:solidFill>
                            <a:srgbClr val="1F2937"/>
                          </a:solidFill>
                        </a:rPr>
                        <a:t>관리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204</a:t>
            </a:fld>
            <a:endParaRPr lang="en-US"/>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name="Slide 20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삭제 요청 상태 조회</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사용자가 계정을 유지한 채 기록 전체를 초기화하는 기능은 MVP 필수 범위에서 제외되어 있으므로 관련 API는 이 명세에 포함하지 않습니다. 개별 기록 삭제는 별도 경로를 사용합니다.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205</a:t>
            </a:fld>
            <a:endParaRPr lang="en-US"/>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name="Slide 20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6.18 식사 사진 처리 API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사진 첨부는 회의 안에서 제외와 포함 결정이 모두 확인됩니다. 앞선 논의에서는 사진 첨부와 자동 인식을 모두 제외하는 결정이 있었고, 후반 논의에서는 식사당 한 장 첨부를 포함하되 식사 저장 후 별도로 올리는 방식이 정리됐습니다. 따라서 아래 기능은 </a:t>
            </a:r>
            <a:pPr indent="0" marL="0">
              <a:spcAft>
                <a:spcPts val="800"/>
              </a:spcAft>
              <a:buNone/>
            </a:pPr>
            <a:r>
              <a:rPr lang="en-US" sz="1600" b="1" dirty="0">
                <a:solidFill>
                  <a:srgbClr val="4B5563"/>
                </a:solidFill>
              </a:rPr>
              <a:t>최종 승인 전 설계 제안</a:t>
            </a:r>
            <a:pPr indent="0" marL="0">
              <a:spcAft>
                <a:spcPts val="800"/>
              </a:spcAft>
              <a:buNone/>
            </a:pPr>
            <a:r>
              <a:rPr lang="en-US" sz="1600" dirty="0">
                <a:solidFill>
                  <a:srgbClr val="4B5563"/>
                </a:solidFill>
              </a:rPr>
              <a:t>이며, 확정 API가 아닙니다.</a:t>
            </a:r>
            <a:endParaRPr lang="en-US" sz="1600" dirty="0"/>
          </a:p>
          <a:p>
            <a:pPr indent="0" marL="0">
              <a:spcAft>
                <a:spcPts val="800"/>
              </a:spcAft>
              <a:buNone/>
            </a:pPr>
            <a:r>
              <a:rPr lang="en-US" sz="1600" dirty="0">
                <a:solidFill>
                  <a:srgbClr val="4B5563"/>
                </a:solidFill>
              </a:rPr>
              <a:t>포함 승인이 나면 다음 원칙을 우선 반영합니다.</a:t>
            </a:r>
            <a:endParaRPr lang="en-US" sz="1600" dirty="0"/>
          </a:p>
          <a:p>
            <a:pPr indent="0" marL="0">
              <a:spcAft>
                <a:spcPts val="800"/>
              </a:spcAft>
              <a:buNone/>
            </a:pPr>
            <a:r>
              <a:rPr lang="en-US" sz="1600" dirty="0">
                <a:solidFill>
                  <a:srgbClr val="4B5563"/>
                </a:solidFill>
              </a:rPr>
              <a:t>· 식사 기록 저장이 사진 업로드 실패로 막히지 않게 합니다.</a:t>
            </a:r>
            <a:endParaRPr lang="en-US" sz="1600" dirty="0"/>
          </a:p>
          <a:p>
            <a:pPr indent="0" marL="0">
              <a:spcAft>
                <a:spcPts val="800"/>
              </a:spcAft>
              <a:buNone/>
            </a:pPr>
            <a:r>
              <a:rPr lang="en-US" sz="1600" dirty="0">
                <a:solidFill>
                  <a:srgbClr val="4B5563"/>
                </a:solidFill>
              </a:rPr>
              <a:t>· 사진은 별도 저장소에 보관하고 데이터베이스에는 저장 식별값만 둡니다.</a:t>
            </a:r>
            <a:endParaRPr lang="en-US" sz="1600" dirty="0"/>
          </a:p>
          <a:p>
            <a:pPr indent="0" marL="0">
              <a:spcAft>
                <a:spcPts val="800"/>
              </a:spcAft>
              <a:buNone/>
            </a:pPr>
            <a:r>
              <a:rPr lang="en-US" sz="1600" dirty="0">
                <a:solidFill>
                  <a:srgbClr val="4B5563"/>
                </a:solidFill>
              </a:rPr>
              <a:t>· 사진을 외부 분석 API로 보내지 않습니다.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206</a:t>
            </a:fld>
            <a:endParaRPr lang="en-US"/>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name="Slide 20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6.18 식사 사진 처리 API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EXIF 제거, 비공개 접근, 사진 삭제·보관 기간, 용량 제한을 먼저 정합니다.</a:t>
            </a:r>
            <a:endParaRPr lang="en-US" sz="1600" dirty="0"/>
          </a:p>
          <a:p>
            <a:pPr indent="0" marL="0">
              <a:spcAft>
                <a:spcPts val="800"/>
              </a:spcAft>
              <a:buNone/>
            </a:pPr>
            <a:r>
              <a:rPr lang="en-US" sz="1600" dirty="0">
                <a:solidFill>
                  <a:srgbClr val="4B5563"/>
                </a:solidFill>
              </a:rPr>
              <a:t>· 사진 자동 인식은 별도 기능이며 MVP 기본 약속에 포함하지 않습니다.</a:t>
            </a:r>
            <a:endParaRPr lang="en-US" sz="1600" dirty="0"/>
          </a:p>
          <a:p>
            <a:pPr indent="0" marL="0">
              <a:spcAft>
                <a:spcPts val="800"/>
              </a:spcAft>
              <a:buNone/>
            </a:pPr>
            <a:r>
              <a:rPr lang="en-US" sz="1600" dirty="0">
                <a:solidFill>
                  <a:srgbClr val="4B5563"/>
                </a:solidFill>
              </a:rPr>
              <a:t>업로드 방식과 실제 엔드포인트는 저장소 선택, 파일 크기 제한, 만료형 접근 방식이 확정된 뒤 작성합니다.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207</a:t>
            </a:fld>
            <a:endParaRPr lang="en-US"/>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name="Slide 20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7. 데이터 모델</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아래는 API가 주고받을 내부 자료 형식 초안입니다. 식별값 형식은 예시이며 실제 식별 체계는 구현 시 확정해야 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208</a:t>
            </a:fld>
            <a:endParaRPr lang="en-US"/>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name="Slide 20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7.1 사용자</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210"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244436"/>
                <a:gridCol w="748145"/>
                <a:gridCol w="748145"/>
                <a:gridCol w="4488873"/>
              </a:tblGrid>
              <a:tr h="0">
                <a:tc>
                  <a:txBody>
                    <a:bodyPr/>
                    <a:lstStyle/>
                    <a:p>
                      <a:pPr indent="0" marL="0">
                        <a:buNone/>
                      </a:pPr>
                      <a:r>
                        <a:rPr lang="en-US" sz="1200" b="1" dirty="0">
                          <a:solidFill>
                            <a:srgbClr val="FFFFFF"/>
                          </a:solidFill>
                        </a:rPr>
                        <a:t>필드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형식</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필수</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설명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id</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문자열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내부 </a:t>
                      </a:r>
                      <a:pPr indent="0" marL="0">
                        <a:buNone/>
                      </a:pPr>
                      <a:r>
                        <a:rPr lang="en-US" sz="1100" dirty="0">
                          <a:solidFill>
                            <a:srgbClr val="1F2937"/>
                          </a:solidFill>
                        </a:rPr>
                        <a:t>사용자 </a:t>
                      </a:r>
                      <a:pPr indent="0" marL="0">
                        <a:buNone/>
                      </a:pPr>
                      <a:r>
                        <a:rPr lang="en-US" sz="1100" dirty="0">
                          <a:solidFill>
                            <a:srgbClr val="1F2937"/>
                          </a:solidFill>
                        </a:rPr>
                        <a:t>식별값</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accountStatus</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문자열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예:</a:t>
                      </a:r>
                      <a:pPr indent="0" marL="0">
                        <a:buNone/>
                      </a:pPr>
                      <a:r>
                        <a:rPr lang="en-US" sz="1100" dirty="0">
                          <a:solidFill>
                            <a:srgbClr val="1F2937"/>
                          </a:solidFill>
                          <a:latin typeface="Courier New" pitchFamily="34" charset="0"/>
                          <a:ea typeface="Courier New" pitchFamily="34" charset="-122"/>
                          <a:cs typeface="Courier New" pitchFamily="34" charset="-120"/>
                        </a:rPr>
                        <a:t>active</a:t>
                      </a:r>
                      <a:pPr indent="0" marL="0">
                        <a:buNone/>
                      </a:pPr>
                      <a:r>
                        <a:rPr lang="en-US" sz="1100" dirty="0">
                          <a:solidFill>
                            <a:srgbClr val="1F2937"/>
                          </a:solidFill>
                        </a:rPr>
                        <a:t>,</a:t>
                      </a:r>
                      <a:pPr indent="0" marL="0">
                        <a:buNone/>
                      </a:pPr>
                      <a:r>
                        <a:rPr lang="en-US" sz="1100" dirty="0">
                          <a:solidFill>
                            <a:srgbClr val="1F2937"/>
                          </a:solidFill>
                          <a:latin typeface="Courier New" pitchFamily="34" charset="0"/>
                          <a:ea typeface="Courier New" pitchFamily="34" charset="-122"/>
                          <a:cs typeface="Courier New" pitchFamily="34" charset="-120"/>
                        </a:rPr>
                        <a:t>deletion_pending</a:t>
                      </a:r>
                      <a:pPr indent="0" marL="0">
                        <a:buNone/>
                      </a:pPr>
                      <a:r>
                        <a:rPr lang="en-US" sz="1100" dirty="0">
                          <a:solidFill>
                            <a:srgbClr val="1F2937"/>
                          </a:solidFill>
                        </a:rPr>
                        <a:t>,</a:t>
                      </a:r>
                      <a:pPr indent="0" marL="0">
                        <a:buNone/>
                      </a:pPr>
                      <a:r>
                        <a:rPr lang="en-US" sz="1100" dirty="0">
                          <a:solidFill>
                            <a:srgbClr val="1F2937"/>
                          </a:solidFill>
                          <a:latin typeface="Courier New" pitchFamily="34" charset="0"/>
                          <a:ea typeface="Courier New" pitchFamily="34" charset="-122"/>
                          <a:cs typeface="Courier New" pitchFamily="34" charset="-120"/>
                        </a:rPr>
                        <a:t>deleted</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createdAt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문자열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ISO </a:t>
                      </a:r>
                      <a:pPr indent="0" marL="0">
                        <a:buNone/>
                      </a:pPr>
                      <a:r>
                        <a:rPr lang="en-US" sz="1100" dirty="0">
                          <a:solidFill>
                            <a:srgbClr val="1F2937"/>
                          </a:solidFill>
                        </a:rPr>
                        <a:t>8601 </a:t>
                      </a:r>
                      <a:pPr indent="0" marL="0">
                        <a:buNone/>
                      </a:pPr>
                      <a:r>
                        <a:rPr lang="en-US" sz="1100" dirty="0">
                          <a:solidFill>
                            <a:srgbClr val="1F2937"/>
                          </a:solidFill>
                        </a:rPr>
                        <a:t>UTC </a:t>
                      </a:r>
                      <a:pPr indent="0" marL="0">
                        <a:buNone/>
                      </a:pPr>
                      <a:r>
                        <a:rPr lang="en-US" sz="1100" dirty="0">
                          <a:solidFill>
                            <a:srgbClr val="1F2937"/>
                          </a:solidFill>
                        </a:rPr>
                        <a:t>시각</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profileCompleted</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불리언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서비스 </a:t>
                      </a:r>
                      <a:pPr indent="0" marL="0">
                        <a:buNone/>
                      </a:pPr>
                      <a:r>
                        <a:rPr lang="en-US" sz="1100" dirty="0">
                          <a:solidFill>
                            <a:srgbClr val="1F2937"/>
                          </a:solidFill>
                        </a:rPr>
                        <a:t>화면 </a:t>
                      </a:r>
                      <a:pPr indent="0" marL="0">
                        <a:buNone/>
                      </a:pPr>
                      <a:r>
                        <a:rPr lang="en-US" sz="1100" dirty="0">
                          <a:solidFill>
                            <a:srgbClr val="1F2937"/>
                          </a:solidFill>
                        </a:rPr>
                        <a:t>구성용 </a:t>
                      </a:r>
                      <a:pPr indent="0" marL="0">
                        <a:buNone/>
                      </a:pPr>
                      <a:r>
                        <a:rPr lang="en-US" sz="1100" dirty="0">
                          <a:solidFill>
                            <a:srgbClr val="1F2937"/>
                          </a:solidFill>
                        </a:rPr>
                        <a:t>상태 </a:t>
                      </a:r>
                      <a:pPr indent="0" marL="0">
                        <a:buNone/>
                      </a:pPr>
                      <a:r>
                        <a:rPr lang="en-US" sz="1100" dirty="0">
                          <a:solidFill>
                            <a:srgbClr val="1F2937"/>
                          </a:solidFill>
                        </a:rPr>
                        <a:t>제안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209</a:t>
            </a:fld>
            <a:endParaRPr lang="en-US"/>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name="Slide 21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7.1 사용자</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이메일, 이름, 전화번호는 음식 기록 API 응답에 포함하지 않습니다. 인증 제공자와 이메일의 저장 여부는 미정입니다.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210</a:t>
            </a:fld>
            <a:endParaRPr lang="en-US"/>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name="Slide 21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7.2 프로필</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212"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588168"/>
                <a:gridCol w="1876926"/>
                <a:gridCol w="866274"/>
                <a:gridCol w="3898232"/>
              </a:tblGrid>
              <a:tr h="0">
                <a:tc>
                  <a:txBody>
                    <a:bodyPr/>
                    <a:lstStyle/>
                    <a:p>
                      <a:pPr indent="0" marL="0">
                        <a:buNone/>
                      </a:pPr>
                      <a:r>
                        <a:rPr lang="en-US" sz="1200" b="1" dirty="0">
                          <a:solidFill>
                            <a:srgbClr val="FFFFFF"/>
                          </a:solidFill>
                        </a:rPr>
                        <a:t>필드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형식</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필수</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설명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timezone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문자열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사용자 </a:t>
                      </a:r>
                      <a:pPr indent="0" marL="0">
                        <a:buNone/>
                      </a:pPr>
                      <a:r>
                        <a:rPr lang="en-US" sz="1100" dirty="0">
                          <a:solidFill>
                            <a:srgbClr val="1F2937"/>
                          </a:solidFill>
                        </a:rPr>
                        <a:t>시간대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birthDate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날짜 </a:t>
                      </a:r>
                      <a:pPr indent="0" marL="0">
                        <a:buNone/>
                      </a:pPr>
                      <a:r>
                        <a:rPr lang="en-US" sz="1100" dirty="0">
                          <a:solidFill>
                            <a:srgbClr val="1F2937"/>
                          </a:solidFill>
                        </a:rPr>
                        <a:t>또는</a:t>
                      </a:r>
                      <a:pPr indent="0" marL="0">
                        <a:buNone/>
                      </a:pPr>
                      <a:r>
                        <a:rPr lang="en-US" sz="1100" dirty="0">
                          <a:solidFill>
                            <a:srgbClr val="1F2937"/>
                          </a:solidFill>
                          <a:latin typeface="Courier New" pitchFamily="34" charset="0"/>
                          <a:ea typeface="Courier New" pitchFamily="34" charset="-122"/>
                          <a:cs typeface="Courier New" pitchFamily="34" charset="-120"/>
                        </a:rPr>
                        <a:t>null</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아니요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수집 </a:t>
                      </a:r>
                      <a:pPr indent="0" marL="0">
                        <a:buNone/>
                      </a:pPr>
                      <a:r>
                        <a:rPr lang="en-US" sz="1100" dirty="0">
                          <a:solidFill>
                            <a:srgbClr val="1F2937"/>
                          </a:solidFill>
                        </a:rPr>
                        <a:t>여부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heightCm</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숫자 </a:t>
                      </a:r>
                      <a:pPr indent="0" marL="0">
                        <a:buNone/>
                      </a:pPr>
                      <a:r>
                        <a:rPr lang="en-US" sz="1100" dirty="0">
                          <a:solidFill>
                            <a:srgbClr val="1F2937"/>
                          </a:solidFill>
                        </a:rPr>
                        <a:t>또는</a:t>
                      </a:r>
                      <a:pPr indent="0" marL="0">
                        <a:buNone/>
                      </a:pPr>
                      <a:r>
                        <a:rPr lang="en-US" sz="1100" dirty="0">
                          <a:solidFill>
                            <a:srgbClr val="1F2937"/>
                          </a:solidFill>
                          <a:latin typeface="Courier New" pitchFamily="34" charset="0"/>
                          <a:ea typeface="Courier New" pitchFamily="34" charset="-122"/>
                          <a:cs typeface="Courier New" pitchFamily="34" charset="-120"/>
                        </a:rPr>
                        <a:t>null</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아니요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선택적 </a:t>
                      </a:r>
                      <a:pPr indent="0" marL="0">
                        <a:buNone/>
                      </a:pPr>
                      <a:r>
                        <a:rPr lang="en-US" sz="1100" dirty="0">
                          <a:solidFill>
                            <a:srgbClr val="1F2937"/>
                          </a:solidFill>
                        </a:rPr>
                        <a:t>신체 </a:t>
                      </a:r>
                      <a:pPr indent="0" marL="0">
                        <a:buNone/>
                      </a:pPr>
                      <a:r>
                        <a:rPr lang="en-US" sz="1100" dirty="0">
                          <a:solidFill>
                            <a:srgbClr val="1F2937"/>
                          </a:solidFill>
                        </a:rPr>
                        <a:t>정보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weightKg</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숫자 </a:t>
                      </a:r>
                      <a:pPr indent="0" marL="0">
                        <a:buNone/>
                      </a:pPr>
                      <a:r>
                        <a:rPr lang="en-US" sz="1100" dirty="0">
                          <a:solidFill>
                            <a:srgbClr val="1F2937"/>
                          </a:solidFill>
                        </a:rPr>
                        <a:t>또는</a:t>
                      </a:r>
                      <a:pPr indent="0" marL="0">
                        <a:buNone/>
                      </a:pPr>
                      <a:r>
                        <a:rPr lang="en-US" sz="1100" dirty="0">
                          <a:solidFill>
                            <a:srgbClr val="1F2937"/>
                          </a:solidFill>
                          <a:latin typeface="Courier New" pitchFamily="34" charset="0"/>
                          <a:ea typeface="Courier New" pitchFamily="34" charset="-122"/>
                          <a:cs typeface="Courier New" pitchFamily="34" charset="-120"/>
                        </a:rPr>
                        <a:t>null</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아니요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선택적 </a:t>
                      </a:r>
                      <a:pPr indent="0" marL="0">
                        <a:buNone/>
                      </a:pPr>
                      <a:r>
                        <a:rPr lang="en-US" sz="1100" dirty="0">
                          <a:solidFill>
                            <a:srgbClr val="1F2937"/>
                          </a:solidFill>
                        </a:rPr>
                        <a:t>신체 </a:t>
                      </a:r>
                      <a:pPr indent="0" marL="0">
                        <a:buNone/>
                      </a:pPr>
                      <a:r>
                        <a:rPr lang="en-US" sz="1100" dirty="0">
                          <a:solidFill>
                            <a:srgbClr val="1F2937"/>
                          </a:solidFill>
                        </a:rPr>
                        <a:t>정보. </a:t>
                      </a:r>
                      <a:pPr indent="0" marL="0">
                        <a:buNone/>
                      </a:pPr>
                      <a:r>
                        <a:rPr lang="en-US" sz="1100" dirty="0">
                          <a:solidFill>
                            <a:srgbClr val="1F2937"/>
                          </a:solidFill>
                        </a:rPr>
                        <a:t>일별 </a:t>
                      </a:r>
                      <a:pPr indent="0" marL="0">
                        <a:buNone/>
                      </a:pPr>
                      <a:r>
                        <a:rPr lang="en-US" sz="1100" dirty="0">
                          <a:solidFill>
                            <a:srgbClr val="1F2937"/>
                          </a:solidFill>
                        </a:rPr>
                        <a:t>체중 </a:t>
                      </a:r>
                      <a:pPr indent="0" marL="0">
                        <a:buNone/>
                      </a:pPr>
                      <a:r>
                        <a:rPr lang="en-US" sz="1100" dirty="0">
                          <a:solidFill>
                            <a:srgbClr val="1F2937"/>
                          </a:solidFill>
                        </a:rPr>
                        <a:t>추적은 </a:t>
                      </a:r>
                      <a:pPr indent="0" marL="0">
                        <a:buNone/>
                      </a:pPr>
                      <a:r>
                        <a:rPr lang="en-US" sz="1100" dirty="0">
                          <a:solidFill>
                            <a:srgbClr val="1F2937"/>
                          </a:solidFill>
                        </a:rPr>
                        <a:t>MVP </a:t>
                      </a:r>
                      <a:pPr indent="0" marL="0">
                        <a:buNone/>
                      </a:pPr>
                      <a:r>
                        <a:rPr lang="en-US" sz="1100" dirty="0">
                          <a:solidFill>
                            <a:srgbClr val="1F2937"/>
                          </a:solidFill>
                        </a:rPr>
                        <a:t>제외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sex</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문자열 </a:t>
                      </a:r>
                      <a:pPr indent="0" marL="0">
                        <a:buNone/>
                      </a:pPr>
                      <a:r>
                        <a:rPr lang="en-US" sz="1100" dirty="0">
                          <a:solidFill>
                            <a:srgbClr val="1F2937"/>
                          </a:solidFill>
                        </a:rPr>
                        <a:t>또는</a:t>
                      </a:r>
                      <a:pPr indent="0" marL="0">
                        <a:buNone/>
                      </a:pPr>
                      <a:r>
                        <a:rPr lang="en-US" sz="1100" dirty="0">
                          <a:solidFill>
                            <a:srgbClr val="1F2937"/>
                          </a:solidFill>
                          <a:latin typeface="Courier New" pitchFamily="34" charset="0"/>
                          <a:ea typeface="Courier New" pitchFamily="34" charset="-122"/>
                          <a:cs typeface="Courier New" pitchFamily="34" charset="-120"/>
                        </a:rPr>
                        <a:t>null</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아니요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필수 </a:t>
                      </a:r>
                      <a:pPr indent="0" marL="0">
                        <a:buNone/>
                      </a:pPr>
                      <a:r>
                        <a:rPr lang="en-US" sz="1100" dirty="0">
                          <a:solidFill>
                            <a:srgbClr val="1F2937"/>
                          </a:solidFill>
                        </a:rPr>
                        <a:t>여부·입력 </a:t>
                      </a:r>
                      <a:pPr indent="0" marL="0">
                        <a:buNone/>
                      </a:pPr>
                      <a:r>
                        <a:rPr lang="en-US" sz="1100" dirty="0">
                          <a:solidFill>
                            <a:srgbClr val="1F2937"/>
                          </a:solidFill>
                        </a:rPr>
                        <a:t>선택지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211</a:t>
            </a:fld>
            <a:endParaRPr lang="en-US"/>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name="Slide 21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7.3 목표 이력</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213"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837793"/>
                <a:gridCol w="1702676"/>
                <a:gridCol w="851338"/>
                <a:gridCol w="2837793"/>
              </a:tblGrid>
              <a:tr h="0">
                <a:tc>
                  <a:txBody>
                    <a:bodyPr/>
                    <a:lstStyle/>
                    <a:p>
                      <a:pPr indent="0" marL="0">
                        <a:buNone/>
                      </a:pPr>
                      <a:r>
                        <a:rPr lang="en-US" sz="1200" b="1" dirty="0">
                          <a:solidFill>
                            <a:srgbClr val="FFFFFF"/>
                          </a:solidFill>
                        </a:rPr>
                        <a:t>필드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형식</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필수</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설명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id</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문자열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목표 </a:t>
                      </a:r>
                      <a:pPr indent="0" marL="0">
                        <a:buNone/>
                      </a:pPr>
                      <a:r>
                        <a:rPr lang="en-US" sz="1100" dirty="0">
                          <a:solidFill>
                            <a:srgbClr val="1F2937"/>
                          </a:solidFill>
                        </a:rPr>
                        <a:t>이력 </a:t>
                      </a:r>
                      <a:pPr indent="0" marL="0">
                        <a:buNone/>
                      </a:pPr>
                      <a:r>
                        <a:rPr lang="en-US" sz="1100" dirty="0">
                          <a:solidFill>
                            <a:srgbClr val="1F2937"/>
                          </a:solidFill>
                        </a:rPr>
                        <a:t>식별값</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dailyEnergyKcal</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숫자 </a:t>
                      </a:r>
                      <a:pPr indent="0" marL="0">
                        <a:buNone/>
                      </a:pPr>
                      <a:r>
                        <a:rPr lang="en-US" sz="1100" dirty="0">
                          <a:solidFill>
                            <a:srgbClr val="1F2937"/>
                          </a:solidFill>
                        </a:rPr>
                        <a:t>또는</a:t>
                      </a:r>
                      <a:pPr indent="0" marL="0">
                        <a:buNone/>
                      </a:pPr>
                      <a:r>
                        <a:rPr lang="en-US" sz="1100" dirty="0">
                          <a:solidFill>
                            <a:srgbClr val="1F2937"/>
                          </a:solidFill>
                          <a:latin typeface="Courier New" pitchFamily="34" charset="0"/>
                          <a:ea typeface="Courier New" pitchFamily="34" charset="-122"/>
                          <a:cs typeface="Courier New" pitchFamily="34" charset="-120"/>
                        </a:rPr>
                        <a:t>null</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아니요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일일 </a:t>
                      </a:r>
                      <a:pPr indent="0" marL="0">
                        <a:buNone/>
                      </a:pPr>
                      <a:r>
                        <a:rPr lang="en-US" sz="1100" dirty="0">
                          <a:solidFill>
                            <a:srgbClr val="1F2937"/>
                          </a:solidFill>
                        </a:rPr>
                        <a:t>칼로리 </a:t>
                      </a:r>
                      <a:pPr indent="0" marL="0">
                        <a:buNone/>
                      </a:pPr>
                      <a:r>
                        <a:rPr lang="en-US" sz="1100" dirty="0">
                          <a:solidFill>
                            <a:srgbClr val="1F2937"/>
                          </a:solidFill>
                        </a:rPr>
                        <a:t>목표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dailyCarbohydrateG</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숫자 </a:t>
                      </a:r>
                      <a:pPr indent="0" marL="0">
                        <a:buNone/>
                      </a:pPr>
                      <a:r>
                        <a:rPr lang="en-US" sz="1100" dirty="0">
                          <a:solidFill>
                            <a:srgbClr val="1F2937"/>
                          </a:solidFill>
                        </a:rPr>
                        <a:t>또는</a:t>
                      </a:r>
                      <a:pPr indent="0" marL="0">
                        <a:buNone/>
                      </a:pPr>
                      <a:r>
                        <a:rPr lang="en-US" sz="1100" dirty="0">
                          <a:solidFill>
                            <a:srgbClr val="1F2937"/>
                          </a:solidFill>
                          <a:latin typeface="Courier New" pitchFamily="34" charset="0"/>
                          <a:ea typeface="Courier New" pitchFamily="34" charset="-122"/>
                          <a:cs typeface="Courier New" pitchFamily="34" charset="-120"/>
                        </a:rPr>
                        <a:t>null</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아니요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탄수화물 </a:t>
                      </a:r>
                      <a:pPr indent="0" marL="0">
                        <a:buNone/>
                      </a:pPr>
                      <a:r>
                        <a:rPr lang="en-US" sz="1100" dirty="0">
                          <a:solidFill>
                            <a:srgbClr val="1F2937"/>
                          </a:solidFill>
                        </a:rPr>
                        <a:t>목표. </a:t>
                      </a:r>
                      <a:pPr indent="0" marL="0">
                        <a:buNone/>
                      </a:pPr>
                      <a:r>
                        <a:rPr lang="en-US" sz="1100" dirty="0">
                          <a:solidFill>
                            <a:srgbClr val="1F2937"/>
                          </a:solidFill>
                        </a:rPr>
                        <a:t>입력 </a:t>
                      </a:r>
                      <a:pPr indent="0" marL="0">
                        <a:buNone/>
                      </a:pPr>
                      <a:r>
                        <a:rPr lang="en-US" sz="1100" dirty="0">
                          <a:solidFill>
                            <a:srgbClr val="1F2937"/>
                          </a:solidFill>
                        </a:rPr>
                        <a:t>제공 </a:t>
                      </a:r>
                      <a:pPr indent="0" marL="0">
                        <a:buNone/>
                      </a:pPr>
                      <a:r>
                        <a:rPr lang="en-US" sz="1100" dirty="0">
                          <a:solidFill>
                            <a:srgbClr val="1F2937"/>
                          </a:solidFill>
                        </a:rPr>
                        <a:t>여부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dailyProteinG</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숫자 </a:t>
                      </a:r>
                      <a:pPr indent="0" marL="0">
                        <a:buNone/>
                      </a:pPr>
                      <a:r>
                        <a:rPr lang="en-US" sz="1100" dirty="0">
                          <a:solidFill>
                            <a:srgbClr val="1F2937"/>
                          </a:solidFill>
                        </a:rPr>
                        <a:t>또는</a:t>
                      </a:r>
                      <a:pPr indent="0" marL="0">
                        <a:buNone/>
                      </a:pPr>
                      <a:r>
                        <a:rPr lang="en-US" sz="1100" dirty="0">
                          <a:solidFill>
                            <a:srgbClr val="1F2937"/>
                          </a:solidFill>
                          <a:latin typeface="Courier New" pitchFamily="34" charset="0"/>
                          <a:ea typeface="Courier New" pitchFamily="34" charset="-122"/>
                          <a:cs typeface="Courier New" pitchFamily="34" charset="-120"/>
                        </a:rPr>
                        <a:t>null</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아니요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단백질 </a:t>
                      </a:r>
                      <a:pPr indent="0" marL="0">
                        <a:buNone/>
                      </a:pPr>
                      <a:r>
                        <a:rPr lang="en-US" sz="1100" dirty="0">
                          <a:solidFill>
                            <a:srgbClr val="1F2937"/>
                          </a:solidFill>
                        </a:rPr>
                        <a:t>목표. </a:t>
                      </a:r>
                      <a:pPr indent="0" marL="0">
                        <a:buNone/>
                      </a:pPr>
                      <a:r>
                        <a:rPr lang="en-US" sz="1100" dirty="0">
                          <a:solidFill>
                            <a:srgbClr val="1F2937"/>
                          </a:solidFill>
                        </a:rPr>
                        <a:t>입력 </a:t>
                      </a:r>
                      <a:pPr indent="0" marL="0">
                        <a:buNone/>
                      </a:pPr>
                      <a:r>
                        <a:rPr lang="en-US" sz="1100" dirty="0">
                          <a:solidFill>
                            <a:srgbClr val="1F2937"/>
                          </a:solidFill>
                        </a:rPr>
                        <a:t>제공 </a:t>
                      </a:r>
                      <a:pPr indent="0" marL="0">
                        <a:buNone/>
                      </a:pPr>
                      <a:r>
                        <a:rPr lang="en-US" sz="1100" dirty="0">
                          <a:solidFill>
                            <a:srgbClr val="1F2937"/>
                          </a:solidFill>
                        </a:rPr>
                        <a:t>여부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dailyFatG</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숫자 </a:t>
                      </a:r>
                      <a:pPr indent="0" marL="0">
                        <a:buNone/>
                      </a:pPr>
                      <a:r>
                        <a:rPr lang="en-US" sz="1100" dirty="0">
                          <a:solidFill>
                            <a:srgbClr val="1F2937"/>
                          </a:solidFill>
                        </a:rPr>
                        <a:t>또는</a:t>
                      </a:r>
                      <a:pPr indent="0" marL="0">
                        <a:buNone/>
                      </a:pPr>
                      <a:r>
                        <a:rPr lang="en-US" sz="1100" dirty="0">
                          <a:solidFill>
                            <a:srgbClr val="1F2937"/>
                          </a:solidFill>
                          <a:latin typeface="Courier New" pitchFamily="34" charset="0"/>
                          <a:ea typeface="Courier New" pitchFamily="34" charset="-122"/>
                          <a:cs typeface="Courier New" pitchFamily="34" charset="-120"/>
                        </a:rPr>
                        <a:t>null</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아니요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지방 </a:t>
                      </a:r>
                      <a:pPr indent="0" marL="0">
                        <a:buNone/>
                      </a:pPr>
                      <a:r>
                        <a:rPr lang="en-US" sz="1100" dirty="0">
                          <a:solidFill>
                            <a:srgbClr val="1F2937"/>
                          </a:solidFill>
                        </a:rPr>
                        <a:t>목표. </a:t>
                      </a:r>
                      <a:pPr indent="0" marL="0">
                        <a:buNone/>
                      </a:pPr>
                      <a:r>
                        <a:rPr lang="en-US" sz="1100" dirty="0">
                          <a:solidFill>
                            <a:srgbClr val="1F2937"/>
                          </a:solidFill>
                        </a:rPr>
                        <a:t>입력 </a:t>
                      </a:r>
                      <a:pPr indent="0" marL="0">
                        <a:buNone/>
                      </a:pPr>
                      <a:r>
                        <a:rPr lang="en-US" sz="1100" dirty="0">
                          <a:solidFill>
                            <a:srgbClr val="1F2937"/>
                          </a:solidFill>
                        </a:rPr>
                        <a:t>제공 </a:t>
                      </a:r>
                      <a:pPr indent="0" marL="0">
                        <a:buNone/>
                      </a:pPr>
                      <a:r>
                        <a:rPr lang="en-US" sz="1100" dirty="0">
                          <a:solidFill>
                            <a:srgbClr val="1F2937"/>
                          </a:solidFill>
                        </a:rPr>
                        <a:t>여부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validFrom</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날짜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목표 </a:t>
                      </a:r>
                      <a:pPr indent="0" marL="0">
                        <a:buNone/>
                      </a:pPr>
                      <a:r>
                        <a:rPr lang="en-US" sz="1100" dirty="0">
                          <a:solidFill>
                            <a:srgbClr val="1F2937"/>
                          </a:solidFill>
                        </a:rPr>
                        <a:t>적용 </a:t>
                      </a:r>
                      <a:pPr indent="0" marL="0">
                        <a:buNone/>
                      </a:pPr>
                      <a:r>
                        <a:rPr lang="en-US" sz="1100" dirty="0">
                          <a:solidFill>
                            <a:srgbClr val="1F2937"/>
                          </a:solidFill>
                        </a:rPr>
                        <a:t>시작일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validTo</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날짜 </a:t>
                      </a:r>
                      <a:pPr indent="0" marL="0">
                        <a:buNone/>
                      </a:pPr>
                      <a:r>
                        <a:rPr lang="en-US" sz="1100" dirty="0">
                          <a:solidFill>
                            <a:srgbClr val="1F2937"/>
                          </a:solidFill>
                        </a:rPr>
                        <a:t>또는</a:t>
                      </a:r>
                      <a:pPr indent="0" marL="0">
                        <a:buNone/>
                      </a:pPr>
                      <a:r>
                        <a:rPr lang="en-US" sz="1100" dirty="0">
                          <a:solidFill>
                            <a:srgbClr val="1F2937"/>
                          </a:solidFill>
                          <a:latin typeface="Courier New" pitchFamily="34" charset="0"/>
                          <a:ea typeface="Courier New" pitchFamily="34" charset="-122"/>
                          <a:cs typeface="Courier New" pitchFamily="34" charset="-120"/>
                        </a:rPr>
                        <a:t>null</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아니요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목표 </a:t>
                      </a:r>
                      <a:pPr indent="0" marL="0">
                        <a:buNone/>
                      </a:pPr>
                      <a:r>
                        <a:rPr lang="en-US" sz="1100" dirty="0">
                          <a:solidFill>
                            <a:srgbClr val="1F2937"/>
                          </a:solidFill>
                        </a:rPr>
                        <a:t>적용 </a:t>
                      </a:r>
                      <a:pPr indent="0" marL="0">
                        <a:buNone/>
                      </a:pPr>
                      <a:r>
                        <a:rPr lang="en-US" sz="1100" dirty="0">
                          <a:solidFill>
                            <a:srgbClr val="1F2937"/>
                          </a:solidFill>
                        </a:rPr>
                        <a:t>종료일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212</a:t>
            </a:fld>
            <a:endParaRPr lang="en-US"/>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name="Slide 21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7.3 목표 이력</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자동 권장 칼로리는 MVP에서 제공하지 않습니다. 사용자가 직접 목표를 입력할 수 있는 범위와 안전 기준은 확인 필요입니다.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213</a:t>
            </a:fld>
            <a:endParaRPr lang="en-US"/>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name="Slide 21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7.4 음식 검색 결과</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215"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382253"/>
                <a:gridCol w="1407695"/>
                <a:gridCol w="649705"/>
                <a:gridCol w="3789947"/>
              </a:tblGrid>
              <a:tr h="0">
                <a:tc>
                  <a:txBody>
                    <a:bodyPr/>
                    <a:lstStyle/>
                    <a:p>
                      <a:pPr indent="0" marL="0">
                        <a:buNone/>
                      </a:pPr>
                      <a:r>
                        <a:rPr lang="en-US" sz="1200" b="1" dirty="0">
                          <a:solidFill>
                            <a:srgbClr val="FFFFFF"/>
                          </a:solidFill>
                        </a:rPr>
                        <a:t>필드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형식</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필수</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설명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id</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문자열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내부 </a:t>
                      </a:r>
                      <a:pPr indent="0" marL="0">
                        <a:buNone/>
                      </a:pPr>
                      <a:r>
                        <a:rPr lang="en-US" sz="1100" dirty="0">
                          <a:solidFill>
                            <a:srgbClr val="1F2937"/>
                          </a:solidFill>
                        </a:rPr>
                        <a:t>음식 </a:t>
                      </a:r>
                      <a:pPr indent="0" marL="0">
                        <a:buNone/>
                      </a:pPr>
                      <a:r>
                        <a:rPr lang="en-US" sz="1100" dirty="0">
                          <a:solidFill>
                            <a:srgbClr val="1F2937"/>
                          </a:solidFill>
                        </a:rPr>
                        <a:t>식별값</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name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문자열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화면에 </a:t>
                      </a:r>
                      <a:pPr indent="0" marL="0">
                        <a:buNone/>
                      </a:pPr>
                      <a:r>
                        <a:rPr lang="en-US" sz="1100" dirty="0">
                          <a:solidFill>
                            <a:srgbClr val="1F2937"/>
                          </a:solidFill>
                        </a:rPr>
                        <a:t>표시할 </a:t>
                      </a:r>
                      <a:pPr indent="0" marL="0">
                        <a:buNone/>
                      </a:pPr>
                      <a:r>
                        <a:rPr lang="en-US" sz="1100" dirty="0">
                          <a:solidFill>
                            <a:srgbClr val="1F2937"/>
                          </a:solidFill>
                        </a:rPr>
                        <a:t>음식명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brandName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문자열 </a:t>
                      </a:r>
                      <a:pPr indent="0" marL="0">
                        <a:buNone/>
                      </a:pPr>
                      <a:r>
                        <a:rPr lang="en-US" sz="1100" dirty="0">
                          <a:solidFill>
                            <a:srgbClr val="1F2937"/>
                          </a:solidFill>
                        </a:rPr>
                        <a:t>또는</a:t>
                      </a:r>
                      <a:pPr indent="0" marL="0">
                        <a:buNone/>
                      </a:pPr>
                      <a:r>
                        <a:rPr lang="en-US" sz="1100" dirty="0">
                          <a:solidFill>
                            <a:srgbClr val="1F2937"/>
                          </a:solidFill>
                          <a:latin typeface="Courier New" pitchFamily="34" charset="0"/>
                          <a:ea typeface="Courier New" pitchFamily="34" charset="-122"/>
                          <a:cs typeface="Courier New" pitchFamily="34" charset="-120"/>
                        </a:rPr>
                        <a:t>null</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아니요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브랜드명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sourceType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문자열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예:</a:t>
                      </a:r>
                      <a:pPr indent="0" marL="0">
                        <a:buNone/>
                      </a:pPr>
                      <a:r>
                        <a:rPr lang="en-US" sz="1100" dirty="0">
                          <a:solidFill>
                            <a:srgbClr val="1F2937"/>
                          </a:solidFill>
                          <a:latin typeface="Courier New" pitchFamily="34" charset="0"/>
                          <a:ea typeface="Courier New" pitchFamily="34" charset="-122"/>
                          <a:cs typeface="Courier New" pitchFamily="34" charset="-120"/>
                        </a:rPr>
                        <a:t>provider</a:t>
                      </a:r>
                      <a:pPr indent="0" marL="0">
                        <a:buNone/>
                      </a:pPr>
                      <a:r>
                        <a:rPr lang="en-US" sz="1100" dirty="0">
                          <a:solidFill>
                            <a:srgbClr val="1F2937"/>
                          </a:solidFill>
                        </a:rPr>
                        <a:t>,</a:t>
                      </a:r>
                      <a:pPr indent="0" marL="0">
                        <a:buNone/>
                      </a:pPr>
                      <a:r>
                        <a:rPr lang="en-US" sz="1100" dirty="0">
                          <a:solidFill>
                            <a:srgbClr val="1F2937"/>
                          </a:solidFill>
                          <a:latin typeface="Courier New" pitchFamily="34" charset="0"/>
                          <a:ea typeface="Courier New" pitchFamily="34" charset="-122"/>
                          <a:cs typeface="Courier New" pitchFamily="34" charset="-120"/>
                        </a:rPr>
                        <a:t>public</a:t>
                      </a:r>
                      <a:pPr indent="0" marL="0">
                        <a:buNone/>
                      </a:pPr>
                      <a:r>
                        <a:rPr lang="en-US" sz="1100" dirty="0">
                          <a:solidFill>
                            <a:srgbClr val="1F2937"/>
                          </a:solidFill>
                        </a:rPr>
                        <a:t>,</a:t>
                      </a:r>
                      <a:pPr indent="0" marL="0">
                        <a:buNone/>
                      </a:pPr>
                      <a:r>
                        <a:rPr lang="en-US" sz="1100" dirty="0">
                          <a:solidFill>
                            <a:srgbClr val="1F2937"/>
                          </a:solidFill>
                          <a:latin typeface="Courier New" pitchFamily="34" charset="0"/>
                          <a:ea typeface="Courier New" pitchFamily="34" charset="-122"/>
                          <a:cs typeface="Courier New" pitchFamily="34" charset="-120"/>
                        </a:rPr>
                        <a:t>internal</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serving.name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문자열 </a:t>
                      </a:r>
                      <a:pPr indent="0" marL="0">
                        <a:buNone/>
                      </a:pPr>
                      <a:r>
                        <a:rPr lang="en-US" sz="1100" dirty="0">
                          <a:solidFill>
                            <a:srgbClr val="1F2937"/>
                          </a:solidFill>
                        </a:rPr>
                        <a:t>또는</a:t>
                      </a:r>
                      <a:pPr indent="0" marL="0">
                        <a:buNone/>
                      </a:pPr>
                      <a:r>
                        <a:rPr lang="en-US" sz="1100" dirty="0">
                          <a:solidFill>
                            <a:srgbClr val="1F2937"/>
                          </a:solidFill>
                          <a:latin typeface="Courier New" pitchFamily="34" charset="0"/>
                          <a:ea typeface="Courier New" pitchFamily="34" charset="-122"/>
                          <a:cs typeface="Courier New" pitchFamily="34" charset="-120"/>
                        </a:rPr>
                        <a:t>null</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아니요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제공량 </a:t>
                      </a:r>
                      <a:pPr indent="0" marL="0">
                        <a:buNone/>
                      </a:pPr>
                      <a:r>
                        <a:rPr lang="en-US" sz="1100" dirty="0">
                          <a:solidFill>
                            <a:srgbClr val="1F2937"/>
                          </a:solidFill>
                        </a:rPr>
                        <a:t>이름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serving.amount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숫자 </a:t>
                      </a:r>
                      <a:pPr indent="0" marL="0">
                        <a:buNone/>
                      </a:pPr>
                      <a:r>
                        <a:rPr lang="en-US" sz="1100" dirty="0">
                          <a:solidFill>
                            <a:srgbClr val="1F2937"/>
                          </a:solidFill>
                        </a:rPr>
                        <a:t>또는</a:t>
                      </a:r>
                      <a:pPr indent="0" marL="0">
                        <a:buNone/>
                      </a:pPr>
                      <a:r>
                        <a:rPr lang="en-US" sz="1100" dirty="0">
                          <a:solidFill>
                            <a:srgbClr val="1F2937"/>
                          </a:solidFill>
                          <a:latin typeface="Courier New" pitchFamily="34" charset="0"/>
                          <a:ea typeface="Courier New" pitchFamily="34" charset="-122"/>
                          <a:cs typeface="Courier New" pitchFamily="34" charset="-120"/>
                        </a:rPr>
                        <a:t>null</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아니요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제공량 </a:t>
                      </a:r>
                      <a:pPr indent="0" marL="0">
                        <a:buNone/>
                      </a:pPr>
                      <a:r>
                        <a:rPr lang="en-US" sz="1100" dirty="0">
                          <a:solidFill>
                            <a:srgbClr val="1F2937"/>
                          </a:solidFill>
                        </a:rPr>
                        <a:t>수치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serving.unit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문자열 </a:t>
                      </a:r>
                      <a:pPr indent="0" marL="0">
                        <a:buNone/>
                      </a:pPr>
                      <a:r>
                        <a:rPr lang="en-US" sz="1100" dirty="0">
                          <a:solidFill>
                            <a:srgbClr val="1F2937"/>
                          </a:solidFill>
                        </a:rPr>
                        <a:t>또는</a:t>
                      </a:r>
                      <a:pPr indent="0" marL="0">
                        <a:buNone/>
                      </a:pPr>
                      <a:r>
                        <a:rPr lang="en-US" sz="1100" dirty="0">
                          <a:solidFill>
                            <a:srgbClr val="1F2937"/>
                          </a:solidFill>
                          <a:latin typeface="Courier New" pitchFamily="34" charset="0"/>
                          <a:ea typeface="Courier New" pitchFamily="34" charset="-122"/>
                          <a:cs typeface="Courier New" pitchFamily="34" charset="-120"/>
                        </a:rPr>
                        <a:t>null</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아니요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제공량 </a:t>
                      </a:r>
                      <a:pPr indent="0" marL="0">
                        <a:buNone/>
                      </a:pPr>
                      <a:r>
                        <a:rPr lang="en-US" sz="1100" dirty="0">
                          <a:solidFill>
                            <a:srgbClr val="1F2937"/>
                          </a:solidFill>
                        </a:rPr>
                        <a:t>단위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nutrients</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객체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기록 </a:t>
                      </a:r>
                      <a:pPr indent="0" marL="0">
                        <a:buNone/>
                      </a:pPr>
                      <a:r>
                        <a:rPr lang="en-US" sz="1100" dirty="0">
                          <a:solidFill>
                            <a:srgbClr val="1F2937"/>
                          </a:solidFill>
                        </a:rPr>
                        <a:t>가능한 </a:t>
                      </a:r>
                      <a:pPr indent="0" marL="0">
                        <a:buNone/>
                      </a:pPr>
                      <a:r>
                        <a:rPr lang="en-US" sz="1100" dirty="0">
                          <a:solidFill>
                            <a:srgbClr val="1F2937"/>
                          </a:solidFill>
                        </a:rPr>
                        <a:t>영양값</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nutrientAvailability</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객체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영양값 </a:t>
                      </a:r>
                      <a:pPr indent="0" marL="0">
                        <a:buNone/>
                      </a:pPr>
                      <a:r>
                        <a:rPr lang="en-US" sz="1100" dirty="0">
                          <a:solidFill>
                            <a:srgbClr val="1F2937"/>
                          </a:solidFill>
                        </a:rPr>
                        <a:t>존재 </a:t>
                      </a:r>
                      <a:pPr indent="0" marL="0">
                        <a:buNone/>
                      </a:pPr>
                      <a:r>
                        <a:rPr lang="en-US" sz="1100" dirty="0">
                          <a:solidFill>
                            <a:srgbClr val="1F2937"/>
                          </a:solidFill>
                        </a:rPr>
                        <a:t>여부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source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객체 </a:t>
                      </a:r>
                      <a:pPr indent="0" marL="0">
                        <a:buNone/>
                      </a:pPr>
                      <a:r>
                        <a:rPr lang="en-US" sz="1100" dirty="0">
                          <a:solidFill>
                            <a:srgbClr val="1F2937"/>
                          </a:solidFill>
                        </a:rPr>
                        <a:t>또는</a:t>
                      </a:r>
                      <a:pPr indent="0" marL="0">
                        <a:buNone/>
                      </a:pPr>
                      <a:r>
                        <a:rPr lang="en-US" sz="1100" dirty="0">
                          <a:solidFill>
                            <a:srgbClr val="1F2937"/>
                          </a:solidFill>
                          <a:latin typeface="Courier New" pitchFamily="34" charset="0"/>
                          <a:ea typeface="Courier New" pitchFamily="34" charset="-122"/>
                          <a:cs typeface="Courier New" pitchFamily="34" charset="-120"/>
                        </a:rPr>
                        <a:t>null</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아니요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출처 </a:t>
                      </a:r>
                      <a:pPr indent="0" marL="0">
                        <a:buNone/>
                      </a:pPr>
                      <a:r>
                        <a:rPr lang="en-US" sz="1100" dirty="0">
                          <a:solidFill>
                            <a:srgbClr val="1F2937"/>
                          </a:solidFill>
                        </a:rPr>
                        <a:t>확인 </a:t>
                      </a:r>
                      <a:pPr indent="0" marL="0">
                        <a:buNone/>
                      </a:pPr>
                      <a:r>
                        <a:rPr lang="en-US" sz="1100" dirty="0">
                          <a:solidFill>
                            <a:srgbClr val="1F2937"/>
                          </a:solidFill>
                        </a:rPr>
                        <a:t>정보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214</a:t>
            </a:fld>
            <a:endParaRPr lang="en-US"/>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name="Slide 21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7.4 음식 검색 결과</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제공량이나 출처가 없는 항목에 임의의 기본 단위를 만들지 않습니다. 음식 정보는 참고값이며 정확한 섭취량으로 표현하지 않습니다.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215</a:t>
            </a:fld>
            <a:endParaRPr lang="en-US"/>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name="Slide 21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7.5 영양값</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217"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3740727"/>
                <a:gridCol w="2992582"/>
                <a:gridCol w="1496291"/>
              </a:tblGrid>
              <a:tr h="0">
                <a:tc>
                  <a:txBody>
                    <a:bodyPr/>
                    <a:lstStyle/>
                    <a:p>
                      <a:pPr indent="0" marL="0">
                        <a:buNone/>
                      </a:pPr>
                      <a:r>
                        <a:rPr lang="en-US" sz="1200" b="1" dirty="0">
                          <a:solidFill>
                            <a:srgbClr val="FFFFFF"/>
                          </a:solidFill>
                        </a:rPr>
                        <a:t>필드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형식</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설명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energyKcal</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숫자 </a:t>
                      </a:r>
                      <a:pPr indent="0" marL="0">
                        <a:buNone/>
                      </a:pPr>
                      <a:r>
                        <a:rPr lang="en-US" sz="1100" dirty="0">
                          <a:solidFill>
                            <a:srgbClr val="1F2937"/>
                          </a:solidFill>
                        </a:rPr>
                        <a:t>또는</a:t>
                      </a:r>
                      <a:pPr indent="0" marL="0">
                        <a:buNone/>
                      </a:pPr>
                      <a:r>
                        <a:rPr lang="en-US" sz="1100" dirty="0">
                          <a:solidFill>
                            <a:srgbClr val="1F2937"/>
                          </a:solidFill>
                          <a:latin typeface="Courier New" pitchFamily="34" charset="0"/>
                          <a:ea typeface="Courier New" pitchFamily="34" charset="-122"/>
                          <a:cs typeface="Courier New" pitchFamily="34" charset="-120"/>
                        </a:rPr>
                        <a:t>null</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칼로리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carbohydrateG</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숫자 </a:t>
                      </a:r>
                      <a:pPr indent="0" marL="0">
                        <a:buNone/>
                      </a:pPr>
                      <a:r>
                        <a:rPr lang="en-US" sz="1100" dirty="0">
                          <a:solidFill>
                            <a:srgbClr val="1F2937"/>
                          </a:solidFill>
                        </a:rPr>
                        <a:t>또는</a:t>
                      </a:r>
                      <a:pPr indent="0" marL="0">
                        <a:buNone/>
                      </a:pPr>
                      <a:r>
                        <a:rPr lang="en-US" sz="1100" dirty="0">
                          <a:solidFill>
                            <a:srgbClr val="1F2937"/>
                          </a:solidFill>
                          <a:latin typeface="Courier New" pitchFamily="34" charset="0"/>
                          <a:ea typeface="Courier New" pitchFamily="34" charset="-122"/>
                          <a:cs typeface="Courier New" pitchFamily="34" charset="-120"/>
                        </a:rPr>
                        <a:t>null</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탄수화물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proteinG</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숫자 </a:t>
                      </a:r>
                      <a:pPr indent="0" marL="0">
                        <a:buNone/>
                      </a:pPr>
                      <a:r>
                        <a:rPr lang="en-US" sz="1100" dirty="0">
                          <a:solidFill>
                            <a:srgbClr val="1F2937"/>
                          </a:solidFill>
                        </a:rPr>
                        <a:t>또는</a:t>
                      </a:r>
                      <a:pPr indent="0" marL="0">
                        <a:buNone/>
                      </a:pPr>
                      <a:r>
                        <a:rPr lang="en-US" sz="1100" dirty="0">
                          <a:solidFill>
                            <a:srgbClr val="1F2937"/>
                          </a:solidFill>
                          <a:latin typeface="Courier New" pitchFamily="34" charset="0"/>
                          <a:ea typeface="Courier New" pitchFamily="34" charset="-122"/>
                          <a:cs typeface="Courier New" pitchFamily="34" charset="-120"/>
                        </a:rPr>
                        <a:t>null</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단백질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fatG</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숫자 </a:t>
                      </a:r>
                      <a:pPr indent="0" marL="0">
                        <a:buNone/>
                      </a:pPr>
                      <a:r>
                        <a:rPr lang="en-US" sz="1100" dirty="0">
                          <a:solidFill>
                            <a:srgbClr val="1F2937"/>
                          </a:solidFill>
                        </a:rPr>
                        <a:t>또는</a:t>
                      </a:r>
                      <a:pPr indent="0" marL="0">
                        <a:buNone/>
                      </a:pPr>
                      <a:r>
                        <a:rPr lang="en-US" sz="1100" dirty="0">
                          <a:solidFill>
                            <a:srgbClr val="1F2937"/>
                          </a:solidFill>
                          <a:latin typeface="Courier New" pitchFamily="34" charset="0"/>
                          <a:ea typeface="Courier New" pitchFamily="34" charset="-122"/>
                          <a:cs typeface="Courier New" pitchFamily="34" charset="-120"/>
                        </a:rPr>
                        <a:t>null</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지방</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216</a:t>
            </a:fld>
            <a:endParaRPr lang="en-US"/>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name="Slide 21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7.5 영양값</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null</a:t>
            </a:r>
            <a:pPr indent="0" marL="0">
              <a:spcAft>
                <a:spcPts val="800"/>
              </a:spcAft>
              <a:buNone/>
            </a:pPr>
            <a:r>
              <a:rPr lang="en-US" sz="1600" dirty="0">
                <a:solidFill>
                  <a:srgbClr val="4B5563"/>
                </a:solidFill>
              </a:rPr>
              <a:t>: 값이 없거나 입력되지 않은 상태</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0</a:t>
            </a:r>
            <a:pPr indent="0" marL="0">
              <a:spcAft>
                <a:spcPts val="800"/>
              </a:spcAft>
              <a:buNone/>
            </a:pPr>
            <a:r>
              <a:rPr lang="en-US" sz="1600" dirty="0">
                <a:solidFill>
                  <a:srgbClr val="4B5563"/>
                </a:solidFill>
              </a:rPr>
              <a:t>: 실제 값이 0인 상태</a:t>
            </a:r>
            <a:endParaRPr lang="en-US" sz="1600" dirty="0"/>
          </a:p>
          <a:p>
            <a:pPr indent="0" marL="0">
              <a:spcAft>
                <a:spcPts val="800"/>
              </a:spcAft>
              <a:buNone/>
            </a:pPr>
            <a:r>
              <a:rPr lang="en-US" sz="1600" dirty="0">
                <a:solidFill>
                  <a:srgbClr val="4B5563"/>
                </a:solidFill>
              </a:rPr>
              <a:t>· 리포트는 영양소별로 값이 있는 항목만 집계합니다.</a:t>
            </a:r>
            <a:endParaRPr lang="en-US" sz="1600" dirty="0"/>
          </a:p>
          <a:p>
            <a:pPr indent="0" marL="0">
              <a:spcAft>
                <a:spcPts val="800"/>
              </a:spcAft>
              <a:buNone/>
            </a:pPr>
            <a:r>
              <a:rPr lang="en-US" sz="1600" dirty="0">
                <a:solidFill>
                  <a:srgbClr val="4B5563"/>
                </a:solidFill>
              </a:rPr>
              <a:t>· 영양값에는 데이터 출처를 함께 관리합니다.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217</a:t>
            </a:fld>
            <a:endParaRPr lang="en-US"/>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name="Slide 21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7.6 식사 음식 항목</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219"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273968"/>
                <a:gridCol w="1407695"/>
                <a:gridCol w="649705"/>
                <a:gridCol w="3898232"/>
              </a:tblGrid>
              <a:tr h="0">
                <a:tc>
                  <a:txBody>
                    <a:bodyPr/>
                    <a:lstStyle/>
                    <a:p>
                      <a:pPr indent="0" marL="0">
                        <a:buNone/>
                      </a:pPr>
                      <a:r>
                        <a:rPr lang="en-US" sz="1200" b="1" dirty="0">
                          <a:solidFill>
                            <a:srgbClr val="FFFFFF"/>
                          </a:solidFill>
                        </a:rPr>
                        <a:t>필드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형식</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필수</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설명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id</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문자열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기록 </a:t>
                      </a:r>
                      <a:pPr indent="0" marL="0">
                        <a:buNone/>
                      </a:pPr>
                      <a:r>
                        <a:rPr lang="en-US" sz="1100" dirty="0">
                          <a:solidFill>
                            <a:srgbClr val="1F2937"/>
                          </a:solidFill>
                        </a:rPr>
                        <a:t>항목 </a:t>
                      </a:r>
                      <a:pPr indent="0" marL="0">
                        <a:buNone/>
                      </a:pPr>
                      <a:r>
                        <a:rPr lang="en-US" sz="1100" dirty="0">
                          <a:solidFill>
                            <a:srgbClr val="1F2937"/>
                          </a:solidFill>
                        </a:rPr>
                        <a:t>식별값</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consumedDate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날짜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현지 </a:t>
                      </a:r>
                      <a:pPr indent="0" marL="0">
                        <a:buNone/>
                      </a:pPr>
                      <a:r>
                        <a:rPr lang="en-US" sz="1100" dirty="0">
                          <a:solidFill>
                            <a:srgbClr val="1F2937"/>
                          </a:solidFill>
                        </a:rPr>
                        <a:t>섭취 </a:t>
                      </a:r>
                      <a:pPr indent="0" marL="0">
                        <a:buNone/>
                      </a:pPr>
                      <a:r>
                        <a:rPr lang="en-US" sz="1100" dirty="0">
                          <a:solidFill>
                            <a:srgbClr val="1F2937"/>
                          </a:solidFill>
                        </a:rPr>
                        <a:t>날짜, </a:t>
                      </a:r>
                      <a:pPr indent="0" marL="0">
                        <a:buNone/>
                      </a:pPr>
                      <a:r>
                        <a:rPr lang="en-US" sz="1100" dirty="0">
                          <a:solidFill>
                            <a:srgbClr val="1F2937"/>
                          </a:solidFill>
                        </a:rPr>
                        <a:t>리포트 </a:t>
                      </a:r>
                      <a:pPr indent="0" marL="0">
                        <a:buNone/>
                      </a:pPr>
                      <a:r>
                        <a:rPr lang="en-US" sz="1100" dirty="0">
                          <a:solidFill>
                            <a:srgbClr val="1F2937"/>
                          </a:solidFill>
                        </a:rPr>
                        <a:t>집계 </a:t>
                      </a:r>
                      <a:pPr indent="0" marL="0">
                        <a:buNone/>
                      </a:pPr>
                      <a:r>
                        <a:rPr lang="en-US" sz="1100" dirty="0">
                          <a:solidFill>
                            <a:srgbClr val="1F2937"/>
                          </a:solidFill>
                        </a:rPr>
                        <a:t>기준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consumedAt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문자열 </a:t>
                      </a:r>
                      <a:pPr indent="0" marL="0">
                        <a:buNone/>
                      </a:pPr>
                      <a:r>
                        <a:rPr lang="en-US" sz="1100" dirty="0">
                          <a:solidFill>
                            <a:srgbClr val="1F2937"/>
                          </a:solidFill>
                        </a:rPr>
                        <a:t>또는</a:t>
                      </a:r>
                      <a:pPr indent="0" marL="0">
                        <a:buNone/>
                      </a:pPr>
                      <a:r>
                        <a:rPr lang="en-US" sz="1100" dirty="0">
                          <a:solidFill>
                            <a:srgbClr val="1F2937"/>
                          </a:solidFill>
                          <a:latin typeface="Courier New" pitchFamily="34" charset="0"/>
                          <a:ea typeface="Courier New" pitchFamily="34" charset="-122"/>
                          <a:cs typeface="Courier New" pitchFamily="34" charset="-120"/>
                        </a:rPr>
                        <a:t>null</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아니요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실제 </a:t>
                      </a:r>
                      <a:pPr indent="0" marL="0">
                        <a:buNone/>
                      </a:pPr>
                      <a:r>
                        <a:rPr lang="en-US" sz="1100" dirty="0">
                          <a:solidFill>
                            <a:srgbClr val="1F2937"/>
                          </a:solidFill>
                        </a:rPr>
                        <a:t>섭취 </a:t>
                      </a:r>
                      <a:pPr indent="0" marL="0">
                        <a:buNone/>
                      </a:pPr>
                      <a:r>
                        <a:rPr lang="en-US" sz="1100" dirty="0">
                          <a:solidFill>
                            <a:srgbClr val="1F2937"/>
                          </a:solidFill>
                        </a:rPr>
                        <a:t>시각</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mealType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문자열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breakfast</a:t>
                      </a:r>
                      <a:pPr indent="0" marL="0">
                        <a:buNone/>
                      </a:pPr>
                      <a:r>
                        <a:rPr lang="en-US" sz="1100" dirty="0">
                          <a:solidFill>
                            <a:srgbClr val="1F2937"/>
                          </a:solidFill>
                        </a:rPr>
                        <a:t>,</a:t>
                      </a:r>
                      <a:pPr indent="0" marL="0">
                        <a:buNone/>
                      </a:pPr>
                      <a:r>
                        <a:rPr lang="en-US" sz="1100" dirty="0">
                          <a:solidFill>
                            <a:srgbClr val="1F2937"/>
                          </a:solidFill>
                          <a:latin typeface="Courier New" pitchFamily="34" charset="0"/>
                          <a:ea typeface="Courier New" pitchFamily="34" charset="-122"/>
                          <a:cs typeface="Courier New" pitchFamily="34" charset="-120"/>
                        </a:rPr>
                        <a:t>lunch</a:t>
                      </a:r>
                      <a:pPr indent="0" marL="0">
                        <a:buNone/>
                      </a:pPr>
                      <a:r>
                        <a:rPr lang="en-US" sz="1100" dirty="0">
                          <a:solidFill>
                            <a:srgbClr val="1F2937"/>
                          </a:solidFill>
                        </a:rPr>
                        <a:t>,</a:t>
                      </a:r>
                      <a:pPr indent="0" marL="0">
                        <a:buNone/>
                      </a:pPr>
                      <a:r>
                        <a:rPr lang="en-US" sz="1100" dirty="0">
                          <a:solidFill>
                            <a:srgbClr val="1F2937"/>
                          </a:solidFill>
                          <a:latin typeface="Courier New" pitchFamily="34" charset="0"/>
                          <a:ea typeface="Courier New" pitchFamily="34" charset="-122"/>
                          <a:cs typeface="Courier New" pitchFamily="34" charset="-120"/>
                        </a:rPr>
                        <a:t>dinner</a:t>
                      </a:r>
                      <a:pPr indent="0" marL="0">
                        <a:buNone/>
                      </a:pPr>
                      <a:r>
                        <a:rPr lang="en-US" sz="1100" dirty="0">
                          <a:solidFill>
                            <a:srgbClr val="1F2937"/>
                          </a:solidFill>
                        </a:rPr>
                        <a:t>,</a:t>
                      </a:r>
                      <a:pPr indent="0" marL="0">
                        <a:buNone/>
                      </a:pPr>
                      <a:r>
                        <a:rPr lang="en-US" sz="1100" dirty="0">
                          <a:solidFill>
                            <a:srgbClr val="1F2937"/>
                          </a:solidFill>
                          <a:latin typeface="Courier New" pitchFamily="34" charset="0"/>
                          <a:ea typeface="Courier New" pitchFamily="34" charset="-122"/>
                          <a:cs typeface="Courier New" pitchFamily="34" charset="-120"/>
                        </a:rPr>
                        <a:t>snack</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foodNameSnapshot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문자열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기록 </a:t>
                      </a:r>
                      <a:pPr indent="0" marL="0">
                        <a:buNone/>
                      </a:pPr>
                      <a:r>
                        <a:rPr lang="en-US" sz="1100" dirty="0">
                          <a:solidFill>
                            <a:srgbClr val="1F2937"/>
                          </a:solidFill>
                        </a:rPr>
                        <a:t>당시 </a:t>
                      </a:r>
                      <a:pPr indent="0" marL="0">
                        <a:buNone/>
                      </a:pPr>
                      <a:r>
                        <a:rPr lang="en-US" sz="1100" dirty="0">
                          <a:solidFill>
                            <a:srgbClr val="1F2937"/>
                          </a:solidFill>
                        </a:rPr>
                        <a:t>음식명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quantityMultiplier</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숫자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기준 </a:t>
                      </a:r>
                      <a:pPr indent="0" marL="0">
                        <a:buNone/>
                      </a:pPr>
                      <a:r>
                        <a:rPr lang="en-US" sz="1100" dirty="0">
                          <a:solidFill>
                            <a:srgbClr val="1F2937"/>
                          </a:solidFill>
                        </a:rPr>
                        <a:t>제공량의 </a:t>
                      </a:r>
                      <a:pPr indent="0" marL="0">
                        <a:buNone/>
                      </a:pPr>
                      <a:r>
                        <a:rPr lang="en-US" sz="1100" dirty="0">
                          <a:solidFill>
                            <a:srgbClr val="1F2937"/>
                          </a:solidFill>
                        </a:rPr>
                        <a:t>배수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servingNameSnapshot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문자열 </a:t>
                      </a:r>
                      <a:pPr indent="0" marL="0">
                        <a:buNone/>
                      </a:pPr>
                      <a:r>
                        <a:rPr lang="en-US" sz="1100" dirty="0">
                          <a:solidFill>
                            <a:srgbClr val="1F2937"/>
                          </a:solidFill>
                        </a:rPr>
                        <a:t>또는</a:t>
                      </a:r>
                      <a:pPr indent="0" marL="0">
                        <a:buNone/>
                      </a:pPr>
                      <a:r>
                        <a:rPr lang="en-US" sz="1100" dirty="0">
                          <a:solidFill>
                            <a:srgbClr val="1F2937"/>
                          </a:solidFill>
                          <a:latin typeface="Courier New" pitchFamily="34" charset="0"/>
                          <a:ea typeface="Courier New" pitchFamily="34" charset="-122"/>
                          <a:cs typeface="Courier New" pitchFamily="34" charset="-120"/>
                        </a:rPr>
                        <a:t>null</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아니요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기록 </a:t>
                      </a:r>
                      <a:pPr indent="0" marL="0">
                        <a:buNone/>
                      </a:pPr>
                      <a:r>
                        <a:rPr lang="en-US" sz="1100" dirty="0">
                          <a:solidFill>
                            <a:srgbClr val="1F2937"/>
                          </a:solidFill>
                        </a:rPr>
                        <a:t>당시 </a:t>
                      </a:r>
                      <a:pPr indent="0" marL="0">
                        <a:buNone/>
                      </a:pPr>
                      <a:r>
                        <a:rPr lang="en-US" sz="1100" dirty="0">
                          <a:solidFill>
                            <a:srgbClr val="1F2937"/>
                          </a:solidFill>
                        </a:rPr>
                        <a:t>제공량 </a:t>
                      </a:r>
                      <a:pPr indent="0" marL="0">
                        <a:buNone/>
                      </a:pPr>
                      <a:r>
                        <a:rPr lang="en-US" sz="1100" dirty="0">
                          <a:solidFill>
                            <a:srgbClr val="1F2937"/>
                          </a:solidFill>
                        </a:rPr>
                        <a:t>이름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nutrients</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객체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기록 </a:t>
                      </a:r>
                      <a:pPr indent="0" marL="0">
                        <a:buNone/>
                      </a:pPr>
                      <a:r>
                        <a:rPr lang="en-US" sz="1100" dirty="0">
                          <a:solidFill>
                            <a:srgbClr val="1F2937"/>
                          </a:solidFill>
                        </a:rPr>
                        <a:t>시점 </a:t>
                      </a:r>
                      <a:pPr indent="0" marL="0">
                        <a:buNone/>
                      </a:pPr>
                      <a:r>
                        <a:rPr lang="en-US" sz="1100" dirty="0">
                          <a:solidFill>
                            <a:srgbClr val="1F2937"/>
                          </a:solidFill>
                        </a:rPr>
                        <a:t>영양값 </a:t>
                      </a:r>
                      <a:pPr indent="0" marL="0">
                        <a:buNone/>
                      </a:pPr>
                      <a:r>
                        <a:rPr lang="en-US" sz="1100" dirty="0">
                          <a:solidFill>
                            <a:srgbClr val="1F2937"/>
                          </a:solidFill>
                        </a:rPr>
                        <a:t>스냅샷</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nutrientSourceType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문자열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provider</a:t>
                      </a:r>
                      <a:pPr indent="0" marL="0">
                        <a:buNone/>
                      </a:pPr>
                      <a:r>
                        <a:rPr lang="en-US" sz="1100" dirty="0">
                          <a:solidFill>
                            <a:srgbClr val="1F2937"/>
                          </a:solidFill>
                        </a:rPr>
                        <a:t>,</a:t>
                      </a:r>
                      <a:pPr indent="0" marL="0">
                        <a:buNone/>
                      </a:pPr>
                      <a:r>
                        <a:rPr lang="en-US" sz="1100" dirty="0">
                          <a:solidFill>
                            <a:srgbClr val="1F2937"/>
                          </a:solidFill>
                          <a:latin typeface="Courier New" pitchFamily="34" charset="0"/>
                          <a:ea typeface="Courier New" pitchFamily="34" charset="-122"/>
                          <a:cs typeface="Courier New" pitchFamily="34" charset="-120"/>
                        </a:rPr>
                        <a:t>user_input</a:t>
                      </a:r>
                      <a:pPr indent="0" marL="0">
                        <a:buNone/>
                      </a:pPr>
                      <a:r>
                        <a:rPr lang="en-US" sz="1100" dirty="0">
                          <a:solidFill>
                            <a:srgbClr val="1F2937"/>
                          </a:solidFill>
                        </a:rPr>
                        <a:t>,</a:t>
                      </a:r>
                      <a:pPr indent="0" marL="0">
                        <a:buNone/>
                      </a:pPr>
                      <a:r>
                        <a:rPr lang="en-US" sz="1100" dirty="0">
                          <a:solidFill>
                            <a:srgbClr val="1F2937"/>
                          </a:solidFill>
                          <a:latin typeface="Courier New" pitchFamily="34" charset="0"/>
                          <a:ea typeface="Courier New" pitchFamily="34" charset="-122"/>
                          <a:cs typeface="Courier New" pitchFamily="34" charset="-120"/>
                        </a:rPr>
                        <a:t>none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createdAt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문자열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기록 </a:t>
                      </a:r>
                      <a:pPr indent="0" marL="0">
                        <a:buNone/>
                      </a:pPr>
                      <a:r>
                        <a:rPr lang="en-US" sz="1100" dirty="0">
                          <a:solidFill>
                            <a:srgbClr val="1F2937"/>
                          </a:solidFill>
                        </a:rPr>
                        <a:t>생성 </a:t>
                      </a:r>
                      <a:pPr indent="0" marL="0">
                        <a:buNone/>
                      </a:pPr>
                      <a:r>
                        <a:rPr lang="en-US" sz="1100" dirty="0">
                          <a:solidFill>
                            <a:srgbClr val="1F2937"/>
                          </a:solidFill>
                        </a:rPr>
                        <a:t>시각</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updatedAt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문자열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기록 </a:t>
                      </a:r>
                      <a:pPr indent="0" marL="0">
                        <a:buNone/>
                      </a:pPr>
                      <a:r>
                        <a:rPr lang="en-US" sz="1100" dirty="0">
                          <a:solidFill>
                            <a:srgbClr val="1F2937"/>
                          </a:solidFill>
                        </a:rPr>
                        <a:t>수정 </a:t>
                      </a:r>
                      <a:pPr indent="0" marL="0">
                        <a:buNone/>
                      </a:pPr>
                      <a:r>
                        <a:rPr lang="en-US" sz="1100" dirty="0">
                          <a:solidFill>
                            <a:srgbClr val="1F2937"/>
                          </a:solidFill>
                        </a:rPr>
                        <a:t>시각</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218</a:t>
            </a:fld>
            <a:endParaRPr lang="en-US"/>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name="Slide 21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7.6 식사 음식 항목</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생성 시각과 섭취 날짜를 분리합니다. 시간대 변경으로 과거 섭취 날짜를 자동 재계산하지 않습니다.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219</a:t>
            </a:fld>
            <a:endParaRPr lang="en-US"/>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name="Slide 22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7.7 공통 오류 자료</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221"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926080"/>
                <a:gridCol w="1097280"/>
                <a:gridCol w="1097280"/>
                <a:gridCol w="3108960"/>
              </a:tblGrid>
              <a:tr h="0">
                <a:tc>
                  <a:txBody>
                    <a:bodyPr/>
                    <a:lstStyle/>
                    <a:p>
                      <a:pPr indent="0" marL="0">
                        <a:buNone/>
                      </a:pPr>
                      <a:r>
                        <a:rPr lang="en-US" sz="1200" b="1" dirty="0">
                          <a:solidFill>
                            <a:srgbClr val="FFFFFF"/>
                          </a:solidFill>
                        </a:rPr>
                        <a:t>필드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형식</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필수</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설명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success</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불리언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처리 </a:t>
                      </a:r>
                      <a:pPr indent="0" marL="0">
                        <a:buNone/>
                      </a:pPr>
                      <a:r>
                        <a:rPr lang="en-US" sz="1100" dirty="0">
                          <a:solidFill>
                            <a:srgbClr val="1F2937"/>
                          </a:solidFill>
                        </a:rPr>
                        <a:t>성공 </a:t>
                      </a:r>
                      <a:pPr indent="0" marL="0">
                        <a:buNone/>
                      </a:pPr>
                      <a:r>
                        <a:rPr lang="en-US" sz="1100" dirty="0">
                          <a:solidFill>
                            <a:srgbClr val="1F2937"/>
                          </a:solidFill>
                        </a:rPr>
                        <a:t>여부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error.code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문자열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실패 </a:t>
                      </a:r>
                      <a:pPr indent="0" marL="0">
                        <a:buNone/>
                      </a:pPr>
                      <a:r>
                        <a:rPr lang="en-US" sz="1100" dirty="0">
                          <a:solidFill>
                            <a:srgbClr val="1F2937"/>
                          </a:solidFill>
                        </a:rPr>
                        <a:t>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기계 </a:t>
                      </a:r>
                      <a:pPr indent="0" marL="0">
                        <a:buNone/>
                      </a:pPr>
                      <a:r>
                        <a:rPr lang="en-US" sz="1100" dirty="0">
                          <a:solidFill>
                            <a:srgbClr val="1F2937"/>
                          </a:solidFill>
                        </a:rPr>
                        <a:t>판독용 </a:t>
                      </a:r>
                      <a:pPr indent="0" marL="0">
                        <a:buNone/>
                      </a:pPr>
                      <a:r>
                        <a:rPr lang="en-US" sz="1100" dirty="0">
                          <a:solidFill>
                            <a:srgbClr val="1F2937"/>
                          </a:solidFill>
                        </a:rPr>
                        <a:t>오류 </a:t>
                      </a:r>
                      <a:pPr indent="0" marL="0">
                        <a:buNone/>
                      </a:pPr>
                      <a:r>
                        <a:rPr lang="en-US" sz="1100" dirty="0">
                          <a:solidFill>
                            <a:srgbClr val="1F2937"/>
                          </a:solidFill>
                        </a:rPr>
                        <a:t>코드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error.message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문자열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실패 </a:t>
                      </a:r>
                      <a:pPr indent="0" marL="0">
                        <a:buNone/>
                      </a:pPr>
                      <a:r>
                        <a:rPr lang="en-US" sz="1100" dirty="0">
                          <a:solidFill>
                            <a:srgbClr val="1F2937"/>
                          </a:solidFill>
                        </a:rPr>
                        <a:t>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사용자에게 </a:t>
                      </a:r>
                      <a:pPr indent="0" marL="0">
                        <a:buNone/>
                      </a:pPr>
                      <a:r>
                        <a:rPr lang="en-US" sz="1100" dirty="0">
                          <a:solidFill>
                            <a:srgbClr val="1F2937"/>
                          </a:solidFill>
                        </a:rPr>
                        <a:t>전달할 </a:t>
                      </a:r>
                      <a:pPr indent="0" marL="0">
                        <a:buNone/>
                      </a:pPr>
                      <a:r>
                        <a:rPr lang="en-US" sz="1100" dirty="0">
                          <a:solidFill>
                            <a:srgbClr val="1F2937"/>
                          </a:solidFill>
                        </a:rPr>
                        <a:t>수 </a:t>
                      </a:r>
                      <a:pPr indent="0" marL="0">
                        <a:buNone/>
                      </a:pPr>
                      <a:r>
                        <a:rPr lang="en-US" sz="1100" dirty="0">
                          <a:solidFill>
                            <a:srgbClr val="1F2937"/>
                          </a:solidFill>
                        </a:rPr>
                        <a:t>있는 </a:t>
                      </a:r>
                      <a:pPr indent="0" marL="0">
                        <a:buNone/>
                      </a:pPr>
                      <a:r>
                        <a:rPr lang="en-US" sz="1100" dirty="0">
                          <a:solidFill>
                            <a:srgbClr val="1F2937"/>
                          </a:solidFill>
                        </a:rPr>
                        <a:t>안내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error.details</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배열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선택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필드 </a:t>
                      </a:r>
                      <a:pPr indent="0" marL="0">
                        <a:buNone/>
                      </a:pPr>
                      <a:r>
                        <a:rPr lang="en-US" sz="1100" dirty="0">
                          <a:solidFill>
                            <a:srgbClr val="1F2937"/>
                          </a:solidFill>
                        </a:rPr>
                        <a:t>단위 </a:t>
                      </a:r>
                      <a:pPr indent="0" marL="0">
                        <a:buNone/>
                      </a:pPr>
                      <a:r>
                        <a:rPr lang="en-US" sz="1100" dirty="0">
                          <a:solidFill>
                            <a:srgbClr val="1F2937"/>
                          </a:solidFill>
                        </a:rPr>
                        <a:t>검증 </a:t>
                      </a:r>
                      <a:pPr indent="0" marL="0">
                        <a:buNone/>
                      </a:pPr>
                      <a:r>
                        <a:rPr lang="en-US" sz="1100" dirty="0">
                          <a:solidFill>
                            <a:srgbClr val="1F2937"/>
                          </a:solidFill>
                        </a:rPr>
                        <a:t>오류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meta.requestId</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문자열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요청 </a:t>
                      </a:r>
                      <a:pPr indent="0" marL="0">
                        <a:buNone/>
                      </a:pPr>
                      <a:r>
                        <a:rPr lang="en-US" sz="1100" dirty="0">
                          <a:solidFill>
                            <a:srgbClr val="1F2937"/>
                          </a:solidFill>
                        </a:rPr>
                        <a:t>추적 </a:t>
                      </a:r>
                      <a:pPr indent="0" marL="0">
                        <a:buNone/>
                      </a:pPr>
                      <a:r>
                        <a:rPr lang="en-US" sz="1100" dirty="0">
                          <a:solidFill>
                            <a:srgbClr val="1F2937"/>
                          </a:solidFill>
                        </a:rPr>
                        <a:t>식별값</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meta.timestamp</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문자열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응답 </a:t>
                      </a:r>
                      <a:pPr indent="0" marL="0">
                        <a:buNone/>
                      </a:pPr>
                      <a:r>
                        <a:rPr lang="en-US" sz="1100" dirty="0">
                          <a:solidFill>
                            <a:srgbClr val="1F2937"/>
                          </a:solidFill>
                        </a:rPr>
                        <a:t>시각</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220</a:t>
            </a:fld>
            <a:endParaRPr lang="en-US"/>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name="Slide 22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8. 오류 코드 (1/2)</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222"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3165231"/>
                <a:gridCol w="633046"/>
                <a:gridCol w="2532185"/>
                <a:gridCol w="1899138"/>
              </a:tblGrid>
              <a:tr h="0">
                <a:tc>
                  <a:txBody>
                    <a:bodyPr/>
                    <a:lstStyle/>
                    <a:p>
                      <a:pPr indent="0" marL="0">
                        <a:buNone/>
                      </a:pPr>
                      <a:r>
                        <a:rPr lang="en-US" sz="1200" b="1" dirty="0">
                          <a:solidFill>
                            <a:srgbClr val="FFFFFF"/>
                          </a:solidFill>
                        </a:rPr>
                        <a:t>코드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HTTP</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설명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처리 </a:t>
                      </a:r>
                      <a:pPr indent="0" marL="0">
                        <a:buNone/>
                      </a:pPr>
                      <a:r>
                        <a:rPr lang="en-US" sz="1200" b="1" dirty="0">
                          <a:solidFill>
                            <a:srgbClr val="FFFFFF"/>
                          </a:solidFill>
                        </a:rPr>
                        <a:t>방향</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INVALID_PARAMS</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400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쿼리·경로 </a:t>
                      </a:r>
                      <a:pPr indent="0" marL="0">
                        <a:buNone/>
                      </a:pPr>
                      <a:r>
                        <a:rPr lang="en-US" sz="1100" dirty="0">
                          <a:solidFill>
                            <a:srgbClr val="1F2937"/>
                          </a:solidFill>
                        </a:rPr>
                        <a:t>매개변수 </a:t>
                      </a:r>
                      <a:pPr indent="0" marL="0">
                        <a:buNone/>
                      </a:pPr>
                      <a:r>
                        <a:rPr lang="en-US" sz="1100" dirty="0">
                          <a:solidFill>
                            <a:srgbClr val="1F2937"/>
                          </a:solidFill>
                        </a:rPr>
                        <a:t>오류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매개변수 </a:t>
                      </a:r>
                      <a:pPr indent="0" marL="0">
                        <a:buNone/>
                      </a:pPr>
                      <a:r>
                        <a:rPr lang="en-US" sz="1100" dirty="0">
                          <a:solidFill>
                            <a:srgbClr val="1F2937"/>
                          </a:solidFill>
                        </a:rPr>
                        <a:t>형식과 </a:t>
                      </a:r>
                      <a:pPr indent="0" marL="0">
                        <a:buNone/>
                      </a:pPr>
                      <a:r>
                        <a:rPr lang="en-US" sz="1100" dirty="0">
                          <a:solidFill>
                            <a:srgbClr val="1F2937"/>
                          </a:solidFill>
                        </a:rPr>
                        <a:t>허용값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MALFORMED_REQUEST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400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JSON </a:t>
                      </a:r>
                      <a:pPr indent="0" marL="0">
                        <a:buNone/>
                      </a:pPr>
                      <a:r>
                        <a:rPr lang="en-US" sz="1100" dirty="0">
                          <a:solidFill>
                            <a:srgbClr val="1F2937"/>
                          </a:solidFill>
                        </a:rPr>
                        <a:t>형식 </a:t>
                      </a:r>
                      <a:pPr indent="0" marL="0">
                        <a:buNone/>
                      </a:pPr>
                      <a:r>
                        <a:rPr lang="en-US" sz="1100" dirty="0">
                          <a:solidFill>
                            <a:srgbClr val="1F2937"/>
                          </a:solidFill>
                        </a:rPr>
                        <a:t>등 </a:t>
                      </a:r>
                      <a:pPr indent="0" marL="0">
                        <a:buNone/>
                      </a:pPr>
                      <a:r>
                        <a:rPr lang="en-US" sz="1100" dirty="0">
                          <a:solidFill>
                            <a:srgbClr val="1F2937"/>
                          </a:solidFill>
                        </a:rPr>
                        <a:t>요청 </a:t>
                      </a:r>
                      <a:pPr indent="0" marL="0">
                        <a:buNone/>
                      </a:pPr>
                      <a:r>
                        <a:rPr lang="en-US" sz="1100" dirty="0">
                          <a:solidFill>
                            <a:srgbClr val="1F2937"/>
                          </a:solidFill>
                        </a:rPr>
                        <a:t>본문 </a:t>
                      </a:r>
                      <a:pPr indent="0" marL="0">
                        <a:buNone/>
                      </a:pPr>
                      <a:r>
                        <a:rPr lang="en-US" sz="1100" dirty="0">
                          <a:solidFill>
                            <a:srgbClr val="1F2937"/>
                          </a:solidFill>
                        </a:rPr>
                        <a:t>오류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본문 </a:t>
                      </a:r>
                      <a:pPr indent="0" marL="0">
                        <a:buNone/>
                      </a:pPr>
                      <a:r>
                        <a:rPr lang="en-US" sz="1100" dirty="0">
                          <a:solidFill>
                            <a:srgbClr val="1F2937"/>
                          </a:solidFill>
                        </a:rPr>
                        <a:t>형식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UNAUTHORIZED</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401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인증 </a:t>
                      </a:r>
                      <a:pPr indent="0" marL="0">
                        <a:buNone/>
                      </a:pPr>
                      <a:r>
                        <a:rPr lang="en-US" sz="1100" dirty="0">
                          <a:solidFill>
                            <a:srgbClr val="1F2937"/>
                          </a:solidFill>
                        </a:rPr>
                        <a:t>정보 </a:t>
                      </a:r>
                      <a:pPr indent="0" marL="0">
                        <a:buNone/>
                      </a:pPr>
                      <a:r>
                        <a:rPr lang="en-US" sz="1100" dirty="0">
                          <a:solidFill>
                            <a:srgbClr val="1F2937"/>
                          </a:solidFill>
                        </a:rPr>
                        <a:t>없음·유효하지 </a:t>
                      </a:r>
                      <a:pPr indent="0" marL="0">
                        <a:buNone/>
                      </a:pPr>
                      <a:r>
                        <a:rPr lang="en-US" sz="1100" dirty="0">
                          <a:solidFill>
                            <a:srgbClr val="1F2937"/>
                          </a:solidFill>
                        </a:rPr>
                        <a:t>않음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재인증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TOKEN_EXPIRED</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401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접근 </a:t>
                      </a:r>
                      <a:pPr indent="0" marL="0">
                        <a:buNone/>
                      </a:pPr>
                      <a:r>
                        <a:rPr lang="en-US" sz="1100" dirty="0">
                          <a:solidFill>
                            <a:srgbClr val="1F2937"/>
                          </a:solidFill>
                        </a:rPr>
                        <a:t>토큰 </a:t>
                      </a:r>
                      <a:pPr indent="0" marL="0">
                        <a:buNone/>
                      </a:pPr>
                      <a:r>
                        <a:rPr lang="en-US" sz="1100" dirty="0">
                          <a:solidFill>
                            <a:srgbClr val="1F2937"/>
                          </a:solidFill>
                        </a:rPr>
                        <a:t>만료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토큰 </a:t>
                      </a:r>
                      <a:pPr indent="0" marL="0">
                        <a:buNone/>
                      </a:pPr>
                      <a:r>
                        <a:rPr lang="en-US" sz="1100" dirty="0">
                          <a:solidFill>
                            <a:srgbClr val="1F2937"/>
                          </a:solidFill>
                        </a:rPr>
                        <a:t>갱신 </a:t>
                      </a:r>
                      <a:pPr indent="0" marL="0">
                        <a:buNone/>
                      </a:pPr>
                      <a:r>
                        <a:rPr lang="en-US" sz="1100" dirty="0">
                          <a:solidFill>
                            <a:srgbClr val="1F2937"/>
                          </a:solidFill>
                        </a:rPr>
                        <a:t>또는 </a:t>
                      </a:r>
                      <a:pPr indent="0" marL="0">
                        <a:buNone/>
                      </a:pPr>
                      <a:r>
                        <a:rPr lang="en-US" sz="1100" dirty="0">
                          <a:solidFill>
                            <a:srgbClr val="1F2937"/>
                          </a:solidFill>
                        </a:rPr>
                        <a:t>재인증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FORBIDDEN</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403</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계정 </a:t>
                      </a:r>
                      <a:pPr indent="0" marL="0">
                        <a:buNone/>
                      </a:pPr>
                      <a:r>
                        <a:rPr lang="en-US" sz="1100" dirty="0">
                          <a:solidFill>
                            <a:srgbClr val="1F2937"/>
                          </a:solidFill>
                        </a:rPr>
                        <a:t>상태 </a:t>
                      </a:r>
                      <a:pPr indent="0" marL="0">
                        <a:buNone/>
                      </a:pPr>
                      <a:r>
                        <a:rPr lang="en-US" sz="1100" dirty="0">
                          <a:solidFill>
                            <a:srgbClr val="1F2937"/>
                          </a:solidFill>
                        </a:rPr>
                        <a:t>또는 </a:t>
                      </a:r>
                      <a:pPr indent="0" marL="0">
                        <a:buNone/>
                      </a:pPr>
                      <a:r>
                        <a:rPr lang="en-US" sz="1100" dirty="0">
                          <a:solidFill>
                            <a:srgbClr val="1F2937"/>
                          </a:solidFill>
                        </a:rPr>
                        <a:t>정책에 </a:t>
                      </a:r>
                      <a:pPr indent="0" marL="0">
                        <a:buNone/>
                      </a:pPr>
                      <a:r>
                        <a:rPr lang="en-US" sz="1100" dirty="0">
                          <a:solidFill>
                            <a:srgbClr val="1F2937"/>
                          </a:solidFill>
                        </a:rPr>
                        <a:t>따른 </a:t>
                      </a:r>
                      <a:pPr indent="0" marL="0">
                        <a:buNone/>
                      </a:pPr>
                      <a:r>
                        <a:rPr lang="en-US" sz="1100" dirty="0">
                          <a:solidFill>
                            <a:srgbClr val="1F2937"/>
                          </a:solidFill>
                        </a:rPr>
                        <a:t>이용 </a:t>
                      </a:r>
                      <a:pPr indent="0" marL="0">
                        <a:buNone/>
                      </a:pPr>
                      <a:r>
                        <a:rPr lang="en-US" sz="1100" dirty="0">
                          <a:solidFill>
                            <a:srgbClr val="1F2937"/>
                          </a:solidFill>
                        </a:rPr>
                        <a:t>제한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계정 </a:t>
                      </a:r>
                      <a:pPr indent="0" marL="0">
                        <a:buNone/>
                      </a:pPr>
                      <a:r>
                        <a:rPr lang="en-US" sz="1100" dirty="0">
                          <a:solidFill>
                            <a:srgbClr val="1F2937"/>
                          </a:solidFill>
                        </a:rPr>
                        <a:t>상태와 </a:t>
                      </a:r>
                      <a:pPr indent="0" marL="0">
                        <a:buNone/>
                      </a:pPr>
                      <a:r>
                        <a:rPr lang="en-US" sz="1100" dirty="0">
                          <a:solidFill>
                            <a:srgbClr val="1F2937"/>
                          </a:solidFill>
                        </a:rPr>
                        <a:t>권한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NOT_FOUND</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404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자료 </a:t>
                      </a:r>
                      <a:pPr indent="0" marL="0">
                        <a:buNone/>
                      </a:pPr>
                      <a:r>
                        <a:rPr lang="en-US" sz="1100" dirty="0">
                          <a:solidFill>
                            <a:srgbClr val="1F2937"/>
                          </a:solidFill>
                        </a:rPr>
                        <a:t>없음 </a:t>
                      </a:r>
                      <a:pPr indent="0" marL="0">
                        <a:buNone/>
                      </a:pPr>
                      <a:r>
                        <a:rPr lang="en-US" sz="1100" dirty="0">
                          <a:solidFill>
                            <a:srgbClr val="1F2937"/>
                          </a:solidFill>
                        </a:rPr>
                        <a:t>또는 </a:t>
                      </a:r>
                      <a:pPr indent="0" marL="0">
                        <a:buNone/>
                      </a:pPr>
                      <a:r>
                        <a:rPr lang="en-US" sz="1100" dirty="0">
                          <a:solidFill>
                            <a:srgbClr val="1F2937"/>
                          </a:solidFill>
                        </a:rPr>
                        <a:t>사용자가 </a:t>
                      </a:r>
                      <a:pPr indent="0" marL="0">
                        <a:buNone/>
                      </a:pPr>
                      <a:r>
                        <a:rPr lang="en-US" sz="1100" dirty="0">
                          <a:solidFill>
                            <a:srgbClr val="1F2937"/>
                          </a:solidFill>
                        </a:rPr>
                        <a:t>소유하지 </a:t>
                      </a:r>
                      <a:pPr indent="0" marL="0">
                        <a:buNone/>
                      </a:pPr>
                      <a:r>
                        <a:rPr lang="en-US" sz="1100" dirty="0">
                          <a:solidFill>
                            <a:srgbClr val="1F2937"/>
                          </a:solidFill>
                        </a:rPr>
                        <a:t>않은 </a:t>
                      </a:r>
                      <a:pPr indent="0" marL="0">
                        <a:buNone/>
                      </a:pPr>
                      <a:r>
                        <a:rPr lang="en-US" sz="1100" dirty="0">
                          <a:solidFill>
                            <a:srgbClr val="1F2937"/>
                          </a:solidFill>
                        </a:rPr>
                        <a:t>자료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식별값과 </a:t>
                      </a:r>
                      <a:pPr indent="0" marL="0">
                        <a:buNone/>
                      </a:pPr>
                      <a:r>
                        <a:rPr lang="en-US" sz="1100" dirty="0">
                          <a:solidFill>
                            <a:srgbClr val="1F2937"/>
                          </a:solidFill>
                        </a:rPr>
                        <a:t>사용자 </a:t>
                      </a:r>
                      <a:pPr indent="0" marL="0">
                        <a:buNone/>
                      </a:pPr>
                      <a:r>
                        <a:rPr lang="en-US" sz="1100" dirty="0">
                          <a:solidFill>
                            <a:srgbClr val="1F2937"/>
                          </a:solidFill>
                        </a:rPr>
                        <a:t>소유 </a:t>
                      </a:r>
                      <a:pPr indent="0" marL="0">
                        <a:buNone/>
                      </a:pPr>
                      <a:r>
                        <a:rPr lang="en-US" sz="1100" dirty="0">
                          <a:solidFill>
                            <a:srgbClr val="1F2937"/>
                          </a:solidFill>
                        </a:rPr>
                        <a:t>여부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DUPLICATE_RESOURCE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409</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중복 </a:t>
                      </a:r>
                      <a:pPr indent="0" marL="0">
                        <a:buNone/>
                      </a:pPr>
                      <a:r>
                        <a:rPr lang="en-US" sz="1100" dirty="0">
                          <a:solidFill>
                            <a:srgbClr val="1F2937"/>
                          </a:solidFill>
                        </a:rPr>
                        <a:t>자료 </a:t>
                      </a:r>
                      <a:pPr indent="0" marL="0">
                        <a:buNone/>
                      </a:pPr>
                      <a:r>
                        <a:rPr lang="en-US" sz="1100" dirty="0">
                          <a:solidFill>
                            <a:srgbClr val="1F2937"/>
                          </a:solidFill>
                        </a:rPr>
                        <a:t>등록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기존 </a:t>
                      </a:r>
                      <a:pPr indent="0" marL="0">
                        <a:buNone/>
                      </a:pPr>
                      <a:r>
                        <a:rPr lang="en-US" sz="1100" dirty="0">
                          <a:solidFill>
                            <a:srgbClr val="1F2937"/>
                          </a:solidFill>
                        </a:rPr>
                        <a:t>자료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IDEMPOTENCY_CONFLICT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409</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같은 </a:t>
                      </a:r>
                      <a:pPr indent="0" marL="0">
                        <a:buNone/>
                      </a:pPr>
                      <a:r>
                        <a:rPr lang="en-US" sz="1100" dirty="0">
                          <a:solidFill>
                            <a:srgbClr val="1F2937"/>
                          </a:solidFill>
                        </a:rPr>
                        <a:t>요청 </a:t>
                      </a:r>
                      <a:pPr indent="0" marL="0">
                        <a:buNone/>
                      </a:pPr>
                      <a:r>
                        <a:rPr lang="en-US" sz="1100" dirty="0">
                          <a:solidFill>
                            <a:srgbClr val="1F2937"/>
                          </a:solidFill>
                        </a:rPr>
                        <a:t>식별값을 </a:t>
                      </a:r>
                      <a:pPr indent="0" marL="0">
                        <a:buNone/>
                      </a:pPr>
                      <a:r>
                        <a:rPr lang="en-US" sz="1100" dirty="0">
                          <a:solidFill>
                            <a:srgbClr val="1F2937"/>
                          </a:solidFill>
                        </a:rPr>
                        <a:t>다른 </a:t>
                      </a:r>
                      <a:pPr indent="0" marL="0">
                        <a:buNone/>
                      </a:pPr>
                      <a:r>
                        <a:rPr lang="en-US" sz="1100" dirty="0">
                          <a:solidFill>
                            <a:srgbClr val="1F2937"/>
                          </a:solidFill>
                        </a:rPr>
                        <a:t>본문으로 </a:t>
                      </a:r>
                      <a:pPr indent="0" marL="0">
                        <a:buNone/>
                      </a:pPr>
                      <a:r>
                        <a:rPr lang="en-US" sz="1100" dirty="0">
                          <a:solidFill>
                            <a:srgbClr val="1F2937"/>
                          </a:solidFill>
                        </a:rPr>
                        <a:t>재사용</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새 </a:t>
                      </a:r>
                      <a:pPr indent="0" marL="0">
                        <a:buNone/>
                      </a:pPr>
                      <a:r>
                        <a:rPr lang="en-US" sz="1100" dirty="0">
                          <a:solidFill>
                            <a:srgbClr val="1F2937"/>
                          </a:solidFill>
                        </a:rPr>
                        <a:t>요청 </a:t>
                      </a:r>
                      <a:pPr indent="0" marL="0">
                        <a:buNone/>
                      </a:pPr>
                      <a:r>
                        <a:rPr lang="en-US" sz="1100" dirty="0">
                          <a:solidFill>
                            <a:srgbClr val="1F2937"/>
                          </a:solidFill>
                        </a:rPr>
                        <a:t>식별값 </a:t>
                      </a:r>
                      <a:pPr indent="0" marL="0">
                        <a:buNone/>
                      </a:pPr>
                      <a:r>
                        <a:rPr lang="en-US" sz="1100" dirty="0">
                          <a:solidFill>
                            <a:srgbClr val="1F2937"/>
                          </a:solidFill>
                        </a:rPr>
                        <a:t>사용</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ACCOUNT_DELETION_IN_PROGRESS</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409</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계정 </a:t>
                      </a:r>
                      <a:pPr indent="0" marL="0">
                        <a:buNone/>
                      </a:pPr>
                      <a:r>
                        <a:rPr lang="en-US" sz="1100" dirty="0">
                          <a:solidFill>
                            <a:srgbClr val="1F2937"/>
                          </a:solidFill>
                        </a:rPr>
                        <a:t>삭제 </a:t>
                      </a:r>
                      <a:pPr indent="0" marL="0">
                        <a:buNone/>
                      </a:pPr>
                      <a:r>
                        <a:rPr lang="en-US" sz="1100" dirty="0">
                          <a:solidFill>
                            <a:srgbClr val="1F2937"/>
                          </a:solidFill>
                        </a:rPr>
                        <a:t>처리 </a:t>
                      </a:r>
                      <a:pPr indent="0" marL="0">
                        <a:buNone/>
                      </a:pPr>
                      <a:r>
                        <a:rPr lang="en-US" sz="1100" dirty="0">
                          <a:solidFill>
                            <a:srgbClr val="1F2937"/>
                          </a:solidFill>
                        </a:rPr>
                        <a:t>중</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허용된 </a:t>
                      </a:r>
                      <a:pPr indent="0" marL="0">
                        <a:buNone/>
                      </a:pPr>
                      <a:r>
                        <a:rPr lang="en-US" sz="1100" dirty="0">
                          <a:solidFill>
                            <a:srgbClr val="1F2937"/>
                          </a:solidFill>
                        </a:rPr>
                        <a:t>삭제 </a:t>
                      </a:r>
                      <a:pPr indent="0" marL="0">
                        <a:buNone/>
                      </a:pPr>
                      <a:r>
                        <a:rPr lang="en-US" sz="1100" dirty="0">
                          <a:solidFill>
                            <a:srgbClr val="1F2937"/>
                          </a:solidFill>
                        </a:rPr>
                        <a:t>상태 </a:t>
                      </a:r>
                      <a:pPr indent="0" marL="0">
                        <a:buNone/>
                      </a:pPr>
                      <a:r>
                        <a:rPr lang="en-US" sz="1100" dirty="0">
                          <a:solidFill>
                            <a:srgbClr val="1F2937"/>
                          </a:solidFill>
                        </a:rPr>
                        <a:t>조회 </a:t>
                      </a:r>
                      <a:pPr indent="0" marL="0">
                        <a:buNone/>
                      </a:pPr>
                      <a:r>
                        <a:rPr lang="en-US" sz="1100" dirty="0">
                          <a:solidFill>
                            <a:srgbClr val="1F2937"/>
                          </a:solidFill>
                        </a:rPr>
                        <a:t>경로 </a:t>
                      </a:r>
                      <a:pPr indent="0" marL="0">
                        <a:buNone/>
                      </a:pPr>
                      <a:r>
                        <a:rPr lang="en-US" sz="1100" dirty="0">
                          <a:solidFill>
                            <a:srgbClr val="1F2937"/>
                          </a:solidFill>
                        </a:rPr>
                        <a:t>이용</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VALIDATION_ERROR</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422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요청 </a:t>
                      </a:r>
                      <a:pPr indent="0" marL="0">
                        <a:buNone/>
                      </a:pPr>
                      <a:r>
                        <a:rPr lang="en-US" sz="1100" dirty="0">
                          <a:solidFill>
                            <a:srgbClr val="1F2937"/>
                          </a:solidFill>
                        </a:rPr>
                        <a:t>값 </a:t>
                      </a:r>
                      <a:pPr indent="0" marL="0">
                        <a:buNone/>
                      </a:pPr>
                      <a:r>
                        <a:rPr lang="en-US" sz="1100" dirty="0">
                          <a:solidFill>
                            <a:srgbClr val="1F2937"/>
                          </a:solidFill>
                        </a:rPr>
                        <a:t>검증 </a:t>
                      </a:r>
                      <a:pPr indent="0" marL="0">
                        <a:buNone/>
                      </a:pPr>
                      <a:r>
                        <a:rPr lang="en-US" sz="1100" dirty="0">
                          <a:solidFill>
                            <a:srgbClr val="1F2937"/>
                          </a:solidFill>
                        </a:rPr>
                        <a:t>실패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필드별 </a:t>
                      </a:r>
                      <a:pPr indent="0" marL="0">
                        <a:buNone/>
                      </a:pPr>
                      <a:r>
                        <a:rPr lang="en-US" sz="1100" dirty="0">
                          <a:solidFill>
                            <a:srgbClr val="1F2937"/>
                          </a:solidFill>
                        </a:rPr>
                        <a:t>오류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FUTURE_CONSUMED_DATE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422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미래 </a:t>
                      </a:r>
                      <a:pPr indent="0" marL="0">
                        <a:buNone/>
                      </a:pPr>
                      <a:r>
                        <a:rPr lang="en-US" sz="1100" dirty="0">
                          <a:solidFill>
                            <a:srgbClr val="1F2937"/>
                          </a:solidFill>
                        </a:rPr>
                        <a:t>식사 </a:t>
                      </a:r>
                      <a:pPr indent="0" marL="0">
                        <a:buNone/>
                      </a:pPr>
                      <a:r>
                        <a:rPr lang="en-US" sz="1100" dirty="0">
                          <a:solidFill>
                            <a:srgbClr val="1F2937"/>
                          </a:solidFill>
                        </a:rPr>
                        <a:t>날짜 </a:t>
                      </a:r>
                      <a:pPr indent="0" marL="0">
                        <a:buNone/>
                      </a:pPr>
                      <a:r>
                        <a:rPr lang="en-US" sz="1100" dirty="0">
                          <a:solidFill>
                            <a:srgbClr val="1F2937"/>
                          </a:solidFill>
                        </a:rPr>
                        <a:t>입력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과거 </a:t>
                      </a:r>
                      <a:pPr indent="0" marL="0">
                        <a:buNone/>
                      </a:pPr>
                      <a:r>
                        <a:rPr lang="en-US" sz="1100" dirty="0">
                          <a:solidFill>
                            <a:srgbClr val="1F2937"/>
                          </a:solidFill>
                        </a:rPr>
                        <a:t>또는 </a:t>
                      </a:r>
                      <a:pPr indent="0" marL="0">
                        <a:buNone/>
                      </a:pPr>
                      <a:r>
                        <a:rPr lang="en-US" sz="1100" dirty="0">
                          <a:solidFill>
                            <a:srgbClr val="1F2937"/>
                          </a:solidFill>
                        </a:rPr>
                        <a:t>오늘 </a:t>
                      </a:r>
                      <a:pPr indent="0" marL="0">
                        <a:buNone/>
                      </a:pPr>
                      <a:r>
                        <a:rPr lang="en-US" sz="1100" dirty="0">
                          <a:solidFill>
                            <a:srgbClr val="1F2937"/>
                          </a:solidFill>
                        </a:rPr>
                        <a:t>날짜로 </a:t>
                      </a:r>
                      <a:pPr indent="0" marL="0">
                        <a:buNone/>
                      </a:pPr>
                      <a:r>
                        <a:rPr lang="en-US" sz="1100" dirty="0">
                          <a:solidFill>
                            <a:srgbClr val="1F2937"/>
                          </a:solidFill>
                        </a:rPr>
                        <a:t>수정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221</a:t>
            </a:fld>
            <a:endParaRPr lang="en-US"/>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name="Slide 22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8. 오류 코드 (2/2)</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223"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885704"/>
                <a:gridCol w="641268"/>
                <a:gridCol w="2351314"/>
                <a:gridCol w="2351314"/>
              </a:tblGrid>
              <a:tr h="0">
                <a:tc>
                  <a:txBody>
                    <a:bodyPr/>
                    <a:lstStyle/>
                    <a:p>
                      <a:pPr indent="0" marL="0">
                        <a:buNone/>
                      </a:pPr>
                      <a:r>
                        <a:rPr lang="en-US" sz="1200" b="1" dirty="0">
                          <a:solidFill>
                            <a:srgbClr val="FFFFFF"/>
                          </a:solidFill>
                        </a:rPr>
                        <a:t>코드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HTTP</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설명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처리 </a:t>
                      </a:r>
                      <a:pPr indent="0" marL="0">
                        <a:buNone/>
                      </a:pPr>
                      <a:r>
                        <a:rPr lang="en-US" sz="1200" b="1" dirty="0">
                          <a:solidFill>
                            <a:srgbClr val="FFFFFF"/>
                          </a:solidFill>
                        </a:rPr>
                        <a:t>방향</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INVALID_MEAL_TYPE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422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식사 </a:t>
                      </a:r>
                      <a:pPr indent="0" marL="0">
                        <a:buNone/>
                      </a:pPr>
                      <a:r>
                        <a:rPr lang="en-US" sz="1100" dirty="0">
                          <a:solidFill>
                            <a:srgbClr val="1F2937"/>
                          </a:solidFill>
                        </a:rPr>
                        <a:t>구분 </a:t>
                      </a:r>
                      <a:pPr indent="0" marL="0">
                        <a:buNone/>
                      </a:pPr>
                      <a:r>
                        <a:rPr lang="en-US" sz="1100" dirty="0">
                          <a:solidFill>
                            <a:srgbClr val="1F2937"/>
                          </a:solidFill>
                        </a:rPr>
                        <a:t>오류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네 </a:t>
                      </a:r>
                      <a:pPr indent="0" marL="0">
                        <a:buNone/>
                      </a:pPr>
                      <a:r>
                        <a:rPr lang="en-US" sz="1100" dirty="0">
                          <a:solidFill>
                            <a:srgbClr val="1F2937"/>
                          </a:solidFill>
                        </a:rPr>
                        <a:t>가지 </a:t>
                      </a:r>
                      <a:pPr indent="0" marL="0">
                        <a:buNone/>
                      </a:pPr>
                      <a:r>
                        <a:rPr lang="en-US" sz="1100" dirty="0">
                          <a:solidFill>
                            <a:srgbClr val="1F2937"/>
                          </a:solidFill>
                        </a:rPr>
                        <a:t>허용값 </a:t>
                      </a:r>
                      <a:pPr indent="0" marL="0">
                        <a:buNone/>
                      </a:pPr>
                      <a:r>
                        <a:rPr lang="en-US" sz="1100" dirty="0">
                          <a:solidFill>
                            <a:srgbClr val="1F2937"/>
                          </a:solidFill>
                        </a:rPr>
                        <a:t>사용</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INVALID_NUTRIENT_VALUE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422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영양값이 </a:t>
                      </a:r>
                      <a:pPr indent="0" marL="0">
                        <a:buNone/>
                      </a:pPr>
                      <a:r>
                        <a:rPr lang="en-US" sz="1100" dirty="0">
                          <a:solidFill>
                            <a:srgbClr val="1F2937"/>
                          </a:solidFill>
                        </a:rPr>
                        <a:t>음수 </a:t>
                      </a:r>
                      <a:pPr indent="0" marL="0">
                        <a:buNone/>
                      </a:pPr>
                      <a:r>
                        <a:rPr lang="en-US" sz="1100" dirty="0">
                          <a:solidFill>
                            <a:srgbClr val="1F2937"/>
                          </a:solidFill>
                        </a:rPr>
                        <a:t>또는 </a:t>
                      </a:r>
                      <a:pPr indent="0" marL="0">
                        <a:buNone/>
                      </a:pPr>
                      <a:r>
                        <a:rPr lang="en-US" sz="1100" dirty="0">
                          <a:solidFill>
                            <a:srgbClr val="1F2937"/>
                          </a:solidFill>
                        </a:rPr>
                        <a:t>형식 </a:t>
                      </a:r>
                      <a:pPr indent="0" marL="0">
                        <a:buNone/>
                      </a:pPr>
                      <a:r>
                        <a:rPr lang="en-US" sz="1100" dirty="0">
                          <a:solidFill>
                            <a:srgbClr val="1F2937"/>
                          </a:solidFill>
                        </a:rPr>
                        <a:t>오류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값 </a:t>
                      </a:r>
                      <a:pPr indent="0" marL="0">
                        <a:buNone/>
                      </a:pPr>
                      <a:r>
                        <a:rPr lang="en-US" sz="1100" dirty="0">
                          <a:solidFill>
                            <a:srgbClr val="1F2937"/>
                          </a:solidFill>
                        </a:rPr>
                        <a:t>또는</a:t>
                      </a:r>
                      <a:pPr indent="0" marL="0">
                        <a:buNone/>
                      </a:pPr>
                      <a:r>
                        <a:rPr lang="en-US" sz="1100" dirty="0">
                          <a:solidFill>
                            <a:srgbClr val="1F2937"/>
                          </a:solidFill>
                          <a:latin typeface="Courier New" pitchFamily="34" charset="0"/>
                          <a:ea typeface="Courier New" pitchFamily="34" charset="-122"/>
                          <a:cs typeface="Courier New" pitchFamily="34" charset="-120"/>
                        </a:rPr>
                        <a:t>null</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INVALID_FOOD_REFERENCE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422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음식 </a:t>
                      </a:r>
                      <a:pPr indent="0" marL="0">
                        <a:buNone/>
                      </a:pPr>
                      <a:r>
                        <a:rPr lang="en-US" sz="1100" dirty="0">
                          <a:solidFill>
                            <a:srgbClr val="1F2937"/>
                          </a:solidFill>
                        </a:rPr>
                        <a:t>식별값이 </a:t>
                      </a:r>
                      <a:pPr indent="0" marL="0">
                        <a:buNone/>
                      </a:pPr>
                      <a:r>
                        <a:rPr lang="en-US" sz="1100" dirty="0">
                          <a:solidFill>
                            <a:srgbClr val="1F2937"/>
                          </a:solidFill>
                        </a:rPr>
                        <a:t>누락·중복 </a:t>
                      </a:r>
                      <a:pPr indent="0" marL="0">
                        <a:buNone/>
                      </a:pPr>
                      <a:r>
                        <a:rPr lang="en-US" sz="1100" dirty="0">
                          <a:solidFill>
                            <a:srgbClr val="1F2937"/>
                          </a:solidFill>
                        </a:rPr>
                        <a:t>지정됨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공용 </a:t>
                      </a:r>
                      <a:pPr indent="0" marL="0">
                        <a:buNone/>
                      </a:pPr>
                      <a:r>
                        <a:rPr lang="en-US" sz="1100" dirty="0">
                          <a:solidFill>
                            <a:srgbClr val="1F2937"/>
                          </a:solidFill>
                        </a:rPr>
                        <a:t>음식 </a:t>
                      </a:r>
                      <a:pPr indent="0" marL="0">
                        <a:buNone/>
                      </a:pPr>
                      <a:r>
                        <a:rPr lang="en-US" sz="1100" dirty="0">
                          <a:solidFill>
                            <a:srgbClr val="1F2937"/>
                          </a:solidFill>
                        </a:rPr>
                        <a:t>또는 </a:t>
                      </a:r>
                      <a:pPr indent="0" marL="0">
                        <a:buNone/>
                      </a:pPr>
                      <a:r>
                        <a:rPr lang="en-US" sz="1100" dirty="0">
                          <a:solidFill>
                            <a:srgbClr val="1F2937"/>
                          </a:solidFill>
                        </a:rPr>
                        <a:t>개인 </a:t>
                      </a:r>
                      <a:pPr indent="0" marL="0">
                        <a:buNone/>
                      </a:pPr>
                      <a:r>
                        <a:rPr lang="en-US" sz="1100" dirty="0">
                          <a:solidFill>
                            <a:srgbClr val="1F2937"/>
                          </a:solidFill>
                        </a:rPr>
                        <a:t>음식 </a:t>
                      </a:r>
                      <a:pPr indent="0" marL="0">
                        <a:buNone/>
                      </a:pPr>
                      <a:r>
                        <a:rPr lang="en-US" sz="1100" dirty="0">
                          <a:solidFill>
                            <a:srgbClr val="1F2937"/>
                          </a:solidFill>
                        </a:rPr>
                        <a:t>중 </a:t>
                      </a:r>
                      <a:pPr indent="0" marL="0">
                        <a:buNone/>
                      </a:pPr>
                      <a:r>
                        <a:rPr lang="en-US" sz="1100" dirty="0">
                          <a:solidFill>
                            <a:srgbClr val="1F2937"/>
                          </a:solidFill>
                        </a:rPr>
                        <a:t>하나 </a:t>
                      </a:r>
                      <a:pPr indent="0" marL="0">
                        <a:buNone/>
                      </a:pPr>
                      <a:r>
                        <a:rPr lang="en-US" sz="1100" dirty="0">
                          <a:solidFill>
                            <a:srgbClr val="1F2937"/>
                          </a:solidFill>
                        </a:rPr>
                        <a:t>지정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UNSUPPORTED_AUTH_PROVIDER</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422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지원되지 </a:t>
                      </a:r>
                      <a:pPr indent="0" marL="0">
                        <a:buNone/>
                      </a:pPr>
                      <a:r>
                        <a:rPr lang="en-US" sz="1100" dirty="0">
                          <a:solidFill>
                            <a:srgbClr val="1F2937"/>
                          </a:solidFill>
                        </a:rPr>
                        <a:t>않는 </a:t>
                      </a:r>
                      <a:pPr indent="0" marL="0">
                        <a:buNone/>
                      </a:pPr>
                      <a:r>
                        <a:rPr lang="en-US" sz="1100" dirty="0">
                          <a:solidFill>
                            <a:srgbClr val="1F2937"/>
                          </a:solidFill>
                        </a:rPr>
                        <a:t>인증 </a:t>
                      </a:r>
                      <a:pPr indent="0" marL="0">
                        <a:buNone/>
                      </a:pPr>
                      <a:r>
                        <a:rPr lang="en-US" sz="1100" dirty="0">
                          <a:solidFill>
                            <a:srgbClr val="1F2937"/>
                          </a:solidFill>
                        </a:rPr>
                        <a:t>제공자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확정된 </a:t>
                      </a:r>
                      <a:pPr indent="0" marL="0">
                        <a:buNone/>
                      </a:pPr>
                      <a:r>
                        <a:rPr lang="en-US" sz="1100" dirty="0">
                          <a:solidFill>
                            <a:srgbClr val="1F2937"/>
                          </a:solidFill>
                        </a:rPr>
                        <a:t>제공자 </a:t>
                      </a:r>
                      <a:pPr indent="0" marL="0">
                        <a:buNone/>
                      </a:pPr>
                      <a:r>
                        <a:rPr lang="en-US" sz="1100" dirty="0">
                          <a:solidFill>
                            <a:srgbClr val="1F2937"/>
                          </a:solidFill>
                        </a:rPr>
                        <a:t>사용</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INVALID_PROVIDER_TOKEN</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401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인증 </a:t>
                      </a:r>
                      <a:pPr indent="0" marL="0">
                        <a:buNone/>
                      </a:pPr>
                      <a:r>
                        <a:rPr lang="en-US" sz="1100" dirty="0">
                          <a:solidFill>
                            <a:srgbClr val="1F2937"/>
                          </a:solidFill>
                        </a:rPr>
                        <a:t>제공자 </a:t>
                      </a:r>
                      <a:pPr indent="0" marL="0">
                        <a:buNone/>
                      </a:pPr>
                      <a:r>
                        <a:rPr lang="en-US" sz="1100" dirty="0">
                          <a:solidFill>
                            <a:srgbClr val="1F2937"/>
                          </a:solidFill>
                        </a:rPr>
                        <a:t>토큰 </a:t>
                      </a:r>
                      <a:pPr indent="0" marL="0">
                        <a:buNone/>
                      </a:pPr>
                      <a:r>
                        <a:rPr lang="en-US" sz="1100" dirty="0">
                          <a:solidFill>
                            <a:srgbClr val="1F2937"/>
                          </a:solidFill>
                        </a:rPr>
                        <a:t>검증 </a:t>
                      </a:r>
                      <a:pPr indent="0" marL="0">
                        <a:buNone/>
                      </a:pPr>
                      <a:r>
                        <a:rPr lang="en-US" sz="1100" dirty="0">
                          <a:solidFill>
                            <a:srgbClr val="1F2937"/>
                          </a:solidFill>
                        </a:rPr>
                        <a:t>실패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인증 </a:t>
                      </a:r>
                      <a:pPr indent="0" marL="0">
                        <a:buNone/>
                      </a:pPr>
                      <a:r>
                        <a:rPr lang="en-US" sz="1100" dirty="0">
                          <a:solidFill>
                            <a:srgbClr val="1F2937"/>
                          </a:solidFill>
                        </a:rPr>
                        <a:t>제공자에서 </a:t>
                      </a:r>
                      <a:pPr indent="0" marL="0">
                        <a:buNone/>
                      </a:pPr>
                      <a:r>
                        <a:rPr lang="en-US" sz="1100" dirty="0">
                          <a:solidFill>
                            <a:srgbClr val="1F2937"/>
                          </a:solidFill>
                        </a:rPr>
                        <a:t>다시 </a:t>
                      </a:r>
                      <a:pPr indent="0" marL="0">
                        <a:buNone/>
                      </a:pPr>
                      <a:r>
                        <a:rPr lang="en-US" sz="1100" dirty="0">
                          <a:solidFill>
                            <a:srgbClr val="1F2937"/>
                          </a:solidFill>
                        </a:rPr>
                        <a:t>인증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FOOD_PROVIDER_UNAVAILABLE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502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외부 </a:t>
                      </a:r>
                      <a:pPr indent="0" marL="0">
                        <a:buNone/>
                      </a:pPr>
                      <a:r>
                        <a:rPr lang="en-US" sz="1100" dirty="0">
                          <a:solidFill>
                            <a:srgbClr val="1F2937"/>
                          </a:solidFill>
                        </a:rPr>
                        <a:t>음식 </a:t>
                      </a:r>
                      <a:pPr indent="0" marL="0">
                        <a:buNone/>
                      </a:pPr>
                      <a:r>
                        <a:rPr lang="en-US" sz="1100" dirty="0">
                          <a:solidFill>
                            <a:srgbClr val="1F2937"/>
                          </a:solidFill>
                        </a:rPr>
                        <a:t>공급자 </a:t>
                      </a:r>
                      <a:pPr indent="0" marL="0">
                        <a:buNone/>
                      </a:pPr>
                      <a:r>
                        <a:rPr lang="en-US" sz="1100" dirty="0">
                          <a:solidFill>
                            <a:srgbClr val="1F2937"/>
                          </a:solidFill>
                        </a:rPr>
                        <a:t>오류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직접 </a:t>
                      </a:r>
                      <a:pPr indent="0" marL="0">
                        <a:buNone/>
                      </a:pPr>
                      <a:r>
                        <a:rPr lang="en-US" sz="1100" dirty="0">
                          <a:solidFill>
                            <a:srgbClr val="1F2937"/>
                          </a:solidFill>
                        </a:rPr>
                        <a:t>입력·최근 </a:t>
                      </a:r>
                      <a:pPr indent="0" marL="0">
                        <a:buNone/>
                      </a:pPr>
                      <a:r>
                        <a:rPr lang="en-US" sz="1100" dirty="0">
                          <a:solidFill>
                            <a:srgbClr val="1F2937"/>
                          </a:solidFill>
                        </a:rPr>
                        <a:t>음식 </a:t>
                      </a:r>
                      <a:pPr indent="0" marL="0">
                        <a:buNone/>
                      </a:pPr>
                      <a:r>
                        <a:rPr lang="en-US" sz="1100" dirty="0">
                          <a:solidFill>
                            <a:srgbClr val="1F2937"/>
                          </a:solidFill>
                        </a:rPr>
                        <a:t>이용</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FOOD_PROVIDER_TIMEOUT</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503</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음식 </a:t>
                      </a:r>
                      <a:pPr indent="0" marL="0">
                        <a:buNone/>
                      </a:pPr>
                      <a:r>
                        <a:rPr lang="en-US" sz="1100" dirty="0">
                          <a:solidFill>
                            <a:srgbClr val="1F2937"/>
                          </a:solidFill>
                        </a:rPr>
                        <a:t>공급자 </a:t>
                      </a:r>
                      <a:pPr indent="0" marL="0">
                        <a:buNone/>
                      </a:pPr>
                      <a:r>
                        <a:rPr lang="en-US" sz="1100" dirty="0">
                          <a:solidFill>
                            <a:srgbClr val="1F2937"/>
                          </a:solidFill>
                        </a:rPr>
                        <a:t>응답 </a:t>
                      </a:r>
                      <a:pPr indent="0" marL="0">
                        <a:buNone/>
                      </a:pPr>
                      <a:r>
                        <a:rPr lang="en-US" sz="1100" dirty="0">
                          <a:solidFill>
                            <a:srgbClr val="1F2937"/>
                          </a:solidFill>
                        </a:rPr>
                        <a:t>지연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검색어를 </a:t>
                      </a:r>
                      <a:pPr indent="0" marL="0">
                        <a:buNone/>
                      </a:pPr>
                      <a:r>
                        <a:rPr lang="en-US" sz="1100" dirty="0">
                          <a:solidFill>
                            <a:srgbClr val="1F2937"/>
                          </a:solidFill>
                        </a:rPr>
                        <a:t>유지하고 </a:t>
                      </a:r>
                      <a:pPr indent="0" marL="0">
                        <a:buNone/>
                      </a:pPr>
                      <a:r>
                        <a:rPr lang="en-US" sz="1100" dirty="0">
                          <a:solidFill>
                            <a:srgbClr val="1F2937"/>
                          </a:solidFill>
                        </a:rPr>
                        <a:t>재시도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RATE_LIMIT_EXCEEDED</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429</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요청 </a:t>
                      </a:r>
                      <a:pPr indent="0" marL="0">
                        <a:buNone/>
                      </a:pPr>
                      <a:r>
                        <a:rPr lang="en-US" sz="1100" dirty="0">
                          <a:solidFill>
                            <a:srgbClr val="1F2937"/>
                          </a:solidFill>
                        </a:rPr>
                        <a:t>한도 </a:t>
                      </a:r>
                      <a:pPr indent="0" marL="0">
                        <a:buNone/>
                      </a:pPr>
                      <a:r>
                        <a:rPr lang="en-US" sz="1100" dirty="0">
                          <a:solidFill>
                            <a:srgbClr val="1F2937"/>
                          </a:solidFill>
                        </a:rPr>
                        <a:t>초과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응답 </a:t>
                      </a:r>
                      <a:pPr indent="0" marL="0">
                        <a:buNone/>
                      </a:pPr>
                      <a:r>
                        <a:rPr lang="en-US" sz="1100" dirty="0">
                          <a:solidFill>
                            <a:srgbClr val="1F2937"/>
                          </a:solidFill>
                        </a:rPr>
                        <a:t>헤더의 </a:t>
                      </a:r>
                      <a:pPr indent="0" marL="0">
                        <a:buNone/>
                      </a:pPr>
                      <a:r>
                        <a:rPr lang="en-US" sz="1100" dirty="0">
                          <a:solidFill>
                            <a:srgbClr val="1F2937"/>
                          </a:solidFill>
                        </a:rPr>
                        <a:t>재시도 </a:t>
                      </a:r>
                      <a:pPr indent="0" marL="0">
                        <a:buNone/>
                      </a:pPr>
                      <a:r>
                        <a:rPr lang="en-US" sz="1100" dirty="0">
                          <a:solidFill>
                            <a:srgbClr val="1F2937"/>
                          </a:solidFill>
                        </a:rPr>
                        <a:t>정보를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INTERNAL_ERROR</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500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예상하지 </a:t>
                      </a:r>
                      <a:pPr indent="0" marL="0">
                        <a:buNone/>
                      </a:pPr>
                      <a:r>
                        <a:rPr lang="en-US" sz="1100" dirty="0">
                          <a:solidFill>
                            <a:srgbClr val="1F2937"/>
                          </a:solidFill>
                        </a:rPr>
                        <a:t>못한 </a:t>
                      </a:r>
                      <a:pPr indent="0" marL="0">
                        <a:buNone/>
                      </a:pPr>
                      <a:r>
                        <a:rPr lang="en-US" sz="1100" dirty="0">
                          <a:solidFill>
                            <a:srgbClr val="1F2937"/>
                          </a:solidFill>
                        </a:rPr>
                        <a:t>서버 </a:t>
                      </a:r>
                      <a:pPr indent="0" marL="0">
                        <a:buNone/>
                      </a:pPr>
                      <a:r>
                        <a:rPr lang="en-US" sz="1100" dirty="0">
                          <a:solidFill>
                            <a:srgbClr val="1F2937"/>
                          </a:solidFill>
                        </a:rPr>
                        <a:t>오류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요청 </a:t>
                      </a:r>
                      <a:pPr indent="0" marL="0">
                        <a:buNone/>
                      </a:pPr>
                      <a:r>
                        <a:rPr lang="en-US" sz="1100" dirty="0">
                          <a:solidFill>
                            <a:srgbClr val="1F2937"/>
                          </a:solidFill>
                        </a:rPr>
                        <a:t>식별값과 </a:t>
                      </a:r>
                      <a:pPr indent="0" marL="0">
                        <a:buNone/>
                      </a:pPr>
                      <a:r>
                        <a:rPr lang="en-US" sz="1100" dirty="0">
                          <a:solidFill>
                            <a:srgbClr val="1F2937"/>
                          </a:solidFill>
                        </a:rPr>
                        <a:t>함께 </a:t>
                      </a:r>
                      <a:pPr indent="0" marL="0">
                        <a:buNone/>
                      </a:pPr>
                      <a:r>
                        <a:rPr lang="en-US" sz="1100" dirty="0">
                          <a:solidFill>
                            <a:srgbClr val="1F2937"/>
                          </a:solidFill>
                        </a:rPr>
                        <a:t>문의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SERVICE_UNAVAILABLE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503</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서버가 </a:t>
                      </a:r>
                      <a:pPr indent="0" marL="0">
                        <a:buNone/>
                      </a:pPr>
                      <a:r>
                        <a:rPr lang="en-US" sz="1100" dirty="0">
                          <a:solidFill>
                            <a:srgbClr val="1F2937"/>
                          </a:solidFill>
                        </a:rPr>
                        <a:t>일시적으로 </a:t>
                      </a:r>
                      <a:pPr indent="0" marL="0">
                        <a:buNone/>
                      </a:pPr>
                      <a:r>
                        <a:rPr lang="en-US" sz="1100" dirty="0">
                          <a:solidFill>
                            <a:srgbClr val="1F2937"/>
                          </a:solidFill>
                        </a:rPr>
                        <a:t>요청을 </a:t>
                      </a:r>
                      <a:pPr indent="0" marL="0">
                        <a:buNone/>
                      </a:pPr>
                      <a:r>
                        <a:rPr lang="en-US" sz="1100" dirty="0">
                          <a:solidFill>
                            <a:srgbClr val="1F2937"/>
                          </a:solidFill>
                        </a:rPr>
                        <a:t>처리할 </a:t>
                      </a:r>
                      <a:pPr indent="0" marL="0">
                        <a:buNone/>
                      </a:pPr>
                      <a:r>
                        <a:rPr lang="en-US" sz="1100" dirty="0">
                          <a:solidFill>
                            <a:srgbClr val="1F2937"/>
                          </a:solidFill>
                        </a:rPr>
                        <a:t>수 </a:t>
                      </a:r>
                      <a:pPr indent="0" marL="0">
                        <a:buNone/>
                      </a:pPr>
                      <a:r>
                        <a:rPr lang="en-US" sz="1100" dirty="0">
                          <a:solidFill>
                            <a:srgbClr val="1F2937"/>
                          </a:solidFill>
                        </a:rPr>
                        <a:t>없음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잠시 </a:t>
                      </a:r>
                      <a:pPr indent="0" marL="0">
                        <a:buNone/>
                      </a:pPr>
                      <a:r>
                        <a:rPr lang="en-US" sz="1100" dirty="0">
                          <a:solidFill>
                            <a:srgbClr val="1F2937"/>
                          </a:solidFill>
                        </a:rPr>
                        <a:t>뒤 </a:t>
                      </a:r>
                      <a:pPr indent="0" marL="0">
                        <a:buNone/>
                      </a:pPr>
                      <a:r>
                        <a:rPr lang="en-US" sz="1100" dirty="0">
                          <a:solidFill>
                            <a:srgbClr val="1F2937"/>
                          </a:solidFill>
                        </a:rPr>
                        <a:t>재시도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222</a:t>
            </a:fld>
            <a:endParaRPr lang="en-US"/>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name="Slide 22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오류 응답 예시</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"success": false,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"error":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"code": "VALIDATION_ERROR",</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"message": "요청 내용을 확인해 주세요.",</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"details":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"field": "mealType",</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"message": "식사 구분은 아침, 점심, 저녁, 간식 중 하나여야 합니다."</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"meta":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"timestamp": "2026-10-01T04:10:00Z",</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"requestId": "req_0192d6c7-2ae5-7cd0-a5da-d9a27d27eb63"</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223</a:t>
            </a:fld>
            <a:endParaRPr lang="en-US"/>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name="Slide 22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9. 요청 제한과 시간 제한</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224</a:t>
            </a:fld>
            <a:endParaRPr lang="en-US"/>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name="Slide 22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9.1 요청 제한</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회의에서는 구체적인 API 요청 한도를 확정하지 않았습니다. 기본 제한값은 </a:t>
            </a:r>
            <a:pPr indent="0" marL="0">
              <a:spcAft>
                <a:spcPts val="800"/>
              </a:spcAft>
              <a:buNone/>
            </a:pPr>
            <a:r>
              <a:rPr lang="en-US" sz="1600" b="1" dirty="0">
                <a:solidFill>
                  <a:srgbClr val="4B5563"/>
                </a:solidFill>
              </a:rPr>
              <a:t>추정 필요</a:t>
            </a:r>
            <a:pPr indent="0" marL="0">
              <a:spcAft>
                <a:spcPts val="800"/>
              </a:spcAft>
              <a:buNone/>
            </a:pPr>
            <a:r>
              <a:rPr lang="en-US" sz="1600" dirty="0">
                <a:solidFill>
                  <a:srgbClr val="4B5563"/>
                </a:solidFill>
              </a:rPr>
              <a:t>입니다. 사용자 수·검색 호출량·외부 음식 공급자 계약·비용을 확인한 뒤 제한을 정해야 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225</a:t>
            </a:fld>
            <a:endParaRPr lang="en-US"/>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name="Slide 22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9.1 요청 제한</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227"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215662"/>
                <a:gridCol w="949569"/>
                <a:gridCol w="949569"/>
                <a:gridCol w="4114800"/>
              </a:tblGrid>
              <a:tr h="0">
                <a:tc>
                  <a:txBody>
                    <a:bodyPr/>
                    <a:lstStyle/>
                    <a:p>
                      <a:pPr indent="0" marL="0">
                        <a:buNone/>
                      </a:pPr>
                      <a:r>
                        <a:rPr lang="en-US" sz="1200" b="1" dirty="0">
                          <a:solidFill>
                            <a:srgbClr val="FFFFFF"/>
                          </a:solidFill>
                        </a:rPr>
                        <a:t>구분</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제한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시간 </a:t>
                      </a:r>
                      <a:pPr indent="0" marL="0">
                        <a:buNone/>
                      </a:pPr>
                      <a:r>
                        <a:rPr lang="en-US" sz="1200" b="1" dirty="0">
                          <a:solidFill>
                            <a:srgbClr val="FFFFFF"/>
                          </a:solidFill>
                        </a:rPr>
                        <a:t>구간</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상태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인증 </a:t>
                      </a:r>
                      <a:pPr indent="0" marL="0">
                        <a:buNone/>
                      </a:pPr>
                      <a:r>
                        <a:rPr lang="en-US" sz="1100" dirty="0">
                          <a:solidFill>
                            <a:srgbClr val="1F2937"/>
                          </a:solidFill>
                        </a:rPr>
                        <a:t>요청</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인증 </a:t>
                      </a:r>
                      <a:pPr indent="0" marL="0">
                        <a:buNone/>
                      </a:pPr>
                      <a:r>
                        <a:rPr lang="en-US" sz="1100" dirty="0">
                          <a:solidFill>
                            <a:srgbClr val="1F2937"/>
                          </a:solidFill>
                        </a:rPr>
                        <a:t>제공자·보안 </a:t>
                      </a:r>
                      <a:pPr indent="0" marL="0">
                        <a:buNone/>
                      </a:pPr>
                      <a:r>
                        <a:rPr lang="en-US" sz="1100" dirty="0">
                          <a:solidFill>
                            <a:srgbClr val="1F2937"/>
                          </a:solidFill>
                        </a:rPr>
                        <a:t>방식 </a:t>
                      </a:r>
                      <a:pPr indent="0" marL="0">
                        <a:buNone/>
                      </a:pPr>
                      <a:r>
                        <a:rPr lang="en-US" sz="1100" dirty="0">
                          <a:solidFill>
                            <a:srgbClr val="1F2937"/>
                          </a:solidFill>
                        </a:rPr>
                        <a:t>확정 </a:t>
                      </a:r>
                      <a:pPr indent="0" marL="0">
                        <a:buNone/>
                      </a:pPr>
                      <a:r>
                        <a:rPr lang="en-US" sz="1100" dirty="0">
                          <a:solidFill>
                            <a:srgbClr val="1F2937"/>
                          </a:solidFill>
                        </a:rPr>
                        <a:t>후 </a:t>
                      </a:r>
                      <a:pPr indent="0" marL="0">
                        <a:buNone/>
                      </a:pPr>
                      <a:r>
                        <a:rPr lang="en-US" sz="1100" dirty="0">
                          <a:solidFill>
                            <a:srgbClr val="1F2937"/>
                          </a:solidFill>
                        </a:rPr>
                        <a:t>결정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음식 </a:t>
                      </a:r>
                      <a:pPr indent="0" marL="0">
                        <a:buNone/>
                      </a:pPr>
                      <a:r>
                        <a:rPr lang="en-US" sz="1100" dirty="0">
                          <a:solidFill>
                            <a:srgbClr val="1F2937"/>
                          </a:solidFill>
                        </a:rPr>
                        <a:t>검색</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공급자 </a:t>
                      </a:r>
                      <a:pPr indent="0" marL="0">
                        <a:buNone/>
                      </a:pPr>
                      <a:r>
                        <a:rPr lang="en-US" sz="1100" dirty="0">
                          <a:solidFill>
                            <a:srgbClr val="1F2937"/>
                          </a:solidFill>
                        </a:rPr>
                        <a:t>계약의 </a:t>
                      </a:r>
                      <a:pPr indent="0" marL="0">
                        <a:buNone/>
                      </a:pPr>
                      <a:r>
                        <a:rPr lang="en-US" sz="1100" dirty="0">
                          <a:solidFill>
                            <a:srgbClr val="1F2937"/>
                          </a:solidFill>
                        </a:rPr>
                        <a:t>호출 </a:t>
                      </a:r>
                      <a:pPr indent="0" marL="0">
                        <a:buNone/>
                      </a:pPr>
                      <a:r>
                        <a:rPr lang="en-US" sz="1100" dirty="0">
                          <a:solidFill>
                            <a:srgbClr val="1F2937"/>
                          </a:solidFill>
                        </a:rPr>
                        <a:t>한도와 </a:t>
                      </a:r>
                      <a:pPr indent="0" marL="0">
                        <a:buNone/>
                      </a:pPr>
                      <a:r>
                        <a:rPr lang="en-US" sz="1100" dirty="0">
                          <a:solidFill>
                            <a:srgbClr val="1F2937"/>
                          </a:solidFill>
                        </a:rPr>
                        <a:t>캐시 </a:t>
                      </a:r>
                      <a:pPr indent="0" marL="0">
                        <a:buNone/>
                      </a:pPr>
                      <a:r>
                        <a:rPr lang="en-US" sz="1100" dirty="0">
                          <a:solidFill>
                            <a:srgbClr val="1F2937"/>
                          </a:solidFill>
                        </a:rPr>
                        <a:t>허용 </a:t>
                      </a:r>
                      <a:pPr indent="0" marL="0">
                        <a:buNone/>
                      </a:pPr>
                      <a:r>
                        <a:rPr lang="en-US" sz="1100" dirty="0">
                          <a:solidFill>
                            <a:srgbClr val="1F2937"/>
                          </a:solidFill>
                        </a:rPr>
                        <a:t>조건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식사 </a:t>
                      </a:r>
                      <a:pPr indent="0" marL="0">
                        <a:buNone/>
                      </a:pPr>
                      <a:r>
                        <a:rPr lang="en-US" sz="1100" dirty="0">
                          <a:solidFill>
                            <a:srgbClr val="1F2937"/>
                          </a:solidFill>
                        </a:rPr>
                        <a:t>기록 </a:t>
                      </a:r>
                      <a:pPr indent="0" marL="0">
                        <a:buNone/>
                      </a:pPr>
                      <a:r>
                        <a:rPr lang="en-US" sz="1100" dirty="0">
                          <a:solidFill>
                            <a:srgbClr val="1F2937"/>
                          </a:solidFill>
                        </a:rPr>
                        <a:t>생성·수정·삭제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중복 </a:t>
                      </a:r>
                      <a:pPr indent="0" marL="0">
                        <a:buNone/>
                      </a:pPr>
                      <a:r>
                        <a:rPr lang="en-US" sz="1100" dirty="0">
                          <a:solidFill>
                            <a:srgbClr val="1F2937"/>
                          </a:solidFill>
                        </a:rPr>
                        <a:t>방지와 </a:t>
                      </a:r>
                      <a:pPr indent="0" marL="0">
                        <a:buNone/>
                      </a:pPr>
                      <a:r>
                        <a:rPr lang="en-US" sz="1100" dirty="0">
                          <a:solidFill>
                            <a:srgbClr val="1F2937"/>
                          </a:solidFill>
                        </a:rPr>
                        <a:t>악용 </a:t>
                      </a:r>
                      <a:pPr indent="0" marL="0">
                        <a:buNone/>
                      </a:pPr>
                      <a:r>
                        <a:rPr lang="en-US" sz="1100" dirty="0">
                          <a:solidFill>
                            <a:srgbClr val="1F2937"/>
                          </a:solidFill>
                        </a:rPr>
                        <a:t>방지 </a:t>
                      </a:r>
                      <a:pPr indent="0" marL="0">
                        <a:buNone/>
                      </a:pPr>
                      <a:r>
                        <a:rPr lang="en-US" sz="1100" dirty="0">
                          <a:solidFill>
                            <a:srgbClr val="1F2937"/>
                          </a:solidFill>
                        </a:rPr>
                        <a:t>기준 </a:t>
                      </a:r>
                      <a:pPr indent="0" marL="0">
                        <a:buNone/>
                      </a:pPr>
                      <a:r>
                        <a:rPr lang="en-US" sz="1100" dirty="0">
                          <a:solidFill>
                            <a:srgbClr val="1F2937"/>
                          </a:solidFill>
                        </a:rPr>
                        <a:t>산정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리포트 </a:t>
                      </a:r>
                      <a:pPr indent="0" marL="0">
                        <a:buNone/>
                      </a:pPr>
                      <a:r>
                        <a:rPr lang="en-US" sz="1100" dirty="0">
                          <a:solidFill>
                            <a:srgbClr val="1F2937"/>
                          </a:solidFill>
                        </a:rPr>
                        <a:t>조회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온디맨드 </a:t>
                      </a:r>
                      <a:pPr indent="0" marL="0">
                        <a:buNone/>
                      </a:pPr>
                      <a:r>
                        <a:rPr lang="en-US" sz="1100" dirty="0">
                          <a:solidFill>
                            <a:srgbClr val="1F2937"/>
                          </a:solidFill>
                        </a:rPr>
                        <a:t>계산 </a:t>
                      </a:r>
                      <a:pPr indent="0" marL="0">
                        <a:buNone/>
                      </a:pPr>
                      <a:r>
                        <a:rPr lang="en-US" sz="1100" dirty="0">
                          <a:solidFill>
                            <a:srgbClr val="1F2937"/>
                          </a:solidFill>
                        </a:rPr>
                        <a:t>성능을 </a:t>
                      </a:r>
                      <a:pPr indent="0" marL="0">
                        <a:buNone/>
                      </a:pPr>
                      <a:r>
                        <a:rPr lang="en-US" sz="1100" dirty="0">
                          <a:solidFill>
                            <a:srgbClr val="1F2937"/>
                          </a:solidFill>
                        </a:rPr>
                        <a:t>측정한 </a:t>
                      </a:r>
                      <a:pPr indent="0" marL="0">
                        <a:buNone/>
                      </a:pPr>
                      <a:r>
                        <a:rPr lang="en-US" sz="1100" dirty="0">
                          <a:solidFill>
                            <a:srgbClr val="1F2937"/>
                          </a:solidFill>
                        </a:rPr>
                        <a:t>뒤 </a:t>
                      </a:r>
                      <a:pPr indent="0" marL="0">
                        <a:buNone/>
                      </a:pPr>
                      <a:r>
                        <a:rPr lang="en-US" sz="1100" dirty="0">
                          <a:solidFill>
                            <a:srgbClr val="1F2937"/>
                          </a:solidFill>
                        </a:rPr>
                        <a:t>결정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일반 </a:t>
                      </a:r>
                      <a:pPr indent="0" marL="0">
                        <a:buNone/>
                      </a:pPr>
                      <a:r>
                        <a:rPr lang="en-US" sz="1100" dirty="0">
                          <a:solidFill>
                            <a:srgbClr val="1F2937"/>
                          </a:solidFill>
                        </a:rPr>
                        <a:t>인증 </a:t>
                      </a:r>
                      <a:pPr indent="0" marL="0">
                        <a:buNone/>
                      </a:pPr>
                      <a:r>
                        <a:rPr lang="en-US" sz="1100" dirty="0">
                          <a:solidFill>
                            <a:srgbClr val="1F2937"/>
                          </a:solidFill>
                        </a:rPr>
                        <a:t>요청</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사용자 </a:t>
                      </a:r>
                      <a:pPr indent="0" marL="0">
                        <a:buNone/>
                      </a:pPr>
                      <a:r>
                        <a:rPr lang="en-US" sz="1100" dirty="0">
                          <a:solidFill>
                            <a:srgbClr val="1F2937"/>
                          </a:solidFill>
                        </a:rPr>
                        <a:t>수와 </a:t>
                      </a:r>
                      <a:pPr indent="0" marL="0">
                        <a:buNone/>
                      </a:pPr>
                      <a:r>
                        <a:rPr lang="en-US" sz="1100" dirty="0">
                          <a:solidFill>
                            <a:srgbClr val="1F2937"/>
                          </a:solidFill>
                        </a:rPr>
                        <a:t>운영 </a:t>
                      </a:r>
                      <a:pPr indent="0" marL="0">
                        <a:buNone/>
                      </a:pPr>
                      <a:r>
                        <a:rPr lang="en-US" sz="1100" dirty="0">
                          <a:solidFill>
                            <a:srgbClr val="1F2937"/>
                          </a:solidFill>
                        </a:rPr>
                        <a:t>규모 </a:t>
                      </a:r>
                      <a:pPr indent="0" marL="0">
                        <a:buNone/>
                      </a:pPr>
                      <a:r>
                        <a:rPr lang="en-US" sz="1100" dirty="0">
                          <a:solidFill>
                            <a:srgbClr val="1F2937"/>
                          </a:solidFill>
                        </a:rPr>
                        <a:t>산정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226</a:t>
            </a:fld>
            <a:endParaRPr lang="en-US"/>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name="Slide 22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9.1 요청 제한</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요청 제한 초과 시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429</a:t>
            </a:r>
            <a:pPr indent="0" marL="0">
              <a:spcAft>
                <a:spcPts val="800"/>
              </a:spcAft>
              <a:buNone/>
            </a:pPr>
            <a:r>
              <a:rPr lang="en-US" sz="1600" dirty="0">
                <a:solidFill>
                  <a:srgbClr val="4B5563"/>
                </a:solidFill>
              </a:rPr>
              <a:t>를 반환하는 방식을 제안합니다. 실제 한도와 사용자별·주소별 제한 방식은 확정 전입니다.</a:t>
            </a:r>
            <a:endParaRPr lang="en-US" sz="1600" dirty="0"/>
          </a:p>
          <a:p>
            <a:pPr indent="0" marL="0">
              <a:spcAft>
                <a:spcPts val="800"/>
              </a:spcAft>
              <a:buNone/>
            </a:pPr>
            <a:r>
              <a:rPr lang="en-US" sz="1600" b="1" dirty="0">
                <a:solidFill>
                  <a:srgbClr val="4B5563"/>
                </a:solidFill>
              </a:rPr>
              <a:t>제안 응답 헤더 예시</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227</a:t>
            </a:fld>
            <a:endParaRPr lang="en-US"/>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name="Slide 22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9.1 요청 제한</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731520" y="1371600"/>
            <a:ext cx="7680960" cy="4389120"/>
          </a:xfrm>
          <a:prstGeom prst="rect">
            <a:avLst/>
          </a:prstGeom>
          <a:noFill/>
          <a:ln/>
        </p:spPr>
        <p:txBody>
          <a:bodyPr wrap="square" rtlCol="0" anchor="t"/>
          <a:lstStyle/>
          <a:p>
            <a:pPr indent="0" marL="0">
              <a:buNone/>
            </a:pPr>
            <a:r>
              <a:rPr lang="en-US" sz="1000" dirty="0">
                <a:solidFill>
                  <a:srgbClr val="4B5563"/>
                </a:solidFill>
                <a:latin typeface="Courier New" pitchFamily="34" charset="0"/>
                <a:ea typeface="Courier New" pitchFamily="34" charset="-122"/>
                <a:cs typeface="Courier New" pitchFamily="34" charset="-120"/>
              </a:rPr>
              <a:t>HTTP/1.1 429 Too Many Requests</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Retry-After: 60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X-RateLimit-Limit: &lt;확정_전&gt;</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X-RateLimit-Remaining: 0</a:t>
            </a:r>
            <a:endParaRPr lang="en-US" sz="1000" dirty="0"/>
          </a:p>
          <a:p>
            <a:pPr indent="0" marL="0">
              <a:buNone/>
            </a:pPr>
            <a:r>
              <a:rPr lang="en-US" sz="1000" dirty="0">
                <a:solidFill>
                  <a:srgbClr val="4B5563"/>
                </a:solidFill>
                <a:latin typeface="Courier New" pitchFamily="34" charset="0"/>
                <a:ea typeface="Courier New" pitchFamily="34" charset="-122"/>
                <a:cs typeface="Courier New" pitchFamily="34" charset="-120"/>
              </a:rPr>
              <a:t>X-RateLimit-Reset: &lt;확정_전&gt;</a:t>
            </a:r>
            <a:endParaRPr lang="en-US" sz="10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228</a:t>
            </a:fld>
            <a:endParaRPr lang="en-US"/>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name="Slide 22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9.1 요청 제한</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Retry-After</a:t>
            </a:r>
            <a:pPr indent="0" marL="0">
              <a:spcAft>
                <a:spcPts val="800"/>
              </a:spcAft>
              <a:buNone/>
            </a:pPr>
            <a:r>
              <a:rPr lang="en-US" sz="1600" dirty="0">
                <a:solidFill>
                  <a:srgbClr val="4B5563"/>
                </a:solidFill>
              </a:rPr>
              <a:t>와 나머지 헤더의 실제 적용 방식은 구현 확정이 필요합니다.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229</a:t>
            </a:fld>
            <a:endParaRPr lang="en-US"/>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name="Slide 23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9.2 시간 제한과 재시도</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231"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183363"/>
                <a:gridCol w="6046237"/>
              </a:tblGrid>
              <a:tr h="0">
                <a:tc>
                  <a:txBody>
                    <a:bodyPr/>
                    <a:lstStyle/>
                    <a:p>
                      <a:pPr indent="0" marL="0">
                        <a:buNone/>
                      </a:pPr>
                      <a:r>
                        <a:rPr lang="en-US" sz="1200" b="1" dirty="0">
                          <a:solidFill>
                            <a:srgbClr val="FFFFFF"/>
                          </a:solidFill>
                        </a:rPr>
                        <a:t>항목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기준</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API </a:t>
                      </a:r>
                      <a:pPr indent="0" marL="0">
                        <a:buNone/>
                      </a:pPr>
                      <a:r>
                        <a:rPr lang="en-US" sz="1100" dirty="0">
                          <a:solidFill>
                            <a:srgbClr val="1F2937"/>
                          </a:solidFill>
                        </a:rPr>
                        <a:t>응답 </a:t>
                      </a:r>
                      <a:pPr indent="0" marL="0">
                        <a:buNone/>
                      </a:pPr>
                      <a:r>
                        <a:rPr lang="en-US" sz="1100" dirty="0">
                          <a:solidFill>
                            <a:srgbClr val="1F2937"/>
                          </a:solidFill>
                        </a:rPr>
                        <a:t>시간 </a:t>
                      </a:r>
                      <a:pPr indent="0" marL="0">
                        <a:buNone/>
                      </a:pPr>
                      <a:r>
                        <a:rPr lang="en-US" sz="1100" dirty="0">
                          <a:solidFill>
                            <a:srgbClr val="1F2937"/>
                          </a:solidFill>
                        </a:rPr>
                        <a:t>제한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미정. </a:t>
                      </a:r>
                      <a:pPr indent="0" marL="0">
                        <a:buNone/>
                      </a:pPr>
                      <a:r>
                        <a:rPr lang="en-US" sz="1100" dirty="0">
                          <a:solidFill>
                            <a:srgbClr val="1F2937"/>
                          </a:solidFill>
                        </a:rPr>
                        <a:t>기능별 </a:t>
                      </a:r>
                      <a:pPr indent="0" marL="0">
                        <a:buNone/>
                      </a:pPr>
                      <a:r>
                        <a:rPr lang="en-US" sz="1100" dirty="0">
                          <a:solidFill>
                            <a:srgbClr val="1F2937"/>
                          </a:solidFill>
                        </a:rPr>
                        <a:t>시험 </a:t>
                      </a:r>
                      <a:pPr indent="0" marL="0">
                        <a:buNone/>
                      </a:pPr>
                      <a:r>
                        <a:rPr lang="en-US" sz="1100" dirty="0">
                          <a:solidFill>
                            <a:srgbClr val="1F2937"/>
                          </a:solidFill>
                        </a:rPr>
                        <a:t>결과로 </a:t>
                      </a:r>
                      <a:pPr indent="0" marL="0">
                        <a:buNone/>
                      </a:pPr>
                      <a:r>
                        <a:rPr lang="en-US" sz="1100" dirty="0">
                          <a:solidFill>
                            <a:srgbClr val="1F2937"/>
                          </a:solidFill>
                        </a:rPr>
                        <a:t>결정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음식 </a:t>
                      </a:r>
                      <a:pPr indent="0" marL="0">
                        <a:buNone/>
                      </a:pPr>
                      <a:r>
                        <a:rPr lang="en-US" sz="1100" dirty="0">
                          <a:solidFill>
                            <a:srgbClr val="1F2937"/>
                          </a:solidFill>
                        </a:rPr>
                        <a:t>검색 </a:t>
                      </a:r>
                      <a:pPr indent="0" marL="0">
                        <a:buNone/>
                      </a:pPr>
                      <a:r>
                        <a:rPr lang="en-US" sz="1100" dirty="0">
                          <a:solidFill>
                            <a:srgbClr val="1F2937"/>
                          </a:solidFill>
                        </a:rPr>
                        <a:t>응답</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대부분 </a:t>
                      </a:r>
                      <a:pPr indent="0" marL="0">
                        <a:buNone/>
                      </a:pPr>
                      <a:r>
                        <a:rPr lang="en-US" sz="1100" dirty="0">
                          <a:solidFill>
                            <a:srgbClr val="1F2937"/>
                          </a:solidFill>
                        </a:rPr>
                        <a:t>2초 </a:t>
                      </a:r>
                      <a:pPr indent="0" marL="0">
                        <a:buNone/>
                      </a:pPr>
                      <a:r>
                        <a:rPr lang="en-US" sz="1100" dirty="0">
                          <a:solidFill>
                            <a:srgbClr val="1F2937"/>
                          </a:solidFill>
                        </a:rPr>
                        <a:t>안에 </a:t>
                      </a:r>
                      <a:pPr indent="0" marL="0">
                        <a:buNone/>
                      </a:pPr>
                      <a:r>
                        <a:rPr lang="en-US" sz="1100" dirty="0">
                          <a:solidFill>
                            <a:srgbClr val="1F2937"/>
                          </a:solidFill>
                        </a:rPr>
                        <a:t>응답하는 </a:t>
                      </a:r>
                      <a:pPr indent="0" marL="0">
                        <a:buNone/>
                      </a:pPr>
                      <a:r>
                        <a:rPr lang="en-US" sz="1100" dirty="0">
                          <a:solidFill>
                            <a:srgbClr val="1F2937"/>
                          </a:solidFill>
                        </a:rPr>
                        <a:t>목표가 </a:t>
                      </a:r>
                      <a:pPr indent="0" marL="0">
                        <a:buNone/>
                      </a:pPr>
                      <a:r>
                        <a:rPr lang="en-US" sz="1100" dirty="0">
                          <a:solidFill>
                            <a:srgbClr val="1F2937"/>
                          </a:solidFill>
                        </a:rPr>
                        <a:t>논의됐으나 </a:t>
                      </a:r>
                      <a:pPr indent="0" marL="0">
                        <a:buNone/>
                      </a:pPr>
                      <a:r>
                        <a:rPr lang="en-US" sz="1100" dirty="0">
                          <a:solidFill>
                            <a:srgbClr val="1F2937"/>
                          </a:solidFill>
                        </a:rPr>
                        <a:t>검증 </a:t>
                      </a:r>
                      <a:pPr indent="0" marL="0">
                        <a:buNone/>
                      </a:pPr>
                      <a:r>
                        <a:rPr lang="en-US" sz="1100" dirty="0">
                          <a:solidFill>
                            <a:srgbClr val="1F2937"/>
                          </a:solidFill>
                        </a:rPr>
                        <a:t>목표이며 </a:t>
                      </a:r>
                      <a:pPr indent="0" marL="0">
                        <a:buNone/>
                      </a:pPr>
                      <a:r>
                        <a:rPr lang="en-US" sz="1100" dirty="0">
                          <a:solidFill>
                            <a:srgbClr val="1F2937"/>
                          </a:solidFill>
                        </a:rPr>
                        <a:t>확정된 </a:t>
                      </a:r>
                      <a:pPr indent="0" marL="0">
                        <a:buNone/>
                      </a:pPr>
                      <a:r>
                        <a:rPr lang="en-US" sz="1100" dirty="0">
                          <a:solidFill>
                            <a:srgbClr val="1F2937"/>
                          </a:solidFill>
                        </a:rPr>
                        <a:t>서비스 </a:t>
                      </a:r>
                      <a:pPr indent="0" marL="0">
                        <a:buNone/>
                      </a:pPr>
                      <a:r>
                        <a:rPr lang="en-US" sz="1100" dirty="0">
                          <a:solidFill>
                            <a:srgbClr val="1F2937"/>
                          </a:solidFill>
                        </a:rPr>
                        <a:t>수준은 </a:t>
                      </a:r>
                      <a:pPr indent="0" marL="0">
                        <a:buNone/>
                      </a:pPr>
                      <a:r>
                        <a:rPr lang="en-US" sz="1100" dirty="0">
                          <a:solidFill>
                            <a:srgbClr val="1F2937"/>
                          </a:solidFill>
                        </a:rPr>
                        <a:t>아님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검색 </a:t>
                      </a:r>
                      <a:pPr indent="0" marL="0">
                        <a:buNone/>
                      </a:pPr>
                      <a:r>
                        <a:rPr lang="en-US" sz="1100" dirty="0">
                          <a:solidFill>
                            <a:srgbClr val="1F2937"/>
                          </a:solidFill>
                        </a:rPr>
                        <a:t>지연 </a:t>
                      </a:r>
                      <a:pPr indent="0" marL="0">
                        <a:buNone/>
                      </a:pPr>
                      <a:r>
                        <a:rPr lang="en-US" sz="1100" dirty="0">
                          <a:solidFill>
                            <a:srgbClr val="1F2937"/>
                          </a:solidFill>
                        </a:rPr>
                        <a:t>표시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3초 </a:t>
                      </a:r>
                      <a:pPr indent="0" marL="0">
                        <a:buNone/>
                      </a:pPr>
                      <a:r>
                        <a:rPr lang="en-US" sz="1100" dirty="0">
                          <a:solidFill>
                            <a:srgbClr val="1F2937"/>
                          </a:solidFill>
                        </a:rPr>
                        <a:t>이상 </a:t>
                      </a:r>
                      <a:pPr indent="0" marL="0">
                        <a:buNone/>
                      </a:pPr>
                      <a:r>
                        <a:rPr lang="en-US" sz="1100" dirty="0">
                          <a:solidFill>
                            <a:srgbClr val="1F2937"/>
                          </a:solidFill>
                        </a:rPr>
                        <a:t>응답이 </a:t>
                      </a:r>
                      <a:pPr indent="0" marL="0">
                        <a:buNone/>
                      </a:pPr>
                      <a:r>
                        <a:rPr lang="en-US" sz="1100" dirty="0">
                          <a:solidFill>
                            <a:srgbClr val="1F2937"/>
                          </a:solidFill>
                        </a:rPr>
                        <a:t>없을 </a:t>
                      </a:r>
                      <a:pPr indent="0" marL="0">
                        <a:buNone/>
                      </a:pPr>
                      <a:r>
                        <a:rPr lang="en-US" sz="1100" dirty="0">
                          <a:solidFill>
                            <a:srgbClr val="1F2937"/>
                          </a:solidFill>
                        </a:rPr>
                        <a:t>때 </a:t>
                      </a:r>
                      <a:pPr indent="0" marL="0">
                        <a:buNone/>
                      </a:pPr>
                      <a:r>
                        <a:rPr lang="en-US" sz="1100" dirty="0">
                          <a:solidFill>
                            <a:srgbClr val="1F2937"/>
                          </a:solidFill>
                        </a:rPr>
                        <a:t>재시도 </a:t>
                      </a:r>
                      <a:pPr indent="0" marL="0">
                        <a:buNone/>
                      </a:pPr>
                      <a:r>
                        <a:rPr lang="en-US" sz="1100" dirty="0">
                          <a:solidFill>
                            <a:srgbClr val="1F2937"/>
                          </a:solidFill>
                        </a:rPr>
                        <a:t>안내가 </a:t>
                      </a:r>
                      <a:pPr indent="0" marL="0">
                        <a:buNone/>
                      </a:pPr>
                      <a:r>
                        <a:rPr lang="en-US" sz="1100" dirty="0">
                          <a:solidFill>
                            <a:srgbClr val="1F2937"/>
                          </a:solidFill>
                        </a:rPr>
                        <a:t>제안됨. </a:t>
                      </a:r>
                      <a:pPr indent="0" marL="0">
                        <a:buNone/>
                      </a:pPr>
                      <a:r>
                        <a:rPr lang="en-US" sz="1100" dirty="0">
                          <a:solidFill>
                            <a:srgbClr val="1F2937"/>
                          </a:solidFill>
                        </a:rPr>
                        <a:t>실제 </a:t>
                      </a:r>
                      <a:pPr indent="0" marL="0">
                        <a:buNone/>
                      </a:pPr>
                      <a:r>
                        <a:rPr lang="en-US" sz="1100" dirty="0">
                          <a:solidFill>
                            <a:srgbClr val="1F2937"/>
                          </a:solidFill>
                        </a:rPr>
                        <a:t>판정 </a:t>
                      </a:r>
                      <a:pPr indent="0" marL="0">
                        <a:buNone/>
                      </a:pPr>
                      <a:r>
                        <a:rPr lang="en-US" sz="1100" dirty="0">
                          <a:solidFill>
                            <a:srgbClr val="1F2937"/>
                          </a:solidFill>
                        </a:rPr>
                        <a:t>시간은 </a:t>
                      </a:r>
                      <a:pPr indent="0" marL="0">
                        <a:buNone/>
                      </a:pPr>
                      <a:r>
                        <a:rPr lang="en-US" sz="1100" dirty="0">
                          <a:solidFill>
                            <a:srgbClr val="1F2937"/>
                          </a:solidFill>
                        </a:rPr>
                        <a:t>확정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외부 </a:t>
                      </a:r>
                      <a:pPr indent="0" marL="0">
                        <a:buNone/>
                      </a:pPr>
                      <a:r>
                        <a:rPr lang="en-US" sz="1100" dirty="0">
                          <a:solidFill>
                            <a:srgbClr val="1F2937"/>
                          </a:solidFill>
                        </a:rPr>
                        <a:t>공급자 </a:t>
                      </a:r>
                      <a:pPr indent="0" marL="0">
                        <a:buNone/>
                      </a:pPr>
                      <a:r>
                        <a:rPr lang="en-US" sz="1100" dirty="0">
                          <a:solidFill>
                            <a:srgbClr val="1F2937"/>
                          </a:solidFill>
                        </a:rPr>
                        <a:t>시간 </a:t>
                      </a:r>
                      <a:pPr indent="0" marL="0">
                        <a:buNone/>
                      </a:pPr>
                      <a:r>
                        <a:rPr lang="en-US" sz="1100" dirty="0">
                          <a:solidFill>
                            <a:srgbClr val="1F2937"/>
                          </a:solidFill>
                        </a:rPr>
                        <a:t>제한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공급자별 </a:t>
                      </a:r>
                      <a:pPr indent="0" marL="0">
                        <a:buNone/>
                      </a:pPr>
                      <a:r>
                        <a:rPr lang="en-US" sz="1100" dirty="0">
                          <a:solidFill>
                            <a:srgbClr val="1F2937"/>
                          </a:solidFill>
                        </a:rPr>
                        <a:t>계약·응답 </a:t>
                      </a:r>
                      <a:pPr indent="0" marL="0">
                        <a:buNone/>
                      </a:pPr>
                      <a:r>
                        <a:rPr lang="en-US" sz="1100" dirty="0">
                          <a:solidFill>
                            <a:srgbClr val="1F2937"/>
                          </a:solidFill>
                        </a:rPr>
                        <a:t>특성 </a:t>
                      </a:r>
                      <a:pPr indent="0" marL="0">
                        <a:buNone/>
                      </a:pPr>
                      <a:r>
                        <a:rPr lang="en-US" sz="1100" dirty="0">
                          <a:solidFill>
                            <a:srgbClr val="1F2937"/>
                          </a:solidFill>
                        </a:rPr>
                        <a:t>확인 </a:t>
                      </a:r>
                      <a:pPr indent="0" marL="0">
                        <a:buNone/>
                      </a:pPr>
                      <a:r>
                        <a:rPr lang="en-US" sz="1100" dirty="0">
                          <a:solidFill>
                            <a:srgbClr val="1F2937"/>
                          </a:solidFill>
                        </a:rPr>
                        <a:t>후 </a:t>
                      </a:r>
                      <a:pPr indent="0" marL="0">
                        <a:buNone/>
                      </a:pPr>
                      <a:r>
                        <a:rPr lang="en-US" sz="1100" dirty="0">
                          <a:solidFill>
                            <a:srgbClr val="1F2937"/>
                          </a:solidFill>
                        </a:rPr>
                        <a:t>확정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기록 </a:t>
                      </a:r>
                      <a:pPr indent="0" marL="0">
                        <a:buNone/>
                      </a:pPr>
                      <a:r>
                        <a:rPr lang="en-US" sz="1100" dirty="0">
                          <a:solidFill>
                            <a:srgbClr val="1F2937"/>
                          </a:solidFill>
                        </a:rPr>
                        <a:t>저장 </a:t>
                      </a:r>
                      <a:pPr indent="0" marL="0">
                        <a:buNone/>
                      </a:pPr>
                      <a:r>
                        <a:rPr lang="en-US" sz="1100" dirty="0">
                          <a:solidFill>
                            <a:srgbClr val="1F2937"/>
                          </a:solidFill>
                        </a:rPr>
                        <a:t>재시도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요청 </a:t>
                      </a:r>
                      <a:pPr indent="0" marL="0">
                        <a:buNone/>
                      </a:pPr>
                      <a:r>
                        <a:rPr lang="en-US" sz="1100" dirty="0">
                          <a:solidFill>
                            <a:srgbClr val="1F2937"/>
                          </a:solidFill>
                        </a:rPr>
                        <a:t>식별값을 </a:t>
                      </a:r>
                      <a:pPr indent="0" marL="0">
                        <a:buNone/>
                      </a:pPr>
                      <a:r>
                        <a:rPr lang="en-US" sz="1100" dirty="0">
                          <a:solidFill>
                            <a:srgbClr val="1F2937"/>
                          </a:solidFill>
                        </a:rPr>
                        <a:t>이용해 </a:t>
                      </a:r>
                      <a:pPr indent="0" marL="0">
                        <a:buNone/>
                      </a:pPr>
                      <a:r>
                        <a:rPr lang="en-US" sz="1100" dirty="0">
                          <a:solidFill>
                            <a:srgbClr val="1F2937"/>
                          </a:solidFill>
                        </a:rPr>
                        <a:t>중복 </a:t>
                      </a:r>
                      <a:pPr indent="0" marL="0">
                        <a:buNone/>
                      </a:pPr>
                      <a:r>
                        <a:rPr lang="en-US" sz="1100" dirty="0">
                          <a:solidFill>
                            <a:srgbClr val="1F2937"/>
                          </a:solidFill>
                        </a:rPr>
                        <a:t>생성을 </a:t>
                      </a:r>
                      <a:pPr indent="0" marL="0">
                        <a:buNone/>
                      </a:pPr>
                      <a:r>
                        <a:rPr lang="en-US" sz="1100" dirty="0">
                          <a:solidFill>
                            <a:srgbClr val="1F2937"/>
                          </a:solidFill>
                        </a:rPr>
                        <a:t>방지하는 </a:t>
                      </a:r>
                      <a:pPr indent="0" marL="0">
                        <a:buNone/>
                      </a:pPr>
                      <a:r>
                        <a:rPr lang="en-US" sz="1100" dirty="0">
                          <a:solidFill>
                            <a:srgbClr val="1F2937"/>
                          </a:solidFill>
                        </a:rPr>
                        <a:t>방향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전체 </a:t>
                      </a:r>
                      <a:pPr indent="0" marL="0">
                        <a:buNone/>
                      </a:pPr>
                      <a:r>
                        <a:rPr lang="en-US" sz="1100" dirty="0">
                          <a:solidFill>
                            <a:srgbClr val="1F2937"/>
                          </a:solidFill>
                        </a:rPr>
                        <a:t>API </a:t>
                      </a:r>
                      <a:pPr indent="0" marL="0">
                        <a:buNone/>
                      </a:pPr>
                      <a:r>
                        <a:rPr lang="en-US" sz="1100" dirty="0">
                          <a:solidFill>
                            <a:srgbClr val="1F2937"/>
                          </a:solidFill>
                        </a:rPr>
                        <a:t>자동 </a:t>
                      </a:r>
                      <a:pPr indent="0" marL="0">
                        <a:buNone/>
                      </a:pPr>
                      <a:r>
                        <a:rPr lang="en-US" sz="1100" dirty="0">
                          <a:solidFill>
                            <a:srgbClr val="1F2937"/>
                          </a:solidFill>
                        </a:rPr>
                        <a:t>재시도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POST</a:t>
                      </a:r>
                      <a:pPr indent="0" marL="0">
                        <a:buNone/>
                      </a:pPr>
                      <a:r>
                        <a:rPr lang="en-US" sz="1100" dirty="0">
                          <a:solidFill>
                            <a:srgbClr val="1F2937"/>
                          </a:solidFill>
                        </a:rPr>
                        <a:t>재시도는 </a:t>
                      </a:r>
                      <a:pPr indent="0" marL="0">
                        <a:buNone/>
                      </a:pPr>
                      <a:r>
                        <a:rPr lang="en-US" sz="1100" dirty="0">
                          <a:solidFill>
                            <a:srgbClr val="1F2937"/>
                          </a:solidFill>
                        </a:rPr>
                        <a:t>요청 </a:t>
                      </a:r>
                      <a:pPr indent="0" marL="0">
                        <a:buNone/>
                      </a:pPr>
                      <a:r>
                        <a:rPr lang="en-US" sz="1100" dirty="0">
                          <a:solidFill>
                            <a:srgbClr val="1F2937"/>
                          </a:solidFill>
                        </a:rPr>
                        <a:t>식별값이 </a:t>
                      </a:r>
                      <a:pPr indent="0" marL="0">
                        <a:buNone/>
                      </a:pPr>
                      <a:r>
                        <a:rPr lang="en-US" sz="1100" dirty="0">
                          <a:solidFill>
                            <a:srgbClr val="1F2937"/>
                          </a:solidFill>
                        </a:rPr>
                        <a:t>있을 </a:t>
                      </a:r>
                      <a:pPr indent="0" marL="0">
                        <a:buNone/>
                      </a:pPr>
                      <a:r>
                        <a:rPr lang="en-US" sz="1100" dirty="0">
                          <a:solidFill>
                            <a:srgbClr val="1F2937"/>
                          </a:solidFill>
                        </a:rPr>
                        <a:t>때만 </a:t>
                      </a:r>
                      <a:pPr indent="0" marL="0">
                        <a:buNone/>
                      </a:pPr>
                      <a:r>
                        <a:rPr lang="en-US" sz="1100" dirty="0">
                          <a:solidFill>
                            <a:srgbClr val="1F2937"/>
                          </a:solidFill>
                        </a:rPr>
                        <a:t>허용하는 </a:t>
                      </a:r>
                      <a:pPr indent="0" marL="0">
                        <a:buNone/>
                      </a:pPr>
                      <a:r>
                        <a:rPr lang="en-US" sz="1100" dirty="0">
                          <a:solidFill>
                            <a:srgbClr val="1F2937"/>
                          </a:solidFill>
                        </a:rPr>
                        <a:t>방식 </a:t>
                      </a:r>
                      <a:pPr indent="0" marL="0">
                        <a:buNone/>
                      </a:pPr>
                      <a:r>
                        <a:rPr lang="en-US" sz="1100" dirty="0">
                          <a:solidFill>
                            <a:srgbClr val="1F2937"/>
                          </a:solidFill>
                        </a:rPr>
                        <a:t>제안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응답 </a:t>
                      </a:r>
                      <a:pPr indent="0" marL="0">
                        <a:buNone/>
                      </a:pPr>
                      <a:r>
                        <a:rPr lang="en-US" sz="1100" dirty="0">
                          <a:solidFill>
                            <a:srgbClr val="1F2937"/>
                          </a:solidFill>
                        </a:rPr>
                        <a:t>시각·측정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UTC </a:t>
                      </a:r>
                      <a:pPr indent="0" marL="0">
                        <a:buNone/>
                      </a:pPr>
                      <a:r>
                        <a:rPr lang="en-US" sz="1100" dirty="0">
                          <a:solidFill>
                            <a:srgbClr val="1F2937"/>
                          </a:solidFill>
                        </a:rPr>
                        <a:t>시각을 </a:t>
                      </a:r>
                      <a:pPr indent="0" marL="0">
                        <a:buNone/>
                      </a:pPr>
                      <a:r>
                        <a:rPr lang="en-US" sz="1100" dirty="0">
                          <a:solidFill>
                            <a:srgbClr val="1F2937"/>
                          </a:solidFill>
                        </a:rPr>
                        <a:t>사용. </a:t>
                      </a:r>
                      <a:pPr indent="0" marL="0">
                        <a:buNone/>
                      </a:pPr>
                      <a:r>
                        <a:rPr lang="en-US" sz="1100" dirty="0">
                          <a:solidFill>
                            <a:srgbClr val="1F2937"/>
                          </a:solidFill>
                        </a:rPr>
                        <a:t>밀리초 </a:t>
                      </a:r>
                      <a:pPr indent="0" marL="0">
                        <a:buNone/>
                      </a:pPr>
                      <a:r>
                        <a:rPr lang="en-US" sz="1100" dirty="0">
                          <a:solidFill>
                            <a:srgbClr val="1F2937"/>
                          </a:solidFill>
                        </a:rPr>
                        <a:t>단위 </a:t>
                      </a:r>
                      <a:pPr indent="0" marL="0">
                        <a:buNone/>
                      </a:pPr>
                      <a:r>
                        <a:rPr lang="en-US" sz="1100" dirty="0">
                          <a:solidFill>
                            <a:srgbClr val="1F2937"/>
                          </a:solidFill>
                        </a:rPr>
                        <a:t>사용자 </a:t>
                      </a:r>
                      <a:pPr indent="0" marL="0">
                        <a:buNone/>
                      </a:pPr>
                      <a:r>
                        <a:rPr lang="en-US" sz="1100" dirty="0">
                          <a:solidFill>
                            <a:srgbClr val="1F2937"/>
                          </a:solidFill>
                        </a:rPr>
                        <a:t>행동 </a:t>
                      </a:r>
                      <a:pPr indent="0" marL="0">
                        <a:buNone/>
                      </a:pPr>
                      <a:r>
                        <a:rPr lang="en-US" sz="1100" dirty="0">
                          <a:solidFill>
                            <a:srgbClr val="1F2937"/>
                          </a:solidFill>
                        </a:rPr>
                        <a:t>기록은 </a:t>
                      </a:r>
                      <a:pPr indent="0" marL="0">
                        <a:buNone/>
                      </a:pPr>
                      <a:r>
                        <a:rPr lang="en-US" sz="1100" dirty="0">
                          <a:solidFill>
                            <a:srgbClr val="1F2937"/>
                          </a:solidFill>
                        </a:rPr>
                        <a:t>최소 </a:t>
                      </a:r>
                      <a:pPr indent="0" marL="0">
                        <a:buNone/>
                      </a:pPr>
                      <a:r>
                        <a:rPr lang="en-US" sz="1100" dirty="0">
                          <a:solidFill>
                            <a:srgbClr val="1F2937"/>
                          </a:solidFill>
                        </a:rPr>
                        <a:t>수집 </a:t>
                      </a:r>
                      <a:pPr indent="0" marL="0">
                        <a:buNone/>
                      </a:pPr>
                      <a:r>
                        <a:rPr lang="en-US" sz="1100" dirty="0">
                          <a:solidFill>
                            <a:srgbClr val="1F2937"/>
                          </a:solidFill>
                        </a:rPr>
                        <a:t>필요성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230</a:t>
            </a:fld>
            <a:endParaRPr lang="en-US"/>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name="Slide 23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9.2 시간 제한과 재시도</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응답 시간이 지연돼도 앱은 입력 중인 검색어와 식사 기록 작성 내용을 유지해야 합니다. 검색 결과 없음과 공급자 오류를 구분하고, 검색 실패가 직접 입력과 최근 기록 이용을 막아서는 안 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231</a:t>
            </a:fld>
            <a:endParaRPr lang="en-US"/>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name="Slide 23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10. API 아키텍처</a:t>
            </a:r>
            <a:endParaRPr lang="en-US" sz="2800" dirty="0"/>
          </a:p>
        </p:txBody>
      </p:sp>
      <p:sp>
        <p:nvSpPr>
          <p:cNvPr id="3" name="Shape 1"/>
          <p:cNvSpPr/>
          <p:nvPr/>
        </p:nvSpPr>
        <p:spPr>
          <a:xfrm>
            <a:off x="457200" y="1078992"/>
            <a:ext cx="2743200" cy="41148"/>
          </a:xfrm>
          <a:prstGeom prst="rect">
            <a:avLst/>
          </a:prstGeom>
          <a:solidFill>
            <a:srgbClr val="263F59"/>
          </a:solidFill>
          <a:ln/>
        </p:spPr>
      </p:sp>
      <p:pic>
        <p:nvPicPr>
          <p:cNvPr id="4" name="Image 0" descr="preencoded.png">    </p:cNvPr>
          <p:cNvPicPr>
            <a:picLocks noChangeAspect="1"/>
          </p:cNvPicPr>
          <p:nvPr/>
        </p:nvPicPr>
        <p:blipFill>
          <a:blip r:embed="rId1"/>
          <a:stretch>
            <a:fillRect/>
          </a:stretch>
        </p:blipFill>
        <p:spPr>
          <a:xfrm>
            <a:off x="640080" y="1463040"/>
            <a:ext cx="7863840" cy="3867624"/>
          </a:xfrm>
          <a:prstGeom prst="rect">
            <a:avLst/>
          </a:prstGeom>
        </p:spPr>
      </p:pic>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232</a:t>
            </a:fld>
            <a:endParaRPr lang="en-US"/>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name="Slide 23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10.1 구성 원칙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앱은 서버 API를 통해 식사 기록을 조회·저장합니다.</a:t>
            </a:r>
            <a:endParaRPr lang="en-US" sz="1600" dirty="0"/>
          </a:p>
          <a:p>
            <a:pPr indent="0" marL="0">
              <a:spcAft>
                <a:spcPts val="800"/>
              </a:spcAft>
              <a:buNone/>
            </a:pPr>
            <a:r>
              <a:rPr lang="en-US" sz="1600" dirty="0">
                <a:solidFill>
                  <a:srgbClr val="4B5563"/>
                </a:solidFill>
              </a:rPr>
              <a:t>· 외부 음식 검색은 서버가 중계하고, 공급자 응답을 내부 표준 자료 형식으로 변환합니다.</a:t>
            </a:r>
            <a:endParaRPr lang="en-US" sz="1600" dirty="0"/>
          </a:p>
          <a:p>
            <a:pPr indent="0" marL="0">
              <a:spcAft>
                <a:spcPts val="800"/>
              </a:spcAft>
              <a:buNone/>
            </a:pPr>
            <a:r>
              <a:rPr lang="en-US" sz="1600" dirty="0">
                <a:solidFill>
                  <a:srgbClr val="4B5563"/>
                </a:solidFill>
              </a:rPr>
              <a:t>· 외부 음식 공급자에는 검색어만 전달하며 사용자 식별값과 기록 자료를 보내지 않습니다.</a:t>
            </a:r>
            <a:endParaRPr lang="en-US" sz="1600" dirty="0"/>
          </a:p>
          <a:p>
            <a:pPr indent="0" marL="0">
              <a:spcAft>
                <a:spcPts val="800"/>
              </a:spcAft>
              <a:buNone/>
            </a:pPr>
            <a:r>
              <a:rPr lang="en-US" sz="1600" dirty="0">
                <a:solidFill>
                  <a:srgbClr val="4B5563"/>
                </a:solidFill>
              </a:rPr>
              <a:t>· 리포트는 내부 데이터베이스의 기록 시점 스냅샷을 기준으로 계산하며 화면 생성 과정에서 외부 음식 API를 호출하지 않습니다.</a:t>
            </a:r>
            <a:endParaRPr lang="en-US" sz="1600" dirty="0"/>
          </a:p>
          <a:p>
            <a:pPr indent="0" marL="0">
              <a:spcAft>
                <a:spcPts val="800"/>
              </a:spcAft>
              <a:buNone/>
            </a:pPr>
            <a:r>
              <a:rPr lang="en-US" sz="1600" dirty="0">
                <a:solidFill>
                  <a:srgbClr val="4B5563"/>
                </a:solidFill>
              </a:rPr>
              <a:t>· 푸시는 사용자가 앱 안에서 명시적으로 켠 경우에만 발송합니다. 발송 직전에 최신 설정과 해당 날짜 기록 여부를 확인합니다.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233</a:t>
            </a:fld>
            <a:endParaRPr lang="en-US"/>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name="Slide 23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10.1 구성 원칙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오류·운영 감시에는 요청 식별값, 오류 코드, 앱 버전, 플랫폼 등 진단에 필요한 자료만 포함합니다.</a:t>
            </a:r>
            <a:endParaRPr lang="en-US" sz="1600" dirty="0"/>
          </a:p>
          <a:p>
            <a:pPr indent="0" marL="0">
              <a:spcAft>
                <a:spcPts val="800"/>
              </a:spcAft>
              <a:buNone/>
            </a:pPr>
            <a:r>
              <a:rPr lang="en-US" sz="1600" dirty="0">
                <a:solidFill>
                  <a:srgbClr val="4B5563"/>
                </a:solidFill>
              </a:rPr>
              <a:t>· 음식명, 칼로리, 체중, 자유 입력 내용은 제품 분석 이벤트와 일반 오류 로그에 포함하지 않습니다.</a:t>
            </a:r>
            <a:endParaRPr lang="en-US" sz="1600" dirty="0"/>
          </a:p>
          <a:p>
            <a:pPr indent="0" marL="0">
              <a:spcAft>
                <a:spcPts val="800"/>
              </a:spcAft>
              <a:buNone/>
            </a:pPr>
            <a:r>
              <a:rPr lang="en-US" sz="1600" dirty="0">
                <a:solidFill>
                  <a:srgbClr val="4B5563"/>
                </a:solidFill>
              </a:rPr>
              <a:t>· 식사 기록의 사용자별 소유권은 API 권한 검사와 데이터베이스 제약으로 함께 보호하는 방식을 제안합니다.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234</a:t>
            </a:fld>
            <a:endParaRPr lang="en-US"/>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name="Slide 23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11. 시험 안내</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235</a:t>
            </a:fld>
            <a:endParaRPr lang="en-US"/>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name="Slide 23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11.1 시험 환경</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시험 서버 주소와 도구는 미정입니다. 시험용 인증정보와 시험 사용자 계정은 별도로 발급해야 하며, 실제 사용자의 식사 기록을 시험 자료로 사용하지 않습니다.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236</a:t>
            </a:fld>
            <a:endParaRPr lang="en-US"/>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name="Slide 23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11.1 시험 환경</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23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382253"/>
                <a:gridCol w="5847347"/>
              </a:tblGrid>
              <a:tr h="0">
                <a:tc>
                  <a:txBody>
                    <a:bodyPr/>
                    <a:lstStyle/>
                    <a:p>
                      <a:pPr indent="0" marL="0">
                        <a:buNone/>
                      </a:pPr>
                      <a:r>
                        <a:rPr lang="en-US" sz="1200" b="1" dirty="0">
                          <a:solidFill>
                            <a:srgbClr val="FFFFFF"/>
                          </a:solidFill>
                        </a:rPr>
                        <a:t>항목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상태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시험용 </a:t>
                      </a:r>
                      <a:pPr indent="0" marL="0">
                        <a:buNone/>
                      </a:pPr>
                      <a:r>
                        <a:rPr lang="en-US" sz="1100" dirty="0">
                          <a:solidFill>
                            <a:srgbClr val="1F2937"/>
                          </a:solidFill>
                        </a:rPr>
                        <a:t>API </a:t>
                      </a:r>
                      <a:pPr indent="0" marL="0">
                        <a:buNone/>
                      </a:pPr>
                      <a:r>
                        <a:rPr lang="en-US" sz="1100" dirty="0">
                          <a:solidFill>
                            <a:srgbClr val="1F2937"/>
                          </a:solidFill>
                        </a:rPr>
                        <a:t>주소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시험용 </a:t>
                      </a:r>
                      <a:pPr indent="0" marL="0">
                        <a:buNone/>
                      </a:pPr>
                      <a:r>
                        <a:rPr lang="en-US" sz="1100" dirty="0">
                          <a:solidFill>
                            <a:srgbClr val="1F2937"/>
                          </a:solidFill>
                        </a:rPr>
                        <a:t>인증 </a:t>
                      </a:r>
                      <a:pPr indent="0" marL="0">
                        <a:buNone/>
                      </a:pPr>
                      <a:r>
                        <a:rPr lang="en-US" sz="1100" dirty="0">
                          <a:solidFill>
                            <a:srgbClr val="1F2937"/>
                          </a:solidFill>
                        </a:rPr>
                        <a:t>제공자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로그인 </a:t>
                      </a:r>
                      <a:pPr indent="0" marL="0">
                        <a:buNone/>
                      </a:pPr>
                      <a:r>
                        <a:rPr lang="en-US" sz="1100" dirty="0">
                          <a:solidFill>
                            <a:srgbClr val="1F2937"/>
                          </a:solidFill>
                        </a:rPr>
                        <a:t>방식 </a:t>
                      </a:r>
                      <a:pPr indent="0" marL="0">
                        <a:buNone/>
                      </a:pPr>
                      <a:r>
                        <a:rPr lang="en-US" sz="1100" dirty="0">
                          <a:solidFill>
                            <a:srgbClr val="1F2937"/>
                          </a:solidFill>
                        </a:rPr>
                        <a:t>결정 </a:t>
                      </a:r>
                      <a:pPr indent="0" marL="0">
                        <a:buNone/>
                      </a:pPr>
                      <a:r>
                        <a:rPr lang="en-US" sz="1100" dirty="0">
                          <a:solidFill>
                            <a:srgbClr val="1F2937"/>
                          </a:solidFill>
                        </a:rPr>
                        <a:t>후 </a:t>
                      </a:r>
                      <a:pPr indent="0" marL="0">
                        <a:buNone/>
                      </a:pPr>
                      <a:r>
                        <a:rPr lang="en-US" sz="1100" dirty="0">
                          <a:solidFill>
                            <a:srgbClr val="1F2937"/>
                          </a:solidFill>
                        </a:rPr>
                        <a:t>확정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시험 </a:t>
                      </a:r>
                      <a:pPr indent="0" marL="0">
                        <a:buNone/>
                      </a:pPr>
                      <a:r>
                        <a:rPr lang="en-US" sz="1100" dirty="0">
                          <a:solidFill>
                            <a:srgbClr val="1F2937"/>
                          </a:solidFill>
                        </a:rPr>
                        <a:t>사용자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별도 </a:t>
                      </a:r>
                      <a:pPr indent="0" marL="0">
                        <a:buNone/>
                      </a:pPr>
                      <a:r>
                        <a:rPr lang="en-US" sz="1100" dirty="0">
                          <a:solidFill>
                            <a:srgbClr val="1F2937"/>
                          </a:solidFill>
                        </a:rPr>
                        <a:t>발급 </a:t>
                      </a:r>
                      <a:pPr indent="0" marL="0">
                        <a:buNone/>
                      </a:pPr>
                      <a:r>
                        <a:rPr lang="en-US" sz="1100" dirty="0">
                          <a:solidFill>
                            <a:srgbClr val="1F2937"/>
                          </a:solidFill>
                        </a:rPr>
                        <a:t>필요. </a:t>
                      </a:r>
                      <a:pPr indent="0" marL="0">
                        <a:buNone/>
                      </a:pPr>
                      <a:r>
                        <a:rPr lang="en-US" sz="1100" dirty="0">
                          <a:solidFill>
                            <a:srgbClr val="1F2937"/>
                          </a:solidFill>
                        </a:rPr>
                        <a:t>실제 </a:t>
                      </a:r>
                      <a:pPr indent="0" marL="0">
                        <a:buNone/>
                      </a:pPr>
                      <a:r>
                        <a:rPr lang="en-US" sz="1100" dirty="0">
                          <a:solidFill>
                            <a:srgbClr val="1F2937"/>
                          </a:solidFill>
                        </a:rPr>
                        <a:t>계정 </a:t>
                      </a:r>
                      <a:pPr indent="0" marL="0">
                        <a:buNone/>
                      </a:pPr>
                      <a:r>
                        <a:rPr lang="en-US" sz="1100" dirty="0">
                          <a:solidFill>
                            <a:srgbClr val="1F2937"/>
                          </a:solidFill>
                        </a:rPr>
                        <a:t>정보와 </a:t>
                      </a:r>
                      <a:pPr indent="0" marL="0">
                        <a:buNone/>
                      </a:pPr>
                      <a:r>
                        <a:rPr lang="en-US" sz="1100" dirty="0">
                          <a:solidFill>
                            <a:srgbClr val="1F2937"/>
                          </a:solidFill>
                        </a:rPr>
                        <a:t>분리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음식 </a:t>
                      </a:r>
                      <a:pPr indent="0" marL="0">
                        <a:buNone/>
                      </a:pPr>
                      <a:r>
                        <a:rPr lang="en-US" sz="1100" dirty="0">
                          <a:solidFill>
                            <a:srgbClr val="1F2937"/>
                          </a:solidFill>
                        </a:rPr>
                        <a:t>시험 </a:t>
                      </a:r>
                      <a:pPr indent="0" marL="0">
                        <a:buNone/>
                      </a:pPr>
                      <a:r>
                        <a:rPr lang="en-US" sz="1100" dirty="0">
                          <a:solidFill>
                            <a:srgbClr val="1F2937"/>
                          </a:solidFill>
                        </a:rPr>
                        <a:t>자료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식품 </a:t>
                      </a:r>
                      <a:pPr indent="0" marL="0">
                        <a:buNone/>
                      </a:pPr>
                      <a:r>
                        <a:rPr lang="en-US" sz="1100" dirty="0">
                          <a:solidFill>
                            <a:srgbClr val="1F2937"/>
                          </a:solidFill>
                        </a:rPr>
                        <a:t>공급처 </a:t>
                      </a:r>
                      <a:pPr indent="0" marL="0">
                        <a:buNone/>
                      </a:pPr>
                      <a:r>
                        <a:rPr lang="en-US" sz="1100" dirty="0">
                          <a:solidFill>
                            <a:srgbClr val="1F2937"/>
                          </a:solidFill>
                        </a:rPr>
                        <a:t>미정 </a:t>
                      </a:r>
                      <a:pPr indent="0" marL="0">
                        <a:buNone/>
                      </a:pPr>
                      <a:r>
                        <a:rPr lang="en-US" sz="1100" dirty="0">
                          <a:solidFill>
                            <a:srgbClr val="1F2937"/>
                          </a:solidFill>
                        </a:rPr>
                        <a:t>상태에서는 </a:t>
                      </a:r>
                      <a:pPr indent="0" marL="0">
                        <a:buNone/>
                      </a:pPr>
                      <a:r>
                        <a:rPr lang="en-US" sz="1100" dirty="0">
                          <a:solidFill>
                            <a:srgbClr val="1F2937"/>
                          </a:solidFill>
                        </a:rPr>
                        <a:t>임시 </a:t>
                      </a:r>
                      <a:pPr indent="0" marL="0">
                        <a:buNone/>
                      </a:pPr>
                      <a:r>
                        <a:rPr lang="en-US" sz="1100" dirty="0">
                          <a:solidFill>
                            <a:srgbClr val="1F2937"/>
                          </a:solidFill>
                        </a:rPr>
                        <a:t>자료 </a:t>
                      </a:r>
                      <a:pPr indent="0" marL="0">
                        <a:buNone/>
                      </a:pPr>
                      <a:r>
                        <a:rPr lang="en-US" sz="1100" dirty="0">
                          <a:solidFill>
                            <a:srgbClr val="1F2937"/>
                          </a:solidFill>
                        </a:rPr>
                        <a:t>사용 </a:t>
                      </a:r>
                      <a:pPr indent="0" marL="0">
                        <a:buNone/>
                      </a:pPr>
                      <a:r>
                        <a:rPr lang="en-US" sz="1100" dirty="0">
                          <a:solidFill>
                            <a:srgbClr val="1F2937"/>
                          </a:solidFill>
                        </a:rPr>
                        <a:t>가능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시험 </a:t>
                      </a:r>
                      <a:pPr indent="0" marL="0">
                        <a:buNone/>
                      </a:pPr>
                      <a:r>
                        <a:rPr lang="en-US" sz="1100" dirty="0">
                          <a:solidFill>
                            <a:srgbClr val="1F2937"/>
                          </a:solidFill>
                        </a:rPr>
                        <a:t>자료 </a:t>
                      </a:r>
                      <a:pPr indent="0" marL="0">
                        <a:buNone/>
                      </a:pPr>
                      <a:r>
                        <a:rPr lang="en-US" sz="1100" dirty="0">
                          <a:solidFill>
                            <a:srgbClr val="1F2937"/>
                          </a:solidFill>
                        </a:rPr>
                        <a:t>보관·삭제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목적·보관 </a:t>
                      </a:r>
                      <a:pPr indent="0" marL="0">
                        <a:buNone/>
                      </a:pPr>
                      <a:r>
                        <a:rPr lang="en-US" sz="1100" dirty="0">
                          <a:solidFill>
                            <a:srgbClr val="1F2937"/>
                          </a:solidFill>
                        </a:rPr>
                        <a:t>기간·삭제 </a:t>
                      </a:r>
                      <a:pPr indent="0" marL="0">
                        <a:buNone/>
                      </a:pPr>
                      <a:r>
                        <a:rPr lang="en-US" sz="1100" dirty="0">
                          <a:solidFill>
                            <a:srgbClr val="1F2937"/>
                          </a:solidFill>
                        </a:rPr>
                        <a:t>방법 </a:t>
                      </a:r>
                      <a:pPr indent="0" marL="0">
                        <a:buNone/>
                      </a:pPr>
                      <a:r>
                        <a:rPr lang="en-US" sz="1100" dirty="0">
                          <a:solidFill>
                            <a:srgbClr val="1F2937"/>
                          </a:solidFill>
                        </a:rPr>
                        <a:t>안내 </a:t>
                      </a:r>
                      <a:pPr indent="0" marL="0">
                        <a:buNone/>
                      </a:pPr>
                      <a:r>
                        <a:rPr lang="en-US" sz="1100" dirty="0">
                          <a:solidFill>
                            <a:srgbClr val="1F2937"/>
                          </a:solidFill>
                        </a:rPr>
                        <a:t>후 </a:t>
                      </a:r>
                      <a:pPr indent="0" marL="0">
                        <a:buNone/>
                      </a:pPr>
                      <a:r>
                        <a:rPr lang="en-US" sz="1100" dirty="0">
                          <a:solidFill>
                            <a:srgbClr val="1F2937"/>
                          </a:solidFill>
                        </a:rPr>
                        <a:t>운영</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237</a:t>
            </a:fld>
            <a:endParaRPr lang="en-US"/>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name="Slide 23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11.2 핵심 시험 항목 (1/3)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음식 검색에서 결과 있음·결과 없음·외부 공급자 오류를 구분합니다.</a:t>
            </a:r>
            <a:endParaRPr lang="en-US" sz="1600" dirty="0"/>
          </a:p>
          <a:p>
            <a:pPr indent="0" marL="0">
              <a:spcAft>
                <a:spcPts val="800"/>
              </a:spcAft>
              <a:buNone/>
            </a:pPr>
            <a:r>
              <a:rPr lang="en-US" sz="1600" dirty="0">
                <a:solidFill>
                  <a:srgbClr val="4B5563"/>
                </a:solidFill>
              </a:rPr>
              <a:t>· 검색 실패 뒤 직접 입력 또는 최근 음식 선택으로 기록을 완료할 수 있는지 확인합니다.</a:t>
            </a:r>
            <a:endParaRPr lang="en-US" sz="1600" dirty="0"/>
          </a:p>
          <a:p>
            <a:pPr indent="0" marL="0">
              <a:spcAft>
                <a:spcPts val="800"/>
              </a:spcAft>
              <a:buNone/>
            </a:pPr>
            <a:r>
              <a:rPr lang="en-US" sz="1600" dirty="0">
                <a:solidFill>
                  <a:srgbClr val="4B5563"/>
                </a:solidFill>
              </a:rPr>
              <a:t>· 실제 영양값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0</a:t>
            </a:r>
            <a:pPr indent="0" marL="0">
              <a:spcAft>
                <a:spcPts val="800"/>
              </a:spcAft>
              <a:buNone/>
            </a:pPr>
            <a:r>
              <a:rPr lang="en-US" sz="1600" dirty="0">
                <a:solidFill>
                  <a:srgbClr val="4B5563"/>
                </a:solidFill>
              </a:rPr>
              <a:t>과 미입력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null</a:t>
            </a:r>
            <a:pPr indent="0" marL="0">
              <a:spcAft>
                <a:spcPts val="800"/>
              </a:spcAft>
              <a:buNone/>
            </a:pPr>
            <a:r>
              <a:rPr lang="en-US" sz="1600" dirty="0">
                <a:solidFill>
                  <a:srgbClr val="4B5563"/>
                </a:solidFill>
              </a:rPr>
              <a:t>이 응답·합계에서 구분되는지 확인합니다.</a:t>
            </a:r>
            <a:endParaRPr lang="en-US" sz="1600" dirty="0"/>
          </a:p>
          <a:p>
            <a:pPr indent="0" marL="0">
              <a:spcAft>
                <a:spcPts val="800"/>
              </a:spcAft>
              <a:buNone/>
            </a:pPr>
            <a:r>
              <a:rPr lang="en-US" sz="1600" dirty="0">
                <a:solidFill>
                  <a:srgbClr val="4B5563"/>
                </a:solidFill>
              </a:rPr>
              <a:t>· 사용자 한 명이 한 식사 구분에 여러 항목을 기록하고, 구분별 합계가 맞는지 확인합니다.</a:t>
            </a:r>
            <a:endParaRPr lang="en-US" sz="1600" dirty="0"/>
          </a:p>
          <a:p>
            <a:pPr indent="0" marL="0">
              <a:spcAft>
                <a:spcPts val="800"/>
              </a:spcAft>
              <a:buNone/>
            </a:pPr>
            <a:r>
              <a:rPr lang="en-US" sz="1600" dirty="0">
                <a:solidFill>
                  <a:srgbClr val="4B5563"/>
                </a:solidFill>
              </a:rPr>
              <a:t>· 항목 생성·수정·삭제 후 날짜별 조회와 리포트가 갱신되는지 확인합니다.</a:t>
            </a:r>
            <a:endParaRPr lang="en-US" sz="1600" dirty="0"/>
          </a:p>
          <a:p>
            <a:pPr indent="0" marL="0">
              <a:spcAft>
                <a:spcPts val="800"/>
              </a:spcAft>
              <a:buNone/>
            </a:pPr>
            <a:r>
              <a:rPr lang="en-US" sz="1600" dirty="0">
                <a:solidFill>
                  <a:srgbClr val="4B5563"/>
                </a:solidFill>
              </a:rPr>
              <a:t>· 기록 당시 음식 이름과 영양값 스냅샷이 외부 음식 정보 변경에도 유지되는지 확인합니다.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238</a:t>
            </a:fld>
            <a:endParaRPr lang="en-US"/>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name="Slide 23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11.2 핵심 시험 항목 (2/3)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과거 날짜 기록이 허용되고 미래 날짜 기록이 차단되는지 확인합니다.</a:t>
            </a:r>
            <a:endParaRPr lang="en-US" sz="1600" dirty="0"/>
          </a:p>
          <a:p>
            <a:pPr indent="0" marL="0">
              <a:spcAft>
                <a:spcPts val="800"/>
              </a:spcAft>
              <a:buNone/>
            </a:pPr>
            <a:r>
              <a:rPr lang="en-US" sz="1600" dirty="0">
                <a:solidFill>
                  <a:srgbClr val="4B5563"/>
                </a:solidFill>
              </a:rPr>
              <a:t>· 시간대 변경 시 과거 섭취 날짜가 자동으로 바뀌지 않는지 확인합니다.</a:t>
            </a:r>
            <a:endParaRPr lang="en-US" sz="1600" dirty="0"/>
          </a:p>
          <a:p>
            <a:pPr indent="0" marL="0">
              <a:spcAft>
                <a:spcPts val="800"/>
              </a:spcAft>
              <a:buNone/>
            </a:pPr>
            <a:r>
              <a:rPr lang="en-US" sz="1600" dirty="0">
                <a:solidFill>
                  <a:srgbClr val="4B5563"/>
                </a:solidFill>
              </a:rPr>
              <a:t>· 같은 요청 식별값으로 재전송했을 때 중복 기록이 생기지 않는지 확인합니다.</a:t>
            </a:r>
            <a:endParaRPr lang="en-US" sz="1600" dirty="0"/>
          </a:p>
          <a:p>
            <a:pPr indent="0" marL="0">
              <a:spcAft>
                <a:spcPts val="800"/>
              </a:spcAft>
              <a:buNone/>
            </a:pPr>
            <a:r>
              <a:rPr lang="en-US" sz="1600" dirty="0">
                <a:solidFill>
                  <a:srgbClr val="4B5563"/>
                </a:solidFill>
              </a:rPr>
              <a:t>· 사용자가 다른 사람의 개인 음식·식사 기록 식별값을 전달해도 조회·수정·삭제할 수 없는지 확인합니다.</a:t>
            </a:r>
            <a:endParaRPr lang="en-US" sz="1600" dirty="0"/>
          </a:p>
          <a:p>
            <a:pPr indent="0" marL="0">
              <a:spcAft>
                <a:spcPts val="800"/>
              </a:spcAft>
              <a:buNone/>
            </a:pPr>
            <a:r>
              <a:rPr lang="en-US" sz="1600" dirty="0">
                <a:solidFill>
                  <a:srgbClr val="4B5563"/>
                </a:solidFill>
              </a:rPr>
              <a:t>· 목표가 없는 사용자에게 목표 비교와 칼로리 목표 표시가 노출되지 않는지 확인합니다.</a:t>
            </a:r>
            <a:endParaRPr lang="en-US" sz="1600" dirty="0"/>
          </a:p>
          <a:p>
            <a:pPr indent="0" marL="0">
              <a:spcAft>
                <a:spcPts val="800"/>
              </a:spcAft>
              <a:buNone/>
            </a:pPr>
            <a:r>
              <a:rPr lang="en-US" sz="1600" dirty="0">
                <a:solidFill>
                  <a:srgbClr val="4B5563"/>
                </a:solidFill>
              </a:rPr>
              <a:t>· 영양소별 누락이 합계와 리포트 문구에 올바르게 반영되는지 확인합니다.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239</a:t>
            </a:fld>
            <a:endParaRPr lang="en-US"/>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name="Slide 24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11.2 핵심 시험 항목 (3/3)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사용자가 알림을 끄거나 운영체제 권한을 거부했을 때 발송되지 않는지 확인합니다.</a:t>
            </a:r>
            <a:endParaRPr lang="en-US" sz="1600" dirty="0"/>
          </a:p>
          <a:p>
            <a:pPr indent="0" marL="0">
              <a:spcAft>
                <a:spcPts val="800"/>
              </a:spcAft>
              <a:buNone/>
            </a:pPr>
            <a:r>
              <a:rPr lang="en-US" sz="1600" dirty="0">
                <a:solidFill>
                  <a:srgbClr val="4B5563"/>
                </a:solidFill>
              </a:rPr>
              <a:t>· 계정 삭제 요청 시 관련 기록과 푸시 토큰의 처리 상태가 확인되는지 점검합니다.</a:t>
            </a:r>
            <a:endParaRPr lang="en-US" sz="1600" dirty="0"/>
          </a:p>
          <a:p>
            <a:pPr indent="0" marL="0">
              <a:spcAft>
                <a:spcPts val="800"/>
              </a:spcAft>
              <a:buNone/>
            </a:pPr>
            <a:r>
              <a:rPr lang="en-US" sz="1600" dirty="0">
                <a:solidFill>
                  <a:srgbClr val="4B5563"/>
                </a:solidFill>
              </a:rPr>
              <a:t>· 오류 응답과 진단 자료에 음식명·칼로리·체중·자유 입력 내용이 포함되지 않는지 검사합니다.</a:t>
            </a:r>
            <a:endParaRPr lang="en-US" sz="1600" dirty="0"/>
          </a:p>
          <a:p>
            <a:pPr indent="0" marL="0">
              <a:spcAft>
                <a:spcPts val="800"/>
              </a:spcAft>
              <a:buNone/>
            </a:pPr>
            <a:r>
              <a:rPr lang="en-US" sz="1600" dirty="0">
                <a:solidFill>
                  <a:srgbClr val="4B5563"/>
                </a:solidFill>
              </a:rPr>
              <a:t>사용성·성능 수치는 베타에서 기준선을 확인하는 목적이며, 회의에서 논의된 값이 모두 확정 목표인 것은 아닙니다. 데이터 유실은 기능 추가보다 우선해 수정합니다.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240</a:t>
            </a:fld>
            <a:endParaRPr lang="en-US"/>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name="Slide 24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12. 변경 로그</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242"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582615"/>
                <a:gridCol w="949569"/>
                <a:gridCol w="5697415"/>
              </a:tblGrid>
              <a:tr h="0">
                <a:tc>
                  <a:txBody>
                    <a:bodyPr/>
                    <a:lstStyle/>
                    <a:p>
                      <a:pPr indent="0" marL="0">
                        <a:buNone/>
                      </a:pPr>
                      <a:r>
                        <a:rPr lang="en-US" sz="1200" b="1" dirty="0">
                          <a:solidFill>
                            <a:srgbClr val="FFFFFF"/>
                          </a:solidFill>
                        </a:rPr>
                        <a:t>날짜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버전</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변경 </a:t>
                      </a:r>
                      <a:pPr indent="0" marL="0">
                        <a:buNone/>
                      </a:pPr>
                      <a:r>
                        <a:rPr lang="en-US" sz="1200" b="1" dirty="0">
                          <a:solidFill>
                            <a:srgbClr val="FFFFFF"/>
                          </a:solidFill>
                        </a:rPr>
                        <a:t>내용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2026-10-01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v1.0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회의 </a:t>
                      </a:r>
                      <a:pPr indent="0" marL="0">
                        <a:buNone/>
                      </a:pPr>
                      <a:r>
                        <a:rPr lang="en-US" sz="1100" dirty="0">
                          <a:solidFill>
                            <a:srgbClr val="1F2937"/>
                          </a:solidFill>
                        </a:rPr>
                        <a:t>내용과 </a:t>
                      </a:r>
                      <a:pPr indent="0" marL="0">
                        <a:buNone/>
                      </a:pPr>
                      <a:r>
                        <a:rPr lang="en-US" sz="1100" dirty="0">
                          <a:solidFill>
                            <a:srgbClr val="1F2937"/>
                          </a:solidFill>
                        </a:rPr>
                        <a:t>선행 </a:t>
                      </a:r>
                      <a:pPr indent="0" marL="0">
                        <a:buNone/>
                      </a:pPr>
                      <a:r>
                        <a:rPr lang="en-US" sz="1100" dirty="0">
                          <a:solidFill>
                            <a:srgbClr val="1F2937"/>
                          </a:solidFill>
                        </a:rPr>
                        <a:t>기능·데이터베이스 </a:t>
                      </a:r>
                      <a:pPr indent="0" marL="0">
                        <a:buNone/>
                      </a:pPr>
                      <a:r>
                        <a:rPr lang="en-US" sz="1100" dirty="0">
                          <a:solidFill>
                            <a:srgbClr val="1F2937"/>
                          </a:solidFill>
                        </a:rPr>
                        <a:t>문서를 </a:t>
                      </a:r>
                      <a:pPr indent="0" marL="0">
                        <a:buNone/>
                      </a:pPr>
                      <a:r>
                        <a:rPr lang="en-US" sz="1100" dirty="0">
                          <a:solidFill>
                            <a:srgbClr val="1F2937"/>
                          </a:solidFill>
                        </a:rPr>
                        <a:t>참고해 </a:t>
                      </a:r>
                      <a:pPr indent="0" marL="0">
                        <a:buNone/>
                      </a:pPr>
                      <a:r>
                        <a:rPr lang="en-US" sz="1100" dirty="0">
                          <a:solidFill>
                            <a:srgbClr val="1F2937"/>
                          </a:solidFill>
                        </a:rPr>
                        <a:t>MVP </a:t>
                      </a:r>
                      <a:pPr indent="0" marL="0">
                        <a:buNone/>
                      </a:pPr>
                      <a:r>
                        <a:rPr lang="en-US" sz="1100" dirty="0">
                          <a:solidFill>
                            <a:srgbClr val="1F2937"/>
                          </a:solidFill>
                        </a:rPr>
                        <a:t>API </a:t>
                      </a:r>
                      <a:pPr indent="0" marL="0">
                        <a:buNone/>
                      </a:pPr>
                      <a:r>
                        <a:rPr lang="en-US" sz="1100" dirty="0">
                          <a:solidFill>
                            <a:srgbClr val="1F2937"/>
                          </a:solidFill>
                        </a:rPr>
                        <a:t>명세 </a:t>
                      </a:r>
                      <a:pPr indent="0" marL="0">
                        <a:buNone/>
                      </a:pPr>
                      <a:r>
                        <a:rPr lang="en-US" sz="1100" dirty="0">
                          <a:solidFill>
                            <a:srgbClr val="1F2937"/>
                          </a:solidFill>
                        </a:rPr>
                        <a:t>초안 </a:t>
                      </a:r>
                      <a:pPr indent="0" marL="0">
                        <a:buNone/>
                      </a:pPr>
                      <a:r>
                        <a:rPr lang="en-US" sz="1100" dirty="0">
                          <a:solidFill>
                            <a:srgbClr val="1F2937"/>
                          </a:solidFill>
                        </a:rPr>
                        <a:t>작성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241</a:t>
            </a:fld>
            <a:endParaRPr lang="en-US"/>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name="Slide 24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13. 미정·추정 필요 항목 (1/2)</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243"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327355"/>
                <a:gridCol w="2123768"/>
                <a:gridCol w="4778477"/>
              </a:tblGrid>
              <a:tr h="0">
                <a:tc>
                  <a:txBody>
                    <a:bodyPr/>
                    <a:lstStyle/>
                    <a:p>
                      <a:pPr indent="0" marL="0">
                        <a:buNone/>
                      </a:pPr>
                      <a:r>
                        <a:rPr lang="en-US" sz="1200" b="1" dirty="0">
                          <a:solidFill>
                            <a:srgbClr val="FFFFFF"/>
                          </a:solidFill>
                        </a:rPr>
                        <a:t>항목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현재 </a:t>
                      </a:r>
                      <a:pPr indent="0" marL="0">
                        <a:buNone/>
                      </a:pPr>
                      <a:r>
                        <a:rPr lang="en-US" sz="1200" b="1" dirty="0">
                          <a:solidFill>
                            <a:srgbClr val="FFFFFF"/>
                          </a:solidFill>
                        </a:rPr>
                        <a:t>상태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확정에 </a:t>
                      </a:r>
                      <a:pPr indent="0" marL="0">
                        <a:buNone/>
                      </a:pPr>
                      <a:r>
                        <a:rPr lang="en-US" sz="1200" b="1" dirty="0">
                          <a:solidFill>
                            <a:srgbClr val="FFFFFF"/>
                          </a:solidFill>
                        </a:rPr>
                        <a:t>필요한 </a:t>
                      </a:r>
                      <a:pPr indent="0" marL="0">
                        <a:buNone/>
                      </a:pPr>
                      <a:r>
                        <a:rPr lang="en-US" sz="1200" b="1" dirty="0">
                          <a:solidFill>
                            <a:srgbClr val="FFFFFF"/>
                          </a:solidFill>
                        </a:rPr>
                        <a:t>내용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API </a:t>
                      </a:r>
                      <a:pPr indent="0" marL="0">
                        <a:buNone/>
                      </a:pPr>
                      <a:r>
                        <a:rPr lang="en-US" sz="1100" dirty="0">
                          <a:solidFill>
                            <a:srgbClr val="1F2937"/>
                          </a:solidFill>
                        </a:rPr>
                        <a:t>실제 </a:t>
                      </a:r>
                      <a:pPr indent="0" marL="0">
                        <a:buNone/>
                      </a:pPr>
                      <a:r>
                        <a:rPr lang="en-US" sz="1100" dirty="0">
                          <a:solidFill>
                            <a:srgbClr val="1F2937"/>
                          </a:solidFill>
                        </a:rPr>
                        <a:t>주소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제안 </a:t>
                      </a:r>
                      <a:pPr indent="0" marL="0">
                        <a:buNone/>
                      </a:pPr>
                      <a:r>
                        <a:rPr lang="en-US" sz="1100" dirty="0">
                          <a:solidFill>
                            <a:srgbClr val="1F2937"/>
                          </a:solidFill>
                        </a:rPr>
                        <a:t>주소만 </a:t>
                      </a:r>
                      <a:pPr indent="0" marL="0">
                        <a:buNone/>
                      </a:pPr>
                      <a:r>
                        <a:rPr lang="en-US" sz="1100" dirty="0">
                          <a:solidFill>
                            <a:srgbClr val="1F2937"/>
                          </a:solidFill>
                        </a:rPr>
                        <a:t>기재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배포 </a:t>
                      </a:r>
                      <a:pPr indent="0" marL="0">
                        <a:buNone/>
                      </a:pPr>
                      <a:r>
                        <a:rPr lang="en-US" sz="1100" dirty="0">
                          <a:solidFill>
                            <a:srgbClr val="1F2937"/>
                          </a:solidFill>
                        </a:rPr>
                        <a:t>환경과 </a:t>
                      </a:r>
                      <a:pPr indent="0" marL="0">
                        <a:buNone/>
                      </a:pPr>
                      <a:r>
                        <a:rPr lang="en-US" sz="1100" dirty="0">
                          <a:solidFill>
                            <a:srgbClr val="1F2937"/>
                          </a:solidFill>
                        </a:rPr>
                        <a:t>도메인 </a:t>
                      </a:r>
                      <a:pPr indent="0" marL="0">
                        <a:buNone/>
                      </a:pPr>
                      <a:r>
                        <a:rPr lang="en-US" sz="1100" dirty="0">
                          <a:solidFill>
                            <a:srgbClr val="1F2937"/>
                          </a:solidFill>
                        </a:rPr>
                        <a:t>결정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인증 </a:t>
                      </a:r>
                      <a:pPr indent="0" marL="0">
                        <a:buNone/>
                      </a:pPr>
                      <a:r>
                        <a:rPr lang="en-US" sz="1100" dirty="0">
                          <a:solidFill>
                            <a:srgbClr val="1F2937"/>
                          </a:solidFill>
                        </a:rPr>
                        <a:t>제공자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미확정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이메일·Apple·Google·게스트 </a:t>
                      </a:r>
                      <a:pPr indent="0" marL="0">
                        <a:buNone/>
                      </a:pPr>
                      <a:r>
                        <a:rPr lang="en-US" sz="1100" dirty="0">
                          <a:solidFill>
                            <a:srgbClr val="1F2937"/>
                          </a:solidFill>
                        </a:rPr>
                        <a:t>범위, </a:t>
                      </a:r>
                      <a:pPr indent="0" marL="0">
                        <a:buNone/>
                      </a:pPr>
                      <a:r>
                        <a:rPr lang="en-US" sz="1100" dirty="0">
                          <a:solidFill>
                            <a:srgbClr val="1F2937"/>
                          </a:solidFill>
                        </a:rPr>
                        <a:t>계정 </a:t>
                      </a:r>
                      <a:pPr indent="0" marL="0">
                        <a:buNone/>
                      </a:pPr>
                      <a:r>
                        <a:rPr lang="en-US" sz="1100" dirty="0">
                          <a:solidFill>
                            <a:srgbClr val="1F2937"/>
                          </a:solidFill>
                        </a:rPr>
                        <a:t>연결·병합 </a:t>
                      </a:r>
                      <a:pPr indent="0" marL="0">
                        <a:buNone/>
                      </a:pPr>
                      <a:r>
                        <a:rPr lang="en-US" sz="1100" dirty="0">
                          <a:solidFill>
                            <a:srgbClr val="1F2937"/>
                          </a:solidFill>
                        </a:rPr>
                        <a:t>방식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접근 </a:t>
                      </a:r>
                      <a:pPr indent="0" marL="0">
                        <a:buNone/>
                      </a:pPr>
                      <a:r>
                        <a:rPr lang="en-US" sz="1100" dirty="0">
                          <a:solidFill>
                            <a:srgbClr val="1F2937"/>
                          </a:solidFill>
                        </a:rPr>
                        <a:t>토큰 </a:t>
                      </a:r>
                      <a:pPr indent="0" marL="0">
                        <a:buNone/>
                      </a:pPr>
                      <a:r>
                        <a:rPr lang="en-US" sz="1100" dirty="0">
                          <a:solidFill>
                            <a:srgbClr val="1F2937"/>
                          </a:solidFill>
                        </a:rPr>
                        <a:t>형식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미확정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JWT </a:t>
                      </a:r>
                      <a:pPr indent="0" marL="0">
                        <a:buNone/>
                      </a:pPr>
                      <a:r>
                        <a:rPr lang="en-US" sz="1100" dirty="0">
                          <a:solidFill>
                            <a:srgbClr val="1F2937"/>
                          </a:solidFill>
                        </a:rPr>
                        <a:t>여부, </a:t>
                      </a:r>
                      <a:pPr indent="0" marL="0">
                        <a:buNone/>
                      </a:pPr>
                      <a:r>
                        <a:rPr lang="en-US" sz="1100" dirty="0">
                          <a:solidFill>
                            <a:srgbClr val="1F2937"/>
                          </a:solidFill>
                        </a:rPr>
                        <a:t>발급·검증 </a:t>
                      </a:r>
                      <a:pPr indent="0" marL="0">
                        <a:buNone/>
                      </a:pPr>
                      <a:r>
                        <a:rPr lang="en-US" sz="1100" dirty="0">
                          <a:solidFill>
                            <a:srgbClr val="1F2937"/>
                          </a:solidFill>
                        </a:rPr>
                        <a:t>방식, </a:t>
                      </a:r>
                      <a:pPr indent="0" marL="0">
                        <a:buNone/>
                      </a:pPr>
                      <a:r>
                        <a:rPr lang="en-US" sz="1100" dirty="0">
                          <a:solidFill>
                            <a:srgbClr val="1F2937"/>
                          </a:solidFill>
                        </a:rPr>
                        <a:t>만료·갱신 </a:t>
                      </a:r>
                      <a:pPr indent="0" marL="0">
                        <a:buNone/>
                      </a:pPr>
                      <a:r>
                        <a:rPr lang="en-US" sz="1100" dirty="0">
                          <a:solidFill>
                            <a:srgbClr val="1F2937"/>
                          </a:solidFill>
                        </a:rPr>
                        <a:t>정책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게스트 </a:t>
                      </a:r>
                      <a:pPr indent="0" marL="0">
                        <a:buNone/>
                      </a:pPr>
                      <a:r>
                        <a:rPr lang="en-US" sz="1100" dirty="0">
                          <a:solidFill>
                            <a:srgbClr val="1F2937"/>
                          </a:solidFill>
                        </a:rPr>
                        <a:t>계정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미확정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기기 </a:t>
                      </a:r>
                      <a:pPr indent="0" marL="0">
                        <a:buNone/>
                      </a:pPr>
                      <a:r>
                        <a:rPr lang="en-US" sz="1100" dirty="0">
                          <a:solidFill>
                            <a:srgbClr val="1F2937"/>
                          </a:solidFill>
                        </a:rPr>
                        <a:t>저장·서버 </a:t>
                      </a:r>
                      <a:pPr indent="0" marL="0">
                        <a:buNone/>
                      </a:pPr>
                      <a:r>
                        <a:rPr lang="en-US" sz="1100" dirty="0">
                          <a:solidFill>
                            <a:srgbClr val="1F2937"/>
                          </a:solidFill>
                        </a:rPr>
                        <a:t>저장, </a:t>
                      </a:r>
                      <a:pPr indent="0" marL="0">
                        <a:buNone/>
                      </a:pPr>
                      <a:r>
                        <a:rPr lang="en-US" sz="1100" dirty="0">
                          <a:solidFill>
                            <a:srgbClr val="1F2937"/>
                          </a:solidFill>
                        </a:rPr>
                        <a:t>앱 </a:t>
                      </a:r>
                      <a:pPr indent="0" marL="0">
                        <a:buNone/>
                      </a:pPr>
                      <a:r>
                        <a:rPr lang="en-US" sz="1100" dirty="0">
                          <a:solidFill>
                            <a:srgbClr val="1F2937"/>
                          </a:solidFill>
                        </a:rPr>
                        <a:t>삭제 </a:t>
                      </a:r>
                      <a:pPr indent="0" marL="0">
                        <a:buNone/>
                      </a:pPr>
                      <a:r>
                        <a:rPr lang="en-US" sz="1100" dirty="0">
                          <a:solidFill>
                            <a:srgbClr val="1F2937"/>
                          </a:solidFill>
                        </a:rPr>
                        <a:t>시 </a:t>
                      </a:r>
                      <a:pPr indent="0" marL="0">
                        <a:buNone/>
                      </a:pPr>
                      <a:r>
                        <a:rPr lang="en-US" sz="1100" dirty="0">
                          <a:solidFill>
                            <a:srgbClr val="1F2937"/>
                          </a:solidFill>
                        </a:rPr>
                        <a:t>처리, </a:t>
                      </a:r>
                      <a:pPr indent="0" marL="0">
                        <a:buNone/>
                      </a:pPr>
                      <a:r>
                        <a:rPr lang="en-US" sz="1100" dirty="0">
                          <a:solidFill>
                            <a:srgbClr val="1F2937"/>
                          </a:solidFill>
                        </a:rPr>
                        <a:t>계정 </a:t>
                      </a:r>
                      <a:pPr indent="0" marL="0">
                        <a:buNone/>
                      </a:pPr>
                      <a:r>
                        <a:rPr lang="en-US" sz="1100" dirty="0">
                          <a:solidFill>
                            <a:srgbClr val="1F2937"/>
                          </a:solidFill>
                        </a:rPr>
                        <a:t>연결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음식 </a:t>
                      </a:r>
                      <a:pPr indent="0" marL="0">
                        <a:buNone/>
                      </a:pPr>
                      <a:r>
                        <a:rPr lang="en-US" sz="1100" dirty="0">
                          <a:solidFill>
                            <a:srgbClr val="1F2937"/>
                          </a:solidFill>
                        </a:rPr>
                        <a:t>데이터 </a:t>
                      </a:r>
                      <a:pPr indent="0" marL="0">
                        <a:buNone/>
                      </a:pPr>
                      <a:r>
                        <a:rPr lang="en-US" sz="1100" dirty="0">
                          <a:solidFill>
                            <a:srgbClr val="1F2937"/>
                          </a:solidFill>
                        </a:rPr>
                        <a:t>공급자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미확정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국내 </a:t>
                      </a:r>
                      <a:pPr indent="0" marL="0">
                        <a:buNone/>
                      </a:pPr>
                      <a:r>
                        <a:rPr lang="en-US" sz="1100" dirty="0">
                          <a:solidFill>
                            <a:srgbClr val="1F2937"/>
                          </a:solidFill>
                        </a:rPr>
                        <a:t>커버리지, </a:t>
                      </a:r>
                      <a:pPr indent="0" marL="0">
                        <a:buNone/>
                      </a:pPr>
                      <a:r>
                        <a:rPr lang="en-US" sz="1100" dirty="0">
                          <a:solidFill>
                            <a:srgbClr val="1F2937"/>
                          </a:solidFill>
                        </a:rPr>
                        <a:t>비용, </a:t>
                      </a:r>
                      <a:pPr indent="0" marL="0">
                        <a:buNone/>
                      </a:pPr>
                      <a:r>
                        <a:rPr lang="en-US" sz="1100" dirty="0">
                          <a:solidFill>
                            <a:srgbClr val="1F2937"/>
                          </a:solidFill>
                        </a:rPr>
                        <a:t>사용권, </a:t>
                      </a:r>
                      <a:pPr indent="0" marL="0">
                        <a:buNone/>
                      </a:pPr>
                      <a:r>
                        <a:rPr lang="en-US" sz="1100" dirty="0">
                          <a:solidFill>
                            <a:srgbClr val="1F2937"/>
                          </a:solidFill>
                        </a:rPr>
                        <a:t>검색어 </a:t>
                      </a:r>
                      <a:pPr indent="0" marL="0">
                        <a:buNone/>
                      </a:pPr>
                      <a:r>
                        <a:rPr lang="en-US" sz="1100" dirty="0">
                          <a:solidFill>
                            <a:srgbClr val="1F2937"/>
                          </a:solidFill>
                        </a:rPr>
                        <a:t>처리, </a:t>
                      </a:r>
                      <a:pPr indent="0" marL="0">
                        <a:buNone/>
                      </a:pPr>
                      <a:r>
                        <a:rPr lang="en-US" sz="1100" dirty="0">
                          <a:solidFill>
                            <a:srgbClr val="1F2937"/>
                          </a:solidFill>
                        </a:rPr>
                        <a:t>캐시 </a:t>
                      </a:r>
                      <a:pPr indent="0" marL="0">
                        <a:buNone/>
                      </a:pPr>
                      <a:r>
                        <a:rPr lang="en-US" sz="1100" dirty="0">
                          <a:solidFill>
                            <a:srgbClr val="1F2937"/>
                          </a:solidFill>
                        </a:rPr>
                        <a:t>조건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API </a:t>
                      </a:r>
                      <a:pPr indent="0" marL="0">
                        <a:buNone/>
                      </a:pPr>
                      <a:r>
                        <a:rPr lang="en-US" sz="1100" dirty="0">
                          <a:solidFill>
                            <a:srgbClr val="1F2937"/>
                          </a:solidFill>
                        </a:rPr>
                        <a:t>요청 </a:t>
                      </a:r>
                      <a:pPr indent="0" marL="0">
                        <a:buNone/>
                      </a:pPr>
                      <a:r>
                        <a:rPr lang="en-US" sz="1100" dirty="0">
                          <a:solidFill>
                            <a:srgbClr val="1F2937"/>
                          </a:solidFill>
                        </a:rPr>
                        <a:t>제한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앱 </a:t>
                      </a:r>
                      <a:pPr indent="0" marL="0">
                        <a:buNone/>
                      </a:pPr>
                      <a:r>
                        <a:rPr lang="en-US" sz="1100" dirty="0">
                          <a:solidFill>
                            <a:srgbClr val="1F2937"/>
                          </a:solidFill>
                        </a:rPr>
                        <a:t>사용량과 </a:t>
                      </a:r>
                      <a:pPr indent="0" marL="0">
                        <a:buNone/>
                      </a:pPr>
                      <a:r>
                        <a:rPr lang="en-US" sz="1100" dirty="0">
                          <a:solidFill>
                            <a:srgbClr val="1F2937"/>
                          </a:solidFill>
                        </a:rPr>
                        <a:t>공급자 </a:t>
                      </a:r>
                      <a:pPr indent="0" marL="0">
                        <a:buNone/>
                      </a:pPr>
                      <a:r>
                        <a:rPr lang="en-US" sz="1100" dirty="0">
                          <a:solidFill>
                            <a:srgbClr val="1F2937"/>
                          </a:solidFill>
                        </a:rPr>
                        <a:t>계약을 </a:t>
                      </a:r>
                      <a:pPr indent="0" marL="0">
                        <a:buNone/>
                      </a:pPr>
                      <a:r>
                        <a:rPr lang="en-US" sz="1100" dirty="0">
                          <a:solidFill>
                            <a:srgbClr val="1F2937"/>
                          </a:solidFill>
                        </a:rPr>
                        <a:t>바탕으로 </a:t>
                      </a:r>
                      <a:pPr indent="0" marL="0">
                        <a:buNone/>
                      </a:pPr>
                      <a:r>
                        <a:rPr lang="en-US" sz="1100" dirty="0">
                          <a:solidFill>
                            <a:srgbClr val="1F2937"/>
                          </a:solidFill>
                        </a:rPr>
                        <a:t>산정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API </a:t>
                      </a:r>
                      <a:pPr indent="0" marL="0">
                        <a:buNone/>
                      </a:pPr>
                      <a:r>
                        <a:rPr lang="en-US" sz="1100" dirty="0">
                          <a:solidFill>
                            <a:srgbClr val="1F2937"/>
                          </a:solidFill>
                        </a:rPr>
                        <a:t>시간 </a:t>
                      </a:r>
                      <a:pPr indent="0" marL="0">
                        <a:buNone/>
                      </a:pPr>
                      <a:r>
                        <a:rPr lang="en-US" sz="1100" dirty="0">
                          <a:solidFill>
                            <a:srgbClr val="1F2937"/>
                          </a:solidFill>
                        </a:rPr>
                        <a:t>제한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공급자별 </a:t>
                      </a:r>
                      <a:pPr indent="0" marL="0">
                        <a:buNone/>
                      </a:pPr>
                      <a:r>
                        <a:rPr lang="en-US" sz="1100" dirty="0">
                          <a:solidFill>
                            <a:srgbClr val="1F2937"/>
                          </a:solidFill>
                        </a:rPr>
                        <a:t>응답 </a:t>
                      </a:r>
                      <a:pPr indent="0" marL="0">
                        <a:buNone/>
                      </a:pPr>
                      <a:r>
                        <a:rPr lang="en-US" sz="1100" dirty="0">
                          <a:solidFill>
                            <a:srgbClr val="1F2937"/>
                          </a:solidFill>
                        </a:rPr>
                        <a:t>시간 </a:t>
                      </a:r>
                      <a:pPr indent="0" marL="0">
                        <a:buNone/>
                      </a:pPr>
                      <a:r>
                        <a:rPr lang="en-US" sz="1100" dirty="0">
                          <a:solidFill>
                            <a:srgbClr val="1F2937"/>
                          </a:solidFill>
                        </a:rPr>
                        <a:t>측정과 </a:t>
                      </a:r>
                      <a:pPr indent="0" marL="0">
                        <a:buNone/>
                      </a:pPr>
                      <a:r>
                        <a:rPr lang="en-US" sz="1100" dirty="0">
                          <a:solidFill>
                            <a:srgbClr val="1F2937"/>
                          </a:solidFill>
                        </a:rPr>
                        <a:t>서비스 </a:t>
                      </a:r>
                      <a:pPr indent="0" marL="0">
                        <a:buNone/>
                      </a:pPr>
                      <a:r>
                        <a:rPr lang="en-US" sz="1100" dirty="0">
                          <a:solidFill>
                            <a:srgbClr val="1F2937"/>
                          </a:solidFill>
                        </a:rPr>
                        <a:t>목표 </a:t>
                      </a:r>
                      <a:pPr indent="0" marL="0">
                        <a:buNone/>
                      </a:pPr>
                      <a:r>
                        <a:rPr lang="en-US" sz="1100" dirty="0">
                          <a:solidFill>
                            <a:srgbClr val="1F2937"/>
                          </a:solidFill>
                        </a:rPr>
                        <a:t>결정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검색 </a:t>
                      </a:r>
                      <a:pPr indent="0" marL="0">
                        <a:buNone/>
                      </a:pPr>
                      <a:r>
                        <a:rPr lang="en-US" sz="1100" dirty="0">
                          <a:solidFill>
                            <a:srgbClr val="1F2937"/>
                          </a:solidFill>
                        </a:rPr>
                        <a:t>지연 </a:t>
                      </a:r>
                      <a:pPr indent="0" marL="0">
                        <a:buNone/>
                      </a:pPr>
                      <a:r>
                        <a:rPr lang="en-US" sz="1100" dirty="0">
                          <a:solidFill>
                            <a:srgbClr val="1F2937"/>
                          </a:solidFill>
                        </a:rPr>
                        <a:t>시간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상충된 </a:t>
                      </a:r>
                      <a:pPr indent="0" marL="0">
                        <a:buNone/>
                      </a:pPr>
                      <a:r>
                        <a:rPr lang="en-US" sz="1100" dirty="0">
                          <a:solidFill>
                            <a:srgbClr val="1F2937"/>
                          </a:solidFill>
                        </a:rPr>
                        <a:t>제안 </a:t>
                      </a:r>
                      <a:pPr indent="0" marL="0">
                        <a:buNone/>
                      </a:pPr>
                      <a:r>
                        <a:rPr lang="en-US" sz="1100" dirty="0">
                          <a:solidFill>
                            <a:srgbClr val="1F2937"/>
                          </a:solidFill>
                        </a:rPr>
                        <a:t>존재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약 </a:t>
                      </a:r>
                      <a:pPr indent="0" marL="0">
                        <a:buNone/>
                      </a:pPr>
                      <a:r>
                        <a:rPr lang="en-US" sz="1100" dirty="0">
                          <a:solidFill>
                            <a:srgbClr val="1F2937"/>
                          </a:solidFill>
                        </a:rPr>
                        <a:t>300밀리초 </a:t>
                      </a:r>
                      <a:pPr indent="0" marL="0">
                        <a:buNone/>
                      </a:pPr>
                      <a:r>
                        <a:rPr lang="en-US" sz="1100" dirty="0">
                          <a:solidFill>
                            <a:srgbClr val="1F2937"/>
                          </a:solidFill>
                        </a:rPr>
                        <a:t>또는 </a:t>
                      </a:r>
                      <a:pPr indent="0" marL="0">
                        <a:buNone/>
                      </a:pPr>
                      <a:r>
                        <a:rPr lang="en-US" sz="1100" dirty="0">
                          <a:solidFill>
                            <a:srgbClr val="1F2937"/>
                          </a:solidFill>
                        </a:rPr>
                        <a:t>약 </a:t>
                      </a:r>
                      <a:pPr indent="0" marL="0">
                        <a:buNone/>
                      </a:pPr>
                      <a:r>
                        <a:rPr lang="en-US" sz="1100" dirty="0">
                          <a:solidFill>
                            <a:srgbClr val="1F2937"/>
                          </a:solidFill>
                        </a:rPr>
                        <a:t>350밀리초 </a:t>
                      </a:r>
                      <a:pPr indent="0" marL="0">
                        <a:buNone/>
                      </a:pPr>
                      <a:r>
                        <a:rPr lang="en-US" sz="1100" dirty="0">
                          <a:solidFill>
                            <a:srgbClr val="1F2937"/>
                          </a:solidFill>
                        </a:rPr>
                        <a:t>중 </a:t>
                      </a:r>
                      <a:pPr indent="0" marL="0">
                        <a:buNone/>
                      </a:pPr>
                      <a:r>
                        <a:rPr lang="en-US" sz="1100" dirty="0">
                          <a:solidFill>
                            <a:srgbClr val="1F2937"/>
                          </a:solidFill>
                        </a:rPr>
                        <a:t>구현값 </a:t>
                      </a:r>
                      <a:pPr indent="0" marL="0">
                        <a:buNone/>
                      </a:pPr>
                      <a:r>
                        <a:rPr lang="en-US" sz="1100" dirty="0">
                          <a:solidFill>
                            <a:srgbClr val="1F2937"/>
                          </a:solidFill>
                        </a:rPr>
                        <a:t>확정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식사 </a:t>
                      </a:r>
                      <a:pPr indent="0" marL="0">
                        <a:buNone/>
                      </a:pPr>
                      <a:r>
                        <a:rPr lang="en-US" sz="1100" dirty="0">
                          <a:solidFill>
                            <a:srgbClr val="1F2937"/>
                          </a:solidFill>
                        </a:rPr>
                        <a:t>사진 </a:t>
                      </a:r>
                      <a:pPr indent="0" marL="0">
                        <a:buNone/>
                      </a:pPr>
                      <a:r>
                        <a:rPr lang="en-US" sz="1100" dirty="0">
                          <a:solidFill>
                            <a:srgbClr val="1F2937"/>
                          </a:solidFill>
                        </a:rPr>
                        <a:t>API</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회의 </a:t>
                      </a:r>
                      <a:pPr indent="0" marL="0">
                        <a:buNone/>
                      </a:pPr>
                      <a:r>
                        <a:rPr lang="en-US" sz="1100" dirty="0">
                          <a:solidFill>
                            <a:srgbClr val="1F2937"/>
                          </a:solidFill>
                        </a:rPr>
                        <a:t>내 </a:t>
                      </a:r>
                      <a:pPr indent="0" marL="0">
                        <a:buNone/>
                      </a:pPr>
                      <a:r>
                        <a:rPr lang="en-US" sz="1100" dirty="0">
                          <a:solidFill>
                            <a:srgbClr val="1F2937"/>
                          </a:solidFill>
                        </a:rPr>
                        <a:t>포함·제외 </a:t>
                      </a:r>
                      <a:pPr indent="0" marL="0">
                        <a:buNone/>
                      </a:pPr>
                      <a:r>
                        <a:rPr lang="en-US" sz="1100" dirty="0">
                          <a:solidFill>
                            <a:srgbClr val="1F2937"/>
                          </a:solidFill>
                        </a:rPr>
                        <a:t>결정 </a:t>
                      </a:r>
                      <a:pPr indent="0" marL="0">
                        <a:buNone/>
                      </a:pPr>
                      <a:r>
                        <a:rPr lang="en-US" sz="1100" dirty="0">
                          <a:solidFill>
                            <a:srgbClr val="1F2937"/>
                          </a:solidFill>
                        </a:rPr>
                        <a:t>충돌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출시 </a:t>
                      </a:r>
                      <a:pPr indent="0" marL="0">
                        <a:buNone/>
                      </a:pPr>
                      <a:r>
                        <a:rPr lang="en-US" sz="1100" dirty="0">
                          <a:solidFill>
                            <a:srgbClr val="1F2937"/>
                          </a:solidFill>
                        </a:rPr>
                        <a:t>포함 </a:t>
                      </a:r>
                      <a:pPr indent="0" marL="0">
                        <a:buNone/>
                      </a:pPr>
                      <a:r>
                        <a:rPr lang="en-US" sz="1100" dirty="0">
                          <a:solidFill>
                            <a:srgbClr val="1F2937"/>
                          </a:solidFill>
                        </a:rPr>
                        <a:t>최종 </a:t>
                      </a:r>
                      <a:pPr indent="0" marL="0">
                        <a:buNone/>
                      </a:pPr>
                      <a:r>
                        <a:rPr lang="en-US" sz="1100" dirty="0">
                          <a:solidFill>
                            <a:srgbClr val="1F2937"/>
                          </a:solidFill>
                        </a:rPr>
                        <a:t>승인, </a:t>
                      </a:r>
                      <a:pPr indent="0" marL="0">
                        <a:buNone/>
                      </a:pPr>
                      <a:r>
                        <a:rPr lang="en-US" sz="1100" dirty="0">
                          <a:solidFill>
                            <a:srgbClr val="1F2937"/>
                          </a:solidFill>
                        </a:rPr>
                        <a:t>저장소·삭제·접근 </a:t>
                      </a:r>
                      <a:pPr indent="0" marL="0">
                        <a:buNone/>
                      </a:pPr>
                      <a:r>
                        <a:rPr lang="en-US" sz="1100" dirty="0">
                          <a:solidFill>
                            <a:srgbClr val="1F2937"/>
                          </a:solidFill>
                        </a:rPr>
                        <a:t>정책 </a:t>
                      </a:r>
                      <a:pPr indent="0" marL="0">
                        <a:buNone/>
                      </a:pPr>
                      <a:r>
                        <a:rPr lang="en-US" sz="1100" dirty="0">
                          <a:solidFill>
                            <a:srgbClr val="1F2937"/>
                          </a:solidFill>
                        </a:rPr>
                        <a:t>확정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목표 </a:t>
                      </a:r>
                      <a:pPr indent="0" marL="0">
                        <a:buNone/>
                      </a:pPr>
                      <a:r>
                        <a:rPr lang="en-US" sz="1100" dirty="0">
                          <a:solidFill>
                            <a:srgbClr val="1F2937"/>
                          </a:solidFill>
                        </a:rPr>
                        <a:t>입력 </a:t>
                      </a:r>
                      <a:pPr indent="0" marL="0">
                        <a:buNone/>
                      </a:pPr>
                      <a:r>
                        <a:rPr lang="en-US" sz="1100" dirty="0">
                          <a:solidFill>
                            <a:srgbClr val="1F2937"/>
                          </a:solidFill>
                        </a:rPr>
                        <a:t>API</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구조는 </a:t>
                      </a:r>
                      <a:pPr indent="0" marL="0">
                        <a:buNone/>
                      </a:pPr>
                      <a:r>
                        <a:rPr lang="en-US" sz="1100" dirty="0">
                          <a:solidFill>
                            <a:srgbClr val="1F2937"/>
                          </a:solidFill>
                        </a:rPr>
                        <a:t>제안 </a:t>
                      </a:r>
                      <a:pPr indent="0" marL="0">
                        <a:buNone/>
                      </a:pPr>
                      <a:r>
                        <a:rPr lang="en-US" sz="1100" dirty="0">
                          <a:solidFill>
                            <a:srgbClr val="1F2937"/>
                          </a:solidFill>
                        </a:rPr>
                        <a:t>가능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직접 </a:t>
                      </a:r>
                      <a:pPr indent="0" marL="0">
                        <a:buNone/>
                      </a:pPr>
                      <a:r>
                        <a:rPr lang="en-US" sz="1100" dirty="0">
                          <a:solidFill>
                            <a:srgbClr val="1F2937"/>
                          </a:solidFill>
                        </a:rPr>
                        <a:t>입력 </a:t>
                      </a:r>
                      <a:pPr indent="0" marL="0">
                        <a:buNone/>
                      </a:pPr>
                      <a:r>
                        <a:rPr lang="en-US" sz="1100" dirty="0">
                          <a:solidFill>
                            <a:srgbClr val="1F2937"/>
                          </a:solidFill>
                        </a:rPr>
                        <a:t>허용 </a:t>
                      </a:r>
                      <a:pPr indent="0" marL="0">
                        <a:buNone/>
                      </a:pPr>
                      <a:r>
                        <a:rPr lang="en-US" sz="1100" dirty="0">
                          <a:solidFill>
                            <a:srgbClr val="1F2937"/>
                          </a:solidFill>
                        </a:rPr>
                        <a:t>여부, </a:t>
                      </a:r>
                      <a:pPr indent="0" marL="0">
                        <a:buNone/>
                      </a:pPr>
                      <a:r>
                        <a:rPr lang="en-US" sz="1100" dirty="0">
                          <a:solidFill>
                            <a:srgbClr val="1F2937"/>
                          </a:solidFill>
                        </a:rPr>
                        <a:t>안전 </a:t>
                      </a:r>
                      <a:pPr indent="0" marL="0">
                        <a:buNone/>
                      </a:pPr>
                      <a:r>
                        <a:rPr lang="en-US" sz="1100" dirty="0">
                          <a:solidFill>
                            <a:srgbClr val="1F2937"/>
                          </a:solidFill>
                        </a:rPr>
                        <a:t>기준·전문가 </a:t>
                      </a:r>
                      <a:pPr indent="0" marL="0">
                        <a:buNone/>
                      </a:pPr>
                      <a:r>
                        <a:rPr lang="en-US" sz="1100" dirty="0">
                          <a:solidFill>
                            <a:srgbClr val="1F2937"/>
                          </a:solidFill>
                        </a:rPr>
                        <a:t>검토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주간 </a:t>
                      </a:r>
                      <a:pPr indent="0" marL="0">
                        <a:buNone/>
                      </a:pPr>
                      <a:r>
                        <a:rPr lang="en-US" sz="1100" dirty="0">
                          <a:solidFill>
                            <a:srgbClr val="1F2937"/>
                          </a:solidFill>
                        </a:rPr>
                        <a:t>리포트 </a:t>
                      </a:r>
                      <a:pPr indent="0" marL="0">
                        <a:buNone/>
                      </a:pPr>
                      <a:r>
                        <a:rPr lang="en-US" sz="1100" dirty="0">
                          <a:solidFill>
                            <a:srgbClr val="1F2937"/>
                          </a:solidFill>
                        </a:rPr>
                        <a:t>비교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비교 </a:t>
                      </a:r>
                      <a:pPr indent="0" marL="0">
                        <a:buNone/>
                      </a:pPr>
                      <a:r>
                        <a:rPr lang="en-US" sz="1100" dirty="0">
                          <a:solidFill>
                            <a:srgbClr val="1F2937"/>
                          </a:solidFill>
                        </a:rPr>
                        <a:t>최소 </a:t>
                      </a:r>
                      <a:pPr indent="0" marL="0">
                        <a:buNone/>
                      </a:pPr>
                      <a:r>
                        <a:rPr lang="en-US" sz="1100" dirty="0">
                          <a:solidFill>
                            <a:srgbClr val="1F2937"/>
                          </a:solidFill>
                        </a:rPr>
                        <a:t>기준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최소 </a:t>
                      </a:r>
                      <a:pPr indent="0" marL="0">
                        <a:buNone/>
                      </a:pPr>
                      <a:r>
                        <a:rPr lang="en-US" sz="1100" dirty="0">
                          <a:solidFill>
                            <a:srgbClr val="1F2937"/>
                          </a:solidFill>
                        </a:rPr>
                        <a:t>기록 </a:t>
                      </a:r>
                      <a:pPr indent="0" marL="0">
                        <a:buNone/>
                      </a:pPr>
                      <a:r>
                        <a:rPr lang="en-US" sz="1100" dirty="0">
                          <a:solidFill>
                            <a:srgbClr val="1F2937"/>
                          </a:solidFill>
                        </a:rPr>
                        <a:t>기준과 </a:t>
                      </a:r>
                      <a:pPr indent="0" marL="0">
                        <a:buNone/>
                      </a:pPr>
                      <a:r>
                        <a:rPr lang="en-US" sz="1100" dirty="0">
                          <a:solidFill>
                            <a:srgbClr val="1F2937"/>
                          </a:solidFill>
                        </a:rPr>
                        <a:t>전문가 </a:t>
                      </a:r>
                      <a:pPr indent="0" marL="0">
                        <a:buNone/>
                      </a:pPr>
                      <a:r>
                        <a:rPr lang="en-US" sz="1100" dirty="0">
                          <a:solidFill>
                            <a:srgbClr val="1F2937"/>
                          </a:solidFill>
                        </a:rPr>
                        <a:t>검토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242</a:t>
            </a:fld>
            <a:endParaRPr lang="en-US"/>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name="Slide 24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13. 미정·추정 필요 항목 (2/2)</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244"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351314"/>
                <a:gridCol w="2204357"/>
                <a:gridCol w="3673929"/>
              </a:tblGrid>
              <a:tr h="0">
                <a:tc>
                  <a:txBody>
                    <a:bodyPr/>
                    <a:lstStyle/>
                    <a:p>
                      <a:pPr indent="0" marL="0">
                        <a:buNone/>
                      </a:pPr>
                      <a:r>
                        <a:rPr lang="en-US" sz="1200" b="1" dirty="0">
                          <a:solidFill>
                            <a:srgbClr val="FFFFFF"/>
                          </a:solidFill>
                        </a:rPr>
                        <a:t>항목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현재 </a:t>
                      </a:r>
                      <a:pPr indent="0" marL="0">
                        <a:buNone/>
                      </a:pPr>
                      <a:r>
                        <a:rPr lang="en-US" sz="1200" b="1" dirty="0">
                          <a:solidFill>
                            <a:srgbClr val="FFFFFF"/>
                          </a:solidFill>
                        </a:rPr>
                        <a:t>상태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확정에 </a:t>
                      </a:r>
                      <a:pPr indent="0" marL="0">
                        <a:buNone/>
                      </a:pPr>
                      <a:r>
                        <a:rPr lang="en-US" sz="1200" b="1" dirty="0">
                          <a:solidFill>
                            <a:srgbClr val="FFFFFF"/>
                          </a:solidFill>
                        </a:rPr>
                        <a:t>필요한 </a:t>
                      </a:r>
                      <a:pPr indent="0" marL="0">
                        <a:buNone/>
                      </a:pPr>
                      <a:r>
                        <a:rPr lang="en-US" sz="1200" b="1" dirty="0">
                          <a:solidFill>
                            <a:srgbClr val="FFFFFF"/>
                          </a:solidFill>
                        </a:rPr>
                        <a:t>내용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주간 </a:t>
                      </a:r>
                      <a:pPr indent="0" marL="0">
                        <a:buNone/>
                      </a:pPr>
                      <a:r>
                        <a:rPr lang="en-US" sz="1100" dirty="0">
                          <a:solidFill>
                            <a:srgbClr val="1F2937"/>
                          </a:solidFill>
                        </a:rPr>
                        <a:t>리포트 </a:t>
                      </a:r>
                      <a:pPr indent="0" marL="0">
                        <a:buNone/>
                      </a:pPr>
                      <a:r>
                        <a:rPr lang="en-US" sz="1100" dirty="0">
                          <a:solidFill>
                            <a:srgbClr val="1F2937"/>
                          </a:solidFill>
                        </a:rPr>
                        <a:t>푸시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기본 </a:t>
                      </a:r>
                      <a:pPr indent="0" marL="0">
                        <a:buNone/>
                      </a:pPr>
                      <a:r>
                        <a:rPr lang="en-US" sz="1100" dirty="0">
                          <a:solidFill>
                            <a:srgbClr val="1F2937"/>
                          </a:solidFill>
                        </a:rPr>
                        <a:t>MVP </a:t>
                      </a:r>
                      <a:pPr indent="0" marL="0">
                        <a:buNone/>
                      </a:pPr>
                      <a:r>
                        <a:rPr lang="en-US" sz="1100" dirty="0">
                          <a:solidFill>
                            <a:srgbClr val="1F2937"/>
                          </a:solidFill>
                        </a:rPr>
                        <a:t>범위에서는 </a:t>
                      </a:r>
                      <a:pPr indent="0" marL="0">
                        <a:buNone/>
                      </a:pPr>
                      <a:r>
                        <a:rPr lang="en-US" sz="1100" dirty="0">
                          <a:solidFill>
                            <a:srgbClr val="1F2937"/>
                          </a:solidFill>
                        </a:rPr>
                        <a:t>제외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후속 </a:t>
                      </a:r>
                      <a:pPr indent="0" marL="0">
                        <a:buNone/>
                      </a:pPr>
                      <a:r>
                        <a:rPr lang="en-US" sz="1100" dirty="0">
                          <a:solidFill>
                            <a:srgbClr val="1F2937"/>
                          </a:solidFill>
                        </a:rPr>
                        <a:t>범위 </a:t>
                      </a:r>
                      <a:pPr indent="0" marL="0">
                        <a:buNone/>
                      </a:pPr>
                      <a:r>
                        <a:rPr lang="en-US" sz="1100" dirty="0">
                          <a:solidFill>
                            <a:srgbClr val="1F2937"/>
                          </a:solidFill>
                        </a:rPr>
                        <a:t>또는 </a:t>
                      </a:r>
                      <a:pPr indent="0" marL="0">
                        <a:buNone/>
                      </a:pPr>
                      <a:r>
                        <a:rPr lang="en-US" sz="1100" dirty="0">
                          <a:solidFill>
                            <a:srgbClr val="1F2937"/>
                          </a:solidFill>
                        </a:rPr>
                        <a:t>별도 </a:t>
                      </a:r>
                      <a:pPr indent="0" marL="0">
                        <a:buNone/>
                      </a:pPr>
                      <a:r>
                        <a:rPr lang="en-US" sz="1100" dirty="0">
                          <a:solidFill>
                            <a:srgbClr val="1F2937"/>
                          </a:solidFill>
                        </a:rPr>
                        <a:t>승인 </a:t>
                      </a:r>
                      <a:pPr indent="0" marL="0">
                        <a:buNone/>
                      </a:pPr>
                      <a:r>
                        <a:rPr lang="en-US" sz="1100" dirty="0">
                          <a:solidFill>
                            <a:srgbClr val="1F2937"/>
                          </a:solidFill>
                        </a:rPr>
                        <a:t>여부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검색 </a:t>
                      </a:r>
                      <a:pPr indent="0" marL="0">
                        <a:buNone/>
                      </a:pPr>
                      <a:r>
                        <a:rPr lang="en-US" sz="1100" dirty="0">
                          <a:solidFill>
                            <a:srgbClr val="1F2937"/>
                          </a:solidFill>
                        </a:rPr>
                        <a:t>응답 </a:t>
                      </a:r>
                      <a:pPr indent="0" marL="0">
                        <a:buNone/>
                      </a:pPr>
                      <a:r>
                        <a:rPr lang="en-US" sz="1100" dirty="0">
                          <a:solidFill>
                            <a:srgbClr val="1F2937"/>
                          </a:solidFill>
                        </a:rPr>
                        <a:t>페이지 </a:t>
                      </a:r>
                      <a:pPr indent="0" marL="0">
                        <a:buNone/>
                      </a:pPr>
                      <a:r>
                        <a:rPr lang="en-US" sz="1100" dirty="0">
                          <a:solidFill>
                            <a:srgbClr val="1F2937"/>
                          </a:solidFill>
                        </a:rPr>
                        <a:t>크기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공급자 </a:t>
                      </a:r>
                      <a:pPr indent="0" marL="0">
                        <a:buNone/>
                      </a:pPr>
                      <a:r>
                        <a:rPr lang="en-US" sz="1100" dirty="0">
                          <a:solidFill>
                            <a:srgbClr val="1F2937"/>
                          </a:solidFill>
                        </a:rPr>
                        <a:t>자료량·화면 </a:t>
                      </a:r>
                      <a:pPr indent="0" marL="0">
                        <a:buNone/>
                      </a:pPr>
                      <a:r>
                        <a:rPr lang="en-US" sz="1100" dirty="0">
                          <a:solidFill>
                            <a:srgbClr val="1F2937"/>
                          </a:solidFill>
                        </a:rPr>
                        <a:t>설계에 </a:t>
                      </a:r>
                      <a:pPr indent="0" marL="0">
                        <a:buNone/>
                      </a:pPr>
                      <a:r>
                        <a:rPr lang="en-US" sz="1100" dirty="0">
                          <a:solidFill>
                            <a:srgbClr val="1F2937"/>
                          </a:solidFill>
                        </a:rPr>
                        <a:t>따라 </a:t>
                      </a:r>
                      <a:pPr indent="0" marL="0">
                        <a:buNone/>
                      </a:pPr>
                      <a:r>
                        <a:rPr lang="en-US" sz="1100" dirty="0">
                          <a:solidFill>
                            <a:srgbClr val="1F2937"/>
                          </a:solidFill>
                        </a:rPr>
                        <a:t>결정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데이터 </a:t>
                      </a:r>
                      <a:pPr indent="0" marL="0">
                        <a:buNone/>
                      </a:pPr>
                      <a:r>
                        <a:rPr lang="en-US" sz="1100" dirty="0">
                          <a:solidFill>
                            <a:srgbClr val="1F2937"/>
                          </a:solidFill>
                        </a:rPr>
                        <a:t>삭제 </a:t>
                      </a:r>
                      <a:pPr indent="0" marL="0">
                        <a:buNone/>
                      </a:pPr>
                      <a:r>
                        <a:rPr lang="en-US" sz="1100" dirty="0">
                          <a:solidFill>
                            <a:srgbClr val="1F2937"/>
                          </a:solidFill>
                        </a:rPr>
                        <a:t>완료 </a:t>
                      </a:r>
                      <a:pPr indent="0" marL="0">
                        <a:buNone/>
                      </a:pPr>
                      <a:r>
                        <a:rPr lang="en-US" sz="1100" dirty="0">
                          <a:solidFill>
                            <a:srgbClr val="1F2937"/>
                          </a:solidFill>
                        </a:rPr>
                        <a:t>시점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서비스 </a:t>
                      </a:r>
                      <a:pPr indent="0" marL="0">
                        <a:buNone/>
                      </a:pPr>
                      <a:r>
                        <a:rPr lang="en-US" sz="1100" dirty="0">
                          <a:solidFill>
                            <a:srgbClr val="1F2937"/>
                          </a:solidFill>
                        </a:rPr>
                        <a:t>자료·백업·운영 </a:t>
                      </a:r>
                      <a:pPr indent="0" marL="0">
                        <a:buNone/>
                      </a:pPr>
                      <a:r>
                        <a:rPr lang="en-US" sz="1100" dirty="0">
                          <a:solidFill>
                            <a:srgbClr val="1F2937"/>
                          </a:solidFill>
                        </a:rPr>
                        <a:t>로그별 </a:t>
                      </a:r>
                      <a:pPr indent="0" marL="0">
                        <a:buNone/>
                      </a:pPr>
                      <a:r>
                        <a:rPr lang="en-US" sz="1100" dirty="0">
                          <a:solidFill>
                            <a:srgbClr val="1F2937"/>
                          </a:solidFill>
                        </a:rPr>
                        <a:t>정책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분석 </a:t>
                      </a:r>
                      <a:pPr indent="0" marL="0">
                        <a:buNone/>
                      </a:pPr>
                      <a:r>
                        <a:rPr lang="en-US" sz="1100" dirty="0">
                          <a:solidFill>
                            <a:srgbClr val="1F2937"/>
                          </a:solidFill>
                        </a:rPr>
                        <a:t>동의와 </a:t>
                      </a:r>
                      <a:pPr indent="0" marL="0">
                        <a:buNone/>
                      </a:pPr>
                      <a:r>
                        <a:rPr lang="en-US" sz="1100" dirty="0">
                          <a:solidFill>
                            <a:srgbClr val="1F2937"/>
                          </a:solidFill>
                        </a:rPr>
                        <a:t>서비스 </a:t>
                      </a:r>
                      <a:pPr indent="0" marL="0">
                        <a:buNone/>
                      </a:pPr>
                      <a:r>
                        <a:rPr lang="en-US" sz="1100" dirty="0">
                          <a:solidFill>
                            <a:srgbClr val="1F2937"/>
                          </a:solidFill>
                        </a:rPr>
                        <a:t>로그 </a:t>
                      </a:r>
                      <a:pPr indent="0" marL="0">
                        <a:buNone/>
                      </a:pPr>
                      <a:r>
                        <a:rPr lang="en-US" sz="1100" dirty="0">
                          <a:solidFill>
                            <a:srgbClr val="1F2937"/>
                          </a:solidFill>
                        </a:rPr>
                        <a:t>구분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원칙 </a:t>
                      </a:r>
                      <a:pPr indent="0" marL="0">
                        <a:buNone/>
                      </a:pPr>
                      <a:r>
                        <a:rPr lang="en-US" sz="1100" dirty="0">
                          <a:solidFill>
                            <a:srgbClr val="1F2937"/>
                          </a:solidFill>
                        </a:rPr>
                        <a:t>논의됨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제품 </a:t>
                      </a:r>
                      <a:pPr indent="0" marL="0">
                        <a:buNone/>
                      </a:pPr>
                      <a:r>
                        <a:rPr lang="en-US" sz="1100" dirty="0">
                          <a:solidFill>
                            <a:srgbClr val="1F2937"/>
                          </a:solidFill>
                        </a:rPr>
                        <a:t>분석 </a:t>
                      </a:r>
                      <a:pPr indent="0" marL="0">
                        <a:buNone/>
                      </a:pPr>
                      <a:r>
                        <a:rPr lang="en-US" sz="1100" dirty="0">
                          <a:solidFill>
                            <a:srgbClr val="1F2937"/>
                          </a:solidFill>
                        </a:rPr>
                        <a:t>업체·보관 </a:t>
                      </a:r>
                      <a:pPr indent="0" marL="0">
                        <a:buNone/>
                      </a:pPr>
                      <a:r>
                        <a:rPr lang="en-US" sz="1100" dirty="0">
                          <a:solidFill>
                            <a:srgbClr val="1F2937"/>
                          </a:solidFill>
                        </a:rPr>
                        <a:t>기간·동의 </a:t>
                      </a:r>
                      <a:pPr indent="0" marL="0">
                        <a:buNone/>
                      </a:pPr>
                      <a:r>
                        <a:rPr lang="en-US" sz="1100" dirty="0">
                          <a:solidFill>
                            <a:srgbClr val="1F2937"/>
                          </a:solidFill>
                        </a:rPr>
                        <a:t>문구 </a:t>
                      </a:r>
                      <a:pPr indent="0" marL="0">
                        <a:buNone/>
                      </a:pPr>
                      <a:r>
                        <a:rPr lang="en-US" sz="1100" dirty="0">
                          <a:solidFill>
                            <a:srgbClr val="1F2937"/>
                          </a:solidFill>
                        </a:rPr>
                        <a:t>확정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오류 </a:t>
                      </a:r>
                      <a:pPr indent="0" marL="0">
                        <a:buNone/>
                      </a:pPr>
                      <a:r>
                        <a:rPr lang="en-US" sz="1100" dirty="0">
                          <a:solidFill>
                            <a:srgbClr val="1F2937"/>
                          </a:solidFill>
                        </a:rPr>
                        <a:t>응답의 </a:t>
                      </a:r>
                      <a:pPr indent="0" marL="0">
                        <a:buNone/>
                      </a:pPr>
                      <a:r>
                        <a:rPr lang="en-US" sz="1100" dirty="0">
                          <a:solidFill>
                            <a:srgbClr val="1F2937"/>
                          </a:solidFill>
                        </a:rPr>
                        <a:t>상세 </a:t>
                      </a:r>
                      <a:pPr indent="0" marL="0">
                        <a:buNone/>
                      </a:pPr>
                      <a:r>
                        <a:rPr lang="en-US" sz="1100" dirty="0">
                          <a:solidFill>
                            <a:srgbClr val="1F2937"/>
                          </a:solidFill>
                        </a:rPr>
                        <a:t>수준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설계 </a:t>
                      </a:r>
                      <a:pPr indent="0" marL="0">
                        <a:buNone/>
                      </a:pPr>
                      <a:r>
                        <a:rPr lang="en-US" sz="1100" dirty="0">
                          <a:solidFill>
                            <a:srgbClr val="1F2937"/>
                          </a:solidFill>
                        </a:rPr>
                        <a:t>제안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앱 </a:t>
                      </a:r>
                      <a:pPr indent="0" marL="0">
                        <a:buNone/>
                      </a:pPr>
                      <a:r>
                        <a:rPr lang="en-US" sz="1100" dirty="0">
                          <a:solidFill>
                            <a:srgbClr val="1F2937"/>
                          </a:solidFill>
                        </a:rPr>
                        <a:t>사용자 </a:t>
                      </a:r>
                      <a:pPr indent="0" marL="0">
                        <a:buNone/>
                      </a:pPr>
                      <a:r>
                        <a:rPr lang="en-US" sz="1100" dirty="0">
                          <a:solidFill>
                            <a:srgbClr val="1F2937"/>
                          </a:solidFill>
                        </a:rPr>
                        <a:t>안내와 </a:t>
                      </a:r>
                      <a:pPr indent="0" marL="0">
                        <a:buNone/>
                      </a:pPr>
                      <a:r>
                        <a:rPr lang="en-US" sz="1100" dirty="0">
                          <a:solidFill>
                            <a:srgbClr val="1F2937"/>
                          </a:solidFill>
                        </a:rPr>
                        <a:t>내부 </a:t>
                      </a:r>
                      <a:pPr indent="0" marL="0">
                        <a:buNone/>
                      </a:pPr>
                      <a:r>
                        <a:rPr lang="en-US" sz="1100" dirty="0">
                          <a:solidFill>
                            <a:srgbClr val="1F2937"/>
                          </a:solidFill>
                        </a:rPr>
                        <a:t>진단 </a:t>
                      </a:r>
                      <a:pPr indent="0" marL="0">
                        <a:buNone/>
                      </a:pPr>
                      <a:r>
                        <a:rPr lang="en-US" sz="1100" dirty="0">
                          <a:solidFill>
                            <a:srgbClr val="1F2937"/>
                          </a:solidFill>
                        </a:rPr>
                        <a:t>정보의 </a:t>
                      </a:r>
                      <a:pPr indent="0" marL="0">
                        <a:buNone/>
                      </a:pPr>
                      <a:r>
                        <a:rPr lang="en-US" sz="1100" dirty="0">
                          <a:solidFill>
                            <a:srgbClr val="1F2937"/>
                          </a:solidFill>
                        </a:rPr>
                        <a:t>분리 </a:t>
                      </a:r>
                      <a:pPr indent="0" marL="0">
                        <a:buNone/>
                      </a:pPr>
                      <a:r>
                        <a:rPr lang="en-US" sz="1100" dirty="0">
                          <a:solidFill>
                            <a:srgbClr val="1F2937"/>
                          </a:solidFill>
                        </a:rPr>
                        <a:t>확정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243</a:t>
            </a:fld>
            <a:endParaRPr lang="en-US"/>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name="Slide 24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14. 작성 완료 후 확인사항 (1/3)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HTTP 메서드, 경로, 목적을 포함한 API 경로 초안을 작성함</a:t>
            </a:r>
            <a:endParaRPr lang="en-US" sz="1600" dirty="0"/>
          </a:p>
          <a:p>
            <a:pPr indent="0" marL="0">
              <a:spcAft>
                <a:spcPts val="800"/>
              </a:spcAft>
              <a:buNone/>
            </a:pPr>
            <a:r>
              <a:rPr lang="en-US" sz="1600" dirty="0">
                <a:solidFill>
                  <a:srgbClr val="4B5563"/>
                </a:solidFill>
              </a:rPr>
              <a:t>☑ 요청 매개변수와 본문 필드의 형식·필수 여부를 설명함</a:t>
            </a:r>
            <a:endParaRPr lang="en-US" sz="1600" dirty="0"/>
          </a:p>
          <a:p>
            <a:pPr indent="0" marL="0">
              <a:spcAft>
                <a:spcPts val="800"/>
              </a:spcAft>
              <a:buNone/>
            </a:pPr>
            <a:r>
              <a:rPr lang="en-US" sz="1600" dirty="0">
                <a:solidFill>
                  <a:srgbClr val="4B5563"/>
                </a:solidFill>
              </a:rPr>
              <a:t>☑ 주요 성공·실패 응답 예시를 작성함</a:t>
            </a:r>
            <a:endParaRPr lang="en-US" sz="1600" dirty="0"/>
          </a:p>
          <a:p>
            <a:pPr indent="0" marL="0">
              <a:spcAft>
                <a:spcPts val="800"/>
              </a:spcAft>
              <a:buNone/>
            </a:pPr>
            <a:r>
              <a:rPr lang="en-US" sz="1600" dirty="0">
                <a:solidFill>
                  <a:srgbClr val="4B5563"/>
                </a:solidFill>
              </a:rPr>
              <a:t>☑ HTTP 상태 코드와 서비스 오류 코드를 정의함</a:t>
            </a:r>
            <a:endParaRPr lang="en-US" sz="1600" dirty="0"/>
          </a:p>
          <a:p>
            <a:pPr indent="0" marL="0">
              <a:spcAft>
                <a:spcPts val="800"/>
              </a:spcAft>
              <a:buNone/>
            </a:pPr>
            <a:r>
              <a:rPr lang="en-US" sz="1600" dirty="0">
                <a:solidFill>
                  <a:srgbClr val="4B5563"/>
                </a:solidFill>
              </a:rPr>
              <a:t>☑ 인증·인가와 사용자별 소유권 확인 원칙을 작성함</a:t>
            </a:r>
            <a:endParaRPr lang="en-US" sz="1600" dirty="0"/>
          </a:p>
          <a:p>
            <a:pPr indent="0" marL="0">
              <a:spcAft>
                <a:spcPts val="800"/>
              </a:spcAft>
              <a:buNone/>
            </a:pPr>
            <a:r>
              <a:rPr lang="en-US" sz="1600" dirty="0">
                <a:solidFill>
                  <a:srgbClr val="4B5563"/>
                </a:solidFill>
              </a:rPr>
              <a:t>☑ 음식 검색 실패·영양값 누락·중복 저장 대응을 포함함</a:t>
            </a:r>
            <a:endParaRPr lang="en-US" sz="1600" dirty="0"/>
          </a:p>
          <a:p>
            <a:pPr indent="0" marL="0">
              <a:spcAft>
                <a:spcPts val="800"/>
              </a:spcAft>
              <a:buNone/>
            </a:pPr>
            <a:r>
              <a:rPr lang="en-US" sz="1600" dirty="0">
                <a:solidFill>
                  <a:srgbClr val="4B5563"/>
                </a:solidFill>
              </a:rPr>
              <a:t>☑ 기록 시점 음식명·영양값 스냅샷과 날짜 기준을 반영함</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244</a:t>
            </a:fld>
            <a:endParaRPr lang="en-US"/>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name="Slide 24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14. 작성 완료 후 확인사항 (2/3)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요청 제한·시간 제한이 미확정임을 표시함</a:t>
            </a:r>
            <a:endParaRPr lang="en-US" sz="1600" dirty="0"/>
          </a:p>
          <a:p>
            <a:pPr indent="0" marL="0">
              <a:spcAft>
                <a:spcPts val="800"/>
              </a:spcAft>
              <a:buNone/>
            </a:pPr>
            <a:r>
              <a:rPr lang="en-US" sz="1600" dirty="0">
                <a:solidFill>
                  <a:srgbClr val="4B5563"/>
                </a:solidFill>
              </a:rPr>
              <a:t>☑ API 버전 관리 방식의 제안을 작성함</a:t>
            </a:r>
            <a:endParaRPr lang="en-US" sz="1600" dirty="0"/>
          </a:p>
          <a:p>
            <a:pPr indent="0" marL="0">
              <a:spcAft>
                <a:spcPts val="800"/>
              </a:spcAft>
              <a:buNone/>
            </a:pPr>
            <a:r>
              <a:rPr lang="en-US" sz="1600" dirty="0">
                <a:solidFill>
                  <a:srgbClr val="4B5563"/>
                </a:solidFill>
              </a:rPr>
              <a:t>☑ 아키텍처 그림과 시험 항목을 포함함</a:t>
            </a:r>
            <a:endParaRPr lang="en-US" sz="1600" dirty="0"/>
          </a:p>
          <a:p>
            <a:pPr indent="0" marL="0">
              <a:spcAft>
                <a:spcPts val="800"/>
              </a:spcAft>
              <a:buNone/>
            </a:pPr>
            <a:r>
              <a:rPr lang="en-US" sz="1600" dirty="0">
                <a:solidFill>
                  <a:srgbClr val="4B5563"/>
                </a:solidFill>
              </a:rPr>
              <a:t>☑ 사진 첨부 관련 회의 내 상충 내용을 미정 항목으로 표시함</a:t>
            </a:r>
            <a:endParaRPr lang="en-US" sz="1600" dirty="0"/>
          </a:p>
          <a:p>
            <a:pPr indent="0" marL="0">
              <a:spcAft>
                <a:spcPts val="800"/>
              </a:spcAft>
              <a:buNone/>
            </a:pPr>
            <a:r>
              <a:rPr lang="en-US" sz="1600" dirty="0">
                <a:solidFill>
                  <a:srgbClr val="4B5563"/>
                </a:solidFill>
              </a:rPr>
              <a:t>☐ 인증 제공자·토큰 정책 승인 필요</a:t>
            </a:r>
            <a:endParaRPr lang="en-US" sz="1600" dirty="0"/>
          </a:p>
          <a:p>
            <a:pPr indent="0" marL="0">
              <a:spcAft>
                <a:spcPts val="800"/>
              </a:spcAft>
              <a:buNone/>
            </a:pPr>
            <a:r>
              <a:rPr lang="en-US" sz="1600" dirty="0">
                <a:solidFill>
                  <a:srgbClr val="4B5563"/>
                </a:solidFill>
              </a:rPr>
              <a:t>☐ 식품 데이터 공급자·사용권·검색어 처리 조건 확인 필요</a:t>
            </a:r>
            <a:endParaRPr lang="en-US" sz="1600" dirty="0"/>
          </a:p>
          <a:p>
            <a:pPr indent="0" marL="0">
              <a:spcAft>
                <a:spcPts val="800"/>
              </a:spcAft>
              <a:buNone/>
            </a:pPr>
            <a:r>
              <a:rPr lang="en-US" sz="1600" dirty="0">
                <a:solidFill>
                  <a:srgbClr val="4B5563"/>
                </a:solidFill>
              </a:rPr>
              <a:t>☐ 요청 제한·응답 시간 기준 측정 및 확정 필요</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245</a:t>
            </a:fld>
            <a:endParaRPr lang="en-US"/>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name="Slide 24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14. 작성 완료 후 확인사항 (3/3)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사진 첨부 API 포함 여부와 개인정보·저장 정책 승인 필요</a:t>
            </a:r>
            <a:endParaRPr lang="en-US" sz="1600" dirty="0"/>
          </a:p>
          <a:p>
            <a:pPr indent="0" marL="0">
              <a:spcAft>
                <a:spcPts val="800"/>
              </a:spcAft>
              <a:buNone/>
            </a:pPr>
            <a:r>
              <a:rPr lang="en-US" sz="1600" dirty="0">
                <a:solidFill>
                  <a:srgbClr val="4B5563"/>
                </a:solidFill>
              </a:rPr>
              <a:t>☐ 목표 입력 안전 기준과 사용자 데이터 수집 범위 확인 필요</a:t>
            </a:r>
            <a:endParaRPr lang="en-US" sz="1600" dirty="0"/>
          </a:p>
          <a:p>
            <a:pPr indent="0" marL="0">
              <a:spcAft>
                <a:spcPts val="800"/>
              </a:spcAft>
              <a:buNone/>
            </a:pPr>
            <a:r>
              <a:rPr lang="en-US" sz="1600" dirty="0">
                <a:solidFill>
                  <a:srgbClr val="4B5563"/>
                </a:solidFill>
              </a:rPr>
              <a:t>☐ 계정 삭제·백업 삭제 완료 시점 확정 필요</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246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246</Slides>
  <Notes>246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246</vt:i4>
      </vt:variant>
    </vt:vector>
  </HeadingPairs>
  <TitlesOfParts>
    <vt:vector size="2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lpstr>Slide 201</vt:lpstr>
      <vt:lpstr>Slide 202</vt:lpstr>
      <vt:lpstr>Slide 203</vt:lpstr>
      <vt:lpstr>Slide 204</vt:lpstr>
      <vt:lpstr>Slide 205</vt:lpstr>
      <vt:lpstr>Slide 206</vt:lpstr>
      <vt:lpstr>Slide 207</vt:lpstr>
      <vt:lpstr>Slide 208</vt:lpstr>
      <vt:lpstr>Slide 209</vt:lpstr>
      <vt:lpstr>Slide 210</vt:lpstr>
      <vt:lpstr>Slide 211</vt:lpstr>
      <vt:lpstr>Slide 212</vt:lpstr>
      <vt:lpstr>Slide 213</vt:lpstr>
      <vt:lpstr>Slide 214</vt:lpstr>
      <vt:lpstr>Slide 215</vt:lpstr>
      <vt:lpstr>Slide 216</vt:lpstr>
      <vt:lpstr>Slide 217</vt:lpstr>
      <vt:lpstr>Slide 218</vt:lpstr>
      <vt:lpstr>Slide 219</vt:lpstr>
      <vt:lpstr>Slide 220</vt:lpstr>
      <vt:lpstr>Slide 221</vt:lpstr>
      <vt:lpstr>Slide 222</vt:lpstr>
      <vt:lpstr>Slide 223</vt:lpstr>
      <vt:lpstr>Slide 224</vt:lpstr>
      <vt:lpstr>Slide 225</vt:lpstr>
      <vt:lpstr>Slide 226</vt:lpstr>
      <vt:lpstr>Slide 227</vt:lpstr>
      <vt:lpstr>Slide 228</vt:lpstr>
      <vt:lpstr>Slide 229</vt:lpstr>
      <vt:lpstr>Slide 230</vt:lpstr>
      <vt:lpstr>Slide 231</vt:lpstr>
      <vt:lpstr>Slide 232</vt:lpstr>
      <vt:lpstr>Slide 233</vt:lpstr>
      <vt:lpstr>Slide 234</vt:lpstr>
      <vt:lpstr>Slide 235</vt:lpstr>
      <vt:lpstr>Slide 236</vt:lpstr>
      <vt:lpstr>Slide 237</vt:lpstr>
      <vt:lpstr>Slide 238</vt:lpstr>
      <vt:lpstr>Slide 239</vt:lpstr>
      <vt:lpstr>Slide 240</vt:lpstr>
      <vt:lpstr>Slide 241</vt:lpstr>
      <vt:lpstr>Slide 242</vt:lpstr>
      <vt:lpstr>Slide 243</vt:lpstr>
      <vt:lpstr>Slide 244</vt:lpstr>
      <vt:lpstr>Slide 245</vt:lpstr>
      <vt:lpstr>Slide 246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2026-10-06T12:37:57Z</dcterms:created>
  <dcterms:modified xsi:type="dcterms:W3CDTF">2026-10-06T12:37:57Z</dcterms:modified>
</cp:coreProperties>
</file>